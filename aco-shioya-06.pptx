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4" r:id="rId1"/>
  </p:sldMasterIdLst>
  <p:notesMasterIdLst>
    <p:notesMasterId r:id="rId128"/>
  </p:notesMasterIdLst>
  <p:sldIdLst>
    <p:sldId id="440" r:id="rId2"/>
    <p:sldId id="552" r:id="rId3"/>
    <p:sldId id="630" r:id="rId4"/>
    <p:sldId id="1053" r:id="rId5"/>
    <p:sldId id="1066" r:id="rId6"/>
    <p:sldId id="946" r:id="rId7"/>
    <p:sldId id="950" r:id="rId8"/>
    <p:sldId id="1067" r:id="rId9"/>
    <p:sldId id="1054" r:id="rId10"/>
    <p:sldId id="579" r:id="rId11"/>
    <p:sldId id="580" r:id="rId12"/>
    <p:sldId id="574" r:id="rId13"/>
    <p:sldId id="575" r:id="rId14"/>
    <p:sldId id="576" r:id="rId15"/>
    <p:sldId id="581" r:id="rId16"/>
    <p:sldId id="730" r:id="rId17"/>
    <p:sldId id="582" r:id="rId18"/>
    <p:sldId id="583" r:id="rId19"/>
    <p:sldId id="584" r:id="rId20"/>
    <p:sldId id="698" r:id="rId21"/>
    <p:sldId id="594" r:id="rId22"/>
    <p:sldId id="595" r:id="rId23"/>
    <p:sldId id="599" r:id="rId24"/>
    <p:sldId id="600" r:id="rId25"/>
    <p:sldId id="602" r:id="rId26"/>
    <p:sldId id="601" r:id="rId27"/>
    <p:sldId id="596" r:id="rId28"/>
    <p:sldId id="597" r:id="rId29"/>
    <p:sldId id="603" r:id="rId30"/>
    <p:sldId id="604" r:id="rId31"/>
    <p:sldId id="605" r:id="rId32"/>
    <p:sldId id="606" r:id="rId33"/>
    <p:sldId id="609" r:id="rId34"/>
    <p:sldId id="608" r:id="rId35"/>
    <p:sldId id="612" r:id="rId36"/>
    <p:sldId id="682" r:id="rId37"/>
    <p:sldId id="613" r:id="rId38"/>
    <p:sldId id="611" r:id="rId39"/>
    <p:sldId id="614" r:id="rId40"/>
    <p:sldId id="615" r:id="rId41"/>
    <p:sldId id="616" r:id="rId42"/>
    <p:sldId id="619" r:id="rId43"/>
    <p:sldId id="617" r:id="rId44"/>
    <p:sldId id="620" r:id="rId45"/>
    <p:sldId id="699" r:id="rId46"/>
    <p:sldId id="633" r:id="rId47"/>
    <p:sldId id="632" r:id="rId48"/>
    <p:sldId id="660" r:id="rId49"/>
    <p:sldId id="664" r:id="rId50"/>
    <p:sldId id="663" r:id="rId51"/>
    <p:sldId id="648" r:id="rId52"/>
    <p:sldId id="649" r:id="rId53"/>
    <p:sldId id="650" r:id="rId54"/>
    <p:sldId id="634" r:id="rId55"/>
    <p:sldId id="651" r:id="rId56"/>
    <p:sldId id="665" r:id="rId57"/>
    <p:sldId id="720" r:id="rId58"/>
    <p:sldId id="667" r:id="rId59"/>
    <p:sldId id="666" r:id="rId60"/>
    <p:sldId id="713" r:id="rId61"/>
    <p:sldId id="714" r:id="rId62"/>
    <p:sldId id="668" r:id="rId63"/>
    <p:sldId id="618" r:id="rId64"/>
    <p:sldId id="654" r:id="rId65"/>
    <p:sldId id="655" r:id="rId66"/>
    <p:sldId id="656" r:id="rId67"/>
    <p:sldId id="657" r:id="rId68"/>
    <p:sldId id="658" r:id="rId69"/>
    <p:sldId id="669" r:id="rId70"/>
    <p:sldId id="941" r:id="rId71"/>
    <p:sldId id="1045" r:id="rId72"/>
    <p:sldId id="1044" r:id="rId73"/>
    <p:sldId id="262" r:id="rId74"/>
    <p:sldId id="1047" r:id="rId75"/>
    <p:sldId id="1048" r:id="rId76"/>
    <p:sldId id="1050" r:id="rId77"/>
    <p:sldId id="1051" r:id="rId78"/>
    <p:sldId id="1052" r:id="rId79"/>
    <p:sldId id="711" r:id="rId80"/>
    <p:sldId id="1088" r:id="rId81"/>
    <p:sldId id="1056" r:id="rId82"/>
    <p:sldId id="565" r:id="rId83"/>
    <p:sldId id="559" r:id="rId84"/>
    <p:sldId id="566" r:id="rId85"/>
    <p:sldId id="567" r:id="rId86"/>
    <p:sldId id="652" r:id="rId87"/>
    <p:sldId id="570" r:id="rId88"/>
    <p:sldId id="653" r:id="rId89"/>
    <p:sldId id="571" r:id="rId90"/>
    <p:sldId id="1059" r:id="rId91"/>
    <p:sldId id="1060" r:id="rId92"/>
    <p:sldId id="1061" r:id="rId93"/>
    <p:sldId id="1062" r:id="rId94"/>
    <p:sldId id="1063" r:id="rId95"/>
    <p:sldId id="1064" r:id="rId96"/>
    <p:sldId id="1065" r:id="rId97"/>
    <p:sldId id="1057" r:id="rId98"/>
    <p:sldId id="1068" r:id="rId99"/>
    <p:sldId id="716" r:id="rId100"/>
    <p:sldId id="854" r:id="rId101"/>
    <p:sldId id="855" r:id="rId102"/>
    <p:sldId id="718" r:id="rId103"/>
    <p:sldId id="635" r:id="rId104"/>
    <p:sldId id="636" r:id="rId105"/>
    <p:sldId id="637" r:id="rId106"/>
    <p:sldId id="719" r:id="rId107"/>
    <p:sldId id="672" r:id="rId108"/>
    <p:sldId id="1069" r:id="rId109"/>
    <p:sldId id="1070" r:id="rId110"/>
    <p:sldId id="1071" r:id="rId111"/>
    <p:sldId id="1072" r:id="rId112"/>
    <p:sldId id="1073" r:id="rId113"/>
    <p:sldId id="1074" r:id="rId114"/>
    <p:sldId id="1075" r:id="rId115"/>
    <p:sldId id="1076" r:id="rId116"/>
    <p:sldId id="1077" r:id="rId117"/>
    <p:sldId id="1078" r:id="rId118"/>
    <p:sldId id="1079" r:id="rId119"/>
    <p:sldId id="1080" r:id="rId120"/>
    <p:sldId id="1081" r:id="rId121"/>
    <p:sldId id="1082" r:id="rId122"/>
    <p:sldId id="1083" r:id="rId123"/>
    <p:sldId id="1084" r:id="rId124"/>
    <p:sldId id="1085" r:id="rId125"/>
    <p:sldId id="1086" r:id="rId126"/>
    <p:sldId id="1087" r:id="rId12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9933FF"/>
    <a:srgbClr val="FF9900"/>
    <a:srgbClr val="009999"/>
    <a:srgbClr val="4E4EF6"/>
    <a:srgbClr val="006699"/>
    <a:srgbClr val="FFFFFF"/>
    <a:srgbClr val="31869D"/>
    <a:srgbClr val="4444E8"/>
    <a:srgbClr val="5555FF"/>
    <a:srgbClr val="4141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5758FB7-9AC5-4552-8A53-C91805E547FA}" styleName="テーマ スタイル 1 - アクセント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00" autoAdjust="0"/>
    <p:restoredTop sz="96862" autoAdjust="0"/>
  </p:normalViewPr>
  <p:slideViewPr>
    <p:cSldViewPr>
      <p:cViewPr varScale="1">
        <p:scale>
          <a:sx n="161" d="100"/>
          <a:sy n="161" d="100"/>
        </p:scale>
        <p:origin x="360" y="88"/>
      </p:cViewPr>
      <p:guideLst>
        <p:guide orient="horz" pos="2160"/>
        <p:guide pos="3840"/>
      </p:guideLst>
    </p:cSldViewPr>
  </p:slideViewPr>
  <p:outlineViewPr>
    <p:cViewPr>
      <p:scale>
        <a:sx n="33" d="100"/>
        <a:sy n="33" d="100"/>
      </p:scale>
      <p:origin x="0" y="-22210"/>
    </p:cViewPr>
  </p:outlineViewPr>
  <p:notesTextViewPr>
    <p:cViewPr>
      <p:scale>
        <a:sx n="100" d="100"/>
        <a:sy n="100" d="100"/>
      </p:scale>
      <p:origin x="0" y="0"/>
    </p:cViewPr>
  </p:notesTextViewPr>
  <p:notesViewPr>
    <p:cSldViewPr>
      <p:cViewPr varScale="1">
        <p:scale>
          <a:sx n="65" d="100"/>
          <a:sy n="65" d="100"/>
        </p:scale>
        <p:origin x="2386" y="62"/>
      </p:cViewPr>
      <p:guideLst/>
    </p:cSldViewPr>
  </p:notesViewPr>
  <p:gridSpacing cx="90001" cy="90001"/>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presProps" Target="pres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viewProps" Target="view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tableStyles" Target="tableStyle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BE53D4-1A7B-4FFE-8A95-4265B045F058}" type="datetimeFigureOut">
              <a:rPr kumimoji="1" lang="ja-JP" altLang="en-US" smtClean="0"/>
              <a:t>2026/6/14</a:t>
            </a:fld>
            <a:endParaRPr kumimoji="1" lang="ja-JP" altLang="en-US"/>
          </a:p>
        </p:txBody>
      </p:sp>
      <p:sp>
        <p:nvSpPr>
          <p:cNvPr id="4" name="スライド イメージ プレースホルダー 3"/>
          <p:cNvSpPr>
            <a:spLocks noGrp="1" noRot="1" noChangeAspect="1"/>
          </p:cNvSpPr>
          <p:nvPr>
            <p:ph type="sldImg" idx="2"/>
          </p:nvPr>
        </p:nvSpPr>
        <p:spPr>
          <a:xfrm>
            <a:off x="-50800" y="161925"/>
            <a:ext cx="6959600" cy="3914775"/>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A5F4D4-1F28-49A5-8AEE-E46B08553EC4}" type="slidenum">
              <a:rPr kumimoji="1" lang="ja-JP" altLang="en-US" smtClean="0"/>
              <a:t>‹#›</a:t>
            </a:fld>
            <a:endParaRPr kumimoji="1" lang="ja-JP" altLang="en-US"/>
          </a:p>
        </p:txBody>
      </p:sp>
    </p:spTree>
    <p:extLst>
      <p:ext uri="{BB962C8B-B14F-4D97-AF65-F5344CB8AC3E}">
        <p14:creationId xmlns:p14="http://schemas.microsoft.com/office/powerpoint/2010/main" val="169212330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10"/>
          </p:nvPr>
        </p:nvSpPr>
        <p:spPr/>
        <p:txBody>
          <a:bodyPr/>
          <a:lstStyle/>
          <a:p>
            <a:fld id="{78A5F4D4-1F28-49A5-8AEE-E46B08553EC4}" type="slidenum">
              <a:rPr kumimoji="1" lang="ja-JP" altLang="en-US" smtClean="0"/>
              <a:t>1</a:t>
            </a:fld>
            <a:endParaRPr kumimoji="1" lang="ja-JP" altLang="en-US"/>
          </a:p>
        </p:txBody>
      </p:sp>
    </p:spTree>
    <p:extLst>
      <p:ext uri="{BB962C8B-B14F-4D97-AF65-F5344CB8AC3E}">
        <p14:creationId xmlns:p14="http://schemas.microsoft.com/office/powerpoint/2010/main" val="35483280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3B681C4-8BE2-4B31-9412-64C71E09F28E}" type="slidenum">
              <a:rPr kumimoji="1" lang="ja-JP" altLang="en-US" sz="1200" b="0" i="0" u="none" strike="noStrike" kern="1200" cap="none" spc="0" normalizeH="0" baseline="0" noProof="0" smtClean="0">
                <a:ln>
                  <a:noFill/>
                </a:ln>
                <a:solidFill>
                  <a:prstClr val="black"/>
                </a:solidFill>
                <a:effectLst/>
                <a:uLnTx/>
                <a:uFillTx/>
                <a:latin typeface="游ゴシック" panose="02110004020202020204"/>
                <a:ea typeface="游ゴシック" panose="020B0400000000000000" pitchFamily="50" charset="-128"/>
                <a:cs typeface="+mn-cs"/>
              </a:rPr>
              <a:pPr marL="0" marR="0" lvl="0" indent="0" algn="r" defTabSz="457200" rtl="0" eaLnBrk="1" fontAlgn="auto" latinLnBrk="0" hangingPunct="1">
                <a:lnSpc>
                  <a:spcPct val="100000"/>
                </a:lnSpc>
                <a:spcBef>
                  <a:spcPts val="0"/>
                </a:spcBef>
                <a:spcAft>
                  <a:spcPts val="0"/>
                </a:spcAft>
                <a:buClrTx/>
                <a:buSzTx/>
                <a:buFontTx/>
                <a:buNone/>
                <a:tabLst/>
                <a:defRPr/>
              </a:pPr>
              <a:t>73</a:t>
            </a:fld>
            <a:endParaRPr kumimoji="1" lang="ja-JP" altLang="en-US" sz="12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endParaRPr>
          </a:p>
        </p:txBody>
      </p:sp>
    </p:spTree>
    <p:extLst>
      <p:ext uri="{BB962C8B-B14F-4D97-AF65-F5344CB8AC3E}">
        <p14:creationId xmlns:p14="http://schemas.microsoft.com/office/powerpoint/2010/main" val="12823109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47424CC0-69D8-4EA1-A40C-A993AA6D964C}" type="slidenum">
              <a:rPr kumimoji="1" lang="ja-JP" altLang="en-US" smtClean="0"/>
              <a:t>74</a:t>
            </a:fld>
            <a:endParaRPr kumimoji="1" lang="ja-JP" altLang="en-US"/>
          </a:p>
        </p:txBody>
      </p:sp>
    </p:spTree>
    <p:extLst>
      <p:ext uri="{BB962C8B-B14F-4D97-AF65-F5344CB8AC3E}">
        <p14:creationId xmlns:p14="http://schemas.microsoft.com/office/powerpoint/2010/main" val="33865534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47424CC0-69D8-4EA1-A40C-A993AA6D964C}" type="slidenum">
              <a:rPr kumimoji="1" lang="ja-JP" altLang="en-US" smtClean="0"/>
              <a:t>75</a:t>
            </a:fld>
            <a:endParaRPr kumimoji="1" lang="ja-JP" altLang="en-US"/>
          </a:p>
        </p:txBody>
      </p:sp>
    </p:spTree>
    <p:extLst>
      <p:ext uri="{BB962C8B-B14F-4D97-AF65-F5344CB8AC3E}">
        <p14:creationId xmlns:p14="http://schemas.microsoft.com/office/powerpoint/2010/main" val="8819207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47424CC0-69D8-4EA1-A40C-A993AA6D964C}" type="slidenum">
              <a:rPr kumimoji="1" lang="ja-JP" altLang="en-US" smtClean="0"/>
              <a:t>83</a:t>
            </a:fld>
            <a:endParaRPr kumimoji="1" lang="ja-JP" altLang="en-US"/>
          </a:p>
        </p:txBody>
      </p:sp>
    </p:spTree>
    <p:extLst>
      <p:ext uri="{BB962C8B-B14F-4D97-AF65-F5344CB8AC3E}">
        <p14:creationId xmlns:p14="http://schemas.microsoft.com/office/powerpoint/2010/main" val="30980357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47424CC0-69D8-4EA1-A40C-A993AA6D964C}" type="slidenum">
              <a:rPr kumimoji="1" lang="ja-JP" altLang="en-US" smtClean="0"/>
              <a:t>84</a:t>
            </a:fld>
            <a:endParaRPr kumimoji="1" lang="ja-JP" altLang="en-US"/>
          </a:p>
        </p:txBody>
      </p:sp>
    </p:spTree>
    <p:extLst>
      <p:ext uri="{BB962C8B-B14F-4D97-AF65-F5344CB8AC3E}">
        <p14:creationId xmlns:p14="http://schemas.microsoft.com/office/powerpoint/2010/main" val="36484728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47424CC0-69D8-4EA1-A40C-A993AA6D964C}" type="slidenum">
              <a:rPr kumimoji="1" lang="ja-JP" altLang="en-US" smtClean="0"/>
              <a:t>85</a:t>
            </a:fld>
            <a:endParaRPr kumimoji="1" lang="ja-JP" altLang="en-US"/>
          </a:p>
        </p:txBody>
      </p:sp>
    </p:spTree>
    <p:extLst>
      <p:ext uri="{BB962C8B-B14F-4D97-AF65-F5344CB8AC3E}">
        <p14:creationId xmlns:p14="http://schemas.microsoft.com/office/powerpoint/2010/main" val="24004280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47424CC0-69D8-4EA1-A40C-A993AA6D964C}" type="slidenum">
              <a:rPr kumimoji="1" lang="ja-JP" altLang="en-US" smtClean="0"/>
              <a:t>86</a:t>
            </a:fld>
            <a:endParaRPr kumimoji="1" lang="ja-JP" altLang="en-US"/>
          </a:p>
        </p:txBody>
      </p:sp>
    </p:spTree>
    <p:extLst>
      <p:ext uri="{BB962C8B-B14F-4D97-AF65-F5344CB8AC3E}">
        <p14:creationId xmlns:p14="http://schemas.microsoft.com/office/powerpoint/2010/main" val="15065214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47424CC0-69D8-4EA1-A40C-A993AA6D964C}" type="slidenum">
              <a:rPr kumimoji="1" lang="ja-JP" altLang="en-US" smtClean="0"/>
              <a:t>88</a:t>
            </a:fld>
            <a:endParaRPr kumimoji="1" lang="ja-JP" altLang="en-US"/>
          </a:p>
        </p:txBody>
      </p:sp>
    </p:spTree>
    <p:extLst>
      <p:ext uri="{BB962C8B-B14F-4D97-AF65-F5344CB8AC3E}">
        <p14:creationId xmlns:p14="http://schemas.microsoft.com/office/powerpoint/2010/main" val="3886075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47424CC0-69D8-4EA1-A40C-A993AA6D964C}" type="slidenum">
              <a:rPr kumimoji="1" lang="ja-JP" altLang="en-US" smtClean="0"/>
              <a:t>89</a:t>
            </a:fld>
            <a:endParaRPr kumimoji="1" lang="ja-JP" altLang="en-US"/>
          </a:p>
        </p:txBody>
      </p:sp>
    </p:spTree>
    <p:extLst>
      <p:ext uri="{BB962C8B-B14F-4D97-AF65-F5344CB8AC3E}">
        <p14:creationId xmlns:p14="http://schemas.microsoft.com/office/powerpoint/2010/main" val="14558186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21" name="正方形/長方形 20"/>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sp>
        <p:nvSpPr>
          <p:cNvPr id="7170" name="Rectangle 2"/>
          <p:cNvSpPr>
            <a:spLocks noGrp="1" noChangeArrowheads="1"/>
          </p:cNvSpPr>
          <p:nvPr>
            <p:ph type="ctrTitle"/>
          </p:nvPr>
        </p:nvSpPr>
        <p:spPr>
          <a:xfrm>
            <a:off x="935943" y="278965"/>
            <a:ext cx="10560117" cy="2340026"/>
          </a:xfrm>
          <a:prstGeom prst="rect">
            <a:avLst/>
          </a:prstGeom>
        </p:spPr>
        <p:txBody>
          <a:bodyPr anchor="ctr"/>
          <a:lstStyle>
            <a:lvl1pPr algn="ctr">
              <a:defRPr sz="3200" b="1">
                <a:solidFill>
                  <a:schemeClr val="bg1"/>
                </a:solidFill>
              </a:defRPr>
            </a:lvl1pPr>
          </a:lstStyle>
          <a:p>
            <a:r>
              <a:rPr lang="ja-JP" altLang="en-US"/>
              <a:t>マスター タイトルの書式設定</a:t>
            </a:r>
            <a:endParaRPr lang="ja-JP" altLang="en-US" dirty="0"/>
          </a:p>
        </p:txBody>
      </p:sp>
      <p:sp>
        <p:nvSpPr>
          <p:cNvPr id="7171" name="Rectangle 3"/>
          <p:cNvSpPr>
            <a:spLocks noGrp="1" noChangeArrowheads="1"/>
          </p:cNvSpPr>
          <p:nvPr>
            <p:ph type="subTitle" idx="1"/>
          </p:nvPr>
        </p:nvSpPr>
        <p:spPr>
          <a:xfrm>
            <a:off x="2255957" y="4149008"/>
            <a:ext cx="9600107" cy="1440017"/>
          </a:xfrm>
        </p:spPr>
        <p:txBody>
          <a:bodyPr anchor="b"/>
          <a:lstStyle>
            <a:lvl1pPr marL="0" indent="0" algn="r">
              <a:lnSpc>
                <a:spcPct val="150000"/>
              </a:lnSpc>
              <a:spcBef>
                <a:spcPts val="0"/>
              </a:spcBef>
              <a:spcAft>
                <a:spcPts val="0"/>
              </a:spcAft>
              <a:buFont typeface="Wingdings" pitchFamily="2" charset="2"/>
              <a:buNone/>
              <a:defRPr>
                <a:solidFill>
                  <a:schemeClr val="bg1"/>
                </a:solidFill>
              </a:defRPr>
            </a:lvl1pPr>
          </a:lstStyle>
          <a:p>
            <a:r>
              <a:rPr lang="ja-JP" altLang="en-US"/>
              <a:t>マスター サブタイトルの書式設定</a:t>
            </a:r>
            <a:endParaRPr lang="ja-JP" altLang="en-US" dirty="0"/>
          </a:p>
        </p:txBody>
      </p:sp>
      <p:sp>
        <p:nvSpPr>
          <p:cNvPr id="5" name="正方形/長方形 4"/>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6" name="直線コネクタ 5"/>
          <p:cNvCxnSpPr>
            <a:cxnSpLocks/>
          </p:cNvCxnSpPr>
          <p:nvPr/>
        </p:nvCxnSpPr>
        <p:spPr bwMode="auto">
          <a:xfrm>
            <a:off x="695940" y="3068996"/>
            <a:ext cx="10710119" cy="0"/>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2" name="正方形/長方形 1">
            <a:extLst>
              <a:ext uri="{FF2B5EF4-FFF2-40B4-BE49-F238E27FC236}">
                <a16:creationId xmlns:a16="http://schemas.microsoft.com/office/drawing/2014/main" id="{813827C5-4275-31A2-853D-AD2CF14BBA98}"/>
              </a:ext>
            </a:extLst>
          </p:cNvPr>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3" name="直線コネクタ 2">
            <a:extLst>
              <a:ext uri="{FF2B5EF4-FFF2-40B4-BE49-F238E27FC236}">
                <a16:creationId xmlns:a16="http://schemas.microsoft.com/office/drawing/2014/main" id="{7B0AFE8A-4F74-BD8B-20D9-616B7AE7DADC}"/>
              </a:ext>
            </a:extLst>
          </p:cNvPr>
          <p:cNvCxnSpPr/>
          <p:nvPr/>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4" name="正方形/長方形 3">
            <a:extLst>
              <a:ext uri="{FF2B5EF4-FFF2-40B4-BE49-F238E27FC236}">
                <a16:creationId xmlns:a16="http://schemas.microsoft.com/office/drawing/2014/main" id="{11CAED90-8BCF-EEF7-7551-9410E8F2C2C7}"/>
              </a:ext>
            </a:extLst>
          </p:cNvPr>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7" name="直線コネクタ 6">
            <a:extLst>
              <a:ext uri="{FF2B5EF4-FFF2-40B4-BE49-F238E27FC236}">
                <a16:creationId xmlns:a16="http://schemas.microsoft.com/office/drawing/2014/main" id="{AA6324B9-77F8-EC31-6C3B-5D9B58641456}"/>
              </a:ext>
            </a:extLst>
          </p:cNvPr>
          <p:cNvCxnSpPr/>
          <p:nvPr/>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8" name="正方形/長方形 7">
            <a:extLst>
              <a:ext uri="{FF2B5EF4-FFF2-40B4-BE49-F238E27FC236}">
                <a16:creationId xmlns:a16="http://schemas.microsoft.com/office/drawing/2014/main" id="{7F3D3427-5051-5379-015F-3E42D5A44B63}"/>
              </a:ext>
            </a:extLst>
          </p:cNvPr>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9" name="直線コネクタ 8">
            <a:extLst>
              <a:ext uri="{FF2B5EF4-FFF2-40B4-BE49-F238E27FC236}">
                <a16:creationId xmlns:a16="http://schemas.microsoft.com/office/drawing/2014/main" id="{AED9C875-ACB9-9A82-3D2E-F8FE4B2ACA89}"/>
              </a:ext>
            </a:extLst>
          </p:cNvPr>
          <p:cNvCxnSpPr/>
          <p:nvPr/>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10" name="正方形/長方形 9">
            <a:extLst>
              <a:ext uri="{FF2B5EF4-FFF2-40B4-BE49-F238E27FC236}">
                <a16:creationId xmlns:a16="http://schemas.microsoft.com/office/drawing/2014/main" id="{3BFBD119-9076-BF7C-BD08-925CA913FF2C}"/>
              </a:ext>
            </a:extLst>
          </p:cNvPr>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11" name="直線コネクタ 10">
            <a:extLst>
              <a:ext uri="{FF2B5EF4-FFF2-40B4-BE49-F238E27FC236}">
                <a16:creationId xmlns:a16="http://schemas.microsoft.com/office/drawing/2014/main" id="{DD8AB707-DF2C-A333-49BD-B518A1D16921}"/>
              </a:ext>
            </a:extLst>
          </p:cNvPr>
          <p:cNvCxnSpPr/>
          <p:nvPr/>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12" name="正方形/長方形 11">
            <a:extLst>
              <a:ext uri="{FF2B5EF4-FFF2-40B4-BE49-F238E27FC236}">
                <a16:creationId xmlns:a16="http://schemas.microsoft.com/office/drawing/2014/main" id="{F35DEA87-3111-62FA-4EC7-0AD84F069EAF}"/>
              </a:ext>
            </a:extLst>
          </p:cNvPr>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13" name="直線コネクタ 12">
            <a:extLst>
              <a:ext uri="{FF2B5EF4-FFF2-40B4-BE49-F238E27FC236}">
                <a16:creationId xmlns:a16="http://schemas.microsoft.com/office/drawing/2014/main" id="{85E03A68-7ED4-41E0-532F-2B44665BCBCA}"/>
              </a:ext>
            </a:extLst>
          </p:cNvPr>
          <p:cNvCxnSpPr/>
          <p:nvPr/>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14" name="正方形/長方形 13">
            <a:extLst>
              <a:ext uri="{FF2B5EF4-FFF2-40B4-BE49-F238E27FC236}">
                <a16:creationId xmlns:a16="http://schemas.microsoft.com/office/drawing/2014/main" id="{4A24F767-FA26-C866-507F-01791519F368}"/>
              </a:ext>
            </a:extLst>
          </p:cNvPr>
          <p:cNvSpPr/>
          <p:nvPr userDrawn="1"/>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15" name="直線コネクタ 14">
            <a:extLst>
              <a:ext uri="{FF2B5EF4-FFF2-40B4-BE49-F238E27FC236}">
                <a16:creationId xmlns:a16="http://schemas.microsoft.com/office/drawing/2014/main" id="{38E68845-EB2D-EE38-5889-988B24D97BDB}"/>
              </a:ext>
            </a:extLst>
          </p:cNvPr>
          <p:cNvCxnSpPr/>
          <p:nvPr userDrawn="1"/>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Tree>
    <p:extLst>
      <p:ext uri="{BB962C8B-B14F-4D97-AF65-F5344CB8AC3E}">
        <p14:creationId xmlns:p14="http://schemas.microsoft.com/office/powerpoint/2010/main" val="41363723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1415948" y="0"/>
            <a:ext cx="10776052"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lvl1pPr>
              <a:defRPr>
                <a:latin typeface="+mn-lt"/>
              </a:defRPr>
            </a:lvl1pPr>
          </a:lstStyle>
          <a:p>
            <a:pPr lvl="0"/>
            <a:r>
              <a:rPr lang="ja-JP" altLang="en-US"/>
              <a:t>マスター タイトルの書式設定</a:t>
            </a:r>
            <a:endParaRPr lang="ja-JP" altLang="en-US" dirty="0"/>
          </a:p>
        </p:txBody>
      </p:sp>
      <p:sp>
        <p:nvSpPr>
          <p:cNvPr id="8" name="Rectangle 20"/>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12" name="テキスト プレースホルダー 11"/>
          <p:cNvSpPr>
            <a:spLocks noGrp="1"/>
          </p:cNvSpPr>
          <p:nvPr>
            <p:ph type="body" sz="quarter" idx="10"/>
          </p:nvPr>
        </p:nvSpPr>
        <p:spPr>
          <a:xfrm>
            <a:off x="1775952" y="1088974"/>
            <a:ext cx="8730097" cy="5219751"/>
          </a:xfrm>
        </p:spPr>
        <p:txBody>
          <a:bodyPr/>
          <a:lstStyle>
            <a:lvl2pPr>
              <a:buClr>
                <a:schemeClr val="accent5">
                  <a:lumMod val="60000"/>
                  <a:lumOff val="40000"/>
                </a:schemeClr>
              </a:buClr>
              <a:defRPr/>
            </a:lvl2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6" name="Rectangle 20"/>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2" name="Rectangle 20">
            <a:extLst>
              <a:ext uri="{FF2B5EF4-FFF2-40B4-BE49-F238E27FC236}">
                <a16:creationId xmlns:a16="http://schemas.microsoft.com/office/drawing/2014/main" id="{7D04F621-C209-E75B-F5AE-4EC68827B138}"/>
              </a:ext>
            </a:extLst>
          </p:cNvPr>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3" name="Rectangle 20">
            <a:extLst>
              <a:ext uri="{FF2B5EF4-FFF2-40B4-BE49-F238E27FC236}">
                <a16:creationId xmlns:a16="http://schemas.microsoft.com/office/drawing/2014/main" id="{C404F010-FD53-825B-58ED-3AB5C6FF9F3B}"/>
              </a:ext>
            </a:extLst>
          </p:cNvPr>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4" name="Rectangle 20">
            <a:extLst>
              <a:ext uri="{FF2B5EF4-FFF2-40B4-BE49-F238E27FC236}">
                <a16:creationId xmlns:a16="http://schemas.microsoft.com/office/drawing/2014/main" id="{09277AEF-3306-EB14-319D-C9936A20E391}"/>
              </a:ext>
            </a:extLst>
          </p:cNvPr>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7" name="Rectangle 20">
            <a:extLst>
              <a:ext uri="{FF2B5EF4-FFF2-40B4-BE49-F238E27FC236}">
                <a16:creationId xmlns:a16="http://schemas.microsoft.com/office/drawing/2014/main" id="{5F8EB56A-100F-AF7A-C776-9434171D2CF6}"/>
              </a:ext>
            </a:extLst>
          </p:cNvPr>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9" name="Rectangle 20">
            <a:extLst>
              <a:ext uri="{FF2B5EF4-FFF2-40B4-BE49-F238E27FC236}">
                <a16:creationId xmlns:a16="http://schemas.microsoft.com/office/drawing/2014/main" id="{21464E23-801D-B360-03E1-8AB3FB913351}"/>
              </a:ext>
            </a:extLst>
          </p:cNvPr>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10" name="Rectangle 20">
            <a:extLst>
              <a:ext uri="{FF2B5EF4-FFF2-40B4-BE49-F238E27FC236}">
                <a16:creationId xmlns:a16="http://schemas.microsoft.com/office/drawing/2014/main" id="{81270656-CD82-6EA3-336A-BF27E9713A0A}"/>
              </a:ext>
            </a:extLst>
          </p:cNvPr>
          <p:cNvSpPr txBox="1">
            <a:spLocks noChangeArrowheads="1"/>
          </p:cNvSpPr>
          <p:nvPr userDrawn="1"/>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Tree>
    <p:extLst>
      <p:ext uri="{BB962C8B-B14F-4D97-AF65-F5344CB8AC3E}">
        <p14:creationId xmlns:p14="http://schemas.microsoft.com/office/powerpoint/2010/main" val="6074674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セクションタイトル">
    <p:bg>
      <p:bgPr>
        <a:solidFill>
          <a:schemeClr val="accent5"/>
        </a:solidFill>
        <a:effectLst/>
      </p:bgPr>
    </p:bg>
    <p:spTree>
      <p:nvGrpSpPr>
        <p:cNvPr id="1" name=""/>
        <p:cNvGrpSpPr/>
        <p:nvPr/>
      </p:nvGrpSpPr>
      <p:grpSpPr>
        <a:xfrm>
          <a:off x="0" y="0"/>
          <a:ext cx="0" cy="0"/>
          <a:chOff x="0" y="0"/>
          <a:chExt cx="0" cy="0"/>
        </a:xfrm>
      </p:grpSpPr>
      <p:sp>
        <p:nvSpPr>
          <p:cNvPr id="2" name="スライド番号プレースホルダ 1"/>
          <p:cNvSpPr>
            <a:spLocks noGrp="1"/>
          </p:cNvSpPr>
          <p:nvPr>
            <p:ph type="sldNum" sz="quarter" idx="10"/>
          </p:nvPr>
        </p:nvSpPr>
        <p:spPr/>
        <p:txBody>
          <a:bodyPr/>
          <a:lstStyle>
            <a:lvl1pPr>
              <a:defRPr>
                <a:solidFill>
                  <a:schemeClr val="bg1"/>
                </a:solidFill>
              </a:defRPr>
            </a:lvl1pPr>
          </a:lstStyle>
          <a:p>
            <a:fld id="{D2D8002D-B5B0-4BAC-B1F6-782DDCCE6D9C}" type="slidenum">
              <a:rPr kumimoji="1" lang="ja-JP" altLang="en-US" smtClean="0"/>
              <a:pPr/>
              <a:t>‹#›</a:t>
            </a:fld>
            <a:endParaRPr kumimoji="1" lang="ja-JP" altLang="en-US"/>
          </a:p>
        </p:txBody>
      </p:sp>
      <p:sp>
        <p:nvSpPr>
          <p:cNvPr id="3" name="タイトル 2"/>
          <p:cNvSpPr>
            <a:spLocks noGrp="1"/>
          </p:cNvSpPr>
          <p:nvPr>
            <p:ph type="title"/>
          </p:nvPr>
        </p:nvSpPr>
        <p:spPr>
          <a:xfrm>
            <a:off x="1325947" y="2078985"/>
            <a:ext cx="9600107" cy="990011"/>
          </a:xfrm>
        </p:spPr>
        <p:txBody>
          <a:bodyPr anchor="b"/>
          <a:lstStyle>
            <a:lvl1pPr algn="ctr">
              <a:defRPr sz="3200" b="0"/>
            </a:lvl1pPr>
          </a:lstStyle>
          <a:p>
            <a:r>
              <a:rPr kumimoji="1" lang="ja-JP" altLang="en-US"/>
              <a:t>マスター タイトルの書式設定</a:t>
            </a:r>
            <a:endParaRPr kumimoji="1" lang="ja-JP" altLang="en-US" dirty="0"/>
          </a:p>
        </p:txBody>
      </p:sp>
      <p:cxnSp>
        <p:nvCxnSpPr>
          <p:cNvPr id="5" name="直線コネクタ 4">
            <a:extLst>
              <a:ext uri="{FF2B5EF4-FFF2-40B4-BE49-F238E27FC236}">
                <a16:creationId xmlns:a16="http://schemas.microsoft.com/office/drawing/2014/main" id="{7A61BF30-B8F3-19FE-7662-81071F95A583}"/>
              </a:ext>
            </a:extLst>
          </p:cNvPr>
          <p:cNvCxnSpPr>
            <a:cxnSpLocks/>
          </p:cNvCxnSpPr>
          <p:nvPr/>
        </p:nvCxnSpPr>
        <p:spPr bwMode="auto">
          <a:xfrm>
            <a:off x="695940" y="3068996"/>
            <a:ext cx="10710119" cy="0"/>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Tree>
    <p:extLst>
      <p:ext uri="{BB962C8B-B14F-4D97-AF65-F5344CB8AC3E}">
        <p14:creationId xmlns:p14="http://schemas.microsoft.com/office/powerpoint/2010/main" val="2800140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タイトルのみ">
    <p:spTree>
      <p:nvGrpSpPr>
        <p:cNvPr id="1" name=""/>
        <p:cNvGrpSpPr/>
        <p:nvPr/>
      </p:nvGrpSpPr>
      <p:grpSpPr>
        <a:xfrm>
          <a:off x="0" y="0"/>
          <a:ext cx="0" cy="0"/>
          <a:chOff x="0" y="0"/>
          <a:chExt cx="0" cy="0"/>
        </a:xfrm>
      </p:grpSpPr>
      <p:sp>
        <p:nvSpPr>
          <p:cNvPr id="3" name="スライド番号プレースホルダ 2"/>
          <p:cNvSpPr>
            <a:spLocks noGrp="1"/>
          </p:cNvSpPr>
          <p:nvPr>
            <p:ph type="sldNum" sz="quarter" idx="10"/>
          </p:nvPr>
        </p:nvSpPr>
        <p:spPr/>
        <p:txBody>
          <a:bodyPr/>
          <a:lstStyle>
            <a:lvl1pPr>
              <a:defRPr>
                <a:solidFill>
                  <a:srgbClr val="686D6D"/>
                </a:solidFill>
              </a:defRPr>
            </a:lvl1pPr>
          </a:lstStyle>
          <a:p>
            <a:fld id="{D2D8002D-B5B0-4BAC-B1F6-782DDCCE6D9C}" type="slidenum">
              <a:rPr kumimoji="1" lang="ja-JP" altLang="en-US" smtClean="0"/>
              <a:pPr/>
              <a:t>‹#›</a:t>
            </a:fld>
            <a:endParaRPr kumimoji="1" lang="ja-JP" altLang="en-US" dirty="0"/>
          </a:p>
        </p:txBody>
      </p:sp>
      <p:sp>
        <p:nvSpPr>
          <p:cNvPr id="5" name="タイトル 4"/>
          <p:cNvSpPr>
            <a:spLocks noGrp="1"/>
          </p:cNvSpPr>
          <p:nvPr>
            <p:ph type="title"/>
          </p:nvPr>
        </p:nvSpPr>
        <p:spPr/>
        <p:txBody>
          <a:bodyPr/>
          <a:lstStyle>
            <a:lvl1pPr>
              <a:defRPr>
                <a:solidFill>
                  <a:schemeClr val="bg1"/>
                </a:solidFill>
              </a:defRPr>
            </a:lvl1pPr>
          </a:lstStyle>
          <a:p>
            <a:r>
              <a:rPr kumimoji="1" lang="ja-JP" altLang="en-US"/>
              <a:t>マスター タイトルの書式設定</a:t>
            </a:r>
            <a:endParaRPr kumimoji="1" lang="ja-JP" altLang="en-US" dirty="0"/>
          </a:p>
        </p:txBody>
      </p:sp>
    </p:spTree>
    <p:extLst>
      <p:ext uri="{BB962C8B-B14F-4D97-AF65-F5344CB8AC3E}">
        <p14:creationId xmlns:p14="http://schemas.microsoft.com/office/powerpoint/2010/main" val="2921116559"/>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1_セクションタイトル">
    <p:bg>
      <p:bgPr>
        <a:solidFill>
          <a:schemeClr val="bg1"/>
        </a:solidFill>
        <a:effectLst/>
      </p:bgPr>
    </p:bg>
    <p:spTree>
      <p:nvGrpSpPr>
        <p:cNvPr id="1" name=""/>
        <p:cNvGrpSpPr/>
        <p:nvPr/>
      </p:nvGrpSpPr>
      <p:grpSpPr>
        <a:xfrm>
          <a:off x="0" y="0"/>
          <a:ext cx="0" cy="0"/>
          <a:chOff x="0" y="0"/>
          <a:chExt cx="0" cy="0"/>
        </a:xfrm>
      </p:grpSpPr>
      <p:sp>
        <p:nvSpPr>
          <p:cNvPr id="2" name="スライド番号プレースホルダ 1"/>
          <p:cNvSpPr>
            <a:spLocks noGrp="1"/>
          </p:cNvSpPr>
          <p:nvPr>
            <p:ph type="sldNum" sz="quarter" idx="10"/>
          </p:nvPr>
        </p:nvSpPr>
        <p:spPr/>
        <p:txBody>
          <a:bodyPr/>
          <a:lstStyle>
            <a:lvl1pPr>
              <a:defRPr>
                <a:solidFill>
                  <a:schemeClr val="tx1">
                    <a:lumMod val="75000"/>
                    <a:lumOff val="25000"/>
                  </a:schemeClr>
                </a:solidFill>
              </a:defRPr>
            </a:lvl1pPr>
          </a:lstStyle>
          <a:p>
            <a:fld id="{D2D8002D-B5B0-4BAC-B1F6-782DDCCE6D9C}" type="slidenum">
              <a:rPr kumimoji="1" lang="ja-JP" altLang="en-US" smtClean="0"/>
              <a:pPr/>
              <a:t>‹#›</a:t>
            </a:fld>
            <a:endParaRPr kumimoji="1" lang="ja-JP" altLang="en-US"/>
          </a:p>
        </p:txBody>
      </p:sp>
    </p:spTree>
    <p:extLst>
      <p:ext uri="{BB962C8B-B14F-4D97-AF65-F5344CB8AC3E}">
        <p14:creationId xmlns:p14="http://schemas.microsoft.com/office/powerpoint/2010/main" val="179429418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7" name="Rectangle 3"/>
          <p:cNvSpPr>
            <a:spLocks noGrp="1" noChangeArrowheads="1"/>
          </p:cNvSpPr>
          <p:nvPr>
            <p:ph type="body" idx="1"/>
          </p:nvPr>
        </p:nvSpPr>
        <p:spPr bwMode="auto">
          <a:xfrm>
            <a:off x="1775952" y="1088975"/>
            <a:ext cx="10080112" cy="522005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ja-JP" altLang="en-US" dirty="0"/>
              <a:t>マスタ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2" name="正方形/長方形 1"/>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22" name="Rectangle 2"/>
          <p:cNvSpPr>
            <a:spLocks noGrp="1" noChangeArrowheads="1"/>
          </p:cNvSpPr>
          <p:nvPr>
            <p:ph type="title"/>
          </p:nvPr>
        </p:nvSpPr>
        <p:spPr bwMode="auto">
          <a:xfrm>
            <a:off x="575939" y="0"/>
            <a:ext cx="11616061"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p>
            <a:pPr lvl="0"/>
            <a:r>
              <a:rPr lang="ja-JP" altLang="en-US" dirty="0"/>
              <a:t>マスタ タイトルの書式設定</a:t>
            </a:r>
          </a:p>
        </p:txBody>
      </p:sp>
      <p:sp>
        <p:nvSpPr>
          <p:cNvPr id="6164" name="Rectangle 20"/>
          <p:cNvSpPr>
            <a:spLocks noGrp="1" noChangeArrowheads="1"/>
          </p:cNvSpPr>
          <p:nvPr>
            <p:ph type="sldNum" sz="quarter" idx="4"/>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lgn="r">
              <a:defRPr kumimoji="0" sz="2000">
                <a:solidFill>
                  <a:schemeClr val="tx1">
                    <a:lumMod val="75000"/>
                    <a:lumOff val="25000"/>
                  </a:schemeClr>
                </a:solidFill>
                <a:latin typeface="+mn-lt"/>
              </a:defRPr>
            </a:lvl1pPr>
          </a:lstStyle>
          <a:p>
            <a:fld id="{D2D8002D-B5B0-4BAC-B1F6-782DDCCE6D9C}" type="slidenum">
              <a:rPr kumimoji="1" lang="ja-JP" altLang="en-US" smtClean="0"/>
              <a:pPr/>
              <a:t>‹#›</a:t>
            </a:fld>
            <a:endParaRPr kumimoji="1" lang="ja-JP" altLang="en-US" dirty="0"/>
          </a:p>
        </p:txBody>
      </p:sp>
      <p:sp>
        <p:nvSpPr>
          <p:cNvPr id="6" name="正方形/長方形 5"/>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3" name="正方形/長方形 2">
            <a:extLst>
              <a:ext uri="{FF2B5EF4-FFF2-40B4-BE49-F238E27FC236}">
                <a16:creationId xmlns:a16="http://schemas.microsoft.com/office/drawing/2014/main" id="{20B7F19E-FA20-B8CB-C604-8C1C29606C60}"/>
              </a:ext>
            </a:extLst>
          </p:cNvPr>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4" name="正方形/長方形 3">
            <a:extLst>
              <a:ext uri="{FF2B5EF4-FFF2-40B4-BE49-F238E27FC236}">
                <a16:creationId xmlns:a16="http://schemas.microsoft.com/office/drawing/2014/main" id="{725FB03B-A980-D697-F9FB-906D55B002FA}"/>
              </a:ext>
            </a:extLst>
          </p:cNvPr>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5" name="正方形/長方形 4">
            <a:extLst>
              <a:ext uri="{FF2B5EF4-FFF2-40B4-BE49-F238E27FC236}">
                <a16:creationId xmlns:a16="http://schemas.microsoft.com/office/drawing/2014/main" id="{2D5F1A73-A3EB-E252-17CF-30B89F3C7AE0}"/>
              </a:ext>
            </a:extLst>
          </p:cNvPr>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7" name="正方形/長方形 6">
            <a:extLst>
              <a:ext uri="{FF2B5EF4-FFF2-40B4-BE49-F238E27FC236}">
                <a16:creationId xmlns:a16="http://schemas.microsoft.com/office/drawing/2014/main" id="{95778E54-A5E7-1B8D-DD56-A347FE5638C8}"/>
              </a:ext>
            </a:extLst>
          </p:cNvPr>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8" name="正方形/長方形 7">
            <a:extLst>
              <a:ext uri="{FF2B5EF4-FFF2-40B4-BE49-F238E27FC236}">
                <a16:creationId xmlns:a16="http://schemas.microsoft.com/office/drawing/2014/main" id="{0CA006FA-2EAF-700F-1F1E-1AD9A8AD1F46}"/>
              </a:ext>
            </a:extLst>
          </p:cNvPr>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9" name="正方形/長方形 8">
            <a:extLst>
              <a:ext uri="{FF2B5EF4-FFF2-40B4-BE49-F238E27FC236}">
                <a16:creationId xmlns:a16="http://schemas.microsoft.com/office/drawing/2014/main" id="{47ED5B20-1F5A-CCD9-B341-F10DC8DB9BD0}"/>
              </a:ext>
            </a:extLst>
          </p:cNvPr>
          <p:cNvSpPr/>
          <p:nvPr userDrawn="1"/>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Tree>
    <p:extLst>
      <p:ext uri="{BB962C8B-B14F-4D97-AF65-F5344CB8AC3E}">
        <p14:creationId xmlns:p14="http://schemas.microsoft.com/office/powerpoint/2010/main" val="3531876946"/>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Lst>
  <p:hf hdr="0" ftr="0" dt="0"/>
  <p:txStyles>
    <p:titleStyle>
      <a:lvl1pPr algn="l" rtl="0" eaLnBrk="1" fontAlgn="base" hangingPunct="1">
        <a:spcBef>
          <a:spcPct val="0"/>
        </a:spcBef>
        <a:spcAft>
          <a:spcPct val="0"/>
        </a:spcAft>
        <a:defRPr kumimoji="1" sz="2800" b="1">
          <a:solidFill>
            <a:schemeClr val="bg1"/>
          </a:solidFill>
          <a:latin typeface="+mn-lt"/>
          <a:ea typeface="メイリオ" pitchFamily="50" charset="-128"/>
          <a:cs typeface="メイリオ" pitchFamily="50" charset="-128"/>
        </a:defRPr>
      </a:lvl1pPr>
      <a:lvl2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2pPr>
      <a:lvl3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3pPr>
      <a:lvl4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4pPr>
      <a:lvl5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5pPr>
      <a:lvl6pPr marL="4572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6pPr>
      <a:lvl7pPr marL="9144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7pPr>
      <a:lvl8pPr marL="13716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8pPr>
      <a:lvl9pPr marL="18288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9pPr>
    </p:titleStyle>
    <p:body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5">
            <a:lumMod val="60000"/>
            <a:lumOff val="40000"/>
          </a:schemeClr>
        </a:buClr>
        <a:buSzPct val="90000"/>
        <a:buFont typeface="Wingdings" panose="05000000000000000000" pitchFamily="2" charset="2"/>
        <a:buChar char="l"/>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5">
            <a:lumMod val="60000"/>
            <a:lumOff val="40000"/>
          </a:schemeClr>
        </a:buClr>
        <a:buSzPct val="70000"/>
        <a:buFont typeface="Segoe UI" panose="020B0502040204020203" pitchFamily="34" charset="0"/>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7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chemeClr val="accent5">
            <a:lumMod val="60000"/>
            <a:lumOff val="40000"/>
          </a:schemeClr>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53.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 Id="rId14" Type="http://schemas.openxmlformats.org/officeDocument/2006/relationships/image" Target="../media/image2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5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hyperlink" Target="https://team.inria.fr/pacap/members/andre-seznec/" TargetMode="Externa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hyperlink" Target="https://cbp-ng.bpchamp.com/" TargetMode="External"/><Relationship Id="rId2" Type="http://schemas.openxmlformats.org/officeDocument/2006/relationships/hyperlink" Target="https://ericrotenberg.wordpress.ncsu.edu/cbp2025/" TargetMode="Externa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80.xml.rels><?xml version="1.0" encoding="UTF-8" standalone="yes"?>
<Relationships xmlns="http://schemas.openxmlformats.org/package/2006/relationships"><Relationship Id="rId2" Type="http://schemas.openxmlformats.org/officeDocument/2006/relationships/hyperlink" Target="https://hal.science/hal-04804900" TargetMode="Externa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hyperlink" Target="https://docs.google.com/spreadsheets/d/1Sufjhmcvn4_wInaJ3sAv3Qf47gH4Q1Ku_dlsfGvo3B4/edit?usp=drive_link" TargetMode="Externa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1865953" y="1988985"/>
            <a:ext cx="8460094" cy="630007"/>
          </a:xfrm>
        </p:spPr>
        <p:txBody>
          <a:bodyPr/>
          <a:lstStyle/>
          <a:p>
            <a:r>
              <a:rPr lang="ja-JP" altLang="en-US" sz="2800"/>
              <a:t>先進計算機構成論 </a:t>
            </a:r>
            <a:r>
              <a:rPr lang="en-US" altLang="ja-JP" sz="2800" dirty="0"/>
              <a:t>06</a:t>
            </a:r>
            <a:endParaRPr lang="ja-JP" altLang="en-US" sz="2800" dirty="0"/>
          </a:p>
        </p:txBody>
      </p:sp>
      <p:sp>
        <p:nvSpPr>
          <p:cNvPr id="6" name="サブタイトル 2"/>
          <p:cNvSpPr txBox="1">
            <a:spLocks/>
          </p:cNvSpPr>
          <p:nvPr/>
        </p:nvSpPr>
        <p:spPr bwMode="auto">
          <a:xfrm>
            <a:off x="2405960" y="3699003"/>
            <a:ext cx="7650085" cy="540006"/>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marL="0" indent="0" algn="r" rtl="0" eaLnBrk="1" fontAlgn="base" hangingPunct="1">
              <a:lnSpc>
                <a:spcPct val="150000"/>
              </a:lnSpc>
              <a:spcBef>
                <a:spcPts val="0"/>
              </a:spcBef>
              <a:spcAft>
                <a:spcPts val="0"/>
              </a:spcAft>
              <a:buClr>
                <a:schemeClr val="accent5"/>
              </a:buClr>
              <a:buFont typeface="Wingdings" pitchFamily="2" charset="2"/>
              <a:buNone/>
              <a:tabLst>
                <a:tab pos="2057400" algn="l"/>
              </a:tabLst>
              <a:defRPr kumimoji="1" sz="2000">
                <a:solidFill>
                  <a:schemeClr val="bg1"/>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a:lnSpc>
                <a:spcPct val="100000"/>
              </a:lnSpc>
            </a:pPr>
            <a:r>
              <a:rPr lang="ja-JP" altLang="en-US" kern="0" dirty="0"/>
              <a:t>東京大学大学院 情報理工学系研究科 創造情報学専攻</a:t>
            </a:r>
            <a:endParaRPr lang="en-US" altLang="ja-JP" kern="0" dirty="0"/>
          </a:p>
          <a:p>
            <a:pPr>
              <a:lnSpc>
                <a:spcPct val="100000"/>
              </a:lnSpc>
            </a:pPr>
            <a:r>
              <a:rPr lang="ja-JP" altLang="en-US" kern="0" dirty="0"/>
              <a:t>塩谷 亮太 </a:t>
            </a:r>
            <a:endParaRPr lang="en-US" altLang="ja-JP" kern="0" dirty="0"/>
          </a:p>
          <a:p>
            <a:pPr>
              <a:lnSpc>
                <a:spcPct val="100000"/>
              </a:lnSpc>
            </a:pPr>
            <a:r>
              <a:rPr lang="en-US" altLang="ja-JP" kern="0" dirty="0"/>
              <a:t>shioya@ci.i.u-tokyo.ac.jp</a:t>
            </a:r>
            <a:endParaRPr lang="ja-JP" altLang="en-US" kern="0" dirty="0"/>
          </a:p>
        </p:txBody>
      </p:sp>
    </p:spTree>
    <p:extLst>
      <p:ext uri="{BB962C8B-B14F-4D97-AF65-F5344CB8AC3E}">
        <p14:creationId xmlns:p14="http://schemas.microsoft.com/office/powerpoint/2010/main" val="1017800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前回のおさらい：分岐予測器の基本（１）</a:t>
            </a:r>
            <a:endParaRPr kumimoji="1" lang="ja-JP" altLang="en-US" dirty="0"/>
          </a:p>
        </p:txBody>
      </p:sp>
      <p:sp>
        <p:nvSpPr>
          <p:cNvPr id="3" name="テキスト プレースホルダー 2"/>
          <p:cNvSpPr>
            <a:spLocks noGrp="1"/>
          </p:cNvSpPr>
          <p:nvPr>
            <p:ph type="body" sz="quarter" idx="10"/>
          </p:nvPr>
        </p:nvSpPr>
        <p:spPr/>
        <p:txBody>
          <a:bodyPr/>
          <a:lstStyle/>
          <a:p>
            <a:r>
              <a:rPr kumimoji="1" lang="ja-JP" altLang="en-US" dirty="0"/>
              <a:t>分岐予測では，以下の３つを全て行う必要がある</a:t>
            </a:r>
            <a:endParaRPr kumimoji="1" lang="en-US" altLang="ja-JP" dirty="0"/>
          </a:p>
          <a:p>
            <a:pPr marL="817200" lvl="1" indent="-457200">
              <a:buFont typeface="+mj-lt"/>
              <a:buAutoNum type="arabicPeriod"/>
            </a:pPr>
            <a:r>
              <a:rPr kumimoji="1" lang="ja-JP" altLang="en-US" dirty="0"/>
              <a:t>分岐命令かどうか予測（分岐種別の予測）</a:t>
            </a:r>
            <a:endParaRPr kumimoji="1" lang="en-US" altLang="ja-JP" dirty="0"/>
          </a:p>
          <a:p>
            <a:pPr marL="817200" lvl="1" indent="-457200">
              <a:buFont typeface="+mj-lt"/>
              <a:buAutoNum type="arabicPeriod"/>
            </a:pPr>
            <a:r>
              <a:rPr kumimoji="1" lang="ja-JP" altLang="en-US" dirty="0"/>
              <a:t>分岐先ターゲット予測</a:t>
            </a:r>
            <a:endParaRPr kumimoji="1" lang="en-US" altLang="ja-JP" dirty="0"/>
          </a:p>
          <a:p>
            <a:pPr marL="817200" lvl="1" indent="-457200">
              <a:buFont typeface="+mj-lt"/>
              <a:buAutoNum type="arabicPeriod"/>
            </a:pPr>
            <a:r>
              <a:rPr kumimoji="1" lang="ja-JP" altLang="en-US" dirty="0"/>
              <a:t>分岐方向予測</a:t>
            </a:r>
            <a:endParaRPr kumimoji="1" lang="en-US" altLang="ja-JP" dirty="0"/>
          </a:p>
          <a:p>
            <a:r>
              <a:rPr lang="en-US" altLang="ja-JP" dirty="0"/>
              <a:t>if-then-else </a:t>
            </a:r>
            <a:r>
              <a:rPr lang="ja-JP" altLang="en-US" dirty="0"/>
              <a:t>の方向だけを予測していれば良いわけではない</a:t>
            </a:r>
            <a:endParaRPr kumimoji="1" lang="en-US" altLang="ja-JP" dirty="0"/>
          </a:p>
        </p:txBody>
      </p:sp>
    </p:spTree>
    <p:extLst>
      <p:ext uri="{BB962C8B-B14F-4D97-AF65-F5344CB8AC3E}">
        <p14:creationId xmlns:p14="http://schemas.microsoft.com/office/powerpoint/2010/main" val="38975263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C3F7EE0-3D1C-49CC-9C90-373BADDBCBA1}"/>
              </a:ext>
            </a:extLst>
          </p:cNvPr>
          <p:cNvSpPr>
            <a:spLocks noGrp="1"/>
          </p:cNvSpPr>
          <p:nvPr>
            <p:ph type="title"/>
          </p:nvPr>
        </p:nvSpPr>
        <p:spPr/>
        <p:txBody>
          <a:bodyPr/>
          <a:lstStyle/>
          <a:p>
            <a:r>
              <a:rPr lang="ja-JP" altLang="en-US" dirty="0"/>
              <a:t>前回のおさらい：分岐予測器の基本（２）</a:t>
            </a:r>
            <a:endParaRPr kumimoji="1" lang="ja-JP" altLang="en-US" dirty="0"/>
          </a:p>
        </p:txBody>
      </p:sp>
      <p:sp>
        <p:nvSpPr>
          <p:cNvPr id="3" name="テキスト プレースホルダー 2">
            <a:extLst>
              <a:ext uri="{FF2B5EF4-FFF2-40B4-BE49-F238E27FC236}">
                <a16:creationId xmlns:a16="http://schemas.microsoft.com/office/drawing/2014/main" id="{3936A7C7-1880-4E38-AE19-31EF4C213A6C}"/>
              </a:ext>
            </a:extLst>
          </p:cNvPr>
          <p:cNvSpPr>
            <a:spLocks noGrp="1"/>
          </p:cNvSpPr>
          <p:nvPr>
            <p:ph type="body" sz="quarter" idx="10"/>
          </p:nvPr>
        </p:nvSpPr>
        <p:spPr/>
        <p:txBody>
          <a:bodyPr/>
          <a:lstStyle/>
          <a:p>
            <a:pPr marL="457200" indent="-457200">
              <a:buFont typeface="+mj-lt"/>
              <a:buAutoNum type="arabicPeriod"/>
            </a:pPr>
            <a:r>
              <a:rPr lang="ja-JP" altLang="en-US" dirty="0"/>
              <a:t>命令パイプラインと性能</a:t>
            </a:r>
            <a:endParaRPr lang="en-US" altLang="ja-JP" dirty="0"/>
          </a:p>
          <a:p>
            <a:pPr marL="457200" indent="-457200">
              <a:buFont typeface="+mj-lt"/>
              <a:buAutoNum type="arabicPeriod"/>
            </a:pPr>
            <a:r>
              <a:rPr lang="ja-JP" altLang="en-US" dirty="0"/>
              <a:t>分岐予測（前編）</a:t>
            </a:r>
            <a:endParaRPr lang="en-US" altLang="ja-JP" dirty="0"/>
          </a:p>
          <a:p>
            <a:pPr marL="817200" lvl="1" indent="-457200">
              <a:buFont typeface="+mj-lt"/>
              <a:buAutoNum type="arabicPeriod"/>
            </a:pPr>
            <a:r>
              <a:rPr lang="ja-JP" altLang="en-US" dirty="0"/>
              <a:t>分岐命令かどうか予測（分岐種別の予測）</a:t>
            </a:r>
            <a:endParaRPr lang="en-US" altLang="ja-JP" dirty="0"/>
          </a:p>
          <a:p>
            <a:pPr marL="817200" lvl="1" indent="-457200">
              <a:buFont typeface="+mj-lt"/>
              <a:buAutoNum type="arabicPeriod"/>
            </a:pPr>
            <a:r>
              <a:rPr lang="ja-JP" altLang="en-US" dirty="0"/>
              <a:t>分岐先ターゲット予測</a:t>
            </a:r>
            <a:endParaRPr lang="en-US" altLang="ja-JP" dirty="0"/>
          </a:p>
          <a:p>
            <a:pPr marL="817200" lvl="1" indent="-457200">
              <a:buFont typeface="+mj-lt"/>
              <a:buAutoNum type="arabicPeriod"/>
            </a:pPr>
            <a:r>
              <a:rPr lang="ja-JP" altLang="en-US" dirty="0"/>
              <a:t>分岐方向予測</a:t>
            </a:r>
            <a:endParaRPr lang="en-US" altLang="ja-JP" dirty="0"/>
          </a:p>
          <a:p>
            <a:pPr marL="1177200" lvl="2" indent="-457200">
              <a:buFont typeface="+mj-lt"/>
              <a:buAutoNum type="arabicPeriod"/>
            </a:pPr>
            <a:r>
              <a:rPr lang="ja-JP" altLang="en-US" dirty="0"/>
              <a:t>静的予測</a:t>
            </a:r>
            <a:endParaRPr lang="en-US" altLang="ja-JP" dirty="0"/>
          </a:p>
          <a:p>
            <a:pPr marL="1177200" lvl="2" indent="-457200">
              <a:buFont typeface="+mj-lt"/>
              <a:buAutoNum type="arabicPeriod"/>
            </a:pPr>
            <a:r>
              <a:rPr lang="ja-JP" altLang="en-US" dirty="0"/>
              <a:t>動的予測</a:t>
            </a:r>
            <a:endParaRPr lang="en-US" altLang="ja-JP" dirty="0"/>
          </a:p>
        </p:txBody>
      </p:sp>
    </p:spTree>
    <p:extLst>
      <p:ext uri="{BB962C8B-B14F-4D97-AF65-F5344CB8AC3E}">
        <p14:creationId xmlns:p14="http://schemas.microsoft.com/office/powerpoint/2010/main" val="36513589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6817242-DBDF-F7D4-4066-32907ADE728B}"/>
              </a:ext>
            </a:extLst>
          </p:cNvPr>
          <p:cNvSpPr>
            <a:spLocks noGrp="1"/>
          </p:cNvSpPr>
          <p:nvPr>
            <p:ph type="title"/>
          </p:nvPr>
        </p:nvSpPr>
        <p:spPr/>
        <p:txBody>
          <a:bodyPr/>
          <a:lstStyle/>
          <a:p>
            <a:r>
              <a:rPr kumimoji="1" lang="ja-JP" altLang="en-US" dirty="0"/>
              <a:t>今日の内容</a:t>
            </a:r>
          </a:p>
        </p:txBody>
      </p:sp>
      <p:sp>
        <p:nvSpPr>
          <p:cNvPr id="3" name="テキスト プレースホルダー 2">
            <a:extLst>
              <a:ext uri="{FF2B5EF4-FFF2-40B4-BE49-F238E27FC236}">
                <a16:creationId xmlns:a16="http://schemas.microsoft.com/office/drawing/2014/main" id="{38B5C8CB-3539-B7B4-3E18-4DB04F321DCE}"/>
              </a:ext>
            </a:extLst>
          </p:cNvPr>
          <p:cNvSpPr>
            <a:spLocks noGrp="1"/>
          </p:cNvSpPr>
          <p:nvPr>
            <p:ph type="body" sz="quarter" idx="10"/>
          </p:nvPr>
        </p:nvSpPr>
        <p:spPr/>
        <p:txBody>
          <a:bodyPr/>
          <a:lstStyle/>
          <a:p>
            <a:pPr marL="457200" indent="-457200">
              <a:buFont typeface="+mj-lt"/>
              <a:buAutoNum type="arabicPeriod"/>
            </a:pPr>
            <a:r>
              <a:rPr lang="ja-JP" altLang="en-US" dirty="0"/>
              <a:t>予測精度と性能の簡単な見積もり</a:t>
            </a:r>
            <a:endParaRPr lang="en-US" altLang="ja-JP" dirty="0"/>
          </a:p>
          <a:p>
            <a:pPr marL="457200" indent="-457200">
              <a:buFont typeface="+mj-lt"/>
              <a:buAutoNum type="arabicPeriod"/>
            </a:pPr>
            <a:r>
              <a:rPr kumimoji="1" lang="ja-JP" altLang="en-US" dirty="0"/>
              <a:t>間接分岐予測器</a:t>
            </a:r>
            <a:endParaRPr kumimoji="1" lang="en-US" altLang="ja-JP" dirty="0"/>
          </a:p>
          <a:p>
            <a:pPr marL="457200" indent="-457200">
              <a:buFont typeface="+mj-lt"/>
              <a:buAutoNum type="arabicPeriod"/>
            </a:pPr>
            <a:r>
              <a:rPr lang="ja-JP" altLang="en-US" dirty="0"/>
              <a:t>高度な方向予測器</a:t>
            </a:r>
            <a:endParaRPr lang="en-US" altLang="ja-JP" dirty="0"/>
          </a:p>
          <a:p>
            <a:pPr marL="457200" indent="-457200">
              <a:buFont typeface="+mj-lt"/>
              <a:buAutoNum type="arabicPeriod"/>
            </a:pPr>
            <a:r>
              <a:rPr kumimoji="1" lang="ja-JP" altLang="en-US" dirty="0"/>
              <a:t>フェッチパイプライン</a:t>
            </a:r>
          </a:p>
        </p:txBody>
      </p:sp>
    </p:spTree>
    <p:extLst>
      <p:ext uri="{BB962C8B-B14F-4D97-AF65-F5344CB8AC3E}">
        <p14:creationId xmlns:p14="http://schemas.microsoft.com/office/powerpoint/2010/main" val="40557605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F0EAF-DDFD-3E54-4E6B-12189073034E}"/>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A9062433-F3FA-3C4D-2AD3-3C375C8EC362}"/>
              </a:ext>
            </a:extLst>
          </p:cNvPr>
          <p:cNvSpPr>
            <a:spLocks noGrp="1"/>
          </p:cNvSpPr>
          <p:nvPr>
            <p:ph type="title"/>
          </p:nvPr>
        </p:nvSpPr>
        <p:spPr/>
        <p:txBody>
          <a:bodyPr/>
          <a:lstStyle/>
          <a:p>
            <a:r>
              <a:rPr lang="ja-JP" altLang="en-US" dirty="0"/>
              <a:t>予測精度と性能の簡単な見積もり</a:t>
            </a:r>
            <a:endParaRPr lang="en-US" altLang="ja-JP" dirty="0"/>
          </a:p>
        </p:txBody>
      </p:sp>
    </p:spTree>
    <p:extLst>
      <p:ext uri="{BB962C8B-B14F-4D97-AF65-F5344CB8AC3E}">
        <p14:creationId xmlns:p14="http://schemas.microsoft.com/office/powerpoint/2010/main" val="12651112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BC5A7B2-C863-927A-116C-8C441C160174}"/>
              </a:ext>
            </a:extLst>
          </p:cNvPr>
          <p:cNvSpPr>
            <a:spLocks noGrp="1"/>
          </p:cNvSpPr>
          <p:nvPr>
            <p:ph type="title"/>
          </p:nvPr>
        </p:nvSpPr>
        <p:spPr/>
        <p:txBody>
          <a:bodyPr/>
          <a:lstStyle/>
          <a:p>
            <a:r>
              <a:rPr lang="ja-JP" altLang="en-US" dirty="0"/>
              <a:t>分岐予測ミスによる実行サイクルの増加のモデル</a:t>
            </a:r>
            <a:endParaRPr kumimoji="1" lang="en-US" dirty="0"/>
          </a:p>
        </p:txBody>
      </p:sp>
      <mc:AlternateContent xmlns:mc="http://schemas.openxmlformats.org/markup-compatibility/2006">
        <mc:Choice xmlns:a14="http://schemas.microsoft.com/office/drawing/2010/main" Requires="a14">
          <p:sp>
            <p:nvSpPr>
              <p:cNvPr id="3" name="コンテンツ プレースホルダー 2">
                <a:extLst>
                  <a:ext uri="{FF2B5EF4-FFF2-40B4-BE49-F238E27FC236}">
                    <a16:creationId xmlns:a16="http://schemas.microsoft.com/office/drawing/2014/main" id="{7A388F3E-9D46-BE60-22D7-DE67BE9600EC}"/>
                  </a:ext>
                </a:extLst>
              </p:cNvPr>
              <p:cNvSpPr>
                <a:spLocks noGrp="1"/>
              </p:cNvSpPr>
              <p:nvPr>
                <p:ph sz="quarter" idx="10"/>
              </p:nvPr>
            </p:nvSpPr>
            <p:spPr>
              <a:xfrm>
                <a:off x="2135956" y="1088974"/>
                <a:ext cx="8190091" cy="5220058"/>
              </a:xfrm>
            </p:spPr>
            <p:txBody>
              <a:bodyPr/>
              <a:lstStyle/>
              <a:p>
                <a:r>
                  <a:rPr kumimoji="1" lang="ja-JP" altLang="en-US" dirty="0"/>
                  <a:t>以下のようにおいた場合，</a:t>
                </a:r>
                <a:endParaRPr kumimoji="1" lang="en-US" altLang="ja-JP" dirty="0"/>
              </a:p>
              <a:p>
                <a:pPr lvl="1"/>
                <a:r>
                  <a:rPr lang="ja-JP" altLang="en-US" dirty="0"/>
                  <a:t>ミスがない理想的な実行の際のサイクル数：</a:t>
                </a:r>
                <a:r>
                  <a:rPr lang="en-US" altLang="ja-JP" dirty="0"/>
                  <a:t>	</a:t>
                </a:r>
                <a14:m>
                  <m:oMath xmlns:m="http://schemas.openxmlformats.org/officeDocument/2006/math">
                    <m:r>
                      <a:rPr lang="en-US" altLang="ja-JP" b="1" i="1" dirty="0" smtClean="0">
                        <a:solidFill>
                          <a:schemeClr val="accent5"/>
                        </a:solidFill>
                        <a:latin typeface="Cambria Math" panose="02040503050406030204" pitchFamily="18" charset="0"/>
                      </a:rPr>
                      <m:t>𝑪𝒕</m:t>
                    </m:r>
                  </m:oMath>
                </a14:m>
                <a:br>
                  <a:rPr lang="en-US" altLang="ja-JP" dirty="0"/>
                </a:br>
                <a:endParaRPr lang="en-US" altLang="ja-JP" dirty="0"/>
              </a:p>
              <a:p>
                <a:pPr lvl="1"/>
                <a:r>
                  <a:rPr lang="ja-JP" altLang="en-US" dirty="0"/>
                  <a:t>分岐予測ミスの発生回数：</a:t>
                </a:r>
                <a:r>
                  <a:rPr lang="en-US" altLang="ja-JP" dirty="0"/>
                  <a:t>	</a:t>
                </a:r>
                <a14:m>
                  <m:oMath xmlns:m="http://schemas.openxmlformats.org/officeDocument/2006/math">
                    <m:r>
                      <a:rPr lang="en-US" altLang="ja-JP" b="1" i="1" dirty="0" smtClean="0">
                        <a:solidFill>
                          <a:schemeClr val="accent5"/>
                        </a:solidFill>
                        <a:latin typeface="Cambria Math" panose="02040503050406030204" pitchFamily="18" charset="0"/>
                      </a:rPr>
                      <m:t>𝑵𝒎</m:t>
                    </m:r>
                    <m:r>
                      <a:rPr lang="en-US" altLang="ja-JP" b="0" i="1" dirty="0" smtClean="0">
                        <a:latin typeface="Cambria Math" panose="02040503050406030204" pitchFamily="18" charset="0"/>
                      </a:rPr>
                      <m:t>=</m:t>
                    </m:r>
                    <m:r>
                      <a:rPr lang="en-US" altLang="ja-JP" i="1" dirty="0">
                        <a:latin typeface="Cambria Math" panose="02040503050406030204" pitchFamily="18" charset="0"/>
                      </a:rPr>
                      <m:t>𝑁𝑖</m:t>
                    </m:r>
                    <m:r>
                      <a:rPr lang="en-US" altLang="ja-JP" i="1" dirty="0">
                        <a:latin typeface="Cambria Math" panose="02040503050406030204" pitchFamily="18" charset="0"/>
                      </a:rPr>
                      <m:t>×</m:t>
                    </m:r>
                    <m:r>
                      <a:rPr lang="en-US" altLang="ja-JP" i="1" dirty="0">
                        <a:latin typeface="Cambria Math" panose="02040503050406030204" pitchFamily="18" charset="0"/>
                      </a:rPr>
                      <m:t>𝑃𝑏</m:t>
                    </m:r>
                    <m:r>
                      <a:rPr lang="en-US" altLang="ja-JP" i="1" dirty="0">
                        <a:latin typeface="Cambria Math" panose="02040503050406030204" pitchFamily="18" charset="0"/>
                      </a:rPr>
                      <m:t>×</m:t>
                    </m:r>
                    <m:r>
                      <a:rPr lang="en-US" altLang="ja-JP" i="1" dirty="0">
                        <a:latin typeface="Cambria Math" panose="02040503050406030204" pitchFamily="18" charset="0"/>
                      </a:rPr>
                      <m:t>𝑃𝑚</m:t>
                    </m:r>
                  </m:oMath>
                </a14:m>
                <a:endParaRPr lang="en-US" altLang="ja-JP" dirty="0"/>
              </a:p>
              <a:p>
                <a:pPr lvl="2"/>
                <a:r>
                  <a:rPr kumimoji="1" lang="ja-JP" altLang="en-US" dirty="0"/>
                  <a:t>実行命令数：</a:t>
                </a:r>
                <a:r>
                  <a:rPr kumimoji="1" lang="en-US" altLang="ja-JP" dirty="0"/>
                  <a:t>				</a:t>
                </a:r>
                <a14:m>
                  <m:oMath xmlns:m="http://schemas.openxmlformats.org/officeDocument/2006/math">
                    <m:r>
                      <a:rPr kumimoji="1" lang="en-US" altLang="ja-JP" i="1" dirty="0" smtClean="0">
                        <a:latin typeface="Cambria Math" panose="02040503050406030204" pitchFamily="18" charset="0"/>
                      </a:rPr>
                      <m:t>𝑁𝑖</m:t>
                    </m:r>
                  </m:oMath>
                </a14:m>
                <a:endParaRPr kumimoji="1" lang="en-US" altLang="ja-JP" dirty="0"/>
              </a:p>
              <a:p>
                <a:pPr lvl="2"/>
                <a:r>
                  <a:rPr lang="ja-JP" altLang="en-US" dirty="0"/>
                  <a:t>プログラム中の分岐命令の出現率：</a:t>
                </a:r>
                <a:r>
                  <a:rPr lang="en-US" altLang="ja-JP" dirty="0"/>
                  <a:t>	</a:t>
                </a:r>
                <a14:m>
                  <m:oMath xmlns:m="http://schemas.openxmlformats.org/officeDocument/2006/math">
                    <m:r>
                      <a:rPr lang="en-US" altLang="ja-JP" i="1" dirty="0">
                        <a:latin typeface="Cambria Math" panose="02040503050406030204" pitchFamily="18" charset="0"/>
                      </a:rPr>
                      <m:t>𝑃𝑏</m:t>
                    </m:r>
                  </m:oMath>
                </a14:m>
                <a:endParaRPr kumimoji="1" lang="en-US" altLang="ja-JP" dirty="0"/>
              </a:p>
              <a:p>
                <a:pPr lvl="2"/>
                <a:r>
                  <a:rPr kumimoji="1" lang="ja-JP" altLang="en-US" dirty="0"/>
                  <a:t>分岐命令毎の予測ミス発生率：</a:t>
                </a:r>
                <a:r>
                  <a:rPr kumimoji="1" lang="en-US" altLang="ja-JP" dirty="0"/>
                  <a:t>	</a:t>
                </a:r>
                <a14:m>
                  <m:oMath xmlns:m="http://schemas.openxmlformats.org/officeDocument/2006/math">
                    <m:r>
                      <a:rPr kumimoji="1" lang="en-US" altLang="ja-JP" i="1" dirty="0" smtClean="0">
                        <a:latin typeface="Cambria Math" panose="02040503050406030204" pitchFamily="18" charset="0"/>
                      </a:rPr>
                      <m:t>𝑃𝑚</m:t>
                    </m:r>
                  </m:oMath>
                </a14:m>
                <a:br>
                  <a:rPr kumimoji="1" lang="en-US" altLang="ja-JP" dirty="0"/>
                </a:br>
                <a:endParaRPr kumimoji="1" lang="en-US" altLang="ja-JP" dirty="0"/>
              </a:p>
              <a:p>
                <a:pPr lvl="1"/>
                <a:r>
                  <a:rPr kumimoji="1" lang="ja-JP" altLang="en-US" dirty="0"/>
                  <a:t>分岐予測ミス・ペナルティ：</a:t>
                </a:r>
                <a:r>
                  <a:rPr kumimoji="1" lang="en-US" altLang="ja-JP" dirty="0"/>
                  <a:t>	</a:t>
                </a:r>
                <a14:m>
                  <m:oMath xmlns:m="http://schemas.openxmlformats.org/officeDocument/2006/math">
                    <m:r>
                      <a:rPr kumimoji="1" lang="en-US" altLang="ja-JP" b="1" i="1" dirty="0" smtClean="0">
                        <a:solidFill>
                          <a:schemeClr val="accent5"/>
                        </a:solidFill>
                        <a:latin typeface="Cambria Math" panose="02040503050406030204" pitchFamily="18" charset="0"/>
                      </a:rPr>
                      <m:t>𝑪𝒑</m:t>
                    </m:r>
                  </m:oMath>
                </a14:m>
                <a:endParaRPr kumimoji="1" lang="en-US" altLang="ja-JP" b="1" dirty="0"/>
              </a:p>
              <a:p>
                <a:r>
                  <a:rPr kumimoji="1" lang="ja-JP" altLang="en-US" dirty="0"/>
                  <a:t>実行サイクル数 </a:t>
                </a:r>
                <a14:m>
                  <m:oMath xmlns:m="http://schemas.openxmlformats.org/officeDocument/2006/math">
                    <m:r>
                      <a:rPr kumimoji="1" lang="en-US" altLang="ja-JP" i="1" dirty="0" smtClean="0">
                        <a:latin typeface="Cambria Math" panose="02040503050406030204" pitchFamily="18" charset="0"/>
                      </a:rPr>
                      <m:t>𝐶𝑟</m:t>
                    </m:r>
                  </m:oMath>
                </a14:m>
                <a:r>
                  <a:rPr kumimoji="1" lang="en-US" altLang="ja-JP" dirty="0"/>
                  <a:t> </a:t>
                </a:r>
                <a:r>
                  <a:rPr kumimoji="1" lang="ja-JP" altLang="en-US" dirty="0"/>
                  <a:t>は，理想サイクル数 </a:t>
                </a:r>
                <a14:m>
                  <m:oMath xmlns:m="http://schemas.openxmlformats.org/officeDocument/2006/math">
                    <m:r>
                      <a:rPr kumimoji="1" lang="en-US" altLang="ja-JP" i="1" dirty="0" smtClean="0">
                        <a:latin typeface="Cambria Math" panose="02040503050406030204" pitchFamily="18" charset="0"/>
                      </a:rPr>
                      <m:t>𝐶𝑡</m:t>
                    </m:r>
                  </m:oMath>
                </a14:m>
                <a:r>
                  <a:rPr kumimoji="1" lang="en-US" altLang="ja-JP" dirty="0"/>
                  <a:t> </a:t>
                </a:r>
                <a:r>
                  <a:rPr kumimoji="1" lang="ja-JP" altLang="en-US" dirty="0"/>
                  <a:t>に対して，</a:t>
                </a:r>
                <a:endParaRPr kumimoji="1" lang="en-US" altLang="ja-JP" dirty="0"/>
              </a:p>
              <a:p>
                <a:pPr lvl="1"/>
                <a14:m>
                  <m:oMath xmlns:m="http://schemas.openxmlformats.org/officeDocument/2006/math">
                    <m:r>
                      <a:rPr lang="en-US" b="1" i="1" dirty="0" smtClean="0">
                        <a:solidFill>
                          <a:schemeClr val="accent5"/>
                        </a:solidFill>
                        <a:latin typeface="Cambria Math" panose="02040503050406030204" pitchFamily="18" charset="0"/>
                      </a:rPr>
                      <m:t>𝑪𝒓</m:t>
                    </m:r>
                    <m:r>
                      <a:rPr lang="en-US" b="1" i="1" dirty="0" smtClean="0">
                        <a:solidFill>
                          <a:schemeClr val="accent5"/>
                        </a:solidFill>
                        <a:latin typeface="Cambria Math" panose="02040503050406030204" pitchFamily="18" charset="0"/>
                      </a:rPr>
                      <m:t>=</m:t>
                    </m:r>
                    <m:r>
                      <a:rPr lang="en-US" b="1" i="1" dirty="0" smtClean="0">
                        <a:solidFill>
                          <a:schemeClr val="accent5"/>
                        </a:solidFill>
                        <a:latin typeface="Cambria Math" panose="02040503050406030204" pitchFamily="18" charset="0"/>
                      </a:rPr>
                      <m:t>𝑪𝒕</m:t>
                    </m:r>
                    <m:r>
                      <a:rPr lang="en-US" b="1" i="1" dirty="0" smtClean="0">
                        <a:solidFill>
                          <a:schemeClr val="accent5"/>
                        </a:solidFill>
                        <a:latin typeface="Cambria Math" panose="02040503050406030204" pitchFamily="18" charset="0"/>
                      </a:rPr>
                      <m:t> + </m:t>
                    </m:r>
                    <m:r>
                      <a:rPr lang="en-US" b="1" i="1" dirty="0" smtClean="0">
                        <a:solidFill>
                          <a:schemeClr val="accent5"/>
                        </a:solidFill>
                        <a:latin typeface="Cambria Math" panose="02040503050406030204" pitchFamily="18" charset="0"/>
                      </a:rPr>
                      <m:t>𝑵𝒎</m:t>
                    </m:r>
                    <m:r>
                      <a:rPr lang="en-US" altLang="ja-JP" b="1" i="1" dirty="0">
                        <a:solidFill>
                          <a:schemeClr val="accent5"/>
                        </a:solidFill>
                        <a:latin typeface="Cambria Math" panose="02040503050406030204" pitchFamily="18" charset="0"/>
                      </a:rPr>
                      <m:t>×</m:t>
                    </m:r>
                    <m:r>
                      <a:rPr lang="en-US" altLang="ja-JP" b="1" i="1" dirty="0" smtClean="0">
                        <a:solidFill>
                          <a:schemeClr val="accent5"/>
                        </a:solidFill>
                        <a:latin typeface="Cambria Math" panose="02040503050406030204" pitchFamily="18" charset="0"/>
                      </a:rPr>
                      <m:t>𝑪𝒑</m:t>
                    </m:r>
                  </m:oMath>
                </a14:m>
                <a:endParaRPr kumimoji="1" lang="en-US" b="1" dirty="0">
                  <a:solidFill>
                    <a:schemeClr val="accent5"/>
                  </a:solidFill>
                </a:endParaRPr>
              </a:p>
              <a:p>
                <a:pPr lvl="1"/>
                <a:r>
                  <a:rPr kumimoji="1" lang="ja-JP" altLang="en-US" dirty="0">
                    <a:solidFill>
                      <a:schemeClr val="tx1">
                        <a:lumMod val="75000"/>
                        <a:lumOff val="25000"/>
                      </a:schemeClr>
                    </a:solidFill>
                  </a:rPr>
                  <a:t>意味：予測ミスの発生回数</a:t>
                </a:r>
                <a14:m>
                  <m:oMath xmlns:m="http://schemas.openxmlformats.org/officeDocument/2006/math">
                    <m:r>
                      <a:rPr lang="en-US" altLang="ja-JP" i="1" dirty="0" smtClean="0">
                        <a:solidFill>
                          <a:schemeClr val="tx1">
                            <a:lumMod val="75000"/>
                            <a:lumOff val="25000"/>
                          </a:schemeClr>
                        </a:solidFill>
                        <a:latin typeface="Cambria Math" panose="02040503050406030204" pitchFamily="18" charset="0"/>
                      </a:rPr>
                      <m:t>×</m:t>
                    </m:r>
                  </m:oMath>
                </a14:m>
                <a:r>
                  <a:rPr kumimoji="1" lang="ja-JP" altLang="en-US" dirty="0">
                    <a:solidFill>
                      <a:schemeClr val="tx1">
                        <a:lumMod val="75000"/>
                        <a:lumOff val="25000"/>
                      </a:schemeClr>
                    </a:solidFill>
                  </a:rPr>
                  <a:t>ペナルティ だけ実行時間が伸びる</a:t>
                </a:r>
                <a:endParaRPr kumimoji="1" lang="en-US" dirty="0">
                  <a:solidFill>
                    <a:schemeClr val="tx1">
                      <a:lumMod val="75000"/>
                      <a:lumOff val="25000"/>
                    </a:schemeClr>
                  </a:solidFill>
                </a:endParaRPr>
              </a:p>
            </p:txBody>
          </p:sp>
        </mc:Choice>
        <mc:Fallback>
          <p:sp>
            <p:nvSpPr>
              <p:cNvPr id="3" name="コンテンツ プレースホルダー 2">
                <a:extLst>
                  <a:ext uri="{FF2B5EF4-FFF2-40B4-BE49-F238E27FC236}">
                    <a16:creationId xmlns:a16="http://schemas.microsoft.com/office/drawing/2014/main" id="{7A388F3E-9D46-BE60-22D7-DE67BE9600EC}"/>
                  </a:ext>
                </a:extLst>
              </p:cNvPr>
              <p:cNvSpPr>
                <a:spLocks noGrp="1" noRot="1" noChangeAspect="1" noMove="1" noResize="1" noEditPoints="1" noAdjustHandles="1" noChangeArrowheads="1" noChangeShapeType="1" noTextEdit="1"/>
              </p:cNvSpPr>
              <p:nvPr>
                <p:ph sz="quarter" idx="10"/>
              </p:nvPr>
            </p:nvSpPr>
            <p:spPr>
              <a:xfrm>
                <a:off x="2135956" y="1088974"/>
                <a:ext cx="8190091" cy="5220058"/>
              </a:xfrm>
              <a:blipFill>
                <a:blip r:embed="rId2"/>
                <a:stretch>
                  <a:fillRect l="-670" b="-701"/>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7520607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BC5A7B2-C863-927A-116C-8C441C160174}"/>
              </a:ext>
            </a:extLst>
          </p:cNvPr>
          <p:cNvSpPr>
            <a:spLocks noGrp="1"/>
          </p:cNvSpPr>
          <p:nvPr>
            <p:ph type="title"/>
          </p:nvPr>
        </p:nvSpPr>
        <p:spPr/>
        <p:txBody>
          <a:bodyPr/>
          <a:lstStyle/>
          <a:p>
            <a:r>
              <a:rPr lang="ja-JP" altLang="en-US" dirty="0"/>
              <a:t>具体的な値を入れてみる</a:t>
            </a:r>
            <a:endParaRPr kumimoji="1" lang="en-US" dirty="0"/>
          </a:p>
        </p:txBody>
      </p:sp>
      <mc:AlternateContent xmlns:mc="http://schemas.openxmlformats.org/markup-compatibility/2006">
        <mc:Choice xmlns:a14="http://schemas.microsoft.com/office/drawing/2010/main" Requires="a14">
          <p:sp>
            <p:nvSpPr>
              <p:cNvPr id="3" name="コンテンツ プレースホルダー 2">
                <a:extLst>
                  <a:ext uri="{FF2B5EF4-FFF2-40B4-BE49-F238E27FC236}">
                    <a16:creationId xmlns:a16="http://schemas.microsoft.com/office/drawing/2014/main" id="{7A388F3E-9D46-BE60-22D7-DE67BE9600EC}"/>
                  </a:ext>
                </a:extLst>
              </p:cNvPr>
              <p:cNvSpPr>
                <a:spLocks noGrp="1"/>
              </p:cNvSpPr>
              <p:nvPr>
                <p:ph sz="quarter" idx="10"/>
              </p:nvPr>
            </p:nvSpPr>
            <p:spPr>
              <a:xfrm>
                <a:off x="1145945" y="1088974"/>
                <a:ext cx="9360105" cy="5220058"/>
              </a:xfrm>
            </p:spPr>
            <p:txBody>
              <a:bodyPr/>
              <a:lstStyle/>
              <a:p>
                <a:r>
                  <a:rPr kumimoji="1" lang="ja-JP" altLang="en-US" dirty="0"/>
                  <a:t>以下のように置いた場合，</a:t>
                </a:r>
                <a:endParaRPr kumimoji="1" lang="en-US" altLang="ja-JP" dirty="0"/>
              </a:p>
              <a:p>
                <a:pPr lvl="1"/>
                <a:r>
                  <a:rPr lang="ja-JP" altLang="en-US" dirty="0"/>
                  <a:t>理想的な実行の際のサイクル数：</a:t>
                </a:r>
                <a:r>
                  <a:rPr lang="en-US" altLang="ja-JP" dirty="0"/>
                  <a:t>	</a:t>
                </a:r>
                <a14:m>
                  <m:oMath xmlns:m="http://schemas.openxmlformats.org/officeDocument/2006/math">
                    <m:r>
                      <a:rPr lang="en-US" altLang="ja-JP" b="1" i="1" dirty="0" smtClean="0">
                        <a:solidFill>
                          <a:schemeClr val="accent5"/>
                        </a:solidFill>
                        <a:latin typeface="Cambria Math" panose="02040503050406030204" pitchFamily="18" charset="0"/>
                      </a:rPr>
                      <m:t>𝑪𝒕</m:t>
                    </m:r>
                    <m:r>
                      <a:rPr lang="en-US" altLang="ja-JP" b="1" i="1" dirty="0" smtClean="0">
                        <a:solidFill>
                          <a:schemeClr val="accent5"/>
                        </a:solidFill>
                        <a:latin typeface="Cambria Math" panose="02040503050406030204" pitchFamily="18" charset="0"/>
                      </a:rPr>
                      <m:t>=</m:t>
                    </m:r>
                    <m:r>
                      <a:rPr lang="en-US" altLang="ja-JP" b="1" i="1" dirty="0" smtClean="0">
                        <a:solidFill>
                          <a:schemeClr val="accent5"/>
                        </a:solidFill>
                        <a:latin typeface="Cambria Math" panose="02040503050406030204" pitchFamily="18" charset="0"/>
                      </a:rPr>
                      <m:t>𝟏</m:t>
                    </m:r>
                    <m:r>
                      <a:rPr lang="en-US" altLang="ja-JP" b="1" i="1" dirty="0" smtClean="0">
                        <a:solidFill>
                          <a:schemeClr val="accent5"/>
                        </a:solidFill>
                        <a:latin typeface="Cambria Math" panose="02040503050406030204" pitchFamily="18" charset="0"/>
                      </a:rPr>
                      <m:t>𝑴</m:t>
                    </m:r>
                  </m:oMath>
                </a14:m>
                <a:r>
                  <a:rPr lang="ja-JP" altLang="en-US" dirty="0">
                    <a:solidFill>
                      <a:schemeClr val="accent5"/>
                    </a:solidFill>
                  </a:rPr>
                  <a:t>（メガ）</a:t>
                </a:r>
                <a:endParaRPr lang="en-US" altLang="ja-JP" dirty="0"/>
              </a:p>
              <a:p>
                <a:pPr lvl="1"/>
                <a:r>
                  <a:rPr lang="ja-JP" altLang="en-US" dirty="0"/>
                  <a:t>分岐予測ミスの発生回数：</a:t>
                </a:r>
                <a:r>
                  <a:rPr lang="en-US" altLang="ja-JP" dirty="0"/>
                  <a:t>	</a:t>
                </a:r>
                <a14:m>
                  <m:oMath xmlns:m="http://schemas.openxmlformats.org/officeDocument/2006/math">
                    <m:r>
                      <a:rPr lang="en-US" altLang="ja-JP" b="1" i="1" dirty="0" smtClean="0">
                        <a:solidFill>
                          <a:schemeClr val="accent5"/>
                        </a:solidFill>
                        <a:latin typeface="Cambria Math" panose="02040503050406030204" pitchFamily="18" charset="0"/>
                      </a:rPr>
                      <m:t>𝑵𝒎</m:t>
                    </m:r>
                    <m:r>
                      <a:rPr lang="en-US" altLang="ja-JP" b="1" i="1" dirty="0" smtClean="0">
                        <a:solidFill>
                          <a:schemeClr val="accent5"/>
                        </a:solidFill>
                        <a:latin typeface="Cambria Math" panose="02040503050406030204" pitchFamily="18" charset="0"/>
                      </a:rPr>
                      <m:t>=</m:t>
                    </m:r>
                    <m:r>
                      <a:rPr lang="en-US" altLang="ja-JP" b="1" i="1" dirty="0">
                        <a:solidFill>
                          <a:schemeClr val="accent5"/>
                        </a:solidFill>
                        <a:latin typeface="Cambria Math" panose="02040503050406030204" pitchFamily="18" charset="0"/>
                      </a:rPr>
                      <m:t>𝑵𝒊</m:t>
                    </m:r>
                    <m:r>
                      <a:rPr lang="en-US" altLang="ja-JP" b="1" i="1" dirty="0">
                        <a:solidFill>
                          <a:schemeClr val="accent5"/>
                        </a:solidFill>
                        <a:latin typeface="Cambria Math" panose="02040503050406030204" pitchFamily="18" charset="0"/>
                      </a:rPr>
                      <m:t>×</m:t>
                    </m:r>
                    <m:r>
                      <a:rPr lang="en-US" altLang="ja-JP" b="1" i="1" dirty="0">
                        <a:solidFill>
                          <a:schemeClr val="accent5"/>
                        </a:solidFill>
                        <a:latin typeface="Cambria Math" panose="02040503050406030204" pitchFamily="18" charset="0"/>
                      </a:rPr>
                      <m:t>𝑷𝒃</m:t>
                    </m:r>
                    <m:r>
                      <a:rPr lang="en-US" altLang="ja-JP" b="1" i="1" dirty="0">
                        <a:solidFill>
                          <a:schemeClr val="accent5"/>
                        </a:solidFill>
                        <a:latin typeface="Cambria Math" panose="02040503050406030204" pitchFamily="18" charset="0"/>
                      </a:rPr>
                      <m:t>×</m:t>
                    </m:r>
                    <m:r>
                      <a:rPr lang="en-US" altLang="ja-JP" b="1" i="1" dirty="0">
                        <a:solidFill>
                          <a:schemeClr val="accent5"/>
                        </a:solidFill>
                        <a:latin typeface="Cambria Math" panose="02040503050406030204" pitchFamily="18" charset="0"/>
                      </a:rPr>
                      <m:t>𝑷𝒎</m:t>
                    </m:r>
                    <m:r>
                      <a:rPr lang="en-US" altLang="ja-JP" b="1" i="1" dirty="0" smtClean="0">
                        <a:solidFill>
                          <a:schemeClr val="accent5"/>
                        </a:solidFill>
                        <a:latin typeface="Cambria Math" panose="02040503050406030204" pitchFamily="18" charset="0"/>
                      </a:rPr>
                      <m:t>=</m:t>
                    </m:r>
                    <m:r>
                      <a:rPr lang="en-US" altLang="ja-JP" b="1" i="1" dirty="0" smtClean="0">
                        <a:solidFill>
                          <a:schemeClr val="accent5"/>
                        </a:solidFill>
                        <a:latin typeface="Cambria Math" panose="02040503050406030204" pitchFamily="18" charset="0"/>
                      </a:rPr>
                      <m:t>𝟎</m:t>
                    </m:r>
                    <m:r>
                      <a:rPr lang="en-US" altLang="ja-JP" b="1" i="1" dirty="0" smtClean="0">
                        <a:solidFill>
                          <a:schemeClr val="accent5"/>
                        </a:solidFill>
                        <a:latin typeface="Cambria Math" panose="02040503050406030204" pitchFamily="18" charset="0"/>
                      </a:rPr>
                      <m:t>.</m:t>
                    </m:r>
                    <m:r>
                      <a:rPr lang="en-US" altLang="ja-JP" b="1" i="1" dirty="0" smtClean="0">
                        <a:solidFill>
                          <a:schemeClr val="accent5"/>
                        </a:solidFill>
                        <a:latin typeface="Cambria Math" panose="02040503050406030204" pitchFamily="18" charset="0"/>
                      </a:rPr>
                      <m:t>𝟎𝟐</m:t>
                    </m:r>
                    <m:r>
                      <a:rPr lang="en-US" altLang="ja-JP" b="1" i="1" dirty="0" smtClean="0">
                        <a:solidFill>
                          <a:schemeClr val="accent5"/>
                        </a:solidFill>
                        <a:latin typeface="Cambria Math" panose="02040503050406030204" pitchFamily="18" charset="0"/>
                      </a:rPr>
                      <m:t>𝑴</m:t>
                    </m:r>
                  </m:oMath>
                </a14:m>
                <a:endParaRPr lang="en-US" altLang="ja-JP" b="1" dirty="0">
                  <a:solidFill>
                    <a:schemeClr val="accent5"/>
                  </a:solidFill>
                </a:endParaRPr>
              </a:p>
              <a:p>
                <a:pPr lvl="2"/>
                <a:r>
                  <a:rPr kumimoji="1" lang="ja-JP" altLang="en-US" dirty="0"/>
                  <a:t>実行命令数：</a:t>
                </a:r>
                <a:r>
                  <a:rPr kumimoji="1" lang="en-US" altLang="ja-JP" dirty="0"/>
                  <a:t>				</a:t>
                </a:r>
                <a14:m>
                  <m:oMath xmlns:m="http://schemas.openxmlformats.org/officeDocument/2006/math">
                    <m:r>
                      <a:rPr kumimoji="1" lang="en-US" altLang="ja-JP" i="1" dirty="0" smtClean="0">
                        <a:latin typeface="Cambria Math" panose="02040503050406030204" pitchFamily="18" charset="0"/>
                      </a:rPr>
                      <m:t>𝑁𝑖</m:t>
                    </m:r>
                    <m:r>
                      <a:rPr kumimoji="1" lang="en-US" altLang="ja-JP" b="0" i="1" dirty="0" smtClean="0">
                        <a:latin typeface="Cambria Math" panose="02040503050406030204" pitchFamily="18" charset="0"/>
                      </a:rPr>
                      <m:t>=</m:t>
                    </m:r>
                    <m:r>
                      <a:rPr kumimoji="1" lang="en-US" altLang="ja-JP" b="0" i="1" dirty="0" smtClean="0">
                        <a:latin typeface="Cambria Math" panose="02040503050406030204" pitchFamily="18" charset="0"/>
                      </a:rPr>
                      <m:t>8</m:t>
                    </m:r>
                    <m:r>
                      <a:rPr kumimoji="1" lang="en-US" altLang="ja-JP" b="0" i="1" dirty="0" smtClean="0">
                        <a:latin typeface="Cambria Math" panose="02040503050406030204" pitchFamily="18" charset="0"/>
                      </a:rPr>
                      <m:t>𝑀</m:t>
                    </m:r>
                  </m:oMath>
                </a14:m>
                <a:endParaRPr kumimoji="1" lang="en-US" altLang="ja-JP" b="0" dirty="0"/>
              </a:p>
              <a:p>
                <a:pPr lvl="3"/>
                <a:r>
                  <a:rPr kumimoji="1" lang="ja-JP" altLang="en-US" dirty="0"/>
                  <a:t>最近の </a:t>
                </a:r>
                <a:r>
                  <a:rPr kumimoji="1" lang="en-US" altLang="ja-JP" dirty="0"/>
                  <a:t>CPU </a:t>
                </a:r>
                <a:r>
                  <a:rPr kumimoji="1" lang="ja-JP" altLang="en-US" dirty="0"/>
                  <a:t>は１サイクルあたり </a:t>
                </a:r>
                <a:r>
                  <a:rPr kumimoji="1" lang="en-US" altLang="ja-JP" dirty="0"/>
                  <a:t>8 </a:t>
                </a:r>
                <a:r>
                  <a:rPr kumimoji="1" lang="ja-JP" altLang="en-US" dirty="0"/>
                  <a:t>命令ぐらいは本当に実行できる</a:t>
                </a:r>
                <a:endParaRPr kumimoji="1" lang="en-US" altLang="ja-JP" dirty="0"/>
              </a:p>
              <a:p>
                <a:pPr lvl="2"/>
                <a:r>
                  <a:rPr lang="ja-JP" altLang="en-US" dirty="0"/>
                  <a:t>分岐命令の出現率：</a:t>
                </a:r>
                <a:r>
                  <a:rPr lang="en-US" altLang="ja-JP" dirty="0"/>
                  <a:t>			</a:t>
                </a:r>
                <a14:m>
                  <m:oMath xmlns:m="http://schemas.openxmlformats.org/officeDocument/2006/math">
                    <m:r>
                      <a:rPr lang="en-US" altLang="ja-JP" i="1" dirty="0">
                        <a:latin typeface="Cambria Math" panose="02040503050406030204" pitchFamily="18" charset="0"/>
                      </a:rPr>
                      <m:t>𝑃𝑏</m:t>
                    </m:r>
                    <m:r>
                      <a:rPr lang="en-US" altLang="ja-JP" b="0" i="1" dirty="0" smtClean="0">
                        <a:latin typeface="Cambria Math" panose="02040503050406030204" pitchFamily="18" charset="0"/>
                      </a:rPr>
                      <m:t>=0.25</m:t>
                    </m:r>
                  </m:oMath>
                </a14:m>
                <a:endParaRPr kumimoji="1" lang="en-US" altLang="ja-JP" dirty="0"/>
              </a:p>
              <a:p>
                <a:pPr lvl="3"/>
                <a:r>
                  <a:rPr kumimoji="1" lang="ja-JP" altLang="en-US" dirty="0"/>
                  <a:t>プログラム中には大体４命令に１つぐらい分岐が出てくる</a:t>
                </a:r>
                <a:endParaRPr kumimoji="1" lang="en-US" altLang="ja-JP" dirty="0"/>
              </a:p>
              <a:p>
                <a:pPr lvl="2"/>
                <a:r>
                  <a:rPr kumimoji="1" lang="ja-JP" altLang="en-US" dirty="0"/>
                  <a:t>分岐命令毎の予測ミス発生率：</a:t>
                </a:r>
                <a:r>
                  <a:rPr kumimoji="1" lang="en-US" altLang="ja-JP" dirty="0"/>
                  <a:t>	</a:t>
                </a:r>
                <a14:m>
                  <m:oMath xmlns:m="http://schemas.openxmlformats.org/officeDocument/2006/math">
                    <m:r>
                      <a:rPr kumimoji="1" lang="en-US" altLang="ja-JP" i="1" dirty="0" smtClean="0">
                        <a:latin typeface="Cambria Math" panose="02040503050406030204" pitchFamily="18" charset="0"/>
                      </a:rPr>
                      <m:t>𝑃𝑚</m:t>
                    </m:r>
                    <m:r>
                      <a:rPr kumimoji="1" lang="en-US" altLang="ja-JP" b="0" i="1" dirty="0" smtClean="0">
                        <a:latin typeface="Cambria Math" panose="02040503050406030204" pitchFamily="18" charset="0"/>
                      </a:rPr>
                      <m:t>=0.</m:t>
                    </m:r>
                    <m:r>
                      <a:rPr kumimoji="1" lang="en-US" altLang="ja-JP" b="0" i="1" dirty="0" smtClean="0">
                        <a:latin typeface="Cambria Math" panose="02040503050406030204" pitchFamily="18" charset="0"/>
                      </a:rPr>
                      <m:t>0</m:t>
                    </m:r>
                    <m:r>
                      <a:rPr kumimoji="1" lang="en-US" altLang="ja-JP" b="0" i="1" dirty="0" smtClean="0">
                        <a:latin typeface="Cambria Math" panose="02040503050406030204" pitchFamily="18" charset="0"/>
                      </a:rPr>
                      <m:t>1</m:t>
                    </m:r>
                  </m:oMath>
                </a14:m>
                <a:endParaRPr kumimoji="1" lang="en-US" altLang="ja-JP" b="0" dirty="0"/>
              </a:p>
              <a:p>
                <a:pPr lvl="3"/>
                <a:r>
                  <a:rPr kumimoji="1" lang="ja-JP" altLang="en-US" dirty="0"/>
                  <a:t>仮に </a:t>
                </a:r>
                <a:r>
                  <a:rPr kumimoji="1" lang="en-US" altLang="ja-JP" dirty="0"/>
                  <a:t>99% </a:t>
                </a:r>
                <a:r>
                  <a:rPr kumimoji="1" lang="ja-JP" altLang="en-US" dirty="0"/>
                  <a:t>精度で予測できると仮定</a:t>
                </a:r>
                <a:endParaRPr kumimoji="1" lang="en-US" altLang="ja-JP" dirty="0"/>
              </a:p>
              <a:p>
                <a:pPr lvl="1"/>
                <a:r>
                  <a:rPr kumimoji="1" lang="ja-JP" altLang="en-US" dirty="0"/>
                  <a:t>分岐予測ミス・ペナルティ：</a:t>
                </a:r>
                <a:r>
                  <a:rPr kumimoji="1" lang="en-US" altLang="ja-JP" dirty="0"/>
                  <a:t>	</a:t>
                </a:r>
                <a14:m>
                  <m:oMath xmlns:m="http://schemas.openxmlformats.org/officeDocument/2006/math">
                    <m:r>
                      <a:rPr kumimoji="1" lang="en-US" altLang="ja-JP" b="1" i="1" dirty="0" smtClean="0">
                        <a:solidFill>
                          <a:schemeClr val="accent5"/>
                        </a:solidFill>
                        <a:latin typeface="Cambria Math" panose="02040503050406030204" pitchFamily="18" charset="0"/>
                      </a:rPr>
                      <m:t>𝑪𝒑</m:t>
                    </m:r>
                    <m:r>
                      <a:rPr kumimoji="1" lang="en-US" altLang="ja-JP" b="1" i="1" dirty="0" smtClean="0">
                        <a:solidFill>
                          <a:schemeClr val="accent5"/>
                        </a:solidFill>
                        <a:latin typeface="Cambria Math" panose="02040503050406030204" pitchFamily="18" charset="0"/>
                      </a:rPr>
                      <m:t>=</m:t>
                    </m:r>
                    <m:r>
                      <a:rPr kumimoji="1" lang="en-US" altLang="ja-JP" b="1" i="1" dirty="0" smtClean="0">
                        <a:solidFill>
                          <a:schemeClr val="accent5"/>
                        </a:solidFill>
                        <a:latin typeface="Cambria Math" panose="02040503050406030204" pitchFamily="18" charset="0"/>
                      </a:rPr>
                      <m:t>𝟏𝟓</m:t>
                    </m:r>
                  </m:oMath>
                </a14:m>
                <a:endParaRPr kumimoji="1" lang="en-US" altLang="ja-JP" b="1" dirty="0">
                  <a:solidFill>
                    <a:schemeClr val="accent5"/>
                  </a:solidFill>
                </a:endParaRPr>
              </a:p>
              <a:p>
                <a:r>
                  <a:rPr kumimoji="1" lang="ja-JP" altLang="en-US" dirty="0"/>
                  <a:t>実行サイクル数 </a:t>
                </a:r>
                <a14:m>
                  <m:oMath xmlns:m="http://schemas.openxmlformats.org/officeDocument/2006/math">
                    <m:r>
                      <a:rPr kumimoji="1" lang="en-US" altLang="ja-JP" i="1" dirty="0" smtClean="0">
                        <a:latin typeface="Cambria Math" panose="02040503050406030204" pitchFamily="18" charset="0"/>
                      </a:rPr>
                      <m:t>𝐶𝑟</m:t>
                    </m:r>
                  </m:oMath>
                </a14:m>
                <a:r>
                  <a:rPr kumimoji="1" lang="en-US" altLang="ja-JP" dirty="0"/>
                  <a:t> </a:t>
                </a:r>
                <a:r>
                  <a:rPr kumimoji="1" lang="ja-JP" altLang="en-US" dirty="0"/>
                  <a:t>は</a:t>
                </a:r>
                <a:endParaRPr kumimoji="1" lang="en-US" altLang="ja-JP" dirty="0"/>
              </a:p>
              <a:p>
                <a:pPr lvl="1"/>
                <a14:m>
                  <m:oMath xmlns:m="http://schemas.openxmlformats.org/officeDocument/2006/math">
                    <m:r>
                      <a:rPr lang="en-US" b="1" i="1" dirty="0" smtClean="0">
                        <a:solidFill>
                          <a:schemeClr val="accent5"/>
                        </a:solidFill>
                        <a:latin typeface="Cambria Math" panose="02040503050406030204" pitchFamily="18" charset="0"/>
                      </a:rPr>
                      <m:t>𝑪𝒓</m:t>
                    </m:r>
                    <m:r>
                      <a:rPr lang="en-US" b="1" i="1" dirty="0" smtClean="0">
                        <a:solidFill>
                          <a:schemeClr val="accent5"/>
                        </a:solidFill>
                        <a:latin typeface="Cambria Math" panose="02040503050406030204" pitchFamily="18" charset="0"/>
                      </a:rPr>
                      <m:t>=</m:t>
                    </m:r>
                    <m:r>
                      <a:rPr lang="en-US" b="1" i="1" dirty="0" smtClean="0">
                        <a:solidFill>
                          <a:schemeClr val="accent5"/>
                        </a:solidFill>
                        <a:latin typeface="Cambria Math" panose="02040503050406030204" pitchFamily="18" charset="0"/>
                      </a:rPr>
                      <m:t>𝑪𝒕</m:t>
                    </m:r>
                    <m:r>
                      <a:rPr lang="en-US" b="1" i="1" dirty="0" smtClean="0">
                        <a:solidFill>
                          <a:schemeClr val="accent5"/>
                        </a:solidFill>
                        <a:latin typeface="Cambria Math" panose="02040503050406030204" pitchFamily="18" charset="0"/>
                      </a:rPr>
                      <m:t> + </m:t>
                    </m:r>
                    <m:r>
                      <a:rPr lang="en-US" b="1" i="1" dirty="0" smtClean="0">
                        <a:solidFill>
                          <a:schemeClr val="accent5"/>
                        </a:solidFill>
                        <a:latin typeface="Cambria Math" panose="02040503050406030204" pitchFamily="18" charset="0"/>
                      </a:rPr>
                      <m:t>𝑵𝒎</m:t>
                    </m:r>
                    <m:r>
                      <a:rPr lang="en-US" altLang="ja-JP" b="1" i="1" dirty="0">
                        <a:solidFill>
                          <a:schemeClr val="accent5"/>
                        </a:solidFill>
                        <a:latin typeface="Cambria Math" panose="02040503050406030204" pitchFamily="18" charset="0"/>
                      </a:rPr>
                      <m:t>×</m:t>
                    </m:r>
                    <m:r>
                      <a:rPr lang="en-US" altLang="ja-JP" b="1" i="1" dirty="0" smtClean="0">
                        <a:solidFill>
                          <a:schemeClr val="accent5"/>
                        </a:solidFill>
                        <a:latin typeface="Cambria Math" panose="02040503050406030204" pitchFamily="18" charset="0"/>
                      </a:rPr>
                      <m:t>𝑪𝒑</m:t>
                    </m:r>
                    <m:r>
                      <a:rPr lang="en-US" altLang="ja-JP" b="1" i="1" dirty="0" smtClean="0">
                        <a:solidFill>
                          <a:schemeClr val="accent5"/>
                        </a:solidFill>
                        <a:latin typeface="Cambria Math" panose="02040503050406030204" pitchFamily="18" charset="0"/>
                      </a:rPr>
                      <m:t>=</m:t>
                    </m:r>
                    <m:r>
                      <a:rPr lang="en-US" altLang="ja-JP" b="1" i="1" dirty="0" smtClean="0">
                        <a:solidFill>
                          <a:schemeClr val="accent5"/>
                        </a:solidFill>
                        <a:latin typeface="Cambria Math" panose="02040503050406030204" pitchFamily="18" charset="0"/>
                      </a:rPr>
                      <m:t>𝟏</m:t>
                    </m:r>
                    <m:r>
                      <a:rPr lang="en-US" altLang="ja-JP" b="1" i="1" dirty="0" smtClean="0">
                        <a:solidFill>
                          <a:schemeClr val="accent5"/>
                        </a:solidFill>
                        <a:latin typeface="Cambria Math" panose="02040503050406030204" pitchFamily="18" charset="0"/>
                      </a:rPr>
                      <m:t>𝑴</m:t>
                    </m:r>
                    <m:r>
                      <a:rPr lang="en-US" altLang="ja-JP" b="1" i="1" dirty="0" smtClean="0">
                        <a:solidFill>
                          <a:schemeClr val="accent5"/>
                        </a:solidFill>
                        <a:latin typeface="Cambria Math" panose="02040503050406030204" pitchFamily="18" charset="0"/>
                      </a:rPr>
                      <m:t>+</m:t>
                    </m:r>
                    <m:r>
                      <a:rPr lang="en-US" altLang="ja-JP" b="1" i="1" dirty="0" smtClean="0">
                        <a:solidFill>
                          <a:schemeClr val="accent5"/>
                        </a:solidFill>
                        <a:latin typeface="Cambria Math" panose="02040503050406030204" pitchFamily="18" charset="0"/>
                      </a:rPr>
                      <m:t>𝟎</m:t>
                    </m:r>
                    <m:r>
                      <a:rPr lang="en-US" altLang="ja-JP" b="1" i="1" dirty="0" smtClean="0">
                        <a:solidFill>
                          <a:schemeClr val="accent5"/>
                        </a:solidFill>
                        <a:latin typeface="Cambria Math" panose="02040503050406030204" pitchFamily="18" charset="0"/>
                      </a:rPr>
                      <m:t>.</m:t>
                    </m:r>
                    <m:r>
                      <a:rPr lang="en-US" altLang="ja-JP" b="1" i="1" dirty="0" smtClean="0">
                        <a:solidFill>
                          <a:schemeClr val="accent5"/>
                        </a:solidFill>
                        <a:latin typeface="Cambria Math" panose="02040503050406030204" pitchFamily="18" charset="0"/>
                      </a:rPr>
                      <m:t>𝟑</m:t>
                    </m:r>
                    <m:r>
                      <a:rPr lang="en-US" altLang="ja-JP" b="1" i="1" dirty="0" smtClean="0">
                        <a:solidFill>
                          <a:schemeClr val="accent5"/>
                        </a:solidFill>
                        <a:latin typeface="Cambria Math" panose="02040503050406030204" pitchFamily="18" charset="0"/>
                      </a:rPr>
                      <m:t>𝑴</m:t>
                    </m:r>
                    <m:r>
                      <a:rPr lang="en-US" altLang="ja-JP" b="1" i="1" dirty="0" smtClean="0">
                        <a:solidFill>
                          <a:schemeClr val="accent5"/>
                        </a:solidFill>
                        <a:latin typeface="Cambria Math" panose="02040503050406030204" pitchFamily="18" charset="0"/>
                      </a:rPr>
                      <m:t>=</m:t>
                    </m:r>
                    <m:r>
                      <a:rPr lang="en-US" altLang="ja-JP" b="1" i="1" dirty="0" smtClean="0">
                        <a:solidFill>
                          <a:schemeClr val="accent5"/>
                        </a:solidFill>
                        <a:latin typeface="Cambria Math" panose="02040503050406030204" pitchFamily="18" charset="0"/>
                      </a:rPr>
                      <m:t>𝟏</m:t>
                    </m:r>
                    <m:r>
                      <a:rPr lang="en-US" altLang="ja-JP" b="1" i="1" dirty="0" smtClean="0">
                        <a:solidFill>
                          <a:schemeClr val="accent5"/>
                        </a:solidFill>
                        <a:latin typeface="Cambria Math" panose="02040503050406030204" pitchFamily="18" charset="0"/>
                      </a:rPr>
                      <m:t>.</m:t>
                    </m:r>
                    <m:r>
                      <a:rPr lang="en-US" altLang="ja-JP" b="1" i="1" dirty="0" smtClean="0">
                        <a:solidFill>
                          <a:schemeClr val="accent5"/>
                        </a:solidFill>
                        <a:latin typeface="Cambria Math" panose="02040503050406030204" pitchFamily="18" charset="0"/>
                      </a:rPr>
                      <m:t>𝟑</m:t>
                    </m:r>
                    <m:r>
                      <a:rPr lang="en-US" altLang="ja-JP" b="1" i="1" dirty="0" smtClean="0">
                        <a:solidFill>
                          <a:schemeClr val="accent5"/>
                        </a:solidFill>
                        <a:latin typeface="Cambria Math" panose="02040503050406030204" pitchFamily="18" charset="0"/>
                      </a:rPr>
                      <m:t>𝑴</m:t>
                    </m:r>
                  </m:oMath>
                </a14:m>
                <a:endParaRPr kumimoji="1" lang="en-US" b="1" dirty="0">
                  <a:solidFill>
                    <a:schemeClr val="accent5"/>
                  </a:solidFill>
                </a:endParaRPr>
              </a:p>
              <a:p>
                <a:pPr lvl="1"/>
                <a:r>
                  <a:rPr kumimoji="1" lang="en-US" altLang="ja-JP" dirty="0"/>
                  <a:t>99% </a:t>
                </a:r>
                <a:r>
                  <a:rPr kumimoji="1" lang="ja-JP" altLang="en-US" dirty="0"/>
                  <a:t>精度で予測をあててもなお，</a:t>
                </a:r>
                <a:r>
                  <a:rPr kumimoji="1" lang="en-US" altLang="ja-JP" dirty="0"/>
                  <a:t>30%</a:t>
                </a:r>
                <a:r>
                  <a:rPr kumimoji="1" lang="ja-JP" altLang="en-US" dirty="0"/>
                  <a:t>速度を低下させている</a:t>
                </a:r>
                <a:endParaRPr kumimoji="1" lang="en-US" dirty="0"/>
              </a:p>
            </p:txBody>
          </p:sp>
        </mc:Choice>
        <mc:Fallback>
          <p:sp>
            <p:nvSpPr>
              <p:cNvPr id="3" name="コンテンツ プレースホルダー 2">
                <a:extLst>
                  <a:ext uri="{FF2B5EF4-FFF2-40B4-BE49-F238E27FC236}">
                    <a16:creationId xmlns:a16="http://schemas.microsoft.com/office/drawing/2014/main" id="{7A388F3E-9D46-BE60-22D7-DE67BE9600EC}"/>
                  </a:ext>
                </a:extLst>
              </p:cNvPr>
              <p:cNvSpPr>
                <a:spLocks noGrp="1" noRot="1" noChangeAspect="1" noMove="1" noResize="1" noEditPoints="1" noAdjustHandles="1" noChangeArrowheads="1" noChangeShapeType="1" noTextEdit="1"/>
              </p:cNvSpPr>
              <p:nvPr>
                <p:ph sz="quarter" idx="10"/>
              </p:nvPr>
            </p:nvSpPr>
            <p:spPr>
              <a:xfrm>
                <a:off x="1145945" y="1088974"/>
                <a:ext cx="9360105" cy="5220058"/>
              </a:xfrm>
              <a:blipFill>
                <a:blip r:embed="rId2"/>
                <a:stretch>
                  <a:fillRect l="-586" t="-1869" b="-3738"/>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8516135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5C70772-ED55-D7EE-3B20-846F5B244290}"/>
              </a:ext>
            </a:extLst>
          </p:cNvPr>
          <p:cNvSpPr>
            <a:spLocks noGrp="1"/>
          </p:cNvSpPr>
          <p:nvPr>
            <p:ph type="title"/>
          </p:nvPr>
        </p:nvSpPr>
        <p:spPr/>
        <p:txBody>
          <a:bodyPr/>
          <a:lstStyle/>
          <a:p>
            <a:r>
              <a:rPr kumimoji="1" lang="ja-JP" altLang="en-US" dirty="0"/>
              <a:t>この結果からわかること</a:t>
            </a:r>
          </a:p>
        </p:txBody>
      </p:sp>
      <p:sp>
        <p:nvSpPr>
          <p:cNvPr id="3" name="テキスト プレースホルダー 2">
            <a:extLst>
              <a:ext uri="{FF2B5EF4-FFF2-40B4-BE49-F238E27FC236}">
                <a16:creationId xmlns:a16="http://schemas.microsoft.com/office/drawing/2014/main" id="{D0BC3C34-EB0E-7FE7-D80C-7BCD030ADD7B}"/>
              </a:ext>
            </a:extLst>
          </p:cNvPr>
          <p:cNvSpPr>
            <a:spLocks noGrp="1"/>
          </p:cNvSpPr>
          <p:nvPr>
            <p:ph type="body" sz="quarter" idx="10"/>
          </p:nvPr>
        </p:nvSpPr>
        <p:spPr/>
        <p:txBody>
          <a:bodyPr/>
          <a:lstStyle/>
          <a:p>
            <a:r>
              <a:rPr kumimoji="1" lang="ja-JP" altLang="en-US" dirty="0"/>
              <a:t>ベースラインの </a:t>
            </a:r>
            <a:r>
              <a:rPr kumimoji="1" lang="en-US" altLang="ja-JP" dirty="0"/>
              <a:t>CPU </a:t>
            </a:r>
            <a:r>
              <a:rPr kumimoji="1" lang="ja-JP" altLang="en-US" dirty="0"/>
              <a:t>の性能が上がるほど，予測精度も重要になる</a:t>
            </a:r>
            <a:endParaRPr kumimoji="1" lang="en-US" altLang="ja-JP" dirty="0"/>
          </a:p>
          <a:p>
            <a:pPr lvl="1"/>
            <a:r>
              <a:rPr lang="ja-JP" altLang="en-US" dirty="0"/>
              <a:t>わずかな予測精度向上が性能に寄与する</a:t>
            </a:r>
            <a:endParaRPr kumimoji="1" lang="en-US" altLang="ja-JP" dirty="0"/>
          </a:p>
          <a:p>
            <a:r>
              <a:rPr kumimoji="1" lang="ja-JP" altLang="en-US" dirty="0"/>
              <a:t>ミスペナルティの大きさは性能に大きく影響する</a:t>
            </a:r>
            <a:endParaRPr kumimoji="1" lang="en-US" altLang="ja-JP" dirty="0"/>
          </a:p>
        </p:txBody>
      </p:sp>
    </p:spTree>
    <p:extLst>
      <p:ext uri="{BB962C8B-B14F-4D97-AF65-F5344CB8AC3E}">
        <p14:creationId xmlns:p14="http://schemas.microsoft.com/office/powerpoint/2010/main" val="40341252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F0EAF-DDFD-3E54-4E6B-12189073034E}"/>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A9062433-F3FA-3C4D-2AD3-3C375C8EC362}"/>
              </a:ext>
            </a:extLst>
          </p:cNvPr>
          <p:cNvSpPr>
            <a:spLocks noGrp="1"/>
          </p:cNvSpPr>
          <p:nvPr>
            <p:ph type="title"/>
          </p:nvPr>
        </p:nvSpPr>
        <p:spPr/>
        <p:txBody>
          <a:bodyPr/>
          <a:lstStyle/>
          <a:p>
            <a:r>
              <a:rPr lang="ja-JP" altLang="en-US" dirty="0"/>
              <a:t>間接分岐予測</a:t>
            </a:r>
          </a:p>
        </p:txBody>
      </p:sp>
    </p:spTree>
    <p:extLst>
      <p:ext uri="{BB962C8B-B14F-4D97-AF65-F5344CB8AC3E}">
        <p14:creationId xmlns:p14="http://schemas.microsoft.com/office/powerpoint/2010/main" val="14155399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間接分岐命令</a:t>
            </a:r>
          </a:p>
        </p:txBody>
      </p:sp>
      <p:sp>
        <p:nvSpPr>
          <p:cNvPr id="3" name="テキスト プレースホルダー 2"/>
          <p:cNvSpPr>
            <a:spLocks noGrp="1"/>
          </p:cNvSpPr>
          <p:nvPr>
            <p:ph type="body" sz="quarter" idx="10"/>
          </p:nvPr>
        </p:nvSpPr>
        <p:spPr/>
        <p:txBody>
          <a:bodyPr/>
          <a:lstStyle/>
          <a:p>
            <a:r>
              <a:rPr kumimoji="1" lang="ja-JP" altLang="en-US" dirty="0"/>
              <a:t>方向分岐命令</a:t>
            </a:r>
            <a:endParaRPr kumimoji="1" lang="en-US" altLang="ja-JP" dirty="0"/>
          </a:p>
          <a:p>
            <a:pPr lvl="1"/>
            <a:r>
              <a:rPr kumimoji="1" lang="ja-JP" altLang="en-US" dirty="0"/>
              <a:t>成立 </a:t>
            </a:r>
            <a:r>
              <a:rPr kumimoji="1" lang="en-US" altLang="ja-JP" dirty="0"/>
              <a:t>or </a:t>
            </a:r>
            <a:r>
              <a:rPr kumimoji="1" lang="ja-JP" altLang="en-US" dirty="0"/>
              <a:t>不成立で行き先が分岐</a:t>
            </a:r>
            <a:endParaRPr kumimoji="1" lang="en-US" altLang="ja-JP" dirty="0"/>
          </a:p>
          <a:p>
            <a:pPr lvl="1"/>
            <a:r>
              <a:rPr lang="en-US" altLang="ja-JP" dirty="0" err="1"/>
              <a:t>bne</a:t>
            </a:r>
            <a:r>
              <a:rPr lang="en-US" altLang="ja-JP" dirty="0"/>
              <a:t> x1, x2, TARGET</a:t>
            </a:r>
          </a:p>
          <a:p>
            <a:pPr lvl="1"/>
            <a:r>
              <a:rPr lang="en-US" altLang="ja-JP" dirty="0"/>
              <a:t>if </a:t>
            </a:r>
            <a:r>
              <a:rPr lang="ja-JP" altLang="en-US" dirty="0"/>
              <a:t>文に相当</a:t>
            </a:r>
            <a:endParaRPr lang="en-US" altLang="ja-JP" dirty="0"/>
          </a:p>
          <a:p>
            <a:r>
              <a:rPr kumimoji="1" lang="ja-JP" altLang="en-US" dirty="0"/>
              <a:t>間接分岐命令</a:t>
            </a:r>
            <a:endParaRPr kumimoji="1" lang="en-US" altLang="ja-JP" dirty="0"/>
          </a:p>
          <a:p>
            <a:pPr lvl="1"/>
            <a:r>
              <a:rPr kumimoji="1" lang="ja-JP" altLang="en-US" dirty="0"/>
              <a:t>レジスタに格納されているアドレスに飛ぶ</a:t>
            </a:r>
            <a:endParaRPr kumimoji="1" lang="en-US" altLang="ja-JP" dirty="0"/>
          </a:p>
          <a:p>
            <a:pPr lvl="1"/>
            <a:r>
              <a:rPr lang="ja-JP" altLang="en-US" dirty="0"/>
              <a:t>「</a:t>
            </a:r>
            <a:r>
              <a:rPr lang="en-US" altLang="ja-JP" dirty="0" err="1">
                <a:latin typeface="Consolas" panose="020B0609020204030204" pitchFamily="49" charset="0"/>
              </a:rPr>
              <a:t>jr</a:t>
            </a:r>
            <a:r>
              <a:rPr lang="en-US" altLang="ja-JP" dirty="0">
                <a:latin typeface="Consolas" panose="020B0609020204030204" pitchFamily="49" charset="0"/>
              </a:rPr>
              <a:t> x1</a:t>
            </a:r>
            <a:r>
              <a:rPr lang="ja-JP" altLang="en-US" dirty="0"/>
              <a:t>」は，</a:t>
            </a:r>
            <a:r>
              <a:rPr lang="en-US" altLang="ja-JP" dirty="0"/>
              <a:t>x1 </a:t>
            </a:r>
            <a:r>
              <a:rPr lang="ja-JP" altLang="en-US" dirty="0"/>
              <a:t>レジスタに格納されている値のアドレスにジャンプする間接分岐命令</a:t>
            </a:r>
            <a:endParaRPr lang="en-US" altLang="ja-JP" dirty="0"/>
          </a:p>
        </p:txBody>
      </p:sp>
    </p:spTree>
    <p:extLst>
      <p:ext uri="{BB962C8B-B14F-4D97-AF65-F5344CB8AC3E}">
        <p14:creationId xmlns:p14="http://schemas.microsoft.com/office/powerpoint/2010/main" val="41440566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間接分岐命令の使いどころ</a:t>
            </a:r>
          </a:p>
        </p:txBody>
      </p:sp>
      <p:sp>
        <p:nvSpPr>
          <p:cNvPr id="3" name="テキスト プレースホルダー 2"/>
          <p:cNvSpPr>
            <a:spLocks noGrp="1"/>
          </p:cNvSpPr>
          <p:nvPr>
            <p:ph type="body" sz="quarter" idx="10"/>
          </p:nvPr>
        </p:nvSpPr>
        <p:spPr/>
        <p:txBody>
          <a:bodyPr/>
          <a:lstStyle/>
          <a:p>
            <a:r>
              <a:rPr lang="ja-JP" altLang="en-US" dirty="0"/>
              <a:t>関数ポインタ呼び出し，仮想関数呼び出し</a:t>
            </a:r>
            <a:endParaRPr lang="en-US" altLang="ja-JP" dirty="0"/>
          </a:p>
          <a:p>
            <a:pPr lvl="1"/>
            <a:r>
              <a:rPr lang="ja-JP" altLang="en-US" dirty="0"/>
              <a:t>関数ポインタ変数やオブジェクト内の仮想関数ポインタをロード</a:t>
            </a:r>
            <a:endParaRPr lang="en-US" altLang="ja-JP" dirty="0"/>
          </a:p>
          <a:p>
            <a:pPr lvl="1"/>
            <a:r>
              <a:rPr lang="ja-JP" altLang="en-US" dirty="0"/>
              <a:t>ロードしたアドレスに間接分岐で飛ぶ</a:t>
            </a:r>
            <a:endParaRPr lang="en-US" altLang="ja-JP" dirty="0"/>
          </a:p>
          <a:p>
            <a:r>
              <a:rPr lang="en-US" altLang="ja-JP" dirty="0"/>
              <a:t>switch-case </a:t>
            </a:r>
            <a:r>
              <a:rPr lang="ja-JP" altLang="en-US" dirty="0"/>
              <a:t>文</a:t>
            </a:r>
            <a:endParaRPr lang="en-US" altLang="ja-JP" dirty="0"/>
          </a:p>
          <a:p>
            <a:pPr lvl="1"/>
            <a:r>
              <a:rPr lang="ja-JP" altLang="en-US" dirty="0"/>
              <a:t>例：</a:t>
            </a:r>
            <a:r>
              <a:rPr lang="en-US" altLang="ja-JP" dirty="0"/>
              <a:t>0 </a:t>
            </a:r>
            <a:r>
              <a:rPr lang="ja-JP" altLang="en-US" dirty="0"/>
              <a:t>～ </a:t>
            </a:r>
            <a:r>
              <a:rPr lang="en-US" altLang="ja-JP" dirty="0"/>
              <a:t>255 </a:t>
            </a:r>
            <a:r>
              <a:rPr lang="ja-JP" altLang="en-US" dirty="0"/>
              <a:t>の </a:t>
            </a:r>
            <a:r>
              <a:rPr lang="en-US" altLang="ja-JP" dirty="0"/>
              <a:t>256 </a:t>
            </a:r>
            <a:r>
              <a:rPr lang="ja-JP" altLang="en-US" dirty="0"/>
              <a:t>のパターンの </a:t>
            </a:r>
            <a:r>
              <a:rPr lang="en-US" altLang="ja-JP" dirty="0"/>
              <a:t>case </a:t>
            </a:r>
            <a:r>
              <a:rPr lang="ja-JP" altLang="en-US" dirty="0"/>
              <a:t>がある場合</a:t>
            </a:r>
            <a:endParaRPr lang="en-US" altLang="ja-JP" dirty="0"/>
          </a:p>
          <a:p>
            <a:pPr lvl="1"/>
            <a:r>
              <a:rPr lang="ja-JP" altLang="en-US" dirty="0"/>
              <a:t>各 </a:t>
            </a:r>
            <a:r>
              <a:rPr lang="en-US" altLang="ja-JP" dirty="0"/>
              <a:t>case </a:t>
            </a:r>
            <a:r>
              <a:rPr lang="ja-JP" altLang="en-US" dirty="0"/>
              <a:t>の処理の先頭の命令アドレスを要素数 </a:t>
            </a:r>
            <a:r>
              <a:rPr lang="en-US" altLang="ja-JP" dirty="0"/>
              <a:t>256 </a:t>
            </a:r>
            <a:r>
              <a:rPr lang="ja-JP" altLang="en-US" dirty="0"/>
              <a:t>の配列に格納</a:t>
            </a:r>
            <a:endParaRPr lang="en-US" altLang="ja-JP" dirty="0"/>
          </a:p>
          <a:p>
            <a:pPr lvl="1"/>
            <a:r>
              <a:rPr lang="ja-JP" altLang="en-US" dirty="0"/>
              <a:t>配列の要素をロードして，そこに間接分岐で飛ぶ</a:t>
            </a:r>
            <a:endParaRPr lang="en-US" altLang="ja-JP" dirty="0"/>
          </a:p>
          <a:p>
            <a:r>
              <a:rPr lang="en-US" altLang="ja-JP" dirty="0"/>
              <a:t>return </a:t>
            </a:r>
            <a:r>
              <a:rPr lang="ja-JP" altLang="en-US" dirty="0"/>
              <a:t>文 </a:t>
            </a:r>
            <a:endParaRPr lang="en-US" altLang="ja-JP" dirty="0"/>
          </a:p>
          <a:p>
            <a:pPr lvl="1"/>
            <a:r>
              <a:rPr lang="ja-JP" altLang="en-US" dirty="0"/>
              <a:t>関数呼び出し時に，呼び出し元をメモリ上に保存</a:t>
            </a:r>
            <a:endParaRPr lang="en-US" altLang="ja-JP" dirty="0"/>
          </a:p>
          <a:p>
            <a:pPr lvl="1"/>
            <a:r>
              <a:rPr lang="ja-JP" altLang="en-US" dirty="0"/>
              <a:t>呼び出し元アドレスをメモリからロードして，間接分岐で戻る</a:t>
            </a:r>
          </a:p>
        </p:txBody>
      </p:sp>
    </p:spTree>
    <p:extLst>
      <p:ext uri="{BB962C8B-B14F-4D97-AF65-F5344CB8AC3E}">
        <p14:creationId xmlns:p14="http://schemas.microsoft.com/office/powerpoint/2010/main" val="28815095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間接分岐予測</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kumimoji="1" lang="ja-JP" altLang="en-US" dirty="0"/>
              <a:t>間接分岐一般の予測</a:t>
            </a:r>
            <a:endParaRPr kumimoji="1" lang="en-US" altLang="ja-JP" dirty="0"/>
          </a:p>
          <a:p>
            <a:pPr marL="457200" indent="-457200">
              <a:buFont typeface="+mj-lt"/>
              <a:buAutoNum type="arabicPeriod"/>
            </a:pPr>
            <a:r>
              <a:rPr lang="ja-JP" altLang="en-US" dirty="0"/>
              <a:t>関数からの </a:t>
            </a:r>
            <a:r>
              <a:rPr lang="en-US" altLang="ja-JP" dirty="0"/>
              <a:t>return </a:t>
            </a:r>
            <a:r>
              <a:rPr lang="ja-JP" altLang="en-US" dirty="0"/>
              <a:t>の予測</a:t>
            </a:r>
            <a:endParaRPr kumimoji="1" lang="ja-JP" altLang="en-US" dirty="0"/>
          </a:p>
        </p:txBody>
      </p:sp>
    </p:spTree>
    <p:extLst>
      <p:ext uri="{BB962C8B-B14F-4D97-AF65-F5344CB8AC3E}">
        <p14:creationId xmlns:p14="http://schemas.microsoft.com/office/powerpoint/2010/main" val="17133176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間接分岐一般の予測</a:t>
            </a:r>
            <a:endParaRPr lang="en-US" altLang="ja-JP" dirty="0"/>
          </a:p>
        </p:txBody>
      </p:sp>
      <p:sp>
        <p:nvSpPr>
          <p:cNvPr id="3" name="テキスト プレースホルダー 2"/>
          <p:cNvSpPr>
            <a:spLocks noGrp="1"/>
          </p:cNvSpPr>
          <p:nvPr>
            <p:ph type="body" sz="quarter" idx="10"/>
          </p:nvPr>
        </p:nvSpPr>
        <p:spPr/>
        <p:txBody>
          <a:bodyPr/>
          <a:lstStyle/>
          <a:p>
            <a:r>
              <a:rPr kumimoji="1" lang="ja-JP" altLang="en-US" dirty="0"/>
              <a:t>基本的に間接分岐の予測は難しい</a:t>
            </a:r>
            <a:endParaRPr kumimoji="1" lang="en-US" altLang="ja-JP" dirty="0"/>
          </a:p>
          <a:p>
            <a:r>
              <a:rPr kumimoji="1" lang="ja-JP" altLang="en-US" dirty="0"/>
              <a:t>方向分岐：</a:t>
            </a:r>
            <a:endParaRPr kumimoji="1" lang="en-US" altLang="ja-JP" dirty="0"/>
          </a:p>
          <a:p>
            <a:pPr lvl="1"/>
            <a:r>
              <a:rPr kumimoji="1" lang="ja-JP" altLang="en-US" dirty="0"/>
              <a:t>成立 </a:t>
            </a:r>
            <a:r>
              <a:rPr kumimoji="1" lang="en-US" altLang="ja-JP" dirty="0"/>
              <a:t>or </a:t>
            </a:r>
            <a:r>
              <a:rPr kumimoji="1" lang="ja-JP" altLang="en-US" dirty="0"/>
              <a:t>不成立の２択を予測</a:t>
            </a:r>
            <a:endParaRPr kumimoji="1" lang="en-US" altLang="ja-JP" dirty="0"/>
          </a:p>
          <a:p>
            <a:pPr lvl="1"/>
            <a:r>
              <a:rPr kumimoji="1" lang="ja-JP" altLang="en-US" dirty="0"/>
              <a:t>分岐先ターゲット・アドレスは不変</a:t>
            </a:r>
            <a:endParaRPr kumimoji="1" lang="en-US" altLang="ja-JP" dirty="0"/>
          </a:p>
          <a:p>
            <a:r>
              <a:rPr kumimoji="1" lang="ja-JP" altLang="en-US" dirty="0"/>
              <a:t>間接分岐：</a:t>
            </a:r>
            <a:endParaRPr kumimoji="1" lang="en-US" altLang="ja-JP" dirty="0"/>
          </a:p>
          <a:p>
            <a:pPr lvl="1"/>
            <a:r>
              <a:rPr lang="ja-JP" altLang="en-US" dirty="0"/>
              <a:t>動的に変化しうる，</a:t>
            </a:r>
            <a:r>
              <a:rPr kumimoji="1" lang="ja-JP" altLang="en-US" dirty="0"/>
              <a:t>無数にある分岐先アドレスを予測</a:t>
            </a:r>
            <a:endParaRPr kumimoji="1" lang="en-US" altLang="ja-JP" dirty="0"/>
          </a:p>
          <a:p>
            <a:pPr lvl="1"/>
            <a:r>
              <a:rPr kumimoji="1" lang="ja-JP" altLang="en-US" dirty="0"/>
              <a:t>間接分岐の飛び先は，ロードした結果など </a:t>
            </a:r>
            <a:r>
              <a:rPr kumimoji="1" lang="en-US" altLang="ja-JP" dirty="0"/>
              <a:t>= 64 bit </a:t>
            </a:r>
            <a:r>
              <a:rPr kumimoji="1" lang="ja-JP" altLang="en-US" dirty="0"/>
              <a:t>などの値</a:t>
            </a:r>
            <a:endParaRPr kumimoji="1" lang="en-US" altLang="ja-JP" dirty="0"/>
          </a:p>
        </p:txBody>
      </p:sp>
    </p:spTree>
    <p:extLst>
      <p:ext uri="{BB962C8B-B14F-4D97-AF65-F5344CB8AC3E}">
        <p14:creationId xmlns:p14="http://schemas.microsoft.com/office/powerpoint/2010/main" val="16387122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簡単なもの：</a:t>
            </a:r>
            <a:r>
              <a:rPr kumimoji="1" lang="en-US" altLang="ja-JP" dirty="0"/>
              <a:t>BTB </a:t>
            </a:r>
            <a:r>
              <a:rPr kumimoji="1" lang="ja-JP" altLang="en-US" dirty="0"/>
              <a:t>を使った間接分岐の予測</a:t>
            </a:r>
          </a:p>
        </p:txBody>
      </p:sp>
      <p:sp>
        <p:nvSpPr>
          <p:cNvPr id="3" name="テキスト プレースホルダー 2"/>
          <p:cNvSpPr>
            <a:spLocks noGrp="1"/>
          </p:cNvSpPr>
          <p:nvPr>
            <p:ph type="body" sz="quarter" idx="10"/>
          </p:nvPr>
        </p:nvSpPr>
        <p:spPr/>
        <p:txBody>
          <a:bodyPr/>
          <a:lstStyle/>
          <a:p>
            <a:r>
              <a:rPr kumimoji="1" lang="ja-JP" altLang="en-US" dirty="0"/>
              <a:t>基本的には，「前回飛んだ先に今回も飛ぶ」と予測</a:t>
            </a:r>
            <a:endParaRPr kumimoji="1" lang="en-US" altLang="ja-JP" dirty="0"/>
          </a:p>
          <a:p>
            <a:r>
              <a:rPr kumimoji="1" lang="en-US" altLang="ja-JP" dirty="0"/>
              <a:t>BTB </a:t>
            </a:r>
            <a:r>
              <a:rPr kumimoji="1" lang="ja-JP" altLang="en-US" dirty="0"/>
              <a:t>に「分岐の種類」を表す１ビットを格納して予測する</a:t>
            </a:r>
            <a:endParaRPr kumimoji="1" lang="en-US" altLang="ja-JP" dirty="0"/>
          </a:p>
          <a:p>
            <a:pPr lvl="1"/>
            <a:r>
              <a:rPr kumimoji="1" lang="ja-JP" altLang="en-US" dirty="0"/>
              <a:t>０：方向分岐 → </a:t>
            </a:r>
            <a:endParaRPr kumimoji="1" lang="en-US" altLang="ja-JP" dirty="0"/>
          </a:p>
          <a:p>
            <a:pPr lvl="2"/>
            <a:r>
              <a:rPr kumimoji="1" lang="ja-JP" altLang="en-US" dirty="0"/>
              <a:t>これまで説明した方法で予測</a:t>
            </a:r>
            <a:endParaRPr kumimoji="1" lang="en-US" altLang="ja-JP" dirty="0"/>
          </a:p>
          <a:p>
            <a:pPr lvl="1"/>
            <a:r>
              <a:rPr kumimoji="1" lang="ja-JP" altLang="en-US" dirty="0"/>
              <a:t>１：間接分岐 → </a:t>
            </a:r>
            <a:endParaRPr kumimoji="1" lang="en-US" altLang="ja-JP" dirty="0"/>
          </a:p>
          <a:p>
            <a:pPr lvl="2"/>
            <a:r>
              <a:rPr lang="ja-JP" altLang="en-US" dirty="0"/>
              <a:t>方向分岐予測の結果は無視</a:t>
            </a:r>
            <a:endParaRPr lang="en-US" altLang="ja-JP" dirty="0"/>
          </a:p>
          <a:p>
            <a:pPr lvl="2"/>
            <a:r>
              <a:rPr lang="en-US" altLang="ja-JP" dirty="0"/>
              <a:t>BTB </a:t>
            </a:r>
            <a:r>
              <a:rPr lang="ja-JP" altLang="en-US" dirty="0"/>
              <a:t>の読み出し結果をそのまま使う</a:t>
            </a:r>
            <a:endParaRPr lang="en-US" altLang="ja-JP" dirty="0"/>
          </a:p>
          <a:p>
            <a:r>
              <a:rPr kumimoji="1" lang="en-US" altLang="ja-JP" dirty="0"/>
              <a:t>BTB </a:t>
            </a:r>
            <a:r>
              <a:rPr kumimoji="1" lang="ja-JP" altLang="en-US" dirty="0" err="1"/>
              <a:t>には</a:t>
            </a:r>
            <a:r>
              <a:rPr kumimoji="1" lang="ja-JP" altLang="en-US" dirty="0"/>
              <a:t>前回に間接分岐を実行した際の飛び先が入っている</a:t>
            </a:r>
            <a:endParaRPr kumimoji="1" lang="en-US" altLang="ja-JP" dirty="0"/>
          </a:p>
          <a:p>
            <a:pPr lvl="1"/>
            <a:r>
              <a:rPr kumimoji="1" lang="ja-JP" altLang="en-US" dirty="0"/>
              <a:t>これを読み出してそのまま飛び先として予測</a:t>
            </a:r>
          </a:p>
        </p:txBody>
      </p:sp>
    </p:spTree>
    <p:extLst>
      <p:ext uri="{BB962C8B-B14F-4D97-AF65-F5344CB8AC3E}">
        <p14:creationId xmlns:p14="http://schemas.microsoft.com/office/powerpoint/2010/main" val="14248565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もう少し凝ったもの</a:t>
            </a:r>
          </a:p>
        </p:txBody>
      </p:sp>
      <p:sp>
        <p:nvSpPr>
          <p:cNvPr id="3" name="テキスト プレースホルダー 2"/>
          <p:cNvSpPr>
            <a:spLocks noGrp="1"/>
          </p:cNvSpPr>
          <p:nvPr>
            <p:ph type="body" sz="quarter" idx="10"/>
          </p:nvPr>
        </p:nvSpPr>
        <p:spPr/>
        <p:txBody>
          <a:bodyPr/>
          <a:lstStyle/>
          <a:p>
            <a:r>
              <a:rPr kumimoji="1" lang="en-US" altLang="ja-JP" dirty="0"/>
              <a:t>BTB</a:t>
            </a:r>
            <a:r>
              <a:rPr lang="ja-JP" altLang="en-US" dirty="0"/>
              <a:t> を引くときのアドレスに履歴をまぜる</a:t>
            </a:r>
            <a:endParaRPr lang="en-US" altLang="ja-JP" dirty="0"/>
          </a:p>
          <a:p>
            <a:pPr lvl="1"/>
            <a:r>
              <a:rPr lang="ja-JP" altLang="en-US" dirty="0"/>
              <a:t>方向分岐の，グローバル分岐履歴を使うものと同じ</a:t>
            </a:r>
            <a:endParaRPr lang="en-US" altLang="ja-JP" dirty="0"/>
          </a:p>
          <a:p>
            <a:pPr lvl="1"/>
            <a:r>
              <a:rPr kumimoji="1" lang="ja-JP" altLang="en-US" dirty="0"/>
              <a:t>過去に辿ってきた分岐方向によって飛び先を変えることができる</a:t>
            </a:r>
            <a:endParaRPr kumimoji="1" lang="en-US" altLang="ja-JP" dirty="0"/>
          </a:p>
          <a:p>
            <a:pPr lvl="1"/>
            <a:r>
              <a:rPr lang="en-US" altLang="ja-JP" dirty="0"/>
              <a:t>ARM Cortex A15 </a:t>
            </a:r>
            <a:r>
              <a:rPr lang="ja-JP" altLang="en-US" dirty="0"/>
              <a:t>などで搭載</a:t>
            </a:r>
            <a:endParaRPr lang="en-US" altLang="ja-JP" dirty="0"/>
          </a:p>
          <a:p>
            <a:r>
              <a:rPr kumimoji="1" lang="ja-JP" altLang="en-US" dirty="0"/>
              <a:t>より発展させたものとしては，</a:t>
            </a:r>
            <a:r>
              <a:rPr lang="en-US" altLang="ja-JP" dirty="0"/>
              <a:t>TAGE </a:t>
            </a:r>
            <a:r>
              <a:rPr lang="ja-JP" altLang="en-US" dirty="0"/>
              <a:t>予測器を応用したものなどが提案されている</a:t>
            </a:r>
            <a:endParaRPr lang="en-US" altLang="ja-JP" dirty="0"/>
          </a:p>
          <a:p>
            <a:pPr lvl="1"/>
            <a:r>
              <a:rPr kumimoji="1" lang="en-US" altLang="ja-JP" dirty="0"/>
              <a:t>TAGE </a:t>
            </a:r>
            <a:r>
              <a:rPr kumimoji="1" lang="ja-JP" altLang="en-US" dirty="0"/>
              <a:t>のカウンタの部分にターゲットアドレスが入っている感じ</a:t>
            </a:r>
            <a:endParaRPr kumimoji="1" lang="en-US" altLang="ja-JP" dirty="0"/>
          </a:p>
        </p:txBody>
      </p:sp>
    </p:spTree>
    <p:extLst>
      <p:ext uri="{BB962C8B-B14F-4D97-AF65-F5344CB8AC3E}">
        <p14:creationId xmlns:p14="http://schemas.microsoft.com/office/powerpoint/2010/main" val="24641991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41ED75-FAC9-46C6-8000-A092A862FB07}"/>
              </a:ext>
            </a:extLst>
          </p:cNvPr>
          <p:cNvSpPr>
            <a:spLocks noGrp="1"/>
          </p:cNvSpPr>
          <p:nvPr>
            <p:ph type="title"/>
          </p:nvPr>
        </p:nvSpPr>
        <p:spPr/>
        <p:txBody>
          <a:bodyPr/>
          <a:lstStyle/>
          <a:p>
            <a:r>
              <a:rPr kumimoji="1" lang="ja-JP" altLang="en-US" dirty="0"/>
              <a:t>間接分岐予測器の効果</a:t>
            </a:r>
          </a:p>
        </p:txBody>
      </p:sp>
      <p:sp>
        <p:nvSpPr>
          <p:cNvPr id="3" name="テキスト プレースホルダー 2">
            <a:extLst>
              <a:ext uri="{FF2B5EF4-FFF2-40B4-BE49-F238E27FC236}">
                <a16:creationId xmlns:a16="http://schemas.microsoft.com/office/drawing/2014/main" id="{B674EF50-1E75-4944-8673-978C1EB643B9}"/>
              </a:ext>
            </a:extLst>
          </p:cNvPr>
          <p:cNvSpPr>
            <a:spLocks noGrp="1"/>
          </p:cNvSpPr>
          <p:nvPr>
            <p:ph type="body" sz="quarter" idx="10"/>
          </p:nvPr>
        </p:nvSpPr>
        <p:spPr>
          <a:xfrm>
            <a:off x="785941" y="998973"/>
            <a:ext cx="8280092" cy="5219751"/>
          </a:xfrm>
        </p:spPr>
        <p:txBody>
          <a:bodyPr/>
          <a:lstStyle/>
          <a:p>
            <a:r>
              <a:rPr lang="en-US" altLang="ja-JP" dirty="0"/>
              <a:t>Python </a:t>
            </a:r>
            <a:r>
              <a:rPr lang="ja-JP" altLang="en-US" dirty="0"/>
              <a:t>のようなインタプリタの性能を大きく改善する</a:t>
            </a:r>
            <a:endParaRPr lang="en-US" altLang="ja-JP" dirty="0"/>
          </a:p>
          <a:p>
            <a:r>
              <a:rPr lang="en-US" altLang="ja-JP" i="1" dirty="0"/>
              <a:t>E. </a:t>
            </a:r>
            <a:r>
              <a:rPr lang="en-US" altLang="ja-JP" i="1" dirty="0" err="1"/>
              <a:t>Rohou</a:t>
            </a:r>
            <a:r>
              <a:rPr lang="en-US" altLang="ja-JP" i="1" dirty="0"/>
              <a:t> et al., Branch prediction and the </a:t>
            </a:r>
            <a:br>
              <a:rPr lang="en-US" altLang="ja-JP" i="1" dirty="0"/>
            </a:br>
            <a:r>
              <a:rPr lang="en-US" altLang="ja-JP" i="1" dirty="0"/>
              <a:t>performance of interpreters — </a:t>
            </a:r>
            <a:br>
              <a:rPr lang="en-US" altLang="ja-JP" i="1" dirty="0"/>
            </a:br>
            <a:r>
              <a:rPr lang="en-US" altLang="ja-JP" i="1" dirty="0"/>
              <a:t>Don't trust folklore, CGO 2015</a:t>
            </a:r>
          </a:p>
          <a:p>
            <a:pPr lvl="1"/>
            <a:r>
              <a:rPr lang="en-US" altLang="ja-JP" dirty="0"/>
              <a:t>Intel</a:t>
            </a:r>
            <a:r>
              <a:rPr kumimoji="1" lang="ja-JP" altLang="en-US" dirty="0"/>
              <a:t> プロセッサ（</a:t>
            </a:r>
            <a:r>
              <a:rPr kumimoji="1" lang="en-US" altLang="ja-JP" dirty="0"/>
              <a:t>Nehalem, Sandy Bridge, Haswell</a:t>
            </a:r>
            <a:r>
              <a:rPr kumimoji="1" lang="ja-JP" altLang="en-US" dirty="0"/>
              <a:t>）と </a:t>
            </a:r>
            <a:br>
              <a:rPr kumimoji="1" lang="en-US" altLang="ja-JP" dirty="0"/>
            </a:br>
            <a:r>
              <a:rPr kumimoji="1" lang="en-US" altLang="ja-JP" dirty="0"/>
              <a:t>ITTAGE </a:t>
            </a:r>
            <a:r>
              <a:rPr lang="ja-JP" altLang="en-US" dirty="0"/>
              <a:t>予測器</a:t>
            </a:r>
            <a:r>
              <a:rPr kumimoji="1" lang="ja-JP" altLang="en-US" dirty="0"/>
              <a:t>等の比較</a:t>
            </a:r>
            <a:endParaRPr kumimoji="1" lang="en-US" altLang="ja-JP" dirty="0"/>
          </a:p>
          <a:p>
            <a:pPr lvl="1"/>
            <a:r>
              <a:rPr lang="ja-JP" altLang="en-US" dirty="0"/>
              <a:t>世代が進むとものすごく精度が改善している</a:t>
            </a:r>
            <a:endParaRPr kumimoji="1" lang="en-US" altLang="ja-JP" dirty="0"/>
          </a:p>
        </p:txBody>
      </p:sp>
      <p:pic>
        <p:nvPicPr>
          <p:cNvPr id="5" name="図 4">
            <a:extLst>
              <a:ext uri="{FF2B5EF4-FFF2-40B4-BE49-F238E27FC236}">
                <a16:creationId xmlns:a16="http://schemas.microsoft.com/office/drawing/2014/main" id="{4373E2BC-3AF4-4D89-A7C6-523AF782D035}"/>
              </a:ext>
            </a:extLst>
          </p:cNvPr>
          <p:cNvPicPr>
            <a:picLocks noChangeAspect="1"/>
          </p:cNvPicPr>
          <p:nvPr/>
        </p:nvPicPr>
        <p:blipFill>
          <a:blip r:embed="rId2"/>
          <a:stretch>
            <a:fillRect/>
          </a:stretch>
        </p:blipFill>
        <p:spPr>
          <a:xfrm>
            <a:off x="8796030" y="1538979"/>
            <a:ext cx="2752001" cy="4500564"/>
          </a:xfrm>
          <a:prstGeom prst="rect">
            <a:avLst/>
          </a:prstGeom>
        </p:spPr>
      </p:pic>
    </p:spTree>
    <p:extLst>
      <p:ext uri="{BB962C8B-B14F-4D97-AF65-F5344CB8AC3E}">
        <p14:creationId xmlns:p14="http://schemas.microsoft.com/office/powerpoint/2010/main" val="30407056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間接分岐予測</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kumimoji="1" lang="ja-JP" altLang="en-US" dirty="0"/>
              <a:t>間接分岐一般の予測</a:t>
            </a:r>
            <a:endParaRPr kumimoji="1" lang="en-US" altLang="ja-JP" dirty="0"/>
          </a:p>
          <a:p>
            <a:pPr marL="457200" indent="-457200">
              <a:buFont typeface="+mj-lt"/>
              <a:buAutoNum type="arabicPeriod"/>
            </a:pPr>
            <a:r>
              <a:rPr lang="ja-JP" altLang="en-US" b="1" dirty="0"/>
              <a:t>関数からの </a:t>
            </a:r>
            <a:r>
              <a:rPr lang="en-US" altLang="ja-JP" b="1" dirty="0"/>
              <a:t>return </a:t>
            </a:r>
            <a:r>
              <a:rPr lang="ja-JP" altLang="en-US" b="1" dirty="0"/>
              <a:t>の予測</a:t>
            </a:r>
            <a:endParaRPr kumimoji="1" lang="ja-JP" altLang="en-US" b="1" dirty="0"/>
          </a:p>
        </p:txBody>
      </p:sp>
    </p:spTree>
    <p:extLst>
      <p:ext uri="{BB962C8B-B14F-4D97-AF65-F5344CB8AC3E}">
        <p14:creationId xmlns:p14="http://schemas.microsoft.com/office/powerpoint/2010/main" val="32916886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関数からの </a:t>
            </a:r>
            <a:r>
              <a:rPr lang="en-US" altLang="ja-JP" dirty="0"/>
              <a:t>return </a:t>
            </a:r>
            <a:r>
              <a:rPr lang="ja-JP" altLang="en-US" dirty="0"/>
              <a:t>の予測</a:t>
            </a:r>
            <a:endParaRPr kumimoji="1" lang="ja-JP" altLang="en-US" dirty="0"/>
          </a:p>
        </p:txBody>
      </p:sp>
      <p:sp>
        <p:nvSpPr>
          <p:cNvPr id="3" name="テキスト プレースホルダー 2"/>
          <p:cNvSpPr>
            <a:spLocks noGrp="1"/>
          </p:cNvSpPr>
          <p:nvPr>
            <p:ph type="body" sz="quarter" idx="10"/>
          </p:nvPr>
        </p:nvSpPr>
        <p:spPr/>
        <p:txBody>
          <a:bodyPr/>
          <a:lstStyle/>
          <a:p>
            <a:r>
              <a:rPr kumimoji="1" lang="ja-JP" altLang="en-US" dirty="0"/>
              <a:t>関数の </a:t>
            </a:r>
            <a:r>
              <a:rPr kumimoji="1" lang="en-US" altLang="ja-JP" dirty="0"/>
              <a:t>call </a:t>
            </a:r>
          </a:p>
          <a:p>
            <a:pPr lvl="1"/>
            <a:r>
              <a:rPr kumimoji="1" lang="ja-JP" altLang="en-US" dirty="0"/>
              <a:t>関数の先頭アドレスは固定</a:t>
            </a:r>
            <a:endParaRPr kumimoji="1" lang="en-US" altLang="ja-JP" dirty="0"/>
          </a:p>
          <a:p>
            <a:pPr lvl="1"/>
            <a:r>
              <a:rPr kumimoji="1" lang="ja-JP" altLang="en-US" dirty="0"/>
              <a:t>したがって，飛び先も固定</a:t>
            </a:r>
            <a:endParaRPr kumimoji="1" lang="en-US" altLang="ja-JP" dirty="0"/>
          </a:p>
          <a:p>
            <a:r>
              <a:rPr kumimoji="1" lang="ja-JP" altLang="en-US" dirty="0"/>
              <a:t>関数からの </a:t>
            </a:r>
            <a:r>
              <a:rPr kumimoji="1" lang="en-US" altLang="ja-JP" dirty="0"/>
              <a:t>return</a:t>
            </a:r>
          </a:p>
          <a:p>
            <a:pPr lvl="1"/>
            <a:r>
              <a:rPr kumimoji="1" lang="ja-JP" altLang="en-US" dirty="0"/>
              <a:t>同じ関数でも，呼び出し元は無数に存在</a:t>
            </a:r>
            <a:endParaRPr kumimoji="1" lang="en-US" altLang="ja-JP" dirty="0"/>
          </a:p>
          <a:p>
            <a:pPr lvl="1"/>
            <a:r>
              <a:rPr kumimoji="1" lang="ja-JP" altLang="en-US" dirty="0"/>
              <a:t>直前に実行された </a:t>
            </a:r>
            <a:r>
              <a:rPr kumimoji="1" lang="en-US" altLang="ja-JP" dirty="0"/>
              <a:t>call </a:t>
            </a:r>
            <a:r>
              <a:rPr kumimoji="1" lang="ja-JP" altLang="en-US" dirty="0"/>
              <a:t>に戻ると期待できる</a:t>
            </a:r>
            <a:endParaRPr kumimoji="1" lang="en-US" altLang="ja-JP" dirty="0"/>
          </a:p>
          <a:p>
            <a:r>
              <a:rPr kumimoji="1" lang="ja-JP" altLang="en-US" dirty="0"/>
              <a:t>上記の性質を使って，</a:t>
            </a:r>
            <a:r>
              <a:rPr kumimoji="1" lang="en-US" altLang="ja-JP" dirty="0"/>
              <a:t>return </a:t>
            </a:r>
            <a:r>
              <a:rPr kumimoji="1" lang="ja-JP" altLang="en-US" dirty="0"/>
              <a:t>は高精度に予測できる</a:t>
            </a:r>
          </a:p>
        </p:txBody>
      </p:sp>
    </p:spTree>
    <p:extLst>
      <p:ext uri="{BB962C8B-B14F-4D97-AF65-F5344CB8AC3E}">
        <p14:creationId xmlns:p14="http://schemas.microsoft.com/office/powerpoint/2010/main" val="14035070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Return Address Stack (RAS) </a:t>
            </a:r>
            <a:r>
              <a:rPr kumimoji="1" lang="ja-JP" altLang="en-US" dirty="0"/>
              <a:t>を使った予測</a:t>
            </a:r>
          </a:p>
        </p:txBody>
      </p:sp>
      <p:sp>
        <p:nvSpPr>
          <p:cNvPr id="3" name="テキスト プレースホルダー 2"/>
          <p:cNvSpPr>
            <a:spLocks noGrp="1"/>
          </p:cNvSpPr>
          <p:nvPr>
            <p:ph type="body" sz="quarter" idx="10"/>
          </p:nvPr>
        </p:nvSpPr>
        <p:spPr/>
        <p:txBody>
          <a:bodyPr/>
          <a:lstStyle/>
          <a:p>
            <a:r>
              <a:rPr kumimoji="1" lang="ja-JP" altLang="en-US" dirty="0"/>
              <a:t>使用する構造：</a:t>
            </a:r>
            <a:endParaRPr kumimoji="1" lang="en-US" altLang="ja-JP" dirty="0"/>
          </a:p>
          <a:p>
            <a:pPr lvl="1"/>
            <a:r>
              <a:rPr kumimoji="1" lang="en-US" altLang="ja-JP" dirty="0"/>
              <a:t>RAS</a:t>
            </a:r>
            <a:r>
              <a:rPr kumimoji="1" lang="ja-JP" altLang="en-US" dirty="0"/>
              <a:t>：</a:t>
            </a:r>
            <a:endParaRPr kumimoji="1" lang="en-US" altLang="ja-JP" dirty="0"/>
          </a:p>
          <a:p>
            <a:pPr lvl="2"/>
            <a:r>
              <a:rPr kumimoji="1" lang="ja-JP" altLang="en-US" dirty="0"/>
              <a:t>関数の呼び出し元を格納するスタック</a:t>
            </a:r>
            <a:endParaRPr kumimoji="1" lang="en-US" altLang="ja-JP" dirty="0"/>
          </a:p>
          <a:p>
            <a:pPr lvl="1"/>
            <a:r>
              <a:rPr kumimoji="1" lang="en-US" altLang="ja-JP" dirty="0"/>
              <a:t>BTB</a:t>
            </a:r>
            <a:r>
              <a:rPr kumimoji="1" lang="ja-JP" altLang="en-US" dirty="0"/>
              <a:t>：</a:t>
            </a:r>
            <a:endParaRPr kumimoji="1" lang="en-US" altLang="ja-JP" dirty="0"/>
          </a:p>
          <a:p>
            <a:pPr lvl="2"/>
            <a:r>
              <a:rPr lang="en-US" altLang="ja-JP" dirty="0"/>
              <a:t>BTB </a:t>
            </a:r>
            <a:r>
              <a:rPr lang="ja-JP" altLang="en-US" dirty="0"/>
              <a:t>の「分岐の種類」を表すビットを拡張</a:t>
            </a:r>
            <a:endParaRPr lang="en-US" altLang="ja-JP" dirty="0"/>
          </a:p>
          <a:p>
            <a:pPr lvl="3"/>
            <a:r>
              <a:rPr kumimoji="1" lang="ja-JP" altLang="en-US" dirty="0"/>
              <a:t>関数コール </a:t>
            </a:r>
            <a:r>
              <a:rPr kumimoji="1" lang="en-US" altLang="ja-JP" dirty="0"/>
              <a:t>or </a:t>
            </a:r>
            <a:r>
              <a:rPr kumimoji="1" lang="ja-JP" altLang="en-US" dirty="0"/>
              <a:t>リターンであることを記録</a:t>
            </a:r>
            <a:endParaRPr kumimoji="1" lang="en-US" altLang="ja-JP" dirty="0"/>
          </a:p>
          <a:p>
            <a:pPr lvl="3"/>
            <a:r>
              <a:rPr kumimoji="1" lang="ja-JP" altLang="en-US" dirty="0"/>
              <a:t>デコードするまで，関数呼び出しであることはわからない</a:t>
            </a:r>
            <a:endParaRPr kumimoji="1" lang="en-US" altLang="ja-JP" dirty="0"/>
          </a:p>
          <a:p>
            <a:r>
              <a:rPr kumimoji="1" lang="ja-JP" altLang="en-US" dirty="0"/>
              <a:t>動作：</a:t>
            </a:r>
            <a:endParaRPr kumimoji="1" lang="en-US" altLang="ja-JP" dirty="0"/>
          </a:p>
          <a:p>
            <a:pPr lvl="1"/>
            <a:r>
              <a:rPr lang="en-US" altLang="ja-JP" dirty="0"/>
              <a:t>BTB </a:t>
            </a:r>
            <a:r>
              <a:rPr lang="ja-JP" altLang="en-US" dirty="0"/>
              <a:t>引きの結果が関数コール：</a:t>
            </a:r>
            <a:endParaRPr lang="en-US" altLang="ja-JP" dirty="0"/>
          </a:p>
          <a:p>
            <a:pPr lvl="2"/>
            <a:r>
              <a:rPr lang="ja-JP" altLang="en-US" dirty="0"/>
              <a:t>スタックにその時の </a:t>
            </a:r>
            <a:r>
              <a:rPr lang="en-US" altLang="ja-JP" dirty="0"/>
              <a:t>PC + 4</a:t>
            </a:r>
            <a:r>
              <a:rPr lang="ja-JP" altLang="en-US" dirty="0"/>
              <a:t>（戻り先）を積む</a:t>
            </a:r>
            <a:endParaRPr lang="en-US" altLang="ja-JP" dirty="0"/>
          </a:p>
          <a:p>
            <a:pPr lvl="1"/>
            <a:r>
              <a:rPr kumimoji="1" lang="en-US" altLang="ja-JP" dirty="0"/>
              <a:t>BTB </a:t>
            </a:r>
            <a:r>
              <a:rPr kumimoji="1" lang="ja-JP" altLang="en-US" dirty="0"/>
              <a:t>引きの結果がリターン：</a:t>
            </a:r>
            <a:endParaRPr kumimoji="1" lang="en-US" altLang="ja-JP" dirty="0"/>
          </a:p>
          <a:p>
            <a:pPr lvl="2"/>
            <a:r>
              <a:rPr kumimoji="1" lang="ja-JP" altLang="en-US" dirty="0"/>
              <a:t>スタックのトップを読んで，そこに戻ると予測</a:t>
            </a:r>
          </a:p>
        </p:txBody>
      </p:sp>
    </p:spTree>
    <p:extLst>
      <p:ext uri="{BB962C8B-B14F-4D97-AF65-F5344CB8AC3E}">
        <p14:creationId xmlns:p14="http://schemas.microsoft.com/office/powerpoint/2010/main" val="31944741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CA8C653C-0466-63D4-07A2-D89CD70B3969}"/>
              </a:ext>
            </a:extLst>
          </p:cNvPr>
          <p:cNvSpPr>
            <a:spLocks noGrp="1"/>
          </p:cNvSpPr>
          <p:nvPr>
            <p:ph type="title"/>
          </p:nvPr>
        </p:nvSpPr>
        <p:spPr/>
        <p:txBody>
          <a:bodyPr/>
          <a:lstStyle/>
          <a:p>
            <a:r>
              <a:rPr lang="ja-JP" altLang="en-US" dirty="0"/>
              <a:t>高度な方向予測器</a:t>
            </a:r>
          </a:p>
        </p:txBody>
      </p:sp>
    </p:spTree>
    <p:extLst>
      <p:ext uri="{BB962C8B-B14F-4D97-AF65-F5344CB8AC3E}">
        <p14:creationId xmlns:p14="http://schemas.microsoft.com/office/powerpoint/2010/main" val="8231184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高度な分岐方向予測</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kumimoji="1" lang="ja-JP" altLang="en-US" dirty="0">
                <a:solidFill>
                  <a:schemeClr val="accent5"/>
                </a:solidFill>
              </a:rPr>
              <a:t>履歴を用いた</a:t>
            </a:r>
            <a:r>
              <a:rPr lang="ja-JP" altLang="en-US" dirty="0">
                <a:solidFill>
                  <a:schemeClr val="accent5"/>
                </a:solidFill>
              </a:rPr>
              <a:t>方向予測器</a:t>
            </a:r>
            <a:endParaRPr kumimoji="1" lang="en-US" altLang="ja-JP" dirty="0">
              <a:solidFill>
                <a:schemeClr val="accent5"/>
              </a:solidFill>
            </a:endParaRPr>
          </a:p>
          <a:p>
            <a:pPr marL="817200" lvl="1" indent="-457200">
              <a:buFont typeface="+mj-lt"/>
              <a:buAutoNum type="arabicPeriod"/>
            </a:pPr>
            <a:r>
              <a:rPr kumimoji="1" lang="ja-JP" altLang="en-US" dirty="0"/>
              <a:t>ローカル履歴予測</a:t>
            </a:r>
            <a:r>
              <a:rPr lang="ja-JP" altLang="en-US" dirty="0"/>
              <a:t>器</a:t>
            </a:r>
            <a:endParaRPr kumimoji="1" lang="en-US" altLang="ja-JP" dirty="0"/>
          </a:p>
          <a:p>
            <a:pPr marL="817200" lvl="1" indent="-457200">
              <a:buFont typeface="+mj-lt"/>
              <a:buAutoNum type="arabicPeriod"/>
            </a:pPr>
            <a:r>
              <a:rPr kumimoji="1" lang="ja-JP" altLang="en-US" dirty="0"/>
              <a:t>グローバル履歴</a:t>
            </a:r>
            <a:r>
              <a:rPr lang="ja-JP" altLang="en-US" dirty="0"/>
              <a:t>予測器</a:t>
            </a:r>
            <a:endParaRPr lang="en-US" altLang="ja-JP" dirty="0"/>
          </a:p>
          <a:p>
            <a:pPr marL="1177200" lvl="2" indent="-457200">
              <a:buFont typeface="+mj-lt"/>
              <a:buAutoNum type="arabicPeriod"/>
            </a:pPr>
            <a:r>
              <a:rPr lang="en-US" altLang="ja-JP" dirty="0"/>
              <a:t>g-share </a:t>
            </a:r>
            <a:r>
              <a:rPr lang="ja-JP" altLang="en-US" dirty="0"/>
              <a:t>予測器</a:t>
            </a:r>
            <a:endParaRPr lang="en-US" altLang="ja-JP" dirty="0"/>
          </a:p>
          <a:p>
            <a:pPr marL="457200" indent="-457200">
              <a:buFont typeface="+mj-lt"/>
              <a:buAutoNum type="arabicPeriod"/>
            </a:pPr>
            <a:r>
              <a:rPr lang="ja-JP" altLang="en-US" dirty="0"/>
              <a:t>より高度な履歴を用いた予測器</a:t>
            </a:r>
            <a:endParaRPr lang="en-US" altLang="ja-JP" dirty="0"/>
          </a:p>
          <a:p>
            <a:pPr marL="817200" lvl="1" indent="-457200">
              <a:buFont typeface="+mj-lt"/>
              <a:buAutoNum type="arabicPeriod"/>
            </a:pPr>
            <a:r>
              <a:rPr kumimoji="1" lang="ja-JP" altLang="en-US" dirty="0"/>
              <a:t>パーセプト</a:t>
            </a:r>
            <a:r>
              <a:rPr lang="ja-JP" altLang="en-US" dirty="0"/>
              <a:t>ロン 予測器</a:t>
            </a:r>
            <a:endParaRPr kumimoji="1" lang="en-US" altLang="ja-JP" dirty="0"/>
          </a:p>
          <a:p>
            <a:pPr marL="817200" lvl="1" indent="-457200">
              <a:buFont typeface="+mj-lt"/>
              <a:buAutoNum type="arabicPeriod"/>
            </a:pPr>
            <a:r>
              <a:rPr lang="en-US" altLang="ja-JP" dirty="0"/>
              <a:t>TAGE </a:t>
            </a:r>
            <a:r>
              <a:rPr lang="ja-JP" altLang="en-US" dirty="0"/>
              <a:t>予測器</a:t>
            </a:r>
            <a:endParaRPr lang="en-US" altLang="ja-JP" dirty="0"/>
          </a:p>
          <a:p>
            <a:pPr marL="817200" lvl="1" indent="-457200">
              <a:buFont typeface="+mj-lt"/>
              <a:buAutoNum type="arabicPeriod"/>
            </a:pPr>
            <a:r>
              <a:rPr kumimoji="1" lang="en-US" altLang="ja-JP" dirty="0"/>
              <a:t>RUNLTS</a:t>
            </a:r>
            <a:r>
              <a:rPr lang="en-US" altLang="ja-JP" dirty="0"/>
              <a:t> </a:t>
            </a:r>
            <a:r>
              <a:rPr lang="ja-JP" altLang="en-US" dirty="0"/>
              <a:t>予測器</a:t>
            </a:r>
            <a:endParaRPr kumimoji="1" lang="en-US" altLang="ja-JP" dirty="0"/>
          </a:p>
        </p:txBody>
      </p:sp>
    </p:spTree>
    <p:extLst>
      <p:ext uri="{BB962C8B-B14F-4D97-AF65-F5344CB8AC3E}">
        <p14:creationId xmlns:p14="http://schemas.microsoft.com/office/powerpoint/2010/main" val="5420131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N </a:t>
            </a:r>
            <a:r>
              <a:rPr kumimoji="1" lang="ja-JP" altLang="en-US" dirty="0"/>
              <a:t>ビット・カウンタ予測器の問題</a:t>
            </a:r>
          </a:p>
        </p:txBody>
      </p:sp>
      <p:sp>
        <p:nvSpPr>
          <p:cNvPr id="3" name="テキスト プレースホルダー 2"/>
          <p:cNvSpPr>
            <a:spLocks noGrp="1"/>
          </p:cNvSpPr>
          <p:nvPr>
            <p:ph type="body" sz="quarter" idx="10"/>
          </p:nvPr>
        </p:nvSpPr>
        <p:spPr>
          <a:xfrm>
            <a:off x="2135956" y="2708993"/>
            <a:ext cx="8280092" cy="3599733"/>
          </a:xfrm>
        </p:spPr>
        <p:txBody>
          <a:bodyPr/>
          <a:lstStyle/>
          <a:p>
            <a:r>
              <a:rPr kumimoji="1" lang="ja-JP" altLang="en-US" dirty="0"/>
              <a:t>動的に分岐の方向が頻繁に変わるものに対応できない</a:t>
            </a:r>
            <a:endParaRPr kumimoji="1" lang="en-US" altLang="ja-JP" dirty="0"/>
          </a:p>
          <a:p>
            <a:r>
              <a:rPr kumimoji="1" lang="ja-JP" altLang="en-US" dirty="0"/>
              <a:t>例：</a:t>
            </a:r>
            <a:r>
              <a:rPr kumimoji="1" lang="en-US" altLang="ja-JP" dirty="0"/>
              <a:t>4</a:t>
            </a:r>
            <a:r>
              <a:rPr kumimoji="1" lang="ja-JP" altLang="en-US" dirty="0"/>
              <a:t>回まわる </a:t>
            </a:r>
            <a:r>
              <a:rPr kumimoji="1" lang="en-US" altLang="ja-JP" dirty="0"/>
              <a:t>for </a:t>
            </a:r>
            <a:r>
              <a:rPr kumimoji="1" lang="ja-JP" altLang="en-US" dirty="0"/>
              <a:t>ループ</a:t>
            </a:r>
            <a:endParaRPr kumimoji="1" lang="en-US" altLang="ja-JP" dirty="0"/>
          </a:p>
          <a:p>
            <a:pPr lvl="1"/>
            <a:r>
              <a:rPr lang="en-US" altLang="ja-JP" dirty="0"/>
              <a:t>4 </a:t>
            </a:r>
            <a:r>
              <a:rPr lang="ja-JP" altLang="en-US" dirty="0"/>
              <a:t>回のうち３回は成立，１回が不成立となる</a:t>
            </a:r>
            <a:endParaRPr kumimoji="1" lang="en-US" altLang="ja-JP" dirty="0"/>
          </a:p>
          <a:p>
            <a:pPr lvl="1"/>
            <a:r>
              <a:rPr lang="en-US" altLang="ja-JP" dirty="0"/>
              <a:t>TTT</a:t>
            </a:r>
            <a:r>
              <a:rPr lang="en-US" altLang="ja-JP" dirty="0">
                <a:solidFill>
                  <a:schemeClr val="accent5"/>
                </a:solidFill>
              </a:rPr>
              <a:t>F</a:t>
            </a:r>
            <a:r>
              <a:rPr lang="en-US" altLang="ja-JP" dirty="0"/>
              <a:t>TTT</a:t>
            </a:r>
            <a:r>
              <a:rPr lang="en-US" altLang="ja-JP" dirty="0">
                <a:solidFill>
                  <a:schemeClr val="accent5"/>
                </a:solidFill>
              </a:rPr>
              <a:t>F</a:t>
            </a:r>
            <a:r>
              <a:rPr lang="en-US" altLang="ja-JP" dirty="0"/>
              <a:t>TTT</a:t>
            </a:r>
            <a:r>
              <a:rPr lang="en-US" altLang="ja-JP" dirty="0">
                <a:solidFill>
                  <a:schemeClr val="accent5"/>
                </a:solidFill>
              </a:rPr>
              <a:t>F</a:t>
            </a:r>
            <a:r>
              <a:rPr lang="en-US" altLang="ja-JP" dirty="0"/>
              <a:t>TTT...</a:t>
            </a:r>
          </a:p>
          <a:p>
            <a:pPr lvl="1"/>
            <a:r>
              <a:rPr kumimoji="1" lang="ja-JP" altLang="en-US" dirty="0"/>
              <a:t>２ビット・カウンタ予測器の精度は </a:t>
            </a:r>
            <a:r>
              <a:rPr kumimoji="1" lang="en-US" altLang="ja-JP" dirty="0"/>
              <a:t>3/4 = 75% </a:t>
            </a:r>
            <a:r>
              <a:rPr kumimoji="1" lang="ja-JP" altLang="en-US" dirty="0"/>
              <a:t>に</a:t>
            </a:r>
            <a:endParaRPr kumimoji="1" lang="en-US" altLang="ja-JP" dirty="0"/>
          </a:p>
          <a:p>
            <a:r>
              <a:rPr kumimoji="1" lang="ja-JP" altLang="en-US" dirty="0"/>
              <a:t>モチベーション：</a:t>
            </a:r>
            <a:endParaRPr kumimoji="1" lang="en-US" altLang="ja-JP" dirty="0"/>
          </a:p>
          <a:p>
            <a:pPr lvl="1"/>
            <a:r>
              <a:rPr kumimoji="1" lang="ja-JP" altLang="en-US" dirty="0"/>
              <a:t>しかし明らかに規則性があるので，なんとか予測できないか</a:t>
            </a:r>
            <a:r>
              <a:rPr lang="ja-JP" altLang="en-US" dirty="0"/>
              <a:t>？</a:t>
            </a:r>
            <a:endParaRPr kumimoji="1" lang="ja-JP" altLang="en-US" dirty="0"/>
          </a:p>
        </p:txBody>
      </p:sp>
      <p:sp>
        <p:nvSpPr>
          <p:cNvPr id="4" name="正方形/長方形 3"/>
          <p:cNvSpPr/>
          <p:nvPr/>
        </p:nvSpPr>
        <p:spPr>
          <a:xfrm>
            <a:off x="4115978" y="1808982"/>
            <a:ext cx="3960044" cy="757130"/>
          </a:xfrm>
          <a:prstGeom prst="rect">
            <a:avLst/>
          </a:prstGeom>
        </p:spPr>
        <p:txBody>
          <a:bodyPr wrap="square">
            <a:spAutoFit/>
          </a:bodyPr>
          <a:lstStyle/>
          <a:p>
            <a:pPr>
              <a:lnSpc>
                <a:spcPct val="80000"/>
              </a:lnSpc>
            </a:pPr>
            <a:r>
              <a:rPr lang="en-US" altLang="ja-JP" dirty="0">
                <a:solidFill>
                  <a:schemeClr val="accent1"/>
                </a:solidFill>
                <a:latin typeface="Consolas" panose="020B0609020204030204" pitchFamily="49" charset="0"/>
              </a:rPr>
              <a:t>for</a:t>
            </a:r>
            <a:r>
              <a:rPr lang="en-US" altLang="ja-JP" dirty="0">
                <a:solidFill>
                  <a:schemeClr val="tx1">
                    <a:lumMod val="75000"/>
                    <a:lumOff val="25000"/>
                  </a:schemeClr>
                </a:solidFill>
                <a:latin typeface="Consolas" panose="020B0609020204030204" pitchFamily="49" charset="0"/>
              </a:rPr>
              <a:t> (</a:t>
            </a:r>
            <a:r>
              <a:rPr lang="en-US" altLang="ja-JP" dirty="0" err="1">
                <a:solidFill>
                  <a:schemeClr val="tx1">
                    <a:lumMod val="75000"/>
                    <a:lumOff val="25000"/>
                  </a:schemeClr>
                </a:solidFill>
                <a:latin typeface="Consolas" panose="020B0609020204030204" pitchFamily="49" charset="0"/>
              </a:rPr>
              <a:t>i</a:t>
            </a:r>
            <a:r>
              <a:rPr lang="en-US" altLang="ja-JP" dirty="0">
                <a:solidFill>
                  <a:schemeClr val="tx1">
                    <a:lumMod val="75000"/>
                    <a:lumOff val="25000"/>
                  </a:schemeClr>
                </a:solidFill>
                <a:latin typeface="Consolas" panose="020B0609020204030204" pitchFamily="49" charset="0"/>
              </a:rPr>
              <a:t> = 0; </a:t>
            </a:r>
            <a:r>
              <a:rPr lang="en-US" altLang="ja-JP" dirty="0" err="1">
                <a:solidFill>
                  <a:schemeClr val="tx1">
                    <a:lumMod val="75000"/>
                    <a:lumOff val="25000"/>
                  </a:schemeClr>
                </a:solidFill>
                <a:latin typeface="Consolas" panose="020B0609020204030204" pitchFamily="49" charset="0"/>
              </a:rPr>
              <a:t>i</a:t>
            </a:r>
            <a:r>
              <a:rPr lang="en-US" altLang="ja-JP" dirty="0">
                <a:solidFill>
                  <a:schemeClr val="tx1">
                    <a:lumMod val="75000"/>
                    <a:lumOff val="25000"/>
                  </a:schemeClr>
                </a:solidFill>
                <a:latin typeface="Consolas" panose="020B0609020204030204" pitchFamily="49" charset="0"/>
              </a:rPr>
              <a:t> &lt; 4; </a:t>
            </a:r>
            <a:r>
              <a:rPr lang="en-US" altLang="ja-JP" dirty="0" err="1">
                <a:solidFill>
                  <a:schemeClr val="tx1">
                    <a:lumMod val="75000"/>
                    <a:lumOff val="25000"/>
                  </a:schemeClr>
                </a:solidFill>
                <a:latin typeface="Consolas" panose="020B0609020204030204" pitchFamily="49" charset="0"/>
              </a:rPr>
              <a:t>i</a:t>
            </a:r>
            <a:r>
              <a:rPr lang="en-US" altLang="ja-JP" dirty="0">
                <a:solidFill>
                  <a:schemeClr val="tx1">
                    <a:lumMod val="75000"/>
                    <a:lumOff val="25000"/>
                  </a:schemeClr>
                </a:solidFill>
                <a:latin typeface="Consolas" panose="020B0609020204030204" pitchFamily="49" charset="0"/>
              </a:rPr>
              <a:t>++) {</a:t>
            </a:r>
          </a:p>
          <a:p>
            <a:pPr>
              <a:lnSpc>
                <a:spcPct val="80000"/>
              </a:lnSpc>
            </a:pPr>
            <a:r>
              <a:rPr lang="en-US" altLang="ja-JP" dirty="0">
                <a:solidFill>
                  <a:schemeClr val="tx1">
                    <a:lumMod val="75000"/>
                    <a:lumOff val="25000"/>
                  </a:schemeClr>
                </a:solidFill>
                <a:latin typeface="Consolas" panose="020B0609020204030204" pitchFamily="49" charset="0"/>
              </a:rPr>
              <a:t>    ...</a:t>
            </a:r>
          </a:p>
          <a:p>
            <a:pPr>
              <a:lnSpc>
                <a:spcPct val="80000"/>
              </a:lnSpc>
            </a:pPr>
            <a:r>
              <a:rPr lang="en-US" altLang="ja-JP" dirty="0">
                <a:solidFill>
                  <a:schemeClr val="tx1">
                    <a:lumMod val="75000"/>
                    <a:lumOff val="25000"/>
                  </a:schemeClr>
                </a:solidFill>
                <a:latin typeface="Consolas" panose="020B0609020204030204" pitchFamily="49" charset="0"/>
              </a:rPr>
              <a:t>}</a:t>
            </a:r>
          </a:p>
        </p:txBody>
      </p:sp>
    </p:spTree>
    <p:extLst>
      <p:ext uri="{BB962C8B-B14F-4D97-AF65-F5344CB8AC3E}">
        <p14:creationId xmlns:p14="http://schemas.microsoft.com/office/powerpoint/2010/main" val="24126376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正方形/長方形 26"/>
          <p:cNvSpPr/>
          <p:nvPr/>
        </p:nvSpPr>
        <p:spPr bwMode="auto">
          <a:xfrm>
            <a:off x="7806019" y="5949029"/>
            <a:ext cx="720008" cy="270003"/>
          </a:xfrm>
          <a:prstGeom prst="rect">
            <a:avLst/>
          </a:prstGeom>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0" tIns="36000" rIns="0" bIns="0" numCol="1" spcCol="0" rtlCol="0" fromWordArt="0" anchor="ctr" anchorCtr="0" forceAA="0" compatLnSpc="1">
            <a:prstTxWarp prst="textNoShape">
              <a:avLst/>
            </a:prstTxWarp>
            <a:noAutofit/>
          </a:bodyPr>
          <a:lstStyle/>
          <a:p>
            <a:pPr algn="ctr"/>
            <a:r>
              <a:rPr lang="en-US" altLang="ja-JP" dirty="0">
                <a:solidFill>
                  <a:schemeClr val="tx1">
                    <a:lumMod val="65000"/>
                    <a:lumOff val="35000"/>
                  </a:schemeClr>
                </a:solidFill>
                <a:latin typeface="+mn-ea"/>
              </a:rPr>
              <a:t>00</a:t>
            </a:r>
            <a:endParaRPr lang="ja-JP" altLang="en-US" dirty="0">
              <a:solidFill>
                <a:schemeClr val="tx1">
                  <a:lumMod val="65000"/>
                  <a:lumOff val="35000"/>
                </a:schemeClr>
              </a:solidFill>
              <a:latin typeface="+mn-ea"/>
            </a:endParaRPr>
          </a:p>
        </p:txBody>
      </p:sp>
      <p:sp>
        <p:nvSpPr>
          <p:cNvPr id="23" name="正方形/長方形 22"/>
          <p:cNvSpPr/>
          <p:nvPr/>
        </p:nvSpPr>
        <p:spPr bwMode="auto">
          <a:xfrm>
            <a:off x="6366004" y="4298529"/>
            <a:ext cx="1200495" cy="450005"/>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r"/>
            <a:endParaRPr lang="ja-JP" altLang="en-US" dirty="0">
              <a:solidFill>
                <a:schemeClr val="tx1">
                  <a:lumMod val="75000"/>
                  <a:lumOff val="25000"/>
                </a:schemeClr>
              </a:solidFill>
              <a:latin typeface="+mn-ea"/>
            </a:endParaRPr>
          </a:p>
        </p:txBody>
      </p:sp>
      <p:sp>
        <p:nvSpPr>
          <p:cNvPr id="21" name="正方形/長方形 20"/>
          <p:cNvSpPr/>
          <p:nvPr/>
        </p:nvSpPr>
        <p:spPr bwMode="auto">
          <a:xfrm>
            <a:off x="3935977" y="4298529"/>
            <a:ext cx="270004" cy="450005"/>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r"/>
            <a:endParaRPr lang="ja-JP" altLang="en-US" dirty="0">
              <a:solidFill>
                <a:schemeClr val="tx1">
                  <a:lumMod val="75000"/>
                  <a:lumOff val="25000"/>
                </a:schemeClr>
              </a:solidFill>
              <a:latin typeface="+mn-ea"/>
            </a:endParaRPr>
          </a:p>
        </p:txBody>
      </p:sp>
      <p:sp>
        <p:nvSpPr>
          <p:cNvPr id="13" name="正方形/長方形 12"/>
          <p:cNvSpPr/>
          <p:nvPr/>
        </p:nvSpPr>
        <p:spPr bwMode="auto">
          <a:xfrm>
            <a:off x="2765963" y="4298529"/>
            <a:ext cx="1170014" cy="450005"/>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r"/>
            <a:endParaRPr lang="ja-JP" altLang="en-US" dirty="0">
              <a:solidFill>
                <a:schemeClr val="tx1">
                  <a:lumMod val="75000"/>
                  <a:lumOff val="25000"/>
                </a:schemeClr>
              </a:solidFill>
              <a:latin typeface="+mn-ea"/>
            </a:endParaRPr>
          </a:p>
        </p:txBody>
      </p:sp>
      <p:sp>
        <p:nvSpPr>
          <p:cNvPr id="2" name="タイトル 1"/>
          <p:cNvSpPr>
            <a:spLocks noGrp="1"/>
          </p:cNvSpPr>
          <p:nvPr>
            <p:ph type="title"/>
          </p:nvPr>
        </p:nvSpPr>
        <p:spPr/>
        <p:txBody>
          <a:bodyPr/>
          <a:lstStyle/>
          <a:p>
            <a:r>
              <a:rPr lang="ja-JP" altLang="en-US" dirty="0"/>
              <a:t>「履歴（</a:t>
            </a:r>
            <a:r>
              <a:rPr lang="en-US" altLang="ja-JP" dirty="0"/>
              <a:t>history</a:t>
            </a:r>
            <a:r>
              <a:rPr lang="ja-JP" altLang="en-US" dirty="0"/>
              <a:t>）」を用いた予測器</a:t>
            </a:r>
            <a:endParaRPr lang="en-US" altLang="ja-JP" dirty="0"/>
          </a:p>
        </p:txBody>
      </p:sp>
      <p:sp>
        <p:nvSpPr>
          <p:cNvPr id="5" name="テキスト プレースホルダー 4"/>
          <p:cNvSpPr>
            <a:spLocks noGrp="1"/>
          </p:cNvSpPr>
          <p:nvPr>
            <p:ph type="body" sz="quarter" idx="10"/>
          </p:nvPr>
        </p:nvSpPr>
        <p:spPr>
          <a:xfrm>
            <a:off x="2135957" y="1628981"/>
            <a:ext cx="8640095" cy="1260013"/>
          </a:xfrm>
        </p:spPr>
        <p:txBody>
          <a:bodyPr/>
          <a:lstStyle/>
          <a:p>
            <a:r>
              <a:rPr lang="ja-JP" altLang="en-US" sz="1800" dirty="0"/>
              <a:t>基本的なアイデア：</a:t>
            </a:r>
            <a:r>
              <a:rPr lang="ja-JP" altLang="en-US" sz="1800" dirty="0">
                <a:solidFill>
                  <a:schemeClr val="accent5"/>
                </a:solidFill>
              </a:rPr>
              <a:t>分岐方向の履歴をビット列で表す</a:t>
            </a:r>
            <a:endParaRPr lang="en-US" altLang="ja-JP" sz="1800" dirty="0">
              <a:solidFill>
                <a:schemeClr val="accent5"/>
              </a:solidFill>
            </a:endParaRPr>
          </a:p>
          <a:p>
            <a:pPr lvl="1"/>
            <a:r>
              <a:rPr lang="ja-JP" altLang="en-US" sz="1800" dirty="0">
                <a:solidFill>
                  <a:schemeClr val="accent5"/>
                </a:solidFill>
              </a:rPr>
              <a:t>履歴のビット列をインデクスとして</a:t>
            </a:r>
            <a:r>
              <a:rPr lang="ja-JP" altLang="en-US" sz="1800" dirty="0"/>
              <a:t>テーブルにアクセス</a:t>
            </a:r>
            <a:endParaRPr lang="en-US" altLang="ja-JP" sz="1800" dirty="0"/>
          </a:p>
          <a:p>
            <a:pPr lvl="2"/>
            <a:r>
              <a:rPr kumimoji="1" lang="ja-JP" altLang="en-US" sz="1800" dirty="0"/>
              <a:t>テーブル自体は，２ビットカウンタ</a:t>
            </a:r>
            <a:endParaRPr kumimoji="1" lang="en-US" altLang="ja-JP" sz="1800" dirty="0"/>
          </a:p>
          <a:p>
            <a:pPr lvl="1"/>
            <a:r>
              <a:rPr lang="ja-JP" altLang="en-US" sz="1800" dirty="0"/>
              <a:t>直前の履歴でテーブルをひく</a:t>
            </a:r>
            <a:endParaRPr lang="en-US" altLang="ja-JP" sz="1800" dirty="0"/>
          </a:p>
          <a:p>
            <a:pPr lvl="2"/>
            <a:r>
              <a:rPr lang="ja-JP" altLang="en-US" sz="1800" dirty="0"/>
              <a:t>直前に同じパターンがくると，同じエントリにアクセス</a:t>
            </a:r>
            <a:endParaRPr lang="en-US" altLang="ja-JP" sz="1800" dirty="0"/>
          </a:p>
          <a:p>
            <a:pPr lvl="2"/>
            <a:r>
              <a:rPr kumimoji="1" lang="ja-JP" altLang="en-US" sz="1800" dirty="0"/>
              <a:t>二進数で </a:t>
            </a:r>
            <a:r>
              <a:rPr kumimoji="1" lang="en-US" altLang="ja-JP" sz="1800" dirty="0"/>
              <a:t>0011 = </a:t>
            </a:r>
            <a:r>
              <a:rPr kumimoji="1" lang="ja-JP" altLang="en-US" sz="1800" dirty="0"/>
              <a:t>表の</a:t>
            </a:r>
            <a:r>
              <a:rPr kumimoji="1" lang="en-US" altLang="ja-JP" sz="1800" dirty="0"/>
              <a:t>3</a:t>
            </a:r>
            <a:r>
              <a:rPr kumimoji="1" lang="ja-JP" altLang="en-US" sz="1800" dirty="0"/>
              <a:t>番目のエントリ</a:t>
            </a:r>
            <a:endParaRPr kumimoji="1" lang="en-US" altLang="ja-JP" sz="1800" dirty="0"/>
          </a:p>
          <a:p>
            <a:pPr lvl="1"/>
            <a:r>
              <a:rPr lang="ja-JP" altLang="en-US" sz="1800" dirty="0"/>
              <a:t>より一般化すると，履歴をハッシュ値にし方向とともに憶える（後述）</a:t>
            </a:r>
            <a:endParaRPr kumimoji="1" lang="ja-JP" altLang="en-US" sz="1800" dirty="0"/>
          </a:p>
        </p:txBody>
      </p:sp>
      <p:sp>
        <p:nvSpPr>
          <p:cNvPr id="4" name="正方形/長方形 3"/>
          <p:cNvSpPr/>
          <p:nvPr/>
        </p:nvSpPr>
        <p:spPr bwMode="auto">
          <a:xfrm>
            <a:off x="2045956" y="4298529"/>
            <a:ext cx="7110079" cy="450005"/>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2400" dirty="0">
                <a:solidFill>
                  <a:schemeClr val="tx1">
                    <a:lumMod val="65000"/>
                    <a:lumOff val="35000"/>
                  </a:schemeClr>
                </a:solidFill>
                <a:latin typeface="+mn-ea"/>
              </a:rPr>
              <a:t>１０００１１０１００１１１００</a:t>
            </a:r>
            <a:r>
              <a:rPr lang="en-US" altLang="ja-JP" sz="2400" dirty="0">
                <a:solidFill>
                  <a:schemeClr val="tx1">
                    <a:lumMod val="65000"/>
                    <a:lumOff val="35000"/>
                  </a:schemeClr>
                </a:solidFill>
                <a:latin typeface="+mn-ea"/>
              </a:rPr>
              <a:t>0</a:t>
            </a:r>
            <a:r>
              <a:rPr lang="ja-JP" altLang="en-US" sz="2400" dirty="0">
                <a:solidFill>
                  <a:schemeClr val="tx1">
                    <a:lumMod val="65000"/>
                    <a:lumOff val="35000"/>
                  </a:schemeClr>
                </a:solidFill>
                <a:latin typeface="+mn-ea"/>
              </a:rPr>
              <a:t>１１</a:t>
            </a:r>
          </a:p>
        </p:txBody>
      </p:sp>
      <p:sp>
        <p:nvSpPr>
          <p:cNvPr id="7" name="角丸四角形 6"/>
          <p:cNvSpPr/>
          <p:nvPr/>
        </p:nvSpPr>
        <p:spPr bwMode="auto">
          <a:xfrm>
            <a:off x="2045955" y="3668521"/>
            <a:ext cx="4680052" cy="360004"/>
          </a:xfrm>
          <a:prstGeom prst="roundRect">
            <a:avLst/>
          </a:prstGeom>
          <a:noFill/>
          <a:ln>
            <a:noFill/>
            <a:headEnd/>
            <a:tailEnd type="triangle" w="sm" len="med"/>
          </a:ln>
          <a:effectLst/>
        </p:spPr>
        <p:style>
          <a:lnRef idx="3">
            <a:schemeClr val="lt1"/>
          </a:lnRef>
          <a:fillRef idx="1">
            <a:schemeClr val="accent5"/>
          </a:fillRef>
          <a:effectRef idx="1">
            <a:schemeClr val="accent5"/>
          </a:effectRef>
          <a:fontRef idx="minor">
            <a:schemeClr val="lt1"/>
          </a:fontRef>
        </p:style>
        <p:txBody>
          <a:bodyPr wrap="none" rtlCol="0" anchor="ctr"/>
          <a:lstStyle/>
          <a:p>
            <a:r>
              <a:rPr lang="ja-JP" altLang="en-US" sz="2000" dirty="0">
                <a:solidFill>
                  <a:schemeClr val="tx1">
                    <a:lumMod val="75000"/>
                    <a:lumOff val="25000"/>
                  </a:schemeClr>
                </a:solidFill>
                <a:latin typeface="+mn-ea"/>
              </a:rPr>
              <a:t>履歴　成立：１　不成立</a:t>
            </a:r>
            <a:r>
              <a:rPr lang="en-US" altLang="ja-JP" sz="2000" dirty="0">
                <a:solidFill>
                  <a:schemeClr val="tx1">
                    <a:lumMod val="75000"/>
                    <a:lumOff val="25000"/>
                  </a:schemeClr>
                </a:solidFill>
                <a:latin typeface="+mn-ea"/>
              </a:rPr>
              <a:t>:</a:t>
            </a:r>
            <a:r>
              <a:rPr lang="ja-JP" altLang="en-US" sz="2000" dirty="0">
                <a:solidFill>
                  <a:schemeClr val="tx1">
                    <a:lumMod val="75000"/>
                    <a:lumOff val="25000"/>
                  </a:schemeClr>
                </a:solidFill>
                <a:latin typeface="+mn-ea"/>
              </a:rPr>
              <a:t>０</a:t>
            </a:r>
          </a:p>
        </p:txBody>
      </p:sp>
      <p:cxnSp>
        <p:nvCxnSpPr>
          <p:cNvPr id="20" name="直線矢印コネクタ 19"/>
          <p:cNvCxnSpPr/>
          <p:nvPr/>
        </p:nvCxnSpPr>
        <p:spPr bwMode="auto">
          <a:xfrm>
            <a:off x="2135956" y="4118526"/>
            <a:ext cx="5400060"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24" name="正方形/長方形 23"/>
          <p:cNvSpPr/>
          <p:nvPr/>
        </p:nvSpPr>
        <p:spPr bwMode="auto">
          <a:xfrm>
            <a:off x="7574116" y="4298529"/>
            <a:ext cx="270004" cy="450005"/>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r"/>
            <a:endParaRPr lang="ja-JP" altLang="en-US" dirty="0">
              <a:solidFill>
                <a:schemeClr val="tx1">
                  <a:lumMod val="75000"/>
                  <a:lumOff val="25000"/>
                </a:schemeClr>
              </a:solidFill>
              <a:latin typeface="+mn-ea"/>
            </a:endParaRPr>
          </a:p>
        </p:txBody>
      </p:sp>
      <p:sp>
        <p:nvSpPr>
          <p:cNvPr id="26" name="正方形/長方形 25"/>
          <p:cNvSpPr/>
          <p:nvPr/>
        </p:nvSpPr>
        <p:spPr bwMode="auto">
          <a:xfrm>
            <a:off x="7806019" y="5139018"/>
            <a:ext cx="720008" cy="270003"/>
          </a:xfrm>
          <a:prstGeom prst="rect">
            <a:avLst/>
          </a:prstGeom>
          <a:ln w="6350">
            <a:solidFill>
              <a:schemeClr val="tx1">
                <a:lumMod val="75000"/>
                <a:lumOff val="25000"/>
              </a:schemeClr>
            </a:solid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0" tIns="36000" rIns="0" bIns="0" numCol="1" spcCol="0" rtlCol="0" fromWordArt="0" anchor="ctr" anchorCtr="0" forceAA="0" compatLnSpc="1">
            <a:prstTxWarp prst="textNoShape">
              <a:avLst/>
            </a:prstTxWarp>
            <a:noAutofit/>
          </a:bodyPr>
          <a:lstStyle/>
          <a:p>
            <a:pPr algn="ctr"/>
            <a:r>
              <a:rPr lang="en-US" altLang="ja-JP" dirty="0">
                <a:solidFill>
                  <a:schemeClr val="tx1">
                    <a:lumMod val="65000"/>
                    <a:lumOff val="35000"/>
                  </a:schemeClr>
                </a:solidFill>
                <a:latin typeface="+mn-ea"/>
              </a:rPr>
              <a:t>10</a:t>
            </a:r>
            <a:endParaRPr lang="ja-JP" altLang="en-US" dirty="0">
              <a:solidFill>
                <a:schemeClr val="tx1">
                  <a:lumMod val="65000"/>
                  <a:lumOff val="35000"/>
                </a:schemeClr>
              </a:solidFill>
              <a:latin typeface="+mn-ea"/>
            </a:endParaRPr>
          </a:p>
        </p:txBody>
      </p:sp>
      <p:sp>
        <p:nvSpPr>
          <p:cNvPr id="28" name="正方形/長方形 27"/>
          <p:cNvSpPr/>
          <p:nvPr/>
        </p:nvSpPr>
        <p:spPr bwMode="auto">
          <a:xfrm>
            <a:off x="7806019" y="5679024"/>
            <a:ext cx="720008" cy="270003"/>
          </a:xfrm>
          <a:prstGeom prst="rect">
            <a:avLst/>
          </a:prstGeom>
          <a:noFill/>
          <a:ln>
            <a:solidFill>
              <a:schemeClr val="tx1"/>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0" tIns="36000" rIns="0" bIns="0" numCol="1" spcCol="0" rtlCol="0" fromWordArt="0" anchor="ctr" anchorCtr="0" forceAA="0" compatLnSpc="1">
            <a:prstTxWarp prst="textNoShape">
              <a:avLst/>
            </a:prstTxWarp>
            <a:noAutofit/>
          </a:bodyPr>
          <a:lstStyle/>
          <a:p>
            <a:pPr algn="ctr"/>
            <a:r>
              <a:rPr lang="en-US" altLang="ja-JP" dirty="0">
                <a:solidFill>
                  <a:schemeClr val="tx1">
                    <a:lumMod val="65000"/>
                    <a:lumOff val="35000"/>
                  </a:schemeClr>
                </a:solidFill>
                <a:latin typeface="+mn-ea"/>
              </a:rPr>
              <a:t>…</a:t>
            </a:r>
            <a:endParaRPr lang="ja-JP" altLang="en-US" dirty="0">
              <a:solidFill>
                <a:schemeClr val="tx1">
                  <a:lumMod val="65000"/>
                  <a:lumOff val="35000"/>
                </a:schemeClr>
              </a:solidFill>
              <a:latin typeface="+mn-ea"/>
            </a:endParaRPr>
          </a:p>
        </p:txBody>
      </p:sp>
      <p:sp>
        <p:nvSpPr>
          <p:cNvPr id="31" name="フリーフォーム 30"/>
          <p:cNvSpPr/>
          <p:nvPr/>
        </p:nvSpPr>
        <p:spPr bwMode="auto">
          <a:xfrm rot="5400000" flipV="1">
            <a:off x="6591006" y="5274021"/>
            <a:ext cx="1260014" cy="450004"/>
          </a:xfrm>
          <a:custGeom>
            <a:avLst/>
            <a:gdLst>
              <a:gd name="connsiteX0" fmla="*/ 0 w 1278531"/>
              <a:gd name="connsiteY0" fmla="*/ 112846 h 789920"/>
              <a:gd name="connsiteX1" fmla="*/ 1095884 w 1278531"/>
              <a:gd name="connsiteY1" fmla="*/ 112846 h 789920"/>
              <a:gd name="connsiteX2" fmla="*/ 1095884 w 1278531"/>
              <a:gd name="connsiteY2" fmla="*/ 789920 h 789920"/>
              <a:gd name="connsiteX0" fmla="*/ 0 w 1278531"/>
              <a:gd name="connsiteY0" fmla="*/ 0 h 677074"/>
              <a:gd name="connsiteX1" fmla="*/ 1095884 w 1278531"/>
              <a:gd name="connsiteY1" fmla="*/ 0 h 677074"/>
              <a:gd name="connsiteX2" fmla="*/ 1095884 w 1278531"/>
              <a:gd name="connsiteY2" fmla="*/ 677074 h 677074"/>
              <a:gd name="connsiteX0" fmla="*/ 0 w 1095884"/>
              <a:gd name="connsiteY0" fmla="*/ 0 h 677074"/>
              <a:gd name="connsiteX1" fmla="*/ 1095884 w 1095884"/>
              <a:gd name="connsiteY1" fmla="*/ 0 h 677074"/>
              <a:gd name="connsiteX2" fmla="*/ 1095884 w 1095884"/>
              <a:gd name="connsiteY2" fmla="*/ 677074 h 677074"/>
            </a:gdLst>
            <a:ahLst/>
            <a:cxnLst>
              <a:cxn ang="0">
                <a:pos x="connsiteX0" y="connsiteY0"/>
              </a:cxn>
              <a:cxn ang="0">
                <a:pos x="connsiteX1" y="connsiteY1"/>
              </a:cxn>
              <a:cxn ang="0">
                <a:pos x="connsiteX2" y="connsiteY2"/>
              </a:cxn>
            </a:cxnLst>
            <a:rect l="l" t="t" r="r" b="b"/>
            <a:pathLst>
              <a:path w="1095884" h="677074">
                <a:moveTo>
                  <a:pt x="0" y="0"/>
                </a:moveTo>
                <a:lnTo>
                  <a:pt x="1095884" y="0"/>
                </a:lnTo>
                <a:lnTo>
                  <a:pt x="1095884" y="677074"/>
                </a:lnTo>
              </a:path>
            </a:pathLst>
          </a:custGeom>
          <a:ln>
            <a:headEnd type="none" w="sm" len="sm"/>
            <a:tailEnd type="arrow" w="sm" len="sm"/>
          </a:ln>
        </p:spPr>
        <p:style>
          <a:lnRef idx="2">
            <a:schemeClr val="accent5"/>
          </a:lnRef>
          <a:fillRef idx="0">
            <a:schemeClr val="accent5"/>
          </a:fillRef>
          <a:effectRef idx="1">
            <a:schemeClr val="accent5"/>
          </a:effectRef>
          <a:fontRef idx="minor">
            <a:schemeClr val="tx1"/>
          </a:fontRef>
        </p:style>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dirty="0">
              <a:solidFill>
                <a:schemeClr val="tx1">
                  <a:lumMod val="65000"/>
                  <a:lumOff val="35000"/>
                </a:schemeClr>
              </a:solidFill>
              <a:latin typeface="Arial Narrow" pitchFamily="34" charset="0"/>
              <a:ea typeface="メイリオ" pitchFamily="50" charset="-128"/>
            </a:endParaRPr>
          </a:p>
        </p:txBody>
      </p:sp>
      <p:cxnSp>
        <p:nvCxnSpPr>
          <p:cNvPr id="32" name="直線矢印コネクタ 31"/>
          <p:cNvCxnSpPr/>
          <p:nvPr/>
        </p:nvCxnSpPr>
        <p:spPr bwMode="auto">
          <a:xfrm>
            <a:off x="6366004" y="4869016"/>
            <a:ext cx="1170013" cy="0"/>
          </a:xfrm>
          <a:prstGeom prst="straightConnector1">
            <a:avLst/>
          </a:prstGeom>
          <a:ln>
            <a:headEnd type="none" w="med" len="med"/>
            <a:tailEnd type="none"/>
          </a:ln>
        </p:spPr>
        <p:style>
          <a:lnRef idx="2">
            <a:schemeClr val="accent5"/>
          </a:lnRef>
          <a:fillRef idx="0">
            <a:schemeClr val="accent5"/>
          </a:fillRef>
          <a:effectRef idx="1">
            <a:schemeClr val="accent5"/>
          </a:effectRef>
          <a:fontRef idx="minor">
            <a:schemeClr val="tx1"/>
          </a:fontRef>
        </p:style>
      </p:cxnSp>
      <p:cxnSp>
        <p:nvCxnSpPr>
          <p:cNvPr id="35" name="直線矢印コネクタ 34"/>
          <p:cNvCxnSpPr/>
          <p:nvPr/>
        </p:nvCxnSpPr>
        <p:spPr bwMode="auto">
          <a:xfrm>
            <a:off x="8616028" y="6129031"/>
            <a:ext cx="540006" cy="0"/>
          </a:xfrm>
          <a:prstGeom prst="straightConnector1">
            <a:avLst/>
          </a:prstGeom>
          <a:ln w="12700" cap="rnd">
            <a:solidFill>
              <a:schemeClr val="tx1">
                <a:lumMod val="65000"/>
                <a:lumOff val="35000"/>
              </a:schemeClr>
            </a:solidFill>
            <a:headEnd type="none" w="med" len="med"/>
            <a:tailEnd type="arrow"/>
          </a:ln>
          <a:effectLst/>
        </p:spPr>
        <p:style>
          <a:lnRef idx="2">
            <a:schemeClr val="dk1"/>
          </a:lnRef>
          <a:fillRef idx="0">
            <a:schemeClr val="dk1"/>
          </a:fillRef>
          <a:effectRef idx="1">
            <a:schemeClr val="dk1"/>
          </a:effectRef>
          <a:fontRef idx="minor">
            <a:schemeClr val="tx1"/>
          </a:fontRef>
        </p:style>
      </p:cxnSp>
      <p:sp>
        <p:nvSpPr>
          <p:cNvPr id="36" name="正方形/長方形 35"/>
          <p:cNvSpPr/>
          <p:nvPr/>
        </p:nvSpPr>
        <p:spPr>
          <a:xfrm>
            <a:off x="9606040" y="5949028"/>
            <a:ext cx="424189" cy="400110"/>
          </a:xfrm>
          <a:prstGeom prst="rect">
            <a:avLst/>
          </a:prstGeom>
        </p:spPr>
        <p:txBody>
          <a:bodyPr wrap="none">
            <a:noAutofit/>
          </a:bodyPr>
          <a:lstStyle/>
          <a:p>
            <a:pPr marL="0" lvl="1" algn="ctr"/>
            <a:r>
              <a:rPr lang="ja-JP" altLang="en-US" sz="2000" dirty="0">
                <a:solidFill>
                  <a:schemeClr val="tx1">
                    <a:lumMod val="65000"/>
                    <a:lumOff val="35000"/>
                  </a:schemeClr>
                </a:solidFill>
              </a:rPr>
              <a:t>予測結果</a:t>
            </a:r>
          </a:p>
        </p:txBody>
      </p:sp>
      <p:sp>
        <p:nvSpPr>
          <p:cNvPr id="37" name="正方形/長方形 36"/>
          <p:cNvSpPr/>
          <p:nvPr/>
        </p:nvSpPr>
        <p:spPr>
          <a:xfrm>
            <a:off x="4745986" y="5728920"/>
            <a:ext cx="424189" cy="400110"/>
          </a:xfrm>
          <a:prstGeom prst="rect">
            <a:avLst/>
          </a:prstGeom>
        </p:spPr>
        <p:txBody>
          <a:bodyPr wrap="none">
            <a:noAutofit/>
          </a:bodyPr>
          <a:lstStyle/>
          <a:p>
            <a:pPr marL="0" lvl="1" algn="ctr"/>
            <a:r>
              <a:rPr lang="ja-JP" altLang="en-US" sz="2000" dirty="0">
                <a:solidFill>
                  <a:schemeClr val="accent5"/>
                </a:solidFill>
              </a:rPr>
              <a:t>同じパターン</a:t>
            </a:r>
          </a:p>
        </p:txBody>
      </p:sp>
      <p:cxnSp>
        <p:nvCxnSpPr>
          <p:cNvPr id="38" name="直線矢印コネクタ 37"/>
          <p:cNvCxnSpPr/>
          <p:nvPr/>
        </p:nvCxnSpPr>
        <p:spPr bwMode="auto">
          <a:xfrm flipH="1" flipV="1">
            <a:off x="3575972" y="5008912"/>
            <a:ext cx="630006" cy="630006"/>
          </a:xfrm>
          <a:prstGeom prst="straightConnector1">
            <a:avLst/>
          </a:prstGeom>
          <a:ln>
            <a:solidFill>
              <a:schemeClr val="accent5"/>
            </a:solidFill>
            <a:headEnd type="none" w="med" len="med"/>
            <a:tailEnd type="arrow"/>
          </a:ln>
          <a:effectLst/>
        </p:spPr>
        <p:style>
          <a:lnRef idx="2">
            <a:schemeClr val="accent3"/>
          </a:lnRef>
          <a:fillRef idx="0">
            <a:schemeClr val="accent3"/>
          </a:fillRef>
          <a:effectRef idx="1">
            <a:schemeClr val="accent3"/>
          </a:effectRef>
          <a:fontRef idx="minor">
            <a:schemeClr val="tx1"/>
          </a:fontRef>
        </p:style>
      </p:cxnSp>
      <p:cxnSp>
        <p:nvCxnSpPr>
          <p:cNvPr id="40" name="直線矢印コネクタ 39"/>
          <p:cNvCxnSpPr/>
          <p:nvPr/>
        </p:nvCxnSpPr>
        <p:spPr bwMode="auto">
          <a:xfrm flipV="1">
            <a:off x="5645995" y="5008912"/>
            <a:ext cx="630006" cy="630006"/>
          </a:xfrm>
          <a:prstGeom prst="straightConnector1">
            <a:avLst/>
          </a:prstGeom>
          <a:ln>
            <a:solidFill>
              <a:schemeClr val="accent5"/>
            </a:solidFill>
            <a:headEnd type="none" w="med" len="med"/>
            <a:tailEnd type="arrow"/>
          </a:ln>
          <a:effectLst/>
        </p:spPr>
        <p:style>
          <a:lnRef idx="2">
            <a:schemeClr val="accent3"/>
          </a:lnRef>
          <a:fillRef idx="0">
            <a:schemeClr val="accent3"/>
          </a:fillRef>
          <a:effectRef idx="1">
            <a:schemeClr val="accent3"/>
          </a:effectRef>
          <a:fontRef idx="minor">
            <a:schemeClr val="tx1"/>
          </a:fontRef>
        </p:style>
      </p:cxnSp>
      <p:sp>
        <p:nvSpPr>
          <p:cNvPr id="46" name="正方形/長方形 45"/>
          <p:cNvSpPr/>
          <p:nvPr/>
        </p:nvSpPr>
        <p:spPr>
          <a:xfrm>
            <a:off x="8166024" y="4329010"/>
            <a:ext cx="424189" cy="400110"/>
          </a:xfrm>
          <a:prstGeom prst="rect">
            <a:avLst/>
          </a:prstGeom>
        </p:spPr>
        <p:txBody>
          <a:bodyPr wrap="none">
            <a:noAutofit/>
          </a:bodyPr>
          <a:lstStyle/>
          <a:p>
            <a:pPr marL="0" lvl="1" algn="ctr"/>
            <a:r>
              <a:rPr lang="en-US" altLang="ja-JP" sz="2000" b="1" dirty="0">
                <a:solidFill>
                  <a:schemeClr val="accent6"/>
                </a:solidFill>
              </a:rPr>
              <a:t>0 or 1 ?</a:t>
            </a:r>
            <a:endParaRPr lang="ja-JP" altLang="en-US" sz="2000" b="1" dirty="0">
              <a:solidFill>
                <a:schemeClr val="accent6"/>
              </a:solidFill>
            </a:endParaRPr>
          </a:p>
        </p:txBody>
      </p:sp>
      <p:sp>
        <p:nvSpPr>
          <p:cNvPr id="30" name="正方形/長方形 29"/>
          <p:cNvSpPr/>
          <p:nvPr/>
        </p:nvSpPr>
        <p:spPr bwMode="auto">
          <a:xfrm>
            <a:off x="7806019" y="5409023"/>
            <a:ext cx="720008" cy="270003"/>
          </a:xfrm>
          <a:prstGeom prst="rect">
            <a:avLst/>
          </a:prstGeom>
          <a:noFill/>
          <a:ln>
            <a:solidFill>
              <a:schemeClr val="tx1"/>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0" tIns="36000" rIns="0" bIns="0" numCol="1" spcCol="0" rtlCol="0" fromWordArt="0" anchor="ctr" anchorCtr="0" forceAA="0" compatLnSpc="1">
            <a:prstTxWarp prst="textNoShape">
              <a:avLst/>
            </a:prstTxWarp>
            <a:noAutofit/>
          </a:bodyPr>
          <a:lstStyle/>
          <a:p>
            <a:pPr algn="ctr"/>
            <a:r>
              <a:rPr lang="en-US" altLang="ja-JP" dirty="0">
                <a:solidFill>
                  <a:schemeClr val="tx1">
                    <a:lumMod val="65000"/>
                    <a:lumOff val="35000"/>
                  </a:schemeClr>
                </a:solidFill>
                <a:latin typeface="+mn-ea"/>
              </a:rPr>
              <a:t>11</a:t>
            </a:r>
            <a:endParaRPr lang="ja-JP" altLang="en-US" dirty="0">
              <a:solidFill>
                <a:schemeClr val="tx1">
                  <a:lumMod val="65000"/>
                  <a:lumOff val="35000"/>
                </a:schemeClr>
              </a:solidFill>
              <a:latin typeface="+mn-ea"/>
            </a:endParaRPr>
          </a:p>
        </p:txBody>
      </p:sp>
      <p:sp>
        <p:nvSpPr>
          <p:cNvPr id="25" name="正方形/長方形 24"/>
          <p:cNvSpPr/>
          <p:nvPr/>
        </p:nvSpPr>
        <p:spPr bwMode="auto">
          <a:xfrm>
            <a:off x="7806019" y="5139019"/>
            <a:ext cx="720008" cy="1620018"/>
          </a:xfrm>
          <a:prstGeom prst="rect">
            <a:avLst/>
          </a:prstGeom>
          <a:noFill/>
          <a:ln>
            <a:solidFill>
              <a:schemeClr val="tx1">
                <a:lumMod val="75000"/>
                <a:lumOff val="25000"/>
              </a:schemeClr>
            </a:solid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36000" rIns="91440" bIns="45720" numCol="1" spcCol="0" rtlCol="0" fromWordArt="0" anchor="ctr" anchorCtr="0" forceAA="0" compatLnSpc="1">
            <a:prstTxWarp prst="textNoShape">
              <a:avLst/>
            </a:prstTxWarp>
            <a:noAutofit/>
          </a:bodyPr>
          <a:lstStyle/>
          <a:p>
            <a:pPr algn="ctr"/>
            <a:endParaRPr lang="ja-JP" altLang="en-US" dirty="0">
              <a:solidFill>
                <a:schemeClr val="tx1">
                  <a:lumMod val="65000"/>
                  <a:lumOff val="35000"/>
                </a:schemeClr>
              </a:solidFill>
              <a:latin typeface="+mn-ea"/>
            </a:endParaRPr>
          </a:p>
        </p:txBody>
      </p:sp>
      <p:sp>
        <p:nvSpPr>
          <p:cNvPr id="33" name="正方形/長方形 32">
            <a:extLst>
              <a:ext uri="{FF2B5EF4-FFF2-40B4-BE49-F238E27FC236}">
                <a16:creationId xmlns:a16="http://schemas.microsoft.com/office/drawing/2014/main" id="{9AC8BDE6-6E24-40F2-9C1F-6D34C968DCEF}"/>
              </a:ext>
            </a:extLst>
          </p:cNvPr>
          <p:cNvSpPr/>
          <p:nvPr/>
        </p:nvSpPr>
        <p:spPr bwMode="auto">
          <a:xfrm>
            <a:off x="7446015" y="5139020"/>
            <a:ext cx="360004" cy="270003"/>
          </a:xfrm>
          <a:prstGeom prst="rect">
            <a:avLst/>
          </a:prstGeom>
          <a:noFill/>
          <a:ln w="6350">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0" tIns="36000" rIns="0" bIns="0" numCol="1" spcCol="0" rtlCol="0" fromWordArt="0" anchor="ctr" anchorCtr="0" forceAA="0" compatLnSpc="1">
            <a:prstTxWarp prst="textNoShape">
              <a:avLst/>
            </a:prstTxWarp>
            <a:noAutofit/>
          </a:bodyPr>
          <a:lstStyle/>
          <a:p>
            <a:pPr algn="ctr"/>
            <a:r>
              <a:rPr lang="ja-JP" altLang="en-US">
                <a:solidFill>
                  <a:schemeClr val="tx1">
                    <a:lumMod val="65000"/>
                    <a:lumOff val="35000"/>
                  </a:schemeClr>
                </a:solidFill>
                <a:latin typeface="+mn-ea"/>
              </a:rPr>
              <a:t>０</a:t>
            </a:r>
            <a:endParaRPr lang="ja-JP" altLang="en-US" dirty="0">
              <a:solidFill>
                <a:schemeClr val="tx1">
                  <a:lumMod val="65000"/>
                  <a:lumOff val="35000"/>
                </a:schemeClr>
              </a:solidFill>
              <a:latin typeface="+mn-ea"/>
            </a:endParaRPr>
          </a:p>
        </p:txBody>
      </p:sp>
      <p:sp>
        <p:nvSpPr>
          <p:cNvPr id="34" name="正方形/長方形 33">
            <a:extLst>
              <a:ext uri="{FF2B5EF4-FFF2-40B4-BE49-F238E27FC236}">
                <a16:creationId xmlns:a16="http://schemas.microsoft.com/office/drawing/2014/main" id="{EF2E63EE-047F-4E0C-AD0F-706242BE3FF4}"/>
              </a:ext>
            </a:extLst>
          </p:cNvPr>
          <p:cNvSpPr/>
          <p:nvPr/>
        </p:nvSpPr>
        <p:spPr bwMode="auto">
          <a:xfrm>
            <a:off x="7446015" y="5409023"/>
            <a:ext cx="360004" cy="270003"/>
          </a:xfrm>
          <a:prstGeom prst="rect">
            <a:avLst/>
          </a:prstGeom>
          <a:noFill/>
          <a:ln w="6350">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0" tIns="36000" rIns="0" bIns="0" numCol="1" spcCol="0" rtlCol="0" fromWordArt="0" anchor="ctr" anchorCtr="0" forceAA="0" compatLnSpc="1">
            <a:prstTxWarp prst="textNoShape">
              <a:avLst/>
            </a:prstTxWarp>
            <a:noAutofit/>
          </a:bodyPr>
          <a:lstStyle/>
          <a:p>
            <a:pPr algn="ctr"/>
            <a:r>
              <a:rPr lang="ja-JP" altLang="en-US" dirty="0">
                <a:solidFill>
                  <a:schemeClr val="tx1">
                    <a:lumMod val="65000"/>
                    <a:lumOff val="35000"/>
                  </a:schemeClr>
                </a:solidFill>
                <a:latin typeface="+mn-ea"/>
              </a:rPr>
              <a:t>１</a:t>
            </a:r>
          </a:p>
        </p:txBody>
      </p:sp>
      <p:sp>
        <p:nvSpPr>
          <p:cNvPr id="39" name="正方形/長方形 38">
            <a:extLst>
              <a:ext uri="{FF2B5EF4-FFF2-40B4-BE49-F238E27FC236}">
                <a16:creationId xmlns:a16="http://schemas.microsoft.com/office/drawing/2014/main" id="{5DD235B6-9586-46BC-B8EF-85F47F270516}"/>
              </a:ext>
            </a:extLst>
          </p:cNvPr>
          <p:cNvSpPr/>
          <p:nvPr/>
        </p:nvSpPr>
        <p:spPr bwMode="auto">
          <a:xfrm>
            <a:off x="7446015" y="5679026"/>
            <a:ext cx="360004" cy="270003"/>
          </a:xfrm>
          <a:prstGeom prst="rect">
            <a:avLst/>
          </a:prstGeom>
          <a:noFill/>
          <a:ln w="6350">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0" tIns="36000" rIns="0" bIns="0" numCol="1" spcCol="0" rtlCol="0" fromWordArt="0" anchor="ctr" anchorCtr="0" forceAA="0" compatLnSpc="1">
            <a:prstTxWarp prst="textNoShape">
              <a:avLst/>
            </a:prstTxWarp>
            <a:noAutofit/>
          </a:bodyPr>
          <a:lstStyle/>
          <a:p>
            <a:pPr algn="ctr"/>
            <a:r>
              <a:rPr lang="en-US" altLang="ja-JP" dirty="0">
                <a:solidFill>
                  <a:schemeClr val="tx1">
                    <a:lumMod val="65000"/>
                    <a:lumOff val="35000"/>
                  </a:schemeClr>
                </a:solidFill>
                <a:latin typeface="+mn-ea"/>
              </a:rPr>
              <a:t>2</a:t>
            </a:r>
            <a:endParaRPr lang="ja-JP" altLang="en-US" dirty="0">
              <a:solidFill>
                <a:schemeClr val="tx1">
                  <a:lumMod val="65000"/>
                  <a:lumOff val="35000"/>
                </a:schemeClr>
              </a:solidFill>
              <a:latin typeface="+mn-ea"/>
            </a:endParaRPr>
          </a:p>
        </p:txBody>
      </p:sp>
      <p:sp>
        <p:nvSpPr>
          <p:cNvPr id="41" name="正方形/長方形 40">
            <a:extLst>
              <a:ext uri="{FF2B5EF4-FFF2-40B4-BE49-F238E27FC236}">
                <a16:creationId xmlns:a16="http://schemas.microsoft.com/office/drawing/2014/main" id="{D20DD2FB-B26F-4B5D-8DAD-D21C1049C619}"/>
              </a:ext>
            </a:extLst>
          </p:cNvPr>
          <p:cNvSpPr/>
          <p:nvPr/>
        </p:nvSpPr>
        <p:spPr bwMode="auto">
          <a:xfrm>
            <a:off x="7446015" y="5949029"/>
            <a:ext cx="360004" cy="270003"/>
          </a:xfrm>
          <a:prstGeom prst="rect">
            <a:avLst/>
          </a:prstGeom>
          <a:noFill/>
          <a:ln w="6350">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0" tIns="36000" rIns="0" bIns="0" numCol="1" spcCol="0" rtlCol="0" fromWordArt="0" anchor="ctr" anchorCtr="0" forceAA="0" compatLnSpc="1">
            <a:prstTxWarp prst="textNoShape">
              <a:avLst/>
            </a:prstTxWarp>
            <a:noAutofit/>
          </a:bodyPr>
          <a:lstStyle/>
          <a:p>
            <a:pPr algn="ctr"/>
            <a:r>
              <a:rPr lang="en-US" altLang="ja-JP" dirty="0">
                <a:solidFill>
                  <a:schemeClr val="tx1">
                    <a:lumMod val="65000"/>
                    <a:lumOff val="35000"/>
                  </a:schemeClr>
                </a:solidFill>
                <a:latin typeface="+mn-ea"/>
              </a:rPr>
              <a:t>3</a:t>
            </a:r>
            <a:endParaRPr lang="ja-JP" altLang="en-US" dirty="0">
              <a:solidFill>
                <a:schemeClr val="tx1">
                  <a:lumMod val="65000"/>
                  <a:lumOff val="35000"/>
                </a:schemeClr>
              </a:solidFill>
              <a:latin typeface="+mn-ea"/>
            </a:endParaRPr>
          </a:p>
        </p:txBody>
      </p:sp>
      <p:sp>
        <p:nvSpPr>
          <p:cNvPr id="42" name="正方形/長方形 41">
            <a:extLst>
              <a:ext uri="{FF2B5EF4-FFF2-40B4-BE49-F238E27FC236}">
                <a16:creationId xmlns:a16="http://schemas.microsoft.com/office/drawing/2014/main" id="{5E124DB2-CEA1-4BE9-B038-C69C9099D764}"/>
              </a:ext>
            </a:extLst>
          </p:cNvPr>
          <p:cNvSpPr/>
          <p:nvPr/>
        </p:nvSpPr>
        <p:spPr bwMode="auto">
          <a:xfrm>
            <a:off x="7806019" y="6219032"/>
            <a:ext cx="720008" cy="270003"/>
          </a:xfrm>
          <a:prstGeom prst="rect">
            <a:avLst/>
          </a:prstGeom>
          <a:noFill/>
          <a:ln>
            <a:solidFill>
              <a:schemeClr val="tx1"/>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0" tIns="36000" rIns="0" bIns="0" numCol="1" spcCol="0" rtlCol="0" fromWordArt="0" anchor="ctr" anchorCtr="0" forceAA="0" compatLnSpc="1">
            <a:prstTxWarp prst="textNoShape">
              <a:avLst/>
            </a:prstTxWarp>
            <a:noAutofit/>
          </a:bodyPr>
          <a:lstStyle/>
          <a:p>
            <a:pPr algn="ctr"/>
            <a:r>
              <a:rPr lang="en-US" altLang="ja-JP" dirty="0">
                <a:solidFill>
                  <a:schemeClr val="tx1">
                    <a:lumMod val="65000"/>
                    <a:lumOff val="35000"/>
                  </a:schemeClr>
                </a:solidFill>
                <a:latin typeface="+mn-ea"/>
              </a:rPr>
              <a:t>…</a:t>
            </a:r>
            <a:endParaRPr lang="ja-JP" altLang="en-US" dirty="0">
              <a:solidFill>
                <a:schemeClr val="tx1">
                  <a:lumMod val="65000"/>
                  <a:lumOff val="35000"/>
                </a:schemeClr>
              </a:solidFill>
              <a:latin typeface="+mn-ea"/>
            </a:endParaRPr>
          </a:p>
        </p:txBody>
      </p:sp>
      <p:sp>
        <p:nvSpPr>
          <p:cNvPr id="43" name="正方形/長方形 42">
            <a:extLst>
              <a:ext uri="{FF2B5EF4-FFF2-40B4-BE49-F238E27FC236}">
                <a16:creationId xmlns:a16="http://schemas.microsoft.com/office/drawing/2014/main" id="{A331DA28-855B-4023-84B0-CB874947CA2F}"/>
              </a:ext>
            </a:extLst>
          </p:cNvPr>
          <p:cNvSpPr/>
          <p:nvPr/>
        </p:nvSpPr>
        <p:spPr bwMode="auto">
          <a:xfrm>
            <a:off x="7446015" y="6219032"/>
            <a:ext cx="360004" cy="270003"/>
          </a:xfrm>
          <a:prstGeom prst="rect">
            <a:avLst/>
          </a:prstGeom>
          <a:noFill/>
          <a:ln w="6350">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0" tIns="36000" rIns="0" bIns="0" numCol="1" spcCol="0" rtlCol="0" fromWordArt="0" anchor="ctr" anchorCtr="0" forceAA="0" compatLnSpc="1">
            <a:prstTxWarp prst="textNoShape">
              <a:avLst/>
            </a:prstTxWarp>
            <a:noAutofit/>
          </a:bodyPr>
          <a:lstStyle/>
          <a:p>
            <a:pPr algn="ctr"/>
            <a:r>
              <a:rPr lang="en-US" altLang="ja-JP" dirty="0">
                <a:solidFill>
                  <a:schemeClr val="tx1">
                    <a:lumMod val="65000"/>
                    <a:lumOff val="35000"/>
                  </a:schemeClr>
                </a:solidFill>
                <a:latin typeface="+mn-ea"/>
              </a:rPr>
              <a:t>4</a:t>
            </a:r>
            <a:endParaRPr lang="ja-JP" altLang="en-US" dirty="0">
              <a:solidFill>
                <a:schemeClr val="tx1">
                  <a:lumMod val="65000"/>
                  <a:lumOff val="35000"/>
                </a:schemeClr>
              </a:solidFill>
              <a:latin typeface="+mn-ea"/>
            </a:endParaRPr>
          </a:p>
        </p:txBody>
      </p:sp>
    </p:spTree>
    <p:extLst>
      <p:ext uri="{BB962C8B-B14F-4D97-AF65-F5344CB8AC3E}">
        <p14:creationId xmlns:p14="http://schemas.microsoft.com/office/powerpoint/2010/main" val="17166333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履歴とエントリの対応</a:t>
            </a:r>
          </a:p>
        </p:txBody>
      </p:sp>
      <p:sp>
        <p:nvSpPr>
          <p:cNvPr id="3" name="テキスト プレースホルダー 2"/>
          <p:cNvSpPr>
            <a:spLocks noGrp="1"/>
          </p:cNvSpPr>
          <p:nvPr>
            <p:ph type="body" sz="quarter" idx="10"/>
          </p:nvPr>
        </p:nvSpPr>
        <p:spPr>
          <a:xfrm>
            <a:off x="2135956" y="5319022"/>
            <a:ext cx="8280092" cy="719701"/>
          </a:xfrm>
        </p:spPr>
        <p:txBody>
          <a:bodyPr/>
          <a:lstStyle/>
          <a:p>
            <a:r>
              <a:rPr kumimoji="1" lang="ja-JP" altLang="en-US" dirty="0"/>
              <a:t>直前の履歴ごとに，異なる </a:t>
            </a:r>
            <a:r>
              <a:rPr kumimoji="1" lang="en-US" altLang="ja-JP" dirty="0"/>
              <a:t>PHT </a:t>
            </a:r>
            <a:r>
              <a:rPr kumimoji="1" lang="ja-JP" altLang="en-US" dirty="0"/>
              <a:t>のエントリが割り当てられる</a:t>
            </a:r>
            <a:endParaRPr kumimoji="1" lang="en-US" altLang="ja-JP" dirty="0"/>
          </a:p>
          <a:p>
            <a:pPr lvl="1"/>
            <a:r>
              <a:rPr lang="en-US" altLang="ja-JP" dirty="0">
                <a:solidFill>
                  <a:schemeClr val="accent5"/>
                </a:solidFill>
              </a:rPr>
              <a:t>0001</a:t>
            </a:r>
            <a:r>
              <a:rPr lang="ja-JP" altLang="en-US" dirty="0"/>
              <a:t>：カウンタが </a:t>
            </a:r>
            <a:r>
              <a:rPr lang="en-US" altLang="ja-JP" dirty="0"/>
              <a:t>11 </a:t>
            </a:r>
            <a:r>
              <a:rPr lang="ja-JP" altLang="en-US" dirty="0"/>
              <a:t>なので，このパターンは次は１</a:t>
            </a:r>
            <a:endParaRPr lang="en-US" altLang="ja-JP" dirty="0"/>
          </a:p>
          <a:p>
            <a:pPr lvl="1"/>
            <a:r>
              <a:rPr lang="en-US" altLang="ja-JP" dirty="0">
                <a:solidFill>
                  <a:schemeClr val="accent6"/>
                </a:solidFill>
              </a:rPr>
              <a:t>1010</a:t>
            </a:r>
            <a:r>
              <a:rPr lang="ja-JP" altLang="en-US" dirty="0"/>
              <a:t>：カウンタが </a:t>
            </a:r>
            <a:r>
              <a:rPr lang="en-US" altLang="ja-JP" dirty="0"/>
              <a:t>00 </a:t>
            </a:r>
            <a:r>
              <a:rPr lang="ja-JP" altLang="en-US" dirty="0"/>
              <a:t>なので，このパターンは次は </a:t>
            </a:r>
            <a:r>
              <a:rPr lang="en-US" altLang="ja-JP" dirty="0"/>
              <a:t>0</a:t>
            </a:r>
            <a:endParaRPr kumimoji="1" lang="ja-JP" altLang="en-US" dirty="0"/>
          </a:p>
        </p:txBody>
      </p:sp>
      <p:sp>
        <p:nvSpPr>
          <p:cNvPr id="4" name="Rectangle 154"/>
          <p:cNvSpPr>
            <a:spLocks noChangeArrowheads="1"/>
          </p:cNvSpPr>
          <p:nvPr/>
        </p:nvSpPr>
        <p:spPr bwMode="auto">
          <a:xfrm>
            <a:off x="5377632" y="1990571"/>
            <a:ext cx="718369" cy="2608442"/>
          </a:xfrm>
          <a:prstGeom prst="rect">
            <a:avLst/>
          </a:prstGeom>
          <a:ln>
            <a:solidFill>
              <a:schemeClr val="tx1">
                <a:lumMod val="75000"/>
                <a:lumOff val="25000"/>
              </a:schemeClr>
            </a:solidFill>
            <a:headEnd/>
            <a:tailEnd/>
          </a:ln>
        </p:spPr>
        <p:style>
          <a:lnRef idx="2">
            <a:schemeClr val="dk1"/>
          </a:lnRef>
          <a:fillRef idx="1">
            <a:schemeClr val="lt1"/>
          </a:fillRef>
          <a:effectRef idx="0">
            <a:schemeClr val="dk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mn-ea"/>
              <a:ea typeface="MeiryoKe_PGothic" pitchFamily="50" charset="-128"/>
            </a:endParaRPr>
          </a:p>
        </p:txBody>
      </p:sp>
      <p:sp>
        <p:nvSpPr>
          <p:cNvPr id="6" name="正方形/長方形 5"/>
          <p:cNvSpPr/>
          <p:nvPr/>
        </p:nvSpPr>
        <p:spPr bwMode="auto">
          <a:xfrm>
            <a:off x="5375993" y="1988984"/>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00</a:t>
            </a:r>
            <a:endParaRPr lang="ja-JP" altLang="en-US" dirty="0">
              <a:solidFill>
                <a:schemeClr val="tx1">
                  <a:lumMod val="75000"/>
                  <a:lumOff val="25000"/>
                </a:schemeClr>
              </a:solidFill>
              <a:latin typeface="Arial Narrow" panose="020B0606020202030204" pitchFamily="34" charset="0"/>
            </a:endParaRPr>
          </a:p>
        </p:txBody>
      </p:sp>
      <p:sp>
        <p:nvSpPr>
          <p:cNvPr id="7" name="正方形/長方形 6"/>
          <p:cNvSpPr/>
          <p:nvPr/>
        </p:nvSpPr>
        <p:spPr bwMode="auto">
          <a:xfrm>
            <a:off x="5375993" y="2348988"/>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accent5"/>
                </a:solidFill>
                <a:latin typeface="Arial Narrow" panose="020B0606020202030204" pitchFamily="34" charset="0"/>
              </a:rPr>
              <a:t>11</a:t>
            </a:r>
            <a:endParaRPr lang="ja-JP" altLang="en-US" dirty="0">
              <a:solidFill>
                <a:schemeClr val="accent5"/>
              </a:solidFill>
              <a:latin typeface="Arial Narrow" panose="020B0606020202030204" pitchFamily="34" charset="0"/>
            </a:endParaRPr>
          </a:p>
        </p:txBody>
      </p:sp>
      <p:sp>
        <p:nvSpPr>
          <p:cNvPr id="8" name="正方形/長方形 7"/>
          <p:cNvSpPr/>
          <p:nvPr/>
        </p:nvSpPr>
        <p:spPr bwMode="auto">
          <a:xfrm>
            <a:off x="4835987" y="1988984"/>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0000</a:t>
            </a:r>
            <a:endParaRPr lang="ja-JP" altLang="en-US" sz="2000" dirty="0">
              <a:solidFill>
                <a:schemeClr val="tx1">
                  <a:lumMod val="75000"/>
                  <a:lumOff val="25000"/>
                </a:schemeClr>
              </a:solidFill>
              <a:latin typeface="Arial Narrow" panose="020B0606020202030204" pitchFamily="34" charset="0"/>
            </a:endParaRPr>
          </a:p>
        </p:txBody>
      </p:sp>
      <p:sp>
        <p:nvSpPr>
          <p:cNvPr id="9" name="正方形/長方形 8"/>
          <p:cNvSpPr/>
          <p:nvPr/>
        </p:nvSpPr>
        <p:spPr bwMode="auto">
          <a:xfrm>
            <a:off x="4835986" y="2348988"/>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accent5"/>
                </a:solidFill>
                <a:latin typeface="Arial Narrow" panose="020B0606020202030204" pitchFamily="34" charset="0"/>
              </a:rPr>
              <a:t>0001</a:t>
            </a:r>
            <a:endParaRPr lang="ja-JP" altLang="en-US" sz="2000" dirty="0">
              <a:solidFill>
                <a:schemeClr val="accent5"/>
              </a:solidFill>
              <a:latin typeface="Arial Narrow" panose="020B0606020202030204" pitchFamily="34" charset="0"/>
            </a:endParaRPr>
          </a:p>
        </p:txBody>
      </p:sp>
      <p:sp>
        <p:nvSpPr>
          <p:cNvPr id="10" name="正方形/長方形 9"/>
          <p:cNvSpPr/>
          <p:nvPr/>
        </p:nvSpPr>
        <p:spPr bwMode="auto">
          <a:xfrm>
            <a:off x="4835986" y="2618991"/>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11" name="正方形/長方形 10"/>
          <p:cNvSpPr/>
          <p:nvPr/>
        </p:nvSpPr>
        <p:spPr bwMode="auto">
          <a:xfrm>
            <a:off x="5555994" y="3699003"/>
            <a:ext cx="3477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12" name="正方形/長方形 11"/>
          <p:cNvSpPr/>
          <p:nvPr/>
        </p:nvSpPr>
        <p:spPr bwMode="auto">
          <a:xfrm>
            <a:off x="5375993" y="4239009"/>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13" name="正方形/長方形 12"/>
          <p:cNvSpPr/>
          <p:nvPr/>
        </p:nvSpPr>
        <p:spPr bwMode="auto">
          <a:xfrm>
            <a:off x="5555994" y="3068996"/>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14" name="Rectangle 133"/>
          <p:cNvSpPr>
            <a:spLocks noChangeArrowheads="1"/>
          </p:cNvSpPr>
          <p:nvPr/>
        </p:nvSpPr>
        <p:spPr bwMode="auto">
          <a:xfrm>
            <a:off x="5285992" y="1448979"/>
            <a:ext cx="719803"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en-US" altLang="ja-JP" dirty="0">
                <a:solidFill>
                  <a:schemeClr val="tx1">
                    <a:lumMod val="75000"/>
                    <a:lumOff val="25000"/>
                  </a:schemeClr>
                </a:solidFill>
                <a:latin typeface="+mn-ea"/>
                <a:ea typeface="+mn-ea"/>
              </a:rPr>
              <a:t>PHT</a:t>
            </a:r>
            <a:r>
              <a:rPr lang="ja-JP" altLang="en-US" dirty="0">
                <a:solidFill>
                  <a:schemeClr val="tx1">
                    <a:lumMod val="75000"/>
                    <a:lumOff val="25000"/>
                  </a:schemeClr>
                </a:solidFill>
                <a:latin typeface="+mn-ea"/>
                <a:ea typeface="+mn-ea"/>
              </a:rPr>
              <a:t> </a:t>
            </a:r>
            <a:r>
              <a:rPr lang="en-US" altLang="ja-JP" dirty="0">
                <a:solidFill>
                  <a:schemeClr val="tx1">
                    <a:lumMod val="75000"/>
                    <a:lumOff val="25000"/>
                  </a:schemeClr>
                </a:solidFill>
                <a:latin typeface="+mn-ea"/>
                <a:ea typeface="+mn-ea"/>
              </a:rPr>
              <a:t>(2</a:t>
            </a:r>
            <a:r>
              <a:rPr lang="ja-JP" altLang="en-US" dirty="0">
                <a:solidFill>
                  <a:schemeClr val="tx1">
                    <a:lumMod val="75000"/>
                    <a:lumOff val="25000"/>
                  </a:schemeClr>
                </a:solidFill>
                <a:latin typeface="+mn-ea"/>
                <a:ea typeface="+mn-ea"/>
              </a:rPr>
              <a:t>ビット・カウンタ</a:t>
            </a:r>
            <a:r>
              <a:rPr lang="en-US" altLang="ja-JP" dirty="0">
                <a:solidFill>
                  <a:schemeClr val="tx1">
                    <a:lumMod val="75000"/>
                    <a:lumOff val="25000"/>
                  </a:schemeClr>
                </a:solidFill>
                <a:latin typeface="+mn-ea"/>
                <a:ea typeface="+mn-ea"/>
              </a:rPr>
              <a:t>)</a:t>
            </a:r>
          </a:p>
        </p:txBody>
      </p:sp>
      <p:sp>
        <p:nvSpPr>
          <p:cNvPr id="15" name="Rectangle 133"/>
          <p:cNvSpPr>
            <a:spLocks noChangeArrowheads="1"/>
          </p:cNvSpPr>
          <p:nvPr/>
        </p:nvSpPr>
        <p:spPr bwMode="auto">
          <a:xfrm>
            <a:off x="3125968" y="1988985"/>
            <a:ext cx="719803"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ja-JP" altLang="en-US" dirty="0">
                <a:solidFill>
                  <a:schemeClr val="tx1">
                    <a:lumMod val="75000"/>
                    <a:lumOff val="25000"/>
                  </a:schemeClr>
                </a:solidFill>
                <a:latin typeface="+mn-ea"/>
                <a:ea typeface="+mn-ea"/>
              </a:rPr>
              <a:t>直前の履歴</a:t>
            </a:r>
            <a:endParaRPr lang="en-US" altLang="ja-JP" dirty="0">
              <a:solidFill>
                <a:schemeClr val="tx1">
                  <a:lumMod val="75000"/>
                  <a:lumOff val="25000"/>
                </a:schemeClr>
              </a:solidFill>
              <a:latin typeface="+mn-ea"/>
              <a:ea typeface="+mn-ea"/>
            </a:endParaRPr>
          </a:p>
        </p:txBody>
      </p:sp>
      <p:sp>
        <p:nvSpPr>
          <p:cNvPr id="16" name="正方形/長方形 15"/>
          <p:cNvSpPr/>
          <p:nvPr/>
        </p:nvSpPr>
        <p:spPr bwMode="auto">
          <a:xfrm>
            <a:off x="4835986" y="2708992"/>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0010</a:t>
            </a:r>
            <a:endParaRPr lang="ja-JP" altLang="en-US" sz="2000" dirty="0">
              <a:solidFill>
                <a:schemeClr val="tx1">
                  <a:lumMod val="75000"/>
                  <a:lumOff val="25000"/>
                </a:schemeClr>
              </a:solidFill>
              <a:latin typeface="Arial Narrow" panose="020B0606020202030204" pitchFamily="34" charset="0"/>
            </a:endParaRPr>
          </a:p>
        </p:txBody>
      </p:sp>
      <p:sp>
        <p:nvSpPr>
          <p:cNvPr id="17" name="正方形/長方形 16"/>
          <p:cNvSpPr/>
          <p:nvPr/>
        </p:nvSpPr>
        <p:spPr bwMode="auto">
          <a:xfrm>
            <a:off x="4835986" y="3068996"/>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18" name="正方形/長方形 17"/>
          <p:cNvSpPr/>
          <p:nvPr/>
        </p:nvSpPr>
        <p:spPr bwMode="auto">
          <a:xfrm>
            <a:off x="5375993" y="2708992"/>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11</a:t>
            </a:r>
            <a:endParaRPr lang="ja-JP" altLang="en-US" dirty="0">
              <a:solidFill>
                <a:schemeClr val="tx1">
                  <a:lumMod val="75000"/>
                  <a:lumOff val="25000"/>
                </a:schemeClr>
              </a:solidFill>
              <a:latin typeface="Arial Narrow" panose="020B0606020202030204" pitchFamily="34" charset="0"/>
            </a:endParaRPr>
          </a:p>
        </p:txBody>
      </p:sp>
      <p:sp>
        <p:nvSpPr>
          <p:cNvPr id="19" name="正方形/長方形 18"/>
          <p:cNvSpPr/>
          <p:nvPr/>
        </p:nvSpPr>
        <p:spPr bwMode="auto">
          <a:xfrm>
            <a:off x="4835986" y="3248998"/>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20" name="正方形/長方形 19"/>
          <p:cNvSpPr/>
          <p:nvPr/>
        </p:nvSpPr>
        <p:spPr bwMode="auto">
          <a:xfrm>
            <a:off x="4835986" y="3429000"/>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accent6"/>
                </a:solidFill>
                <a:latin typeface="Arial Narrow" panose="020B0606020202030204" pitchFamily="34" charset="0"/>
              </a:rPr>
              <a:t>1010</a:t>
            </a:r>
            <a:endParaRPr lang="ja-JP" altLang="en-US" sz="2000" dirty="0">
              <a:solidFill>
                <a:schemeClr val="accent6"/>
              </a:solidFill>
              <a:latin typeface="Arial Narrow" panose="020B0606020202030204" pitchFamily="34" charset="0"/>
            </a:endParaRPr>
          </a:p>
        </p:txBody>
      </p:sp>
      <p:sp>
        <p:nvSpPr>
          <p:cNvPr id="21" name="正方形/長方形 20"/>
          <p:cNvSpPr/>
          <p:nvPr/>
        </p:nvSpPr>
        <p:spPr bwMode="auto">
          <a:xfrm>
            <a:off x="5375993" y="3429000"/>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accent6"/>
                </a:solidFill>
                <a:latin typeface="Arial Narrow" panose="020B0606020202030204" pitchFamily="34" charset="0"/>
              </a:rPr>
              <a:t>00</a:t>
            </a:r>
            <a:endParaRPr lang="ja-JP" altLang="en-US" dirty="0">
              <a:solidFill>
                <a:schemeClr val="accent6"/>
              </a:solidFill>
              <a:latin typeface="Arial Narrow" panose="020B0606020202030204" pitchFamily="34" charset="0"/>
            </a:endParaRPr>
          </a:p>
        </p:txBody>
      </p:sp>
    </p:spTree>
    <p:extLst>
      <p:ext uri="{BB962C8B-B14F-4D97-AF65-F5344CB8AC3E}">
        <p14:creationId xmlns:p14="http://schemas.microsoft.com/office/powerpoint/2010/main" val="24988876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PHT </a:t>
            </a:r>
            <a:r>
              <a:rPr kumimoji="1" lang="ja-JP" altLang="en-US" dirty="0"/>
              <a:t>アクセス時のインデクスの生成は，履歴と </a:t>
            </a:r>
            <a:r>
              <a:rPr kumimoji="1" lang="en-US" altLang="ja-JP" dirty="0"/>
              <a:t>PC  </a:t>
            </a:r>
            <a:r>
              <a:rPr kumimoji="1" lang="ja-JP" altLang="en-US" dirty="0"/>
              <a:t>を混ぜる</a:t>
            </a:r>
          </a:p>
        </p:txBody>
      </p:sp>
      <p:sp>
        <p:nvSpPr>
          <p:cNvPr id="3" name="テキスト プレースホルダー 2"/>
          <p:cNvSpPr>
            <a:spLocks noGrp="1"/>
          </p:cNvSpPr>
          <p:nvPr>
            <p:ph type="body" sz="quarter" idx="10"/>
          </p:nvPr>
        </p:nvSpPr>
        <p:spPr>
          <a:xfrm>
            <a:off x="1865954" y="1268977"/>
            <a:ext cx="8802047" cy="4769746"/>
          </a:xfrm>
        </p:spPr>
        <p:txBody>
          <a:bodyPr/>
          <a:lstStyle/>
          <a:p>
            <a:r>
              <a:rPr kumimoji="1" lang="ja-JP" altLang="en-US" dirty="0"/>
              <a:t>全てのアドレスの分岐でエントリが共有されてしまう</a:t>
            </a:r>
            <a:endParaRPr kumimoji="1" lang="en-US" altLang="ja-JP" dirty="0"/>
          </a:p>
          <a:p>
            <a:pPr lvl="1"/>
            <a:r>
              <a:rPr kumimoji="1" lang="ja-JP" altLang="en-US" dirty="0"/>
              <a:t>たとえば直前の履歴が同じ </a:t>
            </a:r>
            <a:r>
              <a:rPr kumimoji="1" lang="en-US" altLang="ja-JP" dirty="0"/>
              <a:t>1010 </a:t>
            </a:r>
            <a:r>
              <a:rPr kumimoji="1" lang="ja-JP" altLang="en-US" dirty="0"/>
              <a:t>場合，</a:t>
            </a:r>
            <a:br>
              <a:rPr kumimoji="1" lang="en-US" altLang="ja-JP" dirty="0"/>
            </a:br>
            <a:r>
              <a:rPr kumimoji="1" lang="en-US" altLang="ja-JP" dirty="0"/>
              <a:t>PC </a:t>
            </a:r>
            <a:r>
              <a:rPr kumimoji="1" lang="ja-JP" altLang="en-US" dirty="0"/>
              <a:t>が </a:t>
            </a:r>
            <a:r>
              <a:rPr kumimoji="1" lang="en-US" altLang="ja-JP" dirty="0"/>
              <a:t>0x4000 </a:t>
            </a:r>
            <a:r>
              <a:rPr kumimoji="1" lang="ja-JP" altLang="en-US" dirty="0"/>
              <a:t>の分岐も </a:t>
            </a:r>
            <a:r>
              <a:rPr kumimoji="1" lang="en-US" altLang="ja-JP" dirty="0"/>
              <a:t>0x8044 </a:t>
            </a:r>
            <a:r>
              <a:rPr kumimoji="1" lang="ja-JP" altLang="en-US" dirty="0"/>
              <a:t>の分岐も同じエントリを使ってしまう</a:t>
            </a:r>
            <a:endParaRPr kumimoji="1" lang="en-US" altLang="ja-JP" dirty="0"/>
          </a:p>
          <a:p>
            <a:pPr lvl="2"/>
            <a:r>
              <a:rPr kumimoji="1" lang="ja-JP" altLang="en-US" dirty="0"/>
              <a:t>（</a:t>
            </a:r>
            <a:r>
              <a:rPr kumimoji="1" lang="en-US" altLang="ja-JP" dirty="0"/>
              <a:t>0x4000 </a:t>
            </a:r>
            <a:r>
              <a:rPr kumimoji="1" lang="ja-JP" altLang="en-US" dirty="0"/>
              <a:t>とかは適当で，意味はない</a:t>
            </a:r>
            <a:endParaRPr kumimoji="1" lang="en-US" altLang="ja-JP" dirty="0"/>
          </a:p>
          <a:p>
            <a:r>
              <a:rPr kumimoji="1" lang="ja-JP" altLang="en-US" dirty="0"/>
              <a:t>対策の例：</a:t>
            </a:r>
            <a:r>
              <a:rPr kumimoji="1" lang="en-US" altLang="ja-JP" dirty="0"/>
              <a:t>PC </a:t>
            </a:r>
            <a:r>
              <a:rPr kumimoji="1" lang="ja-JP" altLang="en-US" dirty="0"/>
              <a:t>と履歴をビット結合する</a:t>
            </a:r>
            <a:endParaRPr kumimoji="1" lang="en-US" altLang="ja-JP" dirty="0"/>
          </a:p>
          <a:p>
            <a:pPr lvl="1"/>
            <a:r>
              <a:rPr kumimoji="1" lang="en-US" altLang="ja-JP" dirty="0"/>
              <a:t>0x4000 </a:t>
            </a:r>
            <a:r>
              <a:rPr kumimoji="1" lang="ja-JP" altLang="en-US" dirty="0"/>
              <a:t>と</a:t>
            </a:r>
            <a:r>
              <a:rPr kumimoji="1" lang="en-US" altLang="ja-JP" dirty="0"/>
              <a:t> 0xa </a:t>
            </a:r>
            <a:r>
              <a:rPr lang="en-US" altLang="ja-JP" dirty="0"/>
              <a:t>(2</a:t>
            </a:r>
            <a:r>
              <a:rPr lang="ja-JP" altLang="en-US" dirty="0"/>
              <a:t>進で</a:t>
            </a:r>
            <a:r>
              <a:rPr lang="en-US" altLang="ja-JP" dirty="0"/>
              <a:t>1010=0xa) </a:t>
            </a:r>
            <a:r>
              <a:rPr lang="ja-JP" altLang="en-US" dirty="0"/>
              <a:t>を結合 → </a:t>
            </a:r>
            <a:r>
              <a:rPr lang="en-US" altLang="ja-JP" dirty="0"/>
              <a:t>0x4000a </a:t>
            </a:r>
            <a:r>
              <a:rPr lang="ja-JP" altLang="en-US" dirty="0"/>
              <a:t>をインデクスに</a:t>
            </a:r>
            <a:endParaRPr kumimoji="1" lang="en-US" altLang="ja-JP" dirty="0"/>
          </a:p>
          <a:p>
            <a:pPr lvl="1"/>
            <a:r>
              <a:rPr lang="en-US" altLang="ja-JP" dirty="0"/>
              <a:t>0x8044 </a:t>
            </a:r>
            <a:r>
              <a:rPr lang="ja-JP" altLang="en-US" dirty="0"/>
              <a:t>と</a:t>
            </a:r>
            <a:r>
              <a:rPr lang="en-US" altLang="ja-JP" dirty="0"/>
              <a:t> 0xa (2</a:t>
            </a:r>
            <a:r>
              <a:rPr lang="ja-JP" altLang="en-US" dirty="0"/>
              <a:t>進で</a:t>
            </a:r>
            <a:r>
              <a:rPr lang="en-US" altLang="ja-JP" dirty="0"/>
              <a:t>1010=0xa) </a:t>
            </a:r>
            <a:r>
              <a:rPr lang="ja-JP" altLang="en-US" dirty="0"/>
              <a:t>を結合 → </a:t>
            </a:r>
            <a:r>
              <a:rPr lang="en-US" altLang="ja-JP" dirty="0"/>
              <a:t>0x8044a </a:t>
            </a:r>
            <a:r>
              <a:rPr lang="ja-JP" altLang="en-US" dirty="0"/>
              <a:t>をインデクスに</a:t>
            </a:r>
            <a:endParaRPr lang="en-US" altLang="ja-JP" dirty="0"/>
          </a:p>
        </p:txBody>
      </p:sp>
    </p:spTree>
    <p:extLst>
      <p:ext uri="{BB962C8B-B14F-4D97-AF65-F5344CB8AC3E}">
        <p14:creationId xmlns:p14="http://schemas.microsoft.com/office/powerpoint/2010/main" val="2769923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履歴を用いた予測器</a:t>
            </a:r>
          </a:p>
        </p:txBody>
      </p:sp>
      <p:sp>
        <p:nvSpPr>
          <p:cNvPr id="3" name="テキスト プレースホルダー 2"/>
          <p:cNvSpPr>
            <a:spLocks noGrp="1"/>
          </p:cNvSpPr>
          <p:nvPr>
            <p:ph type="body" sz="quarter" idx="10"/>
          </p:nvPr>
        </p:nvSpPr>
        <p:spPr/>
        <p:txBody>
          <a:bodyPr/>
          <a:lstStyle/>
          <a:p>
            <a:r>
              <a:rPr kumimoji="1" lang="ja-JP" altLang="en-US" dirty="0"/>
              <a:t>この履歴の保持方法</a:t>
            </a:r>
            <a:r>
              <a:rPr kumimoji="1" lang="en-US" altLang="ja-JP" dirty="0"/>
              <a:t>/</a:t>
            </a:r>
            <a:r>
              <a:rPr kumimoji="1" lang="ja-JP" altLang="en-US" dirty="0"/>
              <a:t>作り方の違いで，いくつかの方法がある</a:t>
            </a:r>
            <a:endParaRPr kumimoji="1" lang="en-US" altLang="ja-JP" dirty="0"/>
          </a:p>
          <a:p>
            <a:pPr marL="817200" lvl="1" indent="-457200">
              <a:buFont typeface="+mj-lt"/>
              <a:buAutoNum type="arabicPeriod"/>
            </a:pPr>
            <a:endParaRPr kumimoji="1" lang="en-US" altLang="ja-JP" dirty="0"/>
          </a:p>
          <a:p>
            <a:pPr marL="817200" lvl="1" indent="-457200">
              <a:buFont typeface="+mj-lt"/>
              <a:buAutoNum type="arabicPeriod"/>
            </a:pPr>
            <a:r>
              <a:rPr kumimoji="1" lang="ja-JP" altLang="en-US" dirty="0"/>
              <a:t>ローカル履歴予測器</a:t>
            </a:r>
            <a:endParaRPr kumimoji="1" lang="en-US" altLang="ja-JP" dirty="0"/>
          </a:p>
          <a:p>
            <a:pPr lvl="2"/>
            <a:r>
              <a:rPr lang="en-US" altLang="ja-JP" dirty="0"/>
              <a:t>PC </a:t>
            </a:r>
            <a:r>
              <a:rPr lang="ja-JP" altLang="en-US" dirty="0"/>
              <a:t>ごとに履歴を保持</a:t>
            </a:r>
            <a:endParaRPr lang="en-US" altLang="ja-JP" dirty="0"/>
          </a:p>
          <a:p>
            <a:pPr marL="817200" lvl="1" indent="-457200">
              <a:buFont typeface="+mj-lt"/>
              <a:buAutoNum type="arabicPeriod"/>
            </a:pPr>
            <a:endParaRPr lang="en-US" altLang="ja-JP" dirty="0"/>
          </a:p>
          <a:p>
            <a:pPr marL="817200" lvl="1" indent="-457200">
              <a:buFont typeface="+mj-lt"/>
              <a:buAutoNum type="arabicPeriod"/>
            </a:pPr>
            <a:r>
              <a:rPr lang="ja-JP" altLang="en-US" dirty="0"/>
              <a:t>グローバル履歴予測器</a:t>
            </a:r>
            <a:endParaRPr lang="en-US" altLang="ja-JP" dirty="0"/>
          </a:p>
          <a:p>
            <a:pPr lvl="2"/>
            <a:r>
              <a:rPr lang="en-US" altLang="ja-JP" dirty="0"/>
              <a:t>PC </a:t>
            </a:r>
            <a:r>
              <a:rPr lang="ja-JP" altLang="en-US" dirty="0"/>
              <a:t>を区別せず履歴を保持</a:t>
            </a:r>
            <a:endParaRPr lang="en-US" altLang="ja-JP" dirty="0"/>
          </a:p>
        </p:txBody>
      </p:sp>
    </p:spTree>
    <p:extLst>
      <p:ext uri="{BB962C8B-B14F-4D97-AF65-F5344CB8AC3E}">
        <p14:creationId xmlns:p14="http://schemas.microsoft.com/office/powerpoint/2010/main" val="25265016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ローカル履歴予測器</a:t>
            </a:r>
          </a:p>
        </p:txBody>
      </p:sp>
      <p:sp>
        <p:nvSpPr>
          <p:cNvPr id="3" name="テキスト プレースホルダー 2"/>
          <p:cNvSpPr>
            <a:spLocks noGrp="1"/>
          </p:cNvSpPr>
          <p:nvPr>
            <p:ph type="body" sz="quarter" idx="10"/>
          </p:nvPr>
        </p:nvSpPr>
        <p:spPr>
          <a:xfrm>
            <a:off x="1685951" y="5409022"/>
            <a:ext cx="8280092" cy="989704"/>
          </a:xfrm>
        </p:spPr>
        <p:txBody>
          <a:bodyPr/>
          <a:lstStyle/>
          <a:p>
            <a:r>
              <a:rPr kumimoji="1" lang="ja-JP" altLang="en-US" dirty="0"/>
              <a:t>ローカル履歴表：</a:t>
            </a:r>
            <a:endParaRPr kumimoji="1" lang="en-US" altLang="ja-JP" dirty="0"/>
          </a:p>
          <a:p>
            <a:pPr lvl="1"/>
            <a:r>
              <a:rPr lang="en-US" altLang="ja-JP" dirty="0"/>
              <a:t>PC </a:t>
            </a:r>
            <a:r>
              <a:rPr lang="ja-JP" altLang="en-US" dirty="0"/>
              <a:t>の下位 </a:t>
            </a:r>
            <a:r>
              <a:rPr lang="en-US" altLang="ja-JP" dirty="0"/>
              <a:t>n </a:t>
            </a:r>
            <a:r>
              <a:rPr lang="ja-JP" altLang="en-US" dirty="0"/>
              <a:t>ビットを</a:t>
            </a:r>
            <a:br>
              <a:rPr lang="en-US" altLang="ja-JP" dirty="0"/>
            </a:br>
            <a:r>
              <a:rPr lang="ja-JP" altLang="en-US" dirty="0"/>
              <a:t>インデクスとしてアクセス</a:t>
            </a:r>
            <a:endParaRPr lang="en-US" altLang="ja-JP" dirty="0"/>
          </a:p>
          <a:p>
            <a:pPr lvl="1"/>
            <a:r>
              <a:rPr lang="ja-JP" altLang="en-US" dirty="0"/>
              <a:t>各エントリは複数ビットのシフト・レジスタ</a:t>
            </a:r>
            <a:endParaRPr lang="en-US" altLang="ja-JP" dirty="0"/>
          </a:p>
        </p:txBody>
      </p:sp>
      <p:sp>
        <p:nvSpPr>
          <p:cNvPr id="4" name="Rectangle 89"/>
          <p:cNvSpPr>
            <a:spLocks noChangeArrowheads="1"/>
          </p:cNvSpPr>
          <p:nvPr/>
        </p:nvSpPr>
        <p:spPr bwMode="auto">
          <a:xfrm>
            <a:off x="3216122" y="1268976"/>
            <a:ext cx="1439863" cy="360362"/>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b="1" dirty="0">
              <a:solidFill>
                <a:schemeClr val="accent5"/>
              </a:solidFill>
              <a:latin typeface="MeiryoKe_PGothic" pitchFamily="50" charset="-128"/>
              <a:ea typeface="MeiryoKe_PGothic" pitchFamily="50" charset="-128"/>
            </a:endParaRPr>
          </a:p>
        </p:txBody>
      </p:sp>
      <p:sp>
        <p:nvSpPr>
          <p:cNvPr id="5" name="Rectangle 128"/>
          <p:cNvSpPr>
            <a:spLocks noChangeArrowheads="1"/>
          </p:cNvSpPr>
          <p:nvPr/>
        </p:nvSpPr>
        <p:spPr bwMode="auto">
          <a:xfrm>
            <a:off x="2676115" y="1268977"/>
            <a:ext cx="540006" cy="314325"/>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eaLnBrk="0" hangingPunct="0"/>
            <a:r>
              <a:rPr lang="en-US" altLang="ja-JP" dirty="0">
                <a:solidFill>
                  <a:schemeClr val="tx1">
                    <a:lumMod val="75000"/>
                    <a:lumOff val="25000"/>
                  </a:schemeClr>
                </a:solidFill>
                <a:latin typeface="MeiryoKe_PGothic" pitchFamily="50" charset="-128"/>
                <a:ea typeface="MeiryoKe_PGothic" pitchFamily="50" charset="-128"/>
              </a:rPr>
              <a:t>PC</a:t>
            </a:r>
          </a:p>
        </p:txBody>
      </p:sp>
      <p:sp>
        <p:nvSpPr>
          <p:cNvPr id="6" name="Rectangle 13"/>
          <p:cNvSpPr>
            <a:spLocks noChangeArrowheads="1"/>
          </p:cNvSpPr>
          <p:nvPr/>
        </p:nvSpPr>
        <p:spPr bwMode="auto">
          <a:xfrm>
            <a:off x="4655985" y="1268976"/>
            <a:ext cx="720725" cy="360362"/>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b="1" dirty="0">
              <a:solidFill>
                <a:schemeClr val="accent3">
                  <a:lumMod val="75000"/>
                </a:schemeClr>
              </a:solidFill>
              <a:latin typeface="MeiryoKe_PGothic" pitchFamily="50" charset="-128"/>
              <a:ea typeface="MeiryoKe_PGothic" pitchFamily="50" charset="-128"/>
            </a:endParaRPr>
          </a:p>
        </p:txBody>
      </p:sp>
      <p:sp>
        <p:nvSpPr>
          <p:cNvPr id="7" name="Freeform 10"/>
          <p:cNvSpPr>
            <a:spLocks/>
          </p:cNvSpPr>
          <p:nvPr/>
        </p:nvSpPr>
        <p:spPr bwMode="auto">
          <a:xfrm rot="16200000" flipV="1">
            <a:off x="4385980" y="2348988"/>
            <a:ext cx="2340026"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triangle" w="lg" len="lg"/>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a:latin typeface="Arial Narrow" pitchFamily="34" charset="0"/>
              <a:cs typeface="Times New Roman" pitchFamily="18" charset="0"/>
            </a:endParaRPr>
          </a:p>
        </p:txBody>
      </p:sp>
      <p:sp>
        <p:nvSpPr>
          <p:cNvPr id="8" name="Rectangle 154"/>
          <p:cNvSpPr>
            <a:spLocks noChangeArrowheads="1"/>
          </p:cNvSpPr>
          <p:nvPr/>
        </p:nvSpPr>
        <p:spPr bwMode="auto">
          <a:xfrm>
            <a:off x="6186002" y="2348988"/>
            <a:ext cx="718369" cy="2608442"/>
          </a:xfrm>
          <a:prstGeom prst="rect">
            <a:avLst/>
          </a:prstGeom>
          <a:ln>
            <a:solidFill>
              <a:schemeClr val="tx1">
                <a:lumMod val="75000"/>
                <a:lumOff val="25000"/>
              </a:schemeClr>
            </a:solidFill>
            <a:headEnd/>
            <a:tailEnd/>
          </a:ln>
        </p:spPr>
        <p:style>
          <a:lnRef idx="2">
            <a:schemeClr val="dk1"/>
          </a:lnRef>
          <a:fillRef idx="1">
            <a:schemeClr val="lt1"/>
          </a:fillRef>
          <a:effectRef idx="0">
            <a:schemeClr val="dk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MeiryoKe_PGothic" pitchFamily="50" charset="-128"/>
              <a:ea typeface="MeiryoKe_PGothic" pitchFamily="50" charset="-128"/>
            </a:endParaRPr>
          </a:p>
        </p:txBody>
      </p:sp>
      <p:sp>
        <p:nvSpPr>
          <p:cNvPr id="9" name="Rectangle 195"/>
          <p:cNvSpPr>
            <a:spLocks noChangeArrowheads="1"/>
          </p:cNvSpPr>
          <p:nvPr/>
        </p:nvSpPr>
        <p:spPr bwMode="auto">
          <a:xfrm>
            <a:off x="6186001" y="3879006"/>
            <a:ext cx="720008" cy="360363"/>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accent5"/>
                </a:solidFill>
                <a:latin typeface="MeiryoKe_PGothic" pitchFamily="50" charset="-128"/>
                <a:ea typeface="MeiryoKe_PGothic" pitchFamily="50" charset="-128"/>
              </a:rPr>
              <a:t>1101</a:t>
            </a:r>
            <a:endParaRPr lang="ja-JP" altLang="en-US" b="1" dirty="0">
              <a:solidFill>
                <a:schemeClr val="accent5"/>
              </a:solidFill>
              <a:latin typeface="MeiryoKe_PGothic" pitchFamily="50" charset="-128"/>
              <a:ea typeface="MeiryoKe_PGothic" pitchFamily="50" charset="-128"/>
            </a:endParaRPr>
          </a:p>
        </p:txBody>
      </p:sp>
      <p:sp>
        <p:nvSpPr>
          <p:cNvPr id="10" name="正方形/長方形 9"/>
          <p:cNvSpPr/>
          <p:nvPr/>
        </p:nvSpPr>
        <p:spPr bwMode="auto">
          <a:xfrm>
            <a:off x="6184363" y="2347401"/>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11" name="正方形/長方形 10"/>
          <p:cNvSpPr/>
          <p:nvPr/>
        </p:nvSpPr>
        <p:spPr bwMode="auto">
          <a:xfrm>
            <a:off x="6184363" y="2707405"/>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12" name="正方形/長方形 11"/>
          <p:cNvSpPr/>
          <p:nvPr/>
        </p:nvSpPr>
        <p:spPr bwMode="auto">
          <a:xfrm>
            <a:off x="5824359" y="2347401"/>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0</a:t>
            </a:r>
            <a:endParaRPr lang="ja-JP" altLang="en-US" sz="2000" dirty="0">
              <a:solidFill>
                <a:schemeClr val="tx1">
                  <a:lumMod val="75000"/>
                  <a:lumOff val="25000"/>
                </a:schemeClr>
              </a:solidFill>
              <a:latin typeface="Arial Narrow" panose="020B0606020202030204" pitchFamily="34" charset="0"/>
            </a:endParaRPr>
          </a:p>
        </p:txBody>
      </p:sp>
      <p:sp>
        <p:nvSpPr>
          <p:cNvPr id="13" name="正方形/長方形 12"/>
          <p:cNvSpPr/>
          <p:nvPr/>
        </p:nvSpPr>
        <p:spPr bwMode="auto">
          <a:xfrm>
            <a:off x="5824358" y="2707405"/>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1</a:t>
            </a:r>
            <a:endParaRPr lang="ja-JP" altLang="en-US" sz="2000" dirty="0">
              <a:solidFill>
                <a:schemeClr val="tx1">
                  <a:lumMod val="75000"/>
                  <a:lumOff val="25000"/>
                </a:schemeClr>
              </a:solidFill>
              <a:latin typeface="Arial Narrow" panose="020B0606020202030204" pitchFamily="34" charset="0"/>
            </a:endParaRPr>
          </a:p>
        </p:txBody>
      </p:sp>
      <p:sp>
        <p:nvSpPr>
          <p:cNvPr id="14" name="正方形/長方形 13"/>
          <p:cNvSpPr/>
          <p:nvPr/>
        </p:nvSpPr>
        <p:spPr bwMode="auto">
          <a:xfrm>
            <a:off x="5824358" y="3067409"/>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15" name="正方形/長方形 14"/>
          <p:cNvSpPr/>
          <p:nvPr/>
        </p:nvSpPr>
        <p:spPr bwMode="auto">
          <a:xfrm>
            <a:off x="6364364" y="4057420"/>
            <a:ext cx="3477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17" name="Rectangle 133"/>
          <p:cNvSpPr>
            <a:spLocks noChangeArrowheads="1"/>
          </p:cNvSpPr>
          <p:nvPr/>
        </p:nvSpPr>
        <p:spPr bwMode="auto">
          <a:xfrm>
            <a:off x="4925988" y="4509013"/>
            <a:ext cx="719803"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ja-JP" altLang="en-US" dirty="0">
                <a:solidFill>
                  <a:schemeClr val="tx1">
                    <a:lumMod val="75000"/>
                    <a:lumOff val="25000"/>
                  </a:schemeClr>
                </a:solidFill>
                <a:latin typeface="+mn-ea"/>
                <a:ea typeface="+mn-ea"/>
              </a:rPr>
              <a:t>ローカル</a:t>
            </a:r>
            <a:endParaRPr lang="en-US" altLang="ja-JP" dirty="0">
              <a:solidFill>
                <a:schemeClr val="tx1">
                  <a:lumMod val="75000"/>
                  <a:lumOff val="25000"/>
                </a:schemeClr>
              </a:solidFill>
              <a:latin typeface="+mn-ea"/>
              <a:ea typeface="+mn-ea"/>
            </a:endParaRPr>
          </a:p>
          <a:p>
            <a:pPr eaLnBrk="0" hangingPunct="0"/>
            <a:r>
              <a:rPr lang="ja-JP" altLang="en-US" dirty="0">
                <a:solidFill>
                  <a:schemeClr val="tx1">
                    <a:lumMod val="75000"/>
                    <a:lumOff val="25000"/>
                  </a:schemeClr>
                </a:solidFill>
                <a:latin typeface="+mn-ea"/>
                <a:ea typeface="+mn-ea"/>
              </a:rPr>
              <a:t>履歴表</a:t>
            </a:r>
            <a:endParaRPr lang="en-US" altLang="ja-JP" dirty="0">
              <a:solidFill>
                <a:schemeClr val="tx1">
                  <a:lumMod val="75000"/>
                  <a:lumOff val="25000"/>
                </a:schemeClr>
              </a:solidFill>
              <a:latin typeface="+mn-ea"/>
              <a:ea typeface="+mn-ea"/>
            </a:endParaRPr>
          </a:p>
        </p:txBody>
      </p:sp>
      <p:cxnSp>
        <p:nvCxnSpPr>
          <p:cNvPr id="18" name="直線コネクタ 17"/>
          <p:cNvCxnSpPr/>
          <p:nvPr/>
        </p:nvCxnSpPr>
        <p:spPr bwMode="auto">
          <a:xfrm>
            <a:off x="4656137" y="1718981"/>
            <a:ext cx="720008" cy="0"/>
          </a:xfrm>
          <a:prstGeom prst="line">
            <a:avLst/>
          </a:prstGeom>
          <a:ln>
            <a:headEnd type="none" w="med" len="med"/>
            <a:tailEnd type="none" w="med" len="med"/>
          </a:ln>
        </p:spPr>
        <p:style>
          <a:lnRef idx="2">
            <a:schemeClr val="accent5"/>
          </a:lnRef>
          <a:fillRef idx="0">
            <a:schemeClr val="accent5"/>
          </a:fillRef>
          <a:effectRef idx="1">
            <a:schemeClr val="accent5"/>
          </a:effectRef>
          <a:fontRef idx="minor">
            <a:schemeClr val="tx1"/>
          </a:fontRef>
        </p:style>
      </p:cxnSp>
      <p:sp>
        <p:nvSpPr>
          <p:cNvPr id="19" name="正方形/長方形 18"/>
          <p:cNvSpPr/>
          <p:nvPr/>
        </p:nvSpPr>
        <p:spPr bwMode="auto">
          <a:xfrm>
            <a:off x="3665973" y="2438989"/>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PC </a:t>
            </a:r>
            <a:r>
              <a:rPr lang="ja-JP" altLang="en-US" sz="2000" dirty="0">
                <a:solidFill>
                  <a:schemeClr val="tx1">
                    <a:lumMod val="75000"/>
                    <a:lumOff val="25000"/>
                  </a:schemeClr>
                </a:solidFill>
                <a:latin typeface="Arial Narrow" panose="020B0606020202030204" pitchFamily="34" charset="0"/>
              </a:rPr>
              <a:t>の下位 </a:t>
            </a:r>
            <a:r>
              <a:rPr lang="en-US" altLang="ja-JP" sz="2000" dirty="0">
                <a:solidFill>
                  <a:schemeClr val="tx1">
                    <a:lumMod val="75000"/>
                    <a:lumOff val="25000"/>
                  </a:schemeClr>
                </a:solidFill>
                <a:latin typeface="Arial Narrow" panose="020B0606020202030204" pitchFamily="34" charset="0"/>
              </a:rPr>
              <a:t>n </a:t>
            </a:r>
            <a:r>
              <a:rPr lang="ja-JP" altLang="en-US" sz="2000" dirty="0">
                <a:solidFill>
                  <a:schemeClr val="tx1">
                    <a:lumMod val="75000"/>
                    <a:lumOff val="25000"/>
                  </a:schemeClr>
                </a:solidFill>
                <a:latin typeface="Arial Narrow" panose="020B0606020202030204" pitchFamily="34" charset="0"/>
              </a:rPr>
              <a:t>ビット</a:t>
            </a:r>
          </a:p>
        </p:txBody>
      </p:sp>
      <p:sp>
        <p:nvSpPr>
          <p:cNvPr id="20" name="正方形/長方形 19"/>
          <p:cNvSpPr/>
          <p:nvPr/>
        </p:nvSpPr>
        <p:spPr bwMode="auto">
          <a:xfrm>
            <a:off x="6184363" y="4597426"/>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21" name="正方形/長方形 20"/>
          <p:cNvSpPr/>
          <p:nvPr/>
        </p:nvSpPr>
        <p:spPr bwMode="auto">
          <a:xfrm>
            <a:off x="6364364" y="3067409"/>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cxnSp>
        <p:nvCxnSpPr>
          <p:cNvPr id="22" name="直線矢印コネクタ 21"/>
          <p:cNvCxnSpPr/>
          <p:nvPr/>
        </p:nvCxnSpPr>
        <p:spPr bwMode="auto">
          <a:xfrm>
            <a:off x="6544366" y="4957431"/>
            <a:ext cx="0" cy="450005"/>
          </a:xfrm>
          <a:prstGeom prst="straightConnector1">
            <a:avLst/>
          </a:prstGeom>
          <a:ln>
            <a:headEnd type="none" w="sm" len="sm"/>
            <a:tailEnd type="triangle" w="lg" len="lg"/>
          </a:ln>
        </p:spPr>
        <p:style>
          <a:lnRef idx="2">
            <a:schemeClr val="accent5"/>
          </a:lnRef>
          <a:fillRef idx="0">
            <a:schemeClr val="accent5"/>
          </a:fillRef>
          <a:effectRef idx="1">
            <a:schemeClr val="accent5"/>
          </a:effectRef>
          <a:fontRef idx="minor">
            <a:schemeClr val="tx1"/>
          </a:fontRef>
        </p:style>
      </p:cxnSp>
      <p:sp>
        <p:nvSpPr>
          <p:cNvPr id="26" name="Freeform 10"/>
          <p:cNvSpPr>
            <a:spLocks/>
          </p:cNvSpPr>
          <p:nvPr/>
        </p:nvSpPr>
        <p:spPr bwMode="auto">
          <a:xfrm rot="10800000">
            <a:off x="5015988" y="1988983"/>
            <a:ext cx="2250025" cy="342003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triangle" w="lg" len="lg"/>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a:latin typeface="Arial Narrow" pitchFamily="34" charset="0"/>
              <a:cs typeface="Times New Roman" pitchFamily="18" charset="0"/>
            </a:endParaRPr>
          </a:p>
        </p:txBody>
      </p:sp>
      <p:sp>
        <p:nvSpPr>
          <p:cNvPr id="27" name="Rectangle 154"/>
          <p:cNvSpPr>
            <a:spLocks noChangeArrowheads="1"/>
          </p:cNvSpPr>
          <p:nvPr/>
        </p:nvSpPr>
        <p:spPr bwMode="auto">
          <a:xfrm>
            <a:off x="8437666" y="2800580"/>
            <a:ext cx="718369" cy="2608442"/>
          </a:xfrm>
          <a:prstGeom prst="rect">
            <a:avLst/>
          </a:prstGeom>
          <a:ln>
            <a:solidFill>
              <a:schemeClr val="tx1">
                <a:lumMod val="75000"/>
                <a:lumOff val="25000"/>
              </a:schemeClr>
            </a:solidFill>
            <a:headEnd/>
            <a:tailEnd/>
          </a:ln>
        </p:spPr>
        <p:style>
          <a:lnRef idx="2">
            <a:schemeClr val="dk1"/>
          </a:lnRef>
          <a:fillRef idx="1">
            <a:schemeClr val="lt1"/>
          </a:fillRef>
          <a:effectRef idx="0">
            <a:schemeClr val="dk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MeiryoKe_PGothic" pitchFamily="50" charset="-128"/>
              <a:ea typeface="MeiryoKe_PGothic" pitchFamily="50" charset="-128"/>
            </a:endParaRPr>
          </a:p>
        </p:txBody>
      </p:sp>
      <p:sp>
        <p:nvSpPr>
          <p:cNvPr id="28" name="Rectangle 195"/>
          <p:cNvSpPr>
            <a:spLocks noChangeArrowheads="1"/>
          </p:cNvSpPr>
          <p:nvPr/>
        </p:nvSpPr>
        <p:spPr bwMode="auto">
          <a:xfrm>
            <a:off x="8436026" y="3879006"/>
            <a:ext cx="720008" cy="360363"/>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accent5"/>
                </a:solidFill>
                <a:latin typeface="MeiryoKe_PGothic" pitchFamily="50" charset="-128"/>
                <a:ea typeface="MeiryoKe_PGothic" pitchFamily="50" charset="-128"/>
              </a:rPr>
              <a:t>01</a:t>
            </a:r>
            <a:endParaRPr lang="ja-JP" altLang="en-US" b="1" dirty="0">
              <a:solidFill>
                <a:schemeClr val="accent5"/>
              </a:solidFill>
              <a:latin typeface="MeiryoKe_PGothic" pitchFamily="50" charset="-128"/>
              <a:ea typeface="MeiryoKe_PGothic" pitchFamily="50" charset="-128"/>
            </a:endParaRPr>
          </a:p>
        </p:txBody>
      </p:sp>
      <p:sp>
        <p:nvSpPr>
          <p:cNvPr id="29" name="正方形/長方形 28"/>
          <p:cNvSpPr/>
          <p:nvPr/>
        </p:nvSpPr>
        <p:spPr bwMode="auto">
          <a:xfrm>
            <a:off x="8436027" y="2798993"/>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30" name="正方形/長方形 29"/>
          <p:cNvSpPr/>
          <p:nvPr/>
        </p:nvSpPr>
        <p:spPr bwMode="auto">
          <a:xfrm>
            <a:off x="8436027" y="3158997"/>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31" name="正方形/長方形 30"/>
          <p:cNvSpPr/>
          <p:nvPr/>
        </p:nvSpPr>
        <p:spPr bwMode="auto">
          <a:xfrm>
            <a:off x="8076023" y="2798993"/>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0</a:t>
            </a:r>
            <a:endParaRPr lang="ja-JP" altLang="en-US" sz="2000" dirty="0">
              <a:solidFill>
                <a:schemeClr val="tx1">
                  <a:lumMod val="75000"/>
                  <a:lumOff val="25000"/>
                </a:schemeClr>
              </a:solidFill>
              <a:latin typeface="Arial Narrow" panose="020B0606020202030204" pitchFamily="34" charset="0"/>
            </a:endParaRPr>
          </a:p>
        </p:txBody>
      </p:sp>
      <p:sp>
        <p:nvSpPr>
          <p:cNvPr id="32" name="正方形/長方形 31"/>
          <p:cNvSpPr/>
          <p:nvPr/>
        </p:nvSpPr>
        <p:spPr bwMode="auto">
          <a:xfrm>
            <a:off x="8076022" y="3158997"/>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1</a:t>
            </a:r>
            <a:endParaRPr lang="ja-JP" altLang="en-US" sz="2000" dirty="0">
              <a:solidFill>
                <a:schemeClr val="tx1">
                  <a:lumMod val="75000"/>
                  <a:lumOff val="25000"/>
                </a:schemeClr>
              </a:solidFill>
              <a:latin typeface="Arial Narrow" panose="020B0606020202030204" pitchFamily="34" charset="0"/>
            </a:endParaRPr>
          </a:p>
        </p:txBody>
      </p:sp>
      <p:sp>
        <p:nvSpPr>
          <p:cNvPr id="33" name="正方形/長方形 32"/>
          <p:cNvSpPr/>
          <p:nvPr/>
        </p:nvSpPr>
        <p:spPr bwMode="auto">
          <a:xfrm>
            <a:off x="8076022" y="3429000"/>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34" name="正方形/長方形 33"/>
          <p:cNvSpPr/>
          <p:nvPr/>
        </p:nvSpPr>
        <p:spPr bwMode="auto">
          <a:xfrm>
            <a:off x="8616028" y="4509012"/>
            <a:ext cx="3477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35" name="正方形/長方形 34"/>
          <p:cNvSpPr/>
          <p:nvPr/>
        </p:nvSpPr>
        <p:spPr bwMode="auto">
          <a:xfrm>
            <a:off x="8436027" y="5049018"/>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36" name="正方形/長方形 35"/>
          <p:cNvSpPr/>
          <p:nvPr/>
        </p:nvSpPr>
        <p:spPr bwMode="auto">
          <a:xfrm>
            <a:off x="8616028" y="3429000"/>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37" name="Freeform 10"/>
          <p:cNvSpPr>
            <a:spLocks/>
          </p:cNvSpPr>
          <p:nvPr/>
        </p:nvSpPr>
        <p:spPr bwMode="auto">
          <a:xfrm rot="16200000" flipV="1">
            <a:off x="6996010" y="5319021"/>
            <a:ext cx="810008" cy="99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none" w="lg" len="lg"/>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a:latin typeface="Arial Narrow" pitchFamily="34" charset="0"/>
              <a:cs typeface="Times New Roman" pitchFamily="18" charset="0"/>
            </a:endParaRPr>
          </a:p>
        </p:txBody>
      </p:sp>
      <p:cxnSp>
        <p:nvCxnSpPr>
          <p:cNvPr id="38" name="直線コネクタ 37"/>
          <p:cNvCxnSpPr/>
          <p:nvPr/>
        </p:nvCxnSpPr>
        <p:spPr bwMode="auto">
          <a:xfrm>
            <a:off x="6366003" y="5409022"/>
            <a:ext cx="1080012" cy="0"/>
          </a:xfrm>
          <a:prstGeom prst="line">
            <a:avLst/>
          </a:prstGeom>
          <a:ln>
            <a:headEnd type="none" w="med" len="med"/>
            <a:tailEnd type="none" w="med" len="med"/>
          </a:ln>
        </p:spPr>
        <p:style>
          <a:lnRef idx="2">
            <a:schemeClr val="accent5"/>
          </a:lnRef>
          <a:fillRef idx="0">
            <a:schemeClr val="accent5"/>
          </a:fillRef>
          <a:effectRef idx="1">
            <a:schemeClr val="accent5"/>
          </a:effectRef>
          <a:fontRef idx="minor">
            <a:schemeClr val="tx1"/>
          </a:fontRef>
        </p:style>
      </p:cxnSp>
      <p:sp>
        <p:nvSpPr>
          <p:cNvPr id="40" name="Freeform 10"/>
          <p:cNvSpPr>
            <a:spLocks/>
          </p:cNvSpPr>
          <p:nvPr/>
        </p:nvSpPr>
        <p:spPr bwMode="auto">
          <a:xfrm rot="5400000">
            <a:off x="7086011" y="4869019"/>
            <a:ext cx="2160025" cy="54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triangle" w="lg" len="lg"/>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a:latin typeface="Arial Narrow" pitchFamily="34" charset="0"/>
              <a:cs typeface="Times New Roman" pitchFamily="18" charset="0"/>
            </a:endParaRPr>
          </a:p>
        </p:txBody>
      </p:sp>
      <p:sp>
        <p:nvSpPr>
          <p:cNvPr id="41" name="Rectangle 133"/>
          <p:cNvSpPr>
            <a:spLocks noChangeArrowheads="1"/>
          </p:cNvSpPr>
          <p:nvPr/>
        </p:nvSpPr>
        <p:spPr bwMode="auto">
          <a:xfrm>
            <a:off x="8076023" y="2168987"/>
            <a:ext cx="719803"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en-US" altLang="ja-JP" dirty="0">
                <a:solidFill>
                  <a:schemeClr val="tx1">
                    <a:lumMod val="75000"/>
                    <a:lumOff val="25000"/>
                  </a:schemeClr>
                </a:solidFill>
                <a:latin typeface="+mn-ea"/>
                <a:ea typeface="+mn-ea"/>
              </a:rPr>
              <a:t>PHT</a:t>
            </a:r>
          </a:p>
          <a:p>
            <a:pPr eaLnBrk="0" hangingPunct="0"/>
            <a:r>
              <a:rPr lang="en-US" altLang="ja-JP" dirty="0">
                <a:solidFill>
                  <a:schemeClr val="tx1">
                    <a:lumMod val="75000"/>
                    <a:lumOff val="25000"/>
                  </a:schemeClr>
                </a:solidFill>
                <a:latin typeface="+mn-ea"/>
                <a:ea typeface="+mn-ea"/>
              </a:rPr>
              <a:t>(2</a:t>
            </a:r>
            <a:r>
              <a:rPr lang="ja-JP" altLang="en-US" dirty="0">
                <a:solidFill>
                  <a:schemeClr val="tx1">
                    <a:lumMod val="75000"/>
                    <a:lumOff val="25000"/>
                  </a:schemeClr>
                </a:solidFill>
                <a:latin typeface="+mn-ea"/>
                <a:ea typeface="+mn-ea"/>
              </a:rPr>
              <a:t>ビット・カウンタ</a:t>
            </a:r>
            <a:r>
              <a:rPr lang="en-US" altLang="ja-JP" dirty="0">
                <a:solidFill>
                  <a:schemeClr val="tx1">
                    <a:lumMod val="75000"/>
                    <a:lumOff val="25000"/>
                  </a:schemeClr>
                </a:solidFill>
                <a:latin typeface="+mn-ea"/>
                <a:ea typeface="+mn-ea"/>
              </a:rPr>
              <a:t>)</a:t>
            </a:r>
          </a:p>
        </p:txBody>
      </p:sp>
      <p:sp>
        <p:nvSpPr>
          <p:cNvPr id="42" name="Rectangle 133"/>
          <p:cNvSpPr>
            <a:spLocks noChangeArrowheads="1"/>
          </p:cNvSpPr>
          <p:nvPr/>
        </p:nvSpPr>
        <p:spPr bwMode="auto">
          <a:xfrm>
            <a:off x="6996011" y="5499024"/>
            <a:ext cx="719803"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ja-JP" altLang="en-US" dirty="0">
                <a:solidFill>
                  <a:schemeClr val="tx1">
                    <a:lumMod val="75000"/>
                    <a:lumOff val="25000"/>
                  </a:schemeClr>
                </a:solidFill>
                <a:latin typeface="+mn-ea"/>
                <a:ea typeface="+mn-ea"/>
              </a:rPr>
              <a:t>連結</a:t>
            </a:r>
            <a:endParaRPr lang="en-US" altLang="ja-JP" dirty="0">
              <a:solidFill>
                <a:schemeClr val="tx1">
                  <a:lumMod val="75000"/>
                  <a:lumOff val="25000"/>
                </a:schemeClr>
              </a:solidFill>
              <a:latin typeface="+mn-ea"/>
              <a:ea typeface="+mn-ea"/>
            </a:endParaRPr>
          </a:p>
        </p:txBody>
      </p:sp>
    </p:spTree>
    <p:extLst>
      <p:ext uri="{BB962C8B-B14F-4D97-AF65-F5344CB8AC3E}">
        <p14:creationId xmlns:p14="http://schemas.microsoft.com/office/powerpoint/2010/main" val="10398313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ローカル履歴表</a:t>
            </a:r>
            <a:endParaRPr kumimoji="1" lang="ja-JP" altLang="en-US" dirty="0"/>
          </a:p>
        </p:txBody>
      </p:sp>
      <p:sp>
        <p:nvSpPr>
          <p:cNvPr id="3" name="テキスト プレースホルダー 2"/>
          <p:cNvSpPr>
            <a:spLocks noGrp="1"/>
          </p:cNvSpPr>
          <p:nvPr>
            <p:ph type="body" sz="quarter" idx="10"/>
          </p:nvPr>
        </p:nvSpPr>
        <p:spPr>
          <a:xfrm>
            <a:off x="2225957" y="2528631"/>
            <a:ext cx="8280092" cy="719701"/>
          </a:xfrm>
        </p:spPr>
        <p:txBody>
          <a:bodyPr/>
          <a:lstStyle/>
          <a:p>
            <a:r>
              <a:rPr kumimoji="1" lang="ja-JP" altLang="en-US" dirty="0"/>
              <a:t>その </a:t>
            </a:r>
            <a:r>
              <a:rPr kumimoji="1" lang="en-US" altLang="ja-JP" dirty="0"/>
              <a:t>PC </a:t>
            </a:r>
            <a:r>
              <a:rPr kumimoji="1" lang="ja-JP" altLang="en-US" dirty="0"/>
              <a:t>の分岐の，過去の分岐方向のパターンを表す</a:t>
            </a:r>
            <a:endParaRPr kumimoji="1" lang="en-US" altLang="ja-JP" dirty="0"/>
          </a:p>
          <a:p>
            <a:r>
              <a:rPr kumimoji="1" lang="ja-JP" altLang="en-US" dirty="0"/>
              <a:t>分岐が実行されるごとに，</a:t>
            </a:r>
            <a:endParaRPr kumimoji="1" lang="en-US" altLang="ja-JP" dirty="0"/>
          </a:p>
          <a:p>
            <a:pPr lvl="1"/>
            <a:r>
              <a:rPr kumimoji="1" lang="ja-JP" altLang="en-US" dirty="0"/>
              <a:t>全体を左にシフトし</a:t>
            </a:r>
            <a:endParaRPr kumimoji="1" lang="en-US" altLang="ja-JP" dirty="0"/>
          </a:p>
          <a:p>
            <a:pPr lvl="1"/>
            <a:r>
              <a:rPr kumimoji="1" lang="ja-JP" altLang="en-US" dirty="0"/>
              <a:t>右側から新しい結果を挿入</a:t>
            </a:r>
            <a:endParaRPr kumimoji="1" lang="en-US" altLang="ja-JP" dirty="0"/>
          </a:p>
          <a:p>
            <a:r>
              <a:rPr lang="ja-JP" altLang="en-US" dirty="0"/>
              <a:t>下の図の場合は</a:t>
            </a:r>
            <a:r>
              <a:rPr kumimoji="1" lang="ja-JP" altLang="en-US" dirty="0"/>
              <a:t>４回に１回，不成立 </a:t>
            </a:r>
            <a:r>
              <a:rPr kumimoji="1" lang="en-US" altLang="ja-JP" dirty="0"/>
              <a:t>0 </a:t>
            </a:r>
            <a:r>
              <a:rPr kumimoji="1" lang="ja-JP" altLang="en-US" dirty="0"/>
              <a:t>が挿入されている</a:t>
            </a:r>
            <a:endParaRPr lang="en-US" altLang="ja-JP" dirty="0"/>
          </a:p>
          <a:p>
            <a:pPr lvl="1"/>
            <a:r>
              <a:rPr kumimoji="1" lang="ja-JP" altLang="en-US" dirty="0"/>
              <a:t>４回だけ回る </a:t>
            </a:r>
            <a:r>
              <a:rPr kumimoji="1" lang="en-US" altLang="ja-JP" dirty="0"/>
              <a:t>for </a:t>
            </a:r>
            <a:r>
              <a:rPr kumimoji="1" lang="ja-JP" altLang="en-US" dirty="0"/>
              <a:t>ループのパターン</a:t>
            </a:r>
          </a:p>
        </p:txBody>
      </p:sp>
      <p:sp>
        <p:nvSpPr>
          <p:cNvPr id="4" name="Rectangle 195"/>
          <p:cNvSpPr>
            <a:spLocks noChangeArrowheads="1"/>
          </p:cNvSpPr>
          <p:nvPr/>
        </p:nvSpPr>
        <p:spPr bwMode="auto">
          <a:xfrm>
            <a:off x="2135956" y="5228661"/>
            <a:ext cx="720008" cy="360363"/>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tx1">
                    <a:lumMod val="75000"/>
                    <a:lumOff val="25000"/>
                  </a:schemeClr>
                </a:solidFill>
                <a:latin typeface="MeiryoKe_PGothic" pitchFamily="50" charset="-128"/>
                <a:ea typeface="MeiryoKe_PGothic" pitchFamily="50" charset="-128"/>
              </a:rPr>
              <a:t>0111</a:t>
            </a:r>
            <a:endParaRPr lang="ja-JP" altLang="en-US" b="1" dirty="0">
              <a:solidFill>
                <a:schemeClr val="tx1">
                  <a:lumMod val="75000"/>
                  <a:lumOff val="25000"/>
                </a:schemeClr>
              </a:solidFill>
              <a:latin typeface="MeiryoKe_PGothic" pitchFamily="50" charset="-128"/>
              <a:ea typeface="MeiryoKe_PGothic" pitchFamily="50" charset="-128"/>
            </a:endParaRPr>
          </a:p>
        </p:txBody>
      </p:sp>
      <p:cxnSp>
        <p:nvCxnSpPr>
          <p:cNvPr id="6" name="直線矢印コネクタ 5"/>
          <p:cNvCxnSpPr/>
          <p:nvPr/>
        </p:nvCxnSpPr>
        <p:spPr bwMode="auto">
          <a:xfrm>
            <a:off x="3215968" y="5408662"/>
            <a:ext cx="540006" cy="0"/>
          </a:xfrm>
          <a:prstGeom prst="straightConnector1">
            <a:avLst/>
          </a:prstGeom>
          <a:ln>
            <a:headEnd type="none" w="med" len="med"/>
            <a:tailEnd type="triangle" w="lg" len="lg"/>
          </a:ln>
        </p:spPr>
        <p:style>
          <a:lnRef idx="2">
            <a:schemeClr val="accent5"/>
          </a:lnRef>
          <a:fillRef idx="0">
            <a:schemeClr val="accent5"/>
          </a:fillRef>
          <a:effectRef idx="1">
            <a:schemeClr val="accent5"/>
          </a:effectRef>
          <a:fontRef idx="minor">
            <a:schemeClr val="tx1"/>
          </a:fontRef>
        </p:style>
      </p:cxnSp>
      <p:sp>
        <p:nvSpPr>
          <p:cNvPr id="7" name="Rectangle 133"/>
          <p:cNvSpPr>
            <a:spLocks noChangeArrowheads="1"/>
          </p:cNvSpPr>
          <p:nvPr/>
        </p:nvSpPr>
        <p:spPr bwMode="auto">
          <a:xfrm>
            <a:off x="2855965" y="4958658"/>
            <a:ext cx="719803"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ja-JP" altLang="en-US" dirty="0">
                <a:solidFill>
                  <a:schemeClr val="tx1">
                    <a:lumMod val="75000"/>
                    <a:lumOff val="25000"/>
                  </a:schemeClr>
                </a:solidFill>
                <a:latin typeface="+mn-ea"/>
                <a:ea typeface="+mn-ea"/>
              </a:rPr>
              <a:t>不成立：</a:t>
            </a:r>
            <a:r>
              <a:rPr lang="en-US" altLang="ja-JP" dirty="0">
                <a:solidFill>
                  <a:schemeClr val="tx1">
                    <a:lumMod val="75000"/>
                    <a:lumOff val="25000"/>
                  </a:schemeClr>
                </a:solidFill>
                <a:latin typeface="+mn-ea"/>
                <a:ea typeface="+mn-ea"/>
              </a:rPr>
              <a:t>0</a:t>
            </a:r>
          </a:p>
        </p:txBody>
      </p:sp>
      <p:sp>
        <p:nvSpPr>
          <p:cNvPr id="8" name="Rectangle 195"/>
          <p:cNvSpPr>
            <a:spLocks noChangeArrowheads="1"/>
          </p:cNvSpPr>
          <p:nvPr/>
        </p:nvSpPr>
        <p:spPr bwMode="auto">
          <a:xfrm>
            <a:off x="4025977" y="5228661"/>
            <a:ext cx="720008" cy="360363"/>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tx1">
                    <a:lumMod val="75000"/>
                    <a:lumOff val="25000"/>
                  </a:schemeClr>
                </a:solidFill>
                <a:latin typeface="MeiryoKe_PGothic" pitchFamily="50" charset="-128"/>
                <a:ea typeface="MeiryoKe_PGothic" pitchFamily="50" charset="-128"/>
              </a:rPr>
              <a:t>111</a:t>
            </a:r>
            <a:r>
              <a:rPr lang="en-US" altLang="ja-JP" b="1" dirty="0">
                <a:solidFill>
                  <a:schemeClr val="accent5"/>
                </a:solidFill>
                <a:latin typeface="MeiryoKe_PGothic" pitchFamily="50" charset="-128"/>
                <a:ea typeface="MeiryoKe_PGothic" pitchFamily="50" charset="-128"/>
              </a:rPr>
              <a:t>0</a:t>
            </a:r>
            <a:endParaRPr lang="ja-JP" altLang="en-US" b="1" dirty="0">
              <a:solidFill>
                <a:schemeClr val="accent5"/>
              </a:solidFill>
              <a:latin typeface="MeiryoKe_PGothic" pitchFamily="50" charset="-128"/>
              <a:ea typeface="MeiryoKe_PGothic" pitchFamily="50" charset="-128"/>
            </a:endParaRPr>
          </a:p>
        </p:txBody>
      </p:sp>
      <p:cxnSp>
        <p:nvCxnSpPr>
          <p:cNvPr id="9" name="直線矢印コネクタ 8"/>
          <p:cNvCxnSpPr/>
          <p:nvPr/>
        </p:nvCxnSpPr>
        <p:spPr bwMode="auto">
          <a:xfrm>
            <a:off x="5015988" y="5408662"/>
            <a:ext cx="540006" cy="0"/>
          </a:xfrm>
          <a:prstGeom prst="straightConnector1">
            <a:avLst/>
          </a:prstGeom>
          <a:ln>
            <a:headEnd type="none" w="med" len="med"/>
            <a:tailEnd type="triangle" w="lg" len="lg"/>
          </a:ln>
        </p:spPr>
        <p:style>
          <a:lnRef idx="2">
            <a:schemeClr val="accent5"/>
          </a:lnRef>
          <a:fillRef idx="0">
            <a:schemeClr val="accent5"/>
          </a:fillRef>
          <a:effectRef idx="1">
            <a:schemeClr val="accent5"/>
          </a:effectRef>
          <a:fontRef idx="minor">
            <a:schemeClr val="tx1"/>
          </a:fontRef>
        </p:style>
      </p:cxnSp>
      <p:sp>
        <p:nvSpPr>
          <p:cNvPr id="10" name="Rectangle 133"/>
          <p:cNvSpPr>
            <a:spLocks noChangeArrowheads="1"/>
          </p:cNvSpPr>
          <p:nvPr/>
        </p:nvSpPr>
        <p:spPr bwMode="auto">
          <a:xfrm>
            <a:off x="4835987" y="4958658"/>
            <a:ext cx="719803"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ja-JP" altLang="en-US" dirty="0">
                <a:solidFill>
                  <a:schemeClr val="tx1">
                    <a:lumMod val="75000"/>
                    <a:lumOff val="25000"/>
                  </a:schemeClr>
                </a:solidFill>
                <a:latin typeface="+mn-ea"/>
                <a:ea typeface="+mn-ea"/>
              </a:rPr>
              <a:t>成立：</a:t>
            </a:r>
            <a:r>
              <a:rPr lang="en-US" altLang="ja-JP" dirty="0">
                <a:solidFill>
                  <a:schemeClr val="tx1">
                    <a:lumMod val="75000"/>
                    <a:lumOff val="25000"/>
                  </a:schemeClr>
                </a:solidFill>
                <a:latin typeface="+mn-ea"/>
                <a:ea typeface="+mn-ea"/>
              </a:rPr>
              <a:t>1</a:t>
            </a:r>
          </a:p>
        </p:txBody>
      </p:sp>
      <p:sp>
        <p:nvSpPr>
          <p:cNvPr id="11" name="Rectangle 195"/>
          <p:cNvSpPr>
            <a:spLocks noChangeArrowheads="1"/>
          </p:cNvSpPr>
          <p:nvPr/>
        </p:nvSpPr>
        <p:spPr bwMode="auto">
          <a:xfrm>
            <a:off x="5825997" y="5228661"/>
            <a:ext cx="720008" cy="360363"/>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tx1">
                    <a:lumMod val="75000"/>
                    <a:lumOff val="25000"/>
                  </a:schemeClr>
                </a:solidFill>
                <a:latin typeface="MeiryoKe_PGothic" pitchFamily="50" charset="-128"/>
                <a:ea typeface="MeiryoKe_PGothic" pitchFamily="50" charset="-128"/>
              </a:rPr>
              <a:t>11</a:t>
            </a:r>
            <a:r>
              <a:rPr lang="en-US" altLang="ja-JP" b="1" dirty="0">
                <a:solidFill>
                  <a:schemeClr val="accent5"/>
                </a:solidFill>
                <a:latin typeface="MeiryoKe_PGothic" pitchFamily="50" charset="-128"/>
                <a:ea typeface="MeiryoKe_PGothic" pitchFamily="50" charset="-128"/>
              </a:rPr>
              <a:t>01</a:t>
            </a:r>
            <a:endParaRPr lang="ja-JP" altLang="en-US" b="1" dirty="0">
              <a:solidFill>
                <a:schemeClr val="accent5"/>
              </a:solidFill>
              <a:latin typeface="MeiryoKe_PGothic" pitchFamily="50" charset="-128"/>
              <a:ea typeface="MeiryoKe_PGothic" pitchFamily="50" charset="-128"/>
            </a:endParaRPr>
          </a:p>
        </p:txBody>
      </p:sp>
      <p:cxnSp>
        <p:nvCxnSpPr>
          <p:cNvPr id="12" name="直線矢印コネクタ 11"/>
          <p:cNvCxnSpPr/>
          <p:nvPr/>
        </p:nvCxnSpPr>
        <p:spPr bwMode="auto">
          <a:xfrm>
            <a:off x="6816008" y="5408662"/>
            <a:ext cx="540006" cy="0"/>
          </a:xfrm>
          <a:prstGeom prst="straightConnector1">
            <a:avLst/>
          </a:prstGeom>
          <a:ln>
            <a:headEnd type="none" w="med" len="med"/>
            <a:tailEnd type="triangle" w="lg" len="lg"/>
          </a:ln>
        </p:spPr>
        <p:style>
          <a:lnRef idx="2">
            <a:schemeClr val="accent5"/>
          </a:lnRef>
          <a:fillRef idx="0">
            <a:schemeClr val="accent5"/>
          </a:fillRef>
          <a:effectRef idx="1">
            <a:schemeClr val="accent5"/>
          </a:effectRef>
          <a:fontRef idx="minor">
            <a:schemeClr val="tx1"/>
          </a:fontRef>
        </p:style>
      </p:cxnSp>
      <p:sp>
        <p:nvSpPr>
          <p:cNvPr id="13" name="Rectangle 133"/>
          <p:cNvSpPr>
            <a:spLocks noChangeArrowheads="1"/>
          </p:cNvSpPr>
          <p:nvPr/>
        </p:nvSpPr>
        <p:spPr bwMode="auto">
          <a:xfrm>
            <a:off x="6546006" y="4958658"/>
            <a:ext cx="719803"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ja-JP" altLang="en-US" dirty="0">
                <a:solidFill>
                  <a:schemeClr val="tx1">
                    <a:lumMod val="75000"/>
                    <a:lumOff val="25000"/>
                  </a:schemeClr>
                </a:solidFill>
                <a:latin typeface="+mn-ea"/>
                <a:ea typeface="+mn-ea"/>
              </a:rPr>
              <a:t>成立：</a:t>
            </a:r>
            <a:r>
              <a:rPr lang="en-US" altLang="ja-JP" dirty="0">
                <a:solidFill>
                  <a:schemeClr val="tx1">
                    <a:lumMod val="75000"/>
                    <a:lumOff val="25000"/>
                  </a:schemeClr>
                </a:solidFill>
                <a:latin typeface="+mn-ea"/>
                <a:ea typeface="+mn-ea"/>
              </a:rPr>
              <a:t>1</a:t>
            </a:r>
          </a:p>
        </p:txBody>
      </p:sp>
      <p:sp>
        <p:nvSpPr>
          <p:cNvPr id="14" name="Rectangle 195"/>
          <p:cNvSpPr>
            <a:spLocks noChangeArrowheads="1"/>
          </p:cNvSpPr>
          <p:nvPr/>
        </p:nvSpPr>
        <p:spPr bwMode="auto">
          <a:xfrm>
            <a:off x="7626017" y="5228661"/>
            <a:ext cx="720008" cy="360363"/>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tx1">
                    <a:lumMod val="75000"/>
                    <a:lumOff val="25000"/>
                  </a:schemeClr>
                </a:solidFill>
                <a:latin typeface="MeiryoKe_PGothic" pitchFamily="50" charset="-128"/>
                <a:ea typeface="MeiryoKe_PGothic" pitchFamily="50" charset="-128"/>
              </a:rPr>
              <a:t>1</a:t>
            </a:r>
            <a:r>
              <a:rPr lang="en-US" altLang="ja-JP" b="1" dirty="0">
                <a:solidFill>
                  <a:schemeClr val="accent5"/>
                </a:solidFill>
                <a:latin typeface="MeiryoKe_PGothic" pitchFamily="50" charset="-128"/>
                <a:ea typeface="MeiryoKe_PGothic" pitchFamily="50" charset="-128"/>
              </a:rPr>
              <a:t>011</a:t>
            </a:r>
            <a:endParaRPr lang="ja-JP" altLang="en-US" b="1" dirty="0">
              <a:solidFill>
                <a:schemeClr val="accent5"/>
              </a:solidFill>
              <a:latin typeface="MeiryoKe_PGothic" pitchFamily="50" charset="-128"/>
              <a:ea typeface="MeiryoKe_PGothic" pitchFamily="50" charset="-128"/>
            </a:endParaRPr>
          </a:p>
        </p:txBody>
      </p:sp>
      <p:cxnSp>
        <p:nvCxnSpPr>
          <p:cNvPr id="15" name="直線矢印コネクタ 14"/>
          <p:cNvCxnSpPr/>
          <p:nvPr/>
        </p:nvCxnSpPr>
        <p:spPr bwMode="auto">
          <a:xfrm>
            <a:off x="8526027" y="5408662"/>
            <a:ext cx="540006" cy="0"/>
          </a:xfrm>
          <a:prstGeom prst="straightConnector1">
            <a:avLst/>
          </a:prstGeom>
          <a:ln>
            <a:headEnd type="none" w="med" len="med"/>
            <a:tailEnd type="triangle" w="lg" len="lg"/>
          </a:ln>
        </p:spPr>
        <p:style>
          <a:lnRef idx="2">
            <a:schemeClr val="accent5"/>
          </a:lnRef>
          <a:fillRef idx="0">
            <a:schemeClr val="accent5"/>
          </a:fillRef>
          <a:effectRef idx="1">
            <a:schemeClr val="accent5"/>
          </a:effectRef>
          <a:fontRef idx="minor">
            <a:schemeClr val="tx1"/>
          </a:fontRef>
        </p:style>
      </p:cxnSp>
      <p:sp>
        <p:nvSpPr>
          <p:cNvPr id="16" name="Rectangle 133"/>
          <p:cNvSpPr>
            <a:spLocks noChangeArrowheads="1"/>
          </p:cNvSpPr>
          <p:nvPr/>
        </p:nvSpPr>
        <p:spPr bwMode="auto">
          <a:xfrm>
            <a:off x="8346026" y="4958658"/>
            <a:ext cx="719803"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ja-JP" altLang="en-US" dirty="0">
                <a:solidFill>
                  <a:schemeClr val="tx1">
                    <a:lumMod val="75000"/>
                    <a:lumOff val="25000"/>
                  </a:schemeClr>
                </a:solidFill>
                <a:latin typeface="+mn-ea"/>
                <a:ea typeface="+mn-ea"/>
              </a:rPr>
              <a:t>成立：</a:t>
            </a:r>
            <a:r>
              <a:rPr lang="en-US" altLang="ja-JP" dirty="0">
                <a:solidFill>
                  <a:schemeClr val="tx1">
                    <a:lumMod val="75000"/>
                    <a:lumOff val="25000"/>
                  </a:schemeClr>
                </a:solidFill>
                <a:latin typeface="+mn-ea"/>
                <a:ea typeface="+mn-ea"/>
              </a:rPr>
              <a:t>1</a:t>
            </a:r>
          </a:p>
        </p:txBody>
      </p:sp>
      <p:sp>
        <p:nvSpPr>
          <p:cNvPr id="17" name="Rectangle 195"/>
          <p:cNvSpPr>
            <a:spLocks noChangeArrowheads="1"/>
          </p:cNvSpPr>
          <p:nvPr/>
        </p:nvSpPr>
        <p:spPr bwMode="auto">
          <a:xfrm>
            <a:off x="9246035" y="5228661"/>
            <a:ext cx="720008" cy="360363"/>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accent5"/>
                </a:solidFill>
                <a:latin typeface="MeiryoKe_PGothic" pitchFamily="50" charset="-128"/>
                <a:ea typeface="MeiryoKe_PGothic" pitchFamily="50" charset="-128"/>
              </a:rPr>
              <a:t>0111</a:t>
            </a:r>
            <a:endParaRPr lang="ja-JP" altLang="en-US" b="1" dirty="0">
              <a:solidFill>
                <a:schemeClr val="accent5"/>
              </a:solidFill>
              <a:latin typeface="MeiryoKe_PGothic" pitchFamily="50" charset="-128"/>
              <a:ea typeface="MeiryoKe_PGothic" pitchFamily="50" charset="-128"/>
            </a:endParaRPr>
          </a:p>
        </p:txBody>
      </p:sp>
    </p:spTree>
    <p:extLst>
      <p:ext uri="{BB962C8B-B14F-4D97-AF65-F5344CB8AC3E}">
        <p14:creationId xmlns:p14="http://schemas.microsoft.com/office/powerpoint/2010/main" val="20882488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ローカル履歴予測器の動作例（１）</a:t>
            </a:r>
          </a:p>
        </p:txBody>
      </p:sp>
      <p:sp>
        <p:nvSpPr>
          <p:cNvPr id="3" name="テキスト プレースホルダー 2"/>
          <p:cNvSpPr>
            <a:spLocks noGrp="1"/>
          </p:cNvSpPr>
          <p:nvPr>
            <p:ph type="body" sz="quarter" idx="10"/>
          </p:nvPr>
        </p:nvSpPr>
        <p:spPr>
          <a:xfrm>
            <a:off x="2045955" y="2528991"/>
            <a:ext cx="8190090" cy="4140046"/>
          </a:xfrm>
        </p:spPr>
        <p:txBody>
          <a:bodyPr/>
          <a:lstStyle/>
          <a:p>
            <a:r>
              <a:rPr lang="ja-JP" altLang="en-US" dirty="0"/>
              <a:t>例：</a:t>
            </a:r>
            <a:r>
              <a:rPr lang="en-US" altLang="ja-JP" dirty="0"/>
              <a:t>4</a:t>
            </a:r>
            <a:r>
              <a:rPr lang="ja-JP" altLang="en-US" dirty="0"/>
              <a:t>回まわるループ</a:t>
            </a:r>
            <a:endParaRPr lang="en-US" altLang="ja-JP" dirty="0"/>
          </a:p>
          <a:p>
            <a:pPr lvl="1"/>
            <a:r>
              <a:rPr lang="en-US" altLang="ja-JP" dirty="0"/>
              <a:t>4 </a:t>
            </a:r>
            <a:r>
              <a:rPr lang="ja-JP" altLang="en-US" dirty="0"/>
              <a:t>回のうち３回は成立，１回が不成立</a:t>
            </a:r>
            <a:endParaRPr lang="en-US" altLang="ja-JP" dirty="0"/>
          </a:p>
          <a:p>
            <a:pPr lvl="1"/>
            <a:r>
              <a:rPr lang="ja-JP" altLang="en-US" dirty="0"/>
              <a:t>このループの後方分岐が </a:t>
            </a:r>
            <a:r>
              <a:rPr lang="en-US" altLang="ja-JP" dirty="0"/>
              <a:t>0x804000 </a:t>
            </a:r>
            <a:r>
              <a:rPr lang="ja-JP" altLang="en-US" dirty="0"/>
              <a:t>にあったとする</a:t>
            </a:r>
            <a:endParaRPr lang="en-US" altLang="ja-JP" dirty="0"/>
          </a:p>
        </p:txBody>
      </p:sp>
      <p:sp>
        <p:nvSpPr>
          <p:cNvPr id="43" name="正方形/長方形 42"/>
          <p:cNvSpPr/>
          <p:nvPr/>
        </p:nvSpPr>
        <p:spPr>
          <a:xfrm>
            <a:off x="2135957" y="2348988"/>
            <a:ext cx="8010089" cy="1477328"/>
          </a:xfrm>
          <a:prstGeom prst="rect">
            <a:avLst/>
          </a:prstGeom>
        </p:spPr>
        <p:txBody>
          <a:bodyPr wrap="square">
            <a:spAutoFit/>
          </a:bodyPr>
          <a:lstStyle/>
          <a:p>
            <a:r>
              <a:rPr lang="en-US" altLang="ja-JP" dirty="0">
                <a:solidFill>
                  <a:schemeClr val="accent3">
                    <a:lumMod val="75000"/>
                  </a:schemeClr>
                </a:solidFill>
                <a:latin typeface="Consolas" panose="020B0609020204030204" pitchFamily="49" charset="0"/>
              </a:rPr>
              <a:t>// </a:t>
            </a:r>
            <a:r>
              <a:rPr lang="ja-JP" altLang="en-US" dirty="0">
                <a:solidFill>
                  <a:schemeClr val="accent3">
                    <a:lumMod val="75000"/>
                  </a:schemeClr>
                </a:solidFill>
                <a:latin typeface="Consolas" panose="020B0609020204030204" pitchFamily="49" charset="0"/>
              </a:rPr>
              <a:t>４回まわるループ</a:t>
            </a:r>
            <a:endParaRPr lang="en-US" altLang="ja-JP" dirty="0">
              <a:solidFill>
                <a:schemeClr val="accent3">
                  <a:lumMod val="75000"/>
                </a:schemeClr>
              </a:solidFill>
              <a:latin typeface="Consolas" panose="020B0609020204030204" pitchFamily="49" charset="0"/>
            </a:endParaRPr>
          </a:p>
          <a:p>
            <a:r>
              <a:rPr lang="en-US" altLang="ja-JP" dirty="0">
                <a:solidFill>
                  <a:schemeClr val="accent1"/>
                </a:solidFill>
                <a:latin typeface="Consolas" panose="020B0609020204030204" pitchFamily="49" charset="0"/>
              </a:rPr>
              <a:t>0x803ff8:     </a:t>
            </a:r>
            <a:r>
              <a:rPr lang="en-US" altLang="ja-JP" dirty="0">
                <a:solidFill>
                  <a:schemeClr val="tx1">
                    <a:lumMod val="75000"/>
                    <a:lumOff val="25000"/>
                  </a:schemeClr>
                </a:solidFill>
                <a:latin typeface="Consolas" panose="020B0609020204030204" pitchFamily="49" charset="0"/>
              </a:rPr>
              <a:t>li  x1 </a:t>
            </a:r>
            <a:r>
              <a:rPr lang="ja-JP" altLang="en-US" dirty="0">
                <a:solidFill>
                  <a:schemeClr val="tx1">
                    <a:lumMod val="75000"/>
                    <a:lumOff val="25000"/>
                  </a:schemeClr>
                </a:solidFill>
                <a:latin typeface="Consolas" panose="020B0609020204030204" pitchFamily="49" charset="0"/>
              </a:rPr>
              <a:t>←</a:t>
            </a:r>
            <a:r>
              <a:rPr lang="en-US" altLang="ja-JP" dirty="0">
                <a:solidFill>
                  <a:schemeClr val="tx1">
                    <a:lumMod val="75000"/>
                    <a:lumOff val="25000"/>
                  </a:schemeClr>
                </a:solidFill>
                <a:latin typeface="Consolas" panose="020B0609020204030204" pitchFamily="49" charset="0"/>
              </a:rPr>
              <a:t> 0        </a:t>
            </a:r>
            <a:r>
              <a:rPr lang="en-US" altLang="ja-JP" dirty="0">
                <a:solidFill>
                  <a:schemeClr val="accent3">
                    <a:lumMod val="75000"/>
                  </a:schemeClr>
                </a:solidFill>
                <a:latin typeface="Consolas" panose="020B0609020204030204" pitchFamily="49" charset="0"/>
              </a:rPr>
              <a:t>// x1 </a:t>
            </a:r>
            <a:r>
              <a:rPr lang="ja-JP" altLang="en-US" dirty="0">
                <a:solidFill>
                  <a:schemeClr val="accent3">
                    <a:lumMod val="75000"/>
                  </a:schemeClr>
                </a:solidFill>
                <a:latin typeface="Consolas" panose="020B0609020204030204" pitchFamily="49" charset="0"/>
              </a:rPr>
              <a:t>を </a:t>
            </a:r>
            <a:r>
              <a:rPr lang="en-US" altLang="ja-JP" dirty="0">
                <a:solidFill>
                  <a:schemeClr val="accent3">
                    <a:lumMod val="75000"/>
                  </a:schemeClr>
                </a:solidFill>
                <a:latin typeface="Consolas" panose="020B0609020204030204" pitchFamily="49" charset="0"/>
              </a:rPr>
              <a:t>0 </a:t>
            </a:r>
            <a:r>
              <a:rPr lang="ja-JP" altLang="en-US" dirty="0">
                <a:solidFill>
                  <a:schemeClr val="accent3">
                    <a:lumMod val="75000"/>
                  </a:schemeClr>
                </a:solidFill>
                <a:latin typeface="Consolas" panose="020B0609020204030204" pitchFamily="49" charset="0"/>
              </a:rPr>
              <a:t>に初期化</a:t>
            </a:r>
            <a:endParaRPr lang="en-US" altLang="ja-JP" dirty="0">
              <a:solidFill>
                <a:schemeClr val="accent3">
                  <a:lumMod val="75000"/>
                </a:schemeClr>
              </a:solidFill>
              <a:latin typeface="Consolas" panose="020B0609020204030204" pitchFamily="49" charset="0"/>
            </a:endParaRPr>
          </a:p>
          <a:p>
            <a:r>
              <a:rPr lang="en-US" altLang="ja-JP" dirty="0">
                <a:solidFill>
                  <a:schemeClr val="accent1"/>
                </a:solidFill>
                <a:latin typeface="Consolas" panose="020B0609020204030204" pitchFamily="49" charset="0"/>
              </a:rPr>
              <a:t>    </a:t>
            </a:r>
            <a:r>
              <a:rPr lang="en-US" altLang="ja-JP" dirty="0">
                <a:solidFill>
                  <a:schemeClr val="tx1">
                    <a:lumMod val="75000"/>
                    <a:lumOff val="25000"/>
                  </a:schemeClr>
                </a:solidFill>
                <a:latin typeface="Consolas" panose="020B0609020204030204" pitchFamily="49" charset="0"/>
              </a:rPr>
              <a:t>L:</a:t>
            </a:r>
          </a:p>
          <a:p>
            <a:r>
              <a:rPr lang="en-US" altLang="ja-JP" dirty="0">
                <a:solidFill>
                  <a:schemeClr val="accent1"/>
                </a:solidFill>
                <a:latin typeface="Consolas" panose="020B0609020204030204" pitchFamily="49" charset="0"/>
              </a:rPr>
              <a:t>0x803ffc:     </a:t>
            </a:r>
            <a:r>
              <a:rPr lang="en-US" altLang="ja-JP" dirty="0">
                <a:solidFill>
                  <a:schemeClr val="tx1">
                    <a:lumMod val="75000"/>
                    <a:lumOff val="25000"/>
                  </a:schemeClr>
                </a:solidFill>
                <a:latin typeface="Consolas" panose="020B0609020204030204" pitchFamily="49" charset="0"/>
              </a:rPr>
              <a:t>add x1 </a:t>
            </a:r>
            <a:r>
              <a:rPr lang="ja-JP" altLang="en-US" dirty="0">
                <a:solidFill>
                  <a:schemeClr val="tx1">
                    <a:lumMod val="75000"/>
                    <a:lumOff val="25000"/>
                  </a:schemeClr>
                </a:solidFill>
                <a:latin typeface="Consolas" panose="020B0609020204030204" pitchFamily="49" charset="0"/>
              </a:rPr>
              <a:t>←</a:t>
            </a:r>
            <a:r>
              <a:rPr lang="en-US" altLang="ja-JP" dirty="0">
                <a:solidFill>
                  <a:schemeClr val="tx1">
                    <a:lumMod val="75000"/>
                    <a:lumOff val="25000"/>
                  </a:schemeClr>
                </a:solidFill>
                <a:latin typeface="Consolas" panose="020B0609020204030204" pitchFamily="49" charset="0"/>
              </a:rPr>
              <a:t> x1 + 1   </a:t>
            </a:r>
            <a:r>
              <a:rPr lang="en-US" altLang="ja-JP" dirty="0">
                <a:solidFill>
                  <a:schemeClr val="accent3">
                    <a:lumMod val="75000"/>
                  </a:schemeClr>
                </a:solidFill>
                <a:latin typeface="Consolas" panose="020B0609020204030204" pitchFamily="49" charset="0"/>
              </a:rPr>
              <a:t>// x1 </a:t>
            </a:r>
            <a:r>
              <a:rPr lang="ja-JP" altLang="en-US" dirty="0">
                <a:solidFill>
                  <a:schemeClr val="accent3">
                    <a:lumMod val="75000"/>
                  </a:schemeClr>
                </a:solidFill>
                <a:latin typeface="Consolas" panose="020B0609020204030204" pitchFamily="49" charset="0"/>
              </a:rPr>
              <a:t>をインクリメント</a:t>
            </a:r>
            <a:r>
              <a:rPr lang="en-US" altLang="ja-JP" dirty="0">
                <a:solidFill>
                  <a:schemeClr val="accent3">
                    <a:lumMod val="75000"/>
                  </a:schemeClr>
                </a:solidFill>
                <a:latin typeface="Consolas" panose="020B0609020204030204" pitchFamily="49" charset="0"/>
              </a:rPr>
              <a:t> </a:t>
            </a:r>
          </a:p>
          <a:p>
            <a:r>
              <a:rPr lang="en-US" altLang="ja-JP" dirty="0">
                <a:solidFill>
                  <a:schemeClr val="accent1"/>
                </a:solidFill>
                <a:latin typeface="Consolas" panose="020B0609020204030204" pitchFamily="49" charset="0"/>
              </a:rPr>
              <a:t>0x804000:</a:t>
            </a:r>
            <a:r>
              <a:rPr lang="en-US" altLang="ja-JP" dirty="0">
                <a:solidFill>
                  <a:schemeClr val="tx1">
                    <a:lumMod val="75000"/>
                    <a:lumOff val="25000"/>
                  </a:schemeClr>
                </a:solidFill>
                <a:latin typeface="Consolas" panose="020B0609020204030204" pitchFamily="49" charset="0"/>
              </a:rPr>
              <a:t>     </a:t>
            </a:r>
            <a:r>
              <a:rPr lang="en-US" altLang="ja-JP" dirty="0" err="1">
                <a:solidFill>
                  <a:schemeClr val="tx1">
                    <a:lumMod val="75000"/>
                    <a:lumOff val="25000"/>
                  </a:schemeClr>
                </a:solidFill>
                <a:latin typeface="Consolas" panose="020B0609020204030204" pitchFamily="49" charset="0"/>
              </a:rPr>
              <a:t>bne</a:t>
            </a:r>
            <a:r>
              <a:rPr lang="en-US" altLang="ja-JP" dirty="0">
                <a:solidFill>
                  <a:schemeClr val="tx1">
                    <a:lumMod val="75000"/>
                    <a:lumOff val="25000"/>
                  </a:schemeClr>
                </a:solidFill>
                <a:latin typeface="Consolas" panose="020B0609020204030204" pitchFamily="49" charset="0"/>
              </a:rPr>
              <a:t> x1 != 4, L    </a:t>
            </a:r>
            <a:r>
              <a:rPr lang="en-US" altLang="ja-JP" dirty="0">
                <a:solidFill>
                  <a:schemeClr val="accent3">
                    <a:lumMod val="75000"/>
                  </a:schemeClr>
                </a:solidFill>
                <a:latin typeface="Consolas" panose="020B0609020204030204" pitchFamily="49" charset="0"/>
              </a:rPr>
              <a:t>// x1 </a:t>
            </a:r>
            <a:r>
              <a:rPr lang="ja-JP" altLang="en-US" dirty="0">
                <a:solidFill>
                  <a:schemeClr val="accent3">
                    <a:lumMod val="75000"/>
                  </a:schemeClr>
                </a:solidFill>
                <a:latin typeface="Consolas" panose="020B0609020204030204" pitchFamily="49" charset="0"/>
              </a:rPr>
              <a:t>が </a:t>
            </a:r>
            <a:r>
              <a:rPr lang="en-US" altLang="ja-JP" dirty="0">
                <a:solidFill>
                  <a:schemeClr val="accent3">
                    <a:lumMod val="75000"/>
                  </a:schemeClr>
                </a:solidFill>
                <a:latin typeface="Consolas" panose="020B0609020204030204" pitchFamily="49" charset="0"/>
              </a:rPr>
              <a:t>4 </a:t>
            </a:r>
            <a:r>
              <a:rPr lang="ja-JP" altLang="en-US" dirty="0">
                <a:solidFill>
                  <a:schemeClr val="accent3">
                    <a:lumMod val="75000"/>
                  </a:schemeClr>
                </a:solidFill>
                <a:latin typeface="Consolas" panose="020B0609020204030204" pitchFamily="49" charset="0"/>
              </a:rPr>
              <a:t>でなければ </a:t>
            </a:r>
            <a:r>
              <a:rPr lang="en-US" altLang="ja-JP" dirty="0">
                <a:solidFill>
                  <a:schemeClr val="accent3">
                    <a:lumMod val="75000"/>
                  </a:schemeClr>
                </a:solidFill>
                <a:latin typeface="Consolas" panose="020B0609020204030204" pitchFamily="49" charset="0"/>
              </a:rPr>
              <a:t>L </a:t>
            </a:r>
            <a:r>
              <a:rPr lang="ja-JP" altLang="en-US" dirty="0">
                <a:solidFill>
                  <a:schemeClr val="accent3">
                    <a:lumMod val="75000"/>
                  </a:schemeClr>
                </a:solidFill>
                <a:latin typeface="Consolas" panose="020B0609020204030204" pitchFamily="49" charset="0"/>
              </a:rPr>
              <a:t>に飛ぶ</a:t>
            </a:r>
            <a:endParaRPr lang="en-US" altLang="ja-JP" dirty="0">
              <a:solidFill>
                <a:schemeClr val="accent3">
                  <a:lumMod val="75000"/>
                </a:schemeClr>
              </a:solidFill>
              <a:latin typeface="Consolas" panose="020B0609020204030204" pitchFamily="49" charset="0"/>
            </a:endParaRPr>
          </a:p>
        </p:txBody>
      </p:sp>
      <p:sp>
        <p:nvSpPr>
          <p:cNvPr id="44" name="正方形/長方形 43"/>
          <p:cNvSpPr/>
          <p:nvPr/>
        </p:nvSpPr>
        <p:spPr>
          <a:xfrm>
            <a:off x="2135956" y="1178975"/>
            <a:ext cx="3960044" cy="757130"/>
          </a:xfrm>
          <a:prstGeom prst="rect">
            <a:avLst/>
          </a:prstGeom>
        </p:spPr>
        <p:txBody>
          <a:bodyPr wrap="square">
            <a:spAutoFit/>
          </a:bodyPr>
          <a:lstStyle/>
          <a:p>
            <a:pPr>
              <a:lnSpc>
                <a:spcPct val="80000"/>
              </a:lnSpc>
            </a:pPr>
            <a:r>
              <a:rPr lang="en-US" altLang="ja-JP" dirty="0">
                <a:solidFill>
                  <a:schemeClr val="accent1"/>
                </a:solidFill>
                <a:latin typeface="Consolas" panose="020B0609020204030204" pitchFamily="49" charset="0"/>
              </a:rPr>
              <a:t>for</a:t>
            </a:r>
            <a:r>
              <a:rPr lang="en-US" altLang="ja-JP" dirty="0">
                <a:solidFill>
                  <a:schemeClr val="tx1">
                    <a:lumMod val="75000"/>
                    <a:lumOff val="25000"/>
                  </a:schemeClr>
                </a:solidFill>
                <a:latin typeface="Consolas" panose="020B0609020204030204" pitchFamily="49" charset="0"/>
              </a:rPr>
              <a:t> (</a:t>
            </a:r>
            <a:r>
              <a:rPr lang="en-US" altLang="ja-JP" dirty="0" err="1">
                <a:solidFill>
                  <a:schemeClr val="tx1">
                    <a:lumMod val="75000"/>
                    <a:lumOff val="25000"/>
                  </a:schemeClr>
                </a:solidFill>
                <a:latin typeface="Consolas" panose="020B0609020204030204" pitchFamily="49" charset="0"/>
              </a:rPr>
              <a:t>i</a:t>
            </a:r>
            <a:r>
              <a:rPr lang="en-US" altLang="ja-JP" dirty="0">
                <a:solidFill>
                  <a:schemeClr val="tx1">
                    <a:lumMod val="75000"/>
                    <a:lumOff val="25000"/>
                  </a:schemeClr>
                </a:solidFill>
                <a:latin typeface="Consolas" panose="020B0609020204030204" pitchFamily="49" charset="0"/>
              </a:rPr>
              <a:t> = 0; </a:t>
            </a:r>
            <a:r>
              <a:rPr lang="en-US" altLang="ja-JP" dirty="0" err="1">
                <a:solidFill>
                  <a:schemeClr val="tx1">
                    <a:lumMod val="75000"/>
                    <a:lumOff val="25000"/>
                  </a:schemeClr>
                </a:solidFill>
                <a:latin typeface="Consolas" panose="020B0609020204030204" pitchFamily="49" charset="0"/>
              </a:rPr>
              <a:t>i</a:t>
            </a:r>
            <a:r>
              <a:rPr lang="en-US" altLang="ja-JP" dirty="0">
                <a:solidFill>
                  <a:schemeClr val="tx1">
                    <a:lumMod val="75000"/>
                    <a:lumOff val="25000"/>
                  </a:schemeClr>
                </a:solidFill>
                <a:latin typeface="Consolas" panose="020B0609020204030204" pitchFamily="49" charset="0"/>
              </a:rPr>
              <a:t> &lt; 4; </a:t>
            </a:r>
            <a:r>
              <a:rPr lang="en-US" altLang="ja-JP" dirty="0" err="1">
                <a:solidFill>
                  <a:schemeClr val="tx1">
                    <a:lumMod val="75000"/>
                    <a:lumOff val="25000"/>
                  </a:schemeClr>
                </a:solidFill>
                <a:latin typeface="Consolas" panose="020B0609020204030204" pitchFamily="49" charset="0"/>
              </a:rPr>
              <a:t>i</a:t>
            </a:r>
            <a:r>
              <a:rPr lang="en-US" altLang="ja-JP" dirty="0">
                <a:solidFill>
                  <a:schemeClr val="tx1">
                    <a:lumMod val="75000"/>
                    <a:lumOff val="25000"/>
                  </a:schemeClr>
                </a:solidFill>
                <a:latin typeface="Consolas" panose="020B0609020204030204" pitchFamily="49" charset="0"/>
              </a:rPr>
              <a:t>++) {</a:t>
            </a:r>
          </a:p>
          <a:p>
            <a:pPr>
              <a:lnSpc>
                <a:spcPct val="80000"/>
              </a:lnSpc>
            </a:pPr>
            <a:r>
              <a:rPr lang="en-US" altLang="ja-JP" dirty="0">
                <a:solidFill>
                  <a:schemeClr val="tx1">
                    <a:lumMod val="75000"/>
                    <a:lumOff val="25000"/>
                  </a:schemeClr>
                </a:solidFill>
                <a:latin typeface="Consolas" panose="020B0609020204030204" pitchFamily="49" charset="0"/>
              </a:rPr>
              <a:t>    ...</a:t>
            </a:r>
          </a:p>
          <a:p>
            <a:pPr>
              <a:lnSpc>
                <a:spcPct val="80000"/>
              </a:lnSpc>
            </a:pPr>
            <a:r>
              <a:rPr lang="en-US" altLang="ja-JP" dirty="0">
                <a:solidFill>
                  <a:schemeClr val="tx1">
                    <a:lumMod val="75000"/>
                    <a:lumOff val="25000"/>
                  </a:schemeClr>
                </a:solidFill>
                <a:latin typeface="Consolas" panose="020B0609020204030204" pitchFamily="49" charset="0"/>
              </a:rPr>
              <a:t>}</a:t>
            </a:r>
          </a:p>
        </p:txBody>
      </p:sp>
    </p:spTree>
    <p:extLst>
      <p:ext uri="{BB962C8B-B14F-4D97-AF65-F5344CB8AC3E}">
        <p14:creationId xmlns:p14="http://schemas.microsoft.com/office/powerpoint/2010/main" val="443404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ローカル履歴予測器の動作例（２）</a:t>
            </a:r>
          </a:p>
        </p:txBody>
      </p:sp>
      <p:sp>
        <p:nvSpPr>
          <p:cNvPr id="3" name="テキスト プレースホルダー 2"/>
          <p:cNvSpPr>
            <a:spLocks noGrp="1"/>
          </p:cNvSpPr>
          <p:nvPr>
            <p:ph type="body" sz="quarter" idx="10"/>
          </p:nvPr>
        </p:nvSpPr>
        <p:spPr>
          <a:xfrm>
            <a:off x="1554675" y="5139019"/>
            <a:ext cx="8280092" cy="989704"/>
          </a:xfrm>
        </p:spPr>
        <p:txBody>
          <a:bodyPr/>
          <a:lstStyle/>
          <a:p>
            <a:r>
              <a:rPr lang="ja-JP" altLang="en-US" dirty="0"/>
              <a:t>動作：</a:t>
            </a:r>
            <a:endParaRPr lang="en-US" altLang="ja-JP" dirty="0"/>
          </a:p>
          <a:p>
            <a:pPr marL="817200" lvl="1" indent="-457200">
              <a:buFont typeface="+mj-lt"/>
              <a:buAutoNum type="arabicPeriod"/>
            </a:pPr>
            <a:r>
              <a:rPr lang="en-US" altLang="ja-JP" dirty="0"/>
              <a:t>0x4000 </a:t>
            </a:r>
            <a:r>
              <a:rPr lang="ja-JP" altLang="en-US" dirty="0"/>
              <a:t>でローカル履歴表をアクセス</a:t>
            </a:r>
            <a:endParaRPr lang="en-US" altLang="ja-JP" dirty="0"/>
          </a:p>
          <a:p>
            <a:pPr marL="817200" lvl="1" indent="-457200">
              <a:buFont typeface="+mj-lt"/>
              <a:buAutoNum type="arabicPeriod"/>
            </a:pPr>
            <a:r>
              <a:rPr lang="ja-JP" altLang="en-US" dirty="0"/>
              <a:t>得られた </a:t>
            </a:r>
            <a:r>
              <a:rPr lang="en-US" altLang="ja-JP" dirty="0">
                <a:solidFill>
                  <a:schemeClr val="accent5"/>
                </a:solidFill>
              </a:rPr>
              <a:t>1110=0xE</a:t>
            </a:r>
            <a:r>
              <a:rPr lang="en-US" altLang="ja-JP" dirty="0"/>
              <a:t> </a:t>
            </a:r>
            <a:r>
              <a:rPr lang="ja-JP" altLang="en-US" dirty="0"/>
              <a:t>と </a:t>
            </a:r>
            <a:r>
              <a:rPr lang="en-US" altLang="ja-JP" dirty="0"/>
              <a:t>0x4000 </a:t>
            </a:r>
            <a:r>
              <a:rPr lang="ja-JP" altLang="en-US" dirty="0"/>
              <a:t>を</a:t>
            </a:r>
            <a:br>
              <a:rPr lang="en-US" altLang="ja-JP" dirty="0"/>
            </a:br>
            <a:r>
              <a:rPr lang="ja-JP" altLang="en-US" dirty="0"/>
              <a:t>結合し，</a:t>
            </a:r>
            <a:r>
              <a:rPr lang="en-US" altLang="ja-JP" dirty="0"/>
              <a:t>PHT </a:t>
            </a:r>
            <a:r>
              <a:rPr lang="ja-JP" altLang="en-US" dirty="0"/>
              <a:t>の </a:t>
            </a:r>
            <a:r>
              <a:rPr lang="en-US" altLang="ja-JP" dirty="0"/>
              <a:t>0x4000E </a:t>
            </a:r>
            <a:r>
              <a:rPr lang="ja-JP" altLang="en-US" dirty="0"/>
              <a:t>をアクセス</a:t>
            </a:r>
            <a:endParaRPr lang="en-US" altLang="ja-JP" dirty="0"/>
          </a:p>
          <a:p>
            <a:pPr marL="817200" lvl="1" indent="-457200">
              <a:buFont typeface="+mj-lt"/>
              <a:buAutoNum type="arabicPeriod"/>
            </a:pPr>
            <a:r>
              <a:rPr lang="ja-JP" altLang="en-US" dirty="0"/>
              <a:t>カウンタの中身が </a:t>
            </a:r>
            <a:r>
              <a:rPr lang="en-US" altLang="ja-JP" dirty="0"/>
              <a:t>11 </a:t>
            </a:r>
            <a:r>
              <a:rPr lang="ja-JP" altLang="en-US" dirty="0" err="1"/>
              <a:t>なので</a:t>
            </a:r>
            <a:r>
              <a:rPr lang="ja-JP" altLang="en-US" dirty="0"/>
              <a:t>成立と予測</a:t>
            </a:r>
            <a:endParaRPr lang="en-US" altLang="ja-JP" dirty="0"/>
          </a:p>
        </p:txBody>
      </p:sp>
      <p:sp>
        <p:nvSpPr>
          <p:cNvPr id="4" name="Rectangle 89"/>
          <p:cNvSpPr>
            <a:spLocks noChangeArrowheads="1"/>
          </p:cNvSpPr>
          <p:nvPr/>
        </p:nvSpPr>
        <p:spPr bwMode="auto">
          <a:xfrm>
            <a:off x="4385982" y="1088974"/>
            <a:ext cx="1439863" cy="360362"/>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tx1">
                    <a:lumMod val="75000"/>
                    <a:lumOff val="25000"/>
                  </a:schemeClr>
                </a:solidFill>
                <a:latin typeface="MeiryoKe_PGothic" pitchFamily="50" charset="-128"/>
                <a:ea typeface="MeiryoKe_PGothic" pitchFamily="50" charset="-128"/>
              </a:rPr>
              <a:t>0x80</a:t>
            </a:r>
            <a:endParaRPr lang="ja-JP" altLang="en-US" b="1" dirty="0">
              <a:solidFill>
                <a:schemeClr val="tx1">
                  <a:lumMod val="75000"/>
                  <a:lumOff val="25000"/>
                </a:schemeClr>
              </a:solidFill>
              <a:latin typeface="MeiryoKe_PGothic" pitchFamily="50" charset="-128"/>
              <a:ea typeface="MeiryoKe_PGothic" pitchFamily="50" charset="-128"/>
            </a:endParaRPr>
          </a:p>
        </p:txBody>
      </p:sp>
      <p:sp>
        <p:nvSpPr>
          <p:cNvPr id="5" name="Rectangle 128"/>
          <p:cNvSpPr>
            <a:spLocks noChangeArrowheads="1"/>
          </p:cNvSpPr>
          <p:nvPr/>
        </p:nvSpPr>
        <p:spPr bwMode="auto">
          <a:xfrm>
            <a:off x="3845975" y="1088975"/>
            <a:ext cx="540006" cy="314325"/>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eaLnBrk="0" hangingPunct="0"/>
            <a:r>
              <a:rPr lang="en-US" altLang="ja-JP" dirty="0">
                <a:solidFill>
                  <a:schemeClr val="tx1">
                    <a:lumMod val="75000"/>
                    <a:lumOff val="25000"/>
                  </a:schemeClr>
                </a:solidFill>
                <a:latin typeface="MeiryoKe_PGothic" pitchFamily="50" charset="-128"/>
                <a:ea typeface="MeiryoKe_PGothic" pitchFamily="50" charset="-128"/>
              </a:rPr>
              <a:t>PC</a:t>
            </a:r>
          </a:p>
        </p:txBody>
      </p:sp>
      <p:sp>
        <p:nvSpPr>
          <p:cNvPr id="6" name="Rectangle 13"/>
          <p:cNvSpPr>
            <a:spLocks noChangeArrowheads="1"/>
          </p:cNvSpPr>
          <p:nvPr/>
        </p:nvSpPr>
        <p:spPr bwMode="auto">
          <a:xfrm>
            <a:off x="5825845" y="1088974"/>
            <a:ext cx="720725" cy="360362"/>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tx1">
                    <a:lumMod val="75000"/>
                    <a:lumOff val="25000"/>
                  </a:schemeClr>
                </a:solidFill>
                <a:latin typeface="MeiryoKe_PGothic" pitchFamily="50" charset="-128"/>
                <a:ea typeface="MeiryoKe_PGothic" pitchFamily="50" charset="-128"/>
              </a:rPr>
              <a:t>4000</a:t>
            </a:r>
            <a:endParaRPr lang="ja-JP" altLang="en-US" b="1" dirty="0">
              <a:solidFill>
                <a:schemeClr val="tx1">
                  <a:lumMod val="75000"/>
                  <a:lumOff val="25000"/>
                </a:schemeClr>
              </a:solidFill>
              <a:latin typeface="MeiryoKe_PGothic" pitchFamily="50" charset="-128"/>
              <a:ea typeface="MeiryoKe_PGothic" pitchFamily="50" charset="-128"/>
            </a:endParaRPr>
          </a:p>
        </p:txBody>
      </p:sp>
      <p:sp>
        <p:nvSpPr>
          <p:cNvPr id="7" name="Freeform 10"/>
          <p:cNvSpPr>
            <a:spLocks/>
          </p:cNvSpPr>
          <p:nvPr/>
        </p:nvSpPr>
        <p:spPr bwMode="auto">
          <a:xfrm rot="16200000" flipV="1">
            <a:off x="5555840" y="2168986"/>
            <a:ext cx="2340026"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triangle" w="lg" len="lg"/>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a:latin typeface="Arial Narrow" pitchFamily="34" charset="0"/>
              <a:cs typeface="Times New Roman" pitchFamily="18" charset="0"/>
            </a:endParaRPr>
          </a:p>
        </p:txBody>
      </p:sp>
      <p:sp>
        <p:nvSpPr>
          <p:cNvPr id="8" name="Rectangle 154"/>
          <p:cNvSpPr>
            <a:spLocks noChangeArrowheads="1"/>
          </p:cNvSpPr>
          <p:nvPr/>
        </p:nvSpPr>
        <p:spPr bwMode="auto">
          <a:xfrm>
            <a:off x="7355862" y="2168986"/>
            <a:ext cx="718369" cy="2608442"/>
          </a:xfrm>
          <a:prstGeom prst="rect">
            <a:avLst/>
          </a:prstGeom>
          <a:ln>
            <a:solidFill>
              <a:schemeClr val="tx1">
                <a:lumMod val="75000"/>
                <a:lumOff val="25000"/>
              </a:schemeClr>
            </a:solidFill>
            <a:headEnd/>
            <a:tailEnd/>
          </a:ln>
        </p:spPr>
        <p:style>
          <a:lnRef idx="2">
            <a:schemeClr val="dk1"/>
          </a:lnRef>
          <a:fillRef idx="1">
            <a:schemeClr val="lt1"/>
          </a:fillRef>
          <a:effectRef idx="0">
            <a:schemeClr val="dk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MeiryoKe_PGothic" pitchFamily="50" charset="-128"/>
              <a:ea typeface="MeiryoKe_PGothic" pitchFamily="50" charset="-128"/>
            </a:endParaRPr>
          </a:p>
        </p:txBody>
      </p:sp>
      <p:sp>
        <p:nvSpPr>
          <p:cNvPr id="9" name="Rectangle 195"/>
          <p:cNvSpPr>
            <a:spLocks noChangeArrowheads="1"/>
          </p:cNvSpPr>
          <p:nvPr/>
        </p:nvSpPr>
        <p:spPr bwMode="auto">
          <a:xfrm>
            <a:off x="7355861" y="3699004"/>
            <a:ext cx="720008" cy="360363"/>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accent5"/>
                </a:solidFill>
                <a:latin typeface="MeiryoKe_PGothic" pitchFamily="50" charset="-128"/>
                <a:ea typeface="MeiryoKe_PGothic" pitchFamily="50" charset="-128"/>
              </a:rPr>
              <a:t>1110</a:t>
            </a:r>
            <a:endParaRPr lang="ja-JP" altLang="en-US" b="1" dirty="0">
              <a:solidFill>
                <a:schemeClr val="accent5"/>
              </a:solidFill>
              <a:latin typeface="MeiryoKe_PGothic" pitchFamily="50" charset="-128"/>
              <a:ea typeface="MeiryoKe_PGothic" pitchFamily="50" charset="-128"/>
            </a:endParaRPr>
          </a:p>
        </p:txBody>
      </p:sp>
      <p:sp>
        <p:nvSpPr>
          <p:cNvPr id="10" name="正方形/長方形 9"/>
          <p:cNvSpPr/>
          <p:nvPr/>
        </p:nvSpPr>
        <p:spPr bwMode="auto">
          <a:xfrm>
            <a:off x="7354223" y="2167399"/>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11" name="正方形/長方形 10"/>
          <p:cNvSpPr/>
          <p:nvPr/>
        </p:nvSpPr>
        <p:spPr bwMode="auto">
          <a:xfrm>
            <a:off x="7354223" y="2527403"/>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12" name="正方形/長方形 11"/>
          <p:cNvSpPr/>
          <p:nvPr/>
        </p:nvSpPr>
        <p:spPr bwMode="auto">
          <a:xfrm>
            <a:off x="6994219" y="2167399"/>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0</a:t>
            </a:r>
            <a:endParaRPr lang="ja-JP" altLang="en-US" sz="2000" dirty="0">
              <a:solidFill>
                <a:schemeClr val="tx1">
                  <a:lumMod val="75000"/>
                  <a:lumOff val="25000"/>
                </a:schemeClr>
              </a:solidFill>
              <a:latin typeface="Arial Narrow" panose="020B0606020202030204" pitchFamily="34" charset="0"/>
            </a:endParaRPr>
          </a:p>
        </p:txBody>
      </p:sp>
      <p:sp>
        <p:nvSpPr>
          <p:cNvPr id="13" name="正方形/長方形 12"/>
          <p:cNvSpPr/>
          <p:nvPr/>
        </p:nvSpPr>
        <p:spPr bwMode="auto">
          <a:xfrm>
            <a:off x="6994218" y="2527403"/>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1</a:t>
            </a:r>
            <a:endParaRPr lang="ja-JP" altLang="en-US" sz="2000" dirty="0">
              <a:solidFill>
                <a:schemeClr val="tx1">
                  <a:lumMod val="75000"/>
                  <a:lumOff val="25000"/>
                </a:schemeClr>
              </a:solidFill>
              <a:latin typeface="Arial Narrow" panose="020B0606020202030204" pitchFamily="34" charset="0"/>
            </a:endParaRPr>
          </a:p>
        </p:txBody>
      </p:sp>
      <p:sp>
        <p:nvSpPr>
          <p:cNvPr id="14" name="正方形/長方形 13"/>
          <p:cNvSpPr/>
          <p:nvPr/>
        </p:nvSpPr>
        <p:spPr bwMode="auto">
          <a:xfrm>
            <a:off x="6994218" y="2887407"/>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15" name="正方形/長方形 14"/>
          <p:cNvSpPr/>
          <p:nvPr/>
        </p:nvSpPr>
        <p:spPr bwMode="auto">
          <a:xfrm>
            <a:off x="7534224" y="3877418"/>
            <a:ext cx="3477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17" name="Rectangle 133"/>
          <p:cNvSpPr>
            <a:spLocks noChangeArrowheads="1"/>
          </p:cNvSpPr>
          <p:nvPr/>
        </p:nvSpPr>
        <p:spPr bwMode="auto">
          <a:xfrm>
            <a:off x="6275850" y="4329011"/>
            <a:ext cx="719803"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ja-JP" altLang="en-US" dirty="0">
                <a:solidFill>
                  <a:schemeClr val="tx1">
                    <a:lumMod val="75000"/>
                    <a:lumOff val="25000"/>
                  </a:schemeClr>
                </a:solidFill>
                <a:latin typeface="MeiryoKe_PGothic" pitchFamily="50" charset="-128"/>
                <a:ea typeface="MeiryoKe_PGothic" pitchFamily="50" charset="-128"/>
              </a:rPr>
              <a:t>ローカル</a:t>
            </a:r>
            <a:endParaRPr lang="en-US" altLang="ja-JP" dirty="0">
              <a:solidFill>
                <a:schemeClr val="tx1">
                  <a:lumMod val="75000"/>
                  <a:lumOff val="25000"/>
                </a:schemeClr>
              </a:solidFill>
              <a:latin typeface="MeiryoKe_PGothic" pitchFamily="50" charset="-128"/>
              <a:ea typeface="MeiryoKe_PGothic" pitchFamily="50" charset="-128"/>
            </a:endParaRPr>
          </a:p>
          <a:p>
            <a:pPr eaLnBrk="0" hangingPunct="0"/>
            <a:r>
              <a:rPr lang="ja-JP" altLang="en-US" dirty="0">
                <a:solidFill>
                  <a:schemeClr val="tx1">
                    <a:lumMod val="75000"/>
                    <a:lumOff val="25000"/>
                  </a:schemeClr>
                </a:solidFill>
                <a:latin typeface="MeiryoKe_PGothic" pitchFamily="50" charset="-128"/>
                <a:ea typeface="MeiryoKe_PGothic" pitchFamily="50" charset="-128"/>
              </a:rPr>
              <a:t>履歴表</a:t>
            </a:r>
            <a:endParaRPr lang="en-US" altLang="ja-JP" dirty="0">
              <a:solidFill>
                <a:schemeClr val="tx1">
                  <a:lumMod val="75000"/>
                  <a:lumOff val="25000"/>
                </a:schemeClr>
              </a:solidFill>
              <a:latin typeface="MeiryoKe_PGothic" pitchFamily="50" charset="-128"/>
              <a:ea typeface="MeiryoKe_PGothic" pitchFamily="50" charset="-128"/>
            </a:endParaRPr>
          </a:p>
        </p:txBody>
      </p:sp>
      <p:cxnSp>
        <p:nvCxnSpPr>
          <p:cNvPr id="18" name="直線コネクタ 17"/>
          <p:cNvCxnSpPr/>
          <p:nvPr/>
        </p:nvCxnSpPr>
        <p:spPr bwMode="auto">
          <a:xfrm>
            <a:off x="5825997" y="1538979"/>
            <a:ext cx="720008" cy="0"/>
          </a:xfrm>
          <a:prstGeom prst="line">
            <a:avLst/>
          </a:prstGeom>
          <a:ln>
            <a:headEnd type="none" w="med" len="med"/>
            <a:tailEnd type="none" w="med" len="med"/>
          </a:ln>
        </p:spPr>
        <p:style>
          <a:lnRef idx="2">
            <a:schemeClr val="accent5"/>
          </a:lnRef>
          <a:fillRef idx="0">
            <a:schemeClr val="accent5"/>
          </a:fillRef>
          <a:effectRef idx="1">
            <a:schemeClr val="accent5"/>
          </a:effectRef>
          <a:fontRef idx="minor">
            <a:schemeClr val="tx1"/>
          </a:fontRef>
        </p:style>
      </p:cxnSp>
      <p:sp>
        <p:nvSpPr>
          <p:cNvPr id="19" name="正方形/長方形 18"/>
          <p:cNvSpPr/>
          <p:nvPr/>
        </p:nvSpPr>
        <p:spPr bwMode="auto">
          <a:xfrm>
            <a:off x="4835833" y="2258987"/>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PC </a:t>
            </a:r>
            <a:r>
              <a:rPr lang="ja-JP" altLang="en-US" sz="2000" dirty="0">
                <a:solidFill>
                  <a:schemeClr val="tx1">
                    <a:lumMod val="75000"/>
                    <a:lumOff val="25000"/>
                  </a:schemeClr>
                </a:solidFill>
                <a:latin typeface="Arial Narrow" panose="020B0606020202030204" pitchFamily="34" charset="0"/>
              </a:rPr>
              <a:t>の下位 </a:t>
            </a:r>
            <a:r>
              <a:rPr lang="en-US" altLang="ja-JP" sz="2000" dirty="0">
                <a:solidFill>
                  <a:schemeClr val="tx1">
                    <a:lumMod val="75000"/>
                    <a:lumOff val="25000"/>
                  </a:schemeClr>
                </a:solidFill>
                <a:latin typeface="Arial Narrow" panose="020B0606020202030204" pitchFamily="34" charset="0"/>
              </a:rPr>
              <a:t>16</a:t>
            </a:r>
            <a:r>
              <a:rPr lang="ja-JP" altLang="en-US" sz="2000" dirty="0">
                <a:solidFill>
                  <a:schemeClr val="tx1">
                    <a:lumMod val="75000"/>
                    <a:lumOff val="25000"/>
                  </a:schemeClr>
                </a:solidFill>
                <a:latin typeface="Arial Narrow" panose="020B0606020202030204" pitchFamily="34" charset="0"/>
              </a:rPr>
              <a:t>ビット</a:t>
            </a:r>
          </a:p>
        </p:txBody>
      </p:sp>
      <p:sp>
        <p:nvSpPr>
          <p:cNvPr id="20" name="正方形/長方形 19"/>
          <p:cNvSpPr/>
          <p:nvPr/>
        </p:nvSpPr>
        <p:spPr bwMode="auto">
          <a:xfrm>
            <a:off x="7354223" y="4417424"/>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21" name="正方形/長方形 20"/>
          <p:cNvSpPr/>
          <p:nvPr/>
        </p:nvSpPr>
        <p:spPr bwMode="auto">
          <a:xfrm>
            <a:off x="7534224" y="2887407"/>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cxnSp>
        <p:nvCxnSpPr>
          <p:cNvPr id="22" name="直線矢印コネクタ 21"/>
          <p:cNvCxnSpPr/>
          <p:nvPr/>
        </p:nvCxnSpPr>
        <p:spPr bwMode="auto">
          <a:xfrm>
            <a:off x="7714226" y="4777429"/>
            <a:ext cx="0" cy="450005"/>
          </a:xfrm>
          <a:prstGeom prst="straightConnector1">
            <a:avLst/>
          </a:prstGeom>
          <a:ln>
            <a:headEnd type="none" w="sm" len="sm"/>
            <a:tailEnd type="triangle" w="lg" len="lg"/>
          </a:ln>
        </p:spPr>
        <p:style>
          <a:lnRef idx="2">
            <a:schemeClr val="accent5"/>
          </a:lnRef>
          <a:fillRef idx="0">
            <a:schemeClr val="accent5"/>
          </a:fillRef>
          <a:effectRef idx="1">
            <a:schemeClr val="accent5"/>
          </a:effectRef>
          <a:fontRef idx="minor">
            <a:schemeClr val="tx1"/>
          </a:fontRef>
        </p:style>
      </p:cxnSp>
      <p:sp>
        <p:nvSpPr>
          <p:cNvPr id="26" name="Freeform 10"/>
          <p:cNvSpPr>
            <a:spLocks/>
          </p:cNvSpPr>
          <p:nvPr/>
        </p:nvSpPr>
        <p:spPr bwMode="auto">
          <a:xfrm rot="10800000">
            <a:off x="6185848" y="1808981"/>
            <a:ext cx="2250025" cy="342003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triangle" w="lg" len="lg"/>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a:latin typeface="Arial Narrow" pitchFamily="34" charset="0"/>
              <a:cs typeface="Times New Roman" pitchFamily="18" charset="0"/>
            </a:endParaRPr>
          </a:p>
        </p:txBody>
      </p:sp>
      <p:sp>
        <p:nvSpPr>
          <p:cNvPr id="27" name="Rectangle 154"/>
          <p:cNvSpPr>
            <a:spLocks noChangeArrowheads="1"/>
          </p:cNvSpPr>
          <p:nvPr/>
        </p:nvSpPr>
        <p:spPr bwMode="auto">
          <a:xfrm>
            <a:off x="9607526" y="2170573"/>
            <a:ext cx="718369" cy="2608442"/>
          </a:xfrm>
          <a:prstGeom prst="rect">
            <a:avLst/>
          </a:prstGeom>
          <a:ln>
            <a:solidFill>
              <a:schemeClr val="tx1">
                <a:lumMod val="75000"/>
                <a:lumOff val="25000"/>
              </a:schemeClr>
            </a:solidFill>
            <a:headEnd/>
            <a:tailEnd/>
          </a:ln>
        </p:spPr>
        <p:style>
          <a:lnRef idx="2">
            <a:schemeClr val="dk1"/>
          </a:lnRef>
          <a:fillRef idx="1">
            <a:schemeClr val="lt1"/>
          </a:fillRef>
          <a:effectRef idx="0">
            <a:schemeClr val="dk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MeiryoKe_PGothic" pitchFamily="50" charset="-128"/>
              <a:ea typeface="MeiryoKe_PGothic" pitchFamily="50" charset="-128"/>
            </a:endParaRPr>
          </a:p>
        </p:txBody>
      </p:sp>
      <p:sp>
        <p:nvSpPr>
          <p:cNvPr id="28" name="Rectangle 195"/>
          <p:cNvSpPr>
            <a:spLocks noChangeArrowheads="1"/>
          </p:cNvSpPr>
          <p:nvPr/>
        </p:nvSpPr>
        <p:spPr bwMode="auto">
          <a:xfrm>
            <a:off x="9605886" y="3248999"/>
            <a:ext cx="720008" cy="360363"/>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accent5"/>
                </a:solidFill>
                <a:latin typeface="MeiryoKe_PGothic" pitchFamily="50" charset="-128"/>
                <a:ea typeface="MeiryoKe_PGothic" pitchFamily="50" charset="-128"/>
              </a:rPr>
              <a:t>11</a:t>
            </a:r>
            <a:endParaRPr lang="ja-JP" altLang="en-US" b="1" dirty="0">
              <a:solidFill>
                <a:schemeClr val="accent5"/>
              </a:solidFill>
              <a:latin typeface="MeiryoKe_PGothic" pitchFamily="50" charset="-128"/>
              <a:ea typeface="MeiryoKe_PGothic" pitchFamily="50" charset="-128"/>
            </a:endParaRPr>
          </a:p>
        </p:txBody>
      </p:sp>
      <p:sp>
        <p:nvSpPr>
          <p:cNvPr id="29" name="正方形/長方形 28"/>
          <p:cNvSpPr/>
          <p:nvPr/>
        </p:nvSpPr>
        <p:spPr bwMode="auto">
          <a:xfrm>
            <a:off x="9605887" y="2168986"/>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30" name="正方形/長方形 29"/>
          <p:cNvSpPr/>
          <p:nvPr/>
        </p:nvSpPr>
        <p:spPr bwMode="auto">
          <a:xfrm>
            <a:off x="9605887" y="2528990"/>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31" name="正方形/長方形 30"/>
          <p:cNvSpPr/>
          <p:nvPr/>
        </p:nvSpPr>
        <p:spPr bwMode="auto">
          <a:xfrm>
            <a:off x="9245883" y="2168986"/>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0</a:t>
            </a:r>
            <a:endParaRPr lang="ja-JP" altLang="en-US" sz="2000" dirty="0">
              <a:solidFill>
                <a:schemeClr val="tx1">
                  <a:lumMod val="75000"/>
                  <a:lumOff val="25000"/>
                </a:schemeClr>
              </a:solidFill>
              <a:latin typeface="Arial Narrow" panose="020B0606020202030204" pitchFamily="34" charset="0"/>
            </a:endParaRPr>
          </a:p>
        </p:txBody>
      </p:sp>
      <p:sp>
        <p:nvSpPr>
          <p:cNvPr id="32" name="正方形/長方形 31"/>
          <p:cNvSpPr/>
          <p:nvPr/>
        </p:nvSpPr>
        <p:spPr bwMode="auto">
          <a:xfrm>
            <a:off x="9245882" y="2528990"/>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1</a:t>
            </a:r>
            <a:endParaRPr lang="ja-JP" altLang="en-US" sz="2000" dirty="0">
              <a:solidFill>
                <a:schemeClr val="tx1">
                  <a:lumMod val="75000"/>
                  <a:lumOff val="25000"/>
                </a:schemeClr>
              </a:solidFill>
              <a:latin typeface="Arial Narrow" panose="020B0606020202030204" pitchFamily="34" charset="0"/>
            </a:endParaRPr>
          </a:p>
        </p:txBody>
      </p:sp>
      <p:sp>
        <p:nvSpPr>
          <p:cNvPr id="33" name="正方形/長方形 32"/>
          <p:cNvSpPr/>
          <p:nvPr/>
        </p:nvSpPr>
        <p:spPr bwMode="auto">
          <a:xfrm>
            <a:off x="9245882" y="2798993"/>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34" name="正方形/長方形 33"/>
          <p:cNvSpPr/>
          <p:nvPr/>
        </p:nvSpPr>
        <p:spPr bwMode="auto">
          <a:xfrm>
            <a:off x="9785888" y="3879005"/>
            <a:ext cx="3477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35" name="正方形/長方形 34"/>
          <p:cNvSpPr/>
          <p:nvPr/>
        </p:nvSpPr>
        <p:spPr bwMode="auto">
          <a:xfrm>
            <a:off x="9605887" y="4419011"/>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36" name="正方形/長方形 35"/>
          <p:cNvSpPr/>
          <p:nvPr/>
        </p:nvSpPr>
        <p:spPr bwMode="auto">
          <a:xfrm>
            <a:off x="9785888" y="2798993"/>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37" name="Freeform 10"/>
          <p:cNvSpPr>
            <a:spLocks/>
          </p:cNvSpPr>
          <p:nvPr/>
        </p:nvSpPr>
        <p:spPr bwMode="auto">
          <a:xfrm rot="16200000" flipV="1">
            <a:off x="8165870" y="5139019"/>
            <a:ext cx="810008" cy="99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none" w="lg" len="lg"/>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a:latin typeface="Arial Narrow" pitchFamily="34" charset="0"/>
              <a:cs typeface="Times New Roman" pitchFamily="18" charset="0"/>
            </a:endParaRPr>
          </a:p>
        </p:txBody>
      </p:sp>
      <p:cxnSp>
        <p:nvCxnSpPr>
          <p:cNvPr id="38" name="直線コネクタ 37"/>
          <p:cNvCxnSpPr/>
          <p:nvPr/>
        </p:nvCxnSpPr>
        <p:spPr bwMode="auto">
          <a:xfrm>
            <a:off x="7535863" y="5229020"/>
            <a:ext cx="1080012" cy="0"/>
          </a:xfrm>
          <a:prstGeom prst="line">
            <a:avLst/>
          </a:prstGeom>
          <a:ln>
            <a:headEnd type="none" w="med" len="med"/>
            <a:tailEnd type="none" w="med" len="med"/>
          </a:ln>
        </p:spPr>
        <p:style>
          <a:lnRef idx="2">
            <a:schemeClr val="accent5"/>
          </a:lnRef>
          <a:fillRef idx="0">
            <a:schemeClr val="accent5"/>
          </a:fillRef>
          <a:effectRef idx="1">
            <a:schemeClr val="accent5"/>
          </a:effectRef>
          <a:fontRef idx="minor">
            <a:schemeClr val="tx1"/>
          </a:fontRef>
        </p:style>
      </p:cxnSp>
      <p:sp>
        <p:nvSpPr>
          <p:cNvPr id="40" name="Freeform 10"/>
          <p:cNvSpPr>
            <a:spLocks/>
          </p:cNvSpPr>
          <p:nvPr/>
        </p:nvSpPr>
        <p:spPr bwMode="auto">
          <a:xfrm rot="5400000">
            <a:off x="8075869" y="4509015"/>
            <a:ext cx="2520029" cy="54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triangle" w="lg" len="lg"/>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a:latin typeface="Arial Narrow" pitchFamily="34" charset="0"/>
              <a:cs typeface="Times New Roman" pitchFamily="18" charset="0"/>
            </a:endParaRPr>
          </a:p>
        </p:txBody>
      </p:sp>
      <p:sp>
        <p:nvSpPr>
          <p:cNvPr id="41" name="Rectangle 133"/>
          <p:cNvSpPr>
            <a:spLocks noChangeArrowheads="1"/>
          </p:cNvSpPr>
          <p:nvPr/>
        </p:nvSpPr>
        <p:spPr bwMode="auto">
          <a:xfrm>
            <a:off x="9605887" y="1718982"/>
            <a:ext cx="719803"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en-US" altLang="ja-JP" dirty="0">
                <a:solidFill>
                  <a:schemeClr val="tx1">
                    <a:lumMod val="75000"/>
                    <a:lumOff val="25000"/>
                  </a:schemeClr>
                </a:solidFill>
                <a:latin typeface="MeiryoKe_PGothic" pitchFamily="50" charset="-128"/>
                <a:ea typeface="MeiryoKe_PGothic" pitchFamily="50" charset="-128"/>
              </a:rPr>
              <a:t>PHT</a:t>
            </a:r>
          </a:p>
        </p:txBody>
      </p:sp>
      <p:sp>
        <p:nvSpPr>
          <p:cNvPr id="42" name="Rectangle 133"/>
          <p:cNvSpPr>
            <a:spLocks noChangeArrowheads="1"/>
          </p:cNvSpPr>
          <p:nvPr/>
        </p:nvSpPr>
        <p:spPr bwMode="auto">
          <a:xfrm>
            <a:off x="7175860" y="5319022"/>
            <a:ext cx="719803"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ja-JP" altLang="en-US" dirty="0">
                <a:solidFill>
                  <a:schemeClr val="tx1">
                    <a:lumMod val="75000"/>
                    <a:lumOff val="25000"/>
                  </a:schemeClr>
                </a:solidFill>
                <a:latin typeface="MeiryoKe_PGothic" pitchFamily="50" charset="-128"/>
                <a:ea typeface="MeiryoKe_PGothic" pitchFamily="50" charset="-128"/>
              </a:rPr>
              <a:t>連結</a:t>
            </a:r>
            <a:endParaRPr lang="en-US" altLang="ja-JP" dirty="0">
              <a:solidFill>
                <a:schemeClr val="tx1">
                  <a:lumMod val="75000"/>
                  <a:lumOff val="25000"/>
                </a:schemeClr>
              </a:solidFill>
              <a:latin typeface="MeiryoKe_PGothic" pitchFamily="50" charset="-128"/>
              <a:ea typeface="MeiryoKe_PGothic" pitchFamily="50" charset="-128"/>
            </a:endParaRPr>
          </a:p>
        </p:txBody>
      </p:sp>
      <p:sp>
        <p:nvSpPr>
          <p:cNvPr id="39" name="正方形/長方形 38"/>
          <p:cNvSpPr/>
          <p:nvPr/>
        </p:nvSpPr>
        <p:spPr bwMode="auto">
          <a:xfrm>
            <a:off x="8885878" y="3158997"/>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b="1" dirty="0">
                <a:solidFill>
                  <a:schemeClr val="accent5"/>
                </a:solidFill>
                <a:latin typeface="Arial Narrow" panose="020B0606020202030204" pitchFamily="34" charset="0"/>
              </a:rPr>
              <a:t>0x4000E</a:t>
            </a:r>
            <a:endParaRPr lang="ja-JP" altLang="en-US" b="1" dirty="0">
              <a:solidFill>
                <a:schemeClr val="accent5"/>
              </a:solidFill>
              <a:latin typeface="Arial Narrow" panose="020B0606020202030204" pitchFamily="34" charset="0"/>
            </a:endParaRPr>
          </a:p>
        </p:txBody>
      </p:sp>
    </p:spTree>
    <p:extLst>
      <p:ext uri="{BB962C8B-B14F-4D97-AF65-F5344CB8AC3E}">
        <p14:creationId xmlns:p14="http://schemas.microsoft.com/office/powerpoint/2010/main" val="22860553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ローカル履歴予測器の動作例（３）</a:t>
            </a:r>
          </a:p>
        </p:txBody>
      </p:sp>
      <p:sp>
        <p:nvSpPr>
          <p:cNvPr id="3" name="テキスト プレースホルダー 2"/>
          <p:cNvSpPr>
            <a:spLocks noGrp="1"/>
          </p:cNvSpPr>
          <p:nvPr>
            <p:ph type="body" sz="quarter" idx="10"/>
          </p:nvPr>
        </p:nvSpPr>
        <p:spPr>
          <a:xfrm>
            <a:off x="1554675" y="5139019"/>
            <a:ext cx="8280092" cy="989704"/>
          </a:xfrm>
        </p:spPr>
        <p:txBody>
          <a:bodyPr/>
          <a:lstStyle/>
          <a:p>
            <a:r>
              <a:rPr lang="ja-JP" altLang="en-US" dirty="0"/>
              <a:t>動作：</a:t>
            </a:r>
            <a:endParaRPr lang="en-US" altLang="ja-JP" dirty="0"/>
          </a:p>
          <a:p>
            <a:pPr marL="817200" lvl="1" indent="-457200">
              <a:buFont typeface="+mj-lt"/>
              <a:buAutoNum type="arabicPeriod"/>
            </a:pPr>
            <a:r>
              <a:rPr lang="en-US" altLang="ja-JP" dirty="0"/>
              <a:t>0x4000 </a:t>
            </a:r>
            <a:r>
              <a:rPr lang="ja-JP" altLang="en-US" dirty="0"/>
              <a:t>でローカル履歴表をアクセス</a:t>
            </a:r>
            <a:endParaRPr lang="en-US" altLang="ja-JP" dirty="0"/>
          </a:p>
          <a:p>
            <a:pPr marL="817200" lvl="1" indent="-457200">
              <a:buFont typeface="+mj-lt"/>
              <a:buAutoNum type="arabicPeriod"/>
            </a:pPr>
            <a:r>
              <a:rPr lang="ja-JP" altLang="en-US" dirty="0"/>
              <a:t>得られた </a:t>
            </a:r>
            <a:r>
              <a:rPr lang="en-US" altLang="ja-JP" dirty="0">
                <a:solidFill>
                  <a:schemeClr val="accent5"/>
                </a:solidFill>
              </a:rPr>
              <a:t>1101=0xD</a:t>
            </a:r>
            <a:r>
              <a:rPr lang="en-US" altLang="ja-JP" dirty="0"/>
              <a:t> </a:t>
            </a:r>
            <a:r>
              <a:rPr lang="ja-JP" altLang="en-US" dirty="0"/>
              <a:t>と </a:t>
            </a:r>
            <a:r>
              <a:rPr lang="en-US" altLang="ja-JP" dirty="0"/>
              <a:t>0x4000 </a:t>
            </a:r>
            <a:r>
              <a:rPr lang="ja-JP" altLang="en-US" dirty="0"/>
              <a:t>を</a:t>
            </a:r>
            <a:br>
              <a:rPr lang="en-US" altLang="ja-JP" dirty="0"/>
            </a:br>
            <a:r>
              <a:rPr lang="ja-JP" altLang="en-US" dirty="0"/>
              <a:t>結合し，</a:t>
            </a:r>
            <a:r>
              <a:rPr lang="en-US" altLang="ja-JP" dirty="0"/>
              <a:t>PHT </a:t>
            </a:r>
            <a:r>
              <a:rPr lang="ja-JP" altLang="en-US" dirty="0"/>
              <a:t>の </a:t>
            </a:r>
            <a:r>
              <a:rPr lang="en-US" altLang="ja-JP" dirty="0"/>
              <a:t>0x4000D </a:t>
            </a:r>
            <a:r>
              <a:rPr lang="ja-JP" altLang="en-US" dirty="0"/>
              <a:t>をアクセス</a:t>
            </a:r>
            <a:endParaRPr lang="en-US" altLang="ja-JP" dirty="0"/>
          </a:p>
          <a:p>
            <a:pPr marL="817200" lvl="1" indent="-457200">
              <a:buFont typeface="+mj-lt"/>
              <a:buAutoNum type="arabicPeriod"/>
            </a:pPr>
            <a:r>
              <a:rPr lang="ja-JP" altLang="en-US" dirty="0"/>
              <a:t>カウンタの中身が </a:t>
            </a:r>
            <a:r>
              <a:rPr lang="en-US" altLang="ja-JP" dirty="0"/>
              <a:t>11 </a:t>
            </a:r>
            <a:r>
              <a:rPr lang="ja-JP" altLang="en-US" dirty="0" err="1"/>
              <a:t>なので</a:t>
            </a:r>
            <a:r>
              <a:rPr lang="ja-JP" altLang="en-US" dirty="0"/>
              <a:t>成立と予測</a:t>
            </a:r>
            <a:endParaRPr lang="en-US" altLang="ja-JP" dirty="0"/>
          </a:p>
        </p:txBody>
      </p:sp>
      <p:sp>
        <p:nvSpPr>
          <p:cNvPr id="4" name="Rectangle 89"/>
          <p:cNvSpPr>
            <a:spLocks noChangeArrowheads="1"/>
          </p:cNvSpPr>
          <p:nvPr/>
        </p:nvSpPr>
        <p:spPr bwMode="auto">
          <a:xfrm>
            <a:off x="4385982" y="1088974"/>
            <a:ext cx="1439863" cy="360362"/>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tx1">
                    <a:lumMod val="75000"/>
                    <a:lumOff val="25000"/>
                  </a:schemeClr>
                </a:solidFill>
                <a:latin typeface="MeiryoKe_PGothic" pitchFamily="50" charset="-128"/>
                <a:ea typeface="MeiryoKe_PGothic" pitchFamily="50" charset="-128"/>
              </a:rPr>
              <a:t>0x80</a:t>
            </a:r>
            <a:endParaRPr lang="ja-JP" altLang="en-US" b="1" dirty="0">
              <a:solidFill>
                <a:schemeClr val="tx1">
                  <a:lumMod val="75000"/>
                  <a:lumOff val="25000"/>
                </a:schemeClr>
              </a:solidFill>
              <a:latin typeface="MeiryoKe_PGothic" pitchFamily="50" charset="-128"/>
              <a:ea typeface="MeiryoKe_PGothic" pitchFamily="50" charset="-128"/>
            </a:endParaRPr>
          </a:p>
        </p:txBody>
      </p:sp>
      <p:sp>
        <p:nvSpPr>
          <p:cNvPr id="5" name="Rectangle 128"/>
          <p:cNvSpPr>
            <a:spLocks noChangeArrowheads="1"/>
          </p:cNvSpPr>
          <p:nvPr/>
        </p:nvSpPr>
        <p:spPr bwMode="auto">
          <a:xfrm>
            <a:off x="3845975" y="1088975"/>
            <a:ext cx="540006" cy="314325"/>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eaLnBrk="0" hangingPunct="0"/>
            <a:r>
              <a:rPr lang="en-US" altLang="ja-JP" dirty="0">
                <a:solidFill>
                  <a:schemeClr val="tx1">
                    <a:lumMod val="75000"/>
                    <a:lumOff val="25000"/>
                  </a:schemeClr>
                </a:solidFill>
                <a:latin typeface="MeiryoKe_PGothic" pitchFamily="50" charset="-128"/>
                <a:ea typeface="MeiryoKe_PGothic" pitchFamily="50" charset="-128"/>
              </a:rPr>
              <a:t>PC</a:t>
            </a:r>
          </a:p>
        </p:txBody>
      </p:sp>
      <p:sp>
        <p:nvSpPr>
          <p:cNvPr id="6" name="Rectangle 13"/>
          <p:cNvSpPr>
            <a:spLocks noChangeArrowheads="1"/>
          </p:cNvSpPr>
          <p:nvPr/>
        </p:nvSpPr>
        <p:spPr bwMode="auto">
          <a:xfrm>
            <a:off x="5825845" y="1088974"/>
            <a:ext cx="720725" cy="360362"/>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tx1">
                    <a:lumMod val="75000"/>
                    <a:lumOff val="25000"/>
                  </a:schemeClr>
                </a:solidFill>
                <a:latin typeface="MeiryoKe_PGothic" pitchFamily="50" charset="-128"/>
                <a:ea typeface="MeiryoKe_PGothic" pitchFamily="50" charset="-128"/>
              </a:rPr>
              <a:t>4000</a:t>
            </a:r>
            <a:endParaRPr lang="ja-JP" altLang="en-US" b="1" dirty="0">
              <a:solidFill>
                <a:schemeClr val="tx1">
                  <a:lumMod val="75000"/>
                  <a:lumOff val="25000"/>
                </a:schemeClr>
              </a:solidFill>
              <a:latin typeface="MeiryoKe_PGothic" pitchFamily="50" charset="-128"/>
              <a:ea typeface="MeiryoKe_PGothic" pitchFamily="50" charset="-128"/>
            </a:endParaRPr>
          </a:p>
        </p:txBody>
      </p:sp>
      <p:sp>
        <p:nvSpPr>
          <p:cNvPr id="7" name="Freeform 10"/>
          <p:cNvSpPr>
            <a:spLocks/>
          </p:cNvSpPr>
          <p:nvPr/>
        </p:nvSpPr>
        <p:spPr bwMode="auto">
          <a:xfrm rot="16200000" flipV="1">
            <a:off x="5555840" y="2168986"/>
            <a:ext cx="2340026"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triangle" w="lg" len="lg"/>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a:latin typeface="Arial Narrow" pitchFamily="34" charset="0"/>
              <a:cs typeface="Times New Roman" pitchFamily="18" charset="0"/>
            </a:endParaRPr>
          </a:p>
        </p:txBody>
      </p:sp>
      <p:sp>
        <p:nvSpPr>
          <p:cNvPr id="8" name="Rectangle 154"/>
          <p:cNvSpPr>
            <a:spLocks noChangeArrowheads="1"/>
          </p:cNvSpPr>
          <p:nvPr/>
        </p:nvSpPr>
        <p:spPr bwMode="auto">
          <a:xfrm>
            <a:off x="7355862" y="2168986"/>
            <a:ext cx="718369" cy="2608442"/>
          </a:xfrm>
          <a:prstGeom prst="rect">
            <a:avLst/>
          </a:prstGeom>
          <a:ln>
            <a:solidFill>
              <a:schemeClr val="tx1">
                <a:lumMod val="75000"/>
                <a:lumOff val="25000"/>
              </a:schemeClr>
            </a:solidFill>
            <a:headEnd/>
            <a:tailEnd/>
          </a:ln>
        </p:spPr>
        <p:style>
          <a:lnRef idx="2">
            <a:schemeClr val="dk1"/>
          </a:lnRef>
          <a:fillRef idx="1">
            <a:schemeClr val="lt1"/>
          </a:fillRef>
          <a:effectRef idx="0">
            <a:schemeClr val="dk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MeiryoKe_PGothic" pitchFamily="50" charset="-128"/>
              <a:ea typeface="MeiryoKe_PGothic" pitchFamily="50" charset="-128"/>
            </a:endParaRPr>
          </a:p>
        </p:txBody>
      </p:sp>
      <p:sp>
        <p:nvSpPr>
          <p:cNvPr id="9" name="Rectangle 195"/>
          <p:cNvSpPr>
            <a:spLocks noChangeArrowheads="1"/>
          </p:cNvSpPr>
          <p:nvPr/>
        </p:nvSpPr>
        <p:spPr bwMode="auto">
          <a:xfrm>
            <a:off x="7355861" y="3699004"/>
            <a:ext cx="720008" cy="360363"/>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accent5"/>
                </a:solidFill>
                <a:latin typeface="MeiryoKe_PGothic" pitchFamily="50" charset="-128"/>
                <a:ea typeface="MeiryoKe_PGothic" pitchFamily="50" charset="-128"/>
              </a:rPr>
              <a:t>110</a:t>
            </a:r>
            <a:r>
              <a:rPr lang="ja-JP" altLang="en-US" b="1" dirty="0">
                <a:solidFill>
                  <a:schemeClr val="accent5"/>
                </a:solidFill>
                <a:latin typeface="MeiryoKe_PGothic" pitchFamily="50" charset="-128"/>
                <a:ea typeface="MeiryoKe_PGothic" pitchFamily="50" charset="-128"/>
              </a:rPr>
              <a:t>１</a:t>
            </a:r>
          </a:p>
        </p:txBody>
      </p:sp>
      <p:sp>
        <p:nvSpPr>
          <p:cNvPr id="10" name="正方形/長方形 9"/>
          <p:cNvSpPr/>
          <p:nvPr/>
        </p:nvSpPr>
        <p:spPr bwMode="auto">
          <a:xfrm>
            <a:off x="7354223" y="2167399"/>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11" name="正方形/長方形 10"/>
          <p:cNvSpPr/>
          <p:nvPr/>
        </p:nvSpPr>
        <p:spPr bwMode="auto">
          <a:xfrm>
            <a:off x="7354223" y="2527403"/>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12" name="正方形/長方形 11"/>
          <p:cNvSpPr/>
          <p:nvPr/>
        </p:nvSpPr>
        <p:spPr bwMode="auto">
          <a:xfrm>
            <a:off x="6994219" y="2167399"/>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0</a:t>
            </a:r>
            <a:endParaRPr lang="ja-JP" altLang="en-US" sz="2000" dirty="0">
              <a:solidFill>
                <a:schemeClr val="tx1">
                  <a:lumMod val="75000"/>
                  <a:lumOff val="25000"/>
                </a:schemeClr>
              </a:solidFill>
              <a:latin typeface="Arial Narrow" panose="020B0606020202030204" pitchFamily="34" charset="0"/>
            </a:endParaRPr>
          </a:p>
        </p:txBody>
      </p:sp>
      <p:sp>
        <p:nvSpPr>
          <p:cNvPr id="13" name="正方形/長方形 12"/>
          <p:cNvSpPr/>
          <p:nvPr/>
        </p:nvSpPr>
        <p:spPr bwMode="auto">
          <a:xfrm>
            <a:off x="6994218" y="2527403"/>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1</a:t>
            </a:r>
            <a:endParaRPr lang="ja-JP" altLang="en-US" sz="2000" dirty="0">
              <a:solidFill>
                <a:schemeClr val="tx1">
                  <a:lumMod val="75000"/>
                  <a:lumOff val="25000"/>
                </a:schemeClr>
              </a:solidFill>
              <a:latin typeface="Arial Narrow" panose="020B0606020202030204" pitchFamily="34" charset="0"/>
            </a:endParaRPr>
          </a:p>
        </p:txBody>
      </p:sp>
      <p:sp>
        <p:nvSpPr>
          <p:cNvPr id="14" name="正方形/長方形 13"/>
          <p:cNvSpPr/>
          <p:nvPr/>
        </p:nvSpPr>
        <p:spPr bwMode="auto">
          <a:xfrm>
            <a:off x="6994218" y="2887407"/>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15" name="正方形/長方形 14"/>
          <p:cNvSpPr/>
          <p:nvPr/>
        </p:nvSpPr>
        <p:spPr bwMode="auto">
          <a:xfrm>
            <a:off x="7534224" y="3877418"/>
            <a:ext cx="3477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17" name="Rectangle 133"/>
          <p:cNvSpPr>
            <a:spLocks noChangeArrowheads="1"/>
          </p:cNvSpPr>
          <p:nvPr/>
        </p:nvSpPr>
        <p:spPr bwMode="auto">
          <a:xfrm>
            <a:off x="6275850" y="4329011"/>
            <a:ext cx="719803"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ja-JP" altLang="en-US" dirty="0">
                <a:solidFill>
                  <a:schemeClr val="tx1">
                    <a:lumMod val="75000"/>
                    <a:lumOff val="25000"/>
                  </a:schemeClr>
                </a:solidFill>
                <a:latin typeface="MeiryoKe_PGothic" pitchFamily="50" charset="-128"/>
                <a:ea typeface="MeiryoKe_PGothic" pitchFamily="50" charset="-128"/>
              </a:rPr>
              <a:t>ローカル</a:t>
            </a:r>
            <a:endParaRPr lang="en-US" altLang="ja-JP" dirty="0">
              <a:solidFill>
                <a:schemeClr val="tx1">
                  <a:lumMod val="75000"/>
                  <a:lumOff val="25000"/>
                </a:schemeClr>
              </a:solidFill>
              <a:latin typeface="MeiryoKe_PGothic" pitchFamily="50" charset="-128"/>
              <a:ea typeface="MeiryoKe_PGothic" pitchFamily="50" charset="-128"/>
            </a:endParaRPr>
          </a:p>
          <a:p>
            <a:pPr eaLnBrk="0" hangingPunct="0"/>
            <a:r>
              <a:rPr lang="ja-JP" altLang="en-US" dirty="0">
                <a:solidFill>
                  <a:schemeClr val="tx1">
                    <a:lumMod val="75000"/>
                    <a:lumOff val="25000"/>
                  </a:schemeClr>
                </a:solidFill>
                <a:latin typeface="MeiryoKe_PGothic" pitchFamily="50" charset="-128"/>
                <a:ea typeface="MeiryoKe_PGothic" pitchFamily="50" charset="-128"/>
              </a:rPr>
              <a:t>履歴表</a:t>
            </a:r>
            <a:endParaRPr lang="en-US" altLang="ja-JP" dirty="0">
              <a:solidFill>
                <a:schemeClr val="tx1">
                  <a:lumMod val="75000"/>
                  <a:lumOff val="25000"/>
                </a:schemeClr>
              </a:solidFill>
              <a:latin typeface="MeiryoKe_PGothic" pitchFamily="50" charset="-128"/>
              <a:ea typeface="MeiryoKe_PGothic" pitchFamily="50" charset="-128"/>
            </a:endParaRPr>
          </a:p>
        </p:txBody>
      </p:sp>
      <p:cxnSp>
        <p:nvCxnSpPr>
          <p:cNvPr id="18" name="直線コネクタ 17"/>
          <p:cNvCxnSpPr/>
          <p:nvPr/>
        </p:nvCxnSpPr>
        <p:spPr bwMode="auto">
          <a:xfrm>
            <a:off x="5825997" y="1538979"/>
            <a:ext cx="720008" cy="0"/>
          </a:xfrm>
          <a:prstGeom prst="line">
            <a:avLst/>
          </a:prstGeom>
          <a:ln>
            <a:headEnd type="none" w="med" len="med"/>
            <a:tailEnd type="none" w="med" len="med"/>
          </a:ln>
        </p:spPr>
        <p:style>
          <a:lnRef idx="2">
            <a:schemeClr val="accent5"/>
          </a:lnRef>
          <a:fillRef idx="0">
            <a:schemeClr val="accent5"/>
          </a:fillRef>
          <a:effectRef idx="1">
            <a:schemeClr val="accent5"/>
          </a:effectRef>
          <a:fontRef idx="minor">
            <a:schemeClr val="tx1"/>
          </a:fontRef>
        </p:style>
      </p:cxnSp>
      <p:sp>
        <p:nvSpPr>
          <p:cNvPr id="19" name="正方形/長方形 18"/>
          <p:cNvSpPr/>
          <p:nvPr/>
        </p:nvSpPr>
        <p:spPr bwMode="auto">
          <a:xfrm>
            <a:off x="4835833" y="2258987"/>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PC </a:t>
            </a:r>
            <a:r>
              <a:rPr lang="ja-JP" altLang="en-US" sz="2000" dirty="0">
                <a:solidFill>
                  <a:schemeClr val="tx1">
                    <a:lumMod val="75000"/>
                    <a:lumOff val="25000"/>
                  </a:schemeClr>
                </a:solidFill>
                <a:latin typeface="Arial Narrow" panose="020B0606020202030204" pitchFamily="34" charset="0"/>
              </a:rPr>
              <a:t>の下位 </a:t>
            </a:r>
            <a:r>
              <a:rPr lang="en-US" altLang="ja-JP" sz="2000" dirty="0">
                <a:solidFill>
                  <a:schemeClr val="tx1">
                    <a:lumMod val="75000"/>
                    <a:lumOff val="25000"/>
                  </a:schemeClr>
                </a:solidFill>
                <a:latin typeface="Arial Narrow" panose="020B0606020202030204" pitchFamily="34" charset="0"/>
              </a:rPr>
              <a:t>16</a:t>
            </a:r>
            <a:r>
              <a:rPr lang="ja-JP" altLang="en-US" sz="2000" dirty="0">
                <a:solidFill>
                  <a:schemeClr val="tx1">
                    <a:lumMod val="75000"/>
                    <a:lumOff val="25000"/>
                  </a:schemeClr>
                </a:solidFill>
                <a:latin typeface="Arial Narrow" panose="020B0606020202030204" pitchFamily="34" charset="0"/>
              </a:rPr>
              <a:t>ビット</a:t>
            </a:r>
          </a:p>
        </p:txBody>
      </p:sp>
      <p:sp>
        <p:nvSpPr>
          <p:cNvPr id="20" name="正方形/長方形 19"/>
          <p:cNvSpPr/>
          <p:nvPr/>
        </p:nvSpPr>
        <p:spPr bwMode="auto">
          <a:xfrm>
            <a:off x="7354223" y="4417424"/>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21" name="正方形/長方形 20"/>
          <p:cNvSpPr/>
          <p:nvPr/>
        </p:nvSpPr>
        <p:spPr bwMode="auto">
          <a:xfrm>
            <a:off x="7534224" y="2887407"/>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cxnSp>
        <p:nvCxnSpPr>
          <p:cNvPr id="22" name="直線矢印コネクタ 21"/>
          <p:cNvCxnSpPr/>
          <p:nvPr/>
        </p:nvCxnSpPr>
        <p:spPr bwMode="auto">
          <a:xfrm>
            <a:off x="7714226" y="4777429"/>
            <a:ext cx="0" cy="450005"/>
          </a:xfrm>
          <a:prstGeom prst="straightConnector1">
            <a:avLst/>
          </a:prstGeom>
          <a:ln>
            <a:headEnd type="none" w="sm" len="sm"/>
            <a:tailEnd type="triangle" w="lg" len="lg"/>
          </a:ln>
        </p:spPr>
        <p:style>
          <a:lnRef idx="2">
            <a:schemeClr val="accent5"/>
          </a:lnRef>
          <a:fillRef idx="0">
            <a:schemeClr val="accent5"/>
          </a:fillRef>
          <a:effectRef idx="1">
            <a:schemeClr val="accent5"/>
          </a:effectRef>
          <a:fontRef idx="minor">
            <a:schemeClr val="tx1"/>
          </a:fontRef>
        </p:style>
      </p:cxnSp>
      <p:sp>
        <p:nvSpPr>
          <p:cNvPr id="26" name="Freeform 10"/>
          <p:cNvSpPr>
            <a:spLocks/>
          </p:cNvSpPr>
          <p:nvPr/>
        </p:nvSpPr>
        <p:spPr bwMode="auto">
          <a:xfrm rot="10800000">
            <a:off x="6185848" y="1808981"/>
            <a:ext cx="2250025" cy="342003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triangle" w="lg" len="lg"/>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a:latin typeface="Arial Narrow" pitchFamily="34" charset="0"/>
              <a:cs typeface="Times New Roman" pitchFamily="18" charset="0"/>
            </a:endParaRPr>
          </a:p>
        </p:txBody>
      </p:sp>
      <p:sp>
        <p:nvSpPr>
          <p:cNvPr id="27" name="Rectangle 154"/>
          <p:cNvSpPr>
            <a:spLocks noChangeArrowheads="1"/>
          </p:cNvSpPr>
          <p:nvPr/>
        </p:nvSpPr>
        <p:spPr bwMode="auto">
          <a:xfrm>
            <a:off x="9607526" y="2170573"/>
            <a:ext cx="718369" cy="2608442"/>
          </a:xfrm>
          <a:prstGeom prst="rect">
            <a:avLst/>
          </a:prstGeom>
          <a:ln>
            <a:solidFill>
              <a:schemeClr val="tx1">
                <a:lumMod val="75000"/>
                <a:lumOff val="25000"/>
              </a:schemeClr>
            </a:solidFill>
            <a:headEnd/>
            <a:tailEnd/>
          </a:ln>
        </p:spPr>
        <p:style>
          <a:lnRef idx="2">
            <a:schemeClr val="dk1"/>
          </a:lnRef>
          <a:fillRef idx="1">
            <a:schemeClr val="lt1"/>
          </a:fillRef>
          <a:effectRef idx="0">
            <a:schemeClr val="dk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MeiryoKe_PGothic" pitchFamily="50" charset="-128"/>
              <a:ea typeface="MeiryoKe_PGothic" pitchFamily="50" charset="-128"/>
            </a:endParaRPr>
          </a:p>
        </p:txBody>
      </p:sp>
      <p:sp>
        <p:nvSpPr>
          <p:cNvPr id="28" name="Rectangle 195"/>
          <p:cNvSpPr>
            <a:spLocks noChangeArrowheads="1"/>
          </p:cNvSpPr>
          <p:nvPr/>
        </p:nvSpPr>
        <p:spPr bwMode="auto">
          <a:xfrm>
            <a:off x="9605886" y="3248999"/>
            <a:ext cx="720008" cy="360363"/>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accent5"/>
                </a:solidFill>
                <a:latin typeface="MeiryoKe_PGothic" pitchFamily="50" charset="-128"/>
                <a:ea typeface="MeiryoKe_PGothic" pitchFamily="50" charset="-128"/>
              </a:rPr>
              <a:t>11</a:t>
            </a:r>
            <a:endParaRPr lang="ja-JP" altLang="en-US" b="1" dirty="0">
              <a:solidFill>
                <a:schemeClr val="accent5"/>
              </a:solidFill>
              <a:latin typeface="MeiryoKe_PGothic" pitchFamily="50" charset="-128"/>
              <a:ea typeface="MeiryoKe_PGothic" pitchFamily="50" charset="-128"/>
            </a:endParaRPr>
          </a:p>
        </p:txBody>
      </p:sp>
      <p:sp>
        <p:nvSpPr>
          <p:cNvPr id="29" name="正方形/長方形 28"/>
          <p:cNvSpPr/>
          <p:nvPr/>
        </p:nvSpPr>
        <p:spPr bwMode="auto">
          <a:xfrm>
            <a:off x="9605887" y="2168986"/>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30" name="正方形/長方形 29"/>
          <p:cNvSpPr/>
          <p:nvPr/>
        </p:nvSpPr>
        <p:spPr bwMode="auto">
          <a:xfrm>
            <a:off x="9605887" y="2528990"/>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31" name="正方形/長方形 30"/>
          <p:cNvSpPr/>
          <p:nvPr/>
        </p:nvSpPr>
        <p:spPr bwMode="auto">
          <a:xfrm>
            <a:off x="9245883" y="2168986"/>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0</a:t>
            </a:r>
            <a:endParaRPr lang="ja-JP" altLang="en-US" sz="2000" dirty="0">
              <a:solidFill>
                <a:schemeClr val="tx1">
                  <a:lumMod val="75000"/>
                  <a:lumOff val="25000"/>
                </a:schemeClr>
              </a:solidFill>
              <a:latin typeface="Arial Narrow" panose="020B0606020202030204" pitchFamily="34" charset="0"/>
            </a:endParaRPr>
          </a:p>
        </p:txBody>
      </p:sp>
      <p:sp>
        <p:nvSpPr>
          <p:cNvPr id="32" name="正方形/長方形 31"/>
          <p:cNvSpPr/>
          <p:nvPr/>
        </p:nvSpPr>
        <p:spPr bwMode="auto">
          <a:xfrm>
            <a:off x="9245882" y="2528990"/>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1</a:t>
            </a:r>
            <a:endParaRPr lang="ja-JP" altLang="en-US" sz="2000" dirty="0">
              <a:solidFill>
                <a:schemeClr val="tx1">
                  <a:lumMod val="75000"/>
                  <a:lumOff val="25000"/>
                </a:schemeClr>
              </a:solidFill>
              <a:latin typeface="Arial Narrow" panose="020B0606020202030204" pitchFamily="34" charset="0"/>
            </a:endParaRPr>
          </a:p>
        </p:txBody>
      </p:sp>
      <p:sp>
        <p:nvSpPr>
          <p:cNvPr id="33" name="正方形/長方形 32"/>
          <p:cNvSpPr/>
          <p:nvPr/>
        </p:nvSpPr>
        <p:spPr bwMode="auto">
          <a:xfrm>
            <a:off x="9245882" y="2798993"/>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34" name="正方形/長方形 33"/>
          <p:cNvSpPr/>
          <p:nvPr/>
        </p:nvSpPr>
        <p:spPr bwMode="auto">
          <a:xfrm>
            <a:off x="9785888" y="3879005"/>
            <a:ext cx="3477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35" name="正方形/長方形 34"/>
          <p:cNvSpPr/>
          <p:nvPr/>
        </p:nvSpPr>
        <p:spPr bwMode="auto">
          <a:xfrm>
            <a:off x="9605887" y="4419011"/>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36" name="正方形/長方形 35"/>
          <p:cNvSpPr/>
          <p:nvPr/>
        </p:nvSpPr>
        <p:spPr bwMode="auto">
          <a:xfrm>
            <a:off x="9785888" y="2798993"/>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37" name="Freeform 10"/>
          <p:cNvSpPr>
            <a:spLocks/>
          </p:cNvSpPr>
          <p:nvPr/>
        </p:nvSpPr>
        <p:spPr bwMode="auto">
          <a:xfrm rot="16200000" flipV="1">
            <a:off x="8165870" y="5139019"/>
            <a:ext cx="810008" cy="99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none" w="lg" len="lg"/>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a:latin typeface="Arial Narrow" pitchFamily="34" charset="0"/>
              <a:cs typeface="Times New Roman" pitchFamily="18" charset="0"/>
            </a:endParaRPr>
          </a:p>
        </p:txBody>
      </p:sp>
      <p:cxnSp>
        <p:nvCxnSpPr>
          <p:cNvPr id="38" name="直線コネクタ 37"/>
          <p:cNvCxnSpPr/>
          <p:nvPr/>
        </p:nvCxnSpPr>
        <p:spPr bwMode="auto">
          <a:xfrm>
            <a:off x="7535863" y="5229020"/>
            <a:ext cx="1080012" cy="0"/>
          </a:xfrm>
          <a:prstGeom prst="line">
            <a:avLst/>
          </a:prstGeom>
          <a:ln>
            <a:headEnd type="none" w="med" len="med"/>
            <a:tailEnd type="none" w="med" len="med"/>
          </a:ln>
        </p:spPr>
        <p:style>
          <a:lnRef idx="2">
            <a:schemeClr val="accent5"/>
          </a:lnRef>
          <a:fillRef idx="0">
            <a:schemeClr val="accent5"/>
          </a:fillRef>
          <a:effectRef idx="1">
            <a:schemeClr val="accent5"/>
          </a:effectRef>
          <a:fontRef idx="minor">
            <a:schemeClr val="tx1"/>
          </a:fontRef>
        </p:style>
      </p:cxnSp>
      <p:sp>
        <p:nvSpPr>
          <p:cNvPr id="40" name="Freeform 10"/>
          <p:cNvSpPr>
            <a:spLocks/>
          </p:cNvSpPr>
          <p:nvPr/>
        </p:nvSpPr>
        <p:spPr bwMode="auto">
          <a:xfrm rot="5400000">
            <a:off x="8075869" y="4509015"/>
            <a:ext cx="2520029" cy="54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triangle" w="lg" len="lg"/>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a:latin typeface="Arial Narrow" pitchFamily="34" charset="0"/>
              <a:cs typeface="Times New Roman" pitchFamily="18" charset="0"/>
            </a:endParaRPr>
          </a:p>
        </p:txBody>
      </p:sp>
      <p:sp>
        <p:nvSpPr>
          <p:cNvPr id="41" name="Rectangle 133"/>
          <p:cNvSpPr>
            <a:spLocks noChangeArrowheads="1"/>
          </p:cNvSpPr>
          <p:nvPr/>
        </p:nvSpPr>
        <p:spPr bwMode="auto">
          <a:xfrm>
            <a:off x="9605887" y="1718982"/>
            <a:ext cx="719803"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en-US" altLang="ja-JP" dirty="0">
                <a:solidFill>
                  <a:schemeClr val="tx1">
                    <a:lumMod val="75000"/>
                    <a:lumOff val="25000"/>
                  </a:schemeClr>
                </a:solidFill>
                <a:latin typeface="MeiryoKe_PGothic" pitchFamily="50" charset="-128"/>
                <a:ea typeface="MeiryoKe_PGothic" pitchFamily="50" charset="-128"/>
              </a:rPr>
              <a:t>PHT</a:t>
            </a:r>
          </a:p>
        </p:txBody>
      </p:sp>
      <p:sp>
        <p:nvSpPr>
          <p:cNvPr id="42" name="Rectangle 133"/>
          <p:cNvSpPr>
            <a:spLocks noChangeArrowheads="1"/>
          </p:cNvSpPr>
          <p:nvPr/>
        </p:nvSpPr>
        <p:spPr bwMode="auto">
          <a:xfrm>
            <a:off x="7175860" y="5319022"/>
            <a:ext cx="719803"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ja-JP" altLang="en-US" dirty="0">
                <a:solidFill>
                  <a:schemeClr val="tx1">
                    <a:lumMod val="75000"/>
                    <a:lumOff val="25000"/>
                  </a:schemeClr>
                </a:solidFill>
                <a:latin typeface="MeiryoKe_PGothic" pitchFamily="50" charset="-128"/>
                <a:ea typeface="MeiryoKe_PGothic" pitchFamily="50" charset="-128"/>
              </a:rPr>
              <a:t>連結</a:t>
            </a:r>
            <a:endParaRPr lang="en-US" altLang="ja-JP" dirty="0">
              <a:solidFill>
                <a:schemeClr val="tx1">
                  <a:lumMod val="75000"/>
                  <a:lumOff val="25000"/>
                </a:schemeClr>
              </a:solidFill>
              <a:latin typeface="MeiryoKe_PGothic" pitchFamily="50" charset="-128"/>
              <a:ea typeface="MeiryoKe_PGothic" pitchFamily="50" charset="-128"/>
            </a:endParaRPr>
          </a:p>
        </p:txBody>
      </p:sp>
      <p:sp>
        <p:nvSpPr>
          <p:cNvPr id="39" name="正方形/長方形 38"/>
          <p:cNvSpPr/>
          <p:nvPr/>
        </p:nvSpPr>
        <p:spPr bwMode="auto">
          <a:xfrm>
            <a:off x="8885878" y="3158997"/>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b="1" dirty="0">
                <a:solidFill>
                  <a:schemeClr val="accent5"/>
                </a:solidFill>
                <a:latin typeface="Arial Narrow" panose="020B0606020202030204" pitchFamily="34" charset="0"/>
              </a:rPr>
              <a:t>0x4000D</a:t>
            </a:r>
            <a:endParaRPr lang="ja-JP" altLang="en-US" b="1" dirty="0">
              <a:solidFill>
                <a:schemeClr val="accent5"/>
              </a:solidFill>
              <a:latin typeface="Arial Narrow" panose="020B0606020202030204" pitchFamily="34" charset="0"/>
            </a:endParaRPr>
          </a:p>
        </p:txBody>
      </p:sp>
    </p:spTree>
    <p:extLst>
      <p:ext uri="{BB962C8B-B14F-4D97-AF65-F5344CB8AC3E}">
        <p14:creationId xmlns:p14="http://schemas.microsoft.com/office/powerpoint/2010/main" val="35383648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ローカル履歴予測器の動作例（３）</a:t>
            </a:r>
          </a:p>
        </p:txBody>
      </p:sp>
      <p:sp>
        <p:nvSpPr>
          <p:cNvPr id="3" name="テキスト プレースホルダー 2"/>
          <p:cNvSpPr>
            <a:spLocks noGrp="1"/>
          </p:cNvSpPr>
          <p:nvPr>
            <p:ph type="body" sz="quarter" idx="10"/>
          </p:nvPr>
        </p:nvSpPr>
        <p:spPr>
          <a:xfrm>
            <a:off x="1554675" y="5139019"/>
            <a:ext cx="8280092" cy="989704"/>
          </a:xfrm>
        </p:spPr>
        <p:txBody>
          <a:bodyPr/>
          <a:lstStyle/>
          <a:p>
            <a:r>
              <a:rPr lang="ja-JP" altLang="en-US" dirty="0"/>
              <a:t>動作：（前ページの</a:t>
            </a:r>
            <a:r>
              <a:rPr lang="en-US" altLang="ja-JP" dirty="0"/>
              <a:t>2</a:t>
            </a:r>
            <a:r>
              <a:rPr lang="ja-JP" altLang="en-US" dirty="0"/>
              <a:t>周後）</a:t>
            </a:r>
            <a:endParaRPr lang="en-US" altLang="ja-JP" dirty="0"/>
          </a:p>
          <a:p>
            <a:pPr marL="817200" lvl="1" indent="-457200">
              <a:buFont typeface="+mj-lt"/>
              <a:buAutoNum type="arabicPeriod"/>
            </a:pPr>
            <a:r>
              <a:rPr lang="en-US" altLang="ja-JP" dirty="0"/>
              <a:t>0x4000 </a:t>
            </a:r>
            <a:r>
              <a:rPr lang="ja-JP" altLang="en-US" dirty="0"/>
              <a:t>でローカル履歴表をアクセス</a:t>
            </a:r>
            <a:endParaRPr lang="en-US" altLang="ja-JP" dirty="0"/>
          </a:p>
          <a:p>
            <a:pPr marL="817200" lvl="1" indent="-457200">
              <a:buFont typeface="+mj-lt"/>
              <a:buAutoNum type="arabicPeriod"/>
            </a:pPr>
            <a:r>
              <a:rPr lang="ja-JP" altLang="en-US" dirty="0"/>
              <a:t>得られた </a:t>
            </a:r>
            <a:r>
              <a:rPr lang="en-US" altLang="ja-JP" dirty="0">
                <a:solidFill>
                  <a:schemeClr val="accent5"/>
                </a:solidFill>
              </a:rPr>
              <a:t>0111=0x7</a:t>
            </a:r>
            <a:r>
              <a:rPr lang="en-US" altLang="ja-JP" dirty="0"/>
              <a:t> </a:t>
            </a:r>
            <a:r>
              <a:rPr lang="ja-JP" altLang="en-US" dirty="0"/>
              <a:t>と </a:t>
            </a:r>
            <a:r>
              <a:rPr lang="en-US" altLang="ja-JP" dirty="0"/>
              <a:t>0x4000 </a:t>
            </a:r>
            <a:r>
              <a:rPr lang="ja-JP" altLang="en-US" dirty="0"/>
              <a:t>を</a:t>
            </a:r>
            <a:br>
              <a:rPr lang="en-US" altLang="ja-JP" dirty="0"/>
            </a:br>
            <a:r>
              <a:rPr lang="ja-JP" altLang="en-US" dirty="0"/>
              <a:t>結合し，</a:t>
            </a:r>
            <a:r>
              <a:rPr lang="en-US" altLang="ja-JP" dirty="0"/>
              <a:t>PHT </a:t>
            </a:r>
            <a:r>
              <a:rPr lang="ja-JP" altLang="en-US" dirty="0"/>
              <a:t>の </a:t>
            </a:r>
            <a:r>
              <a:rPr lang="en-US" altLang="ja-JP" dirty="0"/>
              <a:t>0x40007 </a:t>
            </a:r>
            <a:r>
              <a:rPr lang="ja-JP" altLang="en-US" dirty="0"/>
              <a:t>をアクセス</a:t>
            </a:r>
            <a:endParaRPr lang="en-US" altLang="ja-JP" dirty="0"/>
          </a:p>
          <a:p>
            <a:pPr marL="817200" lvl="1" indent="-457200">
              <a:buFont typeface="+mj-lt"/>
              <a:buAutoNum type="arabicPeriod"/>
            </a:pPr>
            <a:r>
              <a:rPr lang="ja-JP" altLang="en-US" dirty="0"/>
              <a:t>カウンタの中身が </a:t>
            </a:r>
            <a:r>
              <a:rPr lang="en-US" altLang="ja-JP" dirty="0"/>
              <a:t>00 </a:t>
            </a:r>
            <a:r>
              <a:rPr lang="ja-JP" altLang="en-US" dirty="0" err="1"/>
              <a:t>なので</a:t>
            </a:r>
            <a:r>
              <a:rPr lang="ja-JP" altLang="en-US" dirty="0"/>
              <a:t>不成立と予測</a:t>
            </a:r>
            <a:endParaRPr lang="en-US" altLang="ja-JP" dirty="0"/>
          </a:p>
        </p:txBody>
      </p:sp>
      <p:sp>
        <p:nvSpPr>
          <p:cNvPr id="4" name="Rectangle 89"/>
          <p:cNvSpPr>
            <a:spLocks noChangeArrowheads="1"/>
          </p:cNvSpPr>
          <p:nvPr/>
        </p:nvSpPr>
        <p:spPr bwMode="auto">
          <a:xfrm>
            <a:off x="4385982" y="1088974"/>
            <a:ext cx="1439863" cy="360362"/>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tx1">
                    <a:lumMod val="75000"/>
                    <a:lumOff val="25000"/>
                  </a:schemeClr>
                </a:solidFill>
                <a:latin typeface="MeiryoKe_PGothic" pitchFamily="50" charset="-128"/>
                <a:ea typeface="MeiryoKe_PGothic" pitchFamily="50" charset="-128"/>
              </a:rPr>
              <a:t>0x80</a:t>
            </a:r>
            <a:endParaRPr lang="ja-JP" altLang="en-US" b="1" dirty="0">
              <a:solidFill>
                <a:schemeClr val="tx1">
                  <a:lumMod val="75000"/>
                  <a:lumOff val="25000"/>
                </a:schemeClr>
              </a:solidFill>
              <a:latin typeface="MeiryoKe_PGothic" pitchFamily="50" charset="-128"/>
              <a:ea typeface="MeiryoKe_PGothic" pitchFamily="50" charset="-128"/>
            </a:endParaRPr>
          </a:p>
        </p:txBody>
      </p:sp>
      <p:sp>
        <p:nvSpPr>
          <p:cNvPr id="5" name="Rectangle 128"/>
          <p:cNvSpPr>
            <a:spLocks noChangeArrowheads="1"/>
          </p:cNvSpPr>
          <p:nvPr/>
        </p:nvSpPr>
        <p:spPr bwMode="auto">
          <a:xfrm>
            <a:off x="3845975" y="1088975"/>
            <a:ext cx="540006" cy="314325"/>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eaLnBrk="0" hangingPunct="0"/>
            <a:r>
              <a:rPr lang="en-US" altLang="ja-JP" dirty="0">
                <a:solidFill>
                  <a:schemeClr val="tx1">
                    <a:lumMod val="75000"/>
                    <a:lumOff val="25000"/>
                  </a:schemeClr>
                </a:solidFill>
                <a:latin typeface="MeiryoKe_PGothic" pitchFamily="50" charset="-128"/>
                <a:ea typeface="MeiryoKe_PGothic" pitchFamily="50" charset="-128"/>
              </a:rPr>
              <a:t>PC</a:t>
            </a:r>
          </a:p>
        </p:txBody>
      </p:sp>
      <p:sp>
        <p:nvSpPr>
          <p:cNvPr id="6" name="Rectangle 13"/>
          <p:cNvSpPr>
            <a:spLocks noChangeArrowheads="1"/>
          </p:cNvSpPr>
          <p:nvPr/>
        </p:nvSpPr>
        <p:spPr bwMode="auto">
          <a:xfrm>
            <a:off x="5825845" y="1088974"/>
            <a:ext cx="720725" cy="360362"/>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tx1">
                    <a:lumMod val="75000"/>
                    <a:lumOff val="25000"/>
                  </a:schemeClr>
                </a:solidFill>
                <a:latin typeface="MeiryoKe_PGothic" pitchFamily="50" charset="-128"/>
                <a:ea typeface="MeiryoKe_PGothic" pitchFamily="50" charset="-128"/>
              </a:rPr>
              <a:t>4000</a:t>
            </a:r>
            <a:endParaRPr lang="ja-JP" altLang="en-US" b="1" dirty="0">
              <a:solidFill>
                <a:schemeClr val="tx1">
                  <a:lumMod val="75000"/>
                  <a:lumOff val="25000"/>
                </a:schemeClr>
              </a:solidFill>
              <a:latin typeface="MeiryoKe_PGothic" pitchFamily="50" charset="-128"/>
              <a:ea typeface="MeiryoKe_PGothic" pitchFamily="50" charset="-128"/>
            </a:endParaRPr>
          </a:p>
        </p:txBody>
      </p:sp>
      <p:sp>
        <p:nvSpPr>
          <p:cNvPr id="7" name="Freeform 10"/>
          <p:cNvSpPr>
            <a:spLocks/>
          </p:cNvSpPr>
          <p:nvPr/>
        </p:nvSpPr>
        <p:spPr bwMode="auto">
          <a:xfrm rot="16200000" flipV="1">
            <a:off x="5555840" y="2168986"/>
            <a:ext cx="2340026"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triangle" w="lg" len="lg"/>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a:latin typeface="Arial Narrow" pitchFamily="34" charset="0"/>
              <a:cs typeface="Times New Roman" pitchFamily="18" charset="0"/>
            </a:endParaRPr>
          </a:p>
        </p:txBody>
      </p:sp>
      <p:sp>
        <p:nvSpPr>
          <p:cNvPr id="8" name="Rectangle 154"/>
          <p:cNvSpPr>
            <a:spLocks noChangeArrowheads="1"/>
          </p:cNvSpPr>
          <p:nvPr/>
        </p:nvSpPr>
        <p:spPr bwMode="auto">
          <a:xfrm>
            <a:off x="7355862" y="2168986"/>
            <a:ext cx="718369" cy="2608442"/>
          </a:xfrm>
          <a:prstGeom prst="rect">
            <a:avLst/>
          </a:prstGeom>
          <a:ln>
            <a:solidFill>
              <a:schemeClr val="tx1">
                <a:lumMod val="75000"/>
                <a:lumOff val="25000"/>
              </a:schemeClr>
            </a:solidFill>
            <a:headEnd/>
            <a:tailEnd/>
          </a:ln>
        </p:spPr>
        <p:style>
          <a:lnRef idx="2">
            <a:schemeClr val="dk1"/>
          </a:lnRef>
          <a:fillRef idx="1">
            <a:schemeClr val="lt1"/>
          </a:fillRef>
          <a:effectRef idx="0">
            <a:schemeClr val="dk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MeiryoKe_PGothic" pitchFamily="50" charset="-128"/>
              <a:ea typeface="MeiryoKe_PGothic" pitchFamily="50" charset="-128"/>
            </a:endParaRPr>
          </a:p>
        </p:txBody>
      </p:sp>
      <p:sp>
        <p:nvSpPr>
          <p:cNvPr id="9" name="Rectangle 195"/>
          <p:cNvSpPr>
            <a:spLocks noChangeArrowheads="1"/>
          </p:cNvSpPr>
          <p:nvPr/>
        </p:nvSpPr>
        <p:spPr bwMode="auto">
          <a:xfrm>
            <a:off x="7355861" y="3699004"/>
            <a:ext cx="720008" cy="360363"/>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accent5"/>
                </a:solidFill>
                <a:latin typeface="MeiryoKe_PGothic" pitchFamily="50" charset="-128"/>
                <a:ea typeface="MeiryoKe_PGothic" pitchFamily="50" charset="-128"/>
              </a:rPr>
              <a:t>0111</a:t>
            </a:r>
            <a:endParaRPr lang="ja-JP" altLang="en-US" b="1" dirty="0">
              <a:solidFill>
                <a:schemeClr val="accent5"/>
              </a:solidFill>
              <a:latin typeface="MeiryoKe_PGothic" pitchFamily="50" charset="-128"/>
              <a:ea typeface="MeiryoKe_PGothic" pitchFamily="50" charset="-128"/>
            </a:endParaRPr>
          </a:p>
        </p:txBody>
      </p:sp>
      <p:sp>
        <p:nvSpPr>
          <p:cNvPr id="10" name="正方形/長方形 9"/>
          <p:cNvSpPr/>
          <p:nvPr/>
        </p:nvSpPr>
        <p:spPr bwMode="auto">
          <a:xfrm>
            <a:off x="7354223" y="2167399"/>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11" name="正方形/長方形 10"/>
          <p:cNvSpPr/>
          <p:nvPr/>
        </p:nvSpPr>
        <p:spPr bwMode="auto">
          <a:xfrm>
            <a:off x="7354223" y="2527403"/>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12" name="正方形/長方形 11"/>
          <p:cNvSpPr/>
          <p:nvPr/>
        </p:nvSpPr>
        <p:spPr bwMode="auto">
          <a:xfrm>
            <a:off x="6994219" y="2167399"/>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0</a:t>
            </a:r>
            <a:endParaRPr lang="ja-JP" altLang="en-US" sz="2000" dirty="0">
              <a:solidFill>
                <a:schemeClr val="tx1">
                  <a:lumMod val="75000"/>
                  <a:lumOff val="25000"/>
                </a:schemeClr>
              </a:solidFill>
              <a:latin typeface="Arial Narrow" panose="020B0606020202030204" pitchFamily="34" charset="0"/>
            </a:endParaRPr>
          </a:p>
        </p:txBody>
      </p:sp>
      <p:sp>
        <p:nvSpPr>
          <p:cNvPr id="13" name="正方形/長方形 12"/>
          <p:cNvSpPr/>
          <p:nvPr/>
        </p:nvSpPr>
        <p:spPr bwMode="auto">
          <a:xfrm>
            <a:off x="6994218" y="2527403"/>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1</a:t>
            </a:r>
            <a:endParaRPr lang="ja-JP" altLang="en-US" sz="2000" dirty="0">
              <a:solidFill>
                <a:schemeClr val="tx1">
                  <a:lumMod val="75000"/>
                  <a:lumOff val="25000"/>
                </a:schemeClr>
              </a:solidFill>
              <a:latin typeface="Arial Narrow" panose="020B0606020202030204" pitchFamily="34" charset="0"/>
            </a:endParaRPr>
          </a:p>
        </p:txBody>
      </p:sp>
      <p:sp>
        <p:nvSpPr>
          <p:cNvPr id="14" name="正方形/長方形 13"/>
          <p:cNvSpPr/>
          <p:nvPr/>
        </p:nvSpPr>
        <p:spPr bwMode="auto">
          <a:xfrm>
            <a:off x="6994218" y="2887407"/>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15" name="正方形/長方形 14"/>
          <p:cNvSpPr/>
          <p:nvPr/>
        </p:nvSpPr>
        <p:spPr bwMode="auto">
          <a:xfrm>
            <a:off x="7534224" y="3877418"/>
            <a:ext cx="3477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17" name="Rectangle 133"/>
          <p:cNvSpPr>
            <a:spLocks noChangeArrowheads="1"/>
          </p:cNvSpPr>
          <p:nvPr/>
        </p:nvSpPr>
        <p:spPr bwMode="auto">
          <a:xfrm>
            <a:off x="6275850" y="4329011"/>
            <a:ext cx="719803"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ja-JP" altLang="en-US" dirty="0">
                <a:solidFill>
                  <a:schemeClr val="tx1">
                    <a:lumMod val="75000"/>
                    <a:lumOff val="25000"/>
                  </a:schemeClr>
                </a:solidFill>
                <a:latin typeface="MeiryoKe_PGothic" pitchFamily="50" charset="-128"/>
                <a:ea typeface="MeiryoKe_PGothic" pitchFamily="50" charset="-128"/>
              </a:rPr>
              <a:t>ローカル</a:t>
            </a:r>
            <a:endParaRPr lang="en-US" altLang="ja-JP" dirty="0">
              <a:solidFill>
                <a:schemeClr val="tx1">
                  <a:lumMod val="75000"/>
                  <a:lumOff val="25000"/>
                </a:schemeClr>
              </a:solidFill>
              <a:latin typeface="MeiryoKe_PGothic" pitchFamily="50" charset="-128"/>
              <a:ea typeface="MeiryoKe_PGothic" pitchFamily="50" charset="-128"/>
            </a:endParaRPr>
          </a:p>
          <a:p>
            <a:pPr eaLnBrk="0" hangingPunct="0"/>
            <a:r>
              <a:rPr lang="ja-JP" altLang="en-US" dirty="0">
                <a:solidFill>
                  <a:schemeClr val="tx1">
                    <a:lumMod val="75000"/>
                    <a:lumOff val="25000"/>
                  </a:schemeClr>
                </a:solidFill>
                <a:latin typeface="MeiryoKe_PGothic" pitchFamily="50" charset="-128"/>
                <a:ea typeface="MeiryoKe_PGothic" pitchFamily="50" charset="-128"/>
              </a:rPr>
              <a:t>履歴表</a:t>
            </a:r>
            <a:endParaRPr lang="en-US" altLang="ja-JP" dirty="0">
              <a:solidFill>
                <a:schemeClr val="tx1">
                  <a:lumMod val="75000"/>
                  <a:lumOff val="25000"/>
                </a:schemeClr>
              </a:solidFill>
              <a:latin typeface="MeiryoKe_PGothic" pitchFamily="50" charset="-128"/>
              <a:ea typeface="MeiryoKe_PGothic" pitchFamily="50" charset="-128"/>
            </a:endParaRPr>
          </a:p>
        </p:txBody>
      </p:sp>
      <p:cxnSp>
        <p:nvCxnSpPr>
          <p:cNvPr id="18" name="直線コネクタ 17"/>
          <p:cNvCxnSpPr/>
          <p:nvPr/>
        </p:nvCxnSpPr>
        <p:spPr bwMode="auto">
          <a:xfrm>
            <a:off x="5825997" y="1538979"/>
            <a:ext cx="720008" cy="0"/>
          </a:xfrm>
          <a:prstGeom prst="line">
            <a:avLst/>
          </a:prstGeom>
          <a:ln>
            <a:headEnd type="none" w="med" len="med"/>
            <a:tailEnd type="none" w="med" len="med"/>
          </a:ln>
        </p:spPr>
        <p:style>
          <a:lnRef idx="2">
            <a:schemeClr val="accent5"/>
          </a:lnRef>
          <a:fillRef idx="0">
            <a:schemeClr val="accent5"/>
          </a:fillRef>
          <a:effectRef idx="1">
            <a:schemeClr val="accent5"/>
          </a:effectRef>
          <a:fontRef idx="minor">
            <a:schemeClr val="tx1"/>
          </a:fontRef>
        </p:style>
      </p:cxnSp>
      <p:sp>
        <p:nvSpPr>
          <p:cNvPr id="19" name="正方形/長方形 18"/>
          <p:cNvSpPr/>
          <p:nvPr/>
        </p:nvSpPr>
        <p:spPr bwMode="auto">
          <a:xfrm>
            <a:off x="4835833" y="2258987"/>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PC </a:t>
            </a:r>
            <a:r>
              <a:rPr lang="ja-JP" altLang="en-US" sz="2000" dirty="0">
                <a:solidFill>
                  <a:schemeClr val="tx1">
                    <a:lumMod val="75000"/>
                    <a:lumOff val="25000"/>
                  </a:schemeClr>
                </a:solidFill>
                <a:latin typeface="Arial Narrow" panose="020B0606020202030204" pitchFamily="34" charset="0"/>
              </a:rPr>
              <a:t>の下位 </a:t>
            </a:r>
            <a:r>
              <a:rPr lang="en-US" altLang="ja-JP" sz="2000" dirty="0">
                <a:solidFill>
                  <a:schemeClr val="tx1">
                    <a:lumMod val="75000"/>
                    <a:lumOff val="25000"/>
                  </a:schemeClr>
                </a:solidFill>
                <a:latin typeface="Arial Narrow" panose="020B0606020202030204" pitchFamily="34" charset="0"/>
              </a:rPr>
              <a:t>16</a:t>
            </a:r>
            <a:r>
              <a:rPr lang="ja-JP" altLang="en-US" sz="2000" dirty="0">
                <a:solidFill>
                  <a:schemeClr val="tx1">
                    <a:lumMod val="75000"/>
                    <a:lumOff val="25000"/>
                  </a:schemeClr>
                </a:solidFill>
                <a:latin typeface="Arial Narrow" panose="020B0606020202030204" pitchFamily="34" charset="0"/>
              </a:rPr>
              <a:t>ビット</a:t>
            </a:r>
          </a:p>
        </p:txBody>
      </p:sp>
      <p:sp>
        <p:nvSpPr>
          <p:cNvPr id="20" name="正方形/長方形 19"/>
          <p:cNvSpPr/>
          <p:nvPr/>
        </p:nvSpPr>
        <p:spPr bwMode="auto">
          <a:xfrm>
            <a:off x="7354223" y="4417424"/>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21" name="正方形/長方形 20"/>
          <p:cNvSpPr/>
          <p:nvPr/>
        </p:nvSpPr>
        <p:spPr bwMode="auto">
          <a:xfrm>
            <a:off x="7534224" y="2887407"/>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cxnSp>
        <p:nvCxnSpPr>
          <p:cNvPr id="22" name="直線矢印コネクタ 21"/>
          <p:cNvCxnSpPr/>
          <p:nvPr/>
        </p:nvCxnSpPr>
        <p:spPr bwMode="auto">
          <a:xfrm>
            <a:off x="7714226" y="4777429"/>
            <a:ext cx="0" cy="450005"/>
          </a:xfrm>
          <a:prstGeom prst="straightConnector1">
            <a:avLst/>
          </a:prstGeom>
          <a:ln>
            <a:headEnd type="none" w="sm" len="sm"/>
            <a:tailEnd type="triangle" w="lg" len="lg"/>
          </a:ln>
        </p:spPr>
        <p:style>
          <a:lnRef idx="2">
            <a:schemeClr val="accent5"/>
          </a:lnRef>
          <a:fillRef idx="0">
            <a:schemeClr val="accent5"/>
          </a:fillRef>
          <a:effectRef idx="1">
            <a:schemeClr val="accent5"/>
          </a:effectRef>
          <a:fontRef idx="minor">
            <a:schemeClr val="tx1"/>
          </a:fontRef>
        </p:style>
      </p:cxnSp>
      <p:sp>
        <p:nvSpPr>
          <p:cNvPr id="26" name="Freeform 10"/>
          <p:cNvSpPr>
            <a:spLocks/>
          </p:cNvSpPr>
          <p:nvPr/>
        </p:nvSpPr>
        <p:spPr bwMode="auto">
          <a:xfrm rot="10800000">
            <a:off x="6185848" y="1808981"/>
            <a:ext cx="2250025" cy="342003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triangle" w="lg" len="lg"/>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a:latin typeface="Arial Narrow" pitchFamily="34" charset="0"/>
              <a:cs typeface="Times New Roman" pitchFamily="18" charset="0"/>
            </a:endParaRPr>
          </a:p>
        </p:txBody>
      </p:sp>
      <p:sp>
        <p:nvSpPr>
          <p:cNvPr id="27" name="Rectangle 154"/>
          <p:cNvSpPr>
            <a:spLocks noChangeArrowheads="1"/>
          </p:cNvSpPr>
          <p:nvPr/>
        </p:nvSpPr>
        <p:spPr bwMode="auto">
          <a:xfrm>
            <a:off x="9607526" y="2170573"/>
            <a:ext cx="718369" cy="2608442"/>
          </a:xfrm>
          <a:prstGeom prst="rect">
            <a:avLst/>
          </a:prstGeom>
          <a:ln>
            <a:solidFill>
              <a:schemeClr val="tx1">
                <a:lumMod val="75000"/>
                <a:lumOff val="25000"/>
              </a:schemeClr>
            </a:solidFill>
            <a:headEnd/>
            <a:tailEnd/>
          </a:ln>
        </p:spPr>
        <p:style>
          <a:lnRef idx="2">
            <a:schemeClr val="dk1"/>
          </a:lnRef>
          <a:fillRef idx="1">
            <a:schemeClr val="lt1"/>
          </a:fillRef>
          <a:effectRef idx="0">
            <a:schemeClr val="dk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MeiryoKe_PGothic" pitchFamily="50" charset="-128"/>
              <a:ea typeface="MeiryoKe_PGothic" pitchFamily="50" charset="-128"/>
            </a:endParaRPr>
          </a:p>
        </p:txBody>
      </p:sp>
      <p:sp>
        <p:nvSpPr>
          <p:cNvPr id="28" name="Rectangle 195"/>
          <p:cNvSpPr>
            <a:spLocks noChangeArrowheads="1"/>
          </p:cNvSpPr>
          <p:nvPr/>
        </p:nvSpPr>
        <p:spPr bwMode="auto">
          <a:xfrm>
            <a:off x="9605886" y="3248999"/>
            <a:ext cx="720008" cy="360363"/>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accent6"/>
                </a:solidFill>
                <a:latin typeface="MeiryoKe_PGothic" pitchFamily="50" charset="-128"/>
                <a:ea typeface="MeiryoKe_PGothic" pitchFamily="50" charset="-128"/>
              </a:rPr>
              <a:t>00</a:t>
            </a:r>
            <a:endParaRPr lang="ja-JP" altLang="en-US" b="1" dirty="0">
              <a:solidFill>
                <a:schemeClr val="accent6"/>
              </a:solidFill>
              <a:latin typeface="MeiryoKe_PGothic" pitchFamily="50" charset="-128"/>
              <a:ea typeface="MeiryoKe_PGothic" pitchFamily="50" charset="-128"/>
            </a:endParaRPr>
          </a:p>
        </p:txBody>
      </p:sp>
      <p:sp>
        <p:nvSpPr>
          <p:cNvPr id="29" name="正方形/長方形 28"/>
          <p:cNvSpPr/>
          <p:nvPr/>
        </p:nvSpPr>
        <p:spPr bwMode="auto">
          <a:xfrm>
            <a:off x="9605887" y="2168986"/>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30" name="正方形/長方形 29"/>
          <p:cNvSpPr/>
          <p:nvPr/>
        </p:nvSpPr>
        <p:spPr bwMode="auto">
          <a:xfrm>
            <a:off x="9605887" y="2528990"/>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31" name="正方形/長方形 30"/>
          <p:cNvSpPr/>
          <p:nvPr/>
        </p:nvSpPr>
        <p:spPr bwMode="auto">
          <a:xfrm>
            <a:off x="9245883" y="2168986"/>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0</a:t>
            </a:r>
            <a:endParaRPr lang="ja-JP" altLang="en-US" sz="2000" dirty="0">
              <a:solidFill>
                <a:schemeClr val="tx1">
                  <a:lumMod val="75000"/>
                  <a:lumOff val="25000"/>
                </a:schemeClr>
              </a:solidFill>
              <a:latin typeface="Arial Narrow" panose="020B0606020202030204" pitchFamily="34" charset="0"/>
            </a:endParaRPr>
          </a:p>
        </p:txBody>
      </p:sp>
      <p:sp>
        <p:nvSpPr>
          <p:cNvPr id="32" name="正方形/長方形 31"/>
          <p:cNvSpPr/>
          <p:nvPr/>
        </p:nvSpPr>
        <p:spPr bwMode="auto">
          <a:xfrm>
            <a:off x="9245882" y="2528990"/>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1</a:t>
            </a:r>
            <a:endParaRPr lang="ja-JP" altLang="en-US" sz="2000" dirty="0">
              <a:solidFill>
                <a:schemeClr val="tx1">
                  <a:lumMod val="75000"/>
                  <a:lumOff val="25000"/>
                </a:schemeClr>
              </a:solidFill>
              <a:latin typeface="Arial Narrow" panose="020B0606020202030204" pitchFamily="34" charset="0"/>
            </a:endParaRPr>
          </a:p>
        </p:txBody>
      </p:sp>
      <p:sp>
        <p:nvSpPr>
          <p:cNvPr id="33" name="正方形/長方形 32"/>
          <p:cNvSpPr/>
          <p:nvPr/>
        </p:nvSpPr>
        <p:spPr bwMode="auto">
          <a:xfrm>
            <a:off x="9245882" y="2798993"/>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34" name="正方形/長方形 33"/>
          <p:cNvSpPr/>
          <p:nvPr/>
        </p:nvSpPr>
        <p:spPr bwMode="auto">
          <a:xfrm>
            <a:off x="9785888" y="3879005"/>
            <a:ext cx="3477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35" name="正方形/長方形 34"/>
          <p:cNvSpPr/>
          <p:nvPr/>
        </p:nvSpPr>
        <p:spPr bwMode="auto">
          <a:xfrm>
            <a:off x="9605887" y="4419011"/>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36" name="正方形/長方形 35"/>
          <p:cNvSpPr/>
          <p:nvPr/>
        </p:nvSpPr>
        <p:spPr bwMode="auto">
          <a:xfrm>
            <a:off x="9785888" y="2798993"/>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37" name="Freeform 10"/>
          <p:cNvSpPr>
            <a:spLocks/>
          </p:cNvSpPr>
          <p:nvPr/>
        </p:nvSpPr>
        <p:spPr bwMode="auto">
          <a:xfrm rot="16200000" flipV="1">
            <a:off x="8165870" y="5139019"/>
            <a:ext cx="810008" cy="99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none" w="lg" len="lg"/>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a:latin typeface="Arial Narrow" pitchFamily="34" charset="0"/>
              <a:cs typeface="Times New Roman" pitchFamily="18" charset="0"/>
            </a:endParaRPr>
          </a:p>
        </p:txBody>
      </p:sp>
      <p:cxnSp>
        <p:nvCxnSpPr>
          <p:cNvPr id="38" name="直線コネクタ 37"/>
          <p:cNvCxnSpPr/>
          <p:nvPr/>
        </p:nvCxnSpPr>
        <p:spPr bwMode="auto">
          <a:xfrm>
            <a:off x="7535863" y="5229020"/>
            <a:ext cx="1080012" cy="0"/>
          </a:xfrm>
          <a:prstGeom prst="line">
            <a:avLst/>
          </a:prstGeom>
          <a:ln>
            <a:headEnd type="none" w="med" len="med"/>
            <a:tailEnd type="none" w="med" len="med"/>
          </a:ln>
        </p:spPr>
        <p:style>
          <a:lnRef idx="2">
            <a:schemeClr val="accent5"/>
          </a:lnRef>
          <a:fillRef idx="0">
            <a:schemeClr val="accent5"/>
          </a:fillRef>
          <a:effectRef idx="1">
            <a:schemeClr val="accent5"/>
          </a:effectRef>
          <a:fontRef idx="minor">
            <a:schemeClr val="tx1"/>
          </a:fontRef>
        </p:style>
      </p:cxnSp>
      <p:sp>
        <p:nvSpPr>
          <p:cNvPr id="40" name="Freeform 10"/>
          <p:cNvSpPr>
            <a:spLocks/>
          </p:cNvSpPr>
          <p:nvPr/>
        </p:nvSpPr>
        <p:spPr bwMode="auto">
          <a:xfrm rot="5400000">
            <a:off x="8075869" y="4509015"/>
            <a:ext cx="2520029" cy="54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triangle" w="lg" len="lg"/>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a:latin typeface="Arial Narrow" pitchFamily="34" charset="0"/>
              <a:cs typeface="Times New Roman" pitchFamily="18" charset="0"/>
            </a:endParaRPr>
          </a:p>
        </p:txBody>
      </p:sp>
      <p:sp>
        <p:nvSpPr>
          <p:cNvPr id="41" name="Rectangle 133"/>
          <p:cNvSpPr>
            <a:spLocks noChangeArrowheads="1"/>
          </p:cNvSpPr>
          <p:nvPr/>
        </p:nvSpPr>
        <p:spPr bwMode="auto">
          <a:xfrm>
            <a:off x="9605887" y="1718982"/>
            <a:ext cx="719803"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en-US" altLang="ja-JP" dirty="0">
                <a:solidFill>
                  <a:schemeClr val="tx1">
                    <a:lumMod val="75000"/>
                    <a:lumOff val="25000"/>
                  </a:schemeClr>
                </a:solidFill>
                <a:latin typeface="MeiryoKe_PGothic" pitchFamily="50" charset="-128"/>
                <a:ea typeface="MeiryoKe_PGothic" pitchFamily="50" charset="-128"/>
              </a:rPr>
              <a:t>PHT</a:t>
            </a:r>
          </a:p>
        </p:txBody>
      </p:sp>
      <p:sp>
        <p:nvSpPr>
          <p:cNvPr id="42" name="Rectangle 133"/>
          <p:cNvSpPr>
            <a:spLocks noChangeArrowheads="1"/>
          </p:cNvSpPr>
          <p:nvPr/>
        </p:nvSpPr>
        <p:spPr bwMode="auto">
          <a:xfrm>
            <a:off x="7175860" y="5319022"/>
            <a:ext cx="719803"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ja-JP" altLang="en-US" dirty="0">
                <a:solidFill>
                  <a:schemeClr val="tx1">
                    <a:lumMod val="75000"/>
                    <a:lumOff val="25000"/>
                  </a:schemeClr>
                </a:solidFill>
                <a:latin typeface="MeiryoKe_PGothic" pitchFamily="50" charset="-128"/>
                <a:ea typeface="MeiryoKe_PGothic" pitchFamily="50" charset="-128"/>
              </a:rPr>
              <a:t>連結</a:t>
            </a:r>
            <a:endParaRPr lang="en-US" altLang="ja-JP" dirty="0">
              <a:solidFill>
                <a:schemeClr val="tx1">
                  <a:lumMod val="75000"/>
                  <a:lumOff val="25000"/>
                </a:schemeClr>
              </a:solidFill>
              <a:latin typeface="MeiryoKe_PGothic" pitchFamily="50" charset="-128"/>
              <a:ea typeface="MeiryoKe_PGothic" pitchFamily="50" charset="-128"/>
            </a:endParaRPr>
          </a:p>
        </p:txBody>
      </p:sp>
      <p:sp>
        <p:nvSpPr>
          <p:cNvPr id="39" name="正方形/長方形 38"/>
          <p:cNvSpPr/>
          <p:nvPr/>
        </p:nvSpPr>
        <p:spPr bwMode="auto">
          <a:xfrm>
            <a:off x="8885878" y="3158997"/>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b="1" dirty="0">
                <a:solidFill>
                  <a:schemeClr val="accent5"/>
                </a:solidFill>
                <a:latin typeface="Arial Narrow" panose="020B0606020202030204" pitchFamily="34" charset="0"/>
              </a:rPr>
              <a:t>0x40007</a:t>
            </a:r>
            <a:endParaRPr lang="ja-JP" altLang="en-US" b="1" dirty="0">
              <a:solidFill>
                <a:schemeClr val="accent5"/>
              </a:solidFill>
              <a:latin typeface="Arial Narrow" panose="020B0606020202030204" pitchFamily="34" charset="0"/>
            </a:endParaRPr>
          </a:p>
        </p:txBody>
      </p:sp>
    </p:spTree>
    <p:extLst>
      <p:ext uri="{BB962C8B-B14F-4D97-AF65-F5344CB8AC3E}">
        <p14:creationId xmlns:p14="http://schemas.microsoft.com/office/powerpoint/2010/main" val="9404299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ローカル履歴予測器のメリット</a:t>
            </a:r>
          </a:p>
        </p:txBody>
      </p:sp>
      <p:sp>
        <p:nvSpPr>
          <p:cNvPr id="3" name="テキスト プレースホルダー 2"/>
          <p:cNvSpPr>
            <a:spLocks noGrp="1"/>
          </p:cNvSpPr>
          <p:nvPr>
            <p:ph type="body" sz="quarter" idx="10"/>
          </p:nvPr>
        </p:nvSpPr>
        <p:spPr/>
        <p:txBody>
          <a:bodyPr/>
          <a:lstStyle/>
          <a:p>
            <a:r>
              <a:rPr kumimoji="1" lang="ja-JP" altLang="en-US" dirty="0"/>
              <a:t>特定の </a:t>
            </a:r>
            <a:r>
              <a:rPr kumimoji="1" lang="en-US" altLang="ja-JP" dirty="0"/>
              <a:t>PC </a:t>
            </a:r>
            <a:r>
              <a:rPr kumimoji="1" lang="ja-JP" altLang="en-US" dirty="0"/>
              <a:t>の分岐方向にパターンがある場合，有効に働く</a:t>
            </a:r>
            <a:endParaRPr kumimoji="1" lang="en-US" altLang="ja-JP" dirty="0"/>
          </a:p>
          <a:p>
            <a:r>
              <a:rPr kumimoji="1" lang="ja-JP" altLang="en-US" dirty="0"/>
              <a:t>たとえば，</a:t>
            </a:r>
            <a:endParaRPr kumimoji="1" lang="en-US" altLang="ja-JP" dirty="0"/>
          </a:p>
          <a:p>
            <a:pPr lvl="1"/>
            <a:r>
              <a:rPr kumimoji="1" lang="ja-JP" altLang="en-US" dirty="0"/>
              <a:t>成立と不成立を交互に繰り返す</a:t>
            </a:r>
            <a:endParaRPr kumimoji="1" lang="en-US" altLang="ja-JP" dirty="0"/>
          </a:p>
          <a:p>
            <a:pPr lvl="1"/>
            <a:r>
              <a:rPr lang="ja-JP" altLang="en-US" dirty="0"/>
              <a:t>短い </a:t>
            </a:r>
            <a:r>
              <a:rPr lang="en-US" altLang="ja-JP" dirty="0"/>
              <a:t>for </a:t>
            </a:r>
            <a:r>
              <a:rPr lang="ja-JP" altLang="en-US" dirty="0"/>
              <a:t>ループ</a:t>
            </a:r>
            <a:endParaRPr kumimoji="1" lang="ja-JP" altLang="en-US" dirty="0"/>
          </a:p>
        </p:txBody>
      </p:sp>
    </p:spTree>
    <p:extLst>
      <p:ext uri="{BB962C8B-B14F-4D97-AF65-F5344CB8AC3E}">
        <p14:creationId xmlns:p14="http://schemas.microsoft.com/office/powerpoint/2010/main" val="3052786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履歴を用いた予測器</a:t>
            </a:r>
          </a:p>
        </p:txBody>
      </p:sp>
      <p:sp>
        <p:nvSpPr>
          <p:cNvPr id="3" name="テキスト プレースホルダー 2"/>
          <p:cNvSpPr>
            <a:spLocks noGrp="1"/>
          </p:cNvSpPr>
          <p:nvPr>
            <p:ph type="body" sz="quarter" idx="10"/>
          </p:nvPr>
        </p:nvSpPr>
        <p:spPr/>
        <p:txBody>
          <a:bodyPr/>
          <a:lstStyle/>
          <a:p>
            <a:r>
              <a:rPr kumimoji="1" lang="ja-JP" altLang="en-US" dirty="0"/>
              <a:t>この履歴の保持方法</a:t>
            </a:r>
            <a:r>
              <a:rPr kumimoji="1" lang="en-US" altLang="ja-JP" dirty="0"/>
              <a:t>/</a:t>
            </a:r>
            <a:r>
              <a:rPr kumimoji="1" lang="ja-JP" altLang="en-US" dirty="0"/>
              <a:t>作り方の違いで，いくつかの方法がある</a:t>
            </a:r>
            <a:endParaRPr kumimoji="1" lang="en-US" altLang="ja-JP" dirty="0"/>
          </a:p>
          <a:p>
            <a:pPr marL="817200" lvl="1" indent="-457200">
              <a:buFont typeface="+mj-lt"/>
              <a:buAutoNum type="arabicPeriod"/>
            </a:pPr>
            <a:endParaRPr kumimoji="1" lang="en-US" altLang="ja-JP" dirty="0"/>
          </a:p>
          <a:p>
            <a:pPr marL="817200" lvl="1" indent="-457200">
              <a:buFont typeface="+mj-lt"/>
              <a:buAutoNum type="arabicPeriod"/>
            </a:pPr>
            <a:r>
              <a:rPr kumimoji="1" lang="ja-JP" altLang="en-US" dirty="0"/>
              <a:t>ローカル履歴予測器</a:t>
            </a:r>
            <a:endParaRPr kumimoji="1" lang="en-US" altLang="ja-JP" dirty="0"/>
          </a:p>
          <a:p>
            <a:pPr lvl="2"/>
            <a:r>
              <a:rPr lang="en-US" altLang="ja-JP" dirty="0"/>
              <a:t>PC </a:t>
            </a:r>
            <a:r>
              <a:rPr lang="ja-JP" altLang="en-US" dirty="0"/>
              <a:t>ごとに履歴を保持</a:t>
            </a:r>
            <a:endParaRPr lang="en-US" altLang="ja-JP" dirty="0"/>
          </a:p>
          <a:p>
            <a:pPr lvl="2"/>
            <a:endParaRPr lang="en-US" altLang="ja-JP" dirty="0"/>
          </a:p>
          <a:p>
            <a:pPr marL="817200" lvl="1" indent="-457200">
              <a:buFont typeface="+mj-lt"/>
              <a:buAutoNum type="arabicPeriod"/>
            </a:pPr>
            <a:r>
              <a:rPr lang="ja-JP" altLang="en-US" dirty="0">
                <a:solidFill>
                  <a:schemeClr val="accent5"/>
                </a:solidFill>
              </a:rPr>
              <a:t>グローバル履歴予測器</a:t>
            </a:r>
            <a:endParaRPr lang="en-US" altLang="ja-JP" dirty="0">
              <a:solidFill>
                <a:schemeClr val="accent5"/>
              </a:solidFill>
            </a:endParaRPr>
          </a:p>
          <a:p>
            <a:pPr lvl="2"/>
            <a:r>
              <a:rPr lang="en-US" altLang="ja-JP" dirty="0"/>
              <a:t>PC </a:t>
            </a:r>
            <a:r>
              <a:rPr lang="ja-JP" altLang="en-US" dirty="0"/>
              <a:t>を区別せず履歴を保持</a:t>
            </a:r>
            <a:endParaRPr lang="en-US" altLang="ja-JP" dirty="0"/>
          </a:p>
        </p:txBody>
      </p:sp>
    </p:spTree>
    <p:extLst>
      <p:ext uri="{BB962C8B-B14F-4D97-AF65-F5344CB8AC3E}">
        <p14:creationId xmlns:p14="http://schemas.microsoft.com/office/powerpoint/2010/main" val="39215022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グローバル履歴予測器のモチベーション</a:t>
            </a:r>
          </a:p>
        </p:txBody>
      </p:sp>
      <p:sp>
        <p:nvSpPr>
          <p:cNvPr id="3" name="テキスト プレースホルダー 2"/>
          <p:cNvSpPr>
            <a:spLocks noGrp="1"/>
          </p:cNvSpPr>
          <p:nvPr>
            <p:ph type="body" sz="quarter" idx="10"/>
          </p:nvPr>
        </p:nvSpPr>
        <p:spPr>
          <a:xfrm>
            <a:off x="1955954" y="4059007"/>
            <a:ext cx="8280092" cy="1709712"/>
          </a:xfrm>
        </p:spPr>
        <p:txBody>
          <a:bodyPr/>
          <a:lstStyle/>
          <a:p>
            <a:r>
              <a:rPr kumimoji="1" lang="ja-JP" altLang="en-US" dirty="0"/>
              <a:t>複数の分岐間に相関があることが結構多い</a:t>
            </a:r>
            <a:endParaRPr kumimoji="1" lang="en-US" altLang="ja-JP" dirty="0"/>
          </a:p>
          <a:p>
            <a:pPr lvl="1"/>
            <a:r>
              <a:rPr kumimoji="1" lang="ja-JP" altLang="en-US" dirty="0"/>
              <a:t>ある分岐が成立したら，その後ろにある別の分岐は不成立</a:t>
            </a:r>
            <a:r>
              <a:rPr kumimoji="1" lang="en-US" altLang="ja-JP" dirty="0"/>
              <a:t>… </a:t>
            </a:r>
            <a:r>
              <a:rPr kumimoji="1" lang="ja-JP" altLang="en-US" dirty="0"/>
              <a:t>など</a:t>
            </a:r>
            <a:endParaRPr kumimoji="1" lang="en-US" altLang="ja-JP" dirty="0"/>
          </a:p>
          <a:p>
            <a:r>
              <a:rPr kumimoji="1" lang="ja-JP" altLang="en-US" dirty="0"/>
              <a:t>こう言う相関を拾いたい</a:t>
            </a:r>
          </a:p>
        </p:txBody>
      </p:sp>
      <p:sp>
        <p:nvSpPr>
          <p:cNvPr id="4" name="正方形/長方形 3"/>
          <p:cNvSpPr/>
          <p:nvPr/>
        </p:nvSpPr>
        <p:spPr>
          <a:xfrm>
            <a:off x="3575973" y="1538980"/>
            <a:ext cx="6210069" cy="2529923"/>
          </a:xfrm>
          <a:prstGeom prst="rect">
            <a:avLst/>
          </a:prstGeom>
        </p:spPr>
        <p:txBody>
          <a:bodyPr wrap="square">
            <a:spAutoFit/>
          </a:bodyPr>
          <a:lstStyle/>
          <a:p>
            <a:pPr>
              <a:lnSpc>
                <a:spcPct val="80000"/>
              </a:lnSpc>
            </a:pPr>
            <a:r>
              <a:rPr lang="en-US" altLang="ja-JP" dirty="0">
                <a:solidFill>
                  <a:schemeClr val="accent1"/>
                </a:solidFill>
                <a:latin typeface="Consolas" panose="020B0609020204030204" pitchFamily="49" charset="0"/>
              </a:rPr>
              <a:t>if</a:t>
            </a:r>
            <a:r>
              <a:rPr lang="en-US" altLang="ja-JP" dirty="0">
                <a:solidFill>
                  <a:schemeClr val="tx1">
                    <a:lumMod val="75000"/>
                    <a:lumOff val="25000"/>
                  </a:schemeClr>
                </a:solidFill>
                <a:latin typeface="Consolas" panose="020B0609020204030204" pitchFamily="49" charset="0"/>
              </a:rPr>
              <a:t> (option == 1) {</a:t>
            </a:r>
          </a:p>
          <a:p>
            <a:pPr>
              <a:lnSpc>
                <a:spcPct val="80000"/>
              </a:lnSpc>
            </a:pPr>
            <a:r>
              <a:rPr lang="en-US" altLang="ja-JP" dirty="0">
                <a:solidFill>
                  <a:schemeClr val="tx1">
                    <a:lumMod val="75000"/>
                    <a:lumOff val="25000"/>
                  </a:schemeClr>
                </a:solidFill>
                <a:latin typeface="Consolas" panose="020B0609020204030204" pitchFamily="49" charset="0"/>
              </a:rPr>
              <a:t>    ...</a:t>
            </a:r>
          </a:p>
          <a:p>
            <a:pPr>
              <a:lnSpc>
                <a:spcPct val="80000"/>
              </a:lnSpc>
            </a:pPr>
            <a:r>
              <a:rPr lang="en-US" altLang="ja-JP" dirty="0">
                <a:solidFill>
                  <a:schemeClr val="tx1">
                    <a:lumMod val="75000"/>
                    <a:lumOff val="25000"/>
                  </a:schemeClr>
                </a:solidFill>
                <a:latin typeface="Consolas" panose="020B0609020204030204" pitchFamily="49" charset="0"/>
              </a:rPr>
              <a:t>}</a:t>
            </a:r>
          </a:p>
          <a:p>
            <a:pPr>
              <a:lnSpc>
                <a:spcPct val="80000"/>
              </a:lnSpc>
            </a:pPr>
            <a:endParaRPr lang="en-US" altLang="ja-JP" dirty="0">
              <a:solidFill>
                <a:schemeClr val="tx1">
                  <a:lumMod val="75000"/>
                  <a:lumOff val="25000"/>
                </a:schemeClr>
              </a:solidFill>
              <a:latin typeface="Consolas" panose="020B0609020204030204" pitchFamily="49" charset="0"/>
            </a:endParaRPr>
          </a:p>
          <a:p>
            <a:pPr>
              <a:lnSpc>
                <a:spcPct val="80000"/>
              </a:lnSpc>
            </a:pPr>
            <a:r>
              <a:rPr lang="en-US" altLang="ja-JP" dirty="0">
                <a:solidFill>
                  <a:schemeClr val="tx1">
                    <a:lumMod val="75000"/>
                    <a:lumOff val="25000"/>
                  </a:schemeClr>
                </a:solidFill>
                <a:latin typeface="Consolas" panose="020B0609020204030204" pitchFamily="49" charset="0"/>
              </a:rPr>
              <a:t>...</a:t>
            </a:r>
          </a:p>
          <a:p>
            <a:pPr>
              <a:lnSpc>
                <a:spcPct val="80000"/>
              </a:lnSpc>
            </a:pPr>
            <a:endParaRPr lang="en-US" altLang="ja-JP" dirty="0">
              <a:solidFill>
                <a:schemeClr val="tx1">
                  <a:lumMod val="75000"/>
                  <a:lumOff val="25000"/>
                </a:schemeClr>
              </a:solidFill>
              <a:latin typeface="Consolas" panose="020B0609020204030204" pitchFamily="49" charset="0"/>
            </a:endParaRPr>
          </a:p>
          <a:p>
            <a:pPr>
              <a:lnSpc>
                <a:spcPct val="80000"/>
              </a:lnSpc>
            </a:pPr>
            <a:r>
              <a:rPr lang="en-US" altLang="ja-JP" dirty="0">
                <a:solidFill>
                  <a:schemeClr val="accent1"/>
                </a:solidFill>
                <a:latin typeface="Consolas" panose="020B0609020204030204" pitchFamily="49" charset="0"/>
              </a:rPr>
              <a:t>if</a:t>
            </a:r>
            <a:r>
              <a:rPr lang="en-US" altLang="ja-JP" dirty="0">
                <a:solidFill>
                  <a:schemeClr val="tx1">
                    <a:lumMod val="75000"/>
                    <a:lumOff val="25000"/>
                  </a:schemeClr>
                </a:solidFill>
                <a:latin typeface="Consolas" panose="020B0609020204030204" pitchFamily="49" charset="0"/>
              </a:rPr>
              <a:t> (option != 1) { </a:t>
            </a:r>
            <a:r>
              <a:rPr lang="en-US" altLang="ja-JP" dirty="0">
                <a:solidFill>
                  <a:schemeClr val="accent3">
                    <a:lumMod val="75000"/>
                  </a:schemeClr>
                </a:solidFill>
                <a:latin typeface="Consolas" panose="020B0609020204030204" pitchFamily="49" charset="0"/>
              </a:rPr>
              <a:t>// </a:t>
            </a:r>
            <a:r>
              <a:rPr lang="ja-JP" altLang="en-US" dirty="0">
                <a:solidFill>
                  <a:schemeClr val="accent3">
                    <a:lumMod val="75000"/>
                  </a:schemeClr>
                </a:solidFill>
                <a:latin typeface="Consolas" panose="020B0609020204030204" pitchFamily="49" charset="0"/>
              </a:rPr>
              <a:t>上の </a:t>
            </a:r>
            <a:r>
              <a:rPr lang="en-US" altLang="ja-JP" dirty="0">
                <a:solidFill>
                  <a:schemeClr val="accent3">
                    <a:lumMod val="75000"/>
                  </a:schemeClr>
                </a:solidFill>
                <a:latin typeface="Consolas" panose="020B0609020204030204" pitchFamily="49" charset="0"/>
              </a:rPr>
              <a:t>if </a:t>
            </a:r>
            <a:r>
              <a:rPr lang="ja-JP" altLang="en-US" dirty="0">
                <a:solidFill>
                  <a:schemeClr val="accent3">
                    <a:lumMod val="75000"/>
                  </a:schemeClr>
                </a:solidFill>
                <a:latin typeface="Consolas" panose="020B0609020204030204" pitchFamily="49" charset="0"/>
              </a:rPr>
              <a:t>と必ず反対になる</a:t>
            </a:r>
            <a:endParaRPr lang="en-US" altLang="ja-JP" dirty="0">
              <a:solidFill>
                <a:schemeClr val="accent3">
                  <a:lumMod val="75000"/>
                </a:schemeClr>
              </a:solidFill>
              <a:latin typeface="Consolas" panose="020B0609020204030204" pitchFamily="49" charset="0"/>
            </a:endParaRPr>
          </a:p>
          <a:p>
            <a:pPr>
              <a:lnSpc>
                <a:spcPct val="80000"/>
              </a:lnSpc>
            </a:pPr>
            <a:r>
              <a:rPr lang="en-US" altLang="ja-JP" dirty="0">
                <a:solidFill>
                  <a:schemeClr val="tx1">
                    <a:lumMod val="75000"/>
                    <a:lumOff val="25000"/>
                  </a:schemeClr>
                </a:solidFill>
                <a:latin typeface="Consolas" panose="020B0609020204030204" pitchFamily="49" charset="0"/>
              </a:rPr>
              <a:t>    ...</a:t>
            </a:r>
          </a:p>
          <a:p>
            <a:pPr>
              <a:lnSpc>
                <a:spcPct val="80000"/>
              </a:lnSpc>
            </a:pPr>
            <a:r>
              <a:rPr lang="en-US" altLang="ja-JP" dirty="0">
                <a:solidFill>
                  <a:schemeClr val="tx1">
                    <a:lumMod val="75000"/>
                    <a:lumOff val="25000"/>
                  </a:schemeClr>
                </a:solidFill>
                <a:latin typeface="Consolas" panose="020B0609020204030204" pitchFamily="49" charset="0"/>
              </a:rPr>
              <a:t>}</a:t>
            </a:r>
          </a:p>
          <a:p>
            <a:pPr>
              <a:lnSpc>
                <a:spcPct val="80000"/>
              </a:lnSpc>
            </a:pPr>
            <a:endParaRPr lang="en-US" altLang="ja-JP" dirty="0">
              <a:solidFill>
                <a:schemeClr val="tx1">
                  <a:lumMod val="75000"/>
                  <a:lumOff val="25000"/>
                </a:schemeClr>
              </a:solidFill>
              <a:latin typeface="Consolas" panose="020B0609020204030204" pitchFamily="49" charset="0"/>
            </a:endParaRPr>
          </a:p>
          <a:p>
            <a:pPr>
              <a:lnSpc>
                <a:spcPct val="80000"/>
              </a:lnSpc>
            </a:pPr>
            <a:endParaRPr lang="en-US" altLang="ja-JP" dirty="0">
              <a:solidFill>
                <a:schemeClr val="tx1">
                  <a:lumMod val="75000"/>
                  <a:lumOff val="25000"/>
                </a:schemeClr>
              </a:solidFill>
              <a:latin typeface="Consolas" panose="020B0609020204030204" pitchFamily="49" charset="0"/>
            </a:endParaRPr>
          </a:p>
        </p:txBody>
      </p:sp>
    </p:spTree>
    <p:extLst>
      <p:ext uri="{BB962C8B-B14F-4D97-AF65-F5344CB8AC3E}">
        <p14:creationId xmlns:p14="http://schemas.microsoft.com/office/powerpoint/2010/main" val="38071379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latin typeface="+mn-ea"/>
                <a:ea typeface="+mn-ea"/>
              </a:rPr>
              <a:t>グローバル履歴予測器のイメージ</a:t>
            </a:r>
            <a:endParaRPr kumimoji="1" lang="ja-JP" altLang="en-US" dirty="0">
              <a:latin typeface="+mn-ea"/>
              <a:ea typeface="+mn-ea"/>
            </a:endParaRPr>
          </a:p>
        </p:txBody>
      </p:sp>
      <p:sp>
        <p:nvSpPr>
          <p:cNvPr id="3" name="テキスト プレースホルダー 2"/>
          <p:cNvSpPr>
            <a:spLocks noGrp="1"/>
          </p:cNvSpPr>
          <p:nvPr>
            <p:ph type="body" sz="quarter" idx="10"/>
          </p:nvPr>
        </p:nvSpPr>
        <p:spPr>
          <a:xfrm>
            <a:off x="1685951" y="6039030"/>
            <a:ext cx="8640096" cy="719701"/>
          </a:xfrm>
        </p:spPr>
        <p:txBody>
          <a:bodyPr/>
          <a:lstStyle/>
          <a:p>
            <a:r>
              <a:rPr kumimoji="1" lang="ja-JP" altLang="en-US" dirty="0">
                <a:latin typeface="+mn-ea"/>
                <a:ea typeface="+mn-ea"/>
              </a:rPr>
              <a:t>「こういうパスを通ってきたときは，成立 </a:t>
            </a:r>
            <a:r>
              <a:rPr kumimoji="1" lang="en-US" altLang="ja-JP" dirty="0">
                <a:latin typeface="+mn-ea"/>
                <a:ea typeface="+mn-ea"/>
              </a:rPr>
              <a:t>or </a:t>
            </a:r>
            <a:r>
              <a:rPr kumimoji="1" lang="ja-JP" altLang="en-US" dirty="0">
                <a:latin typeface="+mn-ea"/>
                <a:ea typeface="+mn-ea"/>
              </a:rPr>
              <a:t>不成立になりやすい」を</a:t>
            </a:r>
            <a:br>
              <a:rPr kumimoji="1" lang="en-US" altLang="ja-JP" dirty="0">
                <a:latin typeface="+mn-ea"/>
                <a:ea typeface="+mn-ea"/>
              </a:rPr>
            </a:br>
            <a:r>
              <a:rPr kumimoji="1" lang="ja-JP" altLang="en-US" dirty="0">
                <a:latin typeface="+mn-ea"/>
                <a:ea typeface="+mn-ea"/>
              </a:rPr>
              <a:t>　うまく予測したい</a:t>
            </a:r>
          </a:p>
        </p:txBody>
      </p:sp>
      <p:sp>
        <p:nvSpPr>
          <p:cNvPr id="13" name="円/楕円 12"/>
          <p:cNvSpPr/>
          <p:nvPr/>
        </p:nvSpPr>
        <p:spPr bwMode="auto">
          <a:xfrm>
            <a:off x="6096000" y="1718981"/>
            <a:ext cx="720008" cy="540006"/>
          </a:xfrm>
          <a:prstGeom prst="ellips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C</a:t>
            </a:r>
            <a:endParaRPr lang="ja-JP" altLang="en-US" dirty="0">
              <a:solidFill>
                <a:schemeClr val="tx1">
                  <a:lumMod val="75000"/>
                  <a:lumOff val="25000"/>
                </a:schemeClr>
              </a:solidFill>
              <a:latin typeface="+mn-ea"/>
            </a:endParaRPr>
          </a:p>
        </p:txBody>
      </p:sp>
      <p:cxnSp>
        <p:nvCxnSpPr>
          <p:cNvPr id="15" name="直線矢印コネクタ 14"/>
          <p:cNvCxnSpPr>
            <a:cxnSpLocks/>
            <a:stCxn id="13" idx="3"/>
            <a:endCxn id="4" idx="7"/>
          </p:cNvCxnSpPr>
          <p:nvPr/>
        </p:nvCxnSpPr>
        <p:spPr bwMode="auto">
          <a:xfrm flipH="1">
            <a:off x="5630553" y="2179905"/>
            <a:ext cx="570890" cy="338166"/>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sp>
        <p:nvSpPr>
          <p:cNvPr id="45" name="円/楕円 44"/>
          <p:cNvSpPr/>
          <p:nvPr/>
        </p:nvSpPr>
        <p:spPr bwMode="auto">
          <a:xfrm>
            <a:off x="3935976" y="1721547"/>
            <a:ext cx="720008" cy="537440"/>
          </a:xfrm>
          <a:prstGeom prst="ellipse">
            <a:avLst/>
          </a:prstGeom>
          <a:ln>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B</a:t>
            </a:r>
            <a:endParaRPr lang="ja-JP" altLang="en-US" dirty="0">
              <a:solidFill>
                <a:schemeClr val="tx1">
                  <a:lumMod val="75000"/>
                  <a:lumOff val="25000"/>
                </a:schemeClr>
              </a:solidFill>
              <a:latin typeface="+mn-ea"/>
            </a:endParaRPr>
          </a:p>
        </p:txBody>
      </p:sp>
      <p:cxnSp>
        <p:nvCxnSpPr>
          <p:cNvPr id="46" name="直線矢印コネクタ 45"/>
          <p:cNvCxnSpPr>
            <a:cxnSpLocks/>
            <a:stCxn id="45" idx="5"/>
            <a:endCxn id="4" idx="1"/>
          </p:cNvCxnSpPr>
          <p:nvPr/>
        </p:nvCxnSpPr>
        <p:spPr bwMode="auto">
          <a:xfrm>
            <a:off x="4550541" y="2180281"/>
            <a:ext cx="570890" cy="337790"/>
          </a:xfrm>
          <a:prstGeom prst="straightConnector1">
            <a:avLst/>
          </a:prstGeom>
          <a:ln>
            <a:solidFill>
              <a:schemeClr val="tx1">
                <a:lumMod val="75000"/>
                <a:lumOff val="25000"/>
              </a:schemeClr>
            </a:solidFill>
            <a:headEnd type="none" w="med" len="med"/>
            <a:tailEnd type="triangle"/>
          </a:ln>
        </p:spPr>
        <p:style>
          <a:lnRef idx="2">
            <a:schemeClr val="dk1"/>
          </a:lnRef>
          <a:fillRef idx="0">
            <a:schemeClr val="dk1"/>
          </a:fillRef>
          <a:effectRef idx="1">
            <a:schemeClr val="dk1"/>
          </a:effectRef>
          <a:fontRef idx="minor">
            <a:schemeClr val="tx1"/>
          </a:fontRef>
        </p:style>
      </p:cxnSp>
      <p:cxnSp>
        <p:nvCxnSpPr>
          <p:cNvPr id="49" name="直線矢印コネクタ 48"/>
          <p:cNvCxnSpPr>
            <a:cxnSpLocks/>
            <a:endCxn id="13" idx="1"/>
          </p:cNvCxnSpPr>
          <p:nvPr/>
        </p:nvCxnSpPr>
        <p:spPr bwMode="auto">
          <a:xfrm>
            <a:off x="5645995" y="1448979"/>
            <a:ext cx="555448" cy="349085"/>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cxnSp>
        <p:nvCxnSpPr>
          <p:cNvPr id="50" name="直線矢印コネクタ 49"/>
          <p:cNvCxnSpPr>
            <a:cxnSpLocks/>
            <a:stCxn id="48" idx="3"/>
            <a:endCxn id="45" idx="7"/>
          </p:cNvCxnSpPr>
          <p:nvPr/>
        </p:nvCxnSpPr>
        <p:spPr bwMode="auto">
          <a:xfrm flipH="1">
            <a:off x="4550541" y="1459897"/>
            <a:ext cx="570890" cy="340356"/>
          </a:xfrm>
          <a:prstGeom prst="straightConnector1">
            <a:avLst/>
          </a:prstGeom>
          <a:ln>
            <a:solidFill>
              <a:schemeClr val="tx1">
                <a:lumMod val="75000"/>
                <a:lumOff val="25000"/>
              </a:schemeClr>
            </a:solidFill>
            <a:headEnd type="none" w="med" len="med"/>
            <a:tailEnd type="triangle"/>
          </a:ln>
        </p:spPr>
        <p:style>
          <a:lnRef idx="2">
            <a:schemeClr val="dk1"/>
          </a:lnRef>
          <a:fillRef idx="0">
            <a:schemeClr val="dk1"/>
          </a:fillRef>
          <a:effectRef idx="1">
            <a:schemeClr val="dk1"/>
          </a:effectRef>
          <a:fontRef idx="minor">
            <a:schemeClr val="tx1"/>
          </a:fontRef>
        </p:style>
      </p:cxnSp>
      <p:sp>
        <p:nvSpPr>
          <p:cNvPr id="51" name="Rectangle 133"/>
          <p:cNvSpPr>
            <a:spLocks noChangeArrowheads="1"/>
          </p:cNvSpPr>
          <p:nvPr/>
        </p:nvSpPr>
        <p:spPr bwMode="auto">
          <a:xfrm>
            <a:off x="4565984" y="1268977"/>
            <a:ext cx="719803"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en-US" altLang="ja-JP" sz="1400" dirty="0">
                <a:solidFill>
                  <a:schemeClr val="tx1">
                    <a:lumMod val="75000"/>
                    <a:lumOff val="25000"/>
                  </a:schemeClr>
                </a:solidFill>
                <a:latin typeface="+mn-ea"/>
                <a:ea typeface="+mn-ea"/>
              </a:rPr>
              <a:t>0</a:t>
            </a:r>
          </a:p>
        </p:txBody>
      </p:sp>
      <p:sp>
        <p:nvSpPr>
          <p:cNvPr id="52" name="Rectangle 133"/>
          <p:cNvSpPr>
            <a:spLocks noChangeArrowheads="1"/>
          </p:cNvSpPr>
          <p:nvPr/>
        </p:nvSpPr>
        <p:spPr bwMode="auto">
          <a:xfrm>
            <a:off x="5825998" y="1268977"/>
            <a:ext cx="719803"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en-US" altLang="ja-JP" sz="1400" dirty="0">
                <a:solidFill>
                  <a:schemeClr val="tx1">
                    <a:lumMod val="75000"/>
                    <a:lumOff val="25000"/>
                  </a:schemeClr>
                </a:solidFill>
                <a:latin typeface="+mn-ea"/>
                <a:ea typeface="+mn-ea"/>
              </a:rPr>
              <a:t>1</a:t>
            </a:r>
          </a:p>
        </p:txBody>
      </p:sp>
      <p:sp>
        <p:nvSpPr>
          <p:cNvPr id="107" name="Rectangle 133">
            <a:extLst>
              <a:ext uri="{FF2B5EF4-FFF2-40B4-BE49-F238E27FC236}">
                <a16:creationId xmlns:a16="http://schemas.microsoft.com/office/drawing/2014/main" id="{F34CE6C2-B289-4F83-93B4-D24DC211B042}"/>
              </a:ext>
            </a:extLst>
          </p:cNvPr>
          <p:cNvSpPr>
            <a:spLocks noChangeArrowheads="1"/>
          </p:cNvSpPr>
          <p:nvPr/>
        </p:nvSpPr>
        <p:spPr bwMode="auto">
          <a:xfrm>
            <a:off x="3665974" y="4239010"/>
            <a:ext cx="719803"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en-US" altLang="ja-JP" sz="1800" dirty="0">
                <a:solidFill>
                  <a:schemeClr val="tx1">
                    <a:lumMod val="75000"/>
                    <a:lumOff val="25000"/>
                  </a:schemeClr>
                </a:solidFill>
                <a:latin typeface="+mn-ea"/>
                <a:ea typeface="+mn-ea"/>
              </a:rPr>
              <a:t>A</a:t>
            </a:r>
            <a:r>
              <a:rPr lang="ja-JP" altLang="en-US" sz="1800" dirty="0">
                <a:solidFill>
                  <a:schemeClr val="tx1">
                    <a:lumMod val="75000"/>
                    <a:lumOff val="25000"/>
                  </a:schemeClr>
                </a:solidFill>
                <a:latin typeface="+mn-ea"/>
                <a:ea typeface="+mn-ea"/>
              </a:rPr>
              <a:t>→</a:t>
            </a:r>
            <a:r>
              <a:rPr lang="en-US" altLang="ja-JP" sz="1800" dirty="0">
                <a:solidFill>
                  <a:schemeClr val="tx1">
                    <a:lumMod val="75000"/>
                    <a:lumOff val="25000"/>
                  </a:schemeClr>
                </a:solidFill>
                <a:latin typeface="+mn-ea"/>
                <a:ea typeface="+mn-ea"/>
              </a:rPr>
              <a:t>C</a:t>
            </a:r>
            <a:r>
              <a:rPr lang="ja-JP" altLang="en-US" sz="1800" dirty="0">
                <a:solidFill>
                  <a:schemeClr val="tx1">
                    <a:lumMod val="75000"/>
                    <a:lumOff val="25000"/>
                  </a:schemeClr>
                </a:solidFill>
                <a:latin typeface="+mn-ea"/>
                <a:ea typeface="+mn-ea"/>
              </a:rPr>
              <a:t>→</a:t>
            </a:r>
            <a:r>
              <a:rPr lang="en-US" altLang="ja-JP" sz="1800" dirty="0">
                <a:solidFill>
                  <a:schemeClr val="tx1">
                    <a:lumMod val="75000"/>
                    <a:lumOff val="25000"/>
                  </a:schemeClr>
                </a:solidFill>
                <a:latin typeface="+mn-ea"/>
                <a:ea typeface="+mn-ea"/>
              </a:rPr>
              <a:t>D</a:t>
            </a:r>
            <a:r>
              <a:rPr lang="ja-JP" altLang="en-US" sz="1800" dirty="0">
                <a:solidFill>
                  <a:schemeClr val="tx1">
                    <a:lumMod val="75000"/>
                    <a:lumOff val="25000"/>
                  </a:schemeClr>
                </a:solidFill>
                <a:latin typeface="+mn-ea"/>
                <a:ea typeface="+mn-ea"/>
              </a:rPr>
              <a:t>→</a:t>
            </a:r>
            <a:endParaRPr lang="en-US" altLang="ja-JP" sz="1800" dirty="0">
              <a:solidFill>
                <a:schemeClr val="tx1">
                  <a:lumMod val="75000"/>
                  <a:lumOff val="25000"/>
                </a:schemeClr>
              </a:solidFill>
              <a:latin typeface="+mn-ea"/>
              <a:ea typeface="+mn-ea"/>
            </a:endParaRPr>
          </a:p>
          <a:p>
            <a:pPr eaLnBrk="0" hangingPunct="0"/>
            <a:r>
              <a:rPr lang="en-US" altLang="ja-JP" sz="1800" dirty="0">
                <a:solidFill>
                  <a:schemeClr val="tx1">
                    <a:lumMod val="75000"/>
                    <a:lumOff val="25000"/>
                  </a:schemeClr>
                </a:solidFill>
                <a:latin typeface="+mn-ea"/>
                <a:ea typeface="+mn-ea"/>
              </a:rPr>
              <a:t>E</a:t>
            </a:r>
            <a:r>
              <a:rPr lang="ja-JP" altLang="en-US" sz="1800" dirty="0">
                <a:solidFill>
                  <a:schemeClr val="tx1">
                    <a:lumMod val="75000"/>
                    <a:lumOff val="25000"/>
                  </a:schemeClr>
                </a:solidFill>
                <a:latin typeface="+mn-ea"/>
                <a:ea typeface="+mn-ea"/>
              </a:rPr>
              <a:t>→</a:t>
            </a:r>
            <a:r>
              <a:rPr lang="en-US" altLang="ja-JP" sz="1800" dirty="0">
                <a:solidFill>
                  <a:schemeClr val="tx1">
                    <a:lumMod val="75000"/>
                    <a:lumOff val="25000"/>
                  </a:schemeClr>
                </a:solidFill>
                <a:latin typeface="+mn-ea"/>
                <a:ea typeface="+mn-ea"/>
              </a:rPr>
              <a:t>F</a:t>
            </a:r>
            <a:r>
              <a:rPr lang="ja-JP" altLang="en-US" sz="1800" dirty="0">
                <a:solidFill>
                  <a:schemeClr val="tx1">
                    <a:lumMod val="75000"/>
                    <a:lumOff val="25000"/>
                  </a:schemeClr>
                </a:solidFill>
                <a:latin typeface="+mn-ea"/>
                <a:ea typeface="+mn-ea"/>
              </a:rPr>
              <a:t>→</a:t>
            </a:r>
            <a:r>
              <a:rPr lang="en-US" altLang="ja-JP" sz="1800" dirty="0">
                <a:solidFill>
                  <a:schemeClr val="tx1">
                    <a:lumMod val="75000"/>
                    <a:lumOff val="25000"/>
                  </a:schemeClr>
                </a:solidFill>
                <a:latin typeface="+mn-ea"/>
                <a:ea typeface="+mn-ea"/>
              </a:rPr>
              <a:t>G </a:t>
            </a:r>
            <a:r>
              <a:rPr lang="ja-JP" altLang="en-US" sz="1800" dirty="0">
                <a:solidFill>
                  <a:schemeClr val="tx1">
                    <a:lumMod val="75000"/>
                    <a:lumOff val="25000"/>
                  </a:schemeClr>
                </a:solidFill>
                <a:latin typeface="+mn-ea"/>
                <a:ea typeface="+mn-ea"/>
              </a:rPr>
              <a:t>と</a:t>
            </a:r>
            <a:endParaRPr lang="en-US" altLang="ja-JP" sz="1800" dirty="0">
              <a:solidFill>
                <a:schemeClr val="tx1">
                  <a:lumMod val="75000"/>
                  <a:lumOff val="25000"/>
                </a:schemeClr>
              </a:solidFill>
              <a:latin typeface="+mn-ea"/>
              <a:ea typeface="+mn-ea"/>
            </a:endParaRPr>
          </a:p>
          <a:p>
            <a:pPr eaLnBrk="0" hangingPunct="0"/>
            <a:r>
              <a:rPr lang="ja-JP" altLang="en-US" sz="1800" dirty="0">
                <a:solidFill>
                  <a:schemeClr val="tx1">
                    <a:lumMod val="75000"/>
                    <a:lumOff val="25000"/>
                  </a:schemeClr>
                </a:solidFill>
                <a:latin typeface="+mn-ea"/>
                <a:ea typeface="+mn-ea"/>
              </a:rPr>
              <a:t>来た時は右に</a:t>
            </a:r>
            <a:endParaRPr lang="en-US" altLang="ja-JP" sz="1800" dirty="0">
              <a:solidFill>
                <a:schemeClr val="tx1">
                  <a:lumMod val="75000"/>
                  <a:lumOff val="25000"/>
                </a:schemeClr>
              </a:solidFill>
              <a:latin typeface="+mn-ea"/>
              <a:ea typeface="+mn-ea"/>
            </a:endParaRPr>
          </a:p>
        </p:txBody>
      </p:sp>
      <p:sp>
        <p:nvSpPr>
          <p:cNvPr id="48" name="円/楕円 47"/>
          <p:cNvSpPr/>
          <p:nvPr/>
        </p:nvSpPr>
        <p:spPr bwMode="auto">
          <a:xfrm>
            <a:off x="5015988" y="998973"/>
            <a:ext cx="720008" cy="540006"/>
          </a:xfrm>
          <a:prstGeom prst="ellips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a:t>
            </a:r>
          </a:p>
        </p:txBody>
      </p:sp>
      <p:sp>
        <p:nvSpPr>
          <p:cNvPr id="4" name="円/楕円 70">
            <a:extLst>
              <a:ext uri="{FF2B5EF4-FFF2-40B4-BE49-F238E27FC236}">
                <a16:creationId xmlns:a16="http://schemas.microsoft.com/office/drawing/2014/main" id="{80864F5D-B39B-D36D-3665-8FF14A790C8C}"/>
              </a:ext>
            </a:extLst>
          </p:cNvPr>
          <p:cNvSpPr/>
          <p:nvPr/>
        </p:nvSpPr>
        <p:spPr bwMode="auto">
          <a:xfrm>
            <a:off x="5015988" y="2438989"/>
            <a:ext cx="720008" cy="540006"/>
          </a:xfrm>
          <a:prstGeom prst="ellips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D</a:t>
            </a:r>
            <a:endParaRPr lang="ja-JP" altLang="en-US" dirty="0">
              <a:solidFill>
                <a:schemeClr val="tx1">
                  <a:lumMod val="75000"/>
                  <a:lumOff val="25000"/>
                </a:schemeClr>
              </a:solidFill>
              <a:latin typeface="+mn-ea"/>
            </a:endParaRPr>
          </a:p>
        </p:txBody>
      </p:sp>
      <p:sp>
        <p:nvSpPr>
          <p:cNvPr id="30" name="円/楕円 12">
            <a:extLst>
              <a:ext uri="{FF2B5EF4-FFF2-40B4-BE49-F238E27FC236}">
                <a16:creationId xmlns:a16="http://schemas.microsoft.com/office/drawing/2014/main" id="{48EEA393-2C52-0E40-ABCE-4020CC92191E}"/>
              </a:ext>
            </a:extLst>
          </p:cNvPr>
          <p:cNvSpPr/>
          <p:nvPr/>
        </p:nvSpPr>
        <p:spPr bwMode="auto">
          <a:xfrm>
            <a:off x="6096000" y="4149008"/>
            <a:ext cx="720008" cy="540006"/>
          </a:xfrm>
          <a:prstGeom prst="ellips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F</a:t>
            </a:r>
            <a:endParaRPr lang="ja-JP" altLang="en-US" dirty="0">
              <a:solidFill>
                <a:schemeClr val="tx1">
                  <a:lumMod val="75000"/>
                  <a:lumOff val="25000"/>
                </a:schemeClr>
              </a:solidFill>
              <a:latin typeface="+mn-ea"/>
            </a:endParaRPr>
          </a:p>
        </p:txBody>
      </p:sp>
      <p:cxnSp>
        <p:nvCxnSpPr>
          <p:cNvPr id="34" name="直線矢印コネクタ 33">
            <a:extLst>
              <a:ext uri="{FF2B5EF4-FFF2-40B4-BE49-F238E27FC236}">
                <a16:creationId xmlns:a16="http://schemas.microsoft.com/office/drawing/2014/main" id="{C9896A4E-7318-78D5-02A9-24AB6CCCFB5B}"/>
              </a:ext>
            </a:extLst>
          </p:cNvPr>
          <p:cNvCxnSpPr>
            <a:cxnSpLocks/>
            <a:stCxn id="30" idx="3"/>
            <a:endCxn id="56" idx="7"/>
          </p:cNvCxnSpPr>
          <p:nvPr/>
        </p:nvCxnSpPr>
        <p:spPr bwMode="auto">
          <a:xfrm flipH="1">
            <a:off x="5630553" y="4609932"/>
            <a:ext cx="570890" cy="338166"/>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cxnSp>
        <p:nvCxnSpPr>
          <p:cNvPr id="37" name="直線矢印コネクタ 36">
            <a:extLst>
              <a:ext uri="{FF2B5EF4-FFF2-40B4-BE49-F238E27FC236}">
                <a16:creationId xmlns:a16="http://schemas.microsoft.com/office/drawing/2014/main" id="{B8020416-8434-EB72-877A-626852AF1FB2}"/>
              </a:ext>
            </a:extLst>
          </p:cNvPr>
          <p:cNvCxnSpPr>
            <a:cxnSpLocks/>
            <a:endCxn id="30" idx="1"/>
          </p:cNvCxnSpPr>
          <p:nvPr/>
        </p:nvCxnSpPr>
        <p:spPr bwMode="auto">
          <a:xfrm>
            <a:off x="5645995" y="3879006"/>
            <a:ext cx="555448" cy="349085"/>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cxnSp>
        <p:nvCxnSpPr>
          <p:cNvPr id="38" name="直線矢印コネクタ 37">
            <a:extLst>
              <a:ext uri="{FF2B5EF4-FFF2-40B4-BE49-F238E27FC236}">
                <a16:creationId xmlns:a16="http://schemas.microsoft.com/office/drawing/2014/main" id="{A3517A60-73EC-A726-3470-7A34806B4450}"/>
              </a:ext>
            </a:extLst>
          </p:cNvPr>
          <p:cNvCxnSpPr>
            <a:cxnSpLocks/>
            <a:stCxn id="44" idx="4"/>
            <a:endCxn id="56" idx="0"/>
          </p:cNvCxnSpPr>
          <p:nvPr/>
        </p:nvCxnSpPr>
        <p:spPr bwMode="auto">
          <a:xfrm>
            <a:off x="5375992" y="3969006"/>
            <a:ext cx="0" cy="900010"/>
          </a:xfrm>
          <a:prstGeom prst="straightConnector1">
            <a:avLst/>
          </a:prstGeom>
          <a:ln>
            <a:solidFill>
              <a:schemeClr val="tx1">
                <a:lumMod val="75000"/>
                <a:lumOff val="25000"/>
              </a:schemeClr>
            </a:solidFill>
            <a:headEnd type="none" w="med" len="med"/>
            <a:tailEnd type="triangle"/>
          </a:ln>
        </p:spPr>
        <p:style>
          <a:lnRef idx="2">
            <a:schemeClr val="dk1"/>
          </a:lnRef>
          <a:fillRef idx="0">
            <a:schemeClr val="dk1"/>
          </a:fillRef>
          <a:effectRef idx="1">
            <a:schemeClr val="dk1"/>
          </a:effectRef>
          <a:fontRef idx="minor">
            <a:schemeClr val="tx1"/>
          </a:fontRef>
        </p:style>
      </p:cxnSp>
      <p:sp>
        <p:nvSpPr>
          <p:cNvPr id="43" name="Rectangle 133">
            <a:extLst>
              <a:ext uri="{FF2B5EF4-FFF2-40B4-BE49-F238E27FC236}">
                <a16:creationId xmlns:a16="http://schemas.microsoft.com/office/drawing/2014/main" id="{F2F9908D-1EE1-D365-3BA9-E26504F4D7B8}"/>
              </a:ext>
            </a:extLst>
          </p:cNvPr>
          <p:cNvSpPr>
            <a:spLocks noChangeArrowheads="1"/>
          </p:cNvSpPr>
          <p:nvPr/>
        </p:nvSpPr>
        <p:spPr bwMode="auto">
          <a:xfrm>
            <a:off x="5825998" y="3699004"/>
            <a:ext cx="719803"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en-US" altLang="ja-JP" sz="1400" dirty="0">
                <a:solidFill>
                  <a:schemeClr val="tx1">
                    <a:lumMod val="75000"/>
                    <a:lumOff val="25000"/>
                  </a:schemeClr>
                </a:solidFill>
                <a:latin typeface="+mn-ea"/>
                <a:ea typeface="+mn-ea"/>
              </a:rPr>
              <a:t>1</a:t>
            </a:r>
          </a:p>
        </p:txBody>
      </p:sp>
      <p:sp>
        <p:nvSpPr>
          <p:cNvPr id="44" name="円/楕円 47">
            <a:extLst>
              <a:ext uri="{FF2B5EF4-FFF2-40B4-BE49-F238E27FC236}">
                <a16:creationId xmlns:a16="http://schemas.microsoft.com/office/drawing/2014/main" id="{835CA562-62F9-82EC-4CC7-E3ED5CEC8434}"/>
              </a:ext>
            </a:extLst>
          </p:cNvPr>
          <p:cNvSpPr/>
          <p:nvPr/>
        </p:nvSpPr>
        <p:spPr bwMode="auto">
          <a:xfrm>
            <a:off x="5015988" y="3429000"/>
            <a:ext cx="720008" cy="540006"/>
          </a:xfrm>
          <a:prstGeom prst="ellips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E</a:t>
            </a:r>
          </a:p>
        </p:txBody>
      </p:sp>
      <p:sp>
        <p:nvSpPr>
          <p:cNvPr id="56" name="円/楕円 70">
            <a:extLst>
              <a:ext uri="{FF2B5EF4-FFF2-40B4-BE49-F238E27FC236}">
                <a16:creationId xmlns:a16="http://schemas.microsoft.com/office/drawing/2014/main" id="{9AE4907F-B06D-97EA-A2BB-D3B941B39D00}"/>
              </a:ext>
            </a:extLst>
          </p:cNvPr>
          <p:cNvSpPr/>
          <p:nvPr/>
        </p:nvSpPr>
        <p:spPr bwMode="auto">
          <a:xfrm>
            <a:off x="5015988" y="4869016"/>
            <a:ext cx="720008" cy="540006"/>
          </a:xfrm>
          <a:prstGeom prst="ellipse">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G</a:t>
            </a:r>
            <a:endParaRPr lang="ja-JP" altLang="en-US" dirty="0">
              <a:solidFill>
                <a:schemeClr val="tx1">
                  <a:lumMod val="75000"/>
                  <a:lumOff val="25000"/>
                </a:schemeClr>
              </a:solidFill>
              <a:latin typeface="+mn-ea"/>
            </a:endParaRPr>
          </a:p>
        </p:txBody>
      </p:sp>
      <p:cxnSp>
        <p:nvCxnSpPr>
          <p:cNvPr id="57" name="直線矢印コネクタ 56">
            <a:extLst>
              <a:ext uri="{FF2B5EF4-FFF2-40B4-BE49-F238E27FC236}">
                <a16:creationId xmlns:a16="http://schemas.microsoft.com/office/drawing/2014/main" id="{1522C9E7-A210-DD58-DD6D-7AD85C50BFB4}"/>
              </a:ext>
            </a:extLst>
          </p:cNvPr>
          <p:cNvCxnSpPr>
            <a:cxnSpLocks/>
            <a:endCxn id="44" idx="0"/>
          </p:cNvCxnSpPr>
          <p:nvPr/>
        </p:nvCxnSpPr>
        <p:spPr bwMode="auto">
          <a:xfrm>
            <a:off x="5375992" y="2978996"/>
            <a:ext cx="0" cy="450005"/>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cxnSp>
        <p:nvCxnSpPr>
          <p:cNvPr id="110" name="直線矢印コネクタ 109">
            <a:extLst>
              <a:ext uri="{FF2B5EF4-FFF2-40B4-BE49-F238E27FC236}">
                <a16:creationId xmlns:a16="http://schemas.microsoft.com/office/drawing/2014/main" id="{6AE26C4C-A6A0-011F-5C47-9656261AFA84}"/>
              </a:ext>
            </a:extLst>
          </p:cNvPr>
          <p:cNvCxnSpPr>
            <a:cxnSpLocks/>
          </p:cNvCxnSpPr>
          <p:nvPr/>
        </p:nvCxnSpPr>
        <p:spPr bwMode="auto">
          <a:xfrm>
            <a:off x="5645995" y="5319022"/>
            <a:ext cx="555448" cy="349085"/>
          </a:xfrm>
          <a:prstGeom prst="straightConnector1">
            <a:avLst/>
          </a:prstGeom>
          <a:ln>
            <a:headEnd type="none" w="med" len="med"/>
            <a:tailEnd type="triangle"/>
          </a:ln>
        </p:spPr>
        <p:style>
          <a:lnRef idx="2">
            <a:schemeClr val="accent6"/>
          </a:lnRef>
          <a:fillRef idx="0">
            <a:schemeClr val="accent6"/>
          </a:fillRef>
          <a:effectRef idx="1">
            <a:schemeClr val="accent6"/>
          </a:effectRef>
          <a:fontRef idx="minor">
            <a:schemeClr val="tx1"/>
          </a:fontRef>
        </p:style>
      </p:cxnSp>
      <p:cxnSp>
        <p:nvCxnSpPr>
          <p:cNvPr id="111" name="直線矢印コネクタ 110">
            <a:extLst>
              <a:ext uri="{FF2B5EF4-FFF2-40B4-BE49-F238E27FC236}">
                <a16:creationId xmlns:a16="http://schemas.microsoft.com/office/drawing/2014/main" id="{F7E31FEC-D86D-B2CE-5719-4CECC0F5C1BD}"/>
              </a:ext>
            </a:extLst>
          </p:cNvPr>
          <p:cNvCxnSpPr>
            <a:cxnSpLocks/>
          </p:cNvCxnSpPr>
          <p:nvPr/>
        </p:nvCxnSpPr>
        <p:spPr bwMode="auto">
          <a:xfrm flipH="1">
            <a:off x="4550541" y="5329940"/>
            <a:ext cx="570890" cy="340356"/>
          </a:xfrm>
          <a:prstGeom prst="straightConnector1">
            <a:avLst/>
          </a:prstGeom>
          <a:ln>
            <a:solidFill>
              <a:schemeClr val="tx1">
                <a:lumMod val="75000"/>
                <a:lumOff val="25000"/>
              </a:schemeClr>
            </a:solidFill>
            <a:headEnd type="none" w="med" len="med"/>
            <a:tailEnd type="triangle"/>
          </a:ln>
        </p:spPr>
        <p:style>
          <a:lnRef idx="2">
            <a:schemeClr val="dk1"/>
          </a:lnRef>
          <a:fillRef idx="0">
            <a:schemeClr val="dk1"/>
          </a:fillRef>
          <a:effectRef idx="1">
            <a:schemeClr val="dk1"/>
          </a:effectRef>
          <a:fontRef idx="minor">
            <a:schemeClr val="tx1"/>
          </a:fontRef>
        </p:style>
      </p:cxnSp>
      <p:sp>
        <p:nvSpPr>
          <p:cNvPr id="112" name="Rectangle 133">
            <a:extLst>
              <a:ext uri="{FF2B5EF4-FFF2-40B4-BE49-F238E27FC236}">
                <a16:creationId xmlns:a16="http://schemas.microsoft.com/office/drawing/2014/main" id="{304567C2-D3F7-DD57-566C-27B8FB3B3607}"/>
              </a:ext>
            </a:extLst>
          </p:cNvPr>
          <p:cNvSpPr>
            <a:spLocks noChangeArrowheads="1"/>
          </p:cNvSpPr>
          <p:nvPr/>
        </p:nvSpPr>
        <p:spPr bwMode="auto">
          <a:xfrm>
            <a:off x="5015989" y="3969007"/>
            <a:ext cx="719803"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en-US" altLang="ja-JP" sz="1400" dirty="0">
                <a:solidFill>
                  <a:schemeClr val="tx1">
                    <a:lumMod val="75000"/>
                    <a:lumOff val="25000"/>
                  </a:schemeClr>
                </a:solidFill>
                <a:latin typeface="+mn-ea"/>
                <a:ea typeface="+mn-ea"/>
              </a:rPr>
              <a:t>0</a:t>
            </a:r>
          </a:p>
        </p:txBody>
      </p:sp>
      <p:sp>
        <p:nvSpPr>
          <p:cNvPr id="113" name="円/楕円 12">
            <a:extLst>
              <a:ext uri="{FF2B5EF4-FFF2-40B4-BE49-F238E27FC236}">
                <a16:creationId xmlns:a16="http://schemas.microsoft.com/office/drawing/2014/main" id="{0F4F3BC7-7BAA-E522-28CB-56AEE0C423D6}"/>
              </a:ext>
            </a:extLst>
          </p:cNvPr>
          <p:cNvSpPr/>
          <p:nvPr/>
        </p:nvSpPr>
        <p:spPr bwMode="auto">
          <a:xfrm>
            <a:off x="9516038" y="1716415"/>
            <a:ext cx="720008" cy="540006"/>
          </a:xfrm>
          <a:prstGeom prst="ellipse">
            <a:avLst/>
          </a:prstGeom>
          <a:ln>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C</a:t>
            </a:r>
            <a:endParaRPr lang="ja-JP" altLang="en-US" dirty="0">
              <a:solidFill>
                <a:schemeClr val="tx1">
                  <a:lumMod val="75000"/>
                  <a:lumOff val="25000"/>
                </a:schemeClr>
              </a:solidFill>
              <a:latin typeface="+mn-ea"/>
            </a:endParaRPr>
          </a:p>
        </p:txBody>
      </p:sp>
      <p:cxnSp>
        <p:nvCxnSpPr>
          <p:cNvPr id="114" name="直線矢印コネクタ 113">
            <a:extLst>
              <a:ext uri="{FF2B5EF4-FFF2-40B4-BE49-F238E27FC236}">
                <a16:creationId xmlns:a16="http://schemas.microsoft.com/office/drawing/2014/main" id="{464A64A8-BBA7-47D4-E9AD-5847888C3838}"/>
              </a:ext>
            </a:extLst>
          </p:cNvPr>
          <p:cNvCxnSpPr>
            <a:cxnSpLocks/>
            <a:stCxn id="113" idx="3"/>
            <a:endCxn id="123" idx="7"/>
          </p:cNvCxnSpPr>
          <p:nvPr/>
        </p:nvCxnSpPr>
        <p:spPr bwMode="auto">
          <a:xfrm flipH="1">
            <a:off x="9050591" y="2177339"/>
            <a:ext cx="570890" cy="338166"/>
          </a:xfrm>
          <a:prstGeom prst="straightConnector1">
            <a:avLst/>
          </a:prstGeom>
          <a:ln>
            <a:headEnd type="none" w="med" len="med"/>
            <a:tailEnd type="triangle"/>
          </a:ln>
        </p:spPr>
        <p:style>
          <a:lnRef idx="2">
            <a:schemeClr val="dk1"/>
          </a:lnRef>
          <a:fillRef idx="0">
            <a:schemeClr val="dk1"/>
          </a:fillRef>
          <a:effectRef idx="1">
            <a:schemeClr val="dk1"/>
          </a:effectRef>
          <a:fontRef idx="minor">
            <a:schemeClr val="tx1"/>
          </a:fontRef>
        </p:style>
      </p:cxnSp>
      <p:sp>
        <p:nvSpPr>
          <p:cNvPr id="115" name="円/楕円 44">
            <a:extLst>
              <a:ext uri="{FF2B5EF4-FFF2-40B4-BE49-F238E27FC236}">
                <a16:creationId xmlns:a16="http://schemas.microsoft.com/office/drawing/2014/main" id="{DDBD0A10-38AD-EEA3-4A5F-F36372596971}"/>
              </a:ext>
            </a:extLst>
          </p:cNvPr>
          <p:cNvSpPr/>
          <p:nvPr/>
        </p:nvSpPr>
        <p:spPr bwMode="auto">
          <a:xfrm>
            <a:off x="7356014" y="1718981"/>
            <a:ext cx="720008" cy="537440"/>
          </a:xfrm>
          <a:prstGeom prst="ellips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B</a:t>
            </a:r>
            <a:endParaRPr lang="ja-JP" altLang="en-US" dirty="0">
              <a:solidFill>
                <a:schemeClr val="tx1">
                  <a:lumMod val="75000"/>
                  <a:lumOff val="25000"/>
                </a:schemeClr>
              </a:solidFill>
              <a:latin typeface="+mn-ea"/>
            </a:endParaRPr>
          </a:p>
        </p:txBody>
      </p:sp>
      <p:cxnSp>
        <p:nvCxnSpPr>
          <p:cNvPr id="116" name="直線矢印コネクタ 115">
            <a:extLst>
              <a:ext uri="{FF2B5EF4-FFF2-40B4-BE49-F238E27FC236}">
                <a16:creationId xmlns:a16="http://schemas.microsoft.com/office/drawing/2014/main" id="{93C1D65A-A7BD-B694-ACAA-254E4E371499}"/>
              </a:ext>
            </a:extLst>
          </p:cNvPr>
          <p:cNvCxnSpPr>
            <a:cxnSpLocks/>
            <a:stCxn id="115" idx="5"/>
            <a:endCxn id="123" idx="1"/>
          </p:cNvCxnSpPr>
          <p:nvPr/>
        </p:nvCxnSpPr>
        <p:spPr bwMode="auto">
          <a:xfrm>
            <a:off x="7970579" y="2177715"/>
            <a:ext cx="570890" cy="337790"/>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cxnSp>
        <p:nvCxnSpPr>
          <p:cNvPr id="117" name="直線矢印コネクタ 116">
            <a:extLst>
              <a:ext uri="{FF2B5EF4-FFF2-40B4-BE49-F238E27FC236}">
                <a16:creationId xmlns:a16="http://schemas.microsoft.com/office/drawing/2014/main" id="{127864B9-D5C0-D39E-4B23-7FAFED9DCFE7}"/>
              </a:ext>
            </a:extLst>
          </p:cNvPr>
          <p:cNvCxnSpPr>
            <a:cxnSpLocks/>
            <a:endCxn id="113" idx="1"/>
          </p:cNvCxnSpPr>
          <p:nvPr/>
        </p:nvCxnSpPr>
        <p:spPr bwMode="auto">
          <a:xfrm>
            <a:off x="9066033" y="1446413"/>
            <a:ext cx="555448" cy="349085"/>
          </a:xfrm>
          <a:prstGeom prst="straightConnector1">
            <a:avLst/>
          </a:prstGeom>
          <a:ln>
            <a:headEnd type="none" w="med" len="med"/>
            <a:tailEnd type="triangle"/>
          </a:ln>
        </p:spPr>
        <p:style>
          <a:lnRef idx="2">
            <a:schemeClr val="dk1"/>
          </a:lnRef>
          <a:fillRef idx="0">
            <a:schemeClr val="dk1"/>
          </a:fillRef>
          <a:effectRef idx="1">
            <a:schemeClr val="dk1"/>
          </a:effectRef>
          <a:fontRef idx="minor">
            <a:schemeClr val="tx1"/>
          </a:fontRef>
        </p:style>
      </p:cxnSp>
      <p:cxnSp>
        <p:nvCxnSpPr>
          <p:cNvPr id="118" name="直線矢印コネクタ 117">
            <a:extLst>
              <a:ext uri="{FF2B5EF4-FFF2-40B4-BE49-F238E27FC236}">
                <a16:creationId xmlns:a16="http://schemas.microsoft.com/office/drawing/2014/main" id="{0391FFB8-D8B0-5AD7-5834-33788BE8968F}"/>
              </a:ext>
            </a:extLst>
          </p:cNvPr>
          <p:cNvCxnSpPr>
            <a:cxnSpLocks/>
            <a:stCxn id="122" idx="3"/>
            <a:endCxn id="115" idx="7"/>
          </p:cNvCxnSpPr>
          <p:nvPr/>
        </p:nvCxnSpPr>
        <p:spPr bwMode="auto">
          <a:xfrm flipH="1">
            <a:off x="7970579" y="1457331"/>
            <a:ext cx="570890" cy="340356"/>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sp>
        <p:nvSpPr>
          <p:cNvPr id="119" name="Rectangle 133">
            <a:extLst>
              <a:ext uri="{FF2B5EF4-FFF2-40B4-BE49-F238E27FC236}">
                <a16:creationId xmlns:a16="http://schemas.microsoft.com/office/drawing/2014/main" id="{5B0170F6-C3E4-36A4-5784-F86ECD0FFB25}"/>
              </a:ext>
            </a:extLst>
          </p:cNvPr>
          <p:cNvSpPr>
            <a:spLocks noChangeArrowheads="1"/>
          </p:cNvSpPr>
          <p:nvPr/>
        </p:nvSpPr>
        <p:spPr bwMode="auto">
          <a:xfrm>
            <a:off x="7986022" y="1266411"/>
            <a:ext cx="719803"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en-US" altLang="ja-JP" sz="1400" dirty="0">
                <a:solidFill>
                  <a:schemeClr val="tx1">
                    <a:lumMod val="75000"/>
                    <a:lumOff val="25000"/>
                  </a:schemeClr>
                </a:solidFill>
                <a:latin typeface="+mn-ea"/>
                <a:ea typeface="+mn-ea"/>
              </a:rPr>
              <a:t>0</a:t>
            </a:r>
          </a:p>
        </p:txBody>
      </p:sp>
      <p:sp>
        <p:nvSpPr>
          <p:cNvPr id="120" name="Rectangle 133">
            <a:extLst>
              <a:ext uri="{FF2B5EF4-FFF2-40B4-BE49-F238E27FC236}">
                <a16:creationId xmlns:a16="http://schemas.microsoft.com/office/drawing/2014/main" id="{8B7A76CA-C96D-E752-F19E-60C475884B1F}"/>
              </a:ext>
            </a:extLst>
          </p:cNvPr>
          <p:cNvSpPr>
            <a:spLocks noChangeArrowheads="1"/>
          </p:cNvSpPr>
          <p:nvPr/>
        </p:nvSpPr>
        <p:spPr bwMode="auto">
          <a:xfrm>
            <a:off x="9246036" y="1266411"/>
            <a:ext cx="719803"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en-US" altLang="ja-JP" sz="1400" dirty="0">
                <a:solidFill>
                  <a:schemeClr val="tx1">
                    <a:lumMod val="75000"/>
                    <a:lumOff val="25000"/>
                  </a:schemeClr>
                </a:solidFill>
                <a:latin typeface="+mn-ea"/>
                <a:ea typeface="+mn-ea"/>
              </a:rPr>
              <a:t>1</a:t>
            </a:r>
          </a:p>
        </p:txBody>
      </p:sp>
      <p:sp>
        <p:nvSpPr>
          <p:cNvPr id="121" name="Rectangle 133">
            <a:extLst>
              <a:ext uri="{FF2B5EF4-FFF2-40B4-BE49-F238E27FC236}">
                <a16:creationId xmlns:a16="http://schemas.microsoft.com/office/drawing/2014/main" id="{1D3966FA-25A0-9FB2-D0E8-7265B780B8A0}"/>
              </a:ext>
            </a:extLst>
          </p:cNvPr>
          <p:cNvSpPr>
            <a:spLocks noChangeArrowheads="1"/>
          </p:cNvSpPr>
          <p:nvPr/>
        </p:nvSpPr>
        <p:spPr bwMode="auto">
          <a:xfrm>
            <a:off x="6996011" y="4239010"/>
            <a:ext cx="719803"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en-US" altLang="ja-JP" sz="1800" dirty="0">
                <a:solidFill>
                  <a:schemeClr val="tx1">
                    <a:lumMod val="75000"/>
                    <a:lumOff val="25000"/>
                  </a:schemeClr>
                </a:solidFill>
                <a:latin typeface="+mn-ea"/>
                <a:ea typeface="+mn-ea"/>
              </a:rPr>
              <a:t>A</a:t>
            </a:r>
            <a:r>
              <a:rPr lang="ja-JP" altLang="en-US" sz="1800" dirty="0">
                <a:solidFill>
                  <a:schemeClr val="tx1">
                    <a:lumMod val="75000"/>
                    <a:lumOff val="25000"/>
                  </a:schemeClr>
                </a:solidFill>
                <a:latin typeface="+mn-ea"/>
                <a:ea typeface="+mn-ea"/>
              </a:rPr>
              <a:t>→</a:t>
            </a:r>
            <a:r>
              <a:rPr lang="en-US" altLang="ja-JP" sz="1800" dirty="0">
                <a:solidFill>
                  <a:schemeClr val="tx1">
                    <a:lumMod val="75000"/>
                    <a:lumOff val="25000"/>
                  </a:schemeClr>
                </a:solidFill>
                <a:latin typeface="+mn-ea"/>
                <a:ea typeface="+mn-ea"/>
              </a:rPr>
              <a:t>B</a:t>
            </a:r>
            <a:r>
              <a:rPr lang="ja-JP" altLang="en-US" sz="1800" dirty="0">
                <a:solidFill>
                  <a:schemeClr val="tx1">
                    <a:lumMod val="75000"/>
                    <a:lumOff val="25000"/>
                  </a:schemeClr>
                </a:solidFill>
                <a:latin typeface="+mn-ea"/>
                <a:ea typeface="+mn-ea"/>
              </a:rPr>
              <a:t>→</a:t>
            </a:r>
            <a:r>
              <a:rPr lang="en-US" altLang="ja-JP" sz="1800" dirty="0">
                <a:solidFill>
                  <a:schemeClr val="tx1">
                    <a:lumMod val="75000"/>
                    <a:lumOff val="25000"/>
                  </a:schemeClr>
                </a:solidFill>
                <a:latin typeface="+mn-ea"/>
                <a:ea typeface="+mn-ea"/>
              </a:rPr>
              <a:t>D</a:t>
            </a:r>
            <a:r>
              <a:rPr lang="ja-JP" altLang="en-US" sz="1800" dirty="0">
                <a:solidFill>
                  <a:schemeClr val="tx1">
                    <a:lumMod val="75000"/>
                    <a:lumOff val="25000"/>
                  </a:schemeClr>
                </a:solidFill>
                <a:latin typeface="+mn-ea"/>
                <a:ea typeface="+mn-ea"/>
              </a:rPr>
              <a:t>→</a:t>
            </a:r>
            <a:endParaRPr lang="en-US" altLang="ja-JP" sz="1800" dirty="0">
              <a:solidFill>
                <a:schemeClr val="tx1">
                  <a:lumMod val="75000"/>
                  <a:lumOff val="25000"/>
                </a:schemeClr>
              </a:solidFill>
              <a:latin typeface="+mn-ea"/>
              <a:ea typeface="+mn-ea"/>
            </a:endParaRPr>
          </a:p>
          <a:p>
            <a:pPr eaLnBrk="0" hangingPunct="0"/>
            <a:r>
              <a:rPr lang="en-US" altLang="ja-JP" sz="1800" dirty="0">
                <a:solidFill>
                  <a:schemeClr val="tx1">
                    <a:lumMod val="75000"/>
                    <a:lumOff val="25000"/>
                  </a:schemeClr>
                </a:solidFill>
                <a:latin typeface="+mn-ea"/>
                <a:ea typeface="+mn-ea"/>
              </a:rPr>
              <a:t>E</a:t>
            </a:r>
            <a:r>
              <a:rPr lang="ja-JP" altLang="en-US" sz="1800" dirty="0">
                <a:solidFill>
                  <a:schemeClr val="tx1">
                    <a:lumMod val="75000"/>
                    <a:lumOff val="25000"/>
                  </a:schemeClr>
                </a:solidFill>
                <a:latin typeface="+mn-ea"/>
                <a:ea typeface="+mn-ea"/>
              </a:rPr>
              <a:t>→</a:t>
            </a:r>
            <a:r>
              <a:rPr lang="en-US" altLang="ja-JP" sz="1800" dirty="0">
                <a:solidFill>
                  <a:schemeClr val="tx1">
                    <a:lumMod val="75000"/>
                    <a:lumOff val="25000"/>
                  </a:schemeClr>
                </a:solidFill>
                <a:latin typeface="+mn-ea"/>
                <a:ea typeface="+mn-ea"/>
              </a:rPr>
              <a:t>G </a:t>
            </a:r>
            <a:r>
              <a:rPr lang="ja-JP" altLang="en-US" sz="1800" dirty="0">
                <a:solidFill>
                  <a:schemeClr val="tx1">
                    <a:lumMod val="75000"/>
                    <a:lumOff val="25000"/>
                  </a:schemeClr>
                </a:solidFill>
                <a:latin typeface="+mn-ea"/>
                <a:ea typeface="+mn-ea"/>
              </a:rPr>
              <a:t>と</a:t>
            </a:r>
            <a:endParaRPr lang="en-US" altLang="ja-JP" sz="1800" dirty="0">
              <a:solidFill>
                <a:schemeClr val="tx1">
                  <a:lumMod val="75000"/>
                  <a:lumOff val="25000"/>
                </a:schemeClr>
              </a:solidFill>
              <a:latin typeface="+mn-ea"/>
              <a:ea typeface="+mn-ea"/>
            </a:endParaRPr>
          </a:p>
          <a:p>
            <a:pPr eaLnBrk="0" hangingPunct="0"/>
            <a:r>
              <a:rPr lang="ja-JP" altLang="en-US" sz="1800" dirty="0">
                <a:solidFill>
                  <a:schemeClr val="tx1">
                    <a:lumMod val="75000"/>
                    <a:lumOff val="25000"/>
                  </a:schemeClr>
                </a:solidFill>
                <a:latin typeface="+mn-ea"/>
                <a:ea typeface="+mn-ea"/>
              </a:rPr>
              <a:t>来た時は左に</a:t>
            </a:r>
            <a:endParaRPr lang="en-US" altLang="ja-JP" sz="1800" dirty="0">
              <a:solidFill>
                <a:schemeClr val="tx1">
                  <a:lumMod val="75000"/>
                  <a:lumOff val="25000"/>
                </a:schemeClr>
              </a:solidFill>
              <a:latin typeface="+mn-ea"/>
              <a:ea typeface="+mn-ea"/>
            </a:endParaRPr>
          </a:p>
        </p:txBody>
      </p:sp>
      <p:sp>
        <p:nvSpPr>
          <p:cNvPr id="122" name="円/楕円 47">
            <a:extLst>
              <a:ext uri="{FF2B5EF4-FFF2-40B4-BE49-F238E27FC236}">
                <a16:creationId xmlns:a16="http://schemas.microsoft.com/office/drawing/2014/main" id="{A2988893-27A4-4CAF-B69B-6D71B713C32C}"/>
              </a:ext>
            </a:extLst>
          </p:cNvPr>
          <p:cNvSpPr/>
          <p:nvPr/>
        </p:nvSpPr>
        <p:spPr bwMode="auto">
          <a:xfrm>
            <a:off x="8436026" y="996407"/>
            <a:ext cx="720008" cy="540006"/>
          </a:xfrm>
          <a:prstGeom prst="ellips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a:t>
            </a:r>
          </a:p>
        </p:txBody>
      </p:sp>
      <p:sp>
        <p:nvSpPr>
          <p:cNvPr id="123" name="円/楕円 70">
            <a:extLst>
              <a:ext uri="{FF2B5EF4-FFF2-40B4-BE49-F238E27FC236}">
                <a16:creationId xmlns:a16="http://schemas.microsoft.com/office/drawing/2014/main" id="{8AAA20B7-F698-A083-923C-A68F03366EB2}"/>
              </a:ext>
            </a:extLst>
          </p:cNvPr>
          <p:cNvSpPr/>
          <p:nvPr/>
        </p:nvSpPr>
        <p:spPr bwMode="auto">
          <a:xfrm>
            <a:off x="8436026" y="2436423"/>
            <a:ext cx="720008" cy="540006"/>
          </a:xfrm>
          <a:prstGeom prst="ellips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D</a:t>
            </a:r>
            <a:endParaRPr lang="ja-JP" altLang="en-US" dirty="0">
              <a:solidFill>
                <a:schemeClr val="tx1">
                  <a:lumMod val="75000"/>
                  <a:lumOff val="25000"/>
                </a:schemeClr>
              </a:solidFill>
              <a:latin typeface="+mn-ea"/>
            </a:endParaRPr>
          </a:p>
        </p:txBody>
      </p:sp>
      <p:sp>
        <p:nvSpPr>
          <p:cNvPr id="124" name="円/楕円 12">
            <a:extLst>
              <a:ext uri="{FF2B5EF4-FFF2-40B4-BE49-F238E27FC236}">
                <a16:creationId xmlns:a16="http://schemas.microsoft.com/office/drawing/2014/main" id="{F7DD6457-D193-D87C-2FE9-A2607C2937E1}"/>
              </a:ext>
            </a:extLst>
          </p:cNvPr>
          <p:cNvSpPr/>
          <p:nvPr/>
        </p:nvSpPr>
        <p:spPr bwMode="auto">
          <a:xfrm>
            <a:off x="9516038" y="4146442"/>
            <a:ext cx="720008" cy="540006"/>
          </a:xfrm>
          <a:prstGeom prst="ellipse">
            <a:avLst/>
          </a:prstGeom>
          <a:ln>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F</a:t>
            </a:r>
            <a:endParaRPr lang="ja-JP" altLang="en-US" dirty="0">
              <a:solidFill>
                <a:schemeClr val="tx1">
                  <a:lumMod val="75000"/>
                  <a:lumOff val="25000"/>
                </a:schemeClr>
              </a:solidFill>
              <a:latin typeface="+mn-ea"/>
            </a:endParaRPr>
          </a:p>
        </p:txBody>
      </p:sp>
      <p:cxnSp>
        <p:nvCxnSpPr>
          <p:cNvPr id="125" name="直線矢印コネクタ 124">
            <a:extLst>
              <a:ext uri="{FF2B5EF4-FFF2-40B4-BE49-F238E27FC236}">
                <a16:creationId xmlns:a16="http://schemas.microsoft.com/office/drawing/2014/main" id="{E2C2BCD5-1F26-FD3B-1116-ECD6B7B0102D}"/>
              </a:ext>
            </a:extLst>
          </p:cNvPr>
          <p:cNvCxnSpPr>
            <a:cxnSpLocks/>
            <a:stCxn id="124" idx="3"/>
            <a:endCxn id="130" idx="7"/>
          </p:cNvCxnSpPr>
          <p:nvPr/>
        </p:nvCxnSpPr>
        <p:spPr bwMode="auto">
          <a:xfrm flipH="1">
            <a:off x="9050591" y="4607366"/>
            <a:ext cx="570890" cy="338166"/>
          </a:xfrm>
          <a:prstGeom prst="straightConnector1">
            <a:avLst/>
          </a:prstGeom>
          <a:ln>
            <a:headEnd type="none" w="med" len="med"/>
            <a:tailEnd type="triangle"/>
          </a:ln>
        </p:spPr>
        <p:style>
          <a:lnRef idx="2">
            <a:schemeClr val="dk1"/>
          </a:lnRef>
          <a:fillRef idx="0">
            <a:schemeClr val="dk1"/>
          </a:fillRef>
          <a:effectRef idx="1">
            <a:schemeClr val="dk1"/>
          </a:effectRef>
          <a:fontRef idx="minor">
            <a:schemeClr val="tx1"/>
          </a:fontRef>
        </p:style>
      </p:cxnSp>
      <p:cxnSp>
        <p:nvCxnSpPr>
          <p:cNvPr id="126" name="直線矢印コネクタ 125">
            <a:extLst>
              <a:ext uri="{FF2B5EF4-FFF2-40B4-BE49-F238E27FC236}">
                <a16:creationId xmlns:a16="http://schemas.microsoft.com/office/drawing/2014/main" id="{D57F9708-2E22-6277-029C-E6B0563E9034}"/>
              </a:ext>
            </a:extLst>
          </p:cNvPr>
          <p:cNvCxnSpPr>
            <a:cxnSpLocks/>
            <a:endCxn id="124" idx="1"/>
          </p:cNvCxnSpPr>
          <p:nvPr/>
        </p:nvCxnSpPr>
        <p:spPr bwMode="auto">
          <a:xfrm>
            <a:off x="9066033" y="3876440"/>
            <a:ext cx="555448" cy="349085"/>
          </a:xfrm>
          <a:prstGeom prst="straightConnector1">
            <a:avLst/>
          </a:prstGeom>
          <a:ln>
            <a:headEnd type="none" w="med" len="med"/>
            <a:tailEnd type="triangle"/>
          </a:ln>
        </p:spPr>
        <p:style>
          <a:lnRef idx="2">
            <a:schemeClr val="dk1"/>
          </a:lnRef>
          <a:fillRef idx="0">
            <a:schemeClr val="dk1"/>
          </a:fillRef>
          <a:effectRef idx="1">
            <a:schemeClr val="dk1"/>
          </a:effectRef>
          <a:fontRef idx="minor">
            <a:schemeClr val="tx1"/>
          </a:fontRef>
        </p:style>
      </p:cxnSp>
      <p:cxnSp>
        <p:nvCxnSpPr>
          <p:cNvPr id="127" name="直線矢印コネクタ 126">
            <a:extLst>
              <a:ext uri="{FF2B5EF4-FFF2-40B4-BE49-F238E27FC236}">
                <a16:creationId xmlns:a16="http://schemas.microsoft.com/office/drawing/2014/main" id="{FE62BFF0-89AF-A464-89CF-F1267F2D4FA1}"/>
              </a:ext>
            </a:extLst>
          </p:cNvPr>
          <p:cNvCxnSpPr>
            <a:cxnSpLocks/>
            <a:stCxn id="129" idx="4"/>
            <a:endCxn id="130" idx="0"/>
          </p:cNvCxnSpPr>
          <p:nvPr/>
        </p:nvCxnSpPr>
        <p:spPr bwMode="auto">
          <a:xfrm>
            <a:off x="8796030" y="3966440"/>
            <a:ext cx="0" cy="900010"/>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sp>
        <p:nvSpPr>
          <p:cNvPr id="128" name="Rectangle 133">
            <a:extLst>
              <a:ext uri="{FF2B5EF4-FFF2-40B4-BE49-F238E27FC236}">
                <a16:creationId xmlns:a16="http://schemas.microsoft.com/office/drawing/2014/main" id="{7FF309D4-367A-09CF-A70E-924AD20A0430}"/>
              </a:ext>
            </a:extLst>
          </p:cNvPr>
          <p:cNvSpPr>
            <a:spLocks noChangeArrowheads="1"/>
          </p:cNvSpPr>
          <p:nvPr/>
        </p:nvSpPr>
        <p:spPr bwMode="auto">
          <a:xfrm>
            <a:off x="9246036" y="3696438"/>
            <a:ext cx="719803"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en-US" altLang="ja-JP" sz="1400" dirty="0">
                <a:solidFill>
                  <a:schemeClr val="tx1">
                    <a:lumMod val="75000"/>
                    <a:lumOff val="25000"/>
                  </a:schemeClr>
                </a:solidFill>
                <a:latin typeface="+mn-ea"/>
                <a:ea typeface="+mn-ea"/>
              </a:rPr>
              <a:t>1</a:t>
            </a:r>
          </a:p>
        </p:txBody>
      </p:sp>
      <p:sp>
        <p:nvSpPr>
          <p:cNvPr id="129" name="円/楕円 47">
            <a:extLst>
              <a:ext uri="{FF2B5EF4-FFF2-40B4-BE49-F238E27FC236}">
                <a16:creationId xmlns:a16="http://schemas.microsoft.com/office/drawing/2014/main" id="{E3E052A2-D069-1F32-CF5D-31B6C50F2F9F}"/>
              </a:ext>
            </a:extLst>
          </p:cNvPr>
          <p:cNvSpPr/>
          <p:nvPr/>
        </p:nvSpPr>
        <p:spPr bwMode="auto">
          <a:xfrm>
            <a:off x="8436026" y="3426434"/>
            <a:ext cx="720008" cy="540006"/>
          </a:xfrm>
          <a:prstGeom prst="ellips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E</a:t>
            </a:r>
          </a:p>
        </p:txBody>
      </p:sp>
      <p:sp>
        <p:nvSpPr>
          <p:cNvPr id="130" name="円/楕円 70">
            <a:extLst>
              <a:ext uri="{FF2B5EF4-FFF2-40B4-BE49-F238E27FC236}">
                <a16:creationId xmlns:a16="http://schemas.microsoft.com/office/drawing/2014/main" id="{4B9D6219-E64B-8BC7-1B23-1221872E2306}"/>
              </a:ext>
            </a:extLst>
          </p:cNvPr>
          <p:cNvSpPr/>
          <p:nvPr/>
        </p:nvSpPr>
        <p:spPr bwMode="auto">
          <a:xfrm>
            <a:off x="8436026" y="4866450"/>
            <a:ext cx="720008" cy="540006"/>
          </a:xfrm>
          <a:prstGeom prst="ellipse">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G</a:t>
            </a:r>
            <a:endParaRPr lang="ja-JP" altLang="en-US" dirty="0">
              <a:solidFill>
                <a:schemeClr val="tx1">
                  <a:lumMod val="75000"/>
                  <a:lumOff val="25000"/>
                </a:schemeClr>
              </a:solidFill>
              <a:latin typeface="+mn-ea"/>
            </a:endParaRPr>
          </a:p>
        </p:txBody>
      </p:sp>
      <p:cxnSp>
        <p:nvCxnSpPr>
          <p:cNvPr id="131" name="直線矢印コネクタ 130">
            <a:extLst>
              <a:ext uri="{FF2B5EF4-FFF2-40B4-BE49-F238E27FC236}">
                <a16:creationId xmlns:a16="http://schemas.microsoft.com/office/drawing/2014/main" id="{6CE1D09F-6AE1-95CA-6D2A-2BA8E0D738DA}"/>
              </a:ext>
            </a:extLst>
          </p:cNvPr>
          <p:cNvCxnSpPr>
            <a:cxnSpLocks/>
            <a:endCxn id="129" idx="0"/>
          </p:cNvCxnSpPr>
          <p:nvPr/>
        </p:nvCxnSpPr>
        <p:spPr bwMode="auto">
          <a:xfrm>
            <a:off x="8796030" y="2976430"/>
            <a:ext cx="0" cy="450005"/>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cxnSp>
        <p:nvCxnSpPr>
          <p:cNvPr id="132" name="直線矢印コネクタ 131">
            <a:extLst>
              <a:ext uri="{FF2B5EF4-FFF2-40B4-BE49-F238E27FC236}">
                <a16:creationId xmlns:a16="http://schemas.microsoft.com/office/drawing/2014/main" id="{F5B35CA8-9AA6-A63A-1C0E-2AB314084A4A}"/>
              </a:ext>
            </a:extLst>
          </p:cNvPr>
          <p:cNvCxnSpPr>
            <a:cxnSpLocks/>
          </p:cNvCxnSpPr>
          <p:nvPr/>
        </p:nvCxnSpPr>
        <p:spPr bwMode="auto">
          <a:xfrm>
            <a:off x="9066033" y="5316456"/>
            <a:ext cx="555448" cy="349085"/>
          </a:xfrm>
          <a:prstGeom prst="straightConnector1">
            <a:avLst/>
          </a:prstGeom>
          <a:ln>
            <a:headEnd type="none" w="med" len="med"/>
            <a:tailEnd type="triangle"/>
          </a:ln>
        </p:spPr>
        <p:style>
          <a:lnRef idx="2">
            <a:schemeClr val="dk1"/>
          </a:lnRef>
          <a:fillRef idx="0">
            <a:schemeClr val="dk1"/>
          </a:fillRef>
          <a:effectRef idx="1">
            <a:schemeClr val="dk1"/>
          </a:effectRef>
          <a:fontRef idx="minor">
            <a:schemeClr val="tx1"/>
          </a:fontRef>
        </p:style>
      </p:cxnSp>
      <p:cxnSp>
        <p:nvCxnSpPr>
          <p:cNvPr id="133" name="直線矢印コネクタ 132">
            <a:extLst>
              <a:ext uri="{FF2B5EF4-FFF2-40B4-BE49-F238E27FC236}">
                <a16:creationId xmlns:a16="http://schemas.microsoft.com/office/drawing/2014/main" id="{B7021CE8-6032-95B6-143F-6A2870018039}"/>
              </a:ext>
            </a:extLst>
          </p:cNvPr>
          <p:cNvCxnSpPr>
            <a:cxnSpLocks/>
          </p:cNvCxnSpPr>
          <p:nvPr/>
        </p:nvCxnSpPr>
        <p:spPr bwMode="auto">
          <a:xfrm flipH="1">
            <a:off x="7970579" y="5327374"/>
            <a:ext cx="570890" cy="340356"/>
          </a:xfrm>
          <a:prstGeom prst="straightConnector1">
            <a:avLst/>
          </a:prstGeom>
          <a:ln>
            <a:headEnd type="none" w="med" len="med"/>
            <a:tailEnd type="triangle"/>
          </a:ln>
        </p:spPr>
        <p:style>
          <a:lnRef idx="2">
            <a:schemeClr val="accent6"/>
          </a:lnRef>
          <a:fillRef idx="0">
            <a:schemeClr val="accent6"/>
          </a:fillRef>
          <a:effectRef idx="1">
            <a:schemeClr val="accent6"/>
          </a:effectRef>
          <a:fontRef idx="minor">
            <a:schemeClr val="tx1"/>
          </a:fontRef>
        </p:style>
      </p:cxnSp>
      <p:sp>
        <p:nvSpPr>
          <p:cNvPr id="134" name="Rectangle 133">
            <a:extLst>
              <a:ext uri="{FF2B5EF4-FFF2-40B4-BE49-F238E27FC236}">
                <a16:creationId xmlns:a16="http://schemas.microsoft.com/office/drawing/2014/main" id="{5B61A80B-7DBA-2F2A-C87F-2CCE2E05A3DF}"/>
              </a:ext>
            </a:extLst>
          </p:cNvPr>
          <p:cNvSpPr>
            <a:spLocks noChangeArrowheads="1"/>
          </p:cNvSpPr>
          <p:nvPr/>
        </p:nvSpPr>
        <p:spPr bwMode="auto">
          <a:xfrm>
            <a:off x="8436027" y="3966441"/>
            <a:ext cx="719803"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en-US" altLang="ja-JP" sz="1400" dirty="0">
                <a:solidFill>
                  <a:schemeClr val="tx1">
                    <a:lumMod val="75000"/>
                    <a:lumOff val="25000"/>
                  </a:schemeClr>
                </a:solidFill>
                <a:latin typeface="+mn-ea"/>
                <a:ea typeface="+mn-ea"/>
              </a:rPr>
              <a:t>0</a:t>
            </a:r>
          </a:p>
        </p:txBody>
      </p:sp>
      <p:sp>
        <p:nvSpPr>
          <p:cNvPr id="135" name="正方形/長方形 134">
            <a:extLst>
              <a:ext uri="{FF2B5EF4-FFF2-40B4-BE49-F238E27FC236}">
                <a16:creationId xmlns:a16="http://schemas.microsoft.com/office/drawing/2014/main" id="{72D69FD9-38D5-DB33-27A8-4F45B122251B}"/>
              </a:ext>
            </a:extLst>
          </p:cNvPr>
          <p:cNvSpPr/>
          <p:nvPr/>
        </p:nvSpPr>
        <p:spPr>
          <a:xfrm>
            <a:off x="1865954" y="1628981"/>
            <a:ext cx="1710019" cy="3693319"/>
          </a:xfrm>
          <a:prstGeom prst="rect">
            <a:avLst/>
          </a:prstGeom>
        </p:spPr>
        <p:txBody>
          <a:bodyPr wrap="square">
            <a:spAutoFit/>
          </a:bodyPr>
          <a:lstStyle/>
          <a:p>
            <a:r>
              <a:rPr lang="en-US" altLang="ja-JP" dirty="0">
                <a:solidFill>
                  <a:schemeClr val="accent1"/>
                </a:solidFill>
                <a:latin typeface="Consolas" panose="020B0609020204030204" pitchFamily="49" charset="0"/>
              </a:rPr>
              <a:t>if</a:t>
            </a:r>
            <a:r>
              <a:rPr lang="en-US" altLang="ja-JP" dirty="0">
                <a:solidFill>
                  <a:schemeClr val="tx1">
                    <a:lumMod val="75000"/>
                    <a:lumOff val="25000"/>
                  </a:schemeClr>
                </a:solidFill>
                <a:latin typeface="Consolas" panose="020B0609020204030204" pitchFamily="49" charset="0"/>
              </a:rPr>
              <a:t> (A) {</a:t>
            </a:r>
          </a:p>
          <a:p>
            <a:r>
              <a:rPr lang="en-US" altLang="ja-JP" dirty="0">
                <a:solidFill>
                  <a:schemeClr val="tx1">
                    <a:lumMod val="75000"/>
                    <a:lumOff val="25000"/>
                  </a:schemeClr>
                </a:solidFill>
                <a:latin typeface="Consolas" panose="020B0609020204030204" pitchFamily="49" charset="0"/>
              </a:rPr>
              <a:t>    B...</a:t>
            </a:r>
          </a:p>
          <a:p>
            <a:r>
              <a:rPr lang="en-US" altLang="ja-JP" dirty="0">
                <a:solidFill>
                  <a:schemeClr val="tx1">
                    <a:lumMod val="75000"/>
                    <a:lumOff val="25000"/>
                  </a:schemeClr>
                </a:solidFill>
                <a:latin typeface="Consolas" panose="020B0609020204030204" pitchFamily="49" charset="0"/>
              </a:rPr>
              <a:t>}</a:t>
            </a:r>
          </a:p>
          <a:p>
            <a:r>
              <a:rPr lang="en-US" altLang="ja-JP" dirty="0">
                <a:solidFill>
                  <a:schemeClr val="accent1"/>
                </a:solidFill>
                <a:latin typeface="Consolas" panose="020B0609020204030204" pitchFamily="49" charset="0"/>
              </a:rPr>
              <a:t>else</a:t>
            </a:r>
            <a:r>
              <a:rPr lang="en-US" altLang="ja-JP" dirty="0">
                <a:solidFill>
                  <a:schemeClr val="tx1">
                    <a:lumMod val="75000"/>
                    <a:lumOff val="25000"/>
                  </a:schemeClr>
                </a:solidFill>
                <a:latin typeface="Consolas" panose="020B0609020204030204" pitchFamily="49" charset="0"/>
              </a:rPr>
              <a:t>{</a:t>
            </a:r>
          </a:p>
          <a:p>
            <a:r>
              <a:rPr lang="en-US" altLang="ja-JP" dirty="0">
                <a:solidFill>
                  <a:schemeClr val="tx1">
                    <a:lumMod val="75000"/>
                    <a:lumOff val="25000"/>
                  </a:schemeClr>
                </a:solidFill>
                <a:latin typeface="Consolas" panose="020B0609020204030204" pitchFamily="49" charset="0"/>
              </a:rPr>
              <a:t>    C...</a:t>
            </a:r>
          </a:p>
          <a:p>
            <a:r>
              <a:rPr lang="en-US" altLang="ja-JP" dirty="0">
                <a:solidFill>
                  <a:schemeClr val="tx1">
                    <a:lumMod val="75000"/>
                    <a:lumOff val="25000"/>
                  </a:schemeClr>
                </a:solidFill>
                <a:latin typeface="Consolas" panose="020B0609020204030204" pitchFamily="49" charset="0"/>
              </a:rPr>
              <a:t>}</a:t>
            </a:r>
          </a:p>
          <a:p>
            <a:r>
              <a:rPr lang="en-US" altLang="ja-JP" dirty="0">
                <a:solidFill>
                  <a:schemeClr val="tx1">
                    <a:lumMod val="75000"/>
                    <a:lumOff val="25000"/>
                  </a:schemeClr>
                </a:solidFill>
                <a:latin typeface="Consolas" panose="020B0609020204030204" pitchFamily="49" charset="0"/>
              </a:rPr>
              <a:t>D...</a:t>
            </a:r>
          </a:p>
          <a:p>
            <a:r>
              <a:rPr lang="en-US" altLang="ja-JP" dirty="0">
                <a:solidFill>
                  <a:schemeClr val="accent1"/>
                </a:solidFill>
                <a:latin typeface="Consolas" panose="020B0609020204030204" pitchFamily="49" charset="0"/>
              </a:rPr>
              <a:t>if</a:t>
            </a:r>
            <a:r>
              <a:rPr lang="en-US" altLang="ja-JP" dirty="0">
                <a:solidFill>
                  <a:schemeClr val="tx1">
                    <a:lumMod val="75000"/>
                    <a:lumOff val="25000"/>
                  </a:schemeClr>
                </a:solidFill>
                <a:latin typeface="Consolas" panose="020B0609020204030204" pitchFamily="49" charset="0"/>
              </a:rPr>
              <a:t> (E) {</a:t>
            </a:r>
          </a:p>
          <a:p>
            <a:r>
              <a:rPr lang="en-US" altLang="ja-JP" dirty="0">
                <a:solidFill>
                  <a:schemeClr val="tx1">
                    <a:lumMod val="75000"/>
                    <a:lumOff val="25000"/>
                  </a:schemeClr>
                </a:solidFill>
                <a:latin typeface="Consolas" panose="020B0609020204030204" pitchFamily="49" charset="0"/>
              </a:rPr>
              <a:t>    F...</a:t>
            </a:r>
            <a:br>
              <a:rPr lang="en-US" altLang="ja-JP" dirty="0">
                <a:solidFill>
                  <a:schemeClr val="tx1">
                    <a:lumMod val="75000"/>
                    <a:lumOff val="25000"/>
                  </a:schemeClr>
                </a:solidFill>
                <a:latin typeface="Consolas" panose="020B0609020204030204" pitchFamily="49" charset="0"/>
              </a:rPr>
            </a:br>
            <a:r>
              <a:rPr lang="en-US" altLang="ja-JP" dirty="0">
                <a:solidFill>
                  <a:schemeClr val="tx1">
                    <a:lumMod val="75000"/>
                    <a:lumOff val="25000"/>
                  </a:schemeClr>
                </a:solidFill>
                <a:latin typeface="Consolas" panose="020B0609020204030204" pitchFamily="49" charset="0"/>
              </a:rPr>
              <a:t>}</a:t>
            </a:r>
          </a:p>
          <a:p>
            <a:r>
              <a:rPr lang="en-US" altLang="ja-JP" dirty="0">
                <a:solidFill>
                  <a:schemeClr val="accent6"/>
                </a:solidFill>
                <a:latin typeface="Consolas" panose="020B0609020204030204" pitchFamily="49" charset="0"/>
              </a:rPr>
              <a:t>if (G) {</a:t>
            </a:r>
          </a:p>
          <a:p>
            <a:endParaRPr lang="en-US" altLang="ja-JP" dirty="0">
              <a:solidFill>
                <a:schemeClr val="tx1">
                  <a:lumMod val="75000"/>
                  <a:lumOff val="25000"/>
                </a:schemeClr>
              </a:solidFill>
              <a:latin typeface="Consolas" panose="020B0609020204030204" pitchFamily="49" charset="0"/>
            </a:endParaRPr>
          </a:p>
          <a:p>
            <a:endParaRPr lang="en-US" altLang="ja-JP" dirty="0">
              <a:solidFill>
                <a:schemeClr val="tx1">
                  <a:lumMod val="75000"/>
                  <a:lumOff val="25000"/>
                </a:schemeClr>
              </a:solidFill>
              <a:latin typeface="Consolas" panose="020B0609020204030204" pitchFamily="49" charset="0"/>
            </a:endParaRPr>
          </a:p>
        </p:txBody>
      </p:sp>
    </p:spTree>
    <p:extLst>
      <p:ext uri="{BB962C8B-B14F-4D97-AF65-F5344CB8AC3E}">
        <p14:creationId xmlns:p14="http://schemas.microsoft.com/office/powerpoint/2010/main" val="26461450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ローカル履歴予測器とグローバル履歴予測器</a:t>
            </a:r>
            <a:endParaRPr kumimoji="1" lang="ja-JP" altLang="en-US" dirty="0"/>
          </a:p>
        </p:txBody>
      </p:sp>
      <p:sp>
        <p:nvSpPr>
          <p:cNvPr id="3" name="テキスト プレースホルダー 2"/>
          <p:cNvSpPr>
            <a:spLocks noGrp="1"/>
          </p:cNvSpPr>
          <p:nvPr>
            <p:ph type="body" sz="quarter" idx="10"/>
          </p:nvPr>
        </p:nvSpPr>
        <p:spPr>
          <a:xfrm>
            <a:off x="1775953" y="2168986"/>
            <a:ext cx="8550095" cy="2429720"/>
          </a:xfrm>
        </p:spPr>
        <p:txBody>
          <a:bodyPr/>
          <a:lstStyle/>
          <a:p>
            <a:r>
              <a:rPr kumimoji="1" lang="ja-JP" altLang="en-US" dirty="0"/>
              <a:t>ローカル履歴予測器</a:t>
            </a:r>
            <a:endParaRPr kumimoji="1" lang="en-US" altLang="ja-JP" dirty="0"/>
          </a:p>
          <a:p>
            <a:pPr lvl="1"/>
            <a:r>
              <a:rPr kumimoji="1" lang="ja-JP" altLang="en-US" dirty="0"/>
              <a:t>各静的分岐のアドレスごと（</a:t>
            </a:r>
            <a:r>
              <a:rPr kumimoji="1" lang="ja-JP" altLang="en-US" dirty="0">
                <a:solidFill>
                  <a:schemeClr val="accent5"/>
                </a:solidFill>
              </a:rPr>
              <a:t>ローカル</a:t>
            </a:r>
            <a:r>
              <a:rPr kumimoji="1" lang="ja-JP" altLang="en-US" dirty="0"/>
              <a:t>）に，分岐方向の履歴を保持</a:t>
            </a:r>
            <a:endParaRPr kumimoji="1" lang="en-US" altLang="ja-JP" dirty="0"/>
          </a:p>
          <a:p>
            <a:r>
              <a:rPr kumimoji="1" lang="ja-JP" altLang="en-US" dirty="0"/>
              <a:t>グローバル履歴予測器</a:t>
            </a:r>
            <a:endParaRPr kumimoji="1" lang="en-US" altLang="ja-JP" dirty="0"/>
          </a:p>
          <a:p>
            <a:pPr lvl="1"/>
            <a:r>
              <a:rPr lang="ja-JP" altLang="en-US" dirty="0"/>
              <a:t>各静的分岐</a:t>
            </a:r>
            <a:r>
              <a:rPr kumimoji="1" lang="ja-JP" altLang="en-US" dirty="0"/>
              <a:t>を区別せず（</a:t>
            </a:r>
            <a:r>
              <a:rPr kumimoji="1" lang="ja-JP" altLang="en-US" dirty="0">
                <a:solidFill>
                  <a:schemeClr val="accent5"/>
                </a:solidFill>
              </a:rPr>
              <a:t>グローバル</a:t>
            </a:r>
            <a:r>
              <a:rPr kumimoji="1" lang="ja-JP" altLang="en-US" dirty="0"/>
              <a:t>）に</a:t>
            </a:r>
            <a:r>
              <a:rPr lang="ja-JP" altLang="en-US" dirty="0"/>
              <a:t>，分岐方向の履歴を保持</a:t>
            </a:r>
            <a:endParaRPr lang="en-US" altLang="ja-JP" dirty="0"/>
          </a:p>
          <a:p>
            <a:pPr lvl="1"/>
            <a:r>
              <a:rPr kumimoji="1" lang="ja-JP" altLang="en-US" dirty="0"/>
              <a:t>直前に実行した分岐の方向をどんどん保存していく</a:t>
            </a:r>
            <a:endParaRPr kumimoji="1" lang="en-US" altLang="ja-JP" dirty="0"/>
          </a:p>
          <a:p>
            <a:pPr lvl="1"/>
            <a:r>
              <a:rPr kumimoji="1" lang="ja-JP" altLang="en-US" dirty="0"/>
              <a:t>あとはローカル履歴予測器と同じ</a:t>
            </a:r>
            <a:endParaRPr kumimoji="1" lang="en-US" altLang="ja-JP" dirty="0"/>
          </a:p>
        </p:txBody>
      </p:sp>
    </p:spTree>
    <p:extLst>
      <p:ext uri="{BB962C8B-B14F-4D97-AF65-F5344CB8AC3E}">
        <p14:creationId xmlns:p14="http://schemas.microsoft.com/office/powerpoint/2010/main" val="34545927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ローカル履歴予測器とグローバル履歴予測</a:t>
            </a:r>
            <a:r>
              <a:rPr lang="ja-JP" altLang="en-US" dirty="0"/>
              <a:t>器</a:t>
            </a:r>
            <a:endParaRPr kumimoji="1" lang="ja-JP" altLang="en-US" dirty="0"/>
          </a:p>
        </p:txBody>
      </p:sp>
      <p:sp>
        <p:nvSpPr>
          <p:cNvPr id="16" name="テキスト プレースホルダー 15"/>
          <p:cNvSpPr>
            <a:spLocks noGrp="1"/>
          </p:cNvSpPr>
          <p:nvPr>
            <p:ph type="body" sz="quarter" idx="10"/>
          </p:nvPr>
        </p:nvSpPr>
        <p:spPr>
          <a:xfrm>
            <a:off x="2045955" y="6399034"/>
            <a:ext cx="8280092" cy="359697"/>
          </a:xfrm>
        </p:spPr>
        <p:txBody>
          <a:bodyPr/>
          <a:lstStyle/>
          <a:p>
            <a:r>
              <a:rPr lang="ja-JP" altLang="en-US" dirty="0"/>
              <a:t>１エントリのローカル履歴表を全員で共有しているイメージ</a:t>
            </a:r>
            <a:endParaRPr kumimoji="1" lang="ja-JP" altLang="en-US" dirty="0"/>
          </a:p>
        </p:txBody>
      </p:sp>
      <p:sp>
        <p:nvSpPr>
          <p:cNvPr id="5" name="Rectangle 128"/>
          <p:cNvSpPr>
            <a:spLocks noChangeArrowheads="1"/>
          </p:cNvSpPr>
          <p:nvPr/>
        </p:nvSpPr>
        <p:spPr bwMode="auto">
          <a:xfrm>
            <a:off x="1865605" y="910560"/>
            <a:ext cx="540006" cy="314325"/>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eaLnBrk="0" hangingPunct="0"/>
            <a:r>
              <a:rPr lang="en-US" altLang="ja-JP" dirty="0">
                <a:solidFill>
                  <a:schemeClr val="tx1">
                    <a:lumMod val="75000"/>
                    <a:lumOff val="25000"/>
                  </a:schemeClr>
                </a:solidFill>
                <a:latin typeface="+mn-ea"/>
                <a:ea typeface="+mn-ea"/>
              </a:rPr>
              <a:t>PC</a:t>
            </a:r>
          </a:p>
        </p:txBody>
      </p:sp>
      <p:sp>
        <p:nvSpPr>
          <p:cNvPr id="6" name="Rectangle 13"/>
          <p:cNvSpPr>
            <a:spLocks noChangeArrowheads="1"/>
          </p:cNvSpPr>
          <p:nvPr/>
        </p:nvSpPr>
        <p:spPr bwMode="auto">
          <a:xfrm>
            <a:off x="1775953" y="1268976"/>
            <a:ext cx="720725" cy="360362"/>
          </a:xfrm>
          <a:prstGeom prst="rect">
            <a:avLst/>
          </a:prstGeom>
          <a:ln>
            <a:headEnd/>
            <a:tailEnd/>
          </a:ln>
        </p:spPr>
        <p:style>
          <a:lnRef idx="1">
            <a:schemeClr val="dk1"/>
          </a:lnRef>
          <a:fillRef idx="2">
            <a:schemeClr val="dk1"/>
          </a:fillRef>
          <a:effectRef idx="1">
            <a:schemeClr val="dk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b="1" dirty="0">
              <a:solidFill>
                <a:schemeClr val="accent3">
                  <a:lumMod val="75000"/>
                </a:schemeClr>
              </a:solidFill>
              <a:latin typeface="MeiryoKe_PGothic" pitchFamily="50" charset="-128"/>
              <a:ea typeface="MeiryoKe_PGothic" pitchFamily="50" charset="-128"/>
            </a:endParaRPr>
          </a:p>
        </p:txBody>
      </p:sp>
      <p:sp>
        <p:nvSpPr>
          <p:cNvPr id="7" name="Freeform 10"/>
          <p:cNvSpPr>
            <a:spLocks/>
          </p:cNvSpPr>
          <p:nvPr/>
        </p:nvSpPr>
        <p:spPr bwMode="auto">
          <a:xfrm rot="16200000" flipV="1">
            <a:off x="1505948" y="2348988"/>
            <a:ext cx="2340026"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triangle" w="lg" len="lg"/>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a:latin typeface="Arial Narrow" pitchFamily="34" charset="0"/>
              <a:cs typeface="Times New Roman" pitchFamily="18" charset="0"/>
            </a:endParaRPr>
          </a:p>
        </p:txBody>
      </p:sp>
      <p:sp>
        <p:nvSpPr>
          <p:cNvPr id="8" name="Rectangle 154"/>
          <p:cNvSpPr>
            <a:spLocks noChangeArrowheads="1"/>
          </p:cNvSpPr>
          <p:nvPr/>
        </p:nvSpPr>
        <p:spPr bwMode="auto">
          <a:xfrm>
            <a:off x="3305970" y="2348988"/>
            <a:ext cx="718369" cy="2608442"/>
          </a:xfrm>
          <a:prstGeom prst="rect">
            <a:avLst/>
          </a:prstGeom>
          <a:ln>
            <a:solidFill>
              <a:schemeClr val="tx1">
                <a:lumMod val="75000"/>
                <a:lumOff val="25000"/>
              </a:schemeClr>
            </a:solidFill>
            <a:headEnd/>
            <a:tailEnd/>
          </a:ln>
        </p:spPr>
        <p:style>
          <a:lnRef idx="2">
            <a:schemeClr val="dk1"/>
          </a:lnRef>
          <a:fillRef idx="1">
            <a:schemeClr val="lt1"/>
          </a:fillRef>
          <a:effectRef idx="0">
            <a:schemeClr val="dk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MeiryoKe_PGothic" pitchFamily="50" charset="-128"/>
              <a:ea typeface="MeiryoKe_PGothic" pitchFamily="50" charset="-128"/>
            </a:endParaRPr>
          </a:p>
        </p:txBody>
      </p:sp>
      <p:sp>
        <p:nvSpPr>
          <p:cNvPr id="9" name="Rectangle 195"/>
          <p:cNvSpPr>
            <a:spLocks noChangeArrowheads="1"/>
          </p:cNvSpPr>
          <p:nvPr/>
        </p:nvSpPr>
        <p:spPr bwMode="auto">
          <a:xfrm>
            <a:off x="3305969" y="3879006"/>
            <a:ext cx="720008" cy="360363"/>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accent5"/>
                </a:solidFill>
                <a:latin typeface="MeiryoKe_PGothic" pitchFamily="50" charset="-128"/>
                <a:ea typeface="MeiryoKe_PGothic" pitchFamily="50" charset="-128"/>
              </a:rPr>
              <a:t>1101</a:t>
            </a:r>
            <a:endParaRPr lang="ja-JP" altLang="en-US" b="1" dirty="0">
              <a:solidFill>
                <a:schemeClr val="accent5"/>
              </a:solidFill>
              <a:latin typeface="MeiryoKe_PGothic" pitchFamily="50" charset="-128"/>
              <a:ea typeface="MeiryoKe_PGothic" pitchFamily="50" charset="-128"/>
            </a:endParaRPr>
          </a:p>
        </p:txBody>
      </p:sp>
      <p:sp>
        <p:nvSpPr>
          <p:cNvPr id="10" name="正方形/長方形 9"/>
          <p:cNvSpPr/>
          <p:nvPr/>
        </p:nvSpPr>
        <p:spPr bwMode="auto">
          <a:xfrm>
            <a:off x="3304331" y="2347401"/>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11" name="正方形/長方形 10"/>
          <p:cNvSpPr/>
          <p:nvPr/>
        </p:nvSpPr>
        <p:spPr bwMode="auto">
          <a:xfrm>
            <a:off x="3304331" y="2707405"/>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12" name="正方形/長方形 11"/>
          <p:cNvSpPr/>
          <p:nvPr/>
        </p:nvSpPr>
        <p:spPr bwMode="auto">
          <a:xfrm>
            <a:off x="2944327" y="2347401"/>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0</a:t>
            </a:r>
            <a:endParaRPr lang="ja-JP" altLang="en-US" sz="2000" dirty="0">
              <a:solidFill>
                <a:schemeClr val="tx1">
                  <a:lumMod val="75000"/>
                  <a:lumOff val="25000"/>
                </a:schemeClr>
              </a:solidFill>
              <a:latin typeface="Arial Narrow" panose="020B0606020202030204" pitchFamily="34" charset="0"/>
            </a:endParaRPr>
          </a:p>
        </p:txBody>
      </p:sp>
      <p:sp>
        <p:nvSpPr>
          <p:cNvPr id="13" name="正方形/長方形 12"/>
          <p:cNvSpPr/>
          <p:nvPr/>
        </p:nvSpPr>
        <p:spPr bwMode="auto">
          <a:xfrm>
            <a:off x="2944326" y="2707405"/>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1</a:t>
            </a:r>
            <a:endParaRPr lang="ja-JP" altLang="en-US" sz="2000" dirty="0">
              <a:solidFill>
                <a:schemeClr val="tx1">
                  <a:lumMod val="75000"/>
                  <a:lumOff val="25000"/>
                </a:schemeClr>
              </a:solidFill>
              <a:latin typeface="Arial Narrow" panose="020B0606020202030204" pitchFamily="34" charset="0"/>
            </a:endParaRPr>
          </a:p>
        </p:txBody>
      </p:sp>
      <p:sp>
        <p:nvSpPr>
          <p:cNvPr id="14" name="正方形/長方形 13"/>
          <p:cNvSpPr/>
          <p:nvPr/>
        </p:nvSpPr>
        <p:spPr bwMode="auto">
          <a:xfrm>
            <a:off x="2944326" y="3067409"/>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15" name="正方形/長方形 14"/>
          <p:cNvSpPr/>
          <p:nvPr/>
        </p:nvSpPr>
        <p:spPr bwMode="auto">
          <a:xfrm>
            <a:off x="3484332" y="4057420"/>
            <a:ext cx="3477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17" name="Rectangle 133"/>
          <p:cNvSpPr>
            <a:spLocks noChangeArrowheads="1"/>
          </p:cNvSpPr>
          <p:nvPr/>
        </p:nvSpPr>
        <p:spPr bwMode="auto">
          <a:xfrm>
            <a:off x="2045956" y="4689015"/>
            <a:ext cx="719803"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ja-JP" altLang="en-US" b="1" dirty="0">
                <a:solidFill>
                  <a:schemeClr val="accent5"/>
                </a:solidFill>
                <a:latin typeface="+mn-ea"/>
                <a:ea typeface="+mn-ea"/>
              </a:rPr>
              <a:t>ローカル</a:t>
            </a:r>
            <a:endParaRPr lang="en-US" altLang="ja-JP" b="1" dirty="0">
              <a:solidFill>
                <a:schemeClr val="accent5"/>
              </a:solidFill>
              <a:latin typeface="+mn-ea"/>
              <a:ea typeface="+mn-ea"/>
            </a:endParaRPr>
          </a:p>
          <a:p>
            <a:pPr eaLnBrk="0" hangingPunct="0"/>
            <a:r>
              <a:rPr lang="ja-JP" altLang="en-US" b="1" dirty="0">
                <a:solidFill>
                  <a:schemeClr val="accent5"/>
                </a:solidFill>
                <a:latin typeface="+mn-ea"/>
                <a:ea typeface="+mn-ea"/>
              </a:rPr>
              <a:t>履歴表</a:t>
            </a:r>
            <a:endParaRPr lang="en-US" altLang="ja-JP" b="1" dirty="0">
              <a:solidFill>
                <a:schemeClr val="accent5"/>
              </a:solidFill>
              <a:latin typeface="+mn-ea"/>
              <a:ea typeface="+mn-ea"/>
            </a:endParaRPr>
          </a:p>
          <a:p>
            <a:pPr eaLnBrk="0" hangingPunct="0"/>
            <a:r>
              <a:rPr lang="ja-JP" altLang="en-US" b="1" dirty="0">
                <a:solidFill>
                  <a:schemeClr val="accent5"/>
                </a:solidFill>
                <a:latin typeface="+mn-ea"/>
                <a:ea typeface="+mn-ea"/>
              </a:rPr>
              <a:t>（テーブル）</a:t>
            </a:r>
            <a:endParaRPr lang="en-US" altLang="ja-JP" b="1" dirty="0">
              <a:solidFill>
                <a:schemeClr val="accent5"/>
              </a:solidFill>
              <a:latin typeface="+mn-ea"/>
              <a:ea typeface="+mn-ea"/>
            </a:endParaRPr>
          </a:p>
        </p:txBody>
      </p:sp>
      <p:cxnSp>
        <p:nvCxnSpPr>
          <p:cNvPr id="18" name="直線コネクタ 17"/>
          <p:cNvCxnSpPr/>
          <p:nvPr/>
        </p:nvCxnSpPr>
        <p:spPr bwMode="auto">
          <a:xfrm>
            <a:off x="1776105" y="1718981"/>
            <a:ext cx="720008"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20" name="正方形/長方形 19"/>
          <p:cNvSpPr/>
          <p:nvPr/>
        </p:nvSpPr>
        <p:spPr bwMode="auto">
          <a:xfrm>
            <a:off x="3304331" y="4597426"/>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21" name="正方形/長方形 20"/>
          <p:cNvSpPr/>
          <p:nvPr/>
        </p:nvSpPr>
        <p:spPr bwMode="auto">
          <a:xfrm>
            <a:off x="3484332" y="3067409"/>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cxnSp>
        <p:nvCxnSpPr>
          <p:cNvPr id="22" name="直線矢印コネクタ 21"/>
          <p:cNvCxnSpPr/>
          <p:nvPr/>
        </p:nvCxnSpPr>
        <p:spPr bwMode="auto">
          <a:xfrm>
            <a:off x="3664334" y="4957431"/>
            <a:ext cx="0" cy="450005"/>
          </a:xfrm>
          <a:prstGeom prst="straightConnector1">
            <a:avLst/>
          </a:prstGeom>
          <a:ln>
            <a:headEnd type="none" w="sm" len="sm"/>
            <a:tailEnd type="triangle" w="lg" len="lg"/>
          </a:ln>
        </p:spPr>
        <p:style>
          <a:lnRef idx="2">
            <a:schemeClr val="accent5"/>
          </a:lnRef>
          <a:fillRef idx="0">
            <a:schemeClr val="accent5"/>
          </a:fillRef>
          <a:effectRef idx="1">
            <a:schemeClr val="accent5"/>
          </a:effectRef>
          <a:fontRef idx="minor">
            <a:schemeClr val="tx1"/>
          </a:fontRef>
        </p:style>
      </p:cxnSp>
      <p:sp>
        <p:nvSpPr>
          <p:cNvPr id="26" name="Freeform 10"/>
          <p:cNvSpPr>
            <a:spLocks/>
          </p:cNvSpPr>
          <p:nvPr/>
        </p:nvSpPr>
        <p:spPr bwMode="auto">
          <a:xfrm rot="10800000">
            <a:off x="2135956" y="1988983"/>
            <a:ext cx="2250025" cy="342003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triangle" w="lg" len="lg"/>
            <a:tailEnd type="none" w="med" len="med"/>
          </a:ln>
        </p:spPr>
        <p:style>
          <a:lnRef idx="2">
            <a:schemeClr val="dk1"/>
          </a:lnRef>
          <a:fillRef idx="0">
            <a:schemeClr val="dk1"/>
          </a:fillRef>
          <a:effectRef idx="1">
            <a:schemeClr val="dk1"/>
          </a:effectRef>
          <a:fontRef idx="minor">
            <a:schemeClr val="tx1"/>
          </a:fontRef>
        </p:style>
        <p:txBody>
          <a:bodyPr/>
          <a:lstStyle/>
          <a:p>
            <a:endParaRPr lang="ja-JP" altLang="en-US">
              <a:latin typeface="Arial Narrow" pitchFamily="34" charset="0"/>
              <a:cs typeface="Times New Roman" pitchFamily="18" charset="0"/>
            </a:endParaRPr>
          </a:p>
        </p:txBody>
      </p:sp>
      <p:sp>
        <p:nvSpPr>
          <p:cNvPr id="27" name="Rectangle 154"/>
          <p:cNvSpPr>
            <a:spLocks noChangeArrowheads="1"/>
          </p:cNvSpPr>
          <p:nvPr/>
        </p:nvSpPr>
        <p:spPr bwMode="auto">
          <a:xfrm>
            <a:off x="5197630" y="2350575"/>
            <a:ext cx="718369" cy="2608442"/>
          </a:xfrm>
          <a:prstGeom prst="rect">
            <a:avLst/>
          </a:prstGeom>
          <a:ln>
            <a:solidFill>
              <a:schemeClr val="tx1">
                <a:lumMod val="75000"/>
                <a:lumOff val="25000"/>
              </a:schemeClr>
            </a:solidFill>
            <a:headEnd/>
            <a:tailEnd/>
          </a:ln>
        </p:spPr>
        <p:style>
          <a:lnRef idx="2">
            <a:schemeClr val="dk1"/>
          </a:lnRef>
          <a:fillRef idx="1">
            <a:schemeClr val="lt1"/>
          </a:fillRef>
          <a:effectRef idx="0">
            <a:schemeClr val="dk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MeiryoKe_PGothic" pitchFamily="50" charset="-128"/>
              <a:ea typeface="MeiryoKe_PGothic" pitchFamily="50" charset="-128"/>
            </a:endParaRPr>
          </a:p>
        </p:txBody>
      </p:sp>
      <p:sp>
        <p:nvSpPr>
          <p:cNvPr id="28" name="Rectangle 195"/>
          <p:cNvSpPr>
            <a:spLocks noChangeArrowheads="1"/>
          </p:cNvSpPr>
          <p:nvPr/>
        </p:nvSpPr>
        <p:spPr bwMode="auto">
          <a:xfrm>
            <a:off x="5195990" y="3429001"/>
            <a:ext cx="720008" cy="360363"/>
          </a:xfrm>
          <a:prstGeom prst="rect">
            <a:avLst/>
          </a:prstGeom>
          <a:ln>
            <a:headEnd/>
            <a:tailEnd/>
          </a:ln>
        </p:spPr>
        <p:style>
          <a:lnRef idx="1">
            <a:schemeClr val="dk1"/>
          </a:lnRef>
          <a:fillRef idx="2">
            <a:schemeClr val="dk1"/>
          </a:fillRef>
          <a:effectRef idx="1">
            <a:schemeClr val="dk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tx1">
                    <a:lumMod val="75000"/>
                    <a:lumOff val="25000"/>
                  </a:schemeClr>
                </a:solidFill>
                <a:latin typeface="MeiryoKe_PGothic" pitchFamily="50" charset="-128"/>
                <a:ea typeface="MeiryoKe_PGothic" pitchFamily="50" charset="-128"/>
              </a:rPr>
              <a:t>01</a:t>
            </a:r>
            <a:endParaRPr lang="ja-JP" altLang="en-US" b="1" dirty="0">
              <a:solidFill>
                <a:schemeClr val="tx1">
                  <a:lumMod val="75000"/>
                  <a:lumOff val="25000"/>
                </a:schemeClr>
              </a:solidFill>
              <a:latin typeface="MeiryoKe_PGothic" pitchFamily="50" charset="-128"/>
              <a:ea typeface="MeiryoKe_PGothic" pitchFamily="50" charset="-128"/>
            </a:endParaRPr>
          </a:p>
        </p:txBody>
      </p:sp>
      <p:sp>
        <p:nvSpPr>
          <p:cNvPr id="29" name="正方形/長方形 28"/>
          <p:cNvSpPr/>
          <p:nvPr/>
        </p:nvSpPr>
        <p:spPr bwMode="auto">
          <a:xfrm>
            <a:off x="5195991" y="2348988"/>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30" name="正方形/長方形 29"/>
          <p:cNvSpPr/>
          <p:nvPr/>
        </p:nvSpPr>
        <p:spPr bwMode="auto">
          <a:xfrm>
            <a:off x="5195991" y="2708992"/>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31" name="正方形/長方形 30"/>
          <p:cNvSpPr/>
          <p:nvPr/>
        </p:nvSpPr>
        <p:spPr bwMode="auto">
          <a:xfrm>
            <a:off x="4835987" y="2348988"/>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0</a:t>
            </a:r>
            <a:endParaRPr lang="ja-JP" altLang="en-US" sz="2000" dirty="0">
              <a:solidFill>
                <a:schemeClr val="tx1">
                  <a:lumMod val="75000"/>
                  <a:lumOff val="25000"/>
                </a:schemeClr>
              </a:solidFill>
              <a:latin typeface="Arial Narrow" panose="020B0606020202030204" pitchFamily="34" charset="0"/>
            </a:endParaRPr>
          </a:p>
        </p:txBody>
      </p:sp>
      <p:sp>
        <p:nvSpPr>
          <p:cNvPr id="32" name="正方形/長方形 31"/>
          <p:cNvSpPr/>
          <p:nvPr/>
        </p:nvSpPr>
        <p:spPr bwMode="auto">
          <a:xfrm>
            <a:off x="4835986" y="2708992"/>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1</a:t>
            </a:r>
            <a:endParaRPr lang="ja-JP" altLang="en-US" sz="2000" dirty="0">
              <a:solidFill>
                <a:schemeClr val="tx1">
                  <a:lumMod val="75000"/>
                  <a:lumOff val="25000"/>
                </a:schemeClr>
              </a:solidFill>
              <a:latin typeface="Arial Narrow" panose="020B0606020202030204" pitchFamily="34" charset="0"/>
            </a:endParaRPr>
          </a:p>
        </p:txBody>
      </p:sp>
      <p:sp>
        <p:nvSpPr>
          <p:cNvPr id="33" name="正方形/長方形 32"/>
          <p:cNvSpPr/>
          <p:nvPr/>
        </p:nvSpPr>
        <p:spPr bwMode="auto">
          <a:xfrm>
            <a:off x="4835986" y="2978995"/>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34" name="正方形/長方形 33"/>
          <p:cNvSpPr/>
          <p:nvPr/>
        </p:nvSpPr>
        <p:spPr bwMode="auto">
          <a:xfrm>
            <a:off x="5375992" y="4059007"/>
            <a:ext cx="3477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35" name="正方形/長方形 34"/>
          <p:cNvSpPr/>
          <p:nvPr/>
        </p:nvSpPr>
        <p:spPr bwMode="auto">
          <a:xfrm>
            <a:off x="5195991" y="4599013"/>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36" name="正方形/長方形 35"/>
          <p:cNvSpPr/>
          <p:nvPr/>
        </p:nvSpPr>
        <p:spPr bwMode="auto">
          <a:xfrm>
            <a:off x="5375992" y="2978995"/>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37" name="Freeform 10"/>
          <p:cNvSpPr>
            <a:spLocks/>
          </p:cNvSpPr>
          <p:nvPr/>
        </p:nvSpPr>
        <p:spPr bwMode="auto">
          <a:xfrm rot="16200000" flipV="1">
            <a:off x="3980977" y="5454022"/>
            <a:ext cx="810008" cy="72000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none" w="lg" len="lg"/>
            <a:tailEnd type="none" w="med" len="med"/>
          </a:ln>
        </p:spPr>
        <p:style>
          <a:lnRef idx="2">
            <a:schemeClr val="dk1"/>
          </a:lnRef>
          <a:fillRef idx="0">
            <a:schemeClr val="dk1"/>
          </a:fillRef>
          <a:effectRef idx="1">
            <a:schemeClr val="dk1"/>
          </a:effectRef>
          <a:fontRef idx="minor">
            <a:schemeClr val="tx1"/>
          </a:fontRef>
        </p:style>
        <p:txBody>
          <a:bodyPr/>
          <a:lstStyle/>
          <a:p>
            <a:endParaRPr lang="ja-JP" altLang="en-US">
              <a:latin typeface="Arial Narrow" pitchFamily="34" charset="0"/>
              <a:cs typeface="Times New Roman" pitchFamily="18" charset="0"/>
            </a:endParaRPr>
          </a:p>
        </p:txBody>
      </p:sp>
      <p:cxnSp>
        <p:nvCxnSpPr>
          <p:cNvPr id="38" name="直線コネクタ 37"/>
          <p:cNvCxnSpPr/>
          <p:nvPr/>
        </p:nvCxnSpPr>
        <p:spPr bwMode="auto">
          <a:xfrm>
            <a:off x="3485971" y="5409022"/>
            <a:ext cx="1080012"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40" name="Freeform 10"/>
          <p:cNvSpPr>
            <a:spLocks/>
          </p:cNvSpPr>
          <p:nvPr/>
        </p:nvSpPr>
        <p:spPr bwMode="auto">
          <a:xfrm rot="5400000">
            <a:off x="3620972" y="4734017"/>
            <a:ext cx="2610031"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triangle" w="lg" len="lg"/>
            <a:tailEnd type="none" w="med" len="med"/>
          </a:ln>
        </p:spPr>
        <p:style>
          <a:lnRef idx="2">
            <a:schemeClr val="dk1"/>
          </a:lnRef>
          <a:fillRef idx="0">
            <a:schemeClr val="dk1"/>
          </a:fillRef>
          <a:effectRef idx="1">
            <a:schemeClr val="dk1"/>
          </a:effectRef>
          <a:fontRef idx="minor">
            <a:schemeClr val="tx1"/>
          </a:fontRef>
        </p:style>
        <p:txBody>
          <a:bodyPr/>
          <a:lstStyle/>
          <a:p>
            <a:endParaRPr lang="ja-JP" altLang="en-US">
              <a:latin typeface="Arial Narrow" pitchFamily="34" charset="0"/>
              <a:cs typeface="Times New Roman" pitchFamily="18" charset="0"/>
            </a:endParaRPr>
          </a:p>
        </p:txBody>
      </p:sp>
      <p:sp>
        <p:nvSpPr>
          <p:cNvPr id="41" name="Rectangle 133"/>
          <p:cNvSpPr>
            <a:spLocks noChangeArrowheads="1"/>
          </p:cNvSpPr>
          <p:nvPr/>
        </p:nvSpPr>
        <p:spPr bwMode="auto">
          <a:xfrm>
            <a:off x="5195991" y="1988985"/>
            <a:ext cx="719803"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en-US" altLang="ja-JP" dirty="0">
                <a:solidFill>
                  <a:schemeClr val="tx1">
                    <a:lumMod val="75000"/>
                    <a:lumOff val="25000"/>
                  </a:schemeClr>
                </a:solidFill>
                <a:latin typeface="+mn-ea"/>
                <a:ea typeface="+mn-ea"/>
              </a:rPr>
              <a:t>PHT</a:t>
            </a:r>
          </a:p>
        </p:txBody>
      </p:sp>
      <p:sp>
        <p:nvSpPr>
          <p:cNvPr id="42" name="Rectangle 133"/>
          <p:cNvSpPr>
            <a:spLocks noChangeArrowheads="1"/>
          </p:cNvSpPr>
          <p:nvPr/>
        </p:nvSpPr>
        <p:spPr bwMode="auto">
          <a:xfrm>
            <a:off x="3305970" y="5499024"/>
            <a:ext cx="719803"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ja-JP" altLang="en-US" dirty="0">
                <a:solidFill>
                  <a:schemeClr val="tx1">
                    <a:lumMod val="75000"/>
                    <a:lumOff val="25000"/>
                  </a:schemeClr>
                </a:solidFill>
                <a:latin typeface="+mn-ea"/>
                <a:ea typeface="+mn-ea"/>
              </a:rPr>
              <a:t>連結</a:t>
            </a:r>
            <a:endParaRPr lang="en-US" altLang="ja-JP" dirty="0">
              <a:solidFill>
                <a:schemeClr val="tx1">
                  <a:lumMod val="75000"/>
                  <a:lumOff val="25000"/>
                </a:schemeClr>
              </a:solidFill>
              <a:latin typeface="+mn-ea"/>
              <a:ea typeface="+mn-ea"/>
            </a:endParaRPr>
          </a:p>
        </p:txBody>
      </p:sp>
      <p:sp>
        <p:nvSpPr>
          <p:cNvPr id="39" name="Rectangle 128"/>
          <p:cNvSpPr>
            <a:spLocks noChangeArrowheads="1"/>
          </p:cNvSpPr>
          <p:nvPr/>
        </p:nvSpPr>
        <p:spPr bwMode="auto">
          <a:xfrm>
            <a:off x="6185653" y="910560"/>
            <a:ext cx="540006" cy="314325"/>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eaLnBrk="0" hangingPunct="0"/>
            <a:r>
              <a:rPr lang="en-US" altLang="ja-JP" dirty="0">
                <a:solidFill>
                  <a:schemeClr val="tx1">
                    <a:lumMod val="75000"/>
                    <a:lumOff val="25000"/>
                  </a:schemeClr>
                </a:solidFill>
                <a:latin typeface="+mn-ea"/>
                <a:ea typeface="+mn-ea"/>
              </a:rPr>
              <a:t>PC</a:t>
            </a:r>
          </a:p>
        </p:txBody>
      </p:sp>
      <p:sp>
        <p:nvSpPr>
          <p:cNvPr id="43" name="Rectangle 13"/>
          <p:cNvSpPr>
            <a:spLocks noChangeArrowheads="1"/>
          </p:cNvSpPr>
          <p:nvPr/>
        </p:nvSpPr>
        <p:spPr bwMode="auto">
          <a:xfrm>
            <a:off x="6096001" y="1268976"/>
            <a:ext cx="720725" cy="360362"/>
          </a:xfrm>
          <a:prstGeom prst="rect">
            <a:avLst/>
          </a:prstGeom>
          <a:ln>
            <a:headEnd/>
            <a:tailEnd/>
          </a:ln>
        </p:spPr>
        <p:style>
          <a:lnRef idx="1">
            <a:schemeClr val="dk1"/>
          </a:lnRef>
          <a:fillRef idx="2">
            <a:schemeClr val="dk1"/>
          </a:fillRef>
          <a:effectRef idx="1">
            <a:schemeClr val="dk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b="1" dirty="0">
              <a:solidFill>
                <a:schemeClr val="accent3">
                  <a:lumMod val="75000"/>
                </a:schemeClr>
              </a:solidFill>
              <a:latin typeface="MeiryoKe_PGothic" pitchFamily="50" charset="-128"/>
              <a:ea typeface="MeiryoKe_PGothic" pitchFamily="50" charset="-128"/>
            </a:endParaRPr>
          </a:p>
        </p:txBody>
      </p:sp>
      <p:sp>
        <p:nvSpPr>
          <p:cNvPr id="46" name="Rectangle 195"/>
          <p:cNvSpPr>
            <a:spLocks noChangeArrowheads="1"/>
          </p:cNvSpPr>
          <p:nvPr/>
        </p:nvSpPr>
        <p:spPr bwMode="auto">
          <a:xfrm>
            <a:off x="7626017" y="3879006"/>
            <a:ext cx="720008" cy="360363"/>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accent5"/>
                </a:solidFill>
                <a:latin typeface="MeiryoKe_PGothic" pitchFamily="50" charset="-128"/>
                <a:ea typeface="MeiryoKe_PGothic" pitchFamily="50" charset="-128"/>
              </a:rPr>
              <a:t>1101</a:t>
            </a:r>
            <a:endParaRPr lang="ja-JP" altLang="en-US" b="1" dirty="0">
              <a:solidFill>
                <a:schemeClr val="accent5"/>
              </a:solidFill>
              <a:latin typeface="MeiryoKe_PGothic" pitchFamily="50" charset="-128"/>
              <a:ea typeface="MeiryoKe_PGothic" pitchFamily="50" charset="-128"/>
            </a:endParaRPr>
          </a:p>
        </p:txBody>
      </p:sp>
      <p:sp>
        <p:nvSpPr>
          <p:cNvPr id="53" name="Rectangle 133"/>
          <p:cNvSpPr>
            <a:spLocks noChangeArrowheads="1"/>
          </p:cNvSpPr>
          <p:nvPr/>
        </p:nvSpPr>
        <p:spPr bwMode="auto">
          <a:xfrm>
            <a:off x="6366004" y="4599014"/>
            <a:ext cx="719803"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ja-JP" altLang="en-US" b="1" dirty="0">
                <a:solidFill>
                  <a:schemeClr val="accent5"/>
                </a:solidFill>
                <a:latin typeface="+mn-ea"/>
                <a:ea typeface="+mn-ea"/>
              </a:rPr>
              <a:t>グローバル</a:t>
            </a:r>
            <a:endParaRPr lang="en-US" altLang="ja-JP" b="1" dirty="0">
              <a:solidFill>
                <a:schemeClr val="accent5"/>
              </a:solidFill>
              <a:latin typeface="+mn-ea"/>
              <a:ea typeface="+mn-ea"/>
            </a:endParaRPr>
          </a:p>
          <a:p>
            <a:pPr eaLnBrk="0" hangingPunct="0"/>
            <a:r>
              <a:rPr lang="ja-JP" altLang="en-US" b="1" dirty="0">
                <a:solidFill>
                  <a:schemeClr val="accent5"/>
                </a:solidFill>
                <a:latin typeface="+mn-ea"/>
                <a:ea typeface="+mn-ea"/>
              </a:rPr>
              <a:t>履歴</a:t>
            </a:r>
            <a:endParaRPr lang="en-US" altLang="ja-JP" b="1" dirty="0">
              <a:solidFill>
                <a:schemeClr val="accent5"/>
              </a:solidFill>
              <a:latin typeface="+mn-ea"/>
              <a:ea typeface="+mn-ea"/>
            </a:endParaRPr>
          </a:p>
          <a:p>
            <a:pPr eaLnBrk="0" hangingPunct="0"/>
            <a:r>
              <a:rPr lang="ja-JP" altLang="en-US" b="1" dirty="0">
                <a:solidFill>
                  <a:schemeClr val="accent5"/>
                </a:solidFill>
                <a:latin typeface="+mn-ea"/>
                <a:ea typeface="+mn-ea"/>
              </a:rPr>
              <a:t>（シフトレジスタ）</a:t>
            </a:r>
            <a:endParaRPr lang="en-US" altLang="ja-JP" b="1" dirty="0">
              <a:solidFill>
                <a:schemeClr val="accent5"/>
              </a:solidFill>
              <a:latin typeface="+mn-ea"/>
              <a:ea typeface="+mn-ea"/>
            </a:endParaRPr>
          </a:p>
        </p:txBody>
      </p:sp>
      <p:cxnSp>
        <p:nvCxnSpPr>
          <p:cNvPr id="54" name="直線コネクタ 53"/>
          <p:cNvCxnSpPr/>
          <p:nvPr/>
        </p:nvCxnSpPr>
        <p:spPr bwMode="auto">
          <a:xfrm>
            <a:off x="6096153" y="1718981"/>
            <a:ext cx="720008"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57" name="直線矢印コネクタ 56"/>
          <p:cNvCxnSpPr/>
          <p:nvPr/>
        </p:nvCxnSpPr>
        <p:spPr bwMode="auto">
          <a:xfrm flipH="1">
            <a:off x="7986021" y="4239010"/>
            <a:ext cx="1640" cy="1170013"/>
          </a:xfrm>
          <a:prstGeom prst="straightConnector1">
            <a:avLst/>
          </a:prstGeom>
          <a:ln>
            <a:headEnd type="none" w="sm" len="sm"/>
            <a:tailEnd type="triangle" w="lg" len="lg"/>
          </a:ln>
        </p:spPr>
        <p:style>
          <a:lnRef idx="2">
            <a:schemeClr val="accent5"/>
          </a:lnRef>
          <a:fillRef idx="0">
            <a:schemeClr val="accent5"/>
          </a:fillRef>
          <a:effectRef idx="1">
            <a:schemeClr val="accent5"/>
          </a:effectRef>
          <a:fontRef idx="minor">
            <a:schemeClr val="tx1"/>
          </a:fontRef>
        </p:style>
      </p:cxnSp>
      <p:sp>
        <p:nvSpPr>
          <p:cNvPr id="58" name="Freeform 10"/>
          <p:cNvSpPr>
            <a:spLocks/>
          </p:cNvSpPr>
          <p:nvPr/>
        </p:nvSpPr>
        <p:spPr bwMode="auto">
          <a:xfrm rot="10800000">
            <a:off x="6456004" y="1988983"/>
            <a:ext cx="2250025" cy="342003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triangle" w="lg" len="lg"/>
            <a:tailEnd type="none" w="med" len="med"/>
          </a:ln>
        </p:spPr>
        <p:style>
          <a:lnRef idx="2">
            <a:schemeClr val="dk1"/>
          </a:lnRef>
          <a:fillRef idx="0">
            <a:schemeClr val="dk1"/>
          </a:fillRef>
          <a:effectRef idx="1">
            <a:schemeClr val="dk1"/>
          </a:effectRef>
          <a:fontRef idx="minor">
            <a:schemeClr val="tx1"/>
          </a:fontRef>
        </p:style>
        <p:txBody>
          <a:bodyPr/>
          <a:lstStyle/>
          <a:p>
            <a:endParaRPr lang="ja-JP" altLang="en-US">
              <a:latin typeface="Arial Narrow" pitchFamily="34" charset="0"/>
              <a:cs typeface="Times New Roman" pitchFamily="18" charset="0"/>
            </a:endParaRPr>
          </a:p>
        </p:txBody>
      </p:sp>
      <p:sp>
        <p:nvSpPr>
          <p:cNvPr id="59" name="Rectangle 154"/>
          <p:cNvSpPr>
            <a:spLocks noChangeArrowheads="1"/>
          </p:cNvSpPr>
          <p:nvPr/>
        </p:nvSpPr>
        <p:spPr bwMode="auto">
          <a:xfrm>
            <a:off x="9517678" y="2350575"/>
            <a:ext cx="718369" cy="2608442"/>
          </a:xfrm>
          <a:prstGeom prst="rect">
            <a:avLst/>
          </a:prstGeom>
          <a:ln>
            <a:solidFill>
              <a:schemeClr val="tx1">
                <a:lumMod val="75000"/>
                <a:lumOff val="25000"/>
              </a:schemeClr>
            </a:solidFill>
            <a:headEnd/>
            <a:tailEnd/>
          </a:ln>
        </p:spPr>
        <p:style>
          <a:lnRef idx="2">
            <a:schemeClr val="dk1"/>
          </a:lnRef>
          <a:fillRef idx="1">
            <a:schemeClr val="lt1"/>
          </a:fillRef>
          <a:effectRef idx="0">
            <a:schemeClr val="dk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MeiryoKe_PGothic" pitchFamily="50" charset="-128"/>
              <a:ea typeface="MeiryoKe_PGothic" pitchFamily="50" charset="-128"/>
            </a:endParaRPr>
          </a:p>
        </p:txBody>
      </p:sp>
      <p:sp>
        <p:nvSpPr>
          <p:cNvPr id="60" name="Rectangle 195"/>
          <p:cNvSpPr>
            <a:spLocks noChangeArrowheads="1"/>
          </p:cNvSpPr>
          <p:nvPr/>
        </p:nvSpPr>
        <p:spPr bwMode="auto">
          <a:xfrm>
            <a:off x="9516038" y="3429001"/>
            <a:ext cx="720008" cy="360363"/>
          </a:xfrm>
          <a:prstGeom prst="rect">
            <a:avLst/>
          </a:prstGeom>
          <a:ln>
            <a:headEnd/>
            <a:tailEnd/>
          </a:ln>
        </p:spPr>
        <p:style>
          <a:lnRef idx="1">
            <a:schemeClr val="dk1"/>
          </a:lnRef>
          <a:fillRef idx="2">
            <a:schemeClr val="dk1"/>
          </a:fillRef>
          <a:effectRef idx="1">
            <a:schemeClr val="dk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tx1">
                    <a:lumMod val="75000"/>
                    <a:lumOff val="25000"/>
                  </a:schemeClr>
                </a:solidFill>
                <a:latin typeface="MeiryoKe_PGothic" pitchFamily="50" charset="-128"/>
                <a:ea typeface="MeiryoKe_PGothic" pitchFamily="50" charset="-128"/>
              </a:rPr>
              <a:t>01</a:t>
            </a:r>
            <a:endParaRPr lang="ja-JP" altLang="en-US" b="1" dirty="0">
              <a:solidFill>
                <a:schemeClr val="tx1">
                  <a:lumMod val="75000"/>
                  <a:lumOff val="25000"/>
                </a:schemeClr>
              </a:solidFill>
              <a:latin typeface="MeiryoKe_PGothic" pitchFamily="50" charset="-128"/>
              <a:ea typeface="MeiryoKe_PGothic" pitchFamily="50" charset="-128"/>
            </a:endParaRPr>
          </a:p>
        </p:txBody>
      </p:sp>
      <p:sp>
        <p:nvSpPr>
          <p:cNvPr id="61" name="正方形/長方形 60"/>
          <p:cNvSpPr/>
          <p:nvPr/>
        </p:nvSpPr>
        <p:spPr bwMode="auto">
          <a:xfrm>
            <a:off x="9516039" y="2348988"/>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62" name="正方形/長方形 61"/>
          <p:cNvSpPr/>
          <p:nvPr/>
        </p:nvSpPr>
        <p:spPr bwMode="auto">
          <a:xfrm>
            <a:off x="9516039" y="2708992"/>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63" name="正方形/長方形 62"/>
          <p:cNvSpPr/>
          <p:nvPr/>
        </p:nvSpPr>
        <p:spPr bwMode="auto">
          <a:xfrm>
            <a:off x="9156035" y="2348988"/>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0</a:t>
            </a:r>
            <a:endParaRPr lang="ja-JP" altLang="en-US" sz="2000" dirty="0">
              <a:solidFill>
                <a:schemeClr val="tx1">
                  <a:lumMod val="75000"/>
                  <a:lumOff val="25000"/>
                </a:schemeClr>
              </a:solidFill>
              <a:latin typeface="Arial Narrow" panose="020B0606020202030204" pitchFamily="34" charset="0"/>
            </a:endParaRPr>
          </a:p>
        </p:txBody>
      </p:sp>
      <p:sp>
        <p:nvSpPr>
          <p:cNvPr id="64" name="正方形/長方形 63"/>
          <p:cNvSpPr/>
          <p:nvPr/>
        </p:nvSpPr>
        <p:spPr bwMode="auto">
          <a:xfrm>
            <a:off x="9156034" y="2708992"/>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1</a:t>
            </a:r>
            <a:endParaRPr lang="ja-JP" altLang="en-US" sz="2000" dirty="0">
              <a:solidFill>
                <a:schemeClr val="tx1">
                  <a:lumMod val="75000"/>
                  <a:lumOff val="25000"/>
                </a:schemeClr>
              </a:solidFill>
              <a:latin typeface="Arial Narrow" panose="020B0606020202030204" pitchFamily="34" charset="0"/>
            </a:endParaRPr>
          </a:p>
        </p:txBody>
      </p:sp>
      <p:sp>
        <p:nvSpPr>
          <p:cNvPr id="65" name="正方形/長方形 64"/>
          <p:cNvSpPr/>
          <p:nvPr/>
        </p:nvSpPr>
        <p:spPr bwMode="auto">
          <a:xfrm>
            <a:off x="9156034" y="2978995"/>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66" name="正方形/長方形 65"/>
          <p:cNvSpPr/>
          <p:nvPr/>
        </p:nvSpPr>
        <p:spPr bwMode="auto">
          <a:xfrm>
            <a:off x="9696040" y="4059007"/>
            <a:ext cx="3477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67" name="正方形/長方形 66"/>
          <p:cNvSpPr/>
          <p:nvPr/>
        </p:nvSpPr>
        <p:spPr bwMode="auto">
          <a:xfrm>
            <a:off x="9516039" y="4599013"/>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68" name="正方形/長方形 67"/>
          <p:cNvSpPr/>
          <p:nvPr/>
        </p:nvSpPr>
        <p:spPr bwMode="auto">
          <a:xfrm>
            <a:off x="9696040" y="2978995"/>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69" name="Freeform 10"/>
          <p:cNvSpPr>
            <a:spLocks/>
          </p:cNvSpPr>
          <p:nvPr/>
        </p:nvSpPr>
        <p:spPr bwMode="auto">
          <a:xfrm rot="16200000" flipV="1">
            <a:off x="8301025" y="5454022"/>
            <a:ext cx="810008" cy="72000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none" w="lg" len="lg"/>
            <a:tailEnd type="none" w="med" len="med"/>
          </a:ln>
        </p:spPr>
        <p:style>
          <a:lnRef idx="2">
            <a:schemeClr val="dk1"/>
          </a:lnRef>
          <a:fillRef idx="0">
            <a:schemeClr val="dk1"/>
          </a:fillRef>
          <a:effectRef idx="1">
            <a:schemeClr val="dk1"/>
          </a:effectRef>
          <a:fontRef idx="minor">
            <a:schemeClr val="tx1"/>
          </a:fontRef>
        </p:style>
        <p:txBody>
          <a:bodyPr/>
          <a:lstStyle/>
          <a:p>
            <a:endParaRPr lang="ja-JP" altLang="en-US">
              <a:latin typeface="Arial Narrow" pitchFamily="34" charset="0"/>
              <a:cs typeface="Times New Roman" pitchFamily="18" charset="0"/>
            </a:endParaRPr>
          </a:p>
        </p:txBody>
      </p:sp>
      <p:cxnSp>
        <p:nvCxnSpPr>
          <p:cNvPr id="70" name="直線コネクタ 69"/>
          <p:cNvCxnSpPr/>
          <p:nvPr/>
        </p:nvCxnSpPr>
        <p:spPr bwMode="auto">
          <a:xfrm>
            <a:off x="7806019" y="5409022"/>
            <a:ext cx="1080012"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71" name="Freeform 10"/>
          <p:cNvSpPr>
            <a:spLocks/>
          </p:cNvSpPr>
          <p:nvPr/>
        </p:nvSpPr>
        <p:spPr bwMode="auto">
          <a:xfrm rot="5400000">
            <a:off x="7941020" y="4734017"/>
            <a:ext cx="2610031"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triangle" w="lg" len="lg"/>
            <a:tailEnd type="none" w="med" len="med"/>
          </a:ln>
        </p:spPr>
        <p:style>
          <a:lnRef idx="2">
            <a:schemeClr val="dk1"/>
          </a:lnRef>
          <a:fillRef idx="0">
            <a:schemeClr val="dk1"/>
          </a:fillRef>
          <a:effectRef idx="1">
            <a:schemeClr val="dk1"/>
          </a:effectRef>
          <a:fontRef idx="minor">
            <a:schemeClr val="tx1"/>
          </a:fontRef>
        </p:style>
        <p:txBody>
          <a:bodyPr/>
          <a:lstStyle/>
          <a:p>
            <a:endParaRPr lang="ja-JP" altLang="en-US">
              <a:latin typeface="Arial Narrow" pitchFamily="34" charset="0"/>
              <a:cs typeface="Times New Roman" pitchFamily="18" charset="0"/>
            </a:endParaRPr>
          </a:p>
        </p:txBody>
      </p:sp>
      <p:sp>
        <p:nvSpPr>
          <p:cNvPr id="72" name="Rectangle 133"/>
          <p:cNvSpPr>
            <a:spLocks noChangeArrowheads="1"/>
          </p:cNvSpPr>
          <p:nvPr/>
        </p:nvSpPr>
        <p:spPr bwMode="auto">
          <a:xfrm>
            <a:off x="9516039" y="1988985"/>
            <a:ext cx="719803"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en-US" altLang="ja-JP" dirty="0">
                <a:solidFill>
                  <a:schemeClr val="tx1">
                    <a:lumMod val="75000"/>
                    <a:lumOff val="25000"/>
                  </a:schemeClr>
                </a:solidFill>
                <a:latin typeface="+mn-ea"/>
                <a:ea typeface="+mn-ea"/>
              </a:rPr>
              <a:t>PHT</a:t>
            </a:r>
          </a:p>
        </p:txBody>
      </p:sp>
      <p:sp>
        <p:nvSpPr>
          <p:cNvPr id="73" name="Rectangle 133"/>
          <p:cNvSpPr>
            <a:spLocks noChangeArrowheads="1"/>
          </p:cNvSpPr>
          <p:nvPr/>
        </p:nvSpPr>
        <p:spPr bwMode="auto">
          <a:xfrm>
            <a:off x="7626018" y="5499024"/>
            <a:ext cx="719803"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ja-JP" altLang="en-US" dirty="0">
                <a:solidFill>
                  <a:schemeClr val="tx1">
                    <a:lumMod val="75000"/>
                    <a:lumOff val="25000"/>
                  </a:schemeClr>
                </a:solidFill>
                <a:latin typeface="+mn-ea"/>
                <a:ea typeface="+mn-ea"/>
              </a:rPr>
              <a:t>連結</a:t>
            </a:r>
            <a:endParaRPr lang="en-US" altLang="ja-JP" dirty="0">
              <a:solidFill>
                <a:schemeClr val="tx1">
                  <a:lumMod val="75000"/>
                  <a:lumOff val="25000"/>
                </a:schemeClr>
              </a:solidFill>
              <a:latin typeface="+mn-ea"/>
              <a:ea typeface="+mn-ea"/>
            </a:endParaRPr>
          </a:p>
        </p:txBody>
      </p:sp>
      <p:cxnSp>
        <p:nvCxnSpPr>
          <p:cNvPr id="74" name="直線矢印コネクタ 73"/>
          <p:cNvCxnSpPr/>
          <p:nvPr/>
        </p:nvCxnSpPr>
        <p:spPr bwMode="auto">
          <a:xfrm>
            <a:off x="6456004" y="1718982"/>
            <a:ext cx="0" cy="270003"/>
          </a:xfrm>
          <a:prstGeom prst="straightConnector1">
            <a:avLst/>
          </a:prstGeom>
          <a:ln>
            <a:headEnd type="none" w="sm" len="sm"/>
            <a:tailEnd type="none" w="lg" len="lg"/>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5182319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グローバル履歴予測器</a:t>
            </a:r>
          </a:p>
        </p:txBody>
      </p:sp>
      <p:sp>
        <p:nvSpPr>
          <p:cNvPr id="16" name="テキスト プレースホルダー 15"/>
          <p:cNvSpPr>
            <a:spLocks noGrp="1"/>
          </p:cNvSpPr>
          <p:nvPr>
            <p:ph type="body" sz="quarter" idx="10"/>
          </p:nvPr>
        </p:nvSpPr>
        <p:spPr>
          <a:xfrm>
            <a:off x="1775952" y="3429000"/>
            <a:ext cx="8280092" cy="3329730"/>
          </a:xfrm>
        </p:spPr>
        <p:txBody>
          <a:bodyPr/>
          <a:lstStyle/>
          <a:p>
            <a:r>
              <a:rPr kumimoji="1" lang="ja-JP" altLang="en-US" dirty="0"/>
              <a:t>動作：</a:t>
            </a:r>
            <a:endParaRPr kumimoji="1" lang="en-US" altLang="ja-JP" dirty="0"/>
          </a:p>
          <a:p>
            <a:pPr lvl="1"/>
            <a:r>
              <a:rPr kumimoji="1" lang="ja-JP" altLang="en-US" dirty="0"/>
              <a:t>分岐命令が実行されるたびに，</a:t>
            </a:r>
            <a:br>
              <a:rPr kumimoji="1" lang="en-US" altLang="ja-JP" dirty="0"/>
            </a:br>
            <a:r>
              <a:rPr kumimoji="1" lang="ja-JP" altLang="en-US" dirty="0"/>
              <a:t>分岐方向をグローバル履歴に挿入</a:t>
            </a:r>
            <a:endParaRPr kumimoji="1" lang="en-US" altLang="ja-JP" dirty="0"/>
          </a:p>
          <a:p>
            <a:pPr lvl="1"/>
            <a:r>
              <a:rPr kumimoji="1" lang="ja-JP" altLang="en-US" dirty="0"/>
              <a:t>グローバル履歴と </a:t>
            </a:r>
            <a:r>
              <a:rPr kumimoji="1" lang="en-US" altLang="ja-JP" dirty="0"/>
              <a:t>PC </a:t>
            </a:r>
            <a:r>
              <a:rPr kumimoji="1" lang="ja-JP" altLang="en-US" dirty="0"/>
              <a:t>を連結して</a:t>
            </a:r>
            <a:br>
              <a:rPr kumimoji="1" lang="en-US" altLang="ja-JP" dirty="0"/>
            </a:br>
            <a:r>
              <a:rPr kumimoji="1" lang="en-US" altLang="ja-JP" dirty="0"/>
              <a:t>PHT </a:t>
            </a:r>
            <a:r>
              <a:rPr kumimoji="1" lang="ja-JP" altLang="en-US" dirty="0"/>
              <a:t>にアクセスし，予測</a:t>
            </a:r>
          </a:p>
        </p:txBody>
      </p:sp>
      <p:sp>
        <p:nvSpPr>
          <p:cNvPr id="39" name="Rectangle 128"/>
          <p:cNvSpPr>
            <a:spLocks noChangeArrowheads="1"/>
          </p:cNvSpPr>
          <p:nvPr/>
        </p:nvSpPr>
        <p:spPr bwMode="auto">
          <a:xfrm>
            <a:off x="6185653" y="910560"/>
            <a:ext cx="540006" cy="314325"/>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eaLnBrk="0" hangingPunct="0"/>
            <a:r>
              <a:rPr lang="en-US" altLang="ja-JP" dirty="0">
                <a:solidFill>
                  <a:schemeClr val="tx1">
                    <a:lumMod val="75000"/>
                    <a:lumOff val="25000"/>
                  </a:schemeClr>
                </a:solidFill>
                <a:latin typeface="+mn-ea"/>
                <a:ea typeface="+mn-ea"/>
              </a:rPr>
              <a:t>PC</a:t>
            </a:r>
          </a:p>
        </p:txBody>
      </p:sp>
      <p:sp>
        <p:nvSpPr>
          <p:cNvPr id="43" name="Rectangle 13"/>
          <p:cNvSpPr>
            <a:spLocks noChangeArrowheads="1"/>
          </p:cNvSpPr>
          <p:nvPr/>
        </p:nvSpPr>
        <p:spPr bwMode="auto">
          <a:xfrm>
            <a:off x="6096001" y="1268976"/>
            <a:ext cx="720725" cy="360362"/>
          </a:xfrm>
          <a:prstGeom prst="rect">
            <a:avLst/>
          </a:prstGeom>
          <a:ln>
            <a:headEnd/>
            <a:tailEnd/>
          </a:ln>
        </p:spPr>
        <p:style>
          <a:lnRef idx="1">
            <a:schemeClr val="dk1"/>
          </a:lnRef>
          <a:fillRef idx="2">
            <a:schemeClr val="dk1"/>
          </a:fillRef>
          <a:effectRef idx="1">
            <a:schemeClr val="dk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b="1" dirty="0">
              <a:solidFill>
                <a:schemeClr val="accent3">
                  <a:lumMod val="75000"/>
                </a:schemeClr>
              </a:solidFill>
              <a:latin typeface="MeiryoKe_PGothic" pitchFamily="50" charset="-128"/>
              <a:ea typeface="MeiryoKe_PGothic" pitchFamily="50" charset="-128"/>
            </a:endParaRPr>
          </a:p>
        </p:txBody>
      </p:sp>
      <p:sp>
        <p:nvSpPr>
          <p:cNvPr id="46" name="Rectangle 195"/>
          <p:cNvSpPr>
            <a:spLocks noChangeArrowheads="1"/>
          </p:cNvSpPr>
          <p:nvPr/>
        </p:nvSpPr>
        <p:spPr bwMode="auto">
          <a:xfrm>
            <a:off x="7626017" y="3879006"/>
            <a:ext cx="720008" cy="360363"/>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accent5"/>
                </a:solidFill>
                <a:latin typeface="MeiryoKe_PGothic" pitchFamily="50" charset="-128"/>
                <a:ea typeface="MeiryoKe_PGothic" pitchFamily="50" charset="-128"/>
              </a:rPr>
              <a:t>1011</a:t>
            </a:r>
            <a:endParaRPr lang="ja-JP" altLang="en-US" b="1" dirty="0">
              <a:solidFill>
                <a:schemeClr val="accent5"/>
              </a:solidFill>
              <a:latin typeface="MeiryoKe_PGothic" pitchFamily="50" charset="-128"/>
              <a:ea typeface="MeiryoKe_PGothic" pitchFamily="50" charset="-128"/>
            </a:endParaRPr>
          </a:p>
        </p:txBody>
      </p:sp>
      <p:sp>
        <p:nvSpPr>
          <p:cNvPr id="53" name="Rectangle 133"/>
          <p:cNvSpPr>
            <a:spLocks noChangeArrowheads="1"/>
          </p:cNvSpPr>
          <p:nvPr/>
        </p:nvSpPr>
        <p:spPr bwMode="auto">
          <a:xfrm>
            <a:off x="6636007" y="4509013"/>
            <a:ext cx="719803"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ja-JP" altLang="en-US" dirty="0">
                <a:solidFill>
                  <a:schemeClr val="accent5"/>
                </a:solidFill>
                <a:latin typeface="+mn-ea"/>
                <a:ea typeface="+mn-ea"/>
              </a:rPr>
              <a:t>グローバル</a:t>
            </a:r>
            <a:endParaRPr lang="en-US" altLang="ja-JP" dirty="0">
              <a:solidFill>
                <a:schemeClr val="accent5"/>
              </a:solidFill>
              <a:latin typeface="+mn-ea"/>
              <a:ea typeface="+mn-ea"/>
            </a:endParaRPr>
          </a:p>
          <a:p>
            <a:pPr eaLnBrk="0" hangingPunct="0"/>
            <a:r>
              <a:rPr lang="ja-JP" altLang="en-US" dirty="0">
                <a:solidFill>
                  <a:schemeClr val="accent5"/>
                </a:solidFill>
                <a:latin typeface="+mn-ea"/>
                <a:ea typeface="+mn-ea"/>
              </a:rPr>
              <a:t>履歴</a:t>
            </a:r>
            <a:endParaRPr lang="en-US" altLang="ja-JP" dirty="0">
              <a:solidFill>
                <a:schemeClr val="accent5"/>
              </a:solidFill>
              <a:latin typeface="+mn-ea"/>
              <a:ea typeface="+mn-ea"/>
            </a:endParaRPr>
          </a:p>
        </p:txBody>
      </p:sp>
      <p:cxnSp>
        <p:nvCxnSpPr>
          <p:cNvPr id="54" name="直線コネクタ 53"/>
          <p:cNvCxnSpPr/>
          <p:nvPr/>
        </p:nvCxnSpPr>
        <p:spPr bwMode="auto">
          <a:xfrm>
            <a:off x="6096153" y="1718981"/>
            <a:ext cx="720008"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57" name="直線矢印コネクタ 56"/>
          <p:cNvCxnSpPr/>
          <p:nvPr/>
        </p:nvCxnSpPr>
        <p:spPr bwMode="auto">
          <a:xfrm flipH="1">
            <a:off x="7986021" y="4239010"/>
            <a:ext cx="1640" cy="1170013"/>
          </a:xfrm>
          <a:prstGeom prst="straightConnector1">
            <a:avLst/>
          </a:prstGeom>
          <a:ln>
            <a:headEnd type="none" w="sm" len="sm"/>
            <a:tailEnd type="triangle" w="lg" len="lg"/>
          </a:ln>
        </p:spPr>
        <p:style>
          <a:lnRef idx="2">
            <a:schemeClr val="accent5"/>
          </a:lnRef>
          <a:fillRef idx="0">
            <a:schemeClr val="accent5"/>
          </a:fillRef>
          <a:effectRef idx="1">
            <a:schemeClr val="accent5"/>
          </a:effectRef>
          <a:fontRef idx="minor">
            <a:schemeClr val="tx1"/>
          </a:fontRef>
        </p:style>
      </p:cxnSp>
      <p:sp>
        <p:nvSpPr>
          <p:cNvPr id="58" name="Freeform 10"/>
          <p:cNvSpPr>
            <a:spLocks/>
          </p:cNvSpPr>
          <p:nvPr/>
        </p:nvSpPr>
        <p:spPr bwMode="auto">
          <a:xfrm rot="10800000">
            <a:off x="6456004" y="1988983"/>
            <a:ext cx="2250025" cy="342003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triangle" w="lg" len="lg"/>
            <a:tailEnd type="none" w="med" len="med"/>
          </a:ln>
        </p:spPr>
        <p:style>
          <a:lnRef idx="2">
            <a:schemeClr val="dk1"/>
          </a:lnRef>
          <a:fillRef idx="0">
            <a:schemeClr val="dk1"/>
          </a:fillRef>
          <a:effectRef idx="1">
            <a:schemeClr val="dk1"/>
          </a:effectRef>
          <a:fontRef idx="minor">
            <a:schemeClr val="tx1"/>
          </a:fontRef>
        </p:style>
        <p:txBody>
          <a:bodyPr/>
          <a:lstStyle/>
          <a:p>
            <a:endParaRPr lang="ja-JP" altLang="en-US">
              <a:latin typeface="Arial Narrow" pitchFamily="34" charset="0"/>
              <a:cs typeface="Times New Roman" pitchFamily="18" charset="0"/>
            </a:endParaRPr>
          </a:p>
        </p:txBody>
      </p:sp>
      <p:sp>
        <p:nvSpPr>
          <p:cNvPr id="59" name="Rectangle 154"/>
          <p:cNvSpPr>
            <a:spLocks noChangeArrowheads="1"/>
          </p:cNvSpPr>
          <p:nvPr/>
        </p:nvSpPr>
        <p:spPr bwMode="auto">
          <a:xfrm>
            <a:off x="9517678" y="2350575"/>
            <a:ext cx="718369" cy="2608442"/>
          </a:xfrm>
          <a:prstGeom prst="rect">
            <a:avLst/>
          </a:prstGeom>
          <a:ln>
            <a:solidFill>
              <a:schemeClr val="tx1">
                <a:lumMod val="75000"/>
                <a:lumOff val="25000"/>
              </a:schemeClr>
            </a:solidFill>
            <a:headEnd/>
            <a:tailEnd/>
          </a:ln>
        </p:spPr>
        <p:style>
          <a:lnRef idx="2">
            <a:schemeClr val="dk1"/>
          </a:lnRef>
          <a:fillRef idx="1">
            <a:schemeClr val="lt1"/>
          </a:fillRef>
          <a:effectRef idx="0">
            <a:schemeClr val="dk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MeiryoKe_PGothic" pitchFamily="50" charset="-128"/>
              <a:ea typeface="MeiryoKe_PGothic" pitchFamily="50" charset="-128"/>
            </a:endParaRPr>
          </a:p>
        </p:txBody>
      </p:sp>
      <p:sp>
        <p:nvSpPr>
          <p:cNvPr id="60" name="Rectangle 195"/>
          <p:cNvSpPr>
            <a:spLocks noChangeArrowheads="1"/>
          </p:cNvSpPr>
          <p:nvPr/>
        </p:nvSpPr>
        <p:spPr bwMode="auto">
          <a:xfrm>
            <a:off x="9516038" y="3429001"/>
            <a:ext cx="720008" cy="360363"/>
          </a:xfrm>
          <a:prstGeom prst="rect">
            <a:avLst/>
          </a:prstGeom>
          <a:ln>
            <a:headEnd/>
            <a:tailEnd/>
          </a:ln>
        </p:spPr>
        <p:style>
          <a:lnRef idx="1">
            <a:schemeClr val="dk1"/>
          </a:lnRef>
          <a:fillRef idx="2">
            <a:schemeClr val="dk1"/>
          </a:fillRef>
          <a:effectRef idx="1">
            <a:schemeClr val="dk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tx1">
                    <a:lumMod val="75000"/>
                    <a:lumOff val="25000"/>
                  </a:schemeClr>
                </a:solidFill>
                <a:latin typeface="MeiryoKe_PGothic" pitchFamily="50" charset="-128"/>
                <a:ea typeface="MeiryoKe_PGothic" pitchFamily="50" charset="-128"/>
              </a:rPr>
              <a:t>01</a:t>
            </a:r>
            <a:endParaRPr lang="ja-JP" altLang="en-US" b="1" dirty="0">
              <a:solidFill>
                <a:schemeClr val="tx1">
                  <a:lumMod val="75000"/>
                  <a:lumOff val="25000"/>
                </a:schemeClr>
              </a:solidFill>
              <a:latin typeface="MeiryoKe_PGothic" pitchFamily="50" charset="-128"/>
              <a:ea typeface="MeiryoKe_PGothic" pitchFamily="50" charset="-128"/>
            </a:endParaRPr>
          </a:p>
        </p:txBody>
      </p:sp>
      <p:sp>
        <p:nvSpPr>
          <p:cNvPr id="61" name="正方形/長方形 60"/>
          <p:cNvSpPr/>
          <p:nvPr/>
        </p:nvSpPr>
        <p:spPr bwMode="auto">
          <a:xfrm>
            <a:off x="9516039" y="2348988"/>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62" name="正方形/長方形 61"/>
          <p:cNvSpPr/>
          <p:nvPr/>
        </p:nvSpPr>
        <p:spPr bwMode="auto">
          <a:xfrm>
            <a:off x="9516039" y="2708992"/>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63" name="正方形/長方形 62"/>
          <p:cNvSpPr/>
          <p:nvPr/>
        </p:nvSpPr>
        <p:spPr bwMode="auto">
          <a:xfrm>
            <a:off x="9156035" y="2348988"/>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0</a:t>
            </a:r>
            <a:endParaRPr lang="ja-JP" altLang="en-US" sz="2000" dirty="0">
              <a:solidFill>
                <a:schemeClr val="tx1">
                  <a:lumMod val="75000"/>
                  <a:lumOff val="25000"/>
                </a:schemeClr>
              </a:solidFill>
              <a:latin typeface="Arial Narrow" panose="020B0606020202030204" pitchFamily="34" charset="0"/>
            </a:endParaRPr>
          </a:p>
        </p:txBody>
      </p:sp>
      <p:sp>
        <p:nvSpPr>
          <p:cNvPr id="64" name="正方形/長方形 63"/>
          <p:cNvSpPr/>
          <p:nvPr/>
        </p:nvSpPr>
        <p:spPr bwMode="auto">
          <a:xfrm>
            <a:off x="9156034" y="2708992"/>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1</a:t>
            </a:r>
            <a:endParaRPr lang="ja-JP" altLang="en-US" sz="2000" dirty="0">
              <a:solidFill>
                <a:schemeClr val="tx1">
                  <a:lumMod val="75000"/>
                  <a:lumOff val="25000"/>
                </a:schemeClr>
              </a:solidFill>
              <a:latin typeface="Arial Narrow" panose="020B0606020202030204" pitchFamily="34" charset="0"/>
            </a:endParaRPr>
          </a:p>
        </p:txBody>
      </p:sp>
      <p:sp>
        <p:nvSpPr>
          <p:cNvPr id="65" name="正方形/長方形 64"/>
          <p:cNvSpPr/>
          <p:nvPr/>
        </p:nvSpPr>
        <p:spPr bwMode="auto">
          <a:xfrm>
            <a:off x="9156034" y="2978995"/>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66" name="正方形/長方形 65"/>
          <p:cNvSpPr/>
          <p:nvPr/>
        </p:nvSpPr>
        <p:spPr bwMode="auto">
          <a:xfrm>
            <a:off x="9696040" y="4059007"/>
            <a:ext cx="3477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67" name="正方形/長方形 66"/>
          <p:cNvSpPr/>
          <p:nvPr/>
        </p:nvSpPr>
        <p:spPr bwMode="auto">
          <a:xfrm>
            <a:off x="9516039" y="4599013"/>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68" name="正方形/長方形 67"/>
          <p:cNvSpPr/>
          <p:nvPr/>
        </p:nvSpPr>
        <p:spPr bwMode="auto">
          <a:xfrm>
            <a:off x="9696040" y="2978995"/>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69" name="Freeform 10"/>
          <p:cNvSpPr>
            <a:spLocks/>
          </p:cNvSpPr>
          <p:nvPr/>
        </p:nvSpPr>
        <p:spPr bwMode="auto">
          <a:xfrm rot="16200000" flipV="1">
            <a:off x="8301025" y="5454022"/>
            <a:ext cx="810008" cy="72000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none" w="lg" len="lg"/>
            <a:tailEnd type="none" w="med" len="med"/>
          </a:ln>
        </p:spPr>
        <p:style>
          <a:lnRef idx="2">
            <a:schemeClr val="dk1"/>
          </a:lnRef>
          <a:fillRef idx="0">
            <a:schemeClr val="dk1"/>
          </a:fillRef>
          <a:effectRef idx="1">
            <a:schemeClr val="dk1"/>
          </a:effectRef>
          <a:fontRef idx="minor">
            <a:schemeClr val="tx1"/>
          </a:fontRef>
        </p:style>
        <p:txBody>
          <a:bodyPr/>
          <a:lstStyle/>
          <a:p>
            <a:endParaRPr lang="ja-JP" altLang="en-US">
              <a:latin typeface="Arial Narrow" pitchFamily="34" charset="0"/>
              <a:cs typeface="Times New Roman" pitchFamily="18" charset="0"/>
            </a:endParaRPr>
          </a:p>
        </p:txBody>
      </p:sp>
      <p:cxnSp>
        <p:nvCxnSpPr>
          <p:cNvPr id="70" name="直線コネクタ 69"/>
          <p:cNvCxnSpPr/>
          <p:nvPr/>
        </p:nvCxnSpPr>
        <p:spPr bwMode="auto">
          <a:xfrm>
            <a:off x="7806019" y="5409022"/>
            <a:ext cx="1080012"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71" name="Freeform 10"/>
          <p:cNvSpPr>
            <a:spLocks/>
          </p:cNvSpPr>
          <p:nvPr/>
        </p:nvSpPr>
        <p:spPr bwMode="auto">
          <a:xfrm rot="5400000">
            <a:off x="7941020" y="4734017"/>
            <a:ext cx="2610031"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triangle" w="lg" len="lg"/>
            <a:tailEnd type="none" w="med" len="med"/>
          </a:ln>
        </p:spPr>
        <p:style>
          <a:lnRef idx="2">
            <a:schemeClr val="dk1"/>
          </a:lnRef>
          <a:fillRef idx="0">
            <a:schemeClr val="dk1"/>
          </a:fillRef>
          <a:effectRef idx="1">
            <a:schemeClr val="dk1"/>
          </a:effectRef>
          <a:fontRef idx="minor">
            <a:schemeClr val="tx1"/>
          </a:fontRef>
        </p:style>
        <p:txBody>
          <a:bodyPr/>
          <a:lstStyle/>
          <a:p>
            <a:endParaRPr lang="ja-JP" altLang="en-US">
              <a:latin typeface="Arial Narrow" pitchFamily="34" charset="0"/>
              <a:cs typeface="Times New Roman" pitchFamily="18" charset="0"/>
            </a:endParaRPr>
          </a:p>
        </p:txBody>
      </p:sp>
      <p:sp>
        <p:nvSpPr>
          <p:cNvPr id="72" name="Rectangle 133"/>
          <p:cNvSpPr>
            <a:spLocks noChangeArrowheads="1"/>
          </p:cNvSpPr>
          <p:nvPr/>
        </p:nvSpPr>
        <p:spPr bwMode="auto">
          <a:xfrm>
            <a:off x="9516039" y="1988985"/>
            <a:ext cx="719803"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en-US" altLang="ja-JP" dirty="0">
                <a:solidFill>
                  <a:schemeClr val="tx1">
                    <a:lumMod val="75000"/>
                    <a:lumOff val="25000"/>
                  </a:schemeClr>
                </a:solidFill>
                <a:latin typeface="+mn-ea"/>
                <a:ea typeface="+mn-ea"/>
              </a:rPr>
              <a:t>PHT</a:t>
            </a:r>
          </a:p>
        </p:txBody>
      </p:sp>
      <p:sp>
        <p:nvSpPr>
          <p:cNvPr id="73" name="Rectangle 133"/>
          <p:cNvSpPr>
            <a:spLocks noChangeArrowheads="1"/>
          </p:cNvSpPr>
          <p:nvPr/>
        </p:nvSpPr>
        <p:spPr bwMode="auto">
          <a:xfrm>
            <a:off x="7626018" y="5499024"/>
            <a:ext cx="719803"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ja-JP" altLang="en-US" dirty="0">
                <a:solidFill>
                  <a:schemeClr val="tx1">
                    <a:lumMod val="75000"/>
                    <a:lumOff val="25000"/>
                  </a:schemeClr>
                </a:solidFill>
                <a:latin typeface="+mn-ea"/>
                <a:ea typeface="+mn-ea"/>
              </a:rPr>
              <a:t>連結</a:t>
            </a:r>
            <a:endParaRPr lang="en-US" altLang="ja-JP" dirty="0">
              <a:solidFill>
                <a:schemeClr val="tx1">
                  <a:lumMod val="75000"/>
                  <a:lumOff val="25000"/>
                </a:schemeClr>
              </a:solidFill>
              <a:latin typeface="+mn-ea"/>
              <a:ea typeface="+mn-ea"/>
            </a:endParaRPr>
          </a:p>
        </p:txBody>
      </p:sp>
      <p:cxnSp>
        <p:nvCxnSpPr>
          <p:cNvPr id="74" name="直線矢印コネクタ 73"/>
          <p:cNvCxnSpPr/>
          <p:nvPr/>
        </p:nvCxnSpPr>
        <p:spPr bwMode="auto">
          <a:xfrm>
            <a:off x="6456004" y="1718982"/>
            <a:ext cx="0" cy="270003"/>
          </a:xfrm>
          <a:prstGeom prst="straightConnector1">
            <a:avLst/>
          </a:prstGeom>
          <a:ln>
            <a:headEnd type="none" w="sm" len="sm"/>
            <a:tailEnd type="none" w="lg" len="lg"/>
          </a:ln>
        </p:spPr>
        <p:style>
          <a:lnRef idx="2">
            <a:schemeClr val="dk1"/>
          </a:lnRef>
          <a:fillRef idx="0">
            <a:schemeClr val="dk1"/>
          </a:fillRef>
          <a:effectRef idx="1">
            <a:schemeClr val="dk1"/>
          </a:effectRef>
          <a:fontRef idx="minor">
            <a:schemeClr val="tx1"/>
          </a:fontRef>
        </p:style>
      </p:cxnSp>
      <p:sp>
        <p:nvSpPr>
          <p:cNvPr id="75" name="正方形/長方形 74"/>
          <p:cNvSpPr/>
          <p:nvPr/>
        </p:nvSpPr>
        <p:spPr>
          <a:xfrm>
            <a:off x="1865954" y="1358977"/>
            <a:ext cx="6210069" cy="2308324"/>
          </a:xfrm>
          <a:prstGeom prst="rect">
            <a:avLst/>
          </a:prstGeom>
        </p:spPr>
        <p:txBody>
          <a:bodyPr wrap="square">
            <a:spAutoFit/>
          </a:bodyPr>
          <a:lstStyle/>
          <a:p>
            <a:pPr>
              <a:lnSpc>
                <a:spcPct val="80000"/>
              </a:lnSpc>
            </a:pPr>
            <a:r>
              <a:rPr lang="en-US" altLang="ja-JP" dirty="0">
                <a:solidFill>
                  <a:schemeClr val="accent1"/>
                </a:solidFill>
                <a:latin typeface="Consolas" panose="020B0609020204030204" pitchFamily="49" charset="0"/>
              </a:rPr>
              <a:t>if</a:t>
            </a:r>
            <a:r>
              <a:rPr lang="en-US" altLang="ja-JP" dirty="0">
                <a:solidFill>
                  <a:schemeClr val="tx1">
                    <a:lumMod val="75000"/>
                    <a:lumOff val="25000"/>
                  </a:schemeClr>
                </a:solidFill>
                <a:latin typeface="Consolas" panose="020B0609020204030204" pitchFamily="49" charset="0"/>
              </a:rPr>
              <a:t> (option == 1) {} </a:t>
            </a:r>
            <a:r>
              <a:rPr lang="en-US" altLang="ja-JP" dirty="0">
                <a:solidFill>
                  <a:schemeClr val="accent3">
                    <a:lumMod val="75000"/>
                  </a:schemeClr>
                </a:solidFill>
                <a:latin typeface="Consolas" panose="020B0609020204030204" pitchFamily="49" charset="0"/>
              </a:rPr>
              <a:t>// 1</a:t>
            </a:r>
          </a:p>
          <a:p>
            <a:pPr>
              <a:lnSpc>
                <a:spcPct val="80000"/>
              </a:lnSpc>
            </a:pPr>
            <a:endParaRPr lang="en-US" altLang="ja-JP" dirty="0">
              <a:solidFill>
                <a:schemeClr val="tx1">
                  <a:lumMod val="75000"/>
                  <a:lumOff val="25000"/>
                </a:schemeClr>
              </a:solidFill>
              <a:latin typeface="Consolas" panose="020B0609020204030204" pitchFamily="49" charset="0"/>
            </a:endParaRPr>
          </a:p>
          <a:p>
            <a:pPr>
              <a:lnSpc>
                <a:spcPct val="80000"/>
              </a:lnSpc>
            </a:pPr>
            <a:r>
              <a:rPr lang="en-US" altLang="ja-JP" dirty="0">
                <a:solidFill>
                  <a:schemeClr val="accent1"/>
                </a:solidFill>
                <a:latin typeface="Consolas" panose="020B0609020204030204" pitchFamily="49" charset="0"/>
              </a:rPr>
              <a:t>if</a:t>
            </a:r>
            <a:r>
              <a:rPr lang="en-US" altLang="ja-JP" dirty="0">
                <a:solidFill>
                  <a:schemeClr val="tx1">
                    <a:lumMod val="75000"/>
                    <a:lumOff val="25000"/>
                  </a:schemeClr>
                </a:solidFill>
                <a:latin typeface="Consolas" panose="020B0609020204030204" pitchFamily="49" charset="0"/>
              </a:rPr>
              <a:t> (option != 1) {} </a:t>
            </a:r>
            <a:r>
              <a:rPr lang="en-US" altLang="ja-JP" dirty="0">
                <a:solidFill>
                  <a:schemeClr val="accent3">
                    <a:lumMod val="75000"/>
                  </a:schemeClr>
                </a:solidFill>
                <a:latin typeface="Consolas" panose="020B0609020204030204" pitchFamily="49" charset="0"/>
              </a:rPr>
              <a:t>// 0</a:t>
            </a:r>
          </a:p>
          <a:p>
            <a:pPr>
              <a:lnSpc>
                <a:spcPct val="80000"/>
              </a:lnSpc>
            </a:pPr>
            <a:endParaRPr lang="en-US" altLang="ja-JP" dirty="0">
              <a:solidFill>
                <a:schemeClr val="tx1">
                  <a:lumMod val="75000"/>
                  <a:lumOff val="25000"/>
                </a:schemeClr>
              </a:solidFill>
              <a:latin typeface="Consolas" panose="020B0609020204030204" pitchFamily="49" charset="0"/>
            </a:endParaRPr>
          </a:p>
          <a:p>
            <a:pPr>
              <a:lnSpc>
                <a:spcPct val="80000"/>
              </a:lnSpc>
            </a:pPr>
            <a:r>
              <a:rPr lang="en-US" altLang="ja-JP" dirty="0">
                <a:solidFill>
                  <a:schemeClr val="accent1"/>
                </a:solidFill>
                <a:latin typeface="Consolas" panose="020B0609020204030204" pitchFamily="49" charset="0"/>
              </a:rPr>
              <a:t>if</a:t>
            </a:r>
            <a:r>
              <a:rPr lang="en-US" altLang="ja-JP" dirty="0">
                <a:solidFill>
                  <a:schemeClr val="tx1">
                    <a:lumMod val="75000"/>
                    <a:lumOff val="25000"/>
                  </a:schemeClr>
                </a:solidFill>
                <a:latin typeface="Consolas" panose="020B0609020204030204" pitchFamily="49" charset="0"/>
              </a:rPr>
              <a:t> (...) {}         </a:t>
            </a:r>
            <a:r>
              <a:rPr lang="en-US" altLang="ja-JP" dirty="0">
                <a:solidFill>
                  <a:schemeClr val="accent3">
                    <a:lumMod val="75000"/>
                  </a:schemeClr>
                </a:solidFill>
                <a:latin typeface="Consolas" panose="020B0609020204030204" pitchFamily="49" charset="0"/>
              </a:rPr>
              <a:t>// 1</a:t>
            </a:r>
          </a:p>
          <a:p>
            <a:pPr>
              <a:lnSpc>
                <a:spcPct val="80000"/>
              </a:lnSpc>
            </a:pPr>
            <a:endParaRPr lang="en-US" altLang="ja-JP" dirty="0">
              <a:solidFill>
                <a:schemeClr val="tx1">
                  <a:lumMod val="75000"/>
                  <a:lumOff val="25000"/>
                </a:schemeClr>
              </a:solidFill>
              <a:latin typeface="Consolas" panose="020B0609020204030204" pitchFamily="49" charset="0"/>
            </a:endParaRPr>
          </a:p>
          <a:p>
            <a:pPr>
              <a:lnSpc>
                <a:spcPct val="80000"/>
              </a:lnSpc>
            </a:pPr>
            <a:r>
              <a:rPr lang="en-US" altLang="ja-JP" dirty="0">
                <a:solidFill>
                  <a:schemeClr val="accent1"/>
                </a:solidFill>
                <a:latin typeface="Consolas" panose="020B0609020204030204" pitchFamily="49" charset="0"/>
              </a:rPr>
              <a:t>if</a:t>
            </a:r>
            <a:r>
              <a:rPr lang="en-US" altLang="ja-JP" dirty="0">
                <a:solidFill>
                  <a:schemeClr val="tx1">
                    <a:lumMod val="75000"/>
                    <a:lumOff val="25000"/>
                  </a:schemeClr>
                </a:solidFill>
                <a:latin typeface="Consolas" panose="020B0609020204030204" pitchFamily="49" charset="0"/>
              </a:rPr>
              <a:t> (...) {}         </a:t>
            </a:r>
            <a:r>
              <a:rPr lang="en-US" altLang="ja-JP" dirty="0">
                <a:solidFill>
                  <a:schemeClr val="accent3">
                    <a:lumMod val="75000"/>
                  </a:schemeClr>
                </a:solidFill>
                <a:latin typeface="Consolas" panose="020B0609020204030204" pitchFamily="49" charset="0"/>
              </a:rPr>
              <a:t>// 1</a:t>
            </a:r>
          </a:p>
          <a:p>
            <a:pPr>
              <a:lnSpc>
                <a:spcPct val="80000"/>
              </a:lnSpc>
            </a:pPr>
            <a:endParaRPr lang="en-US" altLang="ja-JP" dirty="0">
              <a:solidFill>
                <a:schemeClr val="accent3">
                  <a:lumMod val="75000"/>
                </a:schemeClr>
              </a:solidFill>
              <a:latin typeface="Consolas" panose="020B0609020204030204" pitchFamily="49" charset="0"/>
            </a:endParaRPr>
          </a:p>
          <a:p>
            <a:pPr>
              <a:lnSpc>
                <a:spcPct val="80000"/>
              </a:lnSpc>
            </a:pPr>
            <a:r>
              <a:rPr lang="en-US" altLang="ja-JP" dirty="0">
                <a:solidFill>
                  <a:schemeClr val="accent1"/>
                </a:solidFill>
                <a:latin typeface="Consolas" panose="020B0609020204030204" pitchFamily="49" charset="0"/>
              </a:rPr>
              <a:t>if</a:t>
            </a:r>
            <a:r>
              <a:rPr lang="en-US" altLang="ja-JP" dirty="0">
                <a:solidFill>
                  <a:schemeClr val="tx1">
                    <a:lumMod val="75000"/>
                    <a:lumOff val="25000"/>
                  </a:schemeClr>
                </a:solidFill>
                <a:latin typeface="Consolas" panose="020B0609020204030204" pitchFamily="49" charset="0"/>
              </a:rPr>
              <a:t> (...) {}         </a:t>
            </a:r>
            <a:r>
              <a:rPr lang="en-US" altLang="ja-JP" dirty="0">
                <a:solidFill>
                  <a:schemeClr val="accent3">
                    <a:lumMod val="75000"/>
                  </a:schemeClr>
                </a:solidFill>
                <a:latin typeface="Consolas" panose="020B0609020204030204" pitchFamily="49" charset="0"/>
              </a:rPr>
              <a:t>// ???</a:t>
            </a:r>
          </a:p>
          <a:p>
            <a:pPr>
              <a:lnSpc>
                <a:spcPct val="80000"/>
              </a:lnSpc>
            </a:pPr>
            <a:endParaRPr lang="en-US" altLang="ja-JP" dirty="0">
              <a:solidFill>
                <a:schemeClr val="tx1">
                  <a:lumMod val="75000"/>
                  <a:lumOff val="25000"/>
                </a:schemeClr>
              </a:solidFill>
              <a:latin typeface="Consolas" panose="020B0609020204030204" pitchFamily="49" charset="0"/>
            </a:endParaRPr>
          </a:p>
        </p:txBody>
      </p:sp>
    </p:spTree>
    <p:extLst>
      <p:ext uri="{BB962C8B-B14F-4D97-AF65-F5344CB8AC3E}">
        <p14:creationId xmlns:p14="http://schemas.microsoft.com/office/powerpoint/2010/main" val="31270464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グローバル予測器の利点</a:t>
            </a:r>
          </a:p>
        </p:txBody>
      </p:sp>
      <p:sp>
        <p:nvSpPr>
          <p:cNvPr id="3" name="テキスト プレースホルダー 2"/>
          <p:cNvSpPr>
            <a:spLocks noGrp="1"/>
          </p:cNvSpPr>
          <p:nvPr>
            <p:ph type="body" sz="quarter" idx="10"/>
          </p:nvPr>
        </p:nvSpPr>
        <p:spPr/>
        <p:txBody>
          <a:bodyPr/>
          <a:lstStyle/>
          <a:p>
            <a:r>
              <a:rPr kumimoji="1" lang="ja-JP" altLang="en-US" dirty="0"/>
              <a:t>利点：</a:t>
            </a:r>
            <a:endParaRPr kumimoji="1" lang="en-US" altLang="ja-JP" dirty="0"/>
          </a:p>
          <a:p>
            <a:pPr marL="817200" lvl="1" indent="-457200">
              <a:buFont typeface="+mj-lt"/>
              <a:buAutoNum type="arabicPeriod"/>
            </a:pPr>
            <a:r>
              <a:rPr lang="ja-JP" altLang="en-US" dirty="0"/>
              <a:t>異なる静的</a:t>
            </a:r>
            <a:r>
              <a:rPr kumimoji="1" lang="ja-JP" altLang="en-US" dirty="0"/>
              <a:t>分岐の間にある相関を拾える</a:t>
            </a:r>
            <a:endParaRPr kumimoji="1" lang="en-US" altLang="ja-JP" dirty="0"/>
          </a:p>
          <a:p>
            <a:pPr lvl="2"/>
            <a:r>
              <a:rPr lang="ja-JP" altLang="en-US" dirty="0"/>
              <a:t>例：～行目の </a:t>
            </a:r>
            <a:r>
              <a:rPr lang="en-US" altLang="ja-JP" dirty="0"/>
              <a:t>if </a:t>
            </a:r>
            <a:r>
              <a:rPr lang="ja-JP" altLang="en-US" dirty="0"/>
              <a:t>と ～ 行目の </a:t>
            </a:r>
            <a:r>
              <a:rPr lang="en-US" altLang="ja-JP" dirty="0"/>
              <a:t>if </a:t>
            </a:r>
            <a:r>
              <a:rPr lang="ja-JP" altLang="en-US" dirty="0"/>
              <a:t>は常に同じ方向</a:t>
            </a:r>
            <a:endParaRPr lang="en-US" altLang="ja-JP" dirty="0"/>
          </a:p>
          <a:p>
            <a:pPr lvl="2"/>
            <a:r>
              <a:rPr lang="ja-JP" altLang="en-US" dirty="0"/>
              <a:t>ローカル履歴予測器では拾えない</a:t>
            </a:r>
            <a:br>
              <a:rPr lang="en-US" altLang="ja-JP" dirty="0"/>
            </a:br>
            <a:endParaRPr kumimoji="1" lang="en-US" altLang="ja-JP" dirty="0"/>
          </a:p>
          <a:p>
            <a:pPr marL="817200" lvl="1" indent="-457200">
              <a:buFont typeface="+mj-lt"/>
              <a:buAutoNum type="arabicPeriod"/>
            </a:pPr>
            <a:r>
              <a:rPr kumimoji="1" lang="ja-JP" altLang="en-US" dirty="0"/>
              <a:t>ローカル履歴に対応する相関も拾える</a:t>
            </a:r>
            <a:endParaRPr kumimoji="1" lang="en-US" altLang="ja-JP" dirty="0"/>
          </a:p>
          <a:p>
            <a:pPr lvl="2"/>
            <a:r>
              <a:rPr kumimoji="1" lang="ja-JP" altLang="en-US" dirty="0"/>
              <a:t>直前に実行された動的分岐の方向を区別なく使用</a:t>
            </a:r>
            <a:endParaRPr kumimoji="1" lang="en-US" altLang="ja-JP" dirty="0"/>
          </a:p>
          <a:p>
            <a:pPr lvl="2"/>
            <a:r>
              <a:rPr kumimoji="1" lang="ja-JP" altLang="en-US" dirty="0"/>
              <a:t>なのでループのような同じアドレスの分岐も内包している</a:t>
            </a:r>
          </a:p>
        </p:txBody>
      </p:sp>
    </p:spTree>
    <p:extLst>
      <p:ext uri="{BB962C8B-B14F-4D97-AF65-F5344CB8AC3E}">
        <p14:creationId xmlns:p14="http://schemas.microsoft.com/office/powerpoint/2010/main" val="37751958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履歴長と予測精度</a:t>
            </a:r>
          </a:p>
        </p:txBody>
      </p:sp>
      <p:sp>
        <p:nvSpPr>
          <p:cNvPr id="3" name="テキスト プレースホルダー 2"/>
          <p:cNvSpPr>
            <a:spLocks noGrp="1"/>
          </p:cNvSpPr>
          <p:nvPr>
            <p:ph type="body" sz="quarter" idx="10"/>
          </p:nvPr>
        </p:nvSpPr>
        <p:spPr/>
        <p:txBody>
          <a:bodyPr/>
          <a:lstStyle/>
          <a:p>
            <a:r>
              <a:rPr kumimoji="1" lang="ja-JP" altLang="en-US" dirty="0"/>
              <a:t>一般に，グローバル履歴長を長くするほど精度はあがる</a:t>
            </a:r>
            <a:endParaRPr kumimoji="1" lang="en-US" altLang="ja-JP" dirty="0"/>
          </a:p>
          <a:p>
            <a:pPr lvl="1"/>
            <a:r>
              <a:rPr kumimoji="1" lang="ja-JP" altLang="en-US" dirty="0"/>
              <a:t>より遠い分岐の相関が拾えるようになる</a:t>
            </a:r>
            <a:endParaRPr kumimoji="1" lang="en-US" altLang="ja-JP" dirty="0"/>
          </a:p>
          <a:p>
            <a:pPr lvl="1"/>
            <a:r>
              <a:rPr kumimoji="1" lang="ja-JP" altLang="en-US" dirty="0"/>
              <a:t>履歴長が</a:t>
            </a:r>
            <a:r>
              <a:rPr kumimoji="1" lang="en-US" altLang="ja-JP" dirty="0"/>
              <a:t>1000</a:t>
            </a:r>
            <a:r>
              <a:rPr kumimoji="1" lang="ja-JP" altLang="en-US" dirty="0"/>
              <a:t>以上のところに相関がある場合もある</a:t>
            </a:r>
            <a:endParaRPr kumimoji="1" lang="en-US" altLang="ja-JP" dirty="0"/>
          </a:p>
          <a:p>
            <a:pPr lvl="2"/>
            <a:r>
              <a:rPr lang="ja-JP" altLang="en-US" dirty="0"/>
              <a:t>ある関数で分岐した後，色んな所にいってまた来るとか</a:t>
            </a:r>
            <a:endParaRPr kumimoji="1" lang="en-US" altLang="ja-JP" dirty="0"/>
          </a:p>
          <a:p>
            <a:r>
              <a:rPr kumimoji="1" lang="ja-JP" altLang="en-US" dirty="0"/>
              <a:t>実際にはハードウェア（特に </a:t>
            </a:r>
            <a:r>
              <a:rPr kumimoji="1" lang="en-US" altLang="ja-JP" dirty="0"/>
              <a:t>PHT </a:t>
            </a:r>
            <a:r>
              <a:rPr kumimoji="1" lang="ja-JP" altLang="en-US" dirty="0"/>
              <a:t>の大きさ）の制約がある</a:t>
            </a:r>
            <a:endParaRPr kumimoji="1" lang="en-US" altLang="ja-JP" dirty="0"/>
          </a:p>
          <a:p>
            <a:pPr lvl="1"/>
            <a:r>
              <a:rPr kumimoji="1" lang="ja-JP" altLang="en-US" dirty="0"/>
              <a:t>１サイクル内にアクセス可能な大きさに限られる</a:t>
            </a:r>
            <a:endParaRPr kumimoji="1" lang="en-US" altLang="ja-JP" dirty="0"/>
          </a:p>
          <a:p>
            <a:pPr lvl="2"/>
            <a:r>
              <a:rPr kumimoji="1" lang="ja-JP" altLang="en-US" dirty="0"/>
              <a:t>最大数</a:t>
            </a:r>
            <a:r>
              <a:rPr kumimoji="1" lang="en-US" altLang="ja-JP" dirty="0"/>
              <a:t>K </a:t>
            </a:r>
            <a:r>
              <a:rPr kumimoji="1" lang="ja-JP" altLang="en-US" dirty="0"/>
              <a:t>エントリ程度</a:t>
            </a:r>
            <a:endParaRPr kumimoji="1" lang="en-US" altLang="ja-JP" dirty="0"/>
          </a:p>
          <a:p>
            <a:pPr lvl="2"/>
            <a:r>
              <a:rPr lang="ja-JP" altLang="en-US" dirty="0"/>
              <a:t>（最近はもうちょっと大きいかも）</a:t>
            </a:r>
            <a:endParaRPr kumimoji="1" lang="en-US" altLang="ja-JP" dirty="0"/>
          </a:p>
          <a:p>
            <a:pPr lvl="1"/>
            <a:r>
              <a:rPr kumimoji="1" lang="ja-JP" altLang="en-US" dirty="0">
                <a:solidFill>
                  <a:schemeClr val="accent5"/>
                </a:solidFill>
              </a:rPr>
              <a:t>履歴長に対し，２の累乗のオーダーでエントリ数が増加</a:t>
            </a:r>
          </a:p>
        </p:txBody>
      </p:sp>
    </p:spTree>
    <p:extLst>
      <p:ext uri="{BB962C8B-B14F-4D97-AF65-F5344CB8AC3E}">
        <p14:creationId xmlns:p14="http://schemas.microsoft.com/office/powerpoint/2010/main" val="34140934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g-share </a:t>
            </a:r>
            <a:r>
              <a:rPr kumimoji="1" lang="ja-JP" altLang="en-US" dirty="0"/>
              <a:t>予測器</a:t>
            </a:r>
          </a:p>
        </p:txBody>
      </p:sp>
      <p:sp>
        <p:nvSpPr>
          <p:cNvPr id="3" name="テキスト プレースホルダー 2"/>
          <p:cNvSpPr>
            <a:spLocks noGrp="1"/>
          </p:cNvSpPr>
          <p:nvPr>
            <p:ph type="body" sz="quarter" idx="10"/>
          </p:nvPr>
        </p:nvSpPr>
        <p:spPr>
          <a:xfrm>
            <a:off x="1775952" y="1088975"/>
            <a:ext cx="8640096" cy="5219751"/>
          </a:xfrm>
        </p:spPr>
        <p:txBody>
          <a:bodyPr/>
          <a:lstStyle/>
          <a:p>
            <a:r>
              <a:rPr kumimoji="1" lang="ja-JP" altLang="en-US" dirty="0"/>
              <a:t>グローバル履歴予測器の一種</a:t>
            </a:r>
            <a:endParaRPr kumimoji="1" lang="en-US" altLang="ja-JP" dirty="0"/>
          </a:p>
          <a:p>
            <a:pPr lvl="1"/>
            <a:r>
              <a:rPr kumimoji="1" lang="ja-JP" altLang="en-US" dirty="0"/>
              <a:t>より長い履歴長でも，エントリ数が大きくならないようにしたもの</a:t>
            </a:r>
            <a:endParaRPr kumimoji="1" lang="en-US" altLang="ja-JP" dirty="0"/>
          </a:p>
          <a:p>
            <a:r>
              <a:rPr kumimoji="1" lang="ja-JP" altLang="en-US" dirty="0"/>
              <a:t>モチベーション：グローバル履歴のパターン自体に偏りがある</a:t>
            </a:r>
            <a:endParaRPr kumimoji="1" lang="en-US" altLang="ja-JP" dirty="0"/>
          </a:p>
          <a:p>
            <a:pPr lvl="1"/>
            <a:r>
              <a:rPr lang="ja-JP" altLang="en-US" dirty="0"/>
              <a:t>たとえば履歴長が</a:t>
            </a:r>
            <a:r>
              <a:rPr lang="en-US" altLang="ja-JP" dirty="0"/>
              <a:t>16</a:t>
            </a:r>
            <a:r>
              <a:rPr lang="ja-JP" altLang="en-US" dirty="0"/>
              <a:t>ビットだとして，</a:t>
            </a:r>
            <a:r>
              <a:rPr lang="en-US" altLang="ja-JP" dirty="0"/>
              <a:t>2</a:t>
            </a:r>
            <a:r>
              <a:rPr lang="ja-JP" altLang="en-US" dirty="0"/>
              <a:t>の</a:t>
            </a:r>
            <a:r>
              <a:rPr lang="en-US" altLang="ja-JP" dirty="0"/>
              <a:t>16</a:t>
            </a:r>
            <a:r>
              <a:rPr lang="ja-JP" altLang="en-US" dirty="0"/>
              <a:t>乗の全ての</a:t>
            </a:r>
            <a:br>
              <a:rPr lang="en-US" altLang="ja-JP" dirty="0"/>
            </a:br>
            <a:r>
              <a:rPr lang="ja-JP" altLang="en-US" dirty="0"/>
              <a:t>パターンは通常現れない</a:t>
            </a:r>
            <a:endParaRPr lang="en-US" altLang="ja-JP" dirty="0"/>
          </a:p>
          <a:p>
            <a:pPr lvl="1"/>
            <a:r>
              <a:rPr kumimoji="1" lang="ja-JP" altLang="en-US" dirty="0"/>
              <a:t>単純に </a:t>
            </a:r>
            <a:r>
              <a:rPr kumimoji="1" lang="en-US" altLang="ja-JP" dirty="0"/>
              <a:t>PC </a:t>
            </a:r>
            <a:r>
              <a:rPr kumimoji="1" lang="ja-JP" altLang="en-US" dirty="0"/>
              <a:t>と連結すると，使われないエントリの方が圧倒的に多い</a:t>
            </a:r>
            <a:endParaRPr kumimoji="1" lang="en-US" altLang="ja-JP" dirty="0"/>
          </a:p>
          <a:p>
            <a:r>
              <a:rPr kumimoji="1" lang="ja-JP" altLang="en-US" dirty="0"/>
              <a:t>ビット連結ではなく，</a:t>
            </a:r>
            <a:r>
              <a:rPr kumimoji="1" lang="en-US" altLang="ja-JP" dirty="0">
                <a:solidFill>
                  <a:schemeClr val="accent5"/>
                </a:solidFill>
              </a:rPr>
              <a:t>XOR </a:t>
            </a:r>
            <a:r>
              <a:rPr kumimoji="1" lang="ja-JP" altLang="en-US" dirty="0">
                <a:solidFill>
                  <a:schemeClr val="accent5"/>
                </a:solidFill>
              </a:rPr>
              <a:t>演算により結合</a:t>
            </a:r>
            <a:endParaRPr kumimoji="1" lang="en-US" altLang="ja-JP" dirty="0">
              <a:solidFill>
                <a:schemeClr val="accent5"/>
              </a:solidFill>
            </a:endParaRPr>
          </a:p>
          <a:p>
            <a:pPr lvl="1"/>
            <a:r>
              <a:rPr lang="ja-JP" altLang="en-US" dirty="0"/>
              <a:t>ビット連結：</a:t>
            </a:r>
            <a:r>
              <a:rPr lang="en-US" altLang="ja-JP" dirty="0"/>
              <a:t>PC </a:t>
            </a:r>
            <a:r>
              <a:rPr lang="ja-JP" altLang="en-US" dirty="0"/>
              <a:t>下位</a:t>
            </a:r>
            <a:r>
              <a:rPr lang="en-US" altLang="ja-JP" dirty="0"/>
              <a:t>16</a:t>
            </a:r>
            <a:r>
              <a:rPr lang="ja-JP" altLang="en-US" dirty="0"/>
              <a:t>ビット </a:t>
            </a:r>
            <a:r>
              <a:rPr lang="en-US" altLang="ja-JP" dirty="0"/>
              <a:t>+ </a:t>
            </a:r>
            <a:r>
              <a:rPr lang="ja-JP" altLang="en-US" dirty="0"/>
              <a:t>履歴</a:t>
            </a:r>
            <a:r>
              <a:rPr lang="en-US" altLang="ja-JP" dirty="0"/>
              <a:t>16</a:t>
            </a:r>
            <a:r>
              <a:rPr lang="ja-JP" altLang="en-US" dirty="0"/>
              <a:t>ビット → ３２ビット</a:t>
            </a:r>
            <a:endParaRPr lang="en-US" altLang="ja-JP" dirty="0"/>
          </a:p>
          <a:p>
            <a:pPr lvl="1"/>
            <a:r>
              <a:rPr kumimoji="1" lang="ja-JP" altLang="en-US" dirty="0"/>
              <a:t>ＸＯＲ演算：</a:t>
            </a:r>
            <a:r>
              <a:rPr lang="en-US" altLang="ja-JP" dirty="0"/>
              <a:t>PC </a:t>
            </a:r>
            <a:r>
              <a:rPr lang="ja-JP" altLang="en-US" dirty="0"/>
              <a:t>下位</a:t>
            </a:r>
            <a:r>
              <a:rPr lang="en-US" altLang="ja-JP" dirty="0"/>
              <a:t>16</a:t>
            </a:r>
            <a:r>
              <a:rPr lang="ja-JP" altLang="en-US" dirty="0"/>
              <a:t>ビット </a:t>
            </a:r>
            <a:r>
              <a:rPr lang="en-US" altLang="ja-JP" dirty="0"/>
              <a:t>+ </a:t>
            </a:r>
            <a:r>
              <a:rPr lang="ja-JP" altLang="en-US" dirty="0"/>
              <a:t>履歴</a:t>
            </a:r>
            <a:r>
              <a:rPr lang="en-US" altLang="ja-JP" dirty="0"/>
              <a:t>16</a:t>
            </a:r>
            <a:r>
              <a:rPr lang="ja-JP" altLang="en-US" dirty="0"/>
              <a:t>ビット → １６ビット</a:t>
            </a:r>
            <a:endParaRPr kumimoji="1" lang="en-US" altLang="ja-JP" dirty="0"/>
          </a:p>
        </p:txBody>
      </p:sp>
    </p:spTree>
    <p:extLst>
      <p:ext uri="{BB962C8B-B14F-4D97-AF65-F5344CB8AC3E}">
        <p14:creationId xmlns:p14="http://schemas.microsoft.com/office/powerpoint/2010/main" val="42871335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g-share </a:t>
            </a:r>
            <a:r>
              <a:rPr kumimoji="1" lang="ja-JP" altLang="en-US" dirty="0"/>
              <a:t>予測器</a:t>
            </a:r>
          </a:p>
        </p:txBody>
      </p:sp>
      <p:sp>
        <p:nvSpPr>
          <p:cNvPr id="3" name="テキスト プレースホルダー 2"/>
          <p:cNvSpPr>
            <a:spLocks noGrp="1"/>
          </p:cNvSpPr>
          <p:nvPr>
            <p:ph type="body" sz="quarter" idx="10"/>
          </p:nvPr>
        </p:nvSpPr>
        <p:spPr>
          <a:xfrm>
            <a:off x="2045955" y="6318302"/>
            <a:ext cx="8280092" cy="539699"/>
          </a:xfrm>
        </p:spPr>
        <p:txBody>
          <a:bodyPr/>
          <a:lstStyle/>
          <a:p>
            <a:r>
              <a:rPr kumimoji="1" lang="ja-JP" altLang="en-US" dirty="0"/>
              <a:t>ビットを単純に連結するかわりに，</a:t>
            </a:r>
            <a:r>
              <a:rPr kumimoji="1" lang="en-US" altLang="ja-JP" dirty="0"/>
              <a:t>XOR </a:t>
            </a:r>
            <a:r>
              <a:rPr kumimoji="1" lang="ja-JP" altLang="en-US" dirty="0"/>
              <a:t>演算して結合</a:t>
            </a:r>
          </a:p>
        </p:txBody>
      </p:sp>
      <p:sp>
        <p:nvSpPr>
          <p:cNvPr id="4" name="Rectangle 128"/>
          <p:cNvSpPr>
            <a:spLocks noChangeArrowheads="1"/>
          </p:cNvSpPr>
          <p:nvPr/>
        </p:nvSpPr>
        <p:spPr bwMode="auto">
          <a:xfrm>
            <a:off x="1863966" y="908973"/>
            <a:ext cx="540006" cy="314325"/>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eaLnBrk="0" hangingPunct="0"/>
            <a:r>
              <a:rPr lang="en-US" altLang="ja-JP" dirty="0">
                <a:solidFill>
                  <a:schemeClr val="tx1">
                    <a:lumMod val="75000"/>
                    <a:lumOff val="25000"/>
                  </a:schemeClr>
                </a:solidFill>
                <a:latin typeface="+mn-ea"/>
                <a:ea typeface="+mn-ea"/>
              </a:rPr>
              <a:t>PC</a:t>
            </a:r>
          </a:p>
        </p:txBody>
      </p:sp>
      <p:sp>
        <p:nvSpPr>
          <p:cNvPr id="5" name="Rectangle 13"/>
          <p:cNvSpPr>
            <a:spLocks noChangeArrowheads="1"/>
          </p:cNvSpPr>
          <p:nvPr/>
        </p:nvSpPr>
        <p:spPr bwMode="auto">
          <a:xfrm>
            <a:off x="1774314" y="1267389"/>
            <a:ext cx="720725" cy="360362"/>
          </a:xfrm>
          <a:prstGeom prst="rect">
            <a:avLst/>
          </a:prstGeom>
          <a:ln>
            <a:headEnd/>
            <a:tailEnd/>
          </a:ln>
        </p:spPr>
        <p:style>
          <a:lnRef idx="1">
            <a:schemeClr val="dk1"/>
          </a:lnRef>
          <a:fillRef idx="2">
            <a:schemeClr val="dk1"/>
          </a:fillRef>
          <a:effectRef idx="1">
            <a:schemeClr val="dk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b="1" dirty="0">
              <a:solidFill>
                <a:schemeClr val="accent3">
                  <a:lumMod val="75000"/>
                </a:schemeClr>
              </a:solidFill>
              <a:latin typeface="MeiryoKe_PGothic" pitchFamily="50" charset="-128"/>
              <a:ea typeface="MeiryoKe_PGothic" pitchFamily="50" charset="-128"/>
            </a:endParaRPr>
          </a:p>
        </p:txBody>
      </p:sp>
      <p:sp>
        <p:nvSpPr>
          <p:cNvPr id="6" name="Rectangle 195"/>
          <p:cNvSpPr>
            <a:spLocks noChangeArrowheads="1"/>
          </p:cNvSpPr>
          <p:nvPr/>
        </p:nvSpPr>
        <p:spPr bwMode="auto">
          <a:xfrm>
            <a:off x="3304330" y="3877419"/>
            <a:ext cx="720008" cy="360363"/>
          </a:xfrm>
          <a:prstGeom prst="rect">
            <a:avLst/>
          </a:prstGeom>
          <a:ln>
            <a:headEnd/>
            <a:tailEnd/>
          </a:ln>
        </p:spPr>
        <p:style>
          <a:lnRef idx="1">
            <a:schemeClr val="dk1"/>
          </a:lnRef>
          <a:fillRef idx="2">
            <a:schemeClr val="dk1"/>
          </a:fillRef>
          <a:effectRef idx="1">
            <a:schemeClr val="dk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tx1">
                    <a:lumMod val="75000"/>
                    <a:lumOff val="25000"/>
                  </a:schemeClr>
                </a:solidFill>
                <a:latin typeface="MeiryoKe_PGothic" pitchFamily="50" charset="-128"/>
                <a:ea typeface="MeiryoKe_PGothic" pitchFamily="50" charset="-128"/>
              </a:rPr>
              <a:t>1011</a:t>
            </a:r>
            <a:endParaRPr lang="ja-JP" altLang="en-US" b="1" dirty="0">
              <a:solidFill>
                <a:schemeClr val="tx1">
                  <a:lumMod val="75000"/>
                  <a:lumOff val="25000"/>
                </a:schemeClr>
              </a:solidFill>
              <a:latin typeface="MeiryoKe_PGothic" pitchFamily="50" charset="-128"/>
              <a:ea typeface="MeiryoKe_PGothic" pitchFamily="50" charset="-128"/>
            </a:endParaRPr>
          </a:p>
        </p:txBody>
      </p:sp>
      <p:sp>
        <p:nvSpPr>
          <p:cNvPr id="7" name="Rectangle 133"/>
          <p:cNvSpPr>
            <a:spLocks noChangeArrowheads="1"/>
          </p:cNvSpPr>
          <p:nvPr/>
        </p:nvSpPr>
        <p:spPr bwMode="auto">
          <a:xfrm>
            <a:off x="2314320" y="4507426"/>
            <a:ext cx="719803"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ja-JP" altLang="en-US" dirty="0">
                <a:solidFill>
                  <a:schemeClr val="tx1">
                    <a:lumMod val="75000"/>
                    <a:lumOff val="25000"/>
                  </a:schemeClr>
                </a:solidFill>
                <a:latin typeface="+mn-ea"/>
                <a:ea typeface="+mn-ea"/>
              </a:rPr>
              <a:t>グローバル</a:t>
            </a:r>
            <a:endParaRPr lang="en-US" altLang="ja-JP" dirty="0">
              <a:solidFill>
                <a:schemeClr val="tx1">
                  <a:lumMod val="75000"/>
                  <a:lumOff val="25000"/>
                </a:schemeClr>
              </a:solidFill>
              <a:latin typeface="+mn-ea"/>
              <a:ea typeface="+mn-ea"/>
            </a:endParaRPr>
          </a:p>
          <a:p>
            <a:pPr eaLnBrk="0" hangingPunct="0"/>
            <a:r>
              <a:rPr lang="ja-JP" altLang="en-US" dirty="0">
                <a:solidFill>
                  <a:schemeClr val="tx1">
                    <a:lumMod val="75000"/>
                    <a:lumOff val="25000"/>
                  </a:schemeClr>
                </a:solidFill>
                <a:latin typeface="+mn-ea"/>
                <a:ea typeface="+mn-ea"/>
              </a:rPr>
              <a:t>履歴</a:t>
            </a:r>
            <a:endParaRPr lang="en-US" altLang="ja-JP" dirty="0">
              <a:solidFill>
                <a:schemeClr val="tx1">
                  <a:lumMod val="75000"/>
                  <a:lumOff val="25000"/>
                </a:schemeClr>
              </a:solidFill>
              <a:latin typeface="+mn-ea"/>
              <a:ea typeface="+mn-ea"/>
            </a:endParaRPr>
          </a:p>
        </p:txBody>
      </p:sp>
      <p:cxnSp>
        <p:nvCxnSpPr>
          <p:cNvPr id="8" name="直線コネクタ 7"/>
          <p:cNvCxnSpPr/>
          <p:nvPr/>
        </p:nvCxnSpPr>
        <p:spPr bwMode="auto">
          <a:xfrm>
            <a:off x="1774466" y="1717394"/>
            <a:ext cx="720008"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9" name="直線矢印コネクタ 8"/>
          <p:cNvCxnSpPr/>
          <p:nvPr/>
        </p:nvCxnSpPr>
        <p:spPr bwMode="auto">
          <a:xfrm flipH="1">
            <a:off x="3664334" y="4237423"/>
            <a:ext cx="1640" cy="1170013"/>
          </a:xfrm>
          <a:prstGeom prst="straightConnector1">
            <a:avLst/>
          </a:prstGeom>
          <a:ln>
            <a:solidFill>
              <a:schemeClr val="tx1">
                <a:lumMod val="75000"/>
                <a:lumOff val="25000"/>
              </a:schemeClr>
            </a:solidFill>
            <a:headEnd type="none" w="sm" len="sm"/>
            <a:tailEnd type="triangle" w="lg" len="lg"/>
          </a:ln>
        </p:spPr>
        <p:style>
          <a:lnRef idx="2">
            <a:schemeClr val="accent5"/>
          </a:lnRef>
          <a:fillRef idx="0">
            <a:schemeClr val="accent5"/>
          </a:fillRef>
          <a:effectRef idx="1">
            <a:schemeClr val="accent5"/>
          </a:effectRef>
          <a:fontRef idx="minor">
            <a:schemeClr val="tx1"/>
          </a:fontRef>
        </p:style>
      </p:cxnSp>
      <p:sp>
        <p:nvSpPr>
          <p:cNvPr id="10" name="Freeform 10"/>
          <p:cNvSpPr>
            <a:spLocks/>
          </p:cNvSpPr>
          <p:nvPr/>
        </p:nvSpPr>
        <p:spPr bwMode="auto">
          <a:xfrm rot="10800000">
            <a:off x="2134317" y="1987396"/>
            <a:ext cx="2250025" cy="342003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triangle" w="lg" len="lg"/>
            <a:tailEnd type="none" w="med" len="med"/>
          </a:ln>
        </p:spPr>
        <p:style>
          <a:lnRef idx="2">
            <a:schemeClr val="dk1"/>
          </a:lnRef>
          <a:fillRef idx="0">
            <a:schemeClr val="dk1"/>
          </a:fillRef>
          <a:effectRef idx="1">
            <a:schemeClr val="dk1"/>
          </a:effectRef>
          <a:fontRef idx="minor">
            <a:schemeClr val="tx1"/>
          </a:fontRef>
        </p:style>
        <p:txBody>
          <a:bodyPr/>
          <a:lstStyle/>
          <a:p>
            <a:endParaRPr lang="ja-JP" altLang="en-US">
              <a:latin typeface="Arial Narrow" pitchFamily="34" charset="0"/>
              <a:cs typeface="Times New Roman" pitchFamily="18" charset="0"/>
            </a:endParaRPr>
          </a:p>
        </p:txBody>
      </p:sp>
      <p:sp>
        <p:nvSpPr>
          <p:cNvPr id="11" name="Rectangle 154"/>
          <p:cNvSpPr>
            <a:spLocks noChangeArrowheads="1"/>
          </p:cNvSpPr>
          <p:nvPr/>
        </p:nvSpPr>
        <p:spPr bwMode="auto">
          <a:xfrm>
            <a:off x="5195991" y="2348988"/>
            <a:ext cx="718369" cy="2608442"/>
          </a:xfrm>
          <a:prstGeom prst="rect">
            <a:avLst/>
          </a:prstGeom>
          <a:ln>
            <a:solidFill>
              <a:schemeClr val="tx1">
                <a:lumMod val="75000"/>
                <a:lumOff val="25000"/>
              </a:schemeClr>
            </a:solidFill>
            <a:headEnd/>
            <a:tailEnd/>
          </a:ln>
        </p:spPr>
        <p:style>
          <a:lnRef idx="2">
            <a:schemeClr val="dk1"/>
          </a:lnRef>
          <a:fillRef idx="1">
            <a:schemeClr val="lt1"/>
          </a:fillRef>
          <a:effectRef idx="0">
            <a:schemeClr val="dk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MeiryoKe_PGothic" pitchFamily="50" charset="-128"/>
              <a:ea typeface="MeiryoKe_PGothic" pitchFamily="50" charset="-128"/>
            </a:endParaRPr>
          </a:p>
        </p:txBody>
      </p:sp>
      <p:sp>
        <p:nvSpPr>
          <p:cNvPr id="12" name="Rectangle 195"/>
          <p:cNvSpPr>
            <a:spLocks noChangeArrowheads="1"/>
          </p:cNvSpPr>
          <p:nvPr/>
        </p:nvSpPr>
        <p:spPr bwMode="auto">
          <a:xfrm>
            <a:off x="5194351" y="3427414"/>
            <a:ext cx="720008" cy="360363"/>
          </a:xfrm>
          <a:prstGeom prst="rect">
            <a:avLst/>
          </a:prstGeom>
          <a:ln>
            <a:headEnd/>
            <a:tailEnd/>
          </a:ln>
        </p:spPr>
        <p:style>
          <a:lnRef idx="1">
            <a:schemeClr val="dk1"/>
          </a:lnRef>
          <a:fillRef idx="2">
            <a:schemeClr val="dk1"/>
          </a:fillRef>
          <a:effectRef idx="1">
            <a:schemeClr val="dk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tx1">
                    <a:lumMod val="75000"/>
                    <a:lumOff val="25000"/>
                  </a:schemeClr>
                </a:solidFill>
                <a:latin typeface="MeiryoKe_PGothic" pitchFamily="50" charset="-128"/>
                <a:ea typeface="MeiryoKe_PGothic" pitchFamily="50" charset="-128"/>
              </a:rPr>
              <a:t>01</a:t>
            </a:r>
            <a:endParaRPr lang="ja-JP" altLang="en-US" b="1" dirty="0">
              <a:solidFill>
                <a:schemeClr val="tx1">
                  <a:lumMod val="75000"/>
                  <a:lumOff val="25000"/>
                </a:schemeClr>
              </a:solidFill>
              <a:latin typeface="MeiryoKe_PGothic" pitchFamily="50" charset="-128"/>
              <a:ea typeface="MeiryoKe_PGothic" pitchFamily="50" charset="-128"/>
            </a:endParaRPr>
          </a:p>
        </p:txBody>
      </p:sp>
      <p:sp>
        <p:nvSpPr>
          <p:cNvPr id="13" name="正方形/長方形 12"/>
          <p:cNvSpPr/>
          <p:nvPr/>
        </p:nvSpPr>
        <p:spPr bwMode="auto">
          <a:xfrm>
            <a:off x="5194352" y="2347401"/>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14" name="正方形/長方形 13"/>
          <p:cNvSpPr/>
          <p:nvPr/>
        </p:nvSpPr>
        <p:spPr bwMode="auto">
          <a:xfrm>
            <a:off x="5194352" y="2707405"/>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15" name="正方形/長方形 14"/>
          <p:cNvSpPr/>
          <p:nvPr/>
        </p:nvSpPr>
        <p:spPr bwMode="auto">
          <a:xfrm>
            <a:off x="4834348" y="2347401"/>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0</a:t>
            </a:r>
            <a:endParaRPr lang="ja-JP" altLang="en-US" sz="2000" dirty="0">
              <a:solidFill>
                <a:schemeClr val="tx1">
                  <a:lumMod val="75000"/>
                  <a:lumOff val="25000"/>
                </a:schemeClr>
              </a:solidFill>
              <a:latin typeface="Arial Narrow" panose="020B0606020202030204" pitchFamily="34" charset="0"/>
            </a:endParaRPr>
          </a:p>
        </p:txBody>
      </p:sp>
      <p:sp>
        <p:nvSpPr>
          <p:cNvPr id="16" name="正方形/長方形 15"/>
          <p:cNvSpPr/>
          <p:nvPr/>
        </p:nvSpPr>
        <p:spPr bwMode="auto">
          <a:xfrm>
            <a:off x="4834347" y="2707405"/>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1</a:t>
            </a:r>
            <a:endParaRPr lang="ja-JP" altLang="en-US" sz="2000" dirty="0">
              <a:solidFill>
                <a:schemeClr val="tx1">
                  <a:lumMod val="75000"/>
                  <a:lumOff val="25000"/>
                </a:schemeClr>
              </a:solidFill>
              <a:latin typeface="Arial Narrow" panose="020B0606020202030204" pitchFamily="34" charset="0"/>
            </a:endParaRPr>
          </a:p>
        </p:txBody>
      </p:sp>
      <p:sp>
        <p:nvSpPr>
          <p:cNvPr id="17" name="正方形/長方形 16"/>
          <p:cNvSpPr/>
          <p:nvPr/>
        </p:nvSpPr>
        <p:spPr bwMode="auto">
          <a:xfrm>
            <a:off x="4834347" y="2977408"/>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18" name="正方形/長方形 17"/>
          <p:cNvSpPr/>
          <p:nvPr/>
        </p:nvSpPr>
        <p:spPr bwMode="auto">
          <a:xfrm>
            <a:off x="5374353" y="4057420"/>
            <a:ext cx="3477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19" name="正方形/長方形 18"/>
          <p:cNvSpPr/>
          <p:nvPr/>
        </p:nvSpPr>
        <p:spPr bwMode="auto">
          <a:xfrm>
            <a:off x="5194352" y="4597426"/>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20" name="正方形/長方形 19"/>
          <p:cNvSpPr/>
          <p:nvPr/>
        </p:nvSpPr>
        <p:spPr bwMode="auto">
          <a:xfrm>
            <a:off x="5374353" y="2977408"/>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21" name="Freeform 10"/>
          <p:cNvSpPr>
            <a:spLocks/>
          </p:cNvSpPr>
          <p:nvPr/>
        </p:nvSpPr>
        <p:spPr bwMode="auto">
          <a:xfrm rot="16200000" flipV="1">
            <a:off x="3979338" y="5452435"/>
            <a:ext cx="810008" cy="72000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none" w="lg" len="lg"/>
            <a:tailEnd type="none" w="med" len="med"/>
          </a:ln>
        </p:spPr>
        <p:style>
          <a:lnRef idx="2">
            <a:schemeClr val="dk1"/>
          </a:lnRef>
          <a:fillRef idx="0">
            <a:schemeClr val="dk1"/>
          </a:fillRef>
          <a:effectRef idx="1">
            <a:schemeClr val="dk1"/>
          </a:effectRef>
          <a:fontRef idx="minor">
            <a:schemeClr val="tx1"/>
          </a:fontRef>
        </p:style>
        <p:txBody>
          <a:bodyPr/>
          <a:lstStyle/>
          <a:p>
            <a:endParaRPr lang="ja-JP" altLang="en-US">
              <a:latin typeface="Arial Narrow" pitchFamily="34" charset="0"/>
              <a:cs typeface="Times New Roman" pitchFamily="18" charset="0"/>
            </a:endParaRPr>
          </a:p>
        </p:txBody>
      </p:sp>
      <p:cxnSp>
        <p:nvCxnSpPr>
          <p:cNvPr id="22" name="直線コネクタ 21"/>
          <p:cNvCxnSpPr/>
          <p:nvPr/>
        </p:nvCxnSpPr>
        <p:spPr bwMode="auto">
          <a:xfrm>
            <a:off x="3484332" y="5407435"/>
            <a:ext cx="1080012" cy="0"/>
          </a:xfrm>
          <a:prstGeom prst="line">
            <a:avLst/>
          </a:prstGeom>
          <a:ln>
            <a:headEnd type="none" w="med" len="med"/>
            <a:tailEnd type="none" w="med" len="med"/>
          </a:ln>
        </p:spPr>
        <p:style>
          <a:lnRef idx="2">
            <a:schemeClr val="accent5"/>
          </a:lnRef>
          <a:fillRef idx="0">
            <a:schemeClr val="accent5"/>
          </a:fillRef>
          <a:effectRef idx="1">
            <a:schemeClr val="accent5"/>
          </a:effectRef>
          <a:fontRef idx="minor">
            <a:schemeClr val="tx1"/>
          </a:fontRef>
        </p:style>
      </p:cxnSp>
      <p:sp>
        <p:nvSpPr>
          <p:cNvPr id="23" name="Freeform 10"/>
          <p:cNvSpPr>
            <a:spLocks/>
          </p:cNvSpPr>
          <p:nvPr/>
        </p:nvSpPr>
        <p:spPr bwMode="auto">
          <a:xfrm rot="5400000">
            <a:off x="3619333" y="4732430"/>
            <a:ext cx="2610031"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triangle" w="lg" len="lg"/>
            <a:tailEnd type="none" w="med" len="med"/>
          </a:ln>
        </p:spPr>
        <p:style>
          <a:lnRef idx="2">
            <a:schemeClr val="dk1"/>
          </a:lnRef>
          <a:fillRef idx="0">
            <a:schemeClr val="dk1"/>
          </a:fillRef>
          <a:effectRef idx="1">
            <a:schemeClr val="dk1"/>
          </a:effectRef>
          <a:fontRef idx="minor">
            <a:schemeClr val="tx1"/>
          </a:fontRef>
        </p:style>
        <p:txBody>
          <a:bodyPr/>
          <a:lstStyle/>
          <a:p>
            <a:endParaRPr lang="ja-JP" altLang="en-US">
              <a:latin typeface="Arial Narrow" pitchFamily="34" charset="0"/>
              <a:cs typeface="Times New Roman" pitchFamily="18" charset="0"/>
            </a:endParaRPr>
          </a:p>
        </p:txBody>
      </p:sp>
      <p:sp>
        <p:nvSpPr>
          <p:cNvPr id="24" name="Rectangle 133"/>
          <p:cNvSpPr>
            <a:spLocks noChangeArrowheads="1"/>
          </p:cNvSpPr>
          <p:nvPr/>
        </p:nvSpPr>
        <p:spPr bwMode="auto">
          <a:xfrm>
            <a:off x="5194352" y="1987398"/>
            <a:ext cx="719803"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en-US" altLang="ja-JP" dirty="0">
                <a:solidFill>
                  <a:schemeClr val="tx1">
                    <a:lumMod val="75000"/>
                    <a:lumOff val="25000"/>
                  </a:schemeClr>
                </a:solidFill>
                <a:latin typeface="+mn-ea"/>
                <a:ea typeface="+mn-ea"/>
              </a:rPr>
              <a:t>PHT</a:t>
            </a:r>
          </a:p>
        </p:txBody>
      </p:sp>
      <p:sp>
        <p:nvSpPr>
          <p:cNvPr id="25" name="Rectangle 133"/>
          <p:cNvSpPr>
            <a:spLocks noChangeArrowheads="1"/>
          </p:cNvSpPr>
          <p:nvPr/>
        </p:nvSpPr>
        <p:spPr bwMode="auto">
          <a:xfrm>
            <a:off x="3125968" y="5679026"/>
            <a:ext cx="719803"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ja-JP" altLang="en-US" dirty="0">
                <a:solidFill>
                  <a:schemeClr val="accent5"/>
                </a:solidFill>
                <a:latin typeface="+mn-ea"/>
                <a:ea typeface="+mn-ea"/>
              </a:rPr>
              <a:t>連結</a:t>
            </a:r>
            <a:endParaRPr lang="en-US" altLang="ja-JP" dirty="0">
              <a:solidFill>
                <a:schemeClr val="accent5"/>
              </a:solidFill>
              <a:latin typeface="+mn-ea"/>
              <a:ea typeface="+mn-ea"/>
            </a:endParaRPr>
          </a:p>
        </p:txBody>
      </p:sp>
      <p:cxnSp>
        <p:nvCxnSpPr>
          <p:cNvPr id="26" name="直線矢印コネクタ 25"/>
          <p:cNvCxnSpPr/>
          <p:nvPr/>
        </p:nvCxnSpPr>
        <p:spPr bwMode="auto">
          <a:xfrm>
            <a:off x="2134317" y="1717395"/>
            <a:ext cx="0" cy="270003"/>
          </a:xfrm>
          <a:prstGeom prst="straightConnector1">
            <a:avLst/>
          </a:prstGeom>
          <a:ln>
            <a:headEnd type="none" w="sm" len="sm"/>
            <a:tailEnd type="none" w="lg" len="lg"/>
          </a:ln>
        </p:spPr>
        <p:style>
          <a:lnRef idx="2">
            <a:schemeClr val="dk1"/>
          </a:lnRef>
          <a:fillRef idx="0">
            <a:schemeClr val="dk1"/>
          </a:fillRef>
          <a:effectRef idx="1">
            <a:schemeClr val="dk1"/>
          </a:effectRef>
          <a:fontRef idx="minor">
            <a:schemeClr val="tx1"/>
          </a:fontRef>
        </p:style>
      </p:cxnSp>
      <p:sp>
        <p:nvSpPr>
          <p:cNvPr id="27" name="Rectangle 128"/>
          <p:cNvSpPr>
            <a:spLocks noChangeArrowheads="1"/>
          </p:cNvSpPr>
          <p:nvPr/>
        </p:nvSpPr>
        <p:spPr bwMode="auto">
          <a:xfrm>
            <a:off x="6184014" y="908973"/>
            <a:ext cx="540006" cy="314325"/>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eaLnBrk="0" hangingPunct="0"/>
            <a:r>
              <a:rPr lang="en-US" altLang="ja-JP" dirty="0">
                <a:solidFill>
                  <a:schemeClr val="tx1">
                    <a:lumMod val="75000"/>
                    <a:lumOff val="25000"/>
                  </a:schemeClr>
                </a:solidFill>
                <a:latin typeface="+mn-ea"/>
                <a:ea typeface="+mn-ea"/>
              </a:rPr>
              <a:t>PC</a:t>
            </a:r>
          </a:p>
        </p:txBody>
      </p:sp>
      <p:sp>
        <p:nvSpPr>
          <p:cNvPr id="28" name="Rectangle 13"/>
          <p:cNvSpPr>
            <a:spLocks noChangeArrowheads="1"/>
          </p:cNvSpPr>
          <p:nvPr/>
        </p:nvSpPr>
        <p:spPr bwMode="auto">
          <a:xfrm>
            <a:off x="6094362" y="1267389"/>
            <a:ext cx="720725" cy="360362"/>
          </a:xfrm>
          <a:prstGeom prst="rect">
            <a:avLst/>
          </a:prstGeom>
          <a:ln>
            <a:headEnd/>
            <a:tailEnd/>
          </a:ln>
        </p:spPr>
        <p:style>
          <a:lnRef idx="1">
            <a:schemeClr val="dk1"/>
          </a:lnRef>
          <a:fillRef idx="2">
            <a:schemeClr val="dk1"/>
          </a:fillRef>
          <a:effectRef idx="1">
            <a:schemeClr val="dk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b="1" dirty="0">
              <a:solidFill>
                <a:schemeClr val="accent3">
                  <a:lumMod val="75000"/>
                </a:schemeClr>
              </a:solidFill>
              <a:latin typeface="MeiryoKe_PGothic" pitchFamily="50" charset="-128"/>
              <a:ea typeface="MeiryoKe_PGothic" pitchFamily="50" charset="-128"/>
            </a:endParaRPr>
          </a:p>
        </p:txBody>
      </p:sp>
      <p:sp>
        <p:nvSpPr>
          <p:cNvPr id="29" name="Rectangle 195"/>
          <p:cNvSpPr>
            <a:spLocks noChangeArrowheads="1"/>
          </p:cNvSpPr>
          <p:nvPr/>
        </p:nvSpPr>
        <p:spPr bwMode="auto">
          <a:xfrm>
            <a:off x="7356014" y="3879006"/>
            <a:ext cx="720008" cy="360363"/>
          </a:xfrm>
          <a:prstGeom prst="rect">
            <a:avLst/>
          </a:prstGeom>
          <a:ln>
            <a:headEnd/>
            <a:tailEnd/>
          </a:ln>
        </p:spPr>
        <p:style>
          <a:lnRef idx="1">
            <a:schemeClr val="dk1"/>
          </a:lnRef>
          <a:fillRef idx="2">
            <a:schemeClr val="dk1"/>
          </a:fillRef>
          <a:effectRef idx="1">
            <a:schemeClr val="dk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tx1">
                    <a:lumMod val="75000"/>
                    <a:lumOff val="25000"/>
                  </a:schemeClr>
                </a:solidFill>
                <a:latin typeface="MeiryoKe_PGothic" pitchFamily="50" charset="-128"/>
                <a:ea typeface="MeiryoKe_PGothic" pitchFamily="50" charset="-128"/>
              </a:rPr>
              <a:t>1011</a:t>
            </a:r>
            <a:endParaRPr lang="ja-JP" altLang="en-US" b="1" dirty="0">
              <a:solidFill>
                <a:schemeClr val="tx1">
                  <a:lumMod val="75000"/>
                  <a:lumOff val="25000"/>
                </a:schemeClr>
              </a:solidFill>
              <a:latin typeface="MeiryoKe_PGothic" pitchFamily="50" charset="-128"/>
              <a:ea typeface="MeiryoKe_PGothic" pitchFamily="50" charset="-128"/>
            </a:endParaRPr>
          </a:p>
        </p:txBody>
      </p:sp>
      <p:sp>
        <p:nvSpPr>
          <p:cNvPr id="30" name="Rectangle 133"/>
          <p:cNvSpPr>
            <a:spLocks noChangeArrowheads="1"/>
          </p:cNvSpPr>
          <p:nvPr/>
        </p:nvSpPr>
        <p:spPr bwMode="auto">
          <a:xfrm>
            <a:off x="6366004" y="4419012"/>
            <a:ext cx="719803"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ja-JP" altLang="en-US" dirty="0">
                <a:solidFill>
                  <a:schemeClr val="tx1">
                    <a:lumMod val="75000"/>
                    <a:lumOff val="25000"/>
                  </a:schemeClr>
                </a:solidFill>
                <a:latin typeface="+mn-ea"/>
                <a:ea typeface="+mn-ea"/>
              </a:rPr>
              <a:t>グローバル</a:t>
            </a:r>
            <a:endParaRPr lang="en-US" altLang="ja-JP" dirty="0">
              <a:solidFill>
                <a:schemeClr val="tx1">
                  <a:lumMod val="75000"/>
                  <a:lumOff val="25000"/>
                </a:schemeClr>
              </a:solidFill>
              <a:latin typeface="+mn-ea"/>
              <a:ea typeface="+mn-ea"/>
            </a:endParaRPr>
          </a:p>
          <a:p>
            <a:pPr eaLnBrk="0" hangingPunct="0"/>
            <a:r>
              <a:rPr lang="ja-JP" altLang="en-US" dirty="0">
                <a:solidFill>
                  <a:schemeClr val="tx1">
                    <a:lumMod val="75000"/>
                    <a:lumOff val="25000"/>
                  </a:schemeClr>
                </a:solidFill>
                <a:latin typeface="+mn-ea"/>
                <a:ea typeface="+mn-ea"/>
              </a:rPr>
              <a:t>履歴</a:t>
            </a:r>
            <a:endParaRPr lang="en-US" altLang="ja-JP" dirty="0">
              <a:solidFill>
                <a:schemeClr val="tx1">
                  <a:lumMod val="75000"/>
                  <a:lumOff val="25000"/>
                </a:schemeClr>
              </a:solidFill>
              <a:latin typeface="+mn-ea"/>
              <a:ea typeface="+mn-ea"/>
            </a:endParaRPr>
          </a:p>
        </p:txBody>
      </p:sp>
      <p:cxnSp>
        <p:nvCxnSpPr>
          <p:cNvPr id="31" name="直線コネクタ 30"/>
          <p:cNvCxnSpPr/>
          <p:nvPr/>
        </p:nvCxnSpPr>
        <p:spPr bwMode="auto">
          <a:xfrm>
            <a:off x="6094514" y="1717394"/>
            <a:ext cx="720008"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33" name="Freeform 10"/>
          <p:cNvSpPr>
            <a:spLocks/>
          </p:cNvSpPr>
          <p:nvPr/>
        </p:nvSpPr>
        <p:spPr bwMode="auto">
          <a:xfrm rot="10800000">
            <a:off x="6454363" y="1987396"/>
            <a:ext cx="2341666" cy="342003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none" w="lg" len="lg"/>
            <a:tailEnd type="none" w="med" len="med"/>
          </a:ln>
        </p:spPr>
        <p:style>
          <a:lnRef idx="2">
            <a:schemeClr val="dk1"/>
          </a:lnRef>
          <a:fillRef idx="0">
            <a:schemeClr val="dk1"/>
          </a:fillRef>
          <a:effectRef idx="1">
            <a:schemeClr val="dk1"/>
          </a:effectRef>
          <a:fontRef idx="minor">
            <a:schemeClr val="tx1"/>
          </a:fontRef>
        </p:style>
        <p:txBody>
          <a:bodyPr/>
          <a:lstStyle/>
          <a:p>
            <a:endParaRPr lang="ja-JP" altLang="en-US">
              <a:latin typeface="Arial Narrow" pitchFamily="34" charset="0"/>
              <a:cs typeface="Times New Roman" pitchFamily="18" charset="0"/>
            </a:endParaRPr>
          </a:p>
        </p:txBody>
      </p:sp>
      <p:sp>
        <p:nvSpPr>
          <p:cNvPr id="34" name="Rectangle 154"/>
          <p:cNvSpPr>
            <a:spLocks noChangeArrowheads="1"/>
          </p:cNvSpPr>
          <p:nvPr/>
        </p:nvSpPr>
        <p:spPr bwMode="auto">
          <a:xfrm>
            <a:off x="9516039" y="2348988"/>
            <a:ext cx="718369" cy="2608442"/>
          </a:xfrm>
          <a:prstGeom prst="rect">
            <a:avLst/>
          </a:prstGeom>
          <a:ln>
            <a:solidFill>
              <a:schemeClr val="tx1">
                <a:lumMod val="75000"/>
                <a:lumOff val="25000"/>
              </a:schemeClr>
            </a:solidFill>
            <a:headEnd/>
            <a:tailEnd/>
          </a:ln>
        </p:spPr>
        <p:style>
          <a:lnRef idx="2">
            <a:schemeClr val="dk1"/>
          </a:lnRef>
          <a:fillRef idx="1">
            <a:schemeClr val="lt1"/>
          </a:fillRef>
          <a:effectRef idx="0">
            <a:schemeClr val="dk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MeiryoKe_PGothic" pitchFamily="50" charset="-128"/>
              <a:ea typeface="MeiryoKe_PGothic" pitchFamily="50" charset="-128"/>
            </a:endParaRPr>
          </a:p>
        </p:txBody>
      </p:sp>
      <p:sp>
        <p:nvSpPr>
          <p:cNvPr id="35" name="Rectangle 195"/>
          <p:cNvSpPr>
            <a:spLocks noChangeArrowheads="1"/>
          </p:cNvSpPr>
          <p:nvPr/>
        </p:nvSpPr>
        <p:spPr bwMode="auto">
          <a:xfrm>
            <a:off x="9514399" y="3427414"/>
            <a:ext cx="720008" cy="360363"/>
          </a:xfrm>
          <a:prstGeom prst="rect">
            <a:avLst/>
          </a:prstGeom>
          <a:ln>
            <a:headEnd/>
            <a:tailEnd/>
          </a:ln>
        </p:spPr>
        <p:style>
          <a:lnRef idx="1">
            <a:schemeClr val="dk1"/>
          </a:lnRef>
          <a:fillRef idx="2">
            <a:schemeClr val="dk1"/>
          </a:fillRef>
          <a:effectRef idx="1">
            <a:schemeClr val="dk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tx1">
                    <a:lumMod val="75000"/>
                    <a:lumOff val="25000"/>
                  </a:schemeClr>
                </a:solidFill>
                <a:latin typeface="MeiryoKe_PGothic" pitchFamily="50" charset="-128"/>
                <a:ea typeface="MeiryoKe_PGothic" pitchFamily="50" charset="-128"/>
              </a:rPr>
              <a:t>01</a:t>
            </a:r>
            <a:endParaRPr lang="ja-JP" altLang="en-US" b="1" dirty="0">
              <a:solidFill>
                <a:schemeClr val="tx1">
                  <a:lumMod val="75000"/>
                  <a:lumOff val="25000"/>
                </a:schemeClr>
              </a:solidFill>
              <a:latin typeface="MeiryoKe_PGothic" pitchFamily="50" charset="-128"/>
              <a:ea typeface="MeiryoKe_PGothic" pitchFamily="50" charset="-128"/>
            </a:endParaRPr>
          </a:p>
        </p:txBody>
      </p:sp>
      <p:sp>
        <p:nvSpPr>
          <p:cNvPr id="36" name="正方形/長方形 35"/>
          <p:cNvSpPr/>
          <p:nvPr/>
        </p:nvSpPr>
        <p:spPr bwMode="auto">
          <a:xfrm>
            <a:off x="9514400" y="2347401"/>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37" name="正方形/長方形 36"/>
          <p:cNvSpPr/>
          <p:nvPr/>
        </p:nvSpPr>
        <p:spPr bwMode="auto">
          <a:xfrm>
            <a:off x="9514400" y="2707405"/>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38" name="正方形/長方形 37"/>
          <p:cNvSpPr/>
          <p:nvPr/>
        </p:nvSpPr>
        <p:spPr bwMode="auto">
          <a:xfrm>
            <a:off x="9154396" y="2347401"/>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0</a:t>
            </a:r>
            <a:endParaRPr lang="ja-JP" altLang="en-US" sz="2000" dirty="0">
              <a:solidFill>
                <a:schemeClr val="tx1">
                  <a:lumMod val="75000"/>
                  <a:lumOff val="25000"/>
                </a:schemeClr>
              </a:solidFill>
              <a:latin typeface="Arial Narrow" panose="020B0606020202030204" pitchFamily="34" charset="0"/>
            </a:endParaRPr>
          </a:p>
        </p:txBody>
      </p:sp>
      <p:sp>
        <p:nvSpPr>
          <p:cNvPr id="39" name="正方形/長方形 38"/>
          <p:cNvSpPr/>
          <p:nvPr/>
        </p:nvSpPr>
        <p:spPr bwMode="auto">
          <a:xfrm>
            <a:off x="9154395" y="2707405"/>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1</a:t>
            </a:r>
            <a:endParaRPr lang="ja-JP" altLang="en-US" sz="2000" dirty="0">
              <a:solidFill>
                <a:schemeClr val="tx1">
                  <a:lumMod val="75000"/>
                  <a:lumOff val="25000"/>
                </a:schemeClr>
              </a:solidFill>
              <a:latin typeface="Arial Narrow" panose="020B0606020202030204" pitchFamily="34" charset="0"/>
            </a:endParaRPr>
          </a:p>
        </p:txBody>
      </p:sp>
      <p:sp>
        <p:nvSpPr>
          <p:cNvPr id="40" name="正方形/長方形 39"/>
          <p:cNvSpPr/>
          <p:nvPr/>
        </p:nvSpPr>
        <p:spPr bwMode="auto">
          <a:xfrm>
            <a:off x="9154395" y="2977408"/>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41" name="正方形/長方形 40"/>
          <p:cNvSpPr/>
          <p:nvPr/>
        </p:nvSpPr>
        <p:spPr bwMode="auto">
          <a:xfrm>
            <a:off x="9694401" y="4057420"/>
            <a:ext cx="3477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42" name="正方形/長方形 41"/>
          <p:cNvSpPr/>
          <p:nvPr/>
        </p:nvSpPr>
        <p:spPr bwMode="auto">
          <a:xfrm>
            <a:off x="9514400" y="4597426"/>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43" name="正方形/長方形 42"/>
          <p:cNvSpPr/>
          <p:nvPr/>
        </p:nvSpPr>
        <p:spPr bwMode="auto">
          <a:xfrm>
            <a:off x="9694401" y="2977408"/>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44" name="Freeform 10"/>
          <p:cNvSpPr>
            <a:spLocks/>
          </p:cNvSpPr>
          <p:nvPr/>
        </p:nvSpPr>
        <p:spPr bwMode="auto">
          <a:xfrm rot="16200000" flipV="1">
            <a:off x="8481001" y="5634050"/>
            <a:ext cx="358416" cy="808370"/>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none" w="lg" len="lg"/>
            <a:tailEnd type="none" w="med" len="med"/>
          </a:ln>
        </p:spPr>
        <p:style>
          <a:lnRef idx="2">
            <a:schemeClr val="dk1"/>
          </a:lnRef>
          <a:fillRef idx="0">
            <a:schemeClr val="dk1"/>
          </a:fillRef>
          <a:effectRef idx="1">
            <a:schemeClr val="dk1"/>
          </a:effectRef>
          <a:fontRef idx="minor">
            <a:schemeClr val="tx1"/>
          </a:fontRef>
        </p:style>
        <p:txBody>
          <a:bodyPr/>
          <a:lstStyle/>
          <a:p>
            <a:endParaRPr lang="ja-JP" altLang="en-US">
              <a:latin typeface="Arial Narrow" pitchFamily="34" charset="0"/>
              <a:cs typeface="Times New Roman" pitchFamily="18" charset="0"/>
            </a:endParaRPr>
          </a:p>
        </p:txBody>
      </p:sp>
      <p:sp>
        <p:nvSpPr>
          <p:cNvPr id="46" name="Freeform 10"/>
          <p:cNvSpPr>
            <a:spLocks/>
          </p:cNvSpPr>
          <p:nvPr/>
        </p:nvSpPr>
        <p:spPr bwMode="auto">
          <a:xfrm rot="5400000">
            <a:off x="7939381" y="4732430"/>
            <a:ext cx="2610031"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triangle" w="lg" len="lg"/>
            <a:tailEnd type="none" w="med" len="med"/>
          </a:ln>
        </p:spPr>
        <p:style>
          <a:lnRef idx="2">
            <a:schemeClr val="dk1"/>
          </a:lnRef>
          <a:fillRef idx="0">
            <a:schemeClr val="dk1"/>
          </a:fillRef>
          <a:effectRef idx="1">
            <a:schemeClr val="dk1"/>
          </a:effectRef>
          <a:fontRef idx="minor">
            <a:schemeClr val="tx1"/>
          </a:fontRef>
        </p:style>
        <p:txBody>
          <a:bodyPr/>
          <a:lstStyle/>
          <a:p>
            <a:endParaRPr lang="ja-JP" altLang="en-US">
              <a:latin typeface="Arial Narrow" pitchFamily="34" charset="0"/>
              <a:cs typeface="Times New Roman" pitchFamily="18" charset="0"/>
            </a:endParaRPr>
          </a:p>
        </p:txBody>
      </p:sp>
      <p:sp>
        <p:nvSpPr>
          <p:cNvPr id="47" name="Rectangle 133"/>
          <p:cNvSpPr>
            <a:spLocks noChangeArrowheads="1"/>
          </p:cNvSpPr>
          <p:nvPr/>
        </p:nvSpPr>
        <p:spPr bwMode="auto">
          <a:xfrm>
            <a:off x="9514400" y="1987398"/>
            <a:ext cx="719803"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en-US" altLang="ja-JP" dirty="0">
                <a:solidFill>
                  <a:schemeClr val="tx1">
                    <a:lumMod val="75000"/>
                    <a:lumOff val="25000"/>
                  </a:schemeClr>
                </a:solidFill>
                <a:latin typeface="+mn-ea"/>
                <a:ea typeface="+mn-ea"/>
              </a:rPr>
              <a:t>PHT</a:t>
            </a:r>
          </a:p>
        </p:txBody>
      </p:sp>
      <p:sp>
        <p:nvSpPr>
          <p:cNvPr id="48" name="Rectangle 133"/>
          <p:cNvSpPr>
            <a:spLocks noChangeArrowheads="1"/>
          </p:cNvSpPr>
          <p:nvPr/>
        </p:nvSpPr>
        <p:spPr bwMode="auto">
          <a:xfrm>
            <a:off x="6816009" y="5679026"/>
            <a:ext cx="719803"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en-US" altLang="ja-JP" dirty="0">
                <a:solidFill>
                  <a:schemeClr val="accent5"/>
                </a:solidFill>
                <a:latin typeface="+mn-ea"/>
                <a:ea typeface="+mn-ea"/>
              </a:rPr>
              <a:t>XOR </a:t>
            </a:r>
            <a:r>
              <a:rPr lang="ja-JP" altLang="en-US" dirty="0">
                <a:solidFill>
                  <a:schemeClr val="accent5"/>
                </a:solidFill>
                <a:latin typeface="+mn-ea"/>
                <a:ea typeface="+mn-ea"/>
              </a:rPr>
              <a:t>演算</a:t>
            </a:r>
            <a:endParaRPr lang="en-US" altLang="ja-JP" dirty="0">
              <a:solidFill>
                <a:schemeClr val="accent5"/>
              </a:solidFill>
              <a:latin typeface="+mn-ea"/>
              <a:ea typeface="+mn-ea"/>
            </a:endParaRPr>
          </a:p>
        </p:txBody>
      </p:sp>
      <p:cxnSp>
        <p:nvCxnSpPr>
          <p:cNvPr id="49" name="直線矢印コネクタ 48"/>
          <p:cNvCxnSpPr/>
          <p:nvPr/>
        </p:nvCxnSpPr>
        <p:spPr bwMode="auto">
          <a:xfrm>
            <a:off x="6454365" y="1717395"/>
            <a:ext cx="0" cy="270003"/>
          </a:xfrm>
          <a:prstGeom prst="straightConnector1">
            <a:avLst/>
          </a:prstGeom>
          <a:ln>
            <a:headEnd type="none" w="sm" len="sm"/>
            <a:tailEnd type="none" w="lg" len="lg"/>
          </a:ln>
        </p:spPr>
        <p:style>
          <a:lnRef idx="2">
            <a:schemeClr val="dk1"/>
          </a:lnRef>
          <a:fillRef idx="0">
            <a:schemeClr val="dk1"/>
          </a:fillRef>
          <a:effectRef idx="1">
            <a:schemeClr val="dk1"/>
          </a:effectRef>
          <a:fontRef idx="minor">
            <a:schemeClr val="tx1"/>
          </a:fontRef>
        </p:style>
      </p:cxnSp>
      <p:sp>
        <p:nvSpPr>
          <p:cNvPr id="50" name="円/楕円 49"/>
          <p:cNvSpPr/>
          <p:nvPr/>
        </p:nvSpPr>
        <p:spPr bwMode="auto">
          <a:xfrm>
            <a:off x="7986021" y="5319021"/>
            <a:ext cx="540006" cy="540006"/>
          </a:xfrm>
          <a:prstGeom prst="ellips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cxnSp>
        <p:nvCxnSpPr>
          <p:cNvPr id="52" name="直線コネクタ 51"/>
          <p:cNvCxnSpPr>
            <a:endCxn id="50" idx="6"/>
          </p:cNvCxnSpPr>
          <p:nvPr/>
        </p:nvCxnSpPr>
        <p:spPr bwMode="auto">
          <a:xfrm>
            <a:off x="7986021" y="5589024"/>
            <a:ext cx="540006" cy="0"/>
          </a:xfrm>
          <a:prstGeom prst="line">
            <a:avLst/>
          </a:prstGeom>
          <a:noFill/>
          <a:ln w="28575" cap="flat" cmpd="sng" algn="ctr">
            <a:solidFill>
              <a:schemeClr val="accent5"/>
            </a:solidFill>
            <a:prstDash val="solid"/>
            <a:round/>
            <a:headEnd type="none" w="med" len="med"/>
            <a:tailEnd type="none" w="med" len="med"/>
          </a:ln>
          <a:effectLst/>
        </p:spPr>
      </p:cxnSp>
      <p:cxnSp>
        <p:nvCxnSpPr>
          <p:cNvPr id="53" name="直線コネクタ 52"/>
          <p:cNvCxnSpPr>
            <a:stCxn id="50" idx="0"/>
            <a:endCxn id="50" idx="4"/>
          </p:cNvCxnSpPr>
          <p:nvPr/>
        </p:nvCxnSpPr>
        <p:spPr bwMode="auto">
          <a:xfrm>
            <a:off x="8256024" y="5319021"/>
            <a:ext cx="0" cy="540006"/>
          </a:xfrm>
          <a:prstGeom prst="line">
            <a:avLst/>
          </a:prstGeom>
          <a:noFill/>
          <a:ln w="28575" cap="flat" cmpd="sng" algn="ctr">
            <a:solidFill>
              <a:schemeClr val="accent5"/>
            </a:solidFill>
            <a:prstDash val="solid"/>
            <a:round/>
            <a:headEnd type="none" w="med" len="med"/>
            <a:tailEnd type="none" w="med" len="med"/>
          </a:ln>
          <a:effectLst/>
        </p:spPr>
      </p:cxnSp>
      <p:sp>
        <p:nvSpPr>
          <p:cNvPr id="61" name="Freeform 10"/>
          <p:cNvSpPr>
            <a:spLocks/>
          </p:cNvSpPr>
          <p:nvPr/>
        </p:nvSpPr>
        <p:spPr bwMode="auto">
          <a:xfrm rot="5400000" flipH="1">
            <a:off x="7176012" y="4779015"/>
            <a:ext cx="1350015" cy="27000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triangle" w="lg" len="lg"/>
            <a:tailEnd type="none" w="med" len="med"/>
          </a:ln>
        </p:spPr>
        <p:style>
          <a:lnRef idx="2">
            <a:schemeClr val="dk1"/>
          </a:lnRef>
          <a:fillRef idx="0">
            <a:schemeClr val="dk1"/>
          </a:fillRef>
          <a:effectRef idx="1">
            <a:schemeClr val="dk1"/>
          </a:effectRef>
          <a:fontRef idx="minor">
            <a:schemeClr val="tx1"/>
          </a:fontRef>
        </p:style>
        <p:txBody>
          <a:bodyPr/>
          <a:lstStyle/>
          <a:p>
            <a:endParaRPr lang="ja-JP" altLang="en-US">
              <a:latin typeface="Arial Narrow" pitchFamily="34" charset="0"/>
              <a:cs typeface="Times New Roman" pitchFamily="18" charset="0"/>
            </a:endParaRPr>
          </a:p>
        </p:txBody>
      </p:sp>
      <p:sp>
        <p:nvSpPr>
          <p:cNvPr id="62" name="Freeform 10"/>
          <p:cNvSpPr>
            <a:spLocks/>
          </p:cNvSpPr>
          <p:nvPr/>
        </p:nvSpPr>
        <p:spPr bwMode="auto">
          <a:xfrm rot="5400000" flipH="1" flipV="1">
            <a:off x="8571028" y="5364022"/>
            <a:ext cx="180002" cy="27000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triangle" w="lg" len="lg"/>
            <a:tailEnd type="none" w="med" len="med"/>
          </a:ln>
        </p:spPr>
        <p:style>
          <a:lnRef idx="2">
            <a:schemeClr val="dk1"/>
          </a:lnRef>
          <a:fillRef idx="0">
            <a:schemeClr val="dk1"/>
          </a:fillRef>
          <a:effectRef idx="1">
            <a:schemeClr val="dk1"/>
          </a:effectRef>
          <a:fontRef idx="minor">
            <a:schemeClr val="tx1"/>
          </a:fontRef>
        </p:style>
        <p:txBody>
          <a:bodyPr/>
          <a:lstStyle/>
          <a:p>
            <a:endParaRPr lang="ja-JP" altLang="en-US">
              <a:latin typeface="Arial Narrow" pitchFamily="34" charset="0"/>
              <a:cs typeface="Times New Roman" pitchFamily="18" charset="0"/>
            </a:endParaRPr>
          </a:p>
        </p:txBody>
      </p:sp>
    </p:spTree>
    <p:extLst>
      <p:ext uri="{BB962C8B-B14F-4D97-AF65-F5344CB8AC3E}">
        <p14:creationId xmlns:p14="http://schemas.microsoft.com/office/powerpoint/2010/main" val="2017664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なぜ </a:t>
            </a:r>
            <a:r>
              <a:rPr kumimoji="1" lang="en-US" altLang="ja-JP" dirty="0"/>
              <a:t>XOR</a:t>
            </a:r>
            <a:r>
              <a:rPr kumimoji="1" lang="ja-JP" altLang="en-US" dirty="0"/>
              <a:t> 演算なのか？</a:t>
            </a:r>
          </a:p>
        </p:txBody>
      </p:sp>
      <p:sp>
        <p:nvSpPr>
          <p:cNvPr id="3" name="テキスト プレースホルダー 2"/>
          <p:cNvSpPr>
            <a:spLocks noGrp="1"/>
          </p:cNvSpPr>
          <p:nvPr>
            <p:ph type="body" sz="quarter" idx="10"/>
          </p:nvPr>
        </p:nvSpPr>
        <p:spPr>
          <a:xfrm>
            <a:off x="2225957" y="4779016"/>
            <a:ext cx="8280092" cy="719701"/>
          </a:xfrm>
        </p:spPr>
        <p:txBody>
          <a:bodyPr/>
          <a:lstStyle/>
          <a:p>
            <a:r>
              <a:rPr kumimoji="1" lang="ja-JP" altLang="en-US" dirty="0"/>
              <a:t>要求：</a:t>
            </a:r>
            <a:endParaRPr kumimoji="1" lang="en-US" altLang="ja-JP" dirty="0"/>
          </a:p>
          <a:p>
            <a:pPr lvl="1"/>
            <a:r>
              <a:rPr kumimoji="1" lang="ja-JP" altLang="en-US" dirty="0"/>
              <a:t>軽量な演算であること → 論理演算が良い</a:t>
            </a:r>
            <a:endParaRPr kumimoji="1" lang="en-US" altLang="ja-JP" dirty="0"/>
          </a:p>
          <a:p>
            <a:pPr lvl="1"/>
            <a:r>
              <a:rPr kumimoji="1" lang="ja-JP" altLang="en-US" dirty="0"/>
              <a:t>２つの値がバイアスせずに混じってくれること</a:t>
            </a:r>
            <a:br>
              <a:rPr kumimoji="1" lang="en-US" altLang="ja-JP" dirty="0"/>
            </a:br>
            <a:r>
              <a:rPr kumimoji="1" lang="ja-JP" altLang="en-US" dirty="0"/>
              <a:t>（０と１が均等に現れること）</a:t>
            </a:r>
            <a:endParaRPr kumimoji="1" lang="en-US" altLang="ja-JP" dirty="0"/>
          </a:p>
          <a:p>
            <a:r>
              <a:rPr lang="ja-JP" altLang="en-US" dirty="0"/>
              <a:t>要求を満たす論理演算は，</a:t>
            </a:r>
            <a:r>
              <a:rPr lang="en-US" altLang="ja-JP" dirty="0"/>
              <a:t>XOR </a:t>
            </a:r>
            <a:r>
              <a:rPr lang="ja-JP" altLang="en-US" dirty="0"/>
              <a:t>か </a:t>
            </a:r>
            <a:r>
              <a:rPr lang="en-US" altLang="ja-JP" dirty="0"/>
              <a:t>XNOR </a:t>
            </a:r>
            <a:r>
              <a:rPr lang="ja-JP" altLang="en-US" dirty="0"/>
              <a:t>しかない</a:t>
            </a:r>
            <a:endParaRPr lang="en-US" altLang="ja-JP" dirty="0"/>
          </a:p>
          <a:p>
            <a:pPr lvl="1"/>
            <a:r>
              <a:rPr lang="en-US" altLang="ja-JP" dirty="0"/>
              <a:t>AND </a:t>
            </a:r>
            <a:r>
              <a:rPr lang="ja-JP" altLang="en-US" dirty="0"/>
              <a:t>や </a:t>
            </a:r>
            <a:r>
              <a:rPr lang="en-US" altLang="ja-JP" dirty="0"/>
              <a:t>OR </a:t>
            </a:r>
            <a:r>
              <a:rPr lang="ja-JP" altLang="en-US" dirty="0"/>
              <a:t>では，結果が０か１に偏る</a:t>
            </a:r>
            <a:endParaRPr lang="en-US" altLang="ja-JP" dirty="0"/>
          </a:p>
          <a:p>
            <a:pPr lvl="1"/>
            <a:r>
              <a:rPr kumimoji="1" lang="ja-JP" altLang="en-US" dirty="0"/>
              <a:t>それ以外は，</a:t>
            </a:r>
            <a:r>
              <a:rPr kumimoji="1" lang="en-US" altLang="ja-JP" dirty="0"/>
              <a:t>a </a:t>
            </a:r>
            <a:r>
              <a:rPr kumimoji="1" lang="ja-JP" altLang="en-US" dirty="0"/>
              <a:t>か </a:t>
            </a:r>
            <a:r>
              <a:rPr kumimoji="1" lang="en-US" altLang="ja-JP" dirty="0"/>
              <a:t>b </a:t>
            </a:r>
            <a:r>
              <a:rPr kumimoji="1" lang="ja-JP" altLang="en-US" dirty="0"/>
              <a:t>そのものか，それらの反転になってしまう</a:t>
            </a:r>
          </a:p>
        </p:txBody>
      </p:sp>
      <p:graphicFrame>
        <p:nvGraphicFramePr>
          <p:cNvPr id="4" name="Group 383"/>
          <p:cNvGraphicFramePr>
            <a:graphicFrameLocks/>
          </p:cNvGraphicFramePr>
          <p:nvPr>
            <p:extLst>
              <p:ext uri="{D42A27DB-BD31-4B8C-83A1-F6EECF244321}">
                <p14:modId xmlns:p14="http://schemas.microsoft.com/office/powerpoint/2010/main" val="2867967311"/>
              </p:ext>
            </p:extLst>
          </p:nvPr>
        </p:nvGraphicFramePr>
        <p:xfrm>
          <a:off x="3215704" y="1447685"/>
          <a:ext cx="1439862" cy="2071690"/>
        </p:xfrm>
        <a:graphic>
          <a:graphicData uri="http://schemas.openxmlformats.org/drawingml/2006/table">
            <a:tbl>
              <a:tblPr/>
              <a:tblGrid>
                <a:gridCol w="479425">
                  <a:extLst>
                    <a:ext uri="{9D8B030D-6E8A-4147-A177-3AD203B41FA5}">
                      <a16:colId xmlns:a16="http://schemas.microsoft.com/office/drawing/2014/main" val="20000"/>
                    </a:ext>
                  </a:extLst>
                </a:gridCol>
                <a:gridCol w="481012">
                  <a:extLst>
                    <a:ext uri="{9D8B030D-6E8A-4147-A177-3AD203B41FA5}">
                      <a16:colId xmlns:a16="http://schemas.microsoft.com/office/drawing/2014/main" val="20001"/>
                    </a:ext>
                  </a:extLst>
                </a:gridCol>
                <a:gridCol w="479425">
                  <a:extLst>
                    <a:ext uri="{9D8B030D-6E8A-4147-A177-3AD203B41FA5}">
                      <a16:colId xmlns:a16="http://schemas.microsoft.com/office/drawing/2014/main" val="20002"/>
                    </a:ext>
                  </a:extLst>
                </a:gridCol>
              </a:tblGrid>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1" u="none" strike="noStrike" cap="none" normalizeH="0" baseline="0" dirty="0">
                          <a:ln>
                            <a:noFill/>
                          </a:ln>
                          <a:solidFill>
                            <a:schemeClr val="tx1"/>
                          </a:solidFill>
                          <a:effectLst/>
                          <a:latin typeface="Times New Roman" pitchFamily="18" charset="0"/>
                          <a:ea typeface="MeiryoKe_PGothic" pitchFamily="50" charset="-128"/>
                        </a:rPr>
                        <a:t>a</a:t>
                      </a:r>
                    </a:p>
                  </a:txBody>
                  <a:tcPr anchor="ctr" horzOverflow="overflow">
                    <a:lnL cap="flat">
                      <a:noFill/>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1" u="none" strike="noStrike" cap="none" normalizeH="0" baseline="0" dirty="0">
                          <a:ln>
                            <a:noFill/>
                          </a:ln>
                          <a:solidFill>
                            <a:schemeClr val="tx1"/>
                          </a:solidFill>
                          <a:effectLst/>
                          <a:latin typeface="Times New Roman" pitchFamily="18" charset="0"/>
                          <a:ea typeface="MeiryoKe_PGothic" pitchFamily="50" charset="-128"/>
                        </a:rPr>
                        <a:t>b</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1" u="none" strike="noStrike" cap="none" normalizeH="0" baseline="0" dirty="0">
                          <a:ln>
                            <a:noFill/>
                          </a:ln>
                          <a:solidFill>
                            <a:schemeClr val="tx1"/>
                          </a:solidFill>
                          <a:effectLst/>
                          <a:latin typeface="Times New Roman" pitchFamily="18" charset="0"/>
                          <a:ea typeface="MeiryoKe_PGothic" pitchFamily="50" charset="-128"/>
                        </a:rPr>
                        <a:t>z</a:t>
                      </a:r>
                    </a:p>
                  </a:txBody>
                  <a:tcPr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accent5"/>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1"/>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accent5"/>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2"/>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accent5"/>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3"/>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accent6"/>
                          </a:solidFill>
                          <a:effectLst/>
                          <a:latin typeface="Times New Roman" pitchFamily="18" charset="0"/>
                          <a:ea typeface="MeiryoKe_PGothic" pitchFamily="50" charset="-128"/>
                        </a:rPr>
                        <a:t>1</a:t>
                      </a: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5" name="Rectangle 145"/>
          <p:cNvSpPr>
            <a:spLocks noChangeArrowheads="1"/>
          </p:cNvSpPr>
          <p:nvPr/>
        </p:nvSpPr>
        <p:spPr bwMode="auto">
          <a:xfrm>
            <a:off x="3575973" y="908973"/>
            <a:ext cx="719137" cy="360363"/>
          </a:xfrm>
          <a:prstGeom prst="rect">
            <a:avLst/>
          </a:prstGeom>
          <a:noFill/>
          <a:ln w="28575">
            <a:noFill/>
            <a:miter lim="800000"/>
            <a:headEnd/>
            <a:tailEnd/>
          </a:ln>
          <a:effectLst/>
        </p:spPr>
        <p:txBody>
          <a:bodyPr wrap="none" anchor="ctr"/>
          <a:lstStyle/>
          <a:p>
            <a:pPr algn="ctr"/>
            <a:r>
              <a:rPr lang="en-US" altLang="ja-JP" sz="2400" dirty="0">
                <a:ea typeface="MeiryoKe_PGothic" pitchFamily="50" charset="-128"/>
              </a:rPr>
              <a:t>AND</a:t>
            </a:r>
          </a:p>
        </p:txBody>
      </p:sp>
      <p:sp>
        <p:nvSpPr>
          <p:cNvPr id="6" name="Rectangle 146"/>
          <p:cNvSpPr>
            <a:spLocks noChangeArrowheads="1"/>
          </p:cNvSpPr>
          <p:nvPr/>
        </p:nvSpPr>
        <p:spPr bwMode="auto">
          <a:xfrm>
            <a:off x="5645996" y="908973"/>
            <a:ext cx="719137" cy="360363"/>
          </a:xfrm>
          <a:prstGeom prst="rect">
            <a:avLst/>
          </a:prstGeom>
          <a:noFill/>
          <a:ln w="28575">
            <a:noFill/>
            <a:miter lim="800000"/>
            <a:headEnd/>
            <a:tailEnd/>
          </a:ln>
          <a:effectLst/>
        </p:spPr>
        <p:txBody>
          <a:bodyPr wrap="none" anchor="ctr"/>
          <a:lstStyle/>
          <a:p>
            <a:pPr algn="ctr"/>
            <a:r>
              <a:rPr lang="en-US" altLang="ja-JP" sz="2400" dirty="0">
                <a:ea typeface="MeiryoKe_PGothic" pitchFamily="50" charset="-128"/>
              </a:rPr>
              <a:t>OR</a:t>
            </a:r>
          </a:p>
        </p:txBody>
      </p:sp>
      <p:graphicFrame>
        <p:nvGraphicFramePr>
          <p:cNvPr id="8" name="Group 278"/>
          <p:cNvGraphicFramePr>
            <a:graphicFrameLocks noGrp="1"/>
          </p:cNvGraphicFramePr>
          <p:nvPr>
            <p:extLst>
              <p:ext uri="{D42A27DB-BD31-4B8C-83A1-F6EECF244321}">
                <p14:modId xmlns:p14="http://schemas.microsoft.com/office/powerpoint/2010/main" val="3934486406"/>
              </p:ext>
            </p:extLst>
          </p:nvPr>
        </p:nvGraphicFramePr>
        <p:xfrm>
          <a:off x="5375993" y="1416255"/>
          <a:ext cx="1439863" cy="2103120"/>
        </p:xfrm>
        <a:graphic>
          <a:graphicData uri="http://schemas.openxmlformats.org/drawingml/2006/table">
            <a:tbl>
              <a:tblPr/>
              <a:tblGrid>
                <a:gridCol w="479425">
                  <a:extLst>
                    <a:ext uri="{9D8B030D-6E8A-4147-A177-3AD203B41FA5}">
                      <a16:colId xmlns:a16="http://schemas.microsoft.com/office/drawing/2014/main" val="20000"/>
                    </a:ext>
                  </a:extLst>
                </a:gridCol>
                <a:gridCol w="481013">
                  <a:extLst>
                    <a:ext uri="{9D8B030D-6E8A-4147-A177-3AD203B41FA5}">
                      <a16:colId xmlns:a16="http://schemas.microsoft.com/office/drawing/2014/main" val="20001"/>
                    </a:ext>
                  </a:extLst>
                </a:gridCol>
                <a:gridCol w="479425">
                  <a:extLst>
                    <a:ext uri="{9D8B030D-6E8A-4147-A177-3AD203B41FA5}">
                      <a16:colId xmlns:a16="http://schemas.microsoft.com/office/drawing/2014/main" val="20002"/>
                    </a:ext>
                  </a:extLst>
                </a:gridCol>
              </a:tblGrid>
              <a:tr h="420624">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1" u="none" strike="noStrike" cap="none" normalizeH="0" baseline="0" dirty="0">
                          <a:ln>
                            <a:noFill/>
                          </a:ln>
                          <a:solidFill>
                            <a:schemeClr val="tx1"/>
                          </a:solidFill>
                          <a:effectLst/>
                          <a:latin typeface="Times New Roman" pitchFamily="18" charset="0"/>
                          <a:ea typeface="MeiryoKe_PGothic" pitchFamily="50" charset="-128"/>
                        </a:rPr>
                        <a:t>a</a:t>
                      </a:r>
                    </a:p>
                  </a:txBody>
                  <a:tcPr anchor="ctr" horzOverflow="overflow">
                    <a:lnL cap="flat">
                      <a:noFill/>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1" u="none" strike="noStrike" cap="none" normalizeH="0" baseline="0" dirty="0">
                          <a:ln>
                            <a:noFill/>
                          </a:ln>
                          <a:solidFill>
                            <a:schemeClr val="tx1"/>
                          </a:solidFill>
                          <a:effectLst/>
                          <a:latin typeface="Times New Roman" pitchFamily="18" charset="0"/>
                          <a:ea typeface="MeiryoKe_PGothic" pitchFamily="50" charset="-128"/>
                        </a:rPr>
                        <a:t>b</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1" u="none" strike="noStrike" cap="none" normalizeH="0" baseline="0" dirty="0">
                          <a:ln>
                            <a:noFill/>
                          </a:ln>
                          <a:solidFill>
                            <a:schemeClr val="tx1"/>
                          </a:solidFill>
                          <a:effectLst/>
                          <a:latin typeface="Times New Roman" pitchFamily="18" charset="0"/>
                          <a:ea typeface="MeiryoKe_PGothic" pitchFamily="50" charset="-128"/>
                        </a:rPr>
                        <a:t>z</a:t>
                      </a:r>
                    </a:p>
                  </a:txBody>
                  <a:tcPr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0624">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accent5"/>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1"/>
                  </a:ext>
                </a:extLst>
              </a:tr>
              <a:tr h="420624">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accent6"/>
                          </a:solidFill>
                          <a:effectLst/>
                          <a:latin typeface="Times New Roman" pitchFamily="18" charset="0"/>
                          <a:ea typeface="MeiryoKe_PGothic" pitchFamily="50" charset="-128"/>
                        </a:rPr>
                        <a:t>1</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2"/>
                  </a:ext>
                </a:extLst>
              </a:tr>
              <a:tr h="420624">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accent6"/>
                          </a:solidFill>
                          <a:effectLst/>
                          <a:latin typeface="Times New Roman" pitchFamily="18" charset="0"/>
                          <a:ea typeface="MeiryoKe_PGothic" pitchFamily="50" charset="-128"/>
                        </a:rPr>
                        <a:t>1</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3"/>
                  </a:ext>
                </a:extLst>
              </a:tr>
              <a:tr h="420624">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accent6"/>
                          </a:solidFill>
                          <a:effectLst/>
                          <a:latin typeface="Times New Roman" pitchFamily="18" charset="0"/>
                          <a:ea typeface="MeiryoKe_PGothic" pitchFamily="50" charset="-128"/>
                        </a:rPr>
                        <a:t>1</a:t>
                      </a: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9" name="Group 383"/>
          <p:cNvGraphicFramePr>
            <a:graphicFrameLocks/>
          </p:cNvGraphicFramePr>
          <p:nvPr>
            <p:extLst>
              <p:ext uri="{D42A27DB-BD31-4B8C-83A1-F6EECF244321}">
                <p14:modId xmlns:p14="http://schemas.microsoft.com/office/powerpoint/2010/main" val="4282184024"/>
              </p:ext>
            </p:extLst>
          </p:nvPr>
        </p:nvGraphicFramePr>
        <p:xfrm>
          <a:off x="7535752" y="1447685"/>
          <a:ext cx="1439862" cy="2071690"/>
        </p:xfrm>
        <a:graphic>
          <a:graphicData uri="http://schemas.openxmlformats.org/drawingml/2006/table">
            <a:tbl>
              <a:tblPr/>
              <a:tblGrid>
                <a:gridCol w="479425">
                  <a:extLst>
                    <a:ext uri="{9D8B030D-6E8A-4147-A177-3AD203B41FA5}">
                      <a16:colId xmlns:a16="http://schemas.microsoft.com/office/drawing/2014/main" val="20000"/>
                    </a:ext>
                  </a:extLst>
                </a:gridCol>
                <a:gridCol w="481012">
                  <a:extLst>
                    <a:ext uri="{9D8B030D-6E8A-4147-A177-3AD203B41FA5}">
                      <a16:colId xmlns:a16="http://schemas.microsoft.com/office/drawing/2014/main" val="20001"/>
                    </a:ext>
                  </a:extLst>
                </a:gridCol>
                <a:gridCol w="479425">
                  <a:extLst>
                    <a:ext uri="{9D8B030D-6E8A-4147-A177-3AD203B41FA5}">
                      <a16:colId xmlns:a16="http://schemas.microsoft.com/office/drawing/2014/main" val="20002"/>
                    </a:ext>
                  </a:extLst>
                </a:gridCol>
              </a:tblGrid>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1" u="none" strike="noStrike" cap="none" normalizeH="0" baseline="0" dirty="0">
                          <a:ln>
                            <a:noFill/>
                          </a:ln>
                          <a:solidFill>
                            <a:schemeClr val="tx1"/>
                          </a:solidFill>
                          <a:effectLst/>
                          <a:latin typeface="Times New Roman" pitchFamily="18" charset="0"/>
                          <a:ea typeface="MeiryoKe_PGothic" pitchFamily="50" charset="-128"/>
                        </a:rPr>
                        <a:t>a</a:t>
                      </a:r>
                    </a:p>
                  </a:txBody>
                  <a:tcPr anchor="ctr" horzOverflow="overflow">
                    <a:lnL cap="flat">
                      <a:noFill/>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1" u="none" strike="noStrike" cap="none" normalizeH="0" baseline="0" dirty="0">
                          <a:ln>
                            <a:noFill/>
                          </a:ln>
                          <a:solidFill>
                            <a:schemeClr val="tx1"/>
                          </a:solidFill>
                          <a:effectLst/>
                          <a:latin typeface="Times New Roman" pitchFamily="18" charset="0"/>
                          <a:ea typeface="MeiryoKe_PGothic" pitchFamily="50" charset="-128"/>
                        </a:rPr>
                        <a:t>b</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1" u="none" strike="noStrike" cap="none" normalizeH="0" baseline="0" dirty="0">
                          <a:ln>
                            <a:noFill/>
                          </a:ln>
                          <a:solidFill>
                            <a:schemeClr val="tx1"/>
                          </a:solidFill>
                          <a:effectLst/>
                          <a:latin typeface="Times New Roman" pitchFamily="18" charset="0"/>
                          <a:ea typeface="MeiryoKe_PGothic" pitchFamily="50" charset="-128"/>
                        </a:rPr>
                        <a:t>z</a:t>
                      </a:r>
                    </a:p>
                  </a:txBody>
                  <a:tcPr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accent5"/>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1"/>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accent6"/>
                          </a:solidFill>
                          <a:effectLst/>
                          <a:latin typeface="Times New Roman" pitchFamily="18" charset="0"/>
                          <a:ea typeface="MeiryoKe_PGothic" pitchFamily="50" charset="-128"/>
                        </a:rPr>
                        <a:t>1</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2"/>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accent6"/>
                          </a:solidFill>
                          <a:effectLst/>
                          <a:latin typeface="Times New Roman" pitchFamily="18" charset="0"/>
                          <a:ea typeface="MeiryoKe_PGothic" pitchFamily="50" charset="-128"/>
                        </a:rPr>
                        <a:t>1</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3"/>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accent5"/>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0" name="Rectangle 145"/>
          <p:cNvSpPr>
            <a:spLocks noChangeArrowheads="1"/>
          </p:cNvSpPr>
          <p:nvPr/>
        </p:nvSpPr>
        <p:spPr bwMode="auto">
          <a:xfrm>
            <a:off x="7896021" y="908973"/>
            <a:ext cx="719137" cy="360363"/>
          </a:xfrm>
          <a:prstGeom prst="rect">
            <a:avLst/>
          </a:prstGeom>
          <a:noFill/>
          <a:ln w="28575">
            <a:noFill/>
            <a:miter lim="800000"/>
            <a:headEnd/>
            <a:tailEnd/>
          </a:ln>
          <a:effectLst/>
        </p:spPr>
        <p:txBody>
          <a:bodyPr wrap="none" anchor="ctr"/>
          <a:lstStyle/>
          <a:p>
            <a:pPr algn="ctr"/>
            <a:r>
              <a:rPr lang="en-US" altLang="ja-JP" sz="2400" dirty="0">
                <a:ea typeface="MeiryoKe_PGothic" pitchFamily="50" charset="-128"/>
              </a:rPr>
              <a:t>XOR</a:t>
            </a:r>
          </a:p>
        </p:txBody>
      </p:sp>
    </p:spTree>
    <p:extLst>
      <p:ext uri="{BB962C8B-B14F-4D97-AF65-F5344CB8AC3E}">
        <p14:creationId xmlns:p14="http://schemas.microsoft.com/office/powerpoint/2010/main" val="18388235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56E16E3F-A5A0-CE19-6EA0-5762DA8DC3F8}"/>
              </a:ext>
            </a:extLst>
          </p:cNvPr>
          <p:cNvSpPr>
            <a:spLocks noGrp="1"/>
          </p:cNvSpPr>
          <p:nvPr>
            <p:ph type="title"/>
          </p:nvPr>
        </p:nvSpPr>
        <p:spPr/>
        <p:txBody>
          <a:bodyPr/>
          <a:lstStyle/>
          <a:p>
            <a:r>
              <a:rPr lang="ja-JP" altLang="en-US" dirty="0"/>
              <a:t>パーセプトロンと </a:t>
            </a:r>
            <a:r>
              <a:rPr lang="en-US" altLang="ja-JP" dirty="0"/>
              <a:t>TAGE </a:t>
            </a:r>
            <a:endParaRPr lang="ja-JP" altLang="en-US" dirty="0"/>
          </a:p>
        </p:txBody>
      </p:sp>
    </p:spTree>
    <p:extLst>
      <p:ext uri="{BB962C8B-B14F-4D97-AF65-F5344CB8AC3E}">
        <p14:creationId xmlns:p14="http://schemas.microsoft.com/office/powerpoint/2010/main" val="23356465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6327ECB-0A5B-46F0-8B73-5FC613EA78CE}"/>
              </a:ext>
            </a:extLst>
          </p:cNvPr>
          <p:cNvSpPr>
            <a:spLocks noGrp="1"/>
          </p:cNvSpPr>
          <p:nvPr>
            <p:ph type="title"/>
          </p:nvPr>
        </p:nvSpPr>
        <p:spPr/>
        <p:txBody>
          <a:bodyPr/>
          <a:lstStyle/>
          <a:p>
            <a:r>
              <a:rPr kumimoji="1" lang="ja-JP" altLang="en-US" dirty="0"/>
              <a:t>より高度な予測器</a:t>
            </a:r>
          </a:p>
        </p:txBody>
      </p:sp>
      <p:sp>
        <p:nvSpPr>
          <p:cNvPr id="3" name="テキスト プレースホルダー 2">
            <a:extLst>
              <a:ext uri="{FF2B5EF4-FFF2-40B4-BE49-F238E27FC236}">
                <a16:creationId xmlns:a16="http://schemas.microsoft.com/office/drawing/2014/main" id="{2338DB00-E091-475A-92C9-E0DABB402D78}"/>
              </a:ext>
            </a:extLst>
          </p:cNvPr>
          <p:cNvSpPr>
            <a:spLocks noGrp="1"/>
          </p:cNvSpPr>
          <p:nvPr>
            <p:ph type="body" sz="quarter" idx="10"/>
          </p:nvPr>
        </p:nvSpPr>
        <p:spPr/>
        <p:txBody>
          <a:bodyPr/>
          <a:lstStyle/>
          <a:p>
            <a:pPr marL="457200" indent="-457200">
              <a:buFont typeface="+mj-lt"/>
              <a:buAutoNum type="arabicPeriod"/>
            </a:pPr>
            <a:r>
              <a:rPr kumimoji="1" lang="ja-JP" altLang="en-US" dirty="0"/>
              <a:t>パーセプトロン予測器</a:t>
            </a:r>
            <a:endParaRPr kumimoji="1" lang="en-US" altLang="ja-JP" dirty="0"/>
          </a:p>
          <a:p>
            <a:pPr marL="457200" indent="-457200">
              <a:buFont typeface="+mj-lt"/>
              <a:buAutoNum type="arabicPeriod"/>
            </a:pPr>
            <a:r>
              <a:rPr lang="en-US" altLang="ja-JP" dirty="0"/>
              <a:t>TAGE </a:t>
            </a:r>
            <a:r>
              <a:rPr lang="ja-JP" altLang="en-US" dirty="0"/>
              <a:t>予測器</a:t>
            </a:r>
            <a:endParaRPr lang="en-US" altLang="ja-JP" dirty="0"/>
          </a:p>
          <a:p>
            <a:pPr marL="817200" lvl="1" indent="-457200">
              <a:buFont typeface="+mj-lt"/>
              <a:buAutoNum type="arabicPeriod"/>
            </a:pPr>
            <a:endParaRPr kumimoji="1" lang="en-US" altLang="ja-JP" dirty="0"/>
          </a:p>
          <a:p>
            <a:r>
              <a:rPr kumimoji="1" lang="ja-JP" altLang="en-US" dirty="0"/>
              <a:t>パーセプトロンと </a:t>
            </a:r>
            <a:r>
              <a:rPr kumimoji="1" lang="en-US" altLang="ja-JP" dirty="0"/>
              <a:t>TAGE </a:t>
            </a:r>
            <a:r>
              <a:rPr kumimoji="1" lang="ja-JP" altLang="en-US" dirty="0"/>
              <a:t>は基本的にはグローバル予測器が下敷き</a:t>
            </a:r>
            <a:endParaRPr kumimoji="1" lang="en-US" altLang="ja-JP" dirty="0"/>
          </a:p>
          <a:p>
            <a:pPr lvl="1"/>
            <a:r>
              <a:rPr lang="en-US" altLang="ja-JP" dirty="0"/>
              <a:t>XOR </a:t>
            </a:r>
            <a:r>
              <a:rPr lang="ja-JP" altLang="en-US" dirty="0"/>
              <a:t>演算は要素としてよく出てくる</a:t>
            </a:r>
            <a:endParaRPr kumimoji="1" lang="ja-JP" altLang="en-US" dirty="0"/>
          </a:p>
        </p:txBody>
      </p:sp>
    </p:spTree>
    <p:extLst>
      <p:ext uri="{BB962C8B-B14F-4D97-AF65-F5344CB8AC3E}">
        <p14:creationId xmlns:p14="http://schemas.microsoft.com/office/powerpoint/2010/main" val="29208317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751DC89-DB2C-40D0-8D8E-F16892634B4B}"/>
              </a:ext>
            </a:extLst>
          </p:cNvPr>
          <p:cNvSpPr>
            <a:spLocks noGrp="1"/>
          </p:cNvSpPr>
          <p:nvPr>
            <p:ph type="title"/>
          </p:nvPr>
        </p:nvSpPr>
        <p:spPr/>
        <p:txBody>
          <a:bodyPr/>
          <a:lstStyle/>
          <a:p>
            <a:r>
              <a:rPr kumimoji="1" lang="ja-JP" altLang="en-US" dirty="0"/>
              <a:t>予測器の精度</a:t>
            </a:r>
          </a:p>
        </p:txBody>
      </p:sp>
      <p:sp>
        <p:nvSpPr>
          <p:cNvPr id="3" name="テキスト プレースホルダー 2">
            <a:extLst>
              <a:ext uri="{FF2B5EF4-FFF2-40B4-BE49-F238E27FC236}">
                <a16:creationId xmlns:a16="http://schemas.microsoft.com/office/drawing/2014/main" id="{CC721EC2-69FF-47E6-95B3-AA8EC4B0FB4D}"/>
              </a:ext>
            </a:extLst>
          </p:cNvPr>
          <p:cNvSpPr>
            <a:spLocks noGrp="1"/>
          </p:cNvSpPr>
          <p:nvPr>
            <p:ph type="body" sz="quarter" idx="10"/>
          </p:nvPr>
        </p:nvSpPr>
        <p:spPr>
          <a:xfrm>
            <a:off x="2135956" y="1088975"/>
            <a:ext cx="8280092" cy="1260014"/>
          </a:xfrm>
        </p:spPr>
        <p:txBody>
          <a:bodyPr/>
          <a:lstStyle/>
          <a:p>
            <a:r>
              <a:rPr kumimoji="1" lang="ja-JP" altLang="en-US" dirty="0"/>
              <a:t>左上が </a:t>
            </a:r>
            <a:r>
              <a:rPr kumimoji="1" lang="en-US" altLang="ja-JP" dirty="0"/>
              <a:t>g-share</a:t>
            </a:r>
            <a:r>
              <a:rPr kumimoji="1" lang="ja-JP" altLang="en-US" dirty="0"/>
              <a:t>，右下が比較的新しい </a:t>
            </a:r>
            <a:r>
              <a:rPr kumimoji="1" lang="en-US" altLang="ja-JP" dirty="0"/>
              <a:t>TAGE</a:t>
            </a:r>
            <a:endParaRPr kumimoji="1" lang="ja-JP" altLang="en-US" dirty="0"/>
          </a:p>
        </p:txBody>
      </p:sp>
      <p:pic>
        <p:nvPicPr>
          <p:cNvPr id="4" name="Picture 4" descr="画像">
            <a:extLst>
              <a:ext uri="{FF2B5EF4-FFF2-40B4-BE49-F238E27FC236}">
                <a16:creationId xmlns:a16="http://schemas.microsoft.com/office/drawing/2014/main" id="{FB89B79F-6C92-4BB6-ACBF-048FD92C57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5951" y="2258988"/>
            <a:ext cx="8719331" cy="38700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24773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98DE325-6230-4B47-BB30-469004CB7AB6}"/>
              </a:ext>
            </a:extLst>
          </p:cNvPr>
          <p:cNvSpPr>
            <a:spLocks noGrp="1"/>
          </p:cNvSpPr>
          <p:nvPr>
            <p:ph type="title"/>
          </p:nvPr>
        </p:nvSpPr>
        <p:spPr/>
        <p:txBody>
          <a:bodyPr/>
          <a:lstStyle/>
          <a:p>
            <a:r>
              <a:rPr lang="ja-JP" altLang="en-US" dirty="0"/>
              <a:t>高度な予測器</a:t>
            </a:r>
            <a:endParaRPr kumimoji="1" lang="ja-JP" altLang="en-US" dirty="0"/>
          </a:p>
        </p:txBody>
      </p:sp>
      <p:sp>
        <p:nvSpPr>
          <p:cNvPr id="3" name="テキスト プレースホルダー 2">
            <a:extLst>
              <a:ext uri="{FF2B5EF4-FFF2-40B4-BE49-F238E27FC236}">
                <a16:creationId xmlns:a16="http://schemas.microsoft.com/office/drawing/2014/main" id="{E182FA63-E17F-453D-93D3-CA252694982A}"/>
              </a:ext>
            </a:extLst>
          </p:cNvPr>
          <p:cNvSpPr>
            <a:spLocks noGrp="1"/>
          </p:cNvSpPr>
          <p:nvPr>
            <p:ph type="body" sz="quarter" idx="10"/>
          </p:nvPr>
        </p:nvSpPr>
        <p:spPr/>
        <p:txBody>
          <a:bodyPr/>
          <a:lstStyle/>
          <a:p>
            <a:r>
              <a:rPr kumimoji="1" lang="ja-JP" altLang="en-US" dirty="0"/>
              <a:t>パーセプトロン予測器</a:t>
            </a:r>
            <a:endParaRPr kumimoji="1" lang="en-US" altLang="ja-JP" dirty="0"/>
          </a:p>
          <a:p>
            <a:r>
              <a:rPr lang="en-US" altLang="ja-JP" dirty="0"/>
              <a:t>TAGE </a:t>
            </a:r>
            <a:r>
              <a:rPr lang="ja-JP" altLang="en-US" dirty="0"/>
              <a:t>予測器</a:t>
            </a:r>
            <a:endParaRPr lang="en-US" altLang="ja-JP" dirty="0"/>
          </a:p>
          <a:p>
            <a:pPr lvl="1"/>
            <a:endParaRPr kumimoji="1" lang="en-US" altLang="ja-JP" dirty="0"/>
          </a:p>
          <a:p>
            <a:pPr lvl="1"/>
            <a:r>
              <a:rPr kumimoji="1" lang="ja-JP" altLang="en-US" dirty="0"/>
              <a:t>これらのより詳細はこの講義では扱いませんが，</a:t>
            </a:r>
            <a:br>
              <a:rPr kumimoji="1" lang="en-US" altLang="ja-JP" dirty="0"/>
            </a:br>
            <a:r>
              <a:rPr kumimoji="1" lang="ja-JP" altLang="en-US" dirty="0"/>
              <a:t>高度な分岐予測器の詳細に関する付録の資料を用意しています</a:t>
            </a:r>
            <a:endParaRPr kumimoji="1" lang="en-US" altLang="ja-JP" dirty="0"/>
          </a:p>
          <a:p>
            <a:pPr lvl="1"/>
            <a:r>
              <a:rPr lang="en-US" altLang="ja-JP" dirty="0"/>
              <a:t>github </a:t>
            </a:r>
            <a:r>
              <a:rPr lang="ja-JP" altLang="en-US" dirty="0"/>
              <a:t>のリポジトリの末尾の方にあります</a:t>
            </a:r>
            <a:endParaRPr kumimoji="1" lang="ja-JP" altLang="en-US" dirty="0"/>
          </a:p>
        </p:txBody>
      </p:sp>
    </p:spTree>
    <p:extLst>
      <p:ext uri="{BB962C8B-B14F-4D97-AF65-F5344CB8AC3E}">
        <p14:creationId xmlns:p14="http://schemas.microsoft.com/office/powerpoint/2010/main" val="3393601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履歴長と予測精度</a:t>
            </a:r>
          </a:p>
        </p:txBody>
      </p:sp>
      <p:sp>
        <p:nvSpPr>
          <p:cNvPr id="3" name="テキスト プレースホルダー 2"/>
          <p:cNvSpPr>
            <a:spLocks noGrp="1"/>
          </p:cNvSpPr>
          <p:nvPr>
            <p:ph type="body" sz="quarter" idx="10"/>
          </p:nvPr>
        </p:nvSpPr>
        <p:spPr/>
        <p:txBody>
          <a:bodyPr/>
          <a:lstStyle/>
          <a:p>
            <a:r>
              <a:rPr kumimoji="1" lang="ja-JP" altLang="en-US" dirty="0"/>
              <a:t>一般に，グローバル履歴長を長くするほど精度はあがる</a:t>
            </a:r>
            <a:endParaRPr kumimoji="1" lang="en-US" altLang="ja-JP" dirty="0"/>
          </a:p>
          <a:p>
            <a:pPr lvl="1"/>
            <a:r>
              <a:rPr kumimoji="1" lang="ja-JP" altLang="en-US" dirty="0"/>
              <a:t>より遠い分岐の相関が拾えるようになる</a:t>
            </a:r>
            <a:endParaRPr kumimoji="1" lang="en-US" altLang="ja-JP" dirty="0"/>
          </a:p>
          <a:p>
            <a:pPr lvl="1"/>
            <a:r>
              <a:rPr kumimoji="1" lang="ja-JP" altLang="en-US" dirty="0"/>
              <a:t>履歴長が</a:t>
            </a:r>
            <a:r>
              <a:rPr kumimoji="1" lang="en-US" altLang="ja-JP" dirty="0"/>
              <a:t>1000</a:t>
            </a:r>
            <a:r>
              <a:rPr kumimoji="1" lang="ja-JP" altLang="en-US" dirty="0"/>
              <a:t>以上のところに相関がある場合もある</a:t>
            </a:r>
            <a:endParaRPr kumimoji="1" lang="en-US" altLang="ja-JP" dirty="0"/>
          </a:p>
          <a:p>
            <a:pPr lvl="2"/>
            <a:r>
              <a:rPr lang="ja-JP" altLang="en-US" dirty="0"/>
              <a:t>ある関数で分岐した後，色んな所にいってまた来るとか</a:t>
            </a:r>
            <a:endParaRPr kumimoji="1" lang="ja-JP" altLang="en-US" dirty="0">
              <a:solidFill>
                <a:schemeClr val="accent5"/>
              </a:solidFill>
            </a:endParaRPr>
          </a:p>
        </p:txBody>
      </p:sp>
    </p:spTree>
    <p:extLst>
      <p:ext uri="{BB962C8B-B14F-4D97-AF65-F5344CB8AC3E}">
        <p14:creationId xmlns:p14="http://schemas.microsoft.com/office/powerpoint/2010/main" val="6008607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履歴長と予測精度</a:t>
            </a:r>
          </a:p>
        </p:txBody>
      </p:sp>
      <p:sp>
        <p:nvSpPr>
          <p:cNvPr id="3" name="テキスト プレースホルダー 2"/>
          <p:cNvSpPr>
            <a:spLocks noGrp="1"/>
          </p:cNvSpPr>
          <p:nvPr>
            <p:ph type="body" sz="quarter" idx="10"/>
          </p:nvPr>
        </p:nvSpPr>
        <p:spPr>
          <a:xfrm>
            <a:off x="1325948" y="1088974"/>
            <a:ext cx="9180102" cy="5219751"/>
          </a:xfrm>
        </p:spPr>
        <p:txBody>
          <a:bodyPr/>
          <a:lstStyle/>
          <a:p>
            <a:r>
              <a:rPr kumimoji="1" lang="ja-JP" altLang="en-US" dirty="0"/>
              <a:t>実際にはハードウェア（特に </a:t>
            </a:r>
            <a:r>
              <a:rPr kumimoji="1" lang="en-US" altLang="ja-JP" dirty="0"/>
              <a:t>PHT </a:t>
            </a:r>
            <a:r>
              <a:rPr kumimoji="1" lang="ja-JP" altLang="en-US" dirty="0"/>
              <a:t>の大きさ）の制約がある</a:t>
            </a:r>
            <a:endParaRPr kumimoji="1" lang="en-US" altLang="ja-JP" dirty="0"/>
          </a:p>
          <a:p>
            <a:pPr lvl="1"/>
            <a:r>
              <a:rPr lang="ja-JP" altLang="en-US" dirty="0"/>
              <a:t>数</a:t>
            </a:r>
            <a:r>
              <a:rPr kumimoji="1" lang="ja-JP" altLang="en-US" dirty="0"/>
              <a:t>サイクル内にアクセス可能な大きさに限られる</a:t>
            </a:r>
            <a:endParaRPr kumimoji="1" lang="en-US" altLang="ja-JP" dirty="0"/>
          </a:p>
          <a:p>
            <a:pPr lvl="1"/>
            <a:r>
              <a:rPr kumimoji="1" lang="ja-JP" altLang="en-US" dirty="0">
                <a:solidFill>
                  <a:schemeClr val="accent5"/>
                </a:solidFill>
              </a:rPr>
              <a:t>単純にやると履歴長に対し，２の累乗のオーダーでエントリ数が増加</a:t>
            </a:r>
            <a:endParaRPr lang="en-US" altLang="ja-JP" dirty="0">
              <a:solidFill>
                <a:schemeClr val="accent5"/>
              </a:solidFill>
            </a:endParaRPr>
          </a:p>
          <a:p>
            <a:pPr lvl="2"/>
            <a:r>
              <a:rPr lang="ja-JP" altLang="en-US" dirty="0"/>
              <a:t>インデクスの最大値 </a:t>
            </a:r>
            <a:r>
              <a:rPr lang="en-US" altLang="ja-JP" dirty="0"/>
              <a:t>= 2^</a:t>
            </a:r>
            <a:r>
              <a:rPr lang="ja-JP" altLang="en-US" dirty="0"/>
              <a:t>履歴長 </a:t>
            </a:r>
            <a:r>
              <a:rPr lang="en-US" altLang="ja-JP" dirty="0"/>
              <a:t>– 1</a:t>
            </a:r>
          </a:p>
          <a:p>
            <a:pPr lvl="2"/>
            <a:r>
              <a:rPr lang="ja-JP" altLang="en-US" dirty="0"/>
              <a:t>ハッシュ関数で折りたためば解決するが，出現パターン数が増えることには違いがない</a:t>
            </a:r>
            <a:endParaRPr lang="en-US" altLang="ja-JP" dirty="0"/>
          </a:p>
          <a:p>
            <a:pPr lvl="1"/>
            <a:endParaRPr kumimoji="1" lang="ja-JP" altLang="en-US" dirty="0">
              <a:solidFill>
                <a:schemeClr val="accent5"/>
              </a:solidFill>
            </a:endParaRPr>
          </a:p>
        </p:txBody>
      </p:sp>
    </p:spTree>
    <p:extLst>
      <p:ext uri="{BB962C8B-B14F-4D97-AF65-F5344CB8AC3E}">
        <p14:creationId xmlns:p14="http://schemas.microsoft.com/office/powerpoint/2010/main" val="7145467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パーセプトロン予測器</a:t>
            </a:r>
          </a:p>
        </p:txBody>
      </p:sp>
      <p:sp>
        <p:nvSpPr>
          <p:cNvPr id="3" name="テキスト プレースホルダー 2"/>
          <p:cNvSpPr>
            <a:spLocks noGrp="1"/>
          </p:cNvSpPr>
          <p:nvPr>
            <p:ph type="body" sz="quarter" idx="10"/>
          </p:nvPr>
        </p:nvSpPr>
        <p:spPr>
          <a:xfrm>
            <a:off x="1775952" y="1088975"/>
            <a:ext cx="9720108" cy="5219751"/>
          </a:xfrm>
        </p:spPr>
        <p:txBody>
          <a:bodyPr/>
          <a:lstStyle/>
          <a:p>
            <a:r>
              <a:rPr lang="ja-JP" altLang="en-US" dirty="0"/>
              <a:t>モチベーション：</a:t>
            </a:r>
            <a:endParaRPr lang="en-US" altLang="ja-JP" dirty="0"/>
          </a:p>
          <a:p>
            <a:pPr lvl="1"/>
            <a:r>
              <a:rPr lang="ja-JP" altLang="en-US" dirty="0"/>
              <a:t>グローバル履歴のうち，本当に相関があるのは一部のビットのみ</a:t>
            </a:r>
            <a:endParaRPr lang="en-US" altLang="ja-JP" dirty="0"/>
          </a:p>
          <a:p>
            <a:pPr lvl="1"/>
            <a:r>
              <a:rPr lang="ja-JP" altLang="en-US" dirty="0"/>
              <a:t>ある特定の </a:t>
            </a:r>
            <a:r>
              <a:rPr lang="en-US" altLang="ja-JP" dirty="0"/>
              <a:t>if </a:t>
            </a:r>
            <a:r>
              <a:rPr lang="ja-JP" altLang="en-US" dirty="0"/>
              <a:t>文同士で相関がある場合，間の履歴は無駄</a:t>
            </a:r>
            <a:endParaRPr lang="en-US" altLang="ja-JP" dirty="0"/>
          </a:p>
          <a:p>
            <a:r>
              <a:rPr kumimoji="1" lang="ja-JP" altLang="en-US" dirty="0"/>
              <a:t>パーセプトロン予測器：</a:t>
            </a:r>
            <a:endParaRPr kumimoji="1" lang="en-US" altLang="ja-JP" dirty="0"/>
          </a:p>
          <a:p>
            <a:pPr lvl="1"/>
            <a:r>
              <a:rPr kumimoji="1" lang="ja-JP" altLang="en-US" dirty="0"/>
              <a:t>１層パーセプトロンを使って予測</a:t>
            </a:r>
            <a:endParaRPr kumimoji="1" lang="en-US" altLang="ja-JP" dirty="0"/>
          </a:p>
          <a:p>
            <a:pPr lvl="1"/>
            <a:r>
              <a:rPr lang="ja-JP" altLang="en-US" dirty="0"/>
              <a:t>高速に予測を行う必要があるため，ややこしいことは無理</a:t>
            </a:r>
            <a:endParaRPr lang="en-US" altLang="ja-JP" dirty="0"/>
          </a:p>
          <a:p>
            <a:pPr lvl="2"/>
            <a:r>
              <a:rPr lang="ja-JP" altLang="en-US" dirty="0"/>
              <a:t>１層限定で，重みは８ビット固定小数点とか</a:t>
            </a:r>
            <a:endParaRPr kumimoji="1" lang="en-US" altLang="ja-JP" dirty="0"/>
          </a:p>
          <a:p>
            <a:r>
              <a:rPr kumimoji="1" lang="ja-JP" altLang="en-US" dirty="0"/>
              <a:t>塩谷が学生の頃は半分ネタだと思われていたが，今は普通に使われている</a:t>
            </a:r>
          </a:p>
        </p:txBody>
      </p:sp>
    </p:spTree>
    <p:extLst>
      <p:ext uri="{BB962C8B-B14F-4D97-AF65-F5344CB8AC3E}">
        <p14:creationId xmlns:p14="http://schemas.microsoft.com/office/powerpoint/2010/main" val="29735033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F932C9D-420D-4FD7-ADCE-81C09772C956}"/>
              </a:ext>
            </a:extLst>
          </p:cNvPr>
          <p:cNvSpPr>
            <a:spLocks noGrp="1"/>
          </p:cNvSpPr>
          <p:nvPr>
            <p:ph type="title"/>
          </p:nvPr>
        </p:nvSpPr>
        <p:spPr/>
        <p:txBody>
          <a:bodyPr/>
          <a:lstStyle/>
          <a:p>
            <a:r>
              <a:rPr kumimoji="1" lang="ja-JP" altLang="en-US" dirty="0"/>
              <a:t>パーセプトロン</a:t>
            </a:r>
          </a:p>
        </p:txBody>
      </p:sp>
      <mc:AlternateContent xmlns:mc="http://schemas.openxmlformats.org/markup-compatibility/2006">
        <mc:Choice xmlns:a14="http://schemas.microsoft.com/office/drawing/2010/main" Requires="a14">
          <p:sp>
            <p:nvSpPr>
              <p:cNvPr id="3" name="テキスト プレースホルダー 2">
                <a:extLst>
                  <a:ext uri="{FF2B5EF4-FFF2-40B4-BE49-F238E27FC236}">
                    <a16:creationId xmlns:a16="http://schemas.microsoft.com/office/drawing/2014/main" id="{C76CD328-B560-4E84-B93F-AC51A9DA24DD}"/>
                  </a:ext>
                </a:extLst>
              </p:cNvPr>
              <p:cNvSpPr>
                <a:spLocks noGrp="1"/>
              </p:cNvSpPr>
              <p:nvPr>
                <p:ph type="body" sz="quarter" idx="10"/>
              </p:nvPr>
            </p:nvSpPr>
            <p:spPr>
              <a:xfrm>
                <a:off x="7356015" y="2978995"/>
                <a:ext cx="2970033" cy="629700"/>
              </a:xfrm>
            </p:spPr>
            <p:txBody>
              <a:bodyPr/>
              <a:lstStyle/>
              <a:p>
                <a14:m>
                  <m:oMath xmlns:m="http://schemas.openxmlformats.org/officeDocument/2006/math">
                    <m:r>
                      <a:rPr kumimoji="1" lang="en-US" altLang="ja-JP" b="0" i="1" dirty="0" smtClean="0">
                        <a:latin typeface="Cambria Math" panose="02040503050406030204" pitchFamily="18" charset="0"/>
                      </a:rPr>
                      <m:t>𝑧</m:t>
                    </m:r>
                    <m:r>
                      <a:rPr kumimoji="1" lang="en-US" altLang="ja-JP" i="1" dirty="0" smtClean="0">
                        <a:latin typeface="Cambria Math" panose="02040503050406030204" pitchFamily="18" charset="0"/>
                      </a:rPr>
                      <m:t>=</m:t>
                    </m:r>
                    <m:sSub>
                      <m:sSubPr>
                        <m:ctrlPr>
                          <a:rPr kumimoji="1" lang="en-US" altLang="ja-JP" b="0" i="1" dirty="0" smtClean="0">
                            <a:latin typeface="Cambria Math" panose="02040503050406030204" pitchFamily="18" charset="0"/>
                          </a:rPr>
                        </m:ctrlPr>
                      </m:sSubPr>
                      <m:e>
                        <m:r>
                          <a:rPr kumimoji="1" lang="en-US" altLang="ja-JP" b="0" i="1" dirty="0" smtClean="0">
                            <a:latin typeface="Cambria Math" panose="02040503050406030204" pitchFamily="18" charset="0"/>
                          </a:rPr>
                          <m:t>𝑤</m:t>
                        </m:r>
                      </m:e>
                      <m:sub>
                        <m:r>
                          <a:rPr kumimoji="1" lang="en-US" altLang="ja-JP" b="0" i="1" dirty="0" smtClean="0">
                            <a:latin typeface="Cambria Math" panose="02040503050406030204" pitchFamily="18" charset="0"/>
                          </a:rPr>
                          <m:t>0</m:t>
                        </m:r>
                      </m:sub>
                    </m:sSub>
                    <m:r>
                      <a:rPr kumimoji="1" lang="en-US" altLang="ja-JP" b="0" i="1" dirty="0" smtClean="0">
                        <a:latin typeface="Cambria Math" panose="02040503050406030204" pitchFamily="18" charset="0"/>
                      </a:rPr>
                      <m:t>+</m:t>
                    </m:r>
                    <m:nary>
                      <m:naryPr>
                        <m:chr m:val="∑"/>
                        <m:ctrlPr>
                          <a:rPr kumimoji="1" lang="en-US" altLang="ja-JP" i="1" dirty="0" smtClean="0">
                            <a:latin typeface="Cambria Math" panose="02040503050406030204" pitchFamily="18" charset="0"/>
                          </a:rPr>
                        </m:ctrlPr>
                      </m:naryPr>
                      <m:sub>
                        <m:r>
                          <m:rPr>
                            <m:brk m:alnAt="23"/>
                          </m:rPr>
                          <a:rPr kumimoji="1" lang="en-US" altLang="ja-JP" b="0" i="1" dirty="0" smtClean="0">
                            <a:latin typeface="Cambria Math" panose="02040503050406030204" pitchFamily="18" charset="0"/>
                          </a:rPr>
                          <m:t>𝑖</m:t>
                        </m:r>
                        <m:r>
                          <a:rPr kumimoji="1" lang="en-US" altLang="ja-JP" b="0" i="1" dirty="0" smtClean="0">
                            <a:latin typeface="Cambria Math" panose="02040503050406030204" pitchFamily="18" charset="0"/>
                          </a:rPr>
                          <m:t>=1</m:t>
                        </m:r>
                      </m:sub>
                      <m:sup>
                        <m:r>
                          <a:rPr kumimoji="1" lang="en-US" altLang="ja-JP" b="0" i="1" dirty="0" smtClean="0">
                            <a:latin typeface="Cambria Math" panose="02040503050406030204" pitchFamily="18" charset="0"/>
                          </a:rPr>
                          <m:t>𝑚</m:t>
                        </m:r>
                      </m:sup>
                      <m:e>
                        <m:sSub>
                          <m:sSubPr>
                            <m:ctrlPr>
                              <a:rPr kumimoji="1" lang="en-US" altLang="ja-JP" b="0" i="1" dirty="0" smtClean="0">
                                <a:latin typeface="Cambria Math" panose="02040503050406030204" pitchFamily="18" charset="0"/>
                              </a:rPr>
                            </m:ctrlPr>
                          </m:sSubPr>
                          <m:e>
                            <m:r>
                              <a:rPr kumimoji="1" lang="en-US" altLang="ja-JP" b="0" i="1" dirty="0" smtClean="0">
                                <a:latin typeface="Cambria Math" panose="02040503050406030204" pitchFamily="18" charset="0"/>
                              </a:rPr>
                              <m:t>𝑤</m:t>
                            </m:r>
                          </m:e>
                          <m:sub>
                            <m:r>
                              <a:rPr kumimoji="1" lang="en-US" altLang="ja-JP" b="0" i="1" dirty="0" smtClean="0">
                                <a:latin typeface="Cambria Math" panose="02040503050406030204" pitchFamily="18" charset="0"/>
                              </a:rPr>
                              <m:t>𝑖</m:t>
                            </m:r>
                          </m:sub>
                        </m:sSub>
                        <m:sSub>
                          <m:sSubPr>
                            <m:ctrlPr>
                              <a:rPr kumimoji="1" lang="en-US" altLang="ja-JP" b="0" i="1" dirty="0" smtClean="0">
                                <a:latin typeface="Cambria Math" panose="02040503050406030204" pitchFamily="18" charset="0"/>
                              </a:rPr>
                            </m:ctrlPr>
                          </m:sSubPr>
                          <m:e>
                            <m:r>
                              <a:rPr kumimoji="1" lang="en-US" altLang="ja-JP" b="0" i="1" dirty="0" smtClean="0">
                                <a:latin typeface="Cambria Math" panose="02040503050406030204" pitchFamily="18" charset="0"/>
                              </a:rPr>
                              <m:t>𝑥</m:t>
                            </m:r>
                          </m:e>
                          <m:sub>
                            <m:r>
                              <a:rPr kumimoji="1" lang="en-US" altLang="ja-JP" b="0" i="1" dirty="0" smtClean="0">
                                <a:latin typeface="Cambria Math" panose="02040503050406030204" pitchFamily="18" charset="0"/>
                              </a:rPr>
                              <m:t>𝑖</m:t>
                            </m:r>
                          </m:sub>
                        </m:sSub>
                      </m:e>
                    </m:nary>
                  </m:oMath>
                </a14:m>
                <a:endParaRPr kumimoji="1" lang="ja-JP" altLang="en-US" dirty="0"/>
              </a:p>
            </p:txBody>
          </p:sp>
        </mc:Choice>
        <mc:Fallback>
          <p:sp>
            <p:nvSpPr>
              <p:cNvPr id="3" name="テキスト プレースホルダー 2">
                <a:extLst>
                  <a:ext uri="{FF2B5EF4-FFF2-40B4-BE49-F238E27FC236}">
                    <a16:creationId xmlns:a16="http://schemas.microsoft.com/office/drawing/2014/main" id="{C76CD328-B560-4E84-B93F-AC51A9DA24DD}"/>
                  </a:ext>
                </a:extLst>
              </p:cNvPr>
              <p:cNvSpPr>
                <a:spLocks noGrp="1" noRot="1" noChangeAspect="1" noMove="1" noResize="1" noEditPoints="1" noAdjustHandles="1" noChangeArrowheads="1" noChangeShapeType="1" noTextEdit="1"/>
              </p:cNvSpPr>
              <p:nvPr>
                <p:ph type="body" sz="quarter" idx="10"/>
              </p:nvPr>
            </p:nvSpPr>
            <p:spPr>
              <a:xfrm>
                <a:off x="7356015" y="2978995"/>
                <a:ext cx="2970033" cy="629700"/>
              </a:xfrm>
              <a:blipFill>
                <a:blip r:embed="rId2"/>
                <a:stretch>
                  <a:fillRect l="-1848" t="-59223" b="-100000"/>
                </a:stretch>
              </a:blipFill>
            </p:spPr>
            <p:txBody>
              <a:bodyPr/>
              <a:lstStyle/>
              <a:p>
                <a:r>
                  <a:rPr lang="ja-JP" altLang="en-US">
                    <a:noFill/>
                  </a:rPr>
                  <a:t> </a:t>
                </a:r>
              </a:p>
            </p:txBody>
          </p:sp>
        </mc:Fallback>
      </mc:AlternateContent>
      <p:sp>
        <p:nvSpPr>
          <p:cNvPr id="4" name="楕円 3">
            <a:extLst>
              <a:ext uri="{FF2B5EF4-FFF2-40B4-BE49-F238E27FC236}">
                <a16:creationId xmlns:a16="http://schemas.microsoft.com/office/drawing/2014/main" id="{03C3FBF6-56D8-4368-AB14-242ABE83B514}"/>
              </a:ext>
            </a:extLst>
          </p:cNvPr>
          <p:cNvSpPr/>
          <p:nvPr/>
        </p:nvSpPr>
        <p:spPr bwMode="auto">
          <a:xfrm>
            <a:off x="5015988" y="2168986"/>
            <a:ext cx="2160025" cy="900010"/>
          </a:xfrm>
          <a:prstGeom prst="ellips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2400" dirty="0">
                <a:solidFill>
                  <a:schemeClr val="tx1">
                    <a:lumMod val="75000"/>
                    <a:lumOff val="25000"/>
                  </a:schemeClr>
                </a:solidFill>
                <a:latin typeface="+mn-ea"/>
              </a:rPr>
              <a:t>Σ</a:t>
            </a:r>
            <a:endParaRPr lang="ja-JP" altLang="en-US" sz="2400" dirty="0">
              <a:solidFill>
                <a:schemeClr val="tx1">
                  <a:lumMod val="75000"/>
                  <a:lumOff val="25000"/>
                </a:schemeClr>
              </a:solidFill>
              <a:latin typeface="+mn-ea"/>
            </a:endParaRPr>
          </a:p>
        </p:txBody>
      </p:sp>
      <p:cxnSp>
        <p:nvCxnSpPr>
          <p:cNvPr id="6" name="直線矢印コネクタ 5">
            <a:extLst>
              <a:ext uri="{FF2B5EF4-FFF2-40B4-BE49-F238E27FC236}">
                <a16:creationId xmlns:a16="http://schemas.microsoft.com/office/drawing/2014/main" id="{61C2A654-3D66-4D5A-A669-E7F8E27096E6}"/>
              </a:ext>
            </a:extLst>
          </p:cNvPr>
          <p:cNvCxnSpPr>
            <a:cxnSpLocks/>
            <a:stCxn id="8" idx="2"/>
            <a:endCxn id="4" idx="1"/>
          </p:cNvCxnSpPr>
          <p:nvPr/>
        </p:nvCxnSpPr>
        <p:spPr bwMode="auto">
          <a:xfrm>
            <a:off x="4802843" y="1448979"/>
            <a:ext cx="529473" cy="851811"/>
          </a:xfrm>
          <a:prstGeom prst="straightConnector1">
            <a:avLst/>
          </a:prstGeom>
          <a:noFill/>
          <a:ln w="9525" cap="flat" cmpd="sng" algn="ctr">
            <a:solidFill>
              <a:schemeClr val="tx1"/>
            </a:solidFill>
            <a:prstDash val="solid"/>
            <a:round/>
            <a:headEnd type="none" w="med" len="med"/>
            <a:tailEnd type="triangle"/>
          </a:ln>
          <a:effectLst/>
        </p:spPr>
      </p:cxnSp>
      <mc:AlternateContent xmlns:mc="http://schemas.openxmlformats.org/markup-compatibility/2006">
        <mc:Choice xmlns:a14="http://schemas.microsoft.com/office/drawing/2010/main" Requires="a14">
          <p:sp>
            <p:nvSpPr>
              <p:cNvPr id="8" name="正方形/長方形 7">
                <a:extLst>
                  <a:ext uri="{FF2B5EF4-FFF2-40B4-BE49-F238E27FC236}">
                    <a16:creationId xmlns:a16="http://schemas.microsoft.com/office/drawing/2014/main" id="{24E92484-E03C-423F-B6C5-24A1D5FC0737}"/>
                  </a:ext>
                </a:extLst>
              </p:cNvPr>
              <p:cNvSpPr/>
              <p:nvPr/>
            </p:nvSpPr>
            <p:spPr bwMode="auto">
              <a:xfrm>
                <a:off x="4622840" y="1088974"/>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14:m>
                  <m:oMathPara xmlns:m="http://schemas.openxmlformats.org/officeDocument/2006/math">
                    <m:oMathParaPr>
                      <m:jc m:val="centerGroup"/>
                    </m:oMathParaPr>
                    <m:oMath xmlns:m="http://schemas.openxmlformats.org/officeDocument/2006/math">
                      <m:r>
                        <a:rPr lang="en-US" altLang="ja-JP" sz="2000" i="1" dirty="0">
                          <a:solidFill>
                            <a:schemeClr val="tx1">
                              <a:lumMod val="75000"/>
                              <a:lumOff val="25000"/>
                            </a:schemeClr>
                          </a:solidFill>
                          <a:latin typeface="Cambria Math" panose="02040503050406030204" pitchFamily="18" charset="0"/>
                        </a:rPr>
                        <m:t>1</m:t>
                      </m:r>
                    </m:oMath>
                  </m:oMathPara>
                </a14:m>
                <a:endParaRPr lang="ja-JP" altLang="en-US" sz="2000" dirty="0">
                  <a:solidFill>
                    <a:schemeClr val="tx1">
                      <a:lumMod val="75000"/>
                      <a:lumOff val="25000"/>
                    </a:schemeClr>
                  </a:solidFill>
                  <a:latin typeface="Arial Narrow" panose="020B0606020202030204" pitchFamily="34" charset="0"/>
                </a:endParaRPr>
              </a:p>
            </p:txBody>
          </p:sp>
        </mc:Choice>
        <mc:Fallback>
          <p:sp>
            <p:nvSpPr>
              <p:cNvPr id="8" name="正方形/長方形 7">
                <a:extLst>
                  <a:ext uri="{FF2B5EF4-FFF2-40B4-BE49-F238E27FC236}">
                    <a16:creationId xmlns:a16="http://schemas.microsoft.com/office/drawing/2014/main" id="{24E92484-E03C-423F-B6C5-24A1D5FC0737}"/>
                  </a:ext>
                </a:extLst>
              </p:cNvPr>
              <p:cNvSpPr>
                <a:spLocks noRot="1" noChangeAspect="1" noMove="1" noResize="1" noEditPoints="1" noAdjustHandles="1" noChangeArrowheads="1" noChangeShapeType="1" noTextEdit="1"/>
              </p:cNvSpPr>
              <p:nvPr/>
            </p:nvSpPr>
            <p:spPr bwMode="auto">
              <a:xfrm>
                <a:off x="4622840" y="1088974"/>
                <a:ext cx="360004" cy="360004"/>
              </a:xfrm>
              <a:prstGeom prst="rect">
                <a:avLst/>
              </a:prstGeom>
              <a:blipFill>
                <a:blip r:embed="rId3"/>
                <a:stretch>
                  <a:fillRect l="-1695"/>
                </a:stretch>
              </a:blipFill>
              <a:ln w="6350">
                <a:noFill/>
                <a:headEnd/>
                <a:tailEnd type="none" w="sm" len="med"/>
              </a:ln>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9" name="正方形/長方形 8">
                <a:extLst>
                  <a:ext uri="{FF2B5EF4-FFF2-40B4-BE49-F238E27FC236}">
                    <a16:creationId xmlns:a16="http://schemas.microsoft.com/office/drawing/2014/main" id="{7EF6AD6F-8ABF-4592-88E9-17B35C876AF5}"/>
                  </a:ext>
                </a:extLst>
              </p:cNvPr>
              <p:cNvSpPr/>
              <p:nvPr/>
            </p:nvSpPr>
            <p:spPr bwMode="auto">
              <a:xfrm>
                <a:off x="5375992" y="1088974"/>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14:m>
                  <m:oMathPara xmlns:m="http://schemas.openxmlformats.org/officeDocument/2006/math">
                    <m:oMathParaPr>
                      <m:jc m:val="centerGroup"/>
                    </m:oMathParaPr>
                    <m:oMath xmlns:m="http://schemas.openxmlformats.org/officeDocument/2006/math">
                      <m:sSub>
                        <m:sSubPr>
                          <m:ctrlPr>
                            <a:rPr lang="en-US" altLang="ja-JP" sz="2000" i="1" dirty="0">
                              <a:solidFill>
                                <a:schemeClr val="tx1">
                                  <a:lumMod val="75000"/>
                                  <a:lumOff val="25000"/>
                                </a:schemeClr>
                              </a:solidFill>
                              <a:latin typeface="Cambria Math" panose="02040503050406030204" pitchFamily="18" charset="0"/>
                            </a:rPr>
                          </m:ctrlPr>
                        </m:sSubPr>
                        <m:e>
                          <m:r>
                            <a:rPr lang="en-US" altLang="ja-JP" sz="2000" i="1" dirty="0">
                              <a:solidFill>
                                <a:schemeClr val="tx1">
                                  <a:lumMod val="75000"/>
                                  <a:lumOff val="25000"/>
                                </a:schemeClr>
                              </a:solidFill>
                              <a:latin typeface="Cambria Math" panose="02040503050406030204" pitchFamily="18" charset="0"/>
                            </a:rPr>
                            <m:t>𝑥</m:t>
                          </m:r>
                        </m:e>
                        <m:sub>
                          <m:r>
                            <a:rPr lang="en-US" altLang="ja-JP" sz="2000" i="1" dirty="0">
                              <a:solidFill>
                                <a:schemeClr val="tx1">
                                  <a:lumMod val="75000"/>
                                  <a:lumOff val="25000"/>
                                </a:schemeClr>
                              </a:solidFill>
                              <a:latin typeface="Cambria Math" panose="02040503050406030204" pitchFamily="18" charset="0"/>
                            </a:rPr>
                            <m:t>1</m:t>
                          </m:r>
                        </m:sub>
                      </m:sSub>
                    </m:oMath>
                  </m:oMathPara>
                </a14:m>
                <a:endParaRPr lang="ja-JP" altLang="en-US" sz="2000" dirty="0">
                  <a:solidFill>
                    <a:schemeClr val="tx1">
                      <a:lumMod val="75000"/>
                      <a:lumOff val="25000"/>
                    </a:schemeClr>
                  </a:solidFill>
                  <a:latin typeface="Arial Narrow" panose="020B0606020202030204" pitchFamily="34" charset="0"/>
                </a:endParaRPr>
              </a:p>
            </p:txBody>
          </p:sp>
        </mc:Choice>
        <mc:Fallback>
          <p:sp>
            <p:nvSpPr>
              <p:cNvPr id="9" name="正方形/長方形 8">
                <a:extLst>
                  <a:ext uri="{FF2B5EF4-FFF2-40B4-BE49-F238E27FC236}">
                    <a16:creationId xmlns:a16="http://schemas.microsoft.com/office/drawing/2014/main" id="{7EF6AD6F-8ABF-4592-88E9-17B35C876AF5}"/>
                  </a:ext>
                </a:extLst>
              </p:cNvPr>
              <p:cNvSpPr>
                <a:spLocks noRot="1" noChangeAspect="1" noMove="1" noResize="1" noEditPoints="1" noAdjustHandles="1" noChangeArrowheads="1" noChangeShapeType="1" noTextEdit="1"/>
              </p:cNvSpPr>
              <p:nvPr/>
            </p:nvSpPr>
            <p:spPr bwMode="auto">
              <a:xfrm>
                <a:off x="5375992" y="1088974"/>
                <a:ext cx="360004" cy="360004"/>
              </a:xfrm>
              <a:prstGeom prst="rect">
                <a:avLst/>
              </a:prstGeom>
              <a:blipFill>
                <a:blip r:embed="rId4"/>
                <a:stretch>
                  <a:fillRect l="-10169"/>
                </a:stretch>
              </a:blipFill>
              <a:ln w="6350">
                <a:noFill/>
                <a:headEnd/>
                <a:tailEnd type="none" w="sm" len="med"/>
              </a:ln>
            </p:spPr>
            <p:txBody>
              <a:bodyPr/>
              <a:lstStyle/>
              <a:p>
                <a:r>
                  <a:rPr lang="ja-JP" altLang="en-US">
                    <a:noFill/>
                  </a:rPr>
                  <a:t> </a:t>
                </a:r>
              </a:p>
            </p:txBody>
          </p:sp>
        </mc:Fallback>
      </mc:AlternateContent>
      <p:sp>
        <p:nvSpPr>
          <p:cNvPr id="12" name="正方形/長方形 11">
            <a:extLst>
              <a:ext uri="{FF2B5EF4-FFF2-40B4-BE49-F238E27FC236}">
                <a16:creationId xmlns:a16="http://schemas.microsoft.com/office/drawing/2014/main" id="{6495445F-363E-440D-BEAB-65A78BFEFC09}"/>
              </a:ext>
            </a:extLst>
          </p:cNvPr>
          <p:cNvSpPr/>
          <p:nvPr/>
        </p:nvSpPr>
        <p:spPr bwMode="auto">
          <a:xfrm>
            <a:off x="6456004" y="1088974"/>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a:t>
            </a:r>
            <a:endParaRPr lang="ja-JP" altLang="en-US" sz="2000" dirty="0">
              <a:solidFill>
                <a:schemeClr val="tx1">
                  <a:lumMod val="75000"/>
                  <a:lumOff val="25000"/>
                </a:schemeClr>
              </a:solidFill>
              <a:latin typeface="Arial Narrow" panose="020B0606020202030204" pitchFamily="34" charset="0"/>
            </a:endParaRPr>
          </a:p>
        </p:txBody>
      </p:sp>
      <p:cxnSp>
        <p:nvCxnSpPr>
          <p:cNvPr id="14" name="直線矢印コネクタ 13">
            <a:extLst>
              <a:ext uri="{FF2B5EF4-FFF2-40B4-BE49-F238E27FC236}">
                <a16:creationId xmlns:a16="http://schemas.microsoft.com/office/drawing/2014/main" id="{DF53E568-5E20-47E2-A3FB-500F66BCDBB0}"/>
              </a:ext>
            </a:extLst>
          </p:cNvPr>
          <p:cNvCxnSpPr>
            <a:cxnSpLocks/>
            <a:stCxn id="9" idx="2"/>
          </p:cNvCxnSpPr>
          <p:nvPr/>
        </p:nvCxnSpPr>
        <p:spPr bwMode="auto">
          <a:xfrm>
            <a:off x="5555994" y="1448978"/>
            <a:ext cx="180002" cy="720008"/>
          </a:xfrm>
          <a:prstGeom prst="straightConnector1">
            <a:avLst/>
          </a:prstGeom>
          <a:noFill/>
          <a:ln w="9525" cap="flat" cmpd="sng" algn="ctr">
            <a:solidFill>
              <a:schemeClr val="tx1"/>
            </a:solidFill>
            <a:prstDash val="solid"/>
            <a:round/>
            <a:headEnd type="none" w="med" len="med"/>
            <a:tailEnd type="triangle"/>
          </a:ln>
          <a:effectLst/>
        </p:spPr>
      </p:cxnSp>
      <p:cxnSp>
        <p:nvCxnSpPr>
          <p:cNvPr id="16" name="直線矢印コネクタ 15">
            <a:extLst>
              <a:ext uri="{FF2B5EF4-FFF2-40B4-BE49-F238E27FC236}">
                <a16:creationId xmlns:a16="http://schemas.microsoft.com/office/drawing/2014/main" id="{2E2072D7-27CE-49D0-BF60-6D6C13851026}"/>
              </a:ext>
            </a:extLst>
          </p:cNvPr>
          <p:cNvCxnSpPr>
            <a:cxnSpLocks/>
            <a:stCxn id="27" idx="2"/>
          </p:cNvCxnSpPr>
          <p:nvPr/>
        </p:nvCxnSpPr>
        <p:spPr bwMode="auto">
          <a:xfrm flipH="1">
            <a:off x="6186002" y="1416776"/>
            <a:ext cx="102151" cy="752211"/>
          </a:xfrm>
          <a:prstGeom prst="straightConnector1">
            <a:avLst/>
          </a:prstGeom>
          <a:noFill/>
          <a:ln w="9525" cap="flat" cmpd="sng" algn="ctr">
            <a:solidFill>
              <a:schemeClr val="tx1"/>
            </a:solidFill>
            <a:prstDash val="solid"/>
            <a:round/>
            <a:headEnd type="none" w="med" len="med"/>
            <a:tailEnd type="triangle"/>
          </a:ln>
          <a:effectLst/>
        </p:spPr>
      </p:cxnSp>
      <p:cxnSp>
        <p:nvCxnSpPr>
          <p:cNvPr id="19" name="直線矢印コネクタ 18">
            <a:extLst>
              <a:ext uri="{FF2B5EF4-FFF2-40B4-BE49-F238E27FC236}">
                <a16:creationId xmlns:a16="http://schemas.microsoft.com/office/drawing/2014/main" id="{89AAD5FC-CA6A-4DF7-BC68-64D554E24A73}"/>
              </a:ext>
            </a:extLst>
          </p:cNvPr>
          <p:cNvCxnSpPr>
            <a:cxnSpLocks/>
            <a:stCxn id="32" idx="2"/>
          </p:cNvCxnSpPr>
          <p:nvPr/>
        </p:nvCxnSpPr>
        <p:spPr bwMode="auto">
          <a:xfrm flipH="1">
            <a:off x="6636007" y="1416775"/>
            <a:ext cx="462154" cy="842212"/>
          </a:xfrm>
          <a:prstGeom prst="straightConnector1">
            <a:avLst/>
          </a:prstGeom>
          <a:noFill/>
          <a:ln w="9525" cap="flat" cmpd="sng" algn="ctr">
            <a:solidFill>
              <a:schemeClr val="tx1"/>
            </a:solidFill>
            <a:prstDash val="solid"/>
            <a:round/>
            <a:headEnd type="none" w="med" len="med"/>
            <a:tailEnd type="triangle"/>
          </a:ln>
          <a:effectLst/>
        </p:spPr>
      </p:cxnSp>
      <mc:AlternateContent xmlns:mc="http://schemas.openxmlformats.org/markup-compatibility/2006">
        <mc:Choice xmlns:a14="http://schemas.microsoft.com/office/drawing/2010/main" Requires="a14">
          <p:sp>
            <p:nvSpPr>
              <p:cNvPr id="23" name="正方形/長方形 22">
                <a:extLst>
                  <a:ext uri="{FF2B5EF4-FFF2-40B4-BE49-F238E27FC236}">
                    <a16:creationId xmlns:a16="http://schemas.microsoft.com/office/drawing/2014/main" id="{19BCB978-7455-44C0-9F75-1E921CE16AAE}"/>
                  </a:ext>
                </a:extLst>
              </p:cNvPr>
              <p:cNvSpPr/>
              <p:nvPr/>
            </p:nvSpPr>
            <p:spPr bwMode="auto">
              <a:xfrm>
                <a:off x="4655984" y="1538979"/>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14:m>
                  <m:oMathPara xmlns:m="http://schemas.openxmlformats.org/officeDocument/2006/math">
                    <m:oMathParaPr>
                      <m:jc m:val="centerGroup"/>
                    </m:oMathParaPr>
                    <m:oMath xmlns:m="http://schemas.openxmlformats.org/officeDocument/2006/math">
                      <m:sSub>
                        <m:sSubPr>
                          <m:ctrlPr>
                            <a:rPr lang="en-US" altLang="ja-JP" sz="2000" i="1" dirty="0">
                              <a:solidFill>
                                <a:schemeClr val="tx1">
                                  <a:lumMod val="75000"/>
                                  <a:lumOff val="25000"/>
                                </a:schemeClr>
                              </a:solidFill>
                              <a:latin typeface="Cambria Math" panose="02040503050406030204" pitchFamily="18" charset="0"/>
                            </a:rPr>
                          </m:ctrlPr>
                        </m:sSubPr>
                        <m:e>
                          <m:r>
                            <a:rPr lang="en-US" altLang="ja-JP" sz="2000" i="1" dirty="0">
                              <a:solidFill>
                                <a:schemeClr val="tx1">
                                  <a:lumMod val="75000"/>
                                  <a:lumOff val="25000"/>
                                </a:schemeClr>
                              </a:solidFill>
                              <a:latin typeface="Cambria Math" panose="02040503050406030204" pitchFamily="18" charset="0"/>
                            </a:rPr>
                            <m:t>𝑤</m:t>
                          </m:r>
                        </m:e>
                        <m:sub>
                          <m:r>
                            <a:rPr lang="en-US" altLang="ja-JP" sz="2000" i="1" dirty="0">
                              <a:solidFill>
                                <a:schemeClr val="tx1">
                                  <a:lumMod val="75000"/>
                                  <a:lumOff val="25000"/>
                                </a:schemeClr>
                              </a:solidFill>
                              <a:latin typeface="Cambria Math" panose="02040503050406030204" pitchFamily="18" charset="0"/>
                            </a:rPr>
                            <m:t>0</m:t>
                          </m:r>
                        </m:sub>
                      </m:sSub>
                    </m:oMath>
                  </m:oMathPara>
                </a14:m>
                <a:endParaRPr lang="ja-JP" altLang="en-US" sz="2000" dirty="0">
                  <a:solidFill>
                    <a:schemeClr val="tx1">
                      <a:lumMod val="75000"/>
                      <a:lumOff val="25000"/>
                    </a:schemeClr>
                  </a:solidFill>
                  <a:latin typeface="Arial Narrow" panose="020B0606020202030204" pitchFamily="34" charset="0"/>
                </a:endParaRPr>
              </a:p>
            </p:txBody>
          </p:sp>
        </mc:Choice>
        <mc:Fallback>
          <p:sp>
            <p:nvSpPr>
              <p:cNvPr id="23" name="正方形/長方形 22">
                <a:extLst>
                  <a:ext uri="{FF2B5EF4-FFF2-40B4-BE49-F238E27FC236}">
                    <a16:creationId xmlns:a16="http://schemas.microsoft.com/office/drawing/2014/main" id="{19BCB978-7455-44C0-9F75-1E921CE16AAE}"/>
                  </a:ext>
                </a:extLst>
              </p:cNvPr>
              <p:cNvSpPr>
                <a:spLocks noRot="1" noChangeAspect="1" noMove="1" noResize="1" noEditPoints="1" noAdjustHandles="1" noChangeArrowheads="1" noChangeShapeType="1" noTextEdit="1"/>
              </p:cNvSpPr>
              <p:nvPr/>
            </p:nvSpPr>
            <p:spPr bwMode="auto">
              <a:xfrm>
                <a:off x="4655984" y="1538979"/>
                <a:ext cx="360004" cy="360004"/>
              </a:xfrm>
              <a:prstGeom prst="rect">
                <a:avLst/>
              </a:prstGeom>
              <a:blipFill>
                <a:blip r:embed="rId5"/>
                <a:stretch>
                  <a:fillRect l="-16949"/>
                </a:stretch>
              </a:blipFill>
              <a:ln w="6350">
                <a:noFill/>
                <a:headEnd/>
                <a:tailEnd type="none" w="sm" len="med"/>
              </a:ln>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26" name="正方形/長方形 25">
                <a:extLst>
                  <a:ext uri="{FF2B5EF4-FFF2-40B4-BE49-F238E27FC236}">
                    <a16:creationId xmlns:a16="http://schemas.microsoft.com/office/drawing/2014/main" id="{75876AEF-3248-4B60-A091-DBFD29657ED6}"/>
                  </a:ext>
                </a:extLst>
              </p:cNvPr>
              <p:cNvSpPr/>
              <p:nvPr/>
            </p:nvSpPr>
            <p:spPr bwMode="auto">
              <a:xfrm>
                <a:off x="5285991" y="1538979"/>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14:m>
                  <m:oMathPara xmlns:m="http://schemas.openxmlformats.org/officeDocument/2006/math">
                    <m:oMathParaPr>
                      <m:jc m:val="centerGroup"/>
                    </m:oMathParaPr>
                    <m:oMath xmlns:m="http://schemas.openxmlformats.org/officeDocument/2006/math">
                      <m:sSub>
                        <m:sSubPr>
                          <m:ctrlPr>
                            <a:rPr lang="en-US" altLang="ja-JP" sz="2000" i="1" dirty="0">
                              <a:solidFill>
                                <a:schemeClr val="tx1">
                                  <a:lumMod val="75000"/>
                                  <a:lumOff val="25000"/>
                                </a:schemeClr>
                              </a:solidFill>
                              <a:latin typeface="Cambria Math" panose="02040503050406030204" pitchFamily="18" charset="0"/>
                            </a:rPr>
                          </m:ctrlPr>
                        </m:sSubPr>
                        <m:e>
                          <m:r>
                            <a:rPr lang="en-US" altLang="ja-JP" sz="2000" i="1" dirty="0">
                              <a:solidFill>
                                <a:schemeClr val="tx1">
                                  <a:lumMod val="75000"/>
                                  <a:lumOff val="25000"/>
                                </a:schemeClr>
                              </a:solidFill>
                              <a:latin typeface="Cambria Math" panose="02040503050406030204" pitchFamily="18" charset="0"/>
                            </a:rPr>
                            <m:t>𝑤</m:t>
                          </m:r>
                        </m:e>
                        <m:sub>
                          <m:r>
                            <a:rPr lang="en-US" altLang="ja-JP" sz="2000" i="1" dirty="0">
                              <a:solidFill>
                                <a:schemeClr val="tx1">
                                  <a:lumMod val="75000"/>
                                  <a:lumOff val="25000"/>
                                </a:schemeClr>
                              </a:solidFill>
                              <a:latin typeface="Cambria Math" panose="02040503050406030204" pitchFamily="18" charset="0"/>
                            </a:rPr>
                            <m:t>1</m:t>
                          </m:r>
                        </m:sub>
                      </m:sSub>
                    </m:oMath>
                  </m:oMathPara>
                </a14:m>
                <a:endParaRPr lang="ja-JP" altLang="en-US" sz="2000" dirty="0">
                  <a:solidFill>
                    <a:schemeClr val="tx1">
                      <a:lumMod val="75000"/>
                      <a:lumOff val="25000"/>
                    </a:schemeClr>
                  </a:solidFill>
                  <a:latin typeface="Arial Narrow" panose="020B0606020202030204" pitchFamily="34" charset="0"/>
                </a:endParaRPr>
              </a:p>
            </p:txBody>
          </p:sp>
        </mc:Choice>
        <mc:Fallback>
          <p:sp>
            <p:nvSpPr>
              <p:cNvPr id="26" name="正方形/長方形 25">
                <a:extLst>
                  <a:ext uri="{FF2B5EF4-FFF2-40B4-BE49-F238E27FC236}">
                    <a16:creationId xmlns:a16="http://schemas.microsoft.com/office/drawing/2014/main" id="{75876AEF-3248-4B60-A091-DBFD29657ED6}"/>
                  </a:ext>
                </a:extLst>
              </p:cNvPr>
              <p:cNvSpPr>
                <a:spLocks noRot="1" noChangeAspect="1" noMove="1" noResize="1" noEditPoints="1" noAdjustHandles="1" noChangeArrowheads="1" noChangeShapeType="1" noTextEdit="1"/>
              </p:cNvSpPr>
              <p:nvPr/>
            </p:nvSpPr>
            <p:spPr bwMode="auto">
              <a:xfrm>
                <a:off x="5285991" y="1538979"/>
                <a:ext cx="360004" cy="360004"/>
              </a:xfrm>
              <a:prstGeom prst="rect">
                <a:avLst/>
              </a:prstGeom>
              <a:blipFill>
                <a:blip r:embed="rId6"/>
                <a:stretch>
                  <a:fillRect l="-15254"/>
                </a:stretch>
              </a:blipFill>
              <a:ln w="6350">
                <a:noFill/>
                <a:headEnd/>
                <a:tailEnd type="none" w="sm" len="med"/>
              </a:ln>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27" name="正方形/長方形 26">
                <a:extLst>
                  <a:ext uri="{FF2B5EF4-FFF2-40B4-BE49-F238E27FC236}">
                    <a16:creationId xmlns:a16="http://schemas.microsoft.com/office/drawing/2014/main" id="{BBE65F8C-7405-4DA3-B77A-0CBCF35A477E}"/>
                  </a:ext>
                </a:extLst>
              </p:cNvPr>
              <p:cNvSpPr/>
              <p:nvPr/>
            </p:nvSpPr>
            <p:spPr bwMode="auto">
              <a:xfrm>
                <a:off x="6096001" y="1088975"/>
                <a:ext cx="384303" cy="327801"/>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14:m>
                  <m:oMathPara xmlns:m="http://schemas.openxmlformats.org/officeDocument/2006/math">
                    <m:oMathParaPr>
                      <m:jc m:val="centerGroup"/>
                    </m:oMathParaPr>
                    <m:oMath xmlns:m="http://schemas.openxmlformats.org/officeDocument/2006/math">
                      <m:sSub>
                        <m:sSubPr>
                          <m:ctrlPr>
                            <a:rPr lang="en-US" altLang="ja-JP" sz="2000" i="1" dirty="0">
                              <a:solidFill>
                                <a:schemeClr val="tx1">
                                  <a:lumMod val="75000"/>
                                  <a:lumOff val="25000"/>
                                </a:schemeClr>
                              </a:solidFill>
                              <a:latin typeface="Cambria Math" panose="02040503050406030204" pitchFamily="18" charset="0"/>
                            </a:rPr>
                          </m:ctrlPr>
                        </m:sSubPr>
                        <m:e>
                          <m:r>
                            <a:rPr lang="en-US" altLang="ja-JP" sz="2000" i="1" dirty="0">
                              <a:solidFill>
                                <a:schemeClr val="tx1">
                                  <a:lumMod val="75000"/>
                                  <a:lumOff val="25000"/>
                                </a:schemeClr>
                              </a:solidFill>
                              <a:latin typeface="Cambria Math" panose="02040503050406030204" pitchFamily="18" charset="0"/>
                            </a:rPr>
                            <m:t>𝑥</m:t>
                          </m:r>
                        </m:e>
                        <m:sub>
                          <m:r>
                            <a:rPr lang="en-US" altLang="ja-JP" sz="2000" i="1" dirty="0">
                              <a:solidFill>
                                <a:schemeClr val="tx1">
                                  <a:lumMod val="75000"/>
                                  <a:lumOff val="25000"/>
                                </a:schemeClr>
                              </a:solidFill>
                              <a:latin typeface="Cambria Math" panose="02040503050406030204" pitchFamily="18" charset="0"/>
                            </a:rPr>
                            <m:t>2</m:t>
                          </m:r>
                        </m:sub>
                      </m:sSub>
                    </m:oMath>
                  </m:oMathPara>
                </a14:m>
                <a:endParaRPr lang="ja-JP" altLang="en-US" sz="2000" dirty="0">
                  <a:solidFill>
                    <a:schemeClr val="tx1">
                      <a:lumMod val="75000"/>
                      <a:lumOff val="25000"/>
                    </a:schemeClr>
                  </a:solidFill>
                  <a:latin typeface="Arial Narrow" panose="020B0606020202030204" pitchFamily="34" charset="0"/>
                </a:endParaRPr>
              </a:p>
            </p:txBody>
          </p:sp>
        </mc:Choice>
        <mc:Fallback>
          <p:sp>
            <p:nvSpPr>
              <p:cNvPr id="27" name="正方形/長方形 26">
                <a:extLst>
                  <a:ext uri="{FF2B5EF4-FFF2-40B4-BE49-F238E27FC236}">
                    <a16:creationId xmlns:a16="http://schemas.microsoft.com/office/drawing/2014/main" id="{BBE65F8C-7405-4DA3-B77A-0CBCF35A477E}"/>
                  </a:ext>
                </a:extLst>
              </p:cNvPr>
              <p:cNvSpPr>
                <a:spLocks noRot="1" noChangeAspect="1" noMove="1" noResize="1" noEditPoints="1" noAdjustHandles="1" noChangeArrowheads="1" noChangeShapeType="1" noTextEdit="1"/>
              </p:cNvSpPr>
              <p:nvPr/>
            </p:nvSpPr>
            <p:spPr bwMode="auto">
              <a:xfrm>
                <a:off x="6096001" y="1088975"/>
                <a:ext cx="384303" cy="327801"/>
              </a:xfrm>
              <a:prstGeom prst="rect">
                <a:avLst/>
              </a:prstGeom>
              <a:blipFill>
                <a:blip r:embed="rId7"/>
                <a:stretch>
                  <a:fillRect l="-6349" b="-7547"/>
                </a:stretch>
              </a:blipFill>
              <a:ln w="6350">
                <a:noFill/>
                <a:headEnd/>
                <a:tailEnd type="none" w="sm" len="med"/>
              </a:ln>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31" name="正方形/長方形 30">
                <a:extLst>
                  <a:ext uri="{FF2B5EF4-FFF2-40B4-BE49-F238E27FC236}">
                    <a16:creationId xmlns:a16="http://schemas.microsoft.com/office/drawing/2014/main" id="{CBBF7BBC-7C75-4C19-AEA7-A9C80736AAF6}"/>
                  </a:ext>
                </a:extLst>
              </p:cNvPr>
              <p:cNvSpPr/>
              <p:nvPr/>
            </p:nvSpPr>
            <p:spPr bwMode="auto">
              <a:xfrm>
                <a:off x="5915998" y="1538979"/>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14:m>
                  <m:oMathPara xmlns:m="http://schemas.openxmlformats.org/officeDocument/2006/math">
                    <m:oMathParaPr>
                      <m:jc m:val="centerGroup"/>
                    </m:oMathParaPr>
                    <m:oMath xmlns:m="http://schemas.openxmlformats.org/officeDocument/2006/math">
                      <m:sSub>
                        <m:sSubPr>
                          <m:ctrlPr>
                            <a:rPr lang="en-US" altLang="ja-JP" sz="2000" i="1" dirty="0">
                              <a:solidFill>
                                <a:schemeClr val="tx1">
                                  <a:lumMod val="75000"/>
                                  <a:lumOff val="25000"/>
                                </a:schemeClr>
                              </a:solidFill>
                              <a:latin typeface="Cambria Math" panose="02040503050406030204" pitchFamily="18" charset="0"/>
                            </a:rPr>
                          </m:ctrlPr>
                        </m:sSubPr>
                        <m:e>
                          <m:r>
                            <a:rPr lang="en-US" altLang="ja-JP" sz="2000" i="1" dirty="0">
                              <a:solidFill>
                                <a:schemeClr val="tx1">
                                  <a:lumMod val="75000"/>
                                  <a:lumOff val="25000"/>
                                </a:schemeClr>
                              </a:solidFill>
                              <a:latin typeface="Cambria Math" panose="02040503050406030204" pitchFamily="18" charset="0"/>
                            </a:rPr>
                            <m:t>𝑤</m:t>
                          </m:r>
                        </m:e>
                        <m:sub>
                          <m:r>
                            <a:rPr lang="en-US" altLang="ja-JP" sz="2000" i="1" dirty="0">
                              <a:solidFill>
                                <a:schemeClr val="tx1">
                                  <a:lumMod val="75000"/>
                                  <a:lumOff val="25000"/>
                                </a:schemeClr>
                              </a:solidFill>
                              <a:latin typeface="Cambria Math" panose="02040503050406030204" pitchFamily="18" charset="0"/>
                            </a:rPr>
                            <m:t>2</m:t>
                          </m:r>
                        </m:sub>
                      </m:sSub>
                    </m:oMath>
                  </m:oMathPara>
                </a14:m>
                <a:endParaRPr lang="ja-JP" altLang="en-US" sz="2000" dirty="0">
                  <a:solidFill>
                    <a:schemeClr val="tx1">
                      <a:lumMod val="75000"/>
                      <a:lumOff val="25000"/>
                    </a:schemeClr>
                  </a:solidFill>
                  <a:latin typeface="Arial Narrow" panose="020B0606020202030204" pitchFamily="34" charset="0"/>
                </a:endParaRPr>
              </a:p>
            </p:txBody>
          </p:sp>
        </mc:Choice>
        <mc:Fallback>
          <p:sp>
            <p:nvSpPr>
              <p:cNvPr id="31" name="正方形/長方形 30">
                <a:extLst>
                  <a:ext uri="{FF2B5EF4-FFF2-40B4-BE49-F238E27FC236}">
                    <a16:creationId xmlns:a16="http://schemas.microsoft.com/office/drawing/2014/main" id="{CBBF7BBC-7C75-4C19-AEA7-A9C80736AAF6}"/>
                  </a:ext>
                </a:extLst>
              </p:cNvPr>
              <p:cNvSpPr>
                <a:spLocks noRot="1" noChangeAspect="1" noMove="1" noResize="1" noEditPoints="1" noAdjustHandles="1" noChangeArrowheads="1" noChangeShapeType="1" noTextEdit="1"/>
              </p:cNvSpPr>
              <p:nvPr/>
            </p:nvSpPr>
            <p:spPr bwMode="auto">
              <a:xfrm>
                <a:off x="5915998" y="1538979"/>
                <a:ext cx="360004" cy="360004"/>
              </a:xfrm>
              <a:prstGeom prst="rect">
                <a:avLst/>
              </a:prstGeom>
              <a:blipFill>
                <a:blip r:embed="rId8"/>
                <a:stretch>
                  <a:fillRect l="-16667"/>
                </a:stretch>
              </a:blipFill>
              <a:ln w="6350">
                <a:noFill/>
                <a:headEnd/>
                <a:tailEnd type="none" w="sm" len="med"/>
              </a:ln>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32" name="正方形/長方形 31">
                <a:extLst>
                  <a:ext uri="{FF2B5EF4-FFF2-40B4-BE49-F238E27FC236}">
                    <a16:creationId xmlns:a16="http://schemas.microsoft.com/office/drawing/2014/main" id="{57A3E800-7CFF-4578-95DC-415CD38A1645}"/>
                  </a:ext>
                </a:extLst>
              </p:cNvPr>
              <p:cNvSpPr/>
              <p:nvPr/>
            </p:nvSpPr>
            <p:spPr bwMode="auto">
              <a:xfrm>
                <a:off x="6906010" y="1088975"/>
                <a:ext cx="384303" cy="327801"/>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14:m>
                  <m:oMathPara xmlns:m="http://schemas.openxmlformats.org/officeDocument/2006/math">
                    <m:oMathParaPr>
                      <m:jc m:val="centerGroup"/>
                    </m:oMathParaPr>
                    <m:oMath xmlns:m="http://schemas.openxmlformats.org/officeDocument/2006/math">
                      <m:sSub>
                        <m:sSubPr>
                          <m:ctrlPr>
                            <a:rPr lang="en-US" altLang="ja-JP" sz="2000" i="1" dirty="0">
                              <a:solidFill>
                                <a:schemeClr val="tx1">
                                  <a:lumMod val="75000"/>
                                  <a:lumOff val="25000"/>
                                </a:schemeClr>
                              </a:solidFill>
                              <a:latin typeface="Cambria Math" panose="02040503050406030204" pitchFamily="18" charset="0"/>
                            </a:rPr>
                          </m:ctrlPr>
                        </m:sSubPr>
                        <m:e>
                          <m:r>
                            <a:rPr lang="en-US" altLang="ja-JP" sz="2000" i="1" dirty="0">
                              <a:solidFill>
                                <a:schemeClr val="tx1">
                                  <a:lumMod val="75000"/>
                                  <a:lumOff val="25000"/>
                                </a:schemeClr>
                              </a:solidFill>
                              <a:latin typeface="Cambria Math" panose="02040503050406030204" pitchFamily="18" charset="0"/>
                            </a:rPr>
                            <m:t>𝑥</m:t>
                          </m:r>
                        </m:e>
                        <m:sub>
                          <m:r>
                            <a:rPr lang="en-US" altLang="ja-JP" sz="2000" i="1" dirty="0">
                              <a:solidFill>
                                <a:schemeClr val="tx1">
                                  <a:lumMod val="75000"/>
                                  <a:lumOff val="25000"/>
                                </a:schemeClr>
                              </a:solidFill>
                              <a:latin typeface="Cambria Math" panose="02040503050406030204" pitchFamily="18" charset="0"/>
                            </a:rPr>
                            <m:t>𝑚</m:t>
                          </m:r>
                        </m:sub>
                      </m:sSub>
                    </m:oMath>
                  </m:oMathPara>
                </a14:m>
                <a:endParaRPr lang="ja-JP" altLang="en-US" sz="2000" dirty="0">
                  <a:solidFill>
                    <a:schemeClr val="tx1">
                      <a:lumMod val="75000"/>
                      <a:lumOff val="25000"/>
                    </a:schemeClr>
                  </a:solidFill>
                  <a:latin typeface="Arial Narrow" panose="020B0606020202030204" pitchFamily="34" charset="0"/>
                </a:endParaRPr>
              </a:p>
            </p:txBody>
          </p:sp>
        </mc:Choice>
        <mc:Fallback>
          <p:sp>
            <p:nvSpPr>
              <p:cNvPr id="32" name="正方形/長方形 31">
                <a:extLst>
                  <a:ext uri="{FF2B5EF4-FFF2-40B4-BE49-F238E27FC236}">
                    <a16:creationId xmlns:a16="http://schemas.microsoft.com/office/drawing/2014/main" id="{57A3E800-7CFF-4578-95DC-415CD38A1645}"/>
                  </a:ext>
                </a:extLst>
              </p:cNvPr>
              <p:cNvSpPr>
                <a:spLocks noRot="1" noChangeAspect="1" noMove="1" noResize="1" noEditPoints="1" noAdjustHandles="1" noChangeArrowheads="1" noChangeShapeType="1" noTextEdit="1"/>
              </p:cNvSpPr>
              <p:nvPr/>
            </p:nvSpPr>
            <p:spPr bwMode="auto">
              <a:xfrm>
                <a:off x="6906010" y="1088975"/>
                <a:ext cx="384303" cy="327801"/>
              </a:xfrm>
              <a:prstGeom prst="rect">
                <a:avLst/>
              </a:prstGeom>
              <a:blipFill>
                <a:blip r:embed="rId9"/>
                <a:stretch>
                  <a:fillRect l="-15873" b="-3774"/>
                </a:stretch>
              </a:blipFill>
              <a:ln w="6350">
                <a:noFill/>
                <a:headEnd/>
                <a:tailEnd type="none" w="sm" len="med"/>
              </a:ln>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38" name="正方形/長方形 37">
                <a:extLst>
                  <a:ext uri="{FF2B5EF4-FFF2-40B4-BE49-F238E27FC236}">
                    <a16:creationId xmlns:a16="http://schemas.microsoft.com/office/drawing/2014/main" id="{37A6735B-AE08-494C-BC8B-162EF8973DE7}"/>
                  </a:ext>
                </a:extLst>
              </p:cNvPr>
              <p:cNvSpPr/>
              <p:nvPr/>
            </p:nvSpPr>
            <p:spPr bwMode="auto">
              <a:xfrm>
                <a:off x="6546005" y="1538979"/>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14:m>
                  <m:oMathPara xmlns:m="http://schemas.openxmlformats.org/officeDocument/2006/math">
                    <m:oMathParaPr>
                      <m:jc m:val="centerGroup"/>
                    </m:oMathParaPr>
                    <m:oMath xmlns:m="http://schemas.openxmlformats.org/officeDocument/2006/math">
                      <m:sSub>
                        <m:sSubPr>
                          <m:ctrlPr>
                            <a:rPr lang="en-US" altLang="ja-JP" sz="2000" i="1" dirty="0">
                              <a:solidFill>
                                <a:schemeClr val="tx1">
                                  <a:lumMod val="75000"/>
                                  <a:lumOff val="25000"/>
                                </a:schemeClr>
                              </a:solidFill>
                              <a:latin typeface="Cambria Math" panose="02040503050406030204" pitchFamily="18" charset="0"/>
                            </a:rPr>
                          </m:ctrlPr>
                        </m:sSubPr>
                        <m:e>
                          <m:r>
                            <a:rPr lang="en-US" altLang="ja-JP" sz="2000" i="1" dirty="0">
                              <a:solidFill>
                                <a:schemeClr val="tx1">
                                  <a:lumMod val="75000"/>
                                  <a:lumOff val="25000"/>
                                </a:schemeClr>
                              </a:solidFill>
                              <a:latin typeface="Cambria Math" panose="02040503050406030204" pitchFamily="18" charset="0"/>
                            </a:rPr>
                            <m:t>𝑤</m:t>
                          </m:r>
                        </m:e>
                        <m:sub>
                          <m:r>
                            <a:rPr lang="en-US" altLang="ja-JP" sz="2000" i="1" dirty="0">
                              <a:solidFill>
                                <a:schemeClr val="tx1">
                                  <a:lumMod val="75000"/>
                                  <a:lumOff val="25000"/>
                                </a:schemeClr>
                              </a:solidFill>
                              <a:latin typeface="Cambria Math" panose="02040503050406030204" pitchFamily="18" charset="0"/>
                            </a:rPr>
                            <m:t>𝑚</m:t>
                          </m:r>
                        </m:sub>
                      </m:sSub>
                    </m:oMath>
                  </m:oMathPara>
                </a14:m>
                <a:endParaRPr lang="ja-JP" altLang="en-US" sz="2000" dirty="0">
                  <a:solidFill>
                    <a:schemeClr val="tx1">
                      <a:lumMod val="75000"/>
                      <a:lumOff val="25000"/>
                    </a:schemeClr>
                  </a:solidFill>
                  <a:latin typeface="Arial Narrow" panose="020B0606020202030204" pitchFamily="34" charset="0"/>
                </a:endParaRPr>
              </a:p>
            </p:txBody>
          </p:sp>
        </mc:Choice>
        <mc:Fallback>
          <p:sp>
            <p:nvSpPr>
              <p:cNvPr id="38" name="正方形/長方形 37">
                <a:extLst>
                  <a:ext uri="{FF2B5EF4-FFF2-40B4-BE49-F238E27FC236}">
                    <a16:creationId xmlns:a16="http://schemas.microsoft.com/office/drawing/2014/main" id="{37A6735B-AE08-494C-BC8B-162EF8973DE7}"/>
                  </a:ext>
                </a:extLst>
              </p:cNvPr>
              <p:cNvSpPr>
                <a:spLocks noRot="1" noChangeAspect="1" noMove="1" noResize="1" noEditPoints="1" noAdjustHandles="1" noChangeArrowheads="1" noChangeShapeType="1" noTextEdit="1"/>
              </p:cNvSpPr>
              <p:nvPr/>
            </p:nvSpPr>
            <p:spPr bwMode="auto">
              <a:xfrm>
                <a:off x="6546005" y="1538979"/>
                <a:ext cx="360004" cy="360004"/>
              </a:xfrm>
              <a:prstGeom prst="rect">
                <a:avLst/>
              </a:prstGeom>
              <a:blipFill>
                <a:blip r:embed="rId10"/>
                <a:stretch>
                  <a:fillRect l="-25424"/>
                </a:stretch>
              </a:blipFill>
              <a:ln w="6350">
                <a:noFill/>
                <a:headEnd/>
                <a:tailEnd type="none" w="sm" len="med"/>
              </a:ln>
            </p:spPr>
            <p:txBody>
              <a:bodyPr/>
              <a:lstStyle/>
              <a:p>
                <a:r>
                  <a:rPr lang="ja-JP" altLang="en-US">
                    <a:noFill/>
                  </a:rPr>
                  <a:t> </a:t>
                </a:r>
              </a:p>
            </p:txBody>
          </p:sp>
        </mc:Fallback>
      </mc:AlternateContent>
      <p:cxnSp>
        <p:nvCxnSpPr>
          <p:cNvPr id="54" name="直線矢印コネクタ 53">
            <a:extLst>
              <a:ext uri="{FF2B5EF4-FFF2-40B4-BE49-F238E27FC236}">
                <a16:creationId xmlns:a16="http://schemas.microsoft.com/office/drawing/2014/main" id="{DDB46FC3-96B1-4DE3-B8B5-B04653BD8EBE}"/>
              </a:ext>
            </a:extLst>
          </p:cNvPr>
          <p:cNvCxnSpPr>
            <a:cxnSpLocks/>
            <a:stCxn id="4" idx="4"/>
          </p:cNvCxnSpPr>
          <p:nvPr/>
        </p:nvCxnSpPr>
        <p:spPr bwMode="auto">
          <a:xfrm>
            <a:off x="6096000" y="3068996"/>
            <a:ext cx="0" cy="540006"/>
          </a:xfrm>
          <a:prstGeom prst="straightConnector1">
            <a:avLst/>
          </a:prstGeom>
          <a:noFill/>
          <a:ln w="9525" cap="flat" cmpd="sng" algn="ctr">
            <a:solidFill>
              <a:schemeClr val="tx1"/>
            </a:solidFill>
            <a:prstDash val="solid"/>
            <a:round/>
            <a:headEnd type="none" w="med" len="med"/>
            <a:tailEnd type="triangle"/>
          </a:ln>
          <a:effectLst/>
        </p:spPr>
      </p:cxnSp>
      <mc:AlternateContent xmlns:mc="http://schemas.openxmlformats.org/markup-compatibility/2006">
        <mc:Choice xmlns:a14="http://schemas.microsoft.com/office/drawing/2010/main" Requires="a14">
          <p:sp>
            <p:nvSpPr>
              <p:cNvPr id="60" name="正方形/長方形 59">
                <a:extLst>
                  <a:ext uri="{FF2B5EF4-FFF2-40B4-BE49-F238E27FC236}">
                    <a16:creationId xmlns:a16="http://schemas.microsoft.com/office/drawing/2014/main" id="{9F41160E-EA89-4826-82D0-DFFA2F144862}"/>
                  </a:ext>
                </a:extLst>
              </p:cNvPr>
              <p:cNvSpPr/>
              <p:nvPr/>
            </p:nvSpPr>
            <p:spPr bwMode="auto">
              <a:xfrm>
                <a:off x="6186001" y="3158997"/>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14:m>
                  <m:oMathPara xmlns:m="http://schemas.openxmlformats.org/officeDocument/2006/math">
                    <m:oMathParaPr>
                      <m:jc m:val="centerGroup"/>
                    </m:oMathParaPr>
                    <m:oMath xmlns:m="http://schemas.openxmlformats.org/officeDocument/2006/math">
                      <m:r>
                        <a:rPr lang="en-US" altLang="ja-JP" sz="2000" i="1" dirty="0">
                          <a:solidFill>
                            <a:schemeClr val="tx1">
                              <a:lumMod val="75000"/>
                              <a:lumOff val="25000"/>
                            </a:schemeClr>
                          </a:solidFill>
                          <a:latin typeface="Cambria Math" panose="02040503050406030204" pitchFamily="18" charset="0"/>
                        </a:rPr>
                        <m:t>𝑧</m:t>
                      </m:r>
                    </m:oMath>
                  </m:oMathPara>
                </a14:m>
                <a:endParaRPr lang="ja-JP" altLang="en-US" sz="2000" dirty="0">
                  <a:solidFill>
                    <a:schemeClr val="tx1">
                      <a:lumMod val="75000"/>
                      <a:lumOff val="25000"/>
                    </a:schemeClr>
                  </a:solidFill>
                  <a:latin typeface="Arial Narrow" panose="020B0606020202030204" pitchFamily="34" charset="0"/>
                </a:endParaRPr>
              </a:p>
            </p:txBody>
          </p:sp>
        </mc:Choice>
        <mc:Fallback>
          <p:sp>
            <p:nvSpPr>
              <p:cNvPr id="60" name="正方形/長方形 59">
                <a:extLst>
                  <a:ext uri="{FF2B5EF4-FFF2-40B4-BE49-F238E27FC236}">
                    <a16:creationId xmlns:a16="http://schemas.microsoft.com/office/drawing/2014/main" id="{9F41160E-EA89-4826-82D0-DFFA2F144862}"/>
                  </a:ext>
                </a:extLst>
              </p:cNvPr>
              <p:cNvSpPr>
                <a:spLocks noRot="1" noChangeAspect="1" noMove="1" noResize="1" noEditPoints="1" noAdjustHandles="1" noChangeArrowheads="1" noChangeShapeType="1" noTextEdit="1"/>
              </p:cNvSpPr>
              <p:nvPr/>
            </p:nvSpPr>
            <p:spPr bwMode="auto">
              <a:xfrm>
                <a:off x="6186001" y="3158997"/>
                <a:ext cx="360004" cy="360004"/>
              </a:xfrm>
              <a:prstGeom prst="rect">
                <a:avLst/>
              </a:prstGeom>
              <a:blipFill>
                <a:blip r:embed="rId11"/>
                <a:stretch>
                  <a:fillRect/>
                </a:stretch>
              </a:blipFill>
              <a:ln w="6350">
                <a:noFill/>
                <a:headEnd/>
                <a:tailEnd type="none" w="sm" len="med"/>
              </a:ln>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61" name="楕円 60">
                <a:extLst>
                  <a:ext uri="{FF2B5EF4-FFF2-40B4-BE49-F238E27FC236}">
                    <a16:creationId xmlns:a16="http://schemas.microsoft.com/office/drawing/2014/main" id="{B4E8F6D9-5AE4-4891-9733-6D8D47FE7D9B}"/>
                  </a:ext>
                </a:extLst>
              </p:cNvPr>
              <p:cNvSpPr/>
              <p:nvPr/>
            </p:nvSpPr>
            <p:spPr bwMode="auto">
              <a:xfrm>
                <a:off x="5015989" y="3609002"/>
                <a:ext cx="2160025" cy="900010"/>
              </a:xfrm>
              <a:prstGeom prst="ellips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14:m>
                  <m:oMathPara xmlns:m="http://schemas.openxmlformats.org/officeDocument/2006/math">
                    <m:oMathParaPr>
                      <m:jc m:val="centerGroup"/>
                    </m:oMathParaPr>
                    <m:oMath xmlns:m="http://schemas.openxmlformats.org/officeDocument/2006/math">
                      <m:r>
                        <a:rPr lang="en-US" altLang="ja-JP" sz="2400" i="1" dirty="0">
                          <a:solidFill>
                            <a:schemeClr val="tx1">
                              <a:lumMod val="75000"/>
                              <a:lumOff val="25000"/>
                            </a:schemeClr>
                          </a:solidFill>
                          <a:latin typeface="Cambria Math" panose="02040503050406030204" pitchFamily="18" charset="0"/>
                        </a:rPr>
                        <m:t>𝑧</m:t>
                      </m:r>
                      <m:r>
                        <a:rPr lang="en-US" altLang="ja-JP" sz="2400" i="1" dirty="0">
                          <a:solidFill>
                            <a:schemeClr val="tx1">
                              <a:lumMod val="75000"/>
                              <a:lumOff val="25000"/>
                            </a:schemeClr>
                          </a:solidFill>
                          <a:latin typeface="Cambria Math" panose="02040503050406030204" pitchFamily="18" charset="0"/>
                        </a:rPr>
                        <m:t>&gt;0 ? 1 : 0</m:t>
                      </m:r>
                    </m:oMath>
                  </m:oMathPara>
                </a14:m>
                <a:endParaRPr lang="ja-JP" altLang="en-US" sz="2400" dirty="0">
                  <a:solidFill>
                    <a:schemeClr val="tx1">
                      <a:lumMod val="75000"/>
                      <a:lumOff val="25000"/>
                    </a:schemeClr>
                  </a:solidFill>
                  <a:latin typeface="+mn-ea"/>
                </a:endParaRPr>
              </a:p>
            </p:txBody>
          </p:sp>
        </mc:Choice>
        <mc:Fallback>
          <p:sp>
            <p:nvSpPr>
              <p:cNvPr id="61" name="楕円 60">
                <a:extLst>
                  <a:ext uri="{FF2B5EF4-FFF2-40B4-BE49-F238E27FC236}">
                    <a16:creationId xmlns:a16="http://schemas.microsoft.com/office/drawing/2014/main" id="{B4E8F6D9-5AE4-4891-9733-6D8D47FE7D9B}"/>
                  </a:ext>
                </a:extLst>
              </p:cNvPr>
              <p:cNvSpPr>
                <a:spLocks noRot="1" noChangeAspect="1" noMove="1" noResize="1" noEditPoints="1" noAdjustHandles="1" noChangeArrowheads="1" noChangeShapeType="1" noTextEdit="1"/>
              </p:cNvSpPr>
              <p:nvPr/>
            </p:nvSpPr>
            <p:spPr bwMode="auto">
              <a:xfrm>
                <a:off x="5015989" y="3609002"/>
                <a:ext cx="2160025" cy="900010"/>
              </a:xfrm>
              <a:prstGeom prst="ellipse">
                <a:avLst/>
              </a:prstGeom>
              <a:blipFill>
                <a:blip r:embed="rId12"/>
                <a:stretch>
                  <a:fillRect/>
                </a:stretch>
              </a:blipFill>
              <a:ln>
                <a:headEnd/>
                <a:tailEnd type="triangle" w="sm" len="med"/>
              </a:ln>
            </p:spPr>
            <p:txBody>
              <a:bodyPr/>
              <a:lstStyle/>
              <a:p>
                <a:r>
                  <a:rPr lang="ja-JP" altLang="en-US">
                    <a:noFill/>
                  </a:rPr>
                  <a:t> </a:t>
                </a:r>
              </a:p>
            </p:txBody>
          </p:sp>
        </mc:Fallback>
      </mc:AlternateContent>
      <p:cxnSp>
        <p:nvCxnSpPr>
          <p:cNvPr id="62" name="直線矢印コネクタ 61">
            <a:extLst>
              <a:ext uri="{FF2B5EF4-FFF2-40B4-BE49-F238E27FC236}">
                <a16:creationId xmlns:a16="http://schemas.microsoft.com/office/drawing/2014/main" id="{30E079C9-8BA7-4058-93F1-8CA0A3E8BAAB}"/>
              </a:ext>
            </a:extLst>
          </p:cNvPr>
          <p:cNvCxnSpPr>
            <a:cxnSpLocks/>
          </p:cNvCxnSpPr>
          <p:nvPr/>
        </p:nvCxnSpPr>
        <p:spPr bwMode="auto">
          <a:xfrm>
            <a:off x="6096000" y="4509012"/>
            <a:ext cx="0" cy="540006"/>
          </a:xfrm>
          <a:prstGeom prst="straightConnector1">
            <a:avLst/>
          </a:prstGeom>
          <a:noFill/>
          <a:ln w="9525" cap="flat" cmpd="sng" algn="ctr">
            <a:solidFill>
              <a:schemeClr val="tx1"/>
            </a:solidFill>
            <a:prstDash val="solid"/>
            <a:round/>
            <a:headEnd type="none" w="med" len="med"/>
            <a:tailEnd type="triangle"/>
          </a:ln>
          <a:effectLst/>
        </p:spPr>
      </p:cxnSp>
      <p:sp>
        <p:nvSpPr>
          <p:cNvPr id="63" name="正方形/長方形 62">
            <a:extLst>
              <a:ext uri="{FF2B5EF4-FFF2-40B4-BE49-F238E27FC236}">
                <a16:creationId xmlns:a16="http://schemas.microsoft.com/office/drawing/2014/main" id="{0474DEF7-739F-41CD-9AD5-0960543BD70B}"/>
              </a:ext>
            </a:extLst>
          </p:cNvPr>
          <p:cNvSpPr/>
          <p:nvPr/>
        </p:nvSpPr>
        <p:spPr bwMode="auto">
          <a:xfrm>
            <a:off x="6186001" y="4599013"/>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r>
              <a:rPr lang="en-US" altLang="ja-JP" sz="2000" dirty="0">
                <a:solidFill>
                  <a:schemeClr val="tx1">
                    <a:lumMod val="75000"/>
                    <a:lumOff val="25000"/>
                  </a:schemeClr>
                </a:solidFill>
                <a:latin typeface="Arial Narrow" panose="020B0606020202030204" pitchFamily="34" charset="0"/>
              </a:rPr>
              <a:t>0 or 1</a:t>
            </a:r>
            <a:endParaRPr lang="ja-JP" altLang="en-US" sz="2000" dirty="0">
              <a:solidFill>
                <a:schemeClr val="tx1">
                  <a:lumMod val="75000"/>
                  <a:lumOff val="25000"/>
                </a:schemeClr>
              </a:solidFill>
              <a:latin typeface="Arial Narrow" panose="020B0606020202030204" pitchFamily="34" charset="0"/>
            </a:endParaRPr>
          </a:p>
        </p:txBody>
      </p:sp>
      <mc:AlternateContent xmlns:mc="http://schemas.openxmlformats.org/markup-compatibility/2006">
        <mc:Choice xmlns:a14="http://schemas.microsoft.com/office/drawing/2010/main" Requires="a14">
          <p:sp>
            <p:nvSpPr>
              <p:cNvPr id="64" name="テキスト プレースホルダー 2">
                <a:extLst>
                  <a:ext uri="{FF2B5EF4-FFF2-40B4-BE49-F238E27FC236}">
                    <a16:creationId xmlns:a16="http://schemas.microsoft.com/office/drawing/2014/main" id="{DDE210C6-8702-48F1-AF08-CE505D4A3F98}"/>
                  </a:ext>
                </a:extLst>
              </p:cNvPr>
              <p:cNvSpPr txBox="1">
                <a:spLocks/>
              </p:cNvSpPr>
              <p:nvPr/>
            </p:nvSpPr>
            <p:spPr bwMode="auto">
              <a:xfrm>
                <a:off x="1685951" y="4959017"/>
                <a:ext cx="8550096" cy="171002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lvl="1"/>
                <a:r>
                  <a:rPr lang="ja-JP" altLang="en-US" kern="0" dirty="0">
                    <a:latin typeface="+mj-lt"/>
                  </a:rPr>
                  <a:t>入力（</a:t>
                </a:r>
                <a:r>
                  <a:rPr lang="en-US" altLang="ja-JP" kern="0" dirty="0">
                    <a:latin typeface="+mj-lt"/>
                  </a:rPr>
                  <a:t>0 or 1</a:t>
                </a:r>
                <a:r>
                  <a:rPr lang="ja-JP" altLang="en-US" kern="0" dirty="0">
                    <a:latin typeface="+mj-lt"/>
                  </a:rPr>
                  <a:t>）：</a:t>
                </a:r>
                <a14:m>
                  <m:oMath xmlns:m="http://schemas.openxmlformats.org/officeDocument/2006/math">
                    <m:sSub>
                      <m:sSubPr>
                        <m:ctrlPr>
                          <a:rPr lang="en-US" altLang="ja-JP" i="1" kern="0" dirty="0">
                            <a:latin typeface="Cambria Math" panose="02040503050406030204" pitchFamily="18" charset="0"/>
                          </a:rPr>
                        </m:ctrlPr>
                      </m:sSubPr>
                      <m:e>
                        <m:r>
                          <a:rPr lang="en-US" altLang="ja-JP" i="1" kern="0" dirty="0">
                            <a:latin typeface="Cambria Math" panose="02040503050406030204" pitchFamily="18" charset="0"/>
                          </a:rPr>
                          <m:t>𝑥</m:t>
                        </m:r>
                      </m:e>
                      <m:sub>
                        <m:r>
                          <a:rPr lang="en-US" altLang="ja-JP" i="1" kern="0" dirty="0">
                            <a:latin typeface="Cambria Math" panose="02040503050406030204" pitchFamily="18" charset="0"/>
                          </a:rPr>
                          <m:t>1</m:t>
                        </m:r>
                      </m:sub>
                    </m:sSub>
                  </m:oMath>
                </a14:m>
                <a:r>
                  <a:rPr lang="ja-JP" altLang="en-US" kern="0" dirty="0"/>
                  <a:t> から </a:t>
                </a:r>
                <a14:m>
                  <m:oMath xmlns:m="http://schemas.openxmlformats.org/officeDocument/2006/math">
                    <m:sSub>
                      <m:sSubPr>
                        <m:ctrlPr>
                          <a:rPr lang="en-US" altLang="ja-JP" i="1" kern="0" dirty="0">
                            <a:latin typeface="Cambria Math" panose="02040503050406030204" pitchFamily="18" charset="0"/>
                          </a:rPr>
                        </m:ctrlPr>
                      </m:sSubPr>
                      <m:e>
                        <m:r>
                          <a:rPr lang="en-US" altLang="ja-JP" i="1" kern="0" dirty="0">
                            <a:latin typeface="Cambria Math" panose="02040503050406030204" pitchFamily="18" charset="0"/>
                          </a:rPr>
                          <m:t>𝑥</m:t>
                        </m:r>
                      </m:e>
                      <m:sub>
                        <m:r>
                          <a:rPr lang="en-US" altLang="ja-JP" i="1" kern="0" dirty="0">
                            <a:latin typeface="Cambria Math" panose="02040503050406030204" pitchFamily="18" charset="0"/>
                          </a:rPr>
                          <m:t>𝑚</m:t>
                        </m:r>
                      </m:sub>
                    </m:sSub>
                  </m:oMath>
                </a14:m>
                <a:endParaRPr lang="en-US" altLang="ja-JP" kern="0" dirty="0"/>
              </a:p>
              <a:p>
                <a:pPr lvl="1"/>
                <a:r>
                  <a:rPr lang="ja-JP" altLang="en-US" kern="0" dirty="0"/>
                  <a:t>重み（アナログ値）：</a:t>
                </a:r>
                <a14:m>
                  <m:oMath xmlns:m="http://schemas.openxmlformats.org/officeDocument/2006/math">
                    <m:sSub>
                      <m:sSubPr>
                        <m:ctrlPr>
                          <a:rPr lang="en-US" altLang="ja-JP" i="1" kern="0" dirty="0">
                            <a:latin typeface="Cambria Math" panose="02040503050406030204" pitchFamily="18" charset="0"/>
                          </a:rPr>
                        </m:ctrlPr>
                      </m:sSubPr>
                      <m:e>
                        <m:r>
                          <a:rPr lang="en-US" altLang="ja-JP" i="1" kern="0" dirty="0">
                            <a:latin typeface="Cambria Math" panose="02040503050406030204" pitchFamily="18" charset="0"/>
                          </a:rPr>
                          <m:t>𝑤</m:t>
                        </m:r>
                      </m:e>
                      <m:sub>
                        <m:r>
                          <a:rPr lang="en-US" altLang="ja-JP" i="1" kern="0" dirty="0">
                            <a:latin typeface="Cambria Math" panose="02040503050406030204" pitchFamily="18" charset="0"/>
                          </a:rPr>
                          <m:t>0</m:t>
                        </m:r>
                      </m:sub>
                    </m:sSub>
                  </m:oMath>
                </a14:m>
                <a:r>
                  <a:rPr lang="ja-JP" altLang="en-US" kern="0" dirty="0"/>
                  <a:t> から </a:t>
                </a:r>
                <a14:m>
                  <m:oMath xmlns:m="http://schemas.openxmlformats.org/officeDocument/2006/math">
                    <m:sSub>
                      <m:sSubPr>
                        <m:ctrlPr>
                          <a:rPr lang="en-US" altLang="ja-JP" i="1" kern="0" dirty="0">
                            <a:latin typeface="Cambria Math" panose="02040503050406030204" pitchFamily="18" charset="0"/>
                          </a:rPr>
                        </m:ctrlPr>
                      </m:sSubPr>
                      <m:e>
                        <m:r>
                          <a:rPr lang="en-US" altLang="ja-JP" i="1" kern="0" dirty="0">
                            <a:latin typeface="Cambria Math" panose="02040503050406030204" pitchFamily="18" charset="0"/>
                          </a:rPr>
                          <m:t>𝑤</m:t>
                        </m:r>
                      </m:e>
                      <m:sub>
                        <m:r>
                          <a:rPr lang="en-US" altLang="ja-JP" i="1" kern="0" dirty="0">
                            <a:latin typeface="Cambria Math" panose="02040503050406030204" pitchFamily="18" charset="0"/>
                          </a:rPr>
                          <m:t>𝑚</m:t>
                        </m:r>
                      </m:sub>
                    </m:sSub>
                  </m:oMath>
                </a14:m>
                <a:r>
                  <a:rPr lang="ja-JP" altLang="en-US" kern="0" dirty="0"/>
                  <a:t>（</a:t>
                </a:r>
                <a14:m>
                  <m:oMath xmlns:m="http://schemas.openxmlformats.org/officeDocument/2006/math">
                    <m:sSub>
                      <m:sSubPr>
                        <m:ctrlPr>
                          <a:rPr lang="en-US" altLang="ja-JP" i="1" kern="0" dirty="0">
                            <a:latin typeface="Cambria Math" panose="02040503050406030204" pitchFamily="18" charset="0"/>
                          </a:rPr>
                        </m:ctrlPr>
                      </m:sSubPr>
                      <m:e>
                        <m:r>
                          <a:rPr lang="en-US" altLang="ja-JP" i="1" kern="0" dirty="0">
                            <a:latin typeface="Cambria Math" panose="02040503050406030204" pitchFamily="18" charset="0"/>
                          </a:rPr>
                          <m:t>𝑤</m:t>
                        </m:r>
                      </m:e>
                      <m:sub>
                        <m:r>
                          <a:rPr lang="en-US" altLang="ja-JP" i="1" kern="0" dirty="0">
                            <a:latin typeface="Cambria Math" panose="02040503050406030204" pitchFamily="18" charset="0"/>
                          </a:rPr>
                          <m:t>0</m:t>
                        </m:r>
                      </m:sub>
                    </m:sSub>
                  </m:oMath>
                </a14:m>
                <a:r>
                  <a:rPr lang="ja-JP" altLang="en-US" kern="0" dirty="0"/>
                  <a:t> はバイアス）</a:t>
                </a:r>
                <a:endParaRPr lang="en-US" altLang="ja-JP" kern="0" dirty="0"/>
              </a:p>
              <a:p>
                <a:pPr lvl="1"/>
                <a:r>
                  <a:rPr lang="ja-JP" altLang="en-US" kern="0" dirty="0"/>
                  <a:t>学習：</a:t>
                </a:r>
                <a:endParaRPr lang="en-US" altLang="ja-JP" kern="0" dirty="0"/>
              </a:p>
              <a:p>
                <a:pPr lvl="2"/>
                <a14:m>
                  <m:oMath xmlns:m="http://schemas.openxmlformats.org/officeDocument/2006/math">
                    <m:r>
                      <a:rPr lang="en-US" altLang="ja-JP" i="1" kern="0" dirty="0">
                        <a:latin typeface="Cambria Math" panose="02040503050406030204" pitchFamily="18" charset="0"/>
                      </a:rPr>
                      <m:t>𝑧</m:t>
                    </m:r>
                  </m:oMath>
                </a14:m>
                <a:r>
                  <a:rPr lang="en-US" altLang="ja-JP" kern="0" dirty="0">
                    <a:latin typeface="+mj-lt"/>
                  </a:rPr>
                  <a:t> </a:t>
                </a:r>
                <a:r>
                  <a:rPr lang="ja-JP" altLang="en-US" kern="0" dirty="0">
                    <a:latin typeface="+mj-lt"/>
                  </a:rPr>
                  <a:t>が </a:t>
                </a:r>
                <a:r>
                  <a:rPr lang="en-US" altLang="ja-JP" kern="0" dirty="0">
                    <a:latin typeface="+mj-lt"/>
                  </a:rPr>
                  <a:t>1 </a:t>
                </a:r>
                <a:r>
                  <a:rPr lang="ja-JP" altLang="en-US" kern="0" dirty="0">
                    <a:latin typeface="+mj-lt"/>
                  </a:rPr>
                  <a:t>の時，</a:t>
                </a:r>
                <a14:m>
                  <m:oMath xmlns:m="http://schemas.openxmlformats.org/officeDocument/2006/math">
                    <m:sSub>
                      <m:sSubPr>
                        <m:ctrlPr>
                          <a:rPr lang="en-US" altLang="ja-JP" i="1" kern="0" dirty="0">
                            <a:latin typeface="Cambria Math" panose="02040503050406030204" pitchFamily="18" charset="0"/>
                          </a:rPr>
                        </m:ctrlPr>
                      </m:sSubPr>
                      <m:e>
                        <m:r>
                          <a:rPr lang="en-US" altLang="ja-JP" i="1" kern="0" dirty="0">
                            <a:latin typeface="Cambria Math" panose="02040503050406030204" pitchFamily="18" charset="0"/>
                          </a:rPr>
                          <m:t>𝑥</m:t>
                        </m:r>
                      </m:e>
                      <m:sub>
                        <m:r>
                          <a:rPr lang="en-US" altLang="ja-JP" i="1" kern="0" dirty="0">
                            <a:latin typeface="Cambria Math" panose="02040503050406030204" pitchFamily="18" charset="0"/>
                          </a:rPr>
                          <m:t>𝑖</m:t>
                        </m:r>
                      </m:sub>
                    </m:sSub>
                  </m:oMath>
                </a14:m>
                <a:r>
                  <a:rPr lang="ja-JP" altLang="en-US" kern="0" dirty="0"/>
                  <a:t> が </a:t>
                </a:r>
                <a:r>
                  <a:rPr lang="en-US" altLang="ja-JP" kern="0" dirty="0"/>
                  <a:t>1 </a:t>
                </a:r>
                <a:r>
                  <a:rPr lang="ja-JP" altLang="en-US" kern="0" dirty="0"/>
                  <a:t>だったなら </a:t>
                </a:r>
                <a14:m>
                  <m:oMath xmlns:m="http://schemas.openxmlformats.org/officeDocument/2006/math">
                    <m:sSub>
                      <m:sSubPr>
                        <m:ctrlPr>
                          <a:rPr lang="en-US" altLang="ja-JP" i="1" kern="0" dirty="0">
                            <a:latin typeface="Cambria Math" panose="02040503050406030204" pitchFamily="18" charset="0"/>
                          </a:rPr>
                        </m:ctrlPr>
                      </m:sSubPr>
                      <m:e>
                        <m:r>
                          <a:rPr lang="en-US" altLang="ja-JP" i="1" kern="0" dirty="0">
                            <a:latin typeface="Cambria Math" panose="02040503050406030204" pitchFamily="18" charset="0"/>
                          </a:rPr>
                          <m:t>𝑤</m:t>
                        </m:r>
                      </m:e>
                      <m:sub>
                        <m:r>
                          <m:rPr>
                            <m:sty m:val="p"/>
                          </m:rPr>
                          <a:rPr lang="en-US" altLang="ja-JP" i="1" kern="0" dirty="0">
                            <a:latin typeface="Cambria Math" panose="02040503050406030204" pitchFamily="18" charset="0"/>
                          </a:rPr>
                          <m:t>i</m:t>
                        </m:r>
                      </m:sub>
                    </m:sSub>
                  </m:oMath>
                </a14:m>
                <a:r>
                  <a:rPr lang="en-US" altLang="ja-JP" kern="0" dirty="0"/>
                  <a:t> </a:t>
                </a:r>
                <a:r>
                  <a:rPr lang="ja-JP" altLang="en-US" kern="0" dirty="0"/>
                  <a:t>を大きく</a:t>
                </a:r>
                <a:br>
                  <a:rPr lang="en-US" altLang="ja-JP" kern="0" dirty="0"/>
                </a:br>
                <a:r>
                  <a:rPr lang="en-US" altLang="ja-JP" kern="0" dirty="0"/>
                  <a:t>0 </a:t>
                </a:r>
                <a:r>
                  <a:rPr lang="ja-JP" altLang="en-US" kern="0" dirty="0"/>
                  <a:t>だったなら </a:t>
                </a:r>
                <a14:m>
                  <m:oMath xmlns:m="http://schemas.openxmlformats.org/officeDocument/2006/math">
                    <m:sSub>
                      <m:sSubPr>
                        <m:ctrlPr>
                          <a:rPr lang="en-US" altLang="ja-JP" i="1" kern="0" dirty="0">
                            <a:latin typeface="Cambria Math" panose="02040503050406030204" pitchFamily="18" charset="0"/>
                          </a:rPr>
                        </m:ctrlPr>
                      </m:sSubPr>
                      <m:e>
                        <m:r>
                          <a:rPr lang="en-US" altLang="ja-JP" i="1" kern="0" dirty="0">
                            <a:latin typeface="Cambria Math" panose="02040503050406030204" pitchFamily="18" charset="0"/>
                          </a:rPr>
                          <m:t>𝑤</m:t>
                        </m:r>
                      </m:e>
                      <m:sub>
                        <m:r>
                          <m:rPr>
                            <m:sty m:val="p"/>
                          </m:rPr>
                          <a:rPr lang="en-US" altLang="ja-JP" i="1" kern="0" dirty="0">
                            <a:latin typeface="Cambria Math" panose="02040503050406030204" pitchFamily="18" charset="0"/>
                          </a:rPr>
                          <m:t>i</m:t>
                        </m:r>
                      </m:sub>
                    </m:sSub>
                  </m:oMath>
                </a14:m>
                <a:r>
                  <a:rPr lang="en-US" altLang="ja-JP" kern="0" dirty="0"/>
                  <a:t> </a:t>
                </a:r>
                <a:r>
                  <a:rPr lang="ja-JP" altLang="en-US" kern="0" dirty="0"/>
                  <a:t>を小さくする</a:t>
                </a:r>
              </a:p>
            </p:txBody>
          </p:sp>
        </mc:Choice>
        <mc:Fallback>
          <p:sp>
            <p:nvSpPr>
              <p:cNvPr id="64" name="テキスト プレースホルダー 2">
                <a:extLst>
                  <a:ext uri="{FF2B5EF4-FFF2-40B4-BE49-F238E27FC236}">
                    <a16:creationId xmlns:a16="http://schemas.microsoft.com/office/drawing/2014/main" id="{DDE210C6-8702-48F1-AF08-CE505D4A3F98}"/>
                  </a:ext>
                </a:extLst>
              </p:cNvPr>
              <p:cNvSpPr txBox="1">
                <a:spLocks noRot="1" noChangeAspect="1" noMove="1" noResize="1" noEditPoints="1" noAdjustHandles="1" noChangeArrowheads="1" noChangeShapeType="1" noTextEdit="1"/>
              </p:cNvSpPr>
              <p:nvPr/>
            </p:nvSpPr>
            <p:spPr bwMode="auto">
              <a:xfrm>
                <a:off x="1685951" y="4959017"/>
                <a:ext cx="8550096" cy="1710020"/>
              </a:xfrm>
              <a:prstGeom prst="rect">
                <a:avLst/>
              </a:prstGeom>
              <a:blipFill>
                <a:blip r:embed="rId13"/>
                <a:stretch>
                  <a:fillRect t="-10676" b="-14947"/>
                </a:stretch>
              </a:blipFill>
              <a:ln w="9525">
                <a:noFill/>
                <a:miter lim="800000"/>
                <a:headEnd/>
                <a:tailEnd/>
              </a:ln>
              <a:effectLst/>
            </p:spPr>
            <p:txBody>
              <a:bodyPr/>
              <a:lstStyle/>
              <a:p>
                <a:r>
                  <a:rPr lang="ja-JP" altLang="en-US">
                    <a:noFill/>
                  </a:rPr>
                  <a:t> </a:t>
                </a:r>
              </a:p>
            </p:txBody>
          </p:sp>
        </mc:Fallback>
      </mc:AlternateContent>
    </p:spTree>
    <p:extLst>
      <p:ext uri="{BB962C8B-B14F-4D97-AF65-F5344CB8AC3E}">
        <p14:creationId xmlns:p14="http://schemas.microsoft.com/office/powerpoint/2010/main" val="33154429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F932C9D-420D-4FD7-ADCE-81C09772C956}"/>
              </a:ext>
            </a:extLst>
          </p:cNvPr>
          <p:cNvSpPr>
            <a:spLocks noGrp="1"/>
          </p:cNvSpPr>
          <p:nvPr>
            <p:ph type="title"/>
          </p:nvPr>
        </p:nvSpPr>
        <p:spPr/>
        <p:txBody>
          <a:bodyPr/>
          <a:lstStyle/>
          <a:p>
            <a:r>
              <a:rPr kumimoji="1" lang="ja-JP" altLang="en-US" dirty="0"/>
              <a:t>「</a:t>
            </a:r>
            <a:r>
              <a:rPr kumimoji="1" lang="en-US" altLang="ja-JP" dirty="0"/>
              <a:t>010 </a:t>
            </a:r>
            <a:r>
              <a:rPr kumimoji="1" lang="ja-JP" altLang="en-US" dirty="0"/>
              <a:t>なら </a:t>
            </a:r>
            <a:r>
              <a:rPr kumimoji="1" lang="en-US" altLang="ja-JP" dirty="0"/>
              <a:t>1 </a:t>
            </a:r>
            <a:r>
              <a:rPr kumimoji="1" lang="ja-JP" altLang="en-US" dirty="0"/>
              <a:t>」を学習させた場合</a:t>
            </a:r>
          </a:p>
        </p:txBody>
      </p:sp>
      <p:sp>
        <p:nvSpPr>
          <p:cNvPr id="4" name="楕円 3">
            <a:extLst>
              <a:ext uri="{FF2B5EF4-FFF2-40B4-BE49-F238E27FC236}">
                <a16:creationId xmlns:a16="http://schemas.microsoft.com/office/drawing/2014/main" id="{03C3FBF6-56D8-4368-AB14-242ABE83B514}"/>
              </a:ext>
            </a:extLst>
          </p:cNvPr>
          <p:cNvSpPr/>
          <p:nvPr/>
        </p:nvSpPr>
        <p:spPr bwMode="auto">
          <a:xfrm>
            <a:off x="3215969" y="2258987"/>
            <a:ext cx="2160025" cy="900010"/>
          </a:xfrm>
          <a:prstGeom prst="ellips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2400" dirty="0">
                <a:solidFill>
                  <a:schemeClr val="tx1">
                    <a:lumMod val="75000"/>
                    <a:lumOff val="25000"/>
                  </a:schemeClr>
                </a:solidFill>
                <a:latin typeface="+mn-ea"/>
              </a:rPr>
              <a:t>Σ</a:t>
            </a:r>
            <a:endParaRPr lang="ja-JP" altLang="en-US" sz="2400" dirty="0">
              <a:solidFill>
                <a:schemeClr val="tx1">
                  <a:lumMod val="75000"/>
                  <a:lumOff val="25000"/>
                </a:schemeClr>
              </a:solidFill>
              <a:latin typeface="+mn-ea"/>
            </a:endParaRPr>
          </a:p>
        </p:txBody>
      </p:sp>
      <p:cxnSp>
        <p:nvCxnSpPr>
          <p:cNvPr id="6" name="直線矢印コネクタ 5">
            <a:extLst>
              <a:ext uri="{FF2B5EF4-FFF2-40B4-BE49-F238E27FC236}">
                <a16:creationId xmlns:a16="http://schemas.microsoft.com/office/drawing/2014/main" id="{61C2A654-3D66-4D5A-A669-E7F8E27096E6}"/>
              </a:ext>
            </a:extLst>
          </p:cNvPr>
          <p:cNvCxnSpPr>
            <a:cxnSpLocks/>
            <a:stCxn id="8" idx="2"/>
            <a:endCxn id="4" idx="1"/>
          </p:cNvCxnSpPr>
          <p:nvPr/>
        </p:nvCxnSpPr>
        <p:spPr bwMode="auto">
          <a:xfrm>
            <a:off x="3002824" y="1538980"/>
            <a:ext cx="529473" cy="851811"/>
          </a:xfrm>
          <a:prstGeom prst="straightConnector1">
            <a:avLst/>
          </a:prstGeom>
          <a:noFill/>
          <a:ln w="9525" cap="flat" cmpd="sng" algn="ctr">
            <a:solidFill>
              <a:schemeClr val="tx1"/>
            </a:solidFill>
            <a:prstDash val="solid"/>
            <a:round/>
            <a:headEnd type="none" w="med" len="med"/>
            <a:tailEnd type="triangle"/>
          </a:ln>
          <a:effectLst/>
        </p:spPr>
      </p:cxnSp>
      <mc:AlternateContent xmlns:mc="http://schemas.openxmlformats.org/markup-compatibility/2006">
        <mc:Choice xmlns:a14="http://schemas.microsoft.com/office/drawing/2010/main" Requires="a14">
          <p:sp>
            <p:nvSpPr>
              <p:cNvPr id="8" name="正方形/長方形 7">
                <a:extLst>
                  <a:ext uri="{FF2B5EF4-FFF2-40B4-BE49-F238E27FC236}">
                    <a16:creationId xmlns:a16="http://schemas.microsoft.com/office/drawing/2014/main" id="{24E92484-E03C-423F-B6C5-24A1D5FC0737}"/>
                  </a:ext>
                </a:extLst>
              </p:cNvPr>
              <p:cNvSpPr/>
              <p:nvPr/>
            </p:nvSpPr>
            <p:spPr bwMode="auto">
              <a:xfrm>
                <a:off x="2822821" y="1178975"/>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14:m>
                  <m:oMathPara xmlns:m="http://schemas.openxmlformats.org/officeDocument/2006/math">
                    <m:oMathParaPr>
                      <m:jc m:val="centerGroup"/>
                    </m:oMathParaPr>
                    <m:oMath xmlns:m="http://schemas.openxmlformats.org/officeDocument/2006/math">
                      <m:r>
                        <a:rPr lang="en-US" altLang="ja-JP" sz="2000" i="1" dirty="0">
                          <a:solidFill>
                            <a:schemeClr val="tx1">
                              <a:lumMod val="75000"/>
                              <a:lumOff val="25000"/>
                            </a:schemeClr>
                          </a:solidFill>
                          <a:latin typeface="Cambria Math" panose="02040503050406030204" pitchFamily="18" charset="0"/>
                        </a:rPr>
                        <m:t>1</m:t>
                      </m:r>
                    </m:oMath>
                  </m:oMathPara>
                </a14:m>
                <a:endParaRPr lang="ja-JP" altLang="en-US" sz="2000" dirty="0">
                  <a:solidFill>
                    <a:schemeClr val="tx1">
                      <a:lumMod val="75000"/>
                      <a:lumOff val="25000"/>
                    </a:schemeClr>
                  </a:solidFill>
                  <a:latin typeface="Arial Narrow" panose="020B0606020202030204" pitchFamily="34" charset="0"/>
                </a:endParaRPr>
              </a:p>
            </p:txBody>
          </p:sp>
        </mc:Choice>
        <mc:Fallback>
          <p:sp>
            <p:nvSpPr>
              <p:cNvPr id="8" name="正方形/長方形 7">
                <a:extLst>
                  <a:ext uri="{FF2B5EF4-FFF2-40B4-BE49-F238E27FC236}">
                    <a16:creationId xmlns:a16="http://schemas.microsoft.com/office/drawing/2014/main" id="{24E92484-E03C-423F-B6C5-24A1D5FC0737}"/>
                  </a:ext>
                </a:extLst>
              </p:cNvPr>
              <p:cNvSpPr>
                <a:spLocks noRot="1" noChangeAspect="1" noMove="1" noResize="1" noEditPoints="1" noAdjustHandles="1" noChangeArrowheads="1" noChangeShapeType="1" noTextEdit="1"/>
              </p:cNvSpPr>
              <p:nvPr/>
            </p:nvSpPr>
            <p:spPr bwMode="auto">
              <a:xfrm>
                <a:off x="2822821" y="1178975"/>
                <a:ext cx="360004" cy="360004"/>
              </a:xfrm>
              <a:prstGeom prst="rect">
                <a:avLst/>
              </a:prstGeom>
              <a:blipFill>
                <a:blip r:embed="rId2"/>
                <a:stretch>
                  <a:fillRect l="-1695"/>
                </a:stretch>
              </a:blipFill>
              <a:ln w="6350">
                <a:noFill/>
                <a:headEnd/>
                <a:tailEnd type="none" w="sm" len="med"/>
              </a:ln>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9" name="正方形/長方形 8">
                <a:extLst>
                  <a:ext uri="{FF2B5EF4-FFF2-40B4-BE49-F238E27FC236}">
                    <a16:creationId xmlns:a16="http://schemas.microsoft.com/office/drawing/2014/main" id="{7EF6AD6F-8ABF-4592-88E9-17B35C876AF5}"/>
                  </a:ext>
                </a:extLst>
              </p:cNvPr>
              <p:cNvSpPr/>
              <p:nvPr/>
            </p:nvSpPr>
            <p:spPr bwMode="auto">
              <a:xfrm>
                <a:off x="3575973" y="1178975"/>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14:m>
                  <m:oMathPara xmlns:m="http://schemas.openxmlformats.org/officeDocument/2006/math">
                    <m:oMathParaPr>
                      <m:jc m:val="centerGroup"/>
                    </m:oMathParaPr>
                    <m:oMath xmlns:m="http://schemas.openxmlformats.org/officeDocument/2006/math">
                      <m:r>
                        <a:rPr lang="en-US" altLang="ja-JP" sz="2000" b="1" i="1" dirty="0">
                          <a:solidFill>
                            <a:schemeClr val="accent5"/>
                          </a:solidFill>
                          <a:latin typeface="Cambria Math" panose="02040503050406030204" pitchFamily="18" charset="0"/>
                        </a:rPr>
                        <m:t>𝟎</m:t>
                      </m:r>
                    </m:oMath>
                  </m:oMathPara>
                </a14:m>
                <a:endParaRPr lang="ja-JP" altLang="en-US" sz="2000" b="1" dirty="0">
                  <a:solidFill>
                    <a:schemeClr val="accent5"/>
                  </a:solidFill>
                  <a:latin typeface="Arial Narrow" panose="020B0606020202030204" pitchFamily="34" charset="0"/>
                </a:endParaRPr>
              </a:p>
            </p:txBody>
          </p:sp>
        </mc:Choice>
        <mc:Fallback>
          <p:sp>
            <p:nvSpPr>
              <p:cNvPr id="9" name="正方形/長方形 8">
                <a:extLst>
                  <a:ext uri="{FF2B5EF4-FFF2-40B4-BE49-F238E27FC236}">
                    <a16:creationId xmlns:a16="http://schemas.microsoft.com/office/drawing/2014/main" id="{7EF6AD6F-8ABF-4592-88E9-17B35C876AF5}"/>
                  </a:ext>
                </a:extLst>
              </p:cNvPr>
              <p:cNvSpPr>
                <a:spLocks noRot="1" noChangeAspect="1" noMove="1" noResize="1" noEditPoints="1" noAdjustHandles="1" noChangeArrowheads="1" noChangeShapeType="1" noTextEdit="1"/>
              </p:cNvSpPr>
              <p:nvPr/>
            </p:nvSpPr>
            <p:spPr bwMode="auto">
              <a:xfrm>
                <a:off x="3575973" y="1178975"/>
                <a:ext cx="360004" cy="360004"/>
              </a:xfrm>
              <a:prstGeom prst="rect">
                <a:avLst/>
              </a:prstGeom>
              <a:blipFill>
                <a:blip r:embed="rId3"/>
                <a:stretch>
                  <a:fillRect l="-3390"/>
                </a:stretch>
              </a:blipFill>
              <a:ln w="6350">
                <a:noFill/>
                <a:headEnd/>
                <a:tailEnd type="none" w="sm" len="med"/>
              </a:ln>
            </p:spPr>
            <p:txBody>
              <a:bodyPr/>
              <a:lstStyle/>
              <a:p>
                <a:r>
                  <a:rPr lang="ja-JP" altLang="en-US">
                    <a:noFill/>
                  </a:rPr>
                  <a:t> </a:t>
                </a:r>
              </a:p>
            </p:txBody>
          </p:sp>
        </mc:Fallback>
      </mc:AlternateContent>
      <p:cxnSp>
        <p:nvCxnSpPr>
          <p:cNvPr id="14" name="直線矢印コネクタ 13">
            <a:extLst>
              <a:ext uri="{FF2B5EF4-FFF2-40B4-BE49-F238E27FC236}">
                <a16:creationId xmlns:a16="http://schemas.microsoft.com/office/drawing/2014/main" id="{DF53E568-5E20-47E2-A3FB-500F66BCDBB0}"/>
              </a:ext>
            </a:extLst>
          </p:cNvPr>
          <p:cNvCxnSpPr>
            <a:cxnSpLocks/>
            <a:stCxn id="9" idx="2"/>
          </p:cNvCxnSpPr>
          <p:nvPr/>
        </p:nvCxnSpPr>
        <p:spPr bwMode="auto">
          <a:xfrm>
            <a:off x="3755975" y="1538979"/>
            <a:ext cx="180002" cy="720008"/>
          </a:xfrm>
          <a:prstGeom prst="straightConnector1">
            <a:avLst/>
          </a:prstGeom>
          <a:noFill/>
          <a:ln w="9525" cap="flat" cmpd="sng" algn="ctr">
            <a:solidFill>
              <a:schemeClr val="tx1"/>
            </a:solidFill>
            <a:prstDash val="solid"/>
            <a:round/>
            <a:headEnd type="none" w="med" len="med"/>
            <a:tailEnd type="triangle"/>
          </a:ln>
          <a:effectLst/>
        </p:spPr>
      </p:cxnSp>
      <p:cxnSp>
        <p:nvCxnSpPr>
          <p:cNvPr id="16" name="直線矢印コネクタ 15">
            <a:extLst>
              <a:ext uri="{FF2B5EF4-FFF2-40B4-BE49-F238E27FC236}">
                <a16:creationId xmlns:a16="http://schemas.microsoft.com/office/drawing/2014/main" id="{2E2072D7-27CE-49D0-BF60-6D6C13851026}"/>
              </a:ext>
            </a:extLst>
          </p:cNvPr>
          <p:cNvCxnSpPr>
            <a:cxnSpLocks/>
            <a:stCxn id="27" idx="2"/>
          </p:cNvCxnSpPr>
          <p:nvPr/>
        </p:nvCxnSpPr>
        <p:spPr bwMode="auto">
          <a:xfrm flipH="1">
            <a:off x="4385983" y="1506777"/>
            <a:ext cx="102151" cy="752211"/>
          </a:xfrm>
          <a:prstGeom prst="straightConnector1">
            <a:avLst/>
          </a:prstGeom>
          <a:noFill/>
          <a:ln w="9525" cap="flat" cmpd="sng" algn="ctr">
            <a:solidFill>
              <a:schemeClr val="tx1"/>
            </a:solidFill>
            <a:prstDash val="solid"/>
            <a:round/>
            <a:headEnd type="none" w="med" len="med"/>
            <a:tailEnd type="triangle"/>
          </a:ln>
          <a:effectLst/>
        </p:spPr>
      </p:cxnSp>
      <p:cxnSp>
        <p:nvCxnSpPr>
          <p:cNvPr id="19" name="直線矢印コネクタ 18">
            <a:extLst>
              <a:ext uri="{FF2B5EF4-FFF2-40B4-BE49-F238E27FC236}">
                <a16:creationId xmlns:a16="http://schemas.microsoft.com/office/drawing/2014/main" id="{89AAD5FC-CA6A-4DF7-BC68-64D554E24A73}"/>
              </a:ext>
            </a:extLst>
          </p:cNvPr>
          <p:cNvCxnSpPr>
            <a:cxnSpLocks/>
            <a:stCxn id="32" idx="2"/>
          </p:cNvCxnSpPr>
          <p:nvPr/>
        </p:nvCxnSpPr>
        <p:spPr bwMode="auto">
          <a:xfrm flipH="1">
            <a:off x="4835988" y="1506776"/>
            <a:ext cx="462154" cy="842212"/>
          </a:xfrm>
          <a:prstGeom prst="straightConnector1">
            <a:avLst/>
          </a:prstGeom>
          <a:noFill/>
          <a:ln w="9525" cap="flat" cmpd="sng" algn="ctr">
            <a:solidFill>
              <a:schemeClr val="tx1"/>
            </a:solidFill>
            <a:prstDash val="solid"/>
            <a:round/>
            <a:headEnd type="none" w="med" len="med"/>
            <a:tailEnd type="triangle"/>
          </a:ln>
          <a:effectLst/>
        </p:spPr>
      </p:cxnSp>
      <p:sp>
        <p:nvSpPr>
          <p:cNvPr id="23" name="正方形/長方形 22">
            <a:extLst>
              <a:ext uri="{FF2B5EF4-FFF2-40B4-BE49-F238E27FC236}">
                <a16:creationId xmlns:a16="http://schemas.microsoft.com/office/drawing/2014/main" id="{19BCB978-7455-44C0-9F75-1E921CE16AAE}"/>
              </a:ext>
            </a:extLst>
          </p:cNvPr>
          <p:cNvSpPr/>
          <p:nvPr/>
        </p:nvSpPr>
        <p:spPr bwMode="auto">
          <a:xfrm>
            <a:off x="2855965" y="1628980"/>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mj-lt"/>
              </a:rPr>
              <a:t>1</a:t>
            </a:r>
            <a:endParaRPr lang="en-US" altLang="ja-JP" sz="2000" dirty="0">
              <a:solidFill>
                <a:schemeClr val="tx1">
                  <a:lumMod val="75000"/>
                  <a:lumOff val="25000"/>
                </a:schemeClr>
              </a:solidFill>
              <a:latin typeface="Arial Narrow" panose="020B0606020202030204" pitchFamily="34" charset="0"/>
            </a:endParaRPr>
          </a:p>
        </p:txBody>
      </p:sp>
      <p:sp>
        <p:nvSpPr>
          <p:cNvPr id="26" name="正方形/長方形 25">
            <a:extLst>
              <a:ext uri="{FF2B5EF4-FFF2-40B4-BE49-F238E27FC236}">
                <a16:creationId xmlns:a16="http://schemas.microsoft.com/office/drawing/2014/main" id="{75876AEF-3248-4B60-A091-DBFD29657ED6}"/>
              </a:ext>
            </a:extLst>
          </p:cNvPr>
          <p:cNvSpPr/>
          <p:nvPr/>
        </p:nvSpPr>
        <p:spPr bwMode="auto">
          <a:xfrm>
            <a:off x="3485972" y="1628980"/>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mj-lt"/>
              </a:rPr>
              <a:t>-3</a:t>
            </a:r>
            <a:endParaRPr lang="ja-JP" altLang="en-US" sz="2000" dirty="0">
              <a:solidFill>
                <a:schemeClr val="tx1">
                  <a:lumMod val="75000"/>
                  <a:lumOff val="25000"/>
                </a:schemeClr>
              </a:solidFill>
              <a:latin typeface="Arial Narrow" panose="020B0606020202030204" pitchFamily="34" charset="0"/>
            </a:endParaRPr>
          </a:p>
        </p:txBody>
      </p:sp>
      <mc:AlternateContent xmlns:mc="http://schemas.openxmlformats.org/markup-compatibility/2006">
        <mc:Choice xmlns:a14="http://schemas.microsoft.com/office/drawing/2010/main" Requires="a14">
          <p:sp>
            <p:nvSpPr>
              <p:cNvPr id="27" name="正方形/長方形 26">
                <a:extLst>
                  <a:ext uri="{FF2B5EF4-FFF2-40B4-BE49-F238E27FC236}">
                    <a16:creationId xmlns:a16="http://schemas.microsoft.com/office/drawing/2014/main" id="{BBE65F8C-7405-4DA3-B77A-0CBCF35A477E}"/>
                  </a:ext>
                </a:extLst>
              </p:cNvPr>
              <p:cNvSpPr/>
              <p:nvPr/>
            </p:nvSpPr>
            <p:spPr bwMode="auto">
              <a:xfrm>
                <a:off x="4295982" y="1178976"/>
                <a:ext cx="384303" cy="327801"/>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14:m>
                  <m:oMathPara xmlns:m="http://schemas.openxmlformats.org/officeDocument/2006/math">
                    <m:oMathParaPr>
                      <m:jc m:val="centerGroup"/>
                    </m:oMathParaPr>
                    <m:oMath xmlns:m="http://schemas.openxmlformats.org/officeDocument/2006/math">
                      <m:r>
                        <a:rPr lang="en-US" altLang="ja-JP" sz="2000" b="1" i="1" dirty="0">
                          <a:solidFill>
                            <a:schemeClr val="accent5"/>
                          </a:solidFill>
                          <a:latin typeface="Cambria Math" panose="02040503050406030204" pitchFamily="18" charset="0"/>
                        </a:rPr>
                        <m:t>𝟏</m:t>
                      </m:r>
                    </m:oMath>
                  </m:oMathPara>
                </a14:m>
                <a:endParaRPr lang="ja-JP" altLang="en-US" sz="2000" b="1" dirty="0">
                  <a:solidFill>
                    <a:schemeClr val="accent5"/>
                  </a:solidFill>
                  <a:latin typeface="Arial Narrow" panose="020B0606020202030204" pitchFamily="34" charset="0"/>
                </a:endParaRPr>
              </a:p>
            </p:txBody>
          </p:sp>
        </mc:Choice>
        <mc:Fallback>
          <p:sp>
            <p:nvSpPr>
              <p:cNvPr id="27" name="正方形/長方形 26">
                <a:extLst>
                  <a:ext uri="{FF2B5EF4-FFF2-40B4-BE49-F238E27FC236}">
                    <a16:creationId xmlns:a16="http://schemas.microsoft.com/office/drawing/2014/main" id="{BBE65F8C-7405-4DA3-B77A-0CBCF35A477E}"/>
                  </a:ext>
                </a:extLst>
              </p:cNvPr>
              <p:cNvSpPr>
                <a:spLocks noRot="1" noChangeAspect="1" noMove="1" noResize="1" noEditPoints="1" noAdjustHandles="1" noChangeArrowheads="1" noChangeShapeType="1" noTextEdit="1"/>
              </p:cNvSpPr>
              <p:nvPr/>
            </p:nvSpPr>
            <p:spPr bwMode="auto">
              <a:xfrm>
                <a:off x="4295982" y="1178976"/>
                <a:ext cx="384303" cy="327801"/>
              </a:xfrm>
              <a:prstGeom prst="rect">
                <a:avLst/>
              </a:prstGeom>
              <a:blipFill>
                <a:blip r:embed="rId4"/>
                <a:stretch>
                  <a:fillRect/>
                </a:stretch>
              </a:blipFill>
              <a:ln w="6350">
                <a:noFill/>
                <a:headEnd/>
                <a:tailEnd type="none" w="sm" len="med"/>
              </a:ln>
            </p:spPr>
            <p:txBody>
              <a:bodyPr/>
              <a:lstStyle/>
              <a:p>
                <a:r>
                  <a:rPr lang="ja-JP" altLang="en-US">
                    <a:noFill/>
                  </a:rPr>
                  <a:t> </a:t>
                </a:r>
              </a:p>
            </p:txBody>
          </p:sp>
        </mc:Fallback>
      </mc:AlternateContent>
      <p:sp>
        <p:nvSpPr>
          <p:cNvPr id="31" name="正方形/長方形 30">
            <a:extLst>
              <a:ext uri="{FF2B5EF4-FFF2-40B4-BE49-F238E27FC236}">
                <a16:creationId xmlns:a16="http://schemas.microsoft.com/office/drawing/2014/main" id="{CBBF7BBC-7C75-4C19-AEA7-A9C80736AAF6}"/>
              </a:ext>
            </a:extLst>
          </p:cNvPr>
          <p:cNvSpPr/>
          <p:nvPr/>
        </p:nvSpPr>
        <p:spPr bwMode="auto">
          <a:xfrm>
            <a:off x="4115979" y="1628980"/>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4</a:t>
            </a:r>
            <a:endParaRPr lang="ja-JP" altLang="en-US" sz="2000" dirty="0">
              <a:solidFill>
                <a:schemeClr val="tx1">
                  <a:lumMod val="75000"/>
                  <a:lumOff val="25000"/>
                </a:schemeClr>
              </a:solidFill>
              <a:latin typeface="Arial Narrow" panose="020B0606020202030204" pitchFamily="34" charset="0"/>
            </a:endParaRPr>
          </a:p>
        </p:txBody>
      </p:sp>
      <mc:AlternateContent xmlns:mc="http://schemas.openxmlformats.org/markup-compatibility/2006">
        <mc:Choice xmlns:a14="http://schemas.microsoft.com/office/drawing/2010/main" Requires="a14">
          <p:sp>
            <p:nvSpPr>
              <p:cNvPr id="32" name="正方形/長方形 31">
                <a:extLst>
                  <a:ext uri="{FF2B5EF4-FFF2-40B4-BE49-F238E27FC236}">
                    <a16:creationId xmlns:a16="http://schemas.microsoft.com/office/drawing/2014/main" id="{57A3E800-7CFF-4578-95DC-415CD38A1645}"/>
                  </a:ext>
                </a:extLst>
              </p:cNvPr>
              <p:cNvSpPr/>
              <p:nvPr/>
            </p:nvSpPr>
            <p:spPr bwMode="auto">
              <a:xfrm>
                <a:off x="5105991" y="1178976"/>
                <a:ext cx="384303" cy="327801"/>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14:m>
                  <m:oMathPara xmlns:m="http://schemas.openxmlformats.org/officeDocument/2006/math">
                    <m:oMathParaPr>
                      <m:jc m:val="centerGroup"/>
                    </m:oMathParaPr>
                    <m:oMath xmlns:m="http://schemas.openxmlformats.org/officeDocument/2006/math">
                      <m:r>
                        <a:rPr lang="en-US" altLang="ja-JP" sz="2000" b="1" i="1" dirty="0">
                          <a:solidFill>
                            <a:schemeClr val="accent5"/>
                          </a:solidFill>
                          <a:latin typeface="Cambria Math" panose="02040503050406030204" pitchFamily="18" charset="0"/>
                        </a:rPr>
                        <m:t>𝟎</m:t>
                      </m:r>
                    </m:oMath>
                  </m:oMathPara>
                </a14:m>
                <a:endParaRPr lang="ja-JP" altLang="en-US" sz="2000" b="1" dirty="0">
                  <a:solidFill>
                    <a:schemeClr val="accent5"/>
                  </a:solidFill>
                  <a:latin typeface="Arial Narrow" panose="020B0606020202030204" pitchFamily="34" charset="0"/>
                </a:endParaRPr>
              </a:p>
            </p:txBody>
          </p:sp>
        </mc:Choice>
        <mc:Fallback>
          <p:sp>
            <p:nvSpPr>
              <p:cNvPr id="32" name="正方形/長方形 31">
                <a:extLst>
                  <a:ext uri="{FF2B5EF4-FFF2-40B4-BE49-F238E27FC236}">
                    <a16:creationId xmlns:a16="http://schemas.microsoft.com/office/drawing/2014/main" id="{57A3E800-7CFF-4578-95DC-415CD38A1645}"/>
                  </a:ext>
                </a:extLst>
              </p:cNvPr>
              <p:cNvSpPr>
                <a:spLocks noRot="1" noChangeAspect="1" noMove="1" noResize="1" noEditPoints="1" noAdjustHandles="1" noChangeArrowheads="1" noChangeShapeType="1" noTextEdit="1"/>
              </p:cNvSpPr>
              <p:nvPr/>
            </p:nvSpPr>
            <p:spPr bwMode="auto">
              <a:xfrm>
                <a:off x="5105991" y="1178976"/>
                <a:ext cx="384303" cy="327801"/>
              </a:xfrm>
              <a:prstGeom prst="rect">
                <a:avLst/>
              </a:prstGeom>
              <a:blipFill>
                <a:blip r:embed="rId5"/>
                <a:stretch>
                  <a:fillRect/>
                </a:stretch>
              </a:blipFill>
              <a:ln w="6350">
                <a:noFill/>
                <a:headEnd/>
                <a:tailEnd type="none" w="sm" len="med"/>
              </a:ln>
            </p:spPr>
            <p:txBody>
              <a:bodyPr/>
              <a:lstStyle/>
              <a:p>
                <a:r>
                  <a:rPr lang="ja-JP" altLang="en-US">
                    <a:noFill/>
                  </a:rPr>
                  <a:t> </a:t>
                </a:r>
              </a:p>
            </p:txBody>
          </p:sp>
        </mc:Fallback>
      </mc:AlternateContent>
      <p:sp>
        <p:nvSpPr>
          <p:cNvPr id="38" name="正方形/長方形 37">
            <a:extLst>
              <a:ext uri="{FF2B5EF4-FFF2-40B4-BE49-F238E27FC236}">
                <a16:creationId xmlns:a16="http://schemas.microsoft.com/office/drawing/2014/main" id="{37A6735B-AE08-494C-BC8B-162EF8973DE7}"/>
              </a:ext>
            </a:extLst>
          </p:cNvPr>
          <p:cNvSpPr/>
          <p:nvPr/>
        </p:nvSpPr>
        <p:spPr bwMode="auto">
          <a:xfrm>
            <a:off x="4745986" y="1628980"/>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-5</a:t>
            </a:r>
            <a:endParaRPr lang="ja-JP" altLang="en-US" sz="2000" dirty="0">
              <a:solidFill>
                <a:schemeClr val="tx1">
                  <a:lumMod val="75000"/>
                  <a:lumOff val="25000"/>
                </a:schemeClr>
              </a:solidFill>
              <a:latin typeface="Arial Narrow" panose="020B0606020202030204" pitchFamily="34" charset="0"/>
            </a:endParaRPr>
          </a:p>
        </p:txBody>
      </p:sp>
      <p:cxnSp>
        <p:nvCxnSpPr>
          <p:cNvPr id="54" name="直線矢印コネクタ 53">
            <a:extLst>
              <a:ext uri="{FF2B5EF4-FFF2-40B4-BE49-F238E27FC236}">
                <a16:creationId xmlns:a16="http://schemas.microsoft.com/office/drawing/2014/main" id="{DDB46FC3-96B1-4DE3-B8B5-B04653BD8EBE}"/>
              </a:ext>
            </a:extLst>
          </p:cNvPr>
          <p:cNvCxnSpPr>
            <a:cxnSpLocks/>
            <a:stCxn id="4" idx="4"/>
          </p:cNvCxnSpPr>
          <p:nvPr/>
        </p:nvCxnSpPr>
        <p:spPr bwMode="auto">
          <a:xfrm>
            <a:off x="4295981" y="3158997"/>
            <a:ext cx="0" cy="540006"/>
          </a:xfrm>
          <a:prstGeom prst="straightConnector1">
            <a:avLst/>
          </a:prstGeom>
          <a:noFill/>
          <a:ln w="9525" cap="flat" cmpd="sng" algn="ctr">
            <a:solidFill>
              <a:schemeClr val="tx1"/>
            </a:solidFill>
            <a:prstDash val="solid"/>
            <a:round/>
            <a:headEnd type="none" w="med" len="med"/>
            <a:tailEnd type="triangle"/>
          </a:ln>
          <a:effectLst/>
        </p:spPr>
      </p:cxnSp>
      <mc:AlternateContent xmlns:mc="http://schemas.openxmlformats.org/markup-compatibility/2006">
        <mc:Choice xmlns:a14="http://schemas.microsoft.com/office/drawing/2010/main" Requires="a14">
          <p:sp>
            <p:nvSpPr>
              <p:cNvPr id="60" name="正方形/長方形 59">
                <a:extLst>
                  <a:ext uri="{FF2B5EF4-FFF2-40B4-BE49-F238E27FC236}">
                    <a16:creationId xmlns:a16="http://schemas.microsoft.com/office/drawing/2014/main" id="{9F41160E-EA89-4826-82D0-DFFA2F144862}"/>
                  </a:ext>
                </a:extLst>
              </p:cNvPr>
              <p:cNvSpPr/>
              <p:nvPr/>
            </p:nvSpPr>
            <p:spPr bwMode="auto">
              <a:xfrm>
                <a:off x="4385982" y="3248998"/>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14:m>
                  <m:oMathPara xmlns:m="http://schemas.openxmlformats.org/officeDocument/2006/math">
                    <m:oMathParaPr>
                      <m:jc m:val="centerGroup"/>
                    </m:oMathParaPr>
                    <m:oMath xmlns:m="http://schemas.openxmlformats.org/officeDocument/2006/math">
                      <m:r>
                        <a:rPr lang="en-US" altLang="ja-JP" sz="2000" b="1" i="1">
                          <a:solidFill>
                            <a:schemeClr val="accent5"/>
                          </a:solidFill>
                          <a:latin typeface="Cambria Math" panose="02040503050406030204" pitchFamily="18" charset="0"/>
                        </a:rPr>
                        <m:t>𝟓</m:t>
                      </m:r>
                    </m:oMath>
                  </m:oMathPara>
                </a14:m>
                <a:endParaRPr lang="ja-JP" altLang="en-US" sz="2000" b="1" dirty="0">
                  <a:solidFill>
                    <a:schemeClr val="accent5"/>
                  </a:solidFill>
                  <a:latin typeface="Arial Narrow" panose="020B0606020202030204" pitchFamily="34" charset="0"/>
                </a:endParaRPr>
              </a:p>
            </p:txBody>
          </p:sp>
        </mc:Choice>
        <mc:Fallback>
          <p:sp>
            <p:nvSpPr>
              <p:cNvPr id="60" name="正方形/長方形 59">
                <a:extLst>
                  <a:ext uri="{FF2B5EF4-FFF2-40B4-BE49-F238E27FC236}">
                    <a16:creationId xmlns:a16="http://schemas.microsoft.com/office/drawing/2014/main" id="{9F41160E-EA89-4826-82D0-DFFA2F144862}"/>
                  </a:ext>
                </a:extLst>
              </p:cNvPr>
              <p:cNvSpPr>
                <a:spLocks noRot="1" noChangeAspect="1" noMove="1" noResize="1" noEditPoints="1" noAdjustHandles="1" noChangeArrowheads="1" noChangeShapeType="1" noTextEdit="1"/>
              </p:cNvSpPr>
              <p:nvPr/>
            </p:nvSpPr>
            <p:spPr bwMode="auto">
              <a:xfrm>
                <a:off x="4385982" y="3248998"/>
                <a:ext cx="360004" cy="360004"/>
              </a:xfrm>
              <a:prstGeom prst="rect">
                <a:avLst/>
              </a:prstGeom>
              <a:blipFill>
                <a:blip r:embed="rId6"/>
                <a:stretch>
                  <a:fillRect l="-3333"/>
                </a:stretch>
              </a:blipFill>
              <a:ln w="6350">
                <a:noFill/>
                <a:headEnd/>
                <a:tailEnd type="none" w="sm" len="med"/>
              </a:ln>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61" name="楕円 60">
                <a:extLst>
                  <a:ext uri="{FF2B5EF4-FFF2-40B4-BE49-F238E27FC236}">
                    <a16:creationId xmlns:a16="http://schemas.microsoft.com/office/drawing/2014/main" id="{B4E8F6D9-5AE4-4891-9733-6D8D47FE7D9B}"/>
                  </a:ext>
                </a:extLst>
              </p:cNvPr>
              <p:cNvSpPr/>
              <p:nvPr/>
            </p:nvSpPr>
            <p:spPr bwMode="auto">
              <a:xfrm>
                <a:off x="3215970" y="3699003"/>
                <a:ext cx="2160025" cy="900010"/>
              </a:xfrm>
              <a:prstGeom prst="ellips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14:m>
                  <m:oMathPara xmlns:m="http://schemas.openxmlformats.org/officeDocument/2006/math">
                    <m:oMathParaPr>
                      <m:jc m:val="centerGroup"/>
                    </m:oMathParaPr>
                    <m:oMath xmlns:m="http://schemas.openxmlformats.org/officeDocument/2006/math">
                      <m:r>
                        <a:rPr lang="en-US" altLang="ja-JP" sz="2400" i="1" dirty="0">
                          <a:solidFill>
                            <a:schemeClr val="tx1">
                              <a:lumMod val="75000"/>
                              <a:lumOff val="25000"/>
                            </a:schemeClr>
                          </a:solidFill>
                          <a:latin typeface="Cambria Math" panose="02040503050406030204" pitchFamily="18" charset="0"/>
                        </a:rPr>
                        <m:t>𝑧</m:t>
                      </m:r>
                      <m:r>
                        <a:rPr lang="en-US" altLang="ja-JP" sz="2400" i="1" dirty="0">
                          <a:solidFill>
                            <a:schemeClr val="tx1">
                              <a:lumMod val="75000"/>
                              <a:lumOff val="25000"/>
                            </a:schemeClr>
                          </a:solidFill>
                          <a:latin typeface="Cambria Math" panose="02040503050406030204" pitchFamily="18" charset="0"/>
                        </a:rPr>
                        <m:t>&gt;0 ? 1 : 0</m:t>
                      </m:r>
                    </m:oMath>
                  </m:oMathPara>
                </a14:m>
                <a:endParaRPr lang="ja-JP" altLang="en-US" sz="2400" dirty="0">
                  <a:solidFill>
                    <a:schemeClr val="tx1">
                      <a:lumMod val="75000"/>
                      <a:lumOff val="25000"/>
                    </a:schemeClr>
                  </a:solidFill>
                  <a:latin typeface="+mn-ea"/>
                </a:endParaRPr>
              </a:p>
            </p:txBody>
          </p:sp>
        </mc:Choice>
        <mc:Fallback>
          <p:sp>
            <p:nvSpPr>
              <p:cNvPr id="61" name="楕円 60">
                <a:extLst>
                  <a:ext uri="{FF2B5EF4-FFF2-40B4-BE49-F238E27FC236}">
                    <a16:creationId xmlns:a16="http://schemas.microsoft.com/office/drawing/2014/main" id="{B4E8F6D9-5AE4-4891-9733-6D8D47FE7D9B}"/>
                  </a:ext>
                </a:extLst>
              </p:cNvPr>
              <p:cNvSpPr>
                <a:spLocks noRot="1" noChangeAspect="1" noMove="1" noResize="1" noEditPoints="1" noAdjustHandles="1" noChangeArrowheads="1" noChangeShapeType="1" noTextEdit="1"/>
              </p:cNvSpPr>
              <p:nvPr/>
            </p:nvSpPr>
            <p:spPr bwMode="auto">
              <a:xfrm>
                <a:off x="3215970" y="3699003"/>
                <a:ext cx="2160025" cy="900010"/>
              </a:xfrm>
              <a:prstGeom prst="ellipse">
                <a:avLst/>
              </a:prstGeom>
              <a:blipFill>
                <a:blip r:embed="rId7"/>
                <a:stretch>
                  <a:fillRect/>
                </a:stretch>
              </a:blipFill>
              <a:ln>
                <a:headEnd/>
                <a:tailEnd type="triangle" w="sm" len="med"/>
              </a:ln>
            </p:spPr>
            <p:txBody>
              <a:bodyPr/>
              <a:lstStyle/>
              <a:p>
                <a:r>
                  <a:rPr lang="ja-JP" altLang="en-US">
                    <a:noFill/>
                  </a:rPr>
                  <a:t> </a:t>
                </a:r>
              </a:p>
            </p:txBody>
          </p:sp>
        </mc:Fallback>
      </mc:AlternateContent>
      <p:cxnSp>
        <p:nvCxnSpPr>
          <p:cNvPr id="62" name="直線矢印コネクタ 61">
            <a:extLst>
              <a:ext uri="{FF2B5EF4-FFF2-40B4-BE49-F238E27FC236}">
                <a16:creationId xmlns:a16="http://schemas.microsoft.com/office/drawing/2014/main" id="{30E079C9-8BA7-4058-93F1-8CA0A3E8BAAB}"/>
              </a:ext>
            </a:extLst>
          </p:cNvPr>
          <p:cNvCxnSpPr>
            <a:cxnSpLocks/>
          </p:cNvCxnSpPr>
          <p:nvPr/>
        </p:nvCxnSpPr>
        <p:spPr bwMode="auto">
          <a:xfrm>
            <a:off x="4295981" y="4599013"/>
            <a:ext cx="0" cy="540006"/>
          </a:xfrm>
          <a:prstGeom prst="straightConnector1">
            <a:avLst/>
          </a:prstGeom>
          <a:noFill/>
          <a:ln w="9525" cap="flat" cmpd="sng" algn="ctr">
            <a:solidFill>
              <a:schemeClr val="tx1"/>
            </a:solidFill>
            <a:prstDash val="solid"/>
            <a:round/>
            <a:headEnd type="none" w="med" len="med"/>
            <a:tailEnd type="triangle"/>
          </a:ln>
          <a:effectLst/>
        </p:spPr>
      </p:cxnSp>
      <p:sp>
        <p:nvSpPr>
          <p:cNvPr id="63" name="正方形/長方形 62">
            <a:extLst>
              <a:ext uri="{FF2B5EF4-FFF2-40B4-BE49-F238E27FC236}">
                <a16:creationId xmlns:a16="http://schemas.microsoft.com/office/drawing/2014/main" id="{0474DEF7-739F-41CD-9AD5-0960543BD70B}"/>
              </a:ext>
            </a:extLst>
          </p:cNvPr>
          <p:cNvSpPr/>
          <p:nvPr/>
        </p:nvSpPr>
        <p:spPr bwMode="auto">
          <a:xfrm>
            <a:off x="4385982" y="4689014"/>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r>
              <a:rPr lang="en-US" altLang="ja-JP" sz="2000" b="1" dirty="0">
                <a:solidFill>
                  <a:schemeClr val="accent5"/>
                </a:solidFill>
                <a:latin typeface="Arial Narrow" panose="020B0606020202030204" pitchFamily="34" charset="0"/>
              </a:rPr>
              <a:t>1</a:t>
            </a:r>
            <a:endParaRPr lang="ja-JP" altLang="en-US" sz="2000" b="1" dirty="0">
              <a:solidFill>
                <a:schemeClr val="accent5"/>
              </a:solidFill>
              <a:latin typeface="Arial Narrow" panose="020B0606020202030204" pitchFamily="34" charset="0"/>
            </a:endParaRPr>
          </a:p>
        </p:txBody>
      </p:sp>
      <mc:AlternateContent xmlns:mc="http://schemas.openxmlformats.org/markup-compatibility/2006">
        <mc:Choice xmlns:a14="http://schemas.microsoft.com/office/drawing/2010/main" Requires="a14">
          <p:sp>
            <p:nvSpPr>
              <p:cNvPr id="7" name="テキスト プレースホルダー 6">
                <a:extLst>
                  <a:ext uri="{FF2B5EF4-FFF2-40B4-BE49-F238E27FC236}">
                    <a16:creationId xmlns:a16="http://schemas.microsoft.com/office/drawing/2014/main" id="{FEE77F0D-D68C-409A-8890-96F786DEF6A8}"/>
                  </a:ext>
                </a:extLst>
              </p:cNvPr>
              <p:cNvSpPr>
                <a:spLocks noGrp="1"/>
              </p:cNvSpPr>
              <p:nvPr>
                <p:ph type="body" sz="quarter" idx="10"/>
              </p:nvPr>
            </p:nvSpPr>
            <p:spPr>
              <a:xfrm>
                <a:off x="2135956" y="5319021"/>
                <a:ext cx="8280092" cy="1169706"/>
              </a:xfrm>
            </p:spPr>
            <p:txBody>
              <a:bodyPr/>
              <a:lstStyle/>
              <a:p>
                <a:r>
                  <a:rPr lang="en-US" altLang="ja-JP" dirty="0"/>
                  <a:t>010 </a:t>
                </a:r>
                <a:r>
                  <a:rPr lang="ja-JP" altLang="en-US" dirty="0"/>
                  <a:t>以外のパターンが来た場合は，</a:t>
                </a:r>
                <a:r>
                  <a:rPr lang="en-US" altLang="ja-JP" dirty="0"/>
                  <a:t>z </a:t>
                </a:r>
                <a:r>
                  <a:rPr lang="ja-JP" altLang="en-US" dirty="0"/>
                  <a:t>は負の方向に</a:t>
                </a:r>
                <a:endParaRPr lang="en-US" altLang="ja-JP" dirty="0"/>
              </a:p>
              <a:p>
                <a:r>
                  <a:rPr lang="ja-JP" altLang="en-US" dirty="0"/>
                  <a:t>左端の係数はバイアス</a:t>
                </a:r>
                <a:endParaRPr lang="en-US" altLang="ja-JP" dirty="0"/>
              </a:p>
              <a:p>
                <a:pPr lvl="1"/>
                <a14:m>
                  <m:oMath xmlns:m="http://schemas.openxmlformats.org/officeDocument/2006/math">
                    <m:r>
                      <a:rPr lang="ja-JP" altLang="en-US" i="1" dirty="0">
                        <a:latin typeface="Cambria Math" panose="02040503050406030204" pitchFamily="18" charset="0"/>
                      </a:rPr>
                      <m:t>真ん中の「</m:t>
                    </m:r>
                    <m:r>
                      <a:rPr lang="en-US" altLang="ja-JP" i="1" dirty="0" smtClean="0">
                        <a:latin typeface="Cambria Math" panose="02040503050406030204" pitchFamily="18" charset="0"/>
                      </a:rPr>
                      <m:t>𝑧</m:t>
                    </m:r>
                    <m:r>
                      <a:rPr lang="en-US" altLang="ja-JP" i="1" dirty="0" smtClean="0">
                        <a:latin typeface="Cambria Math" panose="02040503050406030204" pitchFamily="18" charset="0"/>
                      </a:rPr>
                      <m:t>&gt;0</m:t>
                    </m:r>
                  </m:oMath>
                </a14:m>
                <a:r>
                  <a:rPr lang="en-US" altLang="ja-JP" dirty="0"/>
                  <a:t> ?</a:t>
                </a:r>
                <a:r>
                  <a:rPr lang="ja-JP" altLang="en-US" dirty="0"/>
                  <a:t>」</a:t>
                </a:r>
                <a:r>
                  <a:rPr lang="en-US" altLang="ja-JP" dirty="0"/>
                  <a:t> </a:t>
                </a:r>
                <a:r>
                  <a:rPr lang="ja-JP" altLang="en-US" dirty="0"/>
                  <a:t>は，</a:t>
                </a:r>
                <a14:m>
                  <m:oMath xmlns:m="http://schemas.openxmlformats.org/officeDocument/2006/math">
                    <m:r>
                      <a:rPr lang="ja-JP" altLang="en-US" b="0" i="1" dirty="0">
                        <a:latin typeface="Cambria Math" panose="02040503050406030204" pitchFamily="18" charset="0"/>
                      </a:rPr>
                      <m:t>「</m:t>
                    </m:r>
                    <m:r>
                      <a:rPr lang="en-US" altLang="ja-JP" b="0" i="1" smtClean="0">
                        <a:latin typeface="Cambria Math" panose="02040503050406030204" pitchFamily="18" charset="0"/>
                      </a:rPr>
                      <m:t>𝑧</m:t>
                    </m:r>
                    <m:r>
                      <a:rPr lang="en-US" altLang="ja-JP" b="0" i="1" smtClean="0">
                        <a:latin typeface="Cambria Math" panose="02040503050406030204" pitchFamily="18" charset="0"/>
                      </a:rPr>
                      <m:t>&lt;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𝑤</m:t>
                        </m:r>
                      </m:e>
                      <m:sub>
                        <m:r>
                          <a:rPr lang="en-US" altLang="ja-JP" b="0" i="1" smtClean="0">
                            <a:latin typeface="Cambria Math" panose="02040503050406030204" pitchFamily="18" charset="0"/>
                          </a:rPr>
                          <m:t>0</m:t>
                        </m:r>
                      </m:sub>
                    </m:sSub>
                  </m:oMath>
                </a14:m>
                <a:r>
                  <a:rPr lang="en-US" altLang="ja-JP" dirty="0"/>
                  <a:t> ?</a:t>
                </a:r>
                <a:r>
                  <a:rPr lang="ja-JP" altLang="en-US" dirty="0"/>
                  <a:t>」と等価の意味になる</a:t>
                </a:r>
              </a:p>
            </p:txBody>
          </p:sp>
        </mc:Choice>
        <mc:Fallback>
          <p:sp>
            <p:nvSpPr>
              <p:cNvPr id="7" name="テキスト プレースホルダー 6">
                <a:extLst>
                  <a:ext uri="{FF2B5EF4-FFF2-40B4-BE49-F238E27FC236}">
                    <a16:creationId xmlns:a16="http://schemas.microsoft.com/office/drawing/2014/main" id="{FEE77F0D-D68C-409A-8890-96F786DEF6A8}"/>
                  </a:ext>
                </a:extLst>
              </p:cNvPr>
              <p:cNvSpPr>
                <a:spLocks noGrp="1" noRot="1" noChangeAspect="1" noMove="1" noResize="1" noEditPoints="1" noAdjustHandles="1" noChangeArrowheads="1" noChangeShapeType="1" noTextEdit="1"/>
              </p:cNvSpPr>
              <p:nvPr>
                <p:ph type="body" sz="quarter" idx="10"/>
              </p:nvPr>
            </p:nvSpPr>
            <p:spPr>
              <a:xfrm>
                <a:off x="2135956" y="5319021"/>
                <a:ext cx="8280092" cy="1169706"/>
              </a:xfrm>
              <a:blipFill>
                <a:blip r:embed="rId8"/>
                <a:stretch>
                  <a:fillRect l="-662" t="-20942" b="-27749"/>
                </a:stretch>
              </a:blipFill>
            </p:spPr>
            <p:txBody>
              <a:bodyPr/>
              <a:lstStyle/>
              <a:p>
                <a:r>
                  <a:rPr lang="ja-JP" altLang="en-US">
                    <a:noFill/>
                  </a:rPr>
                  <a:t> </a:t>
                </a:r>
              </a:p>
            </p:txBody>
          </p:sp>
        </mc:Fallback>
      </mc:AlternateContent>
      <p:sp>
        <p:nvSpPr>
          <p:cNvPr id="28" name="楕円 27">
            <a:extLst>
              <a:ext uri="{FF2B5EF4-FFF2-40B4-BE49-F238E27FC236}">
                <a16:creationId xmlns:a16="http://schemas.microsoft.com/office/drawing/2014/main" id="{51EB7DCE-1DA1-4294-A863-E56DDC51098D}"/>
              </a:ext>
            </a:extLst>
          </p:cNvPr>
          <p:cNvSpPr/>
          <p:nvPr/>
        </p:nvSpPr>
        <p:spPr bwMode="auto">
          <a:xfrm>
            <a:off x="7176013" y="2258987"/>
            <a:ext cx="2160025" cy="900010"/>
          </a:xfrm>
          <a:prstGeom prst="ellips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2400" dirty="0">
                <a:solidFill>
                  <a:schemeClr val="tx1">
                    <a:lumMod val="75000"/>
                    <a:lumOff val="25000"/>
                  </a:schemeClr>
                </a:solidFill>
                <a:latin typeface="+mn-ea"/>
              </a:rPr>
              <a:t>Σ</a:t>
            </a:r>
            <a:endParaRPr lang="ja-JP" altLang="en-US" sz="2400" dirty="0">
              <a:solidFill>
                <a:schemeClr val="tx1">
                  <a:lumMod val="75000"/>
                  <a:lumOff val="25000"/>
                </a:schemeClr>
              </a:solidFill>
              <a:latin typeface="+mn-ea"/>
            </a:endParaRPr>
          </a:p>
        </p:txBody>
      </p:sp>
      <p:cxnSp>
        <p:nvCxnSpPr>
          <p:cNvPr id="29" name="直線矢印コネクタ 28">
            <a:extLst>
              <a:ext uri="{FF2B5EF4-FFF2-40B4-BE49-F238E27FC236}">
                <a16:creationId xmlns:a16="http://schemas.microsoft.com/office/drawing/2014/main" id="{2BA0EDEF-8A48-4B54-9C23-706809371841}"/>
              </a:ext>
            </a:extLst>
          </p:cNvPr>
          <p:cNvCxnSpPr>
            <a:cxnSpLocks/>
            <a:stCxn id="30" idx="2"/>
            <a:endCxn id="28" idx="1"/>
          </p:cNvCxnSpPr>
          <p:nvPr/>
        </p:nvCxnSpPr>
        <p:spPr bwMode="auto">
          <a:xfrm>
            <a:off x="6962868" y="1538980"/>
            <a:ext cx="529473" cy="851811"/>
          </a:xfrm>
          <a:prstGeom prst="straightConnector1">
            <a:avLst/>
          </a:prstGeom>
          <a:noFill/>
          <a:ln w="9525" cap="flat" cmpd="sng" algn="ctr">
            <a:solidFill>
              <a:schemeClr val="tx1"/>
            </a:solidFill>
            <a:prstDash val="solid"/>
            <a:round/>
            <a:headEnd type="none" w="med" len="med"/>
            <a:tailEnd type="triangle"/>
          </a:ln>
          <a:effectLst/>
        </p:spPr>
      </p:cxnSp>
      <mc:AlternateContent xmlns:mc="http://schemas.openxmlformats.org/markup-compatibility/2006">
        <mc:Choice xmlns:a14="http://schemas.microsoft.com/office/drawing/2010/main" Requires="a14">
          <p:sp>
            <p:nvSpPr>
              <p:cNvPr id="30" name="正方形/長方形 29">
                <a:extLst>
                  <a:ext uri="{FF2B5EF4-FFF2-40B4-BE49-F238E27FC236}">
                    <a16:creationId xmlns:a16="http://schemas.microsoft.com/office/drawing/2014/main" id="{86027832-7336-4C2F-86F2-972841537A39}"/>
                  </a:ext>
                </a:extLst>
              </p:cNvPr>
              <p:cNvSpPr/>
              <p:nvPr/>
            </p:nvSpPr>
            <p:spPr bwMode="auto">
              <a:xfrm>
                <a:off x="6782865" y="1178975"/>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14:m>
                  <m:oMathPara xmlns:m="http://schemas.openxmlformats.org/officeDocument/2006/math">
                    <m:oMathParaPr>
                      <m:jc m:val="centerGroup"/>
                    </m:oMathParaPr>
                    <m:oMath xmlns:m="http://schemas.openxmlformats.org/officeDocument/2006/math">
                      <m:r>
                        <a:rPr lang="en-US" altLang="ja-JP" sz="2000" i="1" dirty="0">
                          <a:solidFill>
                            <a:schemeClr val="tx1">
                              <a:lumMod val="75000"/>
                              <a:lumOff val="25000"/>
                            </a:schemeClr>
                          </a:solidFill>
                          <a:latin typeface="Cambria Math" panose="02040503050406030204" pitchFamily="18" charset="0"/>
                        </a:rPr>
                        <m:t>1</m:t>
                      </m:r>
                    </m:oMath>
                  </m:oMathPara>
                </a14:m>
                <a:endParaRPr lang="ja-JP" altLang="en-US" sz="2000" dirty="0">
                  <a:solidFill>
                    <a:schemeClr val="tx1">
                      <a:lumMod val="75000"/>
                      <a:lumOff val="25000"/>
                    </a:schemeClr>
                  </a:solidFill>
                  <a:latin typeface="Arial Narrow" panose="020B0606020202030204" pitchFamily="34" charset="0"/>
                </a:endParaRPr>
              </a:p>
            </p:txBody>
          </p:sp>
        </mc:Choice>
        <mc:Fallback>
          <p:sp>
            <p:nvSpPr>
              <p:cNvPr id="30" name="正方形/長方形 29">
                <a:extLst>
                  <a:ext uri="{FF2B5EF4-FFF2-40B4-BE49-F238E27FC236}">
                    <a16:creationId xmlns:a16="http://schemas.microsoft.com/office/drawing/2014/main" id="{86027832-7336-4C2F-86F2-972841537A39}"/>
                  </a:ext>
                </a:extLst>
              </p:cNvPr>
              <p:cNvSpPr>
                <a:spLocks noRot="1" noChangeAspect="1" noMove="1" noResize="1" noEditPoints="1" noAdjustHandles="1" noChangeArrowheads="1" noChangeShapeType="1" noTextEdit="1"/>
              </p:cNvSpPr>
              <p:nvPr/>
            </p:nvSpPr>
            <p:spPr bwMode="auto">
              <a:xfrm>
                <a:off x="6782865" y="1178975"/>
                <a:ext cx="360004" cy="360004"/>
              </a:xfrm>
              <a:prstGeom prst="rect">
                <a:avLst/>
              </a:prstGeom>
              <a:blipFill>
                <a:blip r:embed="rId9"/>
                <a:stretch>
                  <a:fillRect l="-1695"/>
                </a:stretch>
              </a:blipFill>
              <a:ln w="6350">
                <a:noFill/>
                <a:headEnd/>
                <a:tailEnd type="none" w="sm" len="med"/>
              </a:ln>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33" name="正方形/長方形 32">
                <a:extLst>
                  <a:ext uri="{FF2B5EF4-FFF2-40B4-BE49-F238E27FC236}">
                    <a16:creationId xmlns:a16="http://schemas.microsoft.com/office/drawing/2014/main" id="{DC3A502D-5401-496C-8CE8-A69EF4A5B827}"/>
                  </a:ext>
                </a:extLst>
              </p:cNvPr>
              <p:cNvSpPr/>
              <p:nvPr/>
            </p:nvSpPr>
            <p:spPr bwMode="auto">
              <a:xfrm>
                <a:off x="7536017" y="1178975"/>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14:m>
                  <m:oMathPara xmlns:m="http://schemas.openxmlformats.org/officeDocument/2006/math">
                    <m:oMathParaPr>
                      <m:jc m:val="centerGroup"/>
                    </m:oMathParaPr>
                    <m:oMath xmlns:m="http://schemas.openxmlformats.org/officeDocument/2006/math">
                      <m:r>
                        <a:rPr lang="en-US" altLang="ja-JP" sz="2000" b="1" i="1">
                          <a:solidFill>
                            <a:schemeClr val="accent5"/>
                          </a:solidFill>
                          <a:latin typeface="Cambria Math" panose="02040503050406030204" pitchFamily="18" charset="0"/>
                        </a:rPr>
                        <m:t>𝟏</m:t>
                      </m:r>
                    </m:oMath>
                  </m:oMathPara>
                </a14:m>
                <a:endParaRPr lang="ja-JP" altLang="en-US" sz="2000" b="1" dirty="0">
                  <a:solidFill>
                    <a:schemeClr val="accent5"/>
                  </a:solidFill>
                  <a:latin typeface="Arial Narrow" panose="020B0606020202030204" pitchFamily="34" charset="0"/>
                </a:endParaRPr>
              </a:p>
            </p:txBody>
          </p:sp>
        </mc:Choice>
        <mc:Fallback>
          <p:sp>
            <p:nvSpPr>
              <p:cNvPr id="33" name="正方形/長方形 32">
                <a:extLst>
                  <a:ext uri="{FF2B5EF4-FFF2-40B4-BE49-F238E27FC236}">
                    <a16:creationId xmlns:a16="http://schemas.microsoft.com/office/drawing/2014/main" id="{DC3A502D-5401-496C-8CE8-A69EF4A5B827}"/>
                  </a:ext>
                </a:extLst>
              </p:cNvPr>
              <p:cNvSpPr>
                <a:spLocks noRot="1" noChangeAspect="1" noMove="1" noResize="1" noEditPoints="1" noAdjustHandles="1" noChangeArrowheads="1" noChangeShapeType="1" noTextEdit="1"/>
              </p:cNvSpPr>
              <p:nvPr/>
            </p:nvSpPr>
            <p:spPr bwMode="auto">
              <a:xfrm>
                <a:off x="7536017" y="1178975"/>
                <a:ext cx="360004" cy="360004"/>
              </a:xfrm>
              <a:prstGeom prst="rect">
                <a:avLst/>
              </a:prstGeom>
              <a:blipFill>
                <a:blip r:embed="rId10"/>
                <a:stretch>
                  <a:fillRect l="-3390"/>
                </a:stretch>
              </a:blipFill>
              <a:ln w="6350">
                <a:noFill/>
                <a:headEnd/>
                <a:tailEnd type="none" w="sm" len="med"/>
              </a:ln>
            </p:spPr>
            <p:txBody>
              <a:bodyPr/>
              <a:lstStyle/>
              <a:p>
                <a:r>
                  <a:rPr lang="ja-JP" altLang="en-US">
                    <a:noFill/>
                  </a:rPr>
                  <a:t> </a:t>
                </a:r>
              </a:p>
            </p:txBody>
          </p:sp>
        </mc:Fallback>
      </mc:AlternateContent>
      <p:cxnSp>
        <p:nvCxnSpPr>
          <p:cNvPr id="34" name="直線矢印コネクタ 33">
            <a:extLst>
              <a:ext uri="{FF2B5EF4-FFF2-40B4-BE49-F238E27FC236}">
                <a16:creationId xmlns:a16="http://schemas.microsoft.com/office/drawing/2014/main" id="{0A598F75-A8F3-4F57-8341-9EF04C82BEC4}"/>
              </a:ext>
            </a:extLst>
          </p:cNvPr>
          <p:cNvCxnSpPr>
            <a:cxnSpLocks/>
            <a:stCxn id="33" idx="2"/>
          </p:cNvCxnSpPr>
          <p:nvPr/>
        </p:nvCxnSpPr>
        <p:spPr bwMode="auto">
          <a:xfrm>
            <a:off x="7716019" y="1538979"/>
            <a:ext cx="180002" cy="720008"/>
          </a:xfrm>
          <a:prstGeom prst="straightConnector1">
            <a:avLst/>
          </a:prstGeom>
          <a:noFill/>
          <a:ln w="9525" cap="flat" cmpd="sng" algn="ctr">
            <a:solidFill>
              <a:schemeClr val="tx1"/>
            </a:solidFill>
            <a:prstDash val="solid"/>
            <a:round/>
            <a:headEnd type="none" w="med" len="med"/>
            <a:tailEnd type="triangle"/>
          </a:ln>
          <a:effectLst/>
        </p:spPr>
      </p:cxnSp>
      <p:cxnSp>
        <p:nvCxnSpPr>
          <p:cNvPr id="35" name="直線矢印コネクタ 34">
            <a:extLst>
              <a:ext uri="{FF2B5EF4-FFF2-40B4-BE49-F238E27FC236}">
                <a16:creationId xmlns:a16="http://schemas.microsoft.com/office/drawing/2014/main" id="{61DCF92C-C8CC-4599-B80C-2F1F9B812A61}"/>
              </a:ext>
            </a:extLst>
          </p:cNvPr>
          <p:cNvCxnSpPr>
            <a:cxnSpLocks/>
            <a:stCxn id="40" idx="2"/>
          </p:cNvCxnSpPr>
          <p:nvPr/>
        </p:nvCxnSpPr>
        <p:spPr bwMode="auto">
          <a:xfrm flipH="1">
            <a:off x="8346027" y="1538980"/>
            <a:ext cx="102151" cy="752211"/>
          </a:xfrm>
          <a:prstGeom prst="straightConnector1">
            <a:avLst/>
          </a:prstGeom>
          <a:noFill/>
          <a:ln w="9525" cap="flat" cmpd="sng" algn="ctr">
            <a:solidFill>
              <a:schemeClr val="tx1"/>
            </a:solidFill>
            <a:prstDash val="solid"/>
            <a:round/>
            <a:headEnd type="none" w="med" len="med"/>
            <a:tailEnd type="triangle"/>
          </a:ln>
          <a:effectLst/>
        </p:spPr>
      </p:cxnSp>
      <p:cxnSp>
        <p:nvCxnSpPr>
          <p:cNvPr id="36" name="直線矢印コネクタ 35">
            <a:extLst>
              <a:ext uri="{FF2B5EF4-FFF2-40B4-BE49-F238E27FC236}">
                <a16:creationId xmlns:a16="http://schemas.microsoft.com/office/drawing/2014/main" id="{7D355415-A6A5-4B6E-B7A8-7DDE85473923}"/>
              </a:ext>
            </a:extLst>
          </p:cNvPr>
          <p:cNvCxnSpPr>
            <a:cxnSpLocks/>
            <a:stCxn id="42" idx="2"/>
          </p:cNvCxnSpPr>
          <p:nvPr/>
        </p:nvCxnSpPr>
        <p:spPr bwMode="auto">
          <a:xfrm flipH="1">
            <a:off x="8796032" y="1538979"/>
            <a:ext cx="462154" cy="842212"/>
          </a:xfrm>
          <a:prstGeom prst="straightConnector1">
            <a:avLst/>
          </a:prstGeom>
          <a:noFill/>
          <a:ln w="9525" cap="flat" cmpd="sng" algn="ctr">
            <a:solidFill>
              <a:schemeClr val="tx1"/>
            </a:solidFill>
            <a:prstDash val="solid"/>
            <a:round/>
            <a:headEnd type="none" w="med" len="med"/>
            <a:tailEnd type="triangle"/>
          </a:ln>
          <a:effectLst/>
        </p:spPr>
      </p:cxnSp>
      <p:sp>
        <p:nvSpPr>
          <p:cNvPr id="37" name="正方形/長方形 36">
            <a:extLst>
              <a:ext uri="{FF2B5EF4-FFF2-40B4-BE49-F238E27FC236}">
                <a16:creationId xmlns:a16="http://schemas.microsoft.com/office/drawing/2014/main" id="{671522EC-7B99-4CED-A811-A27D2F15F0D5}"/>
              </a:ext>
            </a:extLst>
          </p:cNvPr>
          <p:cNvSpPr/>
          <p:nvPr/>
        </p:nvSpPr>
        <p:spPr bwMode="auto">
          <a:xfrm>
            <a:off x="6816009" y="1628980"/>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mj-lt"/>
              </a:rPr>
              <a:t>1</a:t>
            </a:r>
            <a:endParaRPr lang="en-US" altLang="ja-JP" sz="2000" dirty="0">
              <a:solidFill>
                <a:schemeClr val="tx1">
                  <a:lumMod val="75000"/>
                  <a:lumOff val="25000"/>
                </a:schemeClr>
              </a:solidFill>
              <a:latin typeface="Arial Narrow" panose="020B0606020202030204" pitchFamily="34" charset="0"/>
            </a:endParaRPr>
          </a:p>
        </p:txBody>
      </p:sp>
      <p:sp>
        <p:nvSpPr>
          <p:cNvPr id="39" name="正方形/長方形 38">
            <a:extLst>
              <a:ext uri="{FF2B5EF4-FFF2-40B4-BE49-F238E27FC236}">
                <a16:creationId xmlns:a16="http://schemas.microsoft.com/office/drawing/2014/main" id="{C9F6DB61-F8DA-45A7-8F4E-98ED20536658}"/>
              </a:ext>
            </a:extLst>
          </p:cNvPr>
          <p:cNvSpPr/>
          <p:nvPr/>
        </p:nvSpPr>
        <p:spPr bwMode="auto">
          <a:xfrm>
            <a:off x="7446016" y="1628980"/>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mj-lt"/>
              </a:rPr>
              <a:t>-3</a:t>
            </a:r>
            <a:endParaRPr lang="ja-JP" altLang="en-US" sz="2000" dirty="0">
              <a:solidFill>
                <a:schemeClr val="tx1">
                  <a:lumMod val="75000"/>
                  <a:lumOff val="25000"/>
                </a:schemeClr>
              </a:solidFill>
              <a:latin typeface="Arial Narrow" panose="020B0606020202030204" pitchFamily="34" charset="0"/>
            </a:endParaRPr>
          </a:p>
        </p:txBody>
      </p:sp>
      <mc:AlternateContent xmlns:mc="http://schemas.openxmlformats.org/markup-compatibility/2006">
        <mc:Choice xmlns:a14="http://schemas.microsoft.com/office/drawing/2010/main" Requires="a14">
          <p:sp>
            <p:nvSpPr>
              <p:cNvPr id="40" name="正方形/長方形 39">
                <a:extLst>
                  <a:ext uri="{FF2B5EF4-FFF2-40B4-BE49-F238E27FC236}">
                    <a16:creationId xmlns:a16="http://schemas.microsoft.com/office/drawing/2014/main" id="{C255F843-988F-4929-87F3-363A1A9646F7}"/>
                  </a:ext>
                </a:extLst>
              </p:cNvPr>
              <p:cNvSpPr/>
              <p:nvPr/>
            </p:nvSpPr>
            <p:spPr bwMode="auto">
              <a:xfrm>
                <a:off x="8256026" y="1211179"/>
                <a:ext cx="384303" cy="327801"/>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14:m>
                  <m:oMathPara xmlns:m="http://schemas.openxmlformats.org/officeDocument/2006/math">
                    <m:oMathParaPr>
                      <m:jc m:val="centerGroup"/>
                    </m:oMathParaPr>
                    <m:oMath xmlns:m="http://schemas.openxmlformats.org/officeDocument/2006/math">
                      <m:r>
                        <a:rPr lang="en-US" altLang="ja-JP" sz="2000" b="1" i="1" dirty="0">
                          <a:solidFill>
                            <a:schemeClr val="accent5"/>
                          </a:solidFill>
                          <a:latin typeface="Cambria Math" panose="02040503050406030204" pitchFamily="18" charset="0"/>
                        </a:rPr>
                        <m:t>𝟏</m:t>
                      </m:r>
                    </m:oMath>
                  </m:oMathPara>
                </a14:m>
                <a:endParaRPr lang="ja-JP" altLang="en-US" sz="2000" b="1" dirty="0">
                  <a:solidFill>
                    <a:schemeClr val="accent5"/>
                  </a:solidFill>
                  <a:latin typeface="Arial Narrow" panose="020B0606020202030204" pitchFamily="34" charset="0"/>
                </a:endParaRPr>
              </a:p>
            </p:txBody>
          </p:sp>
        </mc:Choice>
        <mc:Fallback>
          <p:sp>
            <p:nvSpPr>
              <p:cNvPr id="40" name="正方形/長方形 39">
                <a:extLst>
                  <a:ext uri="{FF2B5EF4-FFF2-40B4-BE49-F238E27FC236}">
                    <a16:creationId xmlns:a16="http://schemas.microsoft.com/office/drawing/2014/main" id="{C255F843-988F-4929-87F3-363A1A9646F7}"/>
                  </a:ext>
                </a:extLst>
              </p:cNvPr>
              <p:cNvSpPr>
                <a:spLocks noRot="1" noChangeAspect="1" noMove="1" noResize="1" noEditPoints="1" noAdjustHandles="1" noChangeArrowheads="1" noChangeShapeType="1" noTextEdit="1"/>
              </p:cNvSpPr>
              <p:nvPr/>
            </p:nvSpPr>
            <p:spPr bwMode="auto">
              <a:xfrm>
                <a:off x="8256026" y="1211179"/>
                <a:ext cx="384303" cy="327801"/>
              </a:xfrm>
              <a:prstGeom prst="rect">
                <a:avLst/>
              </a:prstGeom>
              <a:blipFill>
                <a:blip r:embed="rId11"/>
                <a:stretch>
                  <a:fillRect/>
                </a:stretch>
              </a:blipFill>
              <a:ln w="6350">
                <a:noFill/>
                <a:headEnd/>
                <a:tailEnd type="none" w="sm" len="med"/>
              </a:ln>
            </p:spPr>
            <p:txBody>
              <a:bodyPr/>
              <a:lstStyle/>
              <a:p>
                <a:r>
                  <a:rPr lang="ja-JP" altLang="en-US">
                    <a:noFill/>
                  </a:rPr>
                  <a:t> </a:t>
                </a:r>
              </a:p>
            </p:txBody>
          </p:sp>
        </mc:Fallback>
      </mc:AlternateContent>
      <p:sp>
        <p:nvSpPr>
          <p:cNvPr id="41" name="正方形/長方形 40">
            <a:extLst>
              <a:ext uri="{FF2B5EF4-FFF2-40B4-BE49-F238E27FC236}">
                <a16:creationId xmlns:a16="http://schemas.microsoft.com/office/drawing/2014/main" id="{E066B0FB-AC75-46F1-88C7-C1D2175AEA85}"/>
              </a:ext>
            </a:extLst>
          </p:cNvPr>
          <p:cNvSpPr/>
          <p:nvPr/>
        </p:nvSpPr>
        <p:spPr bwMode="auto">
          <a:xfrm>
            <a:off x="8076023" y="1628980"/>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mj-lt"/>
              </a:rPr>
              <a:t>4</a:t>
            </a:r>
            <a:endParaRPr lang="ja-JP" altLang="en-US" sz="2000" dirty="0">
              <a:solidFill>
                <a:schemeClr val="tx1">
                  <a:lumMod val="75000"/>
                  <a:lumOff val="25000"/>
                </a:schemeClr>
              </a:solidFill>
              <a:latin typeface="Arial Narrow" panose="020B0606020202030204" pitchFamily="34" charset="0"/>
            </a:endParaRPr>
          </a:p>
        </p:txBody>
      </p:sp>
      <mc:AlternateContent xmlns:mc="http://schemas.openxmlformats.org/markup-compatibility/2006">
        <mc:Choice xmlns:a14="http://schemas.microsoft.com/office/drawing/2010/main" Requires="a14">
          <p:sp>
            <p:nvSpPr>
              <p:cNvPr id="42" name="正方形/長方形 41">
                <a:extLst>
                  <a:ext uri="{FF2B5EF4-FFF2-40B4-BE49-F238E27FC236}">
                    <a16:creationId xmlns:a16="http://schemas.microsoft.com/office/drawing/2014/main" id="{839F00DF-1082-4261-ACE2-9404450D54B9}"/>
                  </a:ext>
                </a:extLst>
              </p:cNvPr>
              <p:cNvSpPr/>
              <p:nvPr/>
            </p:nvSpPr>
            <p:spPr bwMode="auto">
              <a:xfrm>
                <a:off x="9066035" y="1211179"/>
                <a:ext cx="384303" cy="327801"/>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14:m>
                  <m:oMathPara xmlns:m="http://schemas.openxmlformats.org/officeDocument/2006/math">
                    <m:oMathParaPr>
                      <m:jc m:val="centerGroup"/>
                    </m:oMathParaPr>
                    <m:oMath xmlns:m="http://schemas.openxmlformats.org/officeDocument/2006/math">
                      <m:r>
                        <a:rPr lang="en-US" altLang="ja-JP" sz="2000" b="1" i="1" dirty="0">
                          <a:solidFill>
                            <a:schemeClr val="accent5"/>
                          </a:solidFill>
                          <a:latin typeface="Cambria Math" panose="02040503050406030204" pitchFamily="18" charset="0"/>
                        </a:rPr>
                        <m:t>𝟏</m:t>
                      </m:r>
                    </m:oMath>
                  </m:oMathPara>
                </a14:m>
                <a:endParaRPr lang="ja-JP" altLang="en-US" sz="2000" b="1" dirty="0">
                  <a:solidFill>
                    <a:schemeClr val="accent5"/>
                  </a:solidFill>
                  <a:latin typeface="Arial Narrow" panose="020B0606020202030204" pitchFamily="34" charset="0"/>
                </a:endParaRPr>
              </a:p>
            </p:txBody>
          </p:sp>
        </mc:Choice>
        <mc:Fallback>
          <p:sp>
            <p:nvSpPr>
              <p:cNvPr id="42" name="正方形/長方形 41">
                <a:extLst>
                  <a:ext uri="{FF2B5EF4-FFF2-40B4-BE49-F238E27FC236}">
                    <a16:creationId xmlns:a16="http://schemas.microsoft.com/office/drawing/2014/main" id="{839F00DF-1082-4261-ACE2-9404450D54B9}"/>
                  </a:ext>
                </a:extLst>
              </p:cNvPr>
              <p:cNvSpPr>
                <a:spLocks noRot="1" noChangeAspect="1" noMove="1" noResize="1" noEditPoints="1" noAdjustHandles="1" noChangeArrowheads="1" noChangeShapeType="1" noTextEdit="1"/>
              </p:cNvSpPr>
              <p:nvPr/>
            </p:nvSpPr>
            <p:spPr bwMode="auto">
              <a:xfrm>
                <a:off x="9066035" y="1211179"/>
                <a:ext cx="384303" cy="327801"/>
              </a:xfrm>
              <a:prstGeom prst="rect">
                <a:avLst/>
              </a:prstGeom>
              <a:blipFill>
                <a:blip r:embed="rId12"/>
                <a:stretch>
                  <a:fillRect/>
                </a:stretch>
              </a:blipFill>
              <a:ln w="6350">
                <a:noFill/>
                <a:headEnd/>
                <a:tailEnd type="none" w="sm" len="med"/>
              </a:ln>
            </p:spPr>
            <p:txBody>
              <a:bodyPr/>
              <a:lstStyle/>
              <a:p>
                <a:r>
                  <a:rPr lang="ja-JP" altLang="en-US">
                    <a:noFill/>
                  </a:rPr>
                  <a:t> </a:t>
                </a:r>
              </a:p>
            </p:txBody>
          </p:sp>
        </mc:Fallback>
      </mc:AlternateContent>
      <p:sp>
        <p:nvSpPr>
          <p:cNvPr id="43" name="正方形/長方形 42">
            <a:extLst>
              <a:ext uri="{FF2B5EF4-FFF2-40B4-BE49-F238E27FC236}">
                <a16:creationId xmlns:a16="http://schemas.microsoft.com/office/drawing/2014/main" id="{5BC18638-EB89-46A5-901C-49D20D9C9348}"/>
              </a:ext>
            </a:extLst>
          </p:cNvPr>
          <p:cNvSpPr/>
          <p:nvPr/>
        </p:nvSpPr>
        <p:spPr bwMode="auto">
          <a:xfrm>
            <a:off x="8706030" y="1628980"/>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-5</a:t>
            </a:r>
            <a:endParaRPr lang="ja-JP" altLang="en-US" sz="2000" dirty="0">
              <a:solidFill>
                <a:schemeClr val="tx1">
                  <a:lumMod val="75000"/>
                  <a:lumOff val="25000"/>
                </a:schemeClr>
              </a:solidFill>
              <a:latin typeface="Arial Narrow" panose="020B0606020202030204" pitchFamily="34" charset="0"/>
            </a:endParaRPr>
          </a:p>
        </p:txBody>
      </p:sp>
      <p:cxnSp>
        <p:nvCxnSpPr>
          <p:cNvPr id="44" name="直線矢印コネクタ 43">
            <a:extLst>
              <a:ext uri="{FF2B5EF4-FFF2-40B4-BE49-F238E27FC236}">
                <a16:creationId xmlns:a16="http://schemas.microsoft.com/office/drawing/2014/main" id="{5AD2AA74-3514-4B9A-8B5E-9A07CEB50E65}"/>
              </a:ext>
            </a:extLst>
          </p:cNvPr>
          <p:cNvCxnSpPr>
            <a:cxnSpLocks/>
            <a:stCxn id="28" idx="4"/>
          </p:cNvCxnSpPr>
          <p:nvPr/>
        </p:nvCxnSpPr>
        <p:spPr bwMode="auto">
          <a:xfrm>
            <a:off x="8256025" y="3158997"/>
            <a:ext cx="0" cy="540006"/>
          </a:xfrm>
          <a:prstGeom prst="straightConnector1">
            <a:avLst/>
          </a:prstGeom>
          <a:noFill/>
          <a:ln w="9525" cap="flat" cmpd="sng" algn="ctr">
            <a:solidFill>
              <a:schemeClr val="tx1"/>
            </a:solidFill>
            <a:prstDash val="solid"/>
            <a:round/>
            <a:headEnd type="none" w="med" len="med"/>
            <a:tailEnd type="triangle"/>
          </a:ln>
          <a:effectLst/>
        </p:spPr>
      </p:cxnSp>
      <mc:AlternateContent xmlns:mc="http://schemas.openxmlformats.org/markup-compatibility/2006">
        <mc:Choice xmlns:a14="http://schemas.microsoft.com/office/drawing/2010/main" Requires="a14">
          <p:sp>
            <p:nvSpPr>
              <p:cNvPr id="45" name="正方形/長方形 44">
                <a:extLst>
                  <a:ext uri="{FF2B5EF4-FFF2-40B4-BE49-F238E27FC236}">
                    <a16:creationId xmlns:a16="http://schemas.microsoft.com/office/drawing/2014/main" id="{7C1F92BA-4F9F-4F13-A050-C0B8797B245B}"/>
                  </a:ext>
                </a:extLst>
              </p:cNvPr>
              <p:cNvSpPr/>
              <p:nvPr/>
            </p:nvSpPr>
            <p:spPr bwMode="auto">
              <a:xfrm>
                <a:off x="8346026" y="3248998"/>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14:m>
                  <m:oMathPara xmlns:m="http://schemas.openxmlformats.org/officeDocument/2006/math">
                    <m:oMathParaPr>
                      <m:jc m:val="centerGroup"/>
                    </m:oMathParaPr>
                    <m:oMath xmlns:m="http://schemas.openxmlformats.org/officeDocument/2006/math">
                      <m:r>
                        <a:rPr lang="en-US" altLang="ja-JP" sz="2000" b="1" i="1">
                          <a:solidFill>
                            <a:schemeClr val="accent5"/>
                          </a:solidFill>
                          <a:latin typeface="Cambria Math" panose="02040503050406030204" pitchFamily="18" charset="0"/>
                        </a:rPr>
                        <m:t>−</m:t>
                      </m:r>
                      <m:r>
                        <a:rPr lang="en-US" altLang="ja-JP" sz="2000" b="1" i="1">
                          <a:solidFill>
                            <a:schemeClr val="accent5"/>
                          </a:solidFill>
                          <a:latin typeface="Cambria Math" panose="02040503050406030204" pitchFamily="18" charset="0"/>
                        </a:rPr>
                        <m:t>𝟑</m:t>
                      </m:r>
                    </m:oMath>
                  </m:oMathPara>
                </a14:m>
                <a:endParaRPr lang="ja-JP" altLang="en-US" sz="2000" b="1" dirty="0">
                  <a:solidFill>
                    <a:schemeClr val="accent5"/>
                  </a:solidFill>
                  <a:latin typeface="Arial Narrow" panose="020B0606020202030204" pitchFamily="34" charset="0"/>
                </a:endParaRPr>
              </a:p>
            </p:txBody>
          </p:sp>
        </mc:Choice>
        <mc:Fallback>
          <p:sp>
            <p:nvSpPr>
              <p:cNvPr id="45" name="正方形/長方形 44">
                <a:extLst>
                  <a:ext uri="{FF2B5EF4-FFF2-40B4-BE49-F238E27FC236}">
                    <a16:creationId xmlns:a16="http://schemas.microsoft.com/office/drawing/2014/main" id="{7C1F92BA-4F9F-4F13-A050-C0B8797B245B}"/>
                  </a:ext>
                </a:extLst>
              </p:cNvPr>
              <p:cNvSpPr>
                <a:spLocks noRot="1" noChangeAspect="1" noMove="1" noResize="1" noEditPoints="1" noAdjustHandles="1" noChangeArrowheads="1" noChangeShapeType="1" noTextEdit="1"/>
              </p:cNvSpPr>
              <p:nvPr/>
            </p:nvSpPr>
            <p:spPr bwMode="auto">
              <a:xfrm>
                <a:off x="8346026" y="3248998"/>
                <a:ext cx="360004" cy="360004"/>
              </a:xfrm>
              <a:prstGeom prst="rect">
                <a:avLst/>
              </a:prstGeom>
              <a:blipFill>
                <a:blip r:embed="rId13"/>
                <a:stretch>
                  <a:fillRect l="-18644" r="-13559"/>
                </a:stretch>
              </a:blipFill>
              <a:ln w="6350">
                <a:noFill/>
                <a:headEnd/>
                <a:tailEnd type="none" w="sm" len="med"/>
              </a:ln>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46" name="楕円 45">
                <a:extLst>
                  <a:ext uri="{FF2B5EF4-FFF2-40B4-BE49-F238E27FC236}">
                    <a16:creationId xmlns:a16="http://schemas.microsoft.com/office/drawing/2014/main" id="{E4C62FB4-9818-4EC8-B56A-487FA6479D34}"/>
                  </a:ext>
                </a:extLst>
              </p:cNvPr>
              <p:cNvSpPr/>
              <p:nvPr/>
            </p:nvSpPr>
            <p:spPr bwMode="auto">
              <a:xfrm>
                <a:off x="7176014" y="3699003"/>
                <a:ext cx="2160025" cy="900010"/>
              </a:xfrm>
              <a:prstGeom prst="ellips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14:m>
                  <m:oMathPara xmlns:m="http://schemas.openxmlformats.org/officeDocument/2006/math">
                    <m:oMathParaPr>
                      <m:jc m:val="centerGroup"/>
                    </m:oMathParaPr>
                    <m:oMath xmlns:m="http://schemas.openxmlformats.org/officeDocument/2006/math">
                      <m:r>
                        <a:rPr lang="en-US" altLang="ja-JP" sz="2400" i="1" dirty="0">
                          <a:solidFill>
                            <a:schemeClr val="tx1">
                              <a:lumMod val="75000"/>
                              <a:lumOff val="25000"/>
                            </a:schemeClr>
                          </a:solidFill>
                          <a:latin typeface="Cambria Math" panose="02040503050406030204" pitchFamily="18" charset="0"/>
                        </a:rPr>
                        <m:t>𝑧</m:t>
                      </m:r>
                      <m:r>
                        <a:rPr lang="en-US" altLang="ja-JP" sz="2400" i="1" dirty="0">
                          <a:solidFill>
                            <a:schemeClr val="tx1">
                              <a:lumMod val="75000"/>
                              <a:lumOff val="25000"/>
                            </a:schemeClr>
                          </a:solidFill>
                          <a:latin typeface="Cambria Math" panose="02040503050406030204" pitchFamily="18" charset="0"/>
                        </a:rPr>
                        <m:t>&gt;0 ? 1 : 0</m:t>
                      </m:r>
                    </m:oMath>
                  </m:oMathPara>
                </a14:m>
                <a:endParaRPr lang="ja-JP" altLang="en-US" sz="2400" dirty="0">
                  <a:solidFill>
                    <a:schemeClr val="tx1">
                      <a:lumMod val="75000"/>
                      <a:lumOff val="25000"/>
                    </a:schemeClr>
                  </a:solidFill>
                  <a:latin typeface="+mn-ea"/>
                </a:endParaRPr>
              </a:p>
            </p:txBody>
          </p:sp>
        </mc:Choice>
        <mc:Fallback>
          <p:sp>
            <p:nvSpPr>
              <p:cNvPr id="46" name="楕円 45">
                <a:extLst>
                  <a:ext uri="{FF2B5EF4-FFF2-40B4-BE49-F238E27FC236}">
                    <a16:creationId xmlns:a16="http://schemas.microsoft.com/office/drawing/2014/main" id="{E4C62FB4-9818-4EC8-B56A-487FA6479D34}"/>
                  </a:ext>
                </a:extLst>
              </p:cNvPr>
              <p:cNvSpPr>
                <a:spLocks noRot="1" noChangeAspect="1" noMove="1" noResize="1" noEditPoints="1" noAdjustHandles="1" noChangeArrowheads="1" noChangeShapeType="1" noTextEdit="1"/>
              </p:cNvSpPr>
              <p:nvPr/>
            </p:nvSpPr>
            <p:spPr bwMode="auto">
              <a:xfrm>
                <a:off x="7176014" y="3699003"/>
                <a:ext cx="2160025" cy="900010"/>
              </a:xfrm>
              <a:prstGeom prst="ellipse">
                <a:avLst/>
              </a:prstGeom>
              <a:blipFill>
                <a:blip r:embed="rId14"/>
                <a:stretch>
                  <a:fillRect/>
                </a:stretch>
              </a:blipFill>
              <a:ln>
                <a:headEnd/>
                <a:tailEnd type="triangle" w="sm" len="med"/>
              </a:ln>
            </p:spPr>
            <p:txBody>
              <a:bodyPr/>
              <a:lstStyle/>
              <a:p>
                <a:r>
                  <a:rPr lang="ja-JP" altLang="en-US">
                    <a:noFill/>
                  </a:rPr>
                  <a:t> </a:t>
                </a:r>
              </a:p>
            </p:txBody>
          </p:sp>
        </mc:Fallback>
      </mc:AlternateContent>
      <p:cxnSp>
        <p:nvCxnSpPr>
          <p:cNvPr id="47" name="直線矢印コネクタ 46">
            <a:extLst>
              <a:ext uri="{FF2B5EF4-FFF2-40B4-BE49-F238E27FC236}">
                <a16:creationId xmlns:a16="http://schemas.microsoft.com/office/drawing/2014/main" id="{762BDB3E-1267-457F-BE7D-8E28F7C35CB4}"/>
              </a:ext>
            </a:extLst>
          </p:cNvPr>
          <p:cNvCxnSpPr>
            <a:cxnSpLocks/>
          </p:cNvCxnSpPr>
          <p:nvPr/>
        </p:nvCxnSpPr>
        <p:spPr bwMode="auto">
          <a:xfrm>
            <a:off x="8256025" y="4599013"/>
            <a:ext cx="0" cy="540006"/>
          </a:xfrm>
          <a:prstGeom prst="straightConnector1">
            <a:avLst/>
          </a:prstGeom>
          <a:noFill/>
          <a:ln w="9525" cap="flat" cmpd="sng" algn="ctr">
            <a:solidFill>
              <a:schemeClr val="tx1"/>
            </a:solidFill>
            <a:prstDash val="solid"/>
            <a:round/>
            <a:headEnd type="none" w="med" len="med"/>
            <a:tailEnd type="triangle"/>
          </a:ln>
          <a:effectLst/>
        </p:spPr>
      </p:cxnSp>
      <p:sp>
        <p:nvSpPr>
          <p:cNvPr id="48" name="正方形/長方形 47">
            <a:extLst>
              <a:ext uri="{FF2B5EF4-FFF2-40B4-BE49-F238E27FC236}">
                <a16:creationId xmlns:a16="http://schemas.microsoft.com/office/drawing/2014/main" id="{98FD49C3-00D2-48D7-B126-6CB6A9C39189}"/>
              </a:ext>
            </a:extLst>
          </p:cNvPr>
          <p:cNvSpPr/>
          <p:nvPr/>
        </p:nvSpPr>
        <p:spPr bwMode="auto">
          <a:xfrm>
            <a:off x="8346026" y="4689014"/>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r>
              <a:rPr lang="en-US" altLang="ja-JP" sz="2000" b="1" dirty="0">
                <a:solidFill>
                  <a:schemeClr val="accent5"/>
                </a:solidFill>
                <a:latin typeface="Arial Narrow" panose="020B0606020202030204" pitchFamily="34" charset="0"/>
              </a:rPr>
              <a:t>0</a:t>
            </a:r>
            <a:endParaRPr lang="ja-JP" altLang="en-US" sz="2000" b="1" dirty="0">
              <a:solidFill>
                <a:schemeClr val="accent5"/>
              </a:solidFill>
              <a:latin typeface="Arial Narrow" panose="020B0606020202030204" pitchFamily="34" charset="0"/>
            </a:endParaRPr>
          </a:p>
        </p:txBody>
      </p:sp>
    </p:spTree>
    <p:extLst>
      <p:ext uri="{BB962C8B-B14F-4D97-AF65-F5344CB8AC3E}">
        <p14:creationId xmlns:p14="http://schemas.microsoft.com/office/powerpoint/2010/main" val="17026101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955954" y="0"/>
            <a:ext cx="8712046" cy="908972"/>
          </a:xfrm>
        </p:spPr>
        <p:txBody>
          <a:bodyPr/>
          <a:lstStyle/>
          <a:p>
            <a:r>
              <a:rPr lang="ja-JP" altLang="en-US" dirty="0"/>
              <a:t>パーセプトロン予測器</a:t>
            </a:r>
          </a:p>
        </p:txBody>
      </p:sp>
      <p:sp>
        <p:nvSpPr>
          <p:cNvPr id="3" name="テキスト プレースホルダー 2"/>
          <p:cNvSpPr>
            <a:spLocks noGrp="1"/>
          </p:cNvSpPr>
          <p:nvPr>
            <p:ph type="body" sz="quarter" idx="10"/>
          </p:nvPr>
        </p:nvSpPr>
        <p:spPr>
          <a:xfrm>
            <a:off x="2135956" y="1088975"/>
            <a:ext cx="8280092" cy="5219751"/>
          </a:xfrm>
        </p:spPr>
        <p:txBody>
          <a:bodyPr/>
          <a:lstStyle/>
          <a:p>
            <a:r>
              <a:rPr lang="ja-JP" altLang="en-US" dirty="0"/>
              <a:t>バリエーション</a:t>
            </a:r>
            <a:endParaRPr lang="en-US" altLang="ja-JP" dirty="0"/>
          </a:p>
          <a:p>
            <a:pPr lvl="1"/>
            <a:r>
              <a:rPr lang="en-US" altLang="ja-JP" dirty="0"/>
              <a:t>Liner perceptron </a:t>
            </a:r>
            <a:r>
              <a:rPr lang="ja-JP" altLang="en-US" dirty="0"/>
              <a:t>系：</a:t>
            </a:r>
            <a:endParaRPr lang="en-US" altLang="ja-JP" dirty="0"/>
          </a:p>
          <a:p>
            <a:pPr lvl="2"/>
            <a:r>
              <a:rPr lang="ja-JP" altLang="en-US" dirty="0"/>
              <a:t>グローバル履歴をそのまま重みにかけるもの</a:t>
            </a:r>
            <a:endParaRPr lang="en-US" altLang="ja-JP" dirty="0"/>
          </a:p>
          <a:p>
            <a:pPr lvl="1"/>
            <a:r>
              <a:rPr lang="en-US" altLang="ja-JP" dirty="0"/>
              <a:t>Hashed perceptron </a:t>
            </a:r>
            <a:r>
              <a:rPr lang="ja-JP" altLang="en-US" dirty="0"/>
              <a:t>系：</a:t>
            </a:r>
            <a:endParaRPr lang="en-US" altLang="ja-JP" dirty="0"/>
          </a:p>
          <a:p>
            <a:pPr lvl="2"/>
            <a:r>
              <a:rPr lang="en-US" altLang="ja-JP" dirty="0"/>
              <a:t>g-share </a:t>
            </a:r>
            <a:r>
              <a:rPr lang="ja-JP" altLang="en-US" dirty="0"/>
              <a:t>的なテーブルから重みを出すもの</a:t>
            </a:r>
            <a:endParaRPr lang="en-US" altLang="ja-JP" dirty="0"/>
          </a:p>
        </p:txBody>
      </p:sp>
    </p:spTree>
    <p:extLst>
      <p:ext uri="{BB962C8B-B14F-4D97-AF65-F5344CB8AC3E}">
        <p14:creationId xmlns:p14="http://schemas.microsoft.com/office/powerpoint/2010/main" val="28822086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54">
            <a:extLst>
              <a:ext uri="{FF2B5EF4-FFF2-40B4-BE49-F238E27FC236}">
                <a16:creationId xmlns:a16="http://schemas.microsoft.com/office/drawing/2014/main" id="{A13931F4-9F81-46B8-9D70-2DF3E79FB1C9}"/>
              </a:ext>
            </a:extLst>
          </p:cNvPr>
          <p:cNvSpPr>
            <a:spLocks noChangeArrowheads="1"/>
          </p:cNvSpPr>
          <p:nvPr/>
        </p:nvSpPr>
        <p:spPr bwMode="auto">
          <a:xfrm>
            <a:off x="5375993" y="1988984"/>
            <a:ext cx="2070023" cy="2608442"/>
          </a:xfrm>
          <a:prstGeom prst="rect">
            <a:avLst/>
          </a:prstGeom>
          <a:noFill/>
          <a:ln>
            <a:solidFill>
              <a:schemeClr val="tx1">
                <a:lumMod val="75000"/>
                <a:lumOff val="25000"/>
              </a:schemeClr>
            </a:solidFill>
            <a:headEnd/>
            <a:tailEnd/>
          </a:ln>
        </p:spPr>
        <p:style>
          <a:lnRef idx="2">
            <a:schemeClr val="dk1"/>
          </a:lnRef>
          <a:fillRef idx="1">
            <a:schemeClr val="lt1"/>
          </a:fillRef>
          <a:effectRef idx="0">
            <a:schemeClr val="dk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MeiryoKe_PGothic" pitchFamily="50" charset="-128"/>
              <a:ea typeface="MeiryoKe_PGothic" pitchFamily="50" charset="-128"/>
            </a:endParaRPr>
          </a:p>
        </p:txBody>
      </p:sp>
      <p:sp>
        <p:nvSpPr>
          <p:cNvPr id="2" name="タイトル 1">
            <a:extLst>
              <a:ext uri="{FF2B5EF4-FFF2-40B4-BE49-F238E27FC236}">
                <a16:creationId xmlns:a16="http://schemas.microsoft.com/office/drawing/2014/main" id="{97275661-13C3-45B3-A3BE-697A145E8695}"/>
              </a:ext>
            </a:extLst>
          </p:cNvPr>
          <p:cNvSpPr>
            <a:spLocks noGrp="1"/>
          </p:cNvSpPr>
          <p:nvPr>
            <p:ph type="title"/>
          </p:nvPr>
        </p:nvSpPr>
        <p:spPr/>
        <p:txBody>
          <a:bodyPr/>
          <a:lstStyle/>
          <a:p>
            <a:r>
              <a:rPr kumimoji="1" lang="ja-JP" altLang="en-US" dirty="0"/>
              <a:t>グローバル履歴をそのまま重みにかけるもの</a:t>
            </a:r>
          </a:p>
        </p:txBody>
      </p:sp>
      <mc:AlternateContent xmlns:mc="http://schemas.openxmlformats.org/markup-compatibility/2006">
        <mc:Choice xmlns:a14="http://schemas.microsoft.com/office/drawing/2010/main" Requires="a14">
          <p:sp>
            <p:nvSpPr>
              <p:cNvPr id="3" name="テキスト プレースホルダー 2">
                <a:extLst>
                  <a:ext uri="{FF2B5EF4-FFF2-40B4-BE49-F238E27FC236}">
                    <a16:creationId xmlns:a16="http://schemas.microsoft.com/office/drawing/2014/main" id="{947B04F6-02DA-4D12-B9EE-34FEBE259E71}"/>
                  </a:ext>
                </a:extLst>
              </p:cNvPr>
              <p:cNvSpPr>
                <a:spLocks noGrp="1"/>
              </p:cNvSpPr>
              <p:nvPr>
                <p:ph type="body" sz="quarter" idx="10"/>
              </p:nvPr>
            </p:nvSpPr>
            <p:spPr>
              <a:xfrm>
                <a:off x="1955954" y="6129030"/>
                <a:ext cx="8280092" cy="269696"/>
              </a:xfrm>
            </p:spPr>
            <p:txBody>
              <a:bodyPr/>
              <a:lstStyle/>
              <a:p>
                <a:pPr lvl="1"/>
                <a:r>
                  <a:rPr kumimoji="1" lang="en-US" altLang="ja-JP" dirty="0"/>
                  <a:t>PC </a:t>
                </a:r>
                <a:r>
                  <a:rPr lang="ja-JP" altLang="en-US" dirty="0"/>
                  <a:t>の一部をインデクスとして重み表をひく</a:t>
                </a:r>
                <a:endParaRPr lang="en-US" altLang="ja-JP" dirty="0"/>
              </a:p>
              <a:p>
                <a:pPr lvl="2"/>
                <a:r>
                  <a:rPr kumimoji="1" lang="ja-JP" altLang="en-US" dirty="0"/>
                  <a:t>その </a:t>
                </a:r>
                <a:r>
                  <a:rPr kumimoji="1" lang="en-US" altLang="ja-JP" dirty="0"/>
                  <a:t>PC </a:t>
                </a:r>
                <a:r>
                  <a:rPr kumimoji="1" lang="ja-JP" altLang="en-US" dirty="0"/>
                  <a:t>に対応した重みのセットがとれる</a:t>
                </a:r>
                <a:endParaRPr kumimoji="1" lang="en-US" altLang="ja-JP" dirty="0"/>
              </a:p>
              <a:p>
                <a:pPr lvl="1"/>
                <a:r>
                  <a:rPr lang="ja-JP" altLang="en-US" dirty="0"/>
                  <a:t>あとはグローバル履歴を </a:t>
                </a:r>
                <a14:m>
                  <m:oMath xmlns:m="http://schemas.openxmlformats.org/officeDocument/2006/math">
                    <m:sSub>
                      <m:sSubPr>
                        <m:ctrlPr>
                          <a:rPr lang="en-US" altLang="ja-JP" i="1" dirty="0" smtClean="0">
                            <a:latin typeface="Cambria Math" panose="02040503050406030204" pitchFamily="18" charset="0"/>
                          </a:rPr>
                        </m:ctrlPr>
                      </m:sSubPr>
                      <m:e>
                        <m:r>
                          <a:rPr lang="en-US" altLang="ja-JP" i="1" dirty="0" smtClean="0">
                            <a:latin typeface="Cambria Math" panose="02040503050406030204" pitchFamily="18" charset="0"/>
                          </a:rPr>
                          <m:t>𝑥</m:t>
                        </m:r>
                      </m:e>
                      <m:sub>
                        <m:r>
                          <a:rPr lang="en-US" altLang="ja-JP" i="1" dirty="0" smtClean="0">
                            <a:latin typeface="Cambria Math" panose="02040503050406030204" pitchFamily="18" charset="0"/>
                          </a:rPr>
                          <m:t>𝑖</m:t>
                        </m:r>
                      </m:sub>
                    </m:sSub>
                  </m:oMath>
                </a14:m>
                <a:r>
                  <a:rPr kumimoji="1" lang="ja-JP" altLang="en-US" dirty="0"/>
                  <a:t> としてパーセプトロンの処理を行う</a:t>
                </a:r>
              </a:p>
            </p:txBody>
          </p:sp>
        </mc:Choice>
        <mc:Fallback>
          <p:sp>
            <p:nvSpPr>
              <p:cNvPr id="3" name="テキスト プレースホルダー 2">
                <a:extLst>
                  <a:ext uri="{FF2B5EF4-FFF2-40B4-BE49-F238E27FC236}">
                    <a16:creationId xmlns:a16="http://schemas.microsoft.com/office/drawing/2014/main" id="{947B04F6-02DA-4D12-B9EE-34FEBE259E71}"/>
                  </a:ext>
                </a:extLst>
              </p:cNvPr>
              <p:cNvSpPr>
                <a:spLocks noGrp="1" noRot="1" noChangeAspect="1" noMove="1" noResize="1" noEditPoints="1" noAdjustHandles="1" noChangeArrowheads="1" noChangeShapeType="1" noTextEdit="1"/>
              </p:cNvSpPr>
              <p:nvPr>
                <p:ph type="body" sz="quarter" idx="10"/>
              </p:nvPr>
            </p:nvSpPr>
            <p:spPr>
              <a:xfrm>
                <a:off x="1955954" y="6129030"/>
                <a:ext cx="8280092" cy="269696"/>
              </a:xfrm>
              <a:blipFill>
                <a:blip r:embed="rId2"/>
                <a:stretch>
                  <a:fillRect t="-184444" b="-213333"/>
                </a:stretch>
              </a:blipFill>
            </p:spPr>
            <p:txBody>
              <a:bodyPr/>
              <a:lstStyle/>
              <a:p>
                <a:r>
                  <a:rPr lang="ja-JP" altLang="en-US">
                    <a:noFill/>
                  </a:rPr>
                  <a:t> </a:t>
                </a:r>
              </a:p>
            </p:txBody>
          </p:sp>
        </mc:Fallback>
      </mc:AlternateContent>
      <p:sp>
        <p:nvSpPr>
          <p:cNvPr id="4" name="Rectangle 128">
            <a:extLst>
              <a:ext uri="{FF2B5EF4-FFF2-40B4-BE49-F238E27FC236}">
                <a16:creationId xmlns:a16="http://schemas.microsoft.com/office/drawing/2014/main" id="{9CA6B8EF-6F64-48A8-9CD7-4E820D1E5D8D}"/>
              </a:ext>
            </a:extLst>
          </p:cNvPr>
          <p:cNvSpPr>
            <a:spLocks noChangeArrowheads="1"/>
          </p:cNvSpPr>
          <p:nvPr/>
        </p:nvSpPr>
        <p:spPr bwMode="auto">
          <a:xfrm>
            <a:off x="4023990" y="908973"/>
            <a:ext cx="540006" cy="314325"/>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eaLnBrk="0" hangingPunct="0"/>
            <a:r>
              <a:rPr lang="en-US" altLang="ja-JP" dirty="0">
                <a:solidFill>
                  <a:schemeClr val="tx1">
                    <a:lumMod val="75000"/>
                    <a:lumOff val="25000"/>
                  </a:schemeClr>
                </a:solidFill>
                <a:latin typeface="+mn-ea"/>
                <a:ea typeface="+mn-ea"/>
              </a:rPr>
              <a:t>PC</a:t>
            </a:r>
          </a:p>
        </p:txBody>
      </p:sp>
      <p:sp>
        <p:nvSpPr>
          <p:cNvPr id="5" name="Rectangle 13">
            <a:extLst>
              <a:ext uri="{FF2B5EF4-FFF2-40B4-BE49-F238E27FC236}">
                <a16:creationId xmlns:a16="http://schemas.microsoft.com/office/drawing/2014/main" id="{FE0F18C9-BE57-4D89-8F97-5D132D59C4AF}"/>
              </a:ext>
            </a:extLst>
          </p:cNvPr>
          <p:cNvSpPr>
            <a:spLocks noChangeArrowheads="1"/>
          </p:cNvSpPr>
          <p:nvPr/>
        </p:nvSpPr>
        <p:spPr bwMode="auto">
          <a:xfrm>
            <a:off x="3934338" y="1267389"/>
            <a:ext cx="720725" cy="360362"/>
          </a:xfrm>
          <a:prstGeom prst="rect">
            <a:avLst/>
          </a:prstGeom>
          <a:ln>
            <a:headEnd/>
            <a:tailEnd/>
          </a:ln>
        </p:spPr>
        <p:style>
          <a:lnRef idx="1">
            <a:schemeClr val="dk1"/>
          </a:lnRef>
          <a:fillRef idx="2">
            <a:schemeClr val="dk1"/>
          </a:fillRef>
          <a:effectRef idx="1">
            <a:schemeClr val="dk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b="1" dirty="0">
              <a:solidFill>
                <a:schemeClr val="accent3">
                  <a:lumMod val="75000"/>
                </a:schemeClr>
              </a:solidFill>
              <a:latin typeface="MeiryoKe_PGothic" pitchFamily="50" charset="-128"/>
              <a:ea typeface="MeiryoKe_PGothic" pitchFamily="50" charset="-128"/>
            </a:endParaRPr>
          </a:p>
        </p:txBody>
      </p:sp>
      <p:sp>
        <p:nvSpPr>
          <p:cNvPr id="6" name="Freeform 10">
            <a:extLst>
              <a:ext uri="{FF2B5EF4-FFF2-40B4-BE49-F238E27FC236}">
                <a16:creationId xmlns:a16="http://schemas.microsoft.com/office/drawing/2014/main" id="{A3D3728E-9687-4E04-81DF-53C4628C391A}"/>
              </a:ext>
            </a:extLst>
          </p:cNvPr>
          <p:cNvSpPr>
            <a:spLocks/>
          </p:cNvSpPr>
          <p:nvPr/>
        </p:nvSpPr>
        <p:spPr bwMode="auto">
          <a:xfrm rot="16200000" flipV="1">
            <a:off x="3844335" y="2167399"/>
            <a:ext cx="1980022"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triangle" w="lg" len="lg"/>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a:latin typeface="Arial Narrow" pitchFamily="34" charset="0"/>
              <a:cs typeface="Times New Roman" pitchFamily="18" charset="0"/>
            </a:endParaRPr>
          </a:p>
        </p:txBody>
      </p:sp>
      <mc:AlternateContent xmlns:mc="http://schemas.openxmlformats.org/markup-compatibility/2006">
        <mc:Choice xmlns:a14="http://schemas.microsoft.com/office/drawing/2010/main" Requires="a14">
          <p:sp>
            <p:nvSpPr>
              <p:cNvPr id="8" name="Rectangle 195">
                <a:extLst>
                  <a:ext uri="{FF2B5EF4-FFF2-40B4-BE49-F238E27FC236}">
                    <a16:creationId xmlns:a16="http://schemas.microsoft.com/office/drawing/2014/main" id="{779E7484-C769-45E0-AF06-EF48C66DD89C}"/>
                  </a:ext>
                </a:extLst>
              </p:cNvPr>
              <p:cNvSpPr>
                <a:spLocks noChangeArrowheads="1"/>
              </p:cNvSpPr>
              <p:nvPr/>
            </p:nvSpPr>
            <p:spPr bwMode="auto">
              <a:xfrm>
                <a:off x="5375992" y="3519002"/>
                <a:ext cx="2070023" cy="360363"/>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14:m>
                  <m:oMath xmlns:m="http://schemas.openxmlformats.org/officeDocument/2006/math">
                    <m:sSub>
                      <m:sSubPr>
                        <m:ctrlPr>
                          <a:rPr lang="en-US" altLang="ja-JP" b="1" i="1" dirty="0">
                            <a:solidFill>
                              <a:schemeClr val="accent5"/>
                            </a:solidFill>
                            <a:latin typeface="Cambria Math" panose="02040503050406030204" pitchFamily="18" charset="0"/>
                            <a:ea typeface="MeiryoKe_PGothic" pitchFamily="50" charset="-128"/>
                          </a:rPr>
                        </m:ctrlPr>
                      </m:sSubPr>
                      <m:e>
                        <m:r>
                          <a:rPr lang="en-US" altLang="ja-JP" b="1" i="1" dirty="0">
                            <a:solidFill>
                              <a:schemeClr val="accent5"/>
                            </a:solidFill>
                            <a:latin typeface="Cambria Math" panose="02040503050406030204" pitchFamily="18" charset="0"/>
                            <a:ea typeface="MeiryoKe_PGothic" pitchFamily="50" charset="-128"/>
                          </a:rPr>
                          <m:t>𝒘</m:t>
                        </m:r>
                      </m:e>
                      <m:sub>
                        <m:r>
                          <a:rPr lang="en-US" altLang="ja-JP" b="1" i="1" dirty="0">
                            <a:solidFill>
                              <a:schemeClr val="accent5"/>
                            </a:solidFill>
                            <a:latin typeface="Cambria Math" panose="02040503050406030204" pitchFamily="18" charset="0"/>
                            <a:ea typeface="MeiryoKe_PGothic" pitchFamily="50" charset="-128"/>
                          </a:rPr>
                          <m:t>𝟎</m:t>
                        </m:r>
                      </m:sub>
                    </m:sSub>
                  </m:oMath>
                </a14:m>
                <a:r>
                  <a:rPr lang="en-US" altLang="ja-JP" b="1" dirty="0">
                    <a:solidFill>
                      <a:schemeClr val="accent5"/>
                    </a:solidFill>
                    <a:latin typeface="MeiryoKe_PGothic" pitchFamily="50" charset="-128"/>
                    <a:ea typeface="MeiryoKe_PGothic" pitchFamily="50" charset="-128"/>
                  </a:rPr>
                  <a:t>, </a:t>
                </a:r>
                <a14:m>
                  <m:oMath xmlns:m="http://schemas.openxmlformats.org/officeDocument/2006/math">
                    <m:sSub>
                      <m:sSubPr>
                        <m:ctrlPr>
                          <a:rPr lang="en-US" altLang="ja-JP" b="1" i="1" dirty="0">
                            <a:solidFill>
                              <a:schemeClr val="accent5"/>
                            </a:solidFill>
                            <a:latin typeface="Cambria Math" panose="02040503050406030204" pitchFamily="18" charset="0"/>
                            <a:ea typeface="MeiryoKe_PGothic" pitchFamily="50" charset="-128"/>
                          </a:rPr>
                        </m:ctrlPr>
                      </m:sSubPr>
                      <m:e>
                        <m:r>
                          <a:rPr lang="en-US" altLang="ja-JP" b="1" i="1" dirty="0">
                            <a:solidFill>
                              <a:schemeClr val="accent5"/>
                            </a:solidFill>
                            <a:latin typeface="Cambria Math" panose="02040503050406030204" pitchFamily="18" charset="0"/>
                            <a:ea typeface="MeiryoKe_PGothic" pitchFamily="50" charset="-128"/>
                          </a:rPr>
                          <m:t>𝒘</m:t>
                        </m:r>
                      </m:e>
                      <m:sub>
                        <m:r>
                          <a:rPr lang="en-US" altLang="ja-JP" b="1" i="1" dirty="0">
                            <a:solidFill>
                              <a:schemeClr val="accent5"/>
                            </a:solidFill>
                            <a:latin typeface="Cambria Math" panose="02040503050406030204" pitchFamily="18" charset="0"/>
                            <a:ea typeface="MeiryoKe_PGothic" pitchFamily="50" charset="-128"/>
                          </a:rPr>
                          <m:t>𝟏</m:t>
                        </m:r>
                      </m:sub>
                    </m:sSub>
                  </m:oMath>
                </a14:m>
                <a:r>
                  <a:rPr lang="en-US" altLang="ja-JP" b="1" dirty="0">
                    <a:solidFill>
                      <a:schemeClr val="accent5"/>
                    </a:solidFill>
                    <a:latin typeface="MeiryoKe_PGothic" pitchFamily="50" charset="-128"/>
                    <a:ea typeface="MeiryoKe_PGothic" pitchFamily="50" charset="-128"/>
                  </a:rPr>
                  <a:t>, … </a:t>
                </a:r>
                <a14:m>
                  <m:oMath xmlns:m="http://schemas.openxmlformats.org/officeDocument/2006/math">
                    <m:sSub>
                      <m:sSubPr>
                        <m:ctrlPr>
                          <a:rPr lang="en-US" altLang="ja-JP" b="1" i="1" dirty="0">
                            <a:solidFill>
                              <a:schemeClr val="accent5"/>
                            </a:solidFill>
                            <a:latin typeface="Cambria Math" panose="02040503050406030204" pitchFamily="18" charset="0"/>
                            <a:ea typeface="MeiryoKe_PGothic" pitchFamily="50" charset="-128"/>
                          </a:rPr>
                        </m:ctrlPr>
                      </m:sSubPr>
                      <m:e>
                        <m:r>
                          <a:rPr lang="en-US" altLang="ja-JP" b="1" i="1" dirty="0">
                            <a:solidFill>
                              <a:schemeClr val="accent5"/>
                            </a:solidFill>
                            <a:latin typeface="Cambria Math" panose="02040503050406030204" pitchFamily="18" charset="0"/>
                            <a:ea typeface="MeiryoKe_PGothic" pitchFamily="50" charset="-128"/>
                          </a:rPr>
                          <m:t>𝒘</m:t>
                        </m:r>
                      </m:e>
                      <m:sub>
                        <m:r>
                          <a:rPr lang="en-US" altLang="ja-JP" b="1" i="1" dirty="0">
                            <a:solidFill>
                              <a:schemeClr val="accent5"/>
                            </a:solidFill>
                            <a:latin typeface="Cambria Math" panose="02040503050406030204" pitchFamily="18" charset="0"/>
                            <a:ea typeface="MeiryoKe_PGothic" pitchFamily="50" charset="-128"/>
                          </a:rPr>
                          <m:t>𝒎</m:t>
                        </m:r>
                      </m:sub>
                    </m:sSub>
                  </m:oMath>
                </a14:m>
                <a:endParaRPr lang="ja-JP" altLang="en-US" b="1" dirty="0">
                  <a:solidFill>
                    <a:schemeClr val="accent5"/>
                  </a:solidFill>
                  <a:latin typeface="MeiryoKe_PGothic" pitchFamily="50" charset="-128"/>
                  <a:ea typeface="MeiryoKe_PGothic" pitchFamily="50" charset="-128"/>
                </a:endParaRPr>
              </a:p>
            </p:txBody>
          </p:sp>
        </mc:Choice>
        <mc:Fallback>
          <p:sp>
            <p:nvSpPr>
              <p:cNvPr id="8" name="Rectangle 195">
                <a:extLst>
                  <a:ext uri="{FF2B5EF4-FFF2-40B4-BE49-F238E27FC236}">
                    <a16:creationId xmlns:a16="http://schemas.microsoft.com/office/drawing/2014/main" id="{779E7484-C769-45E0-AF06-EF48C66DD89C}"/>
                  </a:ext>
                </a:extLst>
              </p:cNvPr>
              <p:cNvSpPr>
                <a:spLocks noRot="1" noChangeAspect="1" noMove="1" noResize="1" noEditPoints="1" noAdjustHandles="1" noChangeArrowheads="1" noChangeShapeType="1" noTextEdit="1"/>
              </p:cNvSpPr>
              <p:nvPr/>
            </p:nvSpPr>
            <p:spPr bwMode="auto">
              <a:xfrm>
                <a:off x="5375992" y="3519002"/>
                <a:ext cx="2070023" cy="360363"/>
              </a:xfrm>
              <a:prstGeom prst="rect">
                <a:avLst/>
              </a:prstGeom>
              <a:blipFill>
                <a:blip r:embed="rId3"/>
                <a:stretch>
                  <a:fillRect/>
                </a:stretch>
              </a:blipFill>
              <a:ln>
                <a:headEnd/>
                <a:tailEnd/>
              </a:ln>
            </p:spPr>
            <p:txBody>
              <a:bodyPr/>
              <a:lstStyle/>
              <a:p>
                <a:r>
                  <a:rPr lang="ja-JP" altLang="en-US">
                    <a:noFill/>
                  </a:rPr>
                  <a:t> </a:t>
                </a:r>
              </a:p>
            </p:txBody>
          </p:sp>
        </mc:Fallback>
      </mc:AlternateContent>
      <p:sp>
        <p:nvSpPr>
          <p:cNvPr id="9" name="正方形/長方形 8">
            <a:extLst>
              <a:ext uri="{FF2B5EF4-FFF2-40B4-BE49-F238E27FC236}">
                <a16:creationId xmlns:a16="http://schemas.microsoft.com/office/drawing/2014/main" id="{889D2356-867B-41AA-816F-3B65A426D870}"/>
              </a:ext>
            </a:extLst>
          </p:cNvPr>
          <p:cNvSpPr/>
          <p:nvPr/>
        </p:nvSpPr>
        <p:spPr bwMode="auto">
          <a:xfrm>
            <a:off x="5374353" y="1987397"/>
            <a:ext cx="2071662"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10" name="正方形/長方形 9">
            <a:extLst>
              <a:ext uri="{FF2B5EF4-FFF2-40B4-BE49-F238E27FC236}">
                <a16:creationId xmlns:a16="http://schemas.microsoft.com/office/drawing/2014/main" id="{1C8C9A5D-CE83-4314-8B0E-BEC59164C181}"/>
              </a:ext>
            </a:extLst>
          </p:cNvPr>
          <p:cNvSpPr/>
          <p:nvPr/>
        </p:nvSpPr>
        <p:spPr bwMode="auto">
          <a:xfrm>
            <a:off x="5374353" y="2347401"/>
            <a:ext cx="2071662"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11" name="正方形/長方形 10">
            <a:extLst>
              <a:ext uri="{FF2B5EF4-FFF2-40B4-BE49-F238E27FC236}">
                <a16:creationId xmlns:a16="http://schemas.microsoft.com/office/drawing/2014/main" id="{39CA72F5-2C7A-4A6F-9167-8DCE998769B9}"/>
              </a:ext>
            </a:extLst>
          </p:cNvPr>
          <p:cNvSpPr/>
          <p:nvPr/>
        </p:nvSpPr>
        <p:spPr bwMode="auto">
          <a:xfrm>
            <a:off x="5014350" y="1987397"/>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0</a:t>
            </a:r>
            <a:endParaRPr lang="ja-JP" altLang="en-US" sz="2000" dirty="0">
              <a:solidFill>
                <a:schemeClr val="tx1">
                  <a:lumMod val="75000"/>
                  <a:lumOff val="25000"/>
                </a:schemeClr>
              </a:solidFill>
              <a:latin typeface="Arial Narrow" panose="020B0606020202030204" pitchFamily="34" charset="0"/>
            </a:endParaRPr>
          </a:p>
        </p:txBody>
      </p:sp>
      <p:sp>
        <p:nvSpPr>
          <p:cNvPr id="12" name="正方形/長方形 11">
            <a:extLst>
              <a:ext uri="{FF2B5EF4-FFF2-40B4-BE49-F238E27FC236}">
                <a16:creationId xmlns:a16="http://schemas.microsoft.com/office/drawing/2014/main" id="{BDD4553E-EE8D-4B95-B8AA-876AA5550070}"/>
              </a:ext>
            </a:extLst>
          </p:cNvPr>
          <p:cNvSpPr/>
          <p:nvPr/>
        </p:nvSpPr>
        <p:spPr bwMode="auto">
          <a:xfrm>
            <a:off x="5014349" y="2347401"/>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1</a:t>
            </a:r>
            <a:endParaRPr lang="ja-JP" altLang="en-US" sz="2000" dirty="0">
              <a:solidFill>
                <a:schemeClr val="tx1">
                  <a:lumMod val="75000"/>
                  <a:lumOff val="25000"/>
                </a:schemeClr>
              </a:solidFill>
              <a:latin typeface="Arial Narrow" panose="020B0606020202030204" pitchFamily="34" charset="0"/>
            </a:endParaRPr>
          </a:p>
        </p:txBody>
      </p:sp>
      <p:sp>
        <p:nvSpPr>
          <p:cNvPr id="13" name="正方形/長方形 12">
            <a:extLst>
              <a:ext uri="{FF2B5EF4-FFF2-40B4-BE49-F238E27FC236}">
                <a16:creationId xmlns:a16="http://schemas.microsoft.com/office/drawing/2014/main" id="{D435DDEF-B504-444A-AE9A-7984D93E5B3B}"/>
              </a:ext>
            </a:extLst>
          </p:cNvPr>
          <p:cNvSpPr/>
          <p:nvPr/>
        </p:nvSpPr>
        <p:spPr bwMode="auto">
          <a:xfrm>
            <a:off x="5014349" y="2707405"/>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14" name="正方形/長方形 13">
            <a:extLst>
              <a:ext uri="{FF2B5EF4-FFF2-40B4-BE49-F238E27FC236}">
                <a16:creationId xmlns:a16="http://schemas.microsoft.com/office/drawing/2014/main" id="{809D921F-9405-4E23-BF27-D0567F492933}"/>
              </a:ext>
            </a:extLst>
          </p:cNvPr>
          <p:cNvSpPr/>
          <p:nvPr/>
        </p:nvSpPr>
        <p:spPr bwMode="auto">
          <a:xfrm>
            <a:off x="5735996" y="3879005"/>
            <a:ext cx="3477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15" name="Rectangle 133">
            <a:extLst>
              <a:ext uri="{FF2B5EF4-FFF2-40B4-BE49-F238E27FC236}">
                <a16:creationId xmlns:a16="http://schemas.microsoft.com/office/drawing/2014/main" id="{EEACD464-9929-42AF-8608-EED9E05BF317}"/>
              </a:ext>
            </a:extLst>
          </p:cNvPr>
          <p:cNvSpPr>
            <a:spLocks noChangeArrowheads="1"/>
          </p:cNvSpPr>
          <p:nvPr/>
        </p:nvSpPr>
        <p:spPr bwMode="auto">
          <a:xfrm>
            <a:off x="5915999" y="1628981"/>
            <a:ext cx="719803"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ja-JP" altLang="en-US" b="1" dirty="0">
                <a:solidFill>
                  <a:schemeClr val="accent5"/>
                </a:solidFill>
                <a:latin typeface="+mn-ea"/>
                <a:ea typeface="+mn-ea"/>
              </a:rPr>
              <a:t>重みの表</a:t>
            </a:r>
            <a:endParaRPr lang="en-US" altLang="ja-JP" b="1" dirty="0">
              <a:solidFill>
                <a:schemeClr val="accent5"/>
              </a:solidFill>
              <a:latin typeface="+mn-ea"/>
              <a:ea typeface="+mn-ea"/>
            </a:endParaRPr>
          </a:p>
        </p:txBody>
      </p:sp>
      <p:cxnSp>
        <p:nvCxnSpPr>
          <p:cNvPr id="16" name="直線コネクタ 15">
            <a:extLst>
              <a:ext uri="{FF2B5EF4-FFF2-40B4-BE49-F238E27FC236}">
                <a16:creationId xmlns:a16="http://schemas.microsoft.com/office/drawing/2014/main" id="{89AF69B8-CCE9-4462-80BB-DC54D3617230}"/>
              </a:ext>
            </a:extLst>
          </p:cNvPr>
          <p:cNvCxnSpPr/>
          <p:nvPr/>
        </p:nvCxnSpPr>
        <p:spPr bwMode="auto">
          <a:xfrm>
            <a:off x="3934490" y="1717394"/>
            <a:ext cx="720008"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17" name="正方形/長方形 16">
            <a:extLst>
              <a:ext uri="{FF2B5EF4-FFF2-40B4-BE49-F238E27FC236}">
                <a16:creationId xmlns:a16="http://schemas.microsoft.com/office/drawing/2014/main" id="{3195B1FE-9F4F-4702-8A58-EFACA85CCA65}"/>
              </a:ext>
            </a:extLst>
          </p:cNvPr>
          <p:cNvSpPr/>
          <p:nvPr/>
        </p:nvSpPr>
        <p:spPr bwMode="auto">
          <a:xfrm>
            <a:off x="5374353" y="4237422"/>
            <a:ext cx="2071662"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18" name="正方形/長方形 17">
            <a:extLst>
              <a:ext uri="{FF2B5EF4-FFF2-40B4-BE49-F238E27FC236}">
                <a16:creationId xmlns:a16="http://schemas.microsoft.com/office/drawing/2014/main" id="{0CF08608-6C67-4DFC-9A77-4BD2EF4FB919}"/>
              </a:ext>
            </a:extLst>
          </p:cNvPr>
          <p:cNvSpPr/>
          <p:nvPr/>
        </p:nvSpPr>
        <p:spPr bwMode="auto">
          <a:xfrm>
            <a:off x="5735996" y="2708992"/>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cxnSp>
        <p:nvCxnSpPr>
          <p:cNvPr id="19" name="直線矢印コネクタ 18">
            <a:extLst>
              <a:ext uri="{FF2B5EF4-FFF2-40B4-BE49-F238E27FC236}">
                <a16:creationId xmlns:a16="http://schemas.microsoft.com/office/drawing/2014/main" id="{D7442937-7050-426E-8E64-C46D2BB8F543}"/>
              </a:ext>
            </a:extLst>
          </p:cNvPr>
          <p:cNvCxnSpPr>
            <a:cxnSpLocks/>
          </p:cNvCxnSpPr>
          <p:nvPr/>
        </p:nvCxnSpPr>
        <p:spPr bwMode="auto">
          <a:xfrm>
            <a:off x="6366003" y="3879006"/>
            <a:ext cx="0" cy="1170013"/>
          </a:xfrm>
          <a:prstGeom prst="straightConnector1">
            <a:avLst/>
          </a:prstGeom>
          <a:ln>
            <a:headEnd type="none" w="sm" len="sm"/>
            <a:tailEnd type="triangle" w="lg" len="lg"/>
          </a:ln>
        </p:spPr>
        <p:style>
          <a:lnRef idx="2">
            <a:schemeClr val="accent5"/>
          </a:lnRef>
          <a:fillRef idx="0">
            <a:schemeClr val="accent5"/>
          </a:fillRef>
          <a:effectRef idx="1">
            <a:schemeClr val="accent5"/>
          </a:effectRef>
          <a:fontRef idx="minor">
            <a:schemeClr val="tx1"/>
          </a:fontRef>
        </p:style>
      </p:cxnSp>
      <p:sp>
        <p:nvSpPr>
          <p:cNvPr id="21" name="楕円 20">
            <a:extLst>
              <a:ext uri="{FF2B5EF4-FFF2-40B4-BE49-F238E27FC236}">
                <a16:creationId xmlns:a16="http://schemas.microsoft.com/office/drawing/2014/main" id="{B1749308-D151-4005-9160-4E42DFC0FA48}"/>
              </a:ext>
            </a:extLst>
          </p:cNvPr>
          <p:cNvSpPr/>
          <p:nvPr/>
        </p:nvSpPr>
        <p:spPr bwMode="auto">
          <a:xfrm>
            <a:off x="6096001" y="5049018"/>
            <a:ext cx="540006" cy="540006"/>
          </a:xfrm>
          <a:prstGeom prst="ellips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2400" dirty="0">
                <a:solidFill>
                  <a:schemeClr val="tx1">
                    <a:lumMod val="75000"/>
                    <a:lumOff val="25000"/>
                  </a:schemeClr>
                </a:solidFill>
                <a:latin typeface="+mn-ea"/>
              </a:rPr>
              <a:t>Σ</a:t>
            </a:r>
            <a:endParaRPr lang="ja-JP" altLang="en-US" sz="2400" dirty="0">
              <a:solidFill>
                <a:schemeClr val="tx1">
                  <a:lumMod val="75000"/>
                  <a:lumOff val="25000"/>
                </a:schemeClr>
              </a:solidFill>
              <a:latin typeface="+mn-ea"/>
            </a:endParaRPr>
          </a:p>
        </p:txBody>
      </p:sp>
      <mc:AlternateContent xmlns:mc="http://schemas.openxmlformats.org/markup-compatibility/2006">
        <mc:Choice xmlns:a14="http://schemas.microsoft.com/office/drawing/2010/main" Requires="a14">
          <p:sp>
            <p:nvSpPr>
              <p:cNvPr id="22" name="Rectangle 195">
                <a:extLst>
                  <a:ext uri="{FF2B5EF4-FFF2-40B4-BE49-F238E27FC236}">
                    <a16:creationId xmlns:a16="http://schemas.microsoft.com/office/drawing/2014/main" id="{28364BA4-8D52-4FB7-9D3E-63E2AE737758}"/>
                  </a:ext>
                </a:extLst>
              </p:cNvPr>
              <p:cNvSpPr>
                <a:spLocks noChangeArrowheads="1"/>
              </p:cNvSpPr>
              <p:nvPr/>
            </p:nvSpPr>
            <p:spPr bwMode="auto">
              <a:xfrm>
                <a:off x="3485972" y="5139020"/>
                <a:ext cx="2070023" cy="360363"/>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14:m>
                  <m:oMath xmlns:m="http://schemas.openxmlformats.org/officeDocument/2006/math">
                    <m:r>
                      <a:rPr lang="en-US" altLang="ja-JP" b="1" i="1" dirty="0">
                        <a:solidFill>
                          <a:schemeClr val="accent5"/>
                        </a:solidFill>
                        <a:latin typeface="Cambria Math" panose="02040503050406030204" pitchFamily="18" charset="0"/>
                        <a:ea typeface="MeiryoKe_PGothic" pitchFamily="50" charset="-128"/>
                      </a:rPr>
                      <m:t>𝟏</m:t>
                    </m:r>
                  </m:oMath>
                </a14:m>
                <a:r>
                  <a:rPr lang="en-US" altLang="ja-JP" b="1" dirty="0">
                    <a:solidFill>
                      <a:schemeClr val="accent5"/>
                    </a:solidFill>
                    <a:latin typeface="MeiryoKe_PGothic" pitchFamily="50" charset="-128"/>
                    <a:ea typeface="MeiryoKe_PGothic" pitchFamily="50" charset="-128"/>
                  </a:rPr>
                  <a:t>, </a:t>
                </a:r>
                <a14:m>
                  <m:oMath xmlns:m="http://schemas.openxmlformats.org/officeDocument/2006/math">
                    <m:sSub>
                      <m:sSubPr>
                        <m:ctrlPr>
                          <a:rPr lang="en-US" altLang="ja-JP" b="1" i="1" dirty="0">
                            <a:solidFill>
                              <a:schemeClr val="accent5"/>
                            </a:solidFill>
                            <a:latin typeface="Cambria Math" panose="02040503050406030204" pitchFamily="18" charset="0"/>
                            <a:ea typeface="MeiryoKe_PGothic" pitchFamily="50" charset="-128"/>
                          </a:rPr>
                        </m:ctrlPr>
                      </m:sSubPr>
                      <m:e>
                        <m:r>
                          <a:rPr lang="en-US" altLang="ja-JP" b="1" i="1" dirty="0">
                            <a:solidFill>
                              <a:schemeClr val="accent5"/>
                            </a:solidFill>
                            <a:latin typeface="Cambria Math" panose="02040503050406030204" pitchFamily="18" charset="0"/>
                            <a:ea typeface="MeiryoKe_PGothic" pitchFamily="50" charset="-128"/>
                          </a:rPr>
                          <m:t>𝒙</m:t>
                        </m:r>
                      </m:e>
                      <m:sub>
                        <m:r>
                          <a:rPr lang="en-US" altLang="ja-JP" b="1" i="1" dirty="0">
                            <a:solidFill>
                              <a:schemeClr val="accent5"/>
                            </a:solidFill>
                            <a:latin typeface="Cambria Math" panose="02040503050406030204" pitchFamily="18" charset="0"/>
                            <a:ea typeface="MeiryoKe_PGothic" pitchFamily="50" charset="-128"/>
                          </a:rPr>
                          <m:t>𝟏</m:t>
                        </m:r>
                      </m:sub>
                    </m:sSub>
                  </m:oMath>
                </a14:m>
                <a:r>
                  <a:rPr lang="en-US" altLang="ja-JP" b="1" dirty="0">
                    <a:solidFill>
                      <a:schemeClr val="accent5"/>
                    </a:solidFill>
                    <a:latin typeface="MeiryoKe_PGothic" pitchFamily="50" charset="-128"/>
                    <a:ea typeface="MeiryoKe_PGothic" pitchFamily="50" charset="-128"/>
                  </a:rPr>
                  <a:t>, … </a:t>
                </a:r>
                <a14:m>
                  <m:oMath xmlns:m="http://schemas.openxmlformats.org/officeDocument/2006/math">
                    <m:sSub>
                      <m:sSubPr>
                        <m:ctrlPr>
                          <a:rPr lang="en-US" altLang="ja-JP" b="1" i="1" dirty="0">
                            <a:solidFill>
                              <a:schemeClr val="accent5"/>
                            </a:solidFill>
                            <a:latin typeface="Cambria Math" panose="02040503050406030204" pitchFamily="18" charset="0"/>
                            <a:ea typeface="MeiryoKe_PGothic" pitchFamily="50" charset="-128"/>
                          </a:rPr>
                        </m:ctrlPr>
                      </m:sSubPr>
                      <m:e>
                        <m:r>
                          <a:rPr lang="en-US" altLang="ja-JP" b="1" i="1" dirty="0">
                            <a:solidFill>
                              <a:schemeClr val="accent5"/>
                            </a:solidFill>
                            <a:latin typeface="Cambria Math" panose="02040503050406030204" pitchFamily="18" charset="0"/>
                            <a:ea typeface="MeiryoKe_PGothic" pitchFamily="50" charset="-128"/>
                          </a:rPr>
                          <m:t>𝒙</m:t>
                        </m:r>
                      </m:e>
                      <m:sub>
                        <m:r>
                          <a:rPr lang="en-US" altLang="ja-JP" b="1" i="1" dirty="0">
                            <a:solidFill>
                              <a:schemeClr val="accent5"/>
                            </a:solidFill>
                            <a:latin typeface="Cambria Math" panose="02040503050406030204" pitchFamily="18" charset="0"/>
                            <a:ea typeface="MeiryoKe_PGothic" pitchFamily="50" charset="-128"/>
                          </a:rPr>
                          <m:t>𝒎</m:t>
                        </m:r>
                      </m:sub>
                    </m:sSub>
                  </m:oMath>
                </a14:m>
                <a:endParaRPr lang="ja-JP" altLang="en-US" b="1" dirty="0">
                  <a:solidFill>
                    <a:schemeClr val="accent5"/>
                  </a:solidFill>
                  <a:latin typeface="MeiryoKe_PGothic" pitchFamily="50" charset="-128"/>
                  <a:ea typeface="MeiryoKe_PGothic" pitchFamily="50" charset="-128"/>
                </a:endParaRPr>
              </a:p>
            </p:txBody>
          </p:sp>
        </mc:Choice>
        <mc:Fallback>
          <p:sp>
            <p:nvSpPr>
              <p:cNvPr id="22" name="Rectangle 195">
                <a:extLst>
                  <a:ext uri="{FF2B5EF4-FFF2-40B4-BE49-F238E27FC236}">
                    <a16:creationId xmlns:a16="http://schemas.microsoft.com/office/drawing/2014/main" id="{28364BA4-8D52-4FB7-9D3E-63E2AE737758}"/>
                  </a:ext>
                </a:extLst>
              </p:cNvPr>
              <p:cNvSpPr>
                <a:spLocks noRot="1" noChangeAspect="1" noMove="1" noResize="1" noEditPoints="1" noAdjustHandles="1" noChangeArrowheads="1" noChangeShapeType="1" noTextEdit="1"/>
              </p:cNvSpPr>
              <p:nvPr/>
            </p:nvSpPr>
            <p:spPr bwMode="auto">
              <a:xfrm>
                <a:off x="3485972" y="5139020"/>
                <a:ext cx="2070023" cy="360363"/>
              </a:xfrm>
              <a:prstGeom prst="rect">
                <a:avLst/>
              </a:prstGeom>
              <a:blipFill>
                <a:blip r:embed="rId4"/>
                <a:stretch>
                  <a:fillRect/>
                </a:stretch>
              </a:blipFill>
              <a:ln>
                <a:headEnd/>
                <a:tailEnd/>
              </a:ln>
            </p:spPr>
            <p:txBody>
              <a:bodyPr/>
              <a:lstStyle/>
              <a:p>
                <a:r>
                  <a:rPr lang="ja-JP" altLang="en-US">
                    <a:noFill/>
                  </a:rPr>
                  <a:t> </a:t>
                </a:r>
              </a:p>
            </p:txBody>
          </p:sp>
        </mc:Fallback>
      </mc:AlternateContent>
      <p:cxnSp>
        <p:nvCxnSpPr>
          <p:cNvPr id="23" name="直線矢印コネクタ 22">
            <a:extLst>
              <a:ext uri="{FF2B5EF4-FFF2-40B4-BE49-F238E27FC236}">
                <a16:creationId xmlns:a16="http://schemas.microsoft.com/office/drawing/2014/main" id="{7F5236E7-5D47-4169-9579-44B99F690291}"/>
              </a:ext>
            </a:extLst>
          </p:cNvPr>
          <p:cNvCxnSpPr>
            <a:cxnSpLocks/>
            <a:stCxn id="22" idx="3"/>
            <a:endCxn id="21" idx="2"/>
          </p:cNvCxnSpPr>
          <p:nvPr/>
        </p:nvCxnSpPr>
        <p:spPr bwMode="auto">
          <a:xfrm flipV="1">
            <a:off x="5555995" y="5319021"/>
            <a:ext cx="540007" cy="180"/>
          </a:xfrm>
          <a:prstGeom prst="straightConnector1">
            <a:avLst/>
          </a:prstGeom>
          <a:ln>
            <a:headEnd type="none" w="sm" len="sm"/>
            <a:tailEnd type="triangle" w="lg" len="lg"/>
          </a:ln>
        </p:spPr>
        <p:style>
          <a:lnRef idx="2">
            <a:schemeClr val="accent5"/>
          </a:lnRef>
          <a:fillRef idx="0">
            <a:schemeClr val="accent5"/>
          </a:fillRef>
          <a:effectRef idx="1">
            <a:schemeClr val="accent5"/>
          </a:effectRef>
          <a:fontRef idx="minor">
            <a:schemeClr val="tx1"/>
          </a:fontRef>
        </p:style>
      </p:cxnSp>
      <p:cxnSp>
        <p:nvCxnSpPr>
          <p:cNvPr id="26" name="直線矢印コネクタ 25">
            <a:extLst>
              <a:ext uri="{FF2B5EF4-FFF2-40B4-BE49-F238E27FC236}">
                <a16:creationId xmlns:a16="http://schemas.microsoft.com/office/drawing/2014/main" id="{C38AF409-99D2-4DDA-8826-CF1770100714}"/>
              </a:ext>
            </a:extLst>
          </p:cNvPr>
          <p:cNvCxnSpPr>
            <a:cxnSpLocks/>
          </p:cNvCxnSpPr>
          <p:nvPr/>
        </p:nvCxnSpPr>
        <p:spPr bwMode="auto">
          <a:xfrm flipV="1">
            <a:off x="6636007" y="5319021"/>
            <a:ext cx="540007" cy="180"/>
          </a:xfrm>
          <a:prstGeom prst="straightConnector1">
            <a:avLst/>
          </a:prstGeom>
          <a:ln>
            <a:headEnd type="none" w="sm" len="sm"/>
            <a:tailEnd type="triangle" w="lg" len="lg"/>
          </a:ln>
        </p:spPr>
        <p:style>
          <a:lnRef idx="2">
            <a:schemeClr val="accent5"/>
          </a:lnRef>
          <a:fillRef idx="0">
            <a:schemeClr val="accent5"/>
          </a:fillRef>
          <a:effectRef idx="1">
            <a:schemeClr val="accent5"/>
          </a:effectRef>
          <a:fontRef idx="minor">
            <a:schemeClr val="tx1"/>
          </a:fontRef>
        </p:style>
      </p:cxnSp>
    </p:spTree>
    <p:extLst>
      <p:ext uri="{BB962C8B-B14F-4D97-AF65-F5344CB8AC3E}">
        <p14:creationId xmlns:p14="http://schemas.microsoft.com/office/powerpoint/2010/main" val="4851899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7275661-13C3-45B3-A3BE-697A145E8695}"/>
              </a:ext>
            </a:extLst>
          </p:cNvPr>
          <p:cNvSpPr>
            <a:spLocks noGrp="1"/>
          </p:cNvSpPr>
          <p:nvPr>
            <p:ph type="title"/>
          </p:nvPr>
        </p:nvSpPr>
        <p:spPr/>
        <p:txBody>
          <a:bodyPr/>
          <a:lstStyle/>
          <a:p>
            <a:r>
              <a:rPr lang="ja-JP" altLang="en-US" dirty="0"/>
              <a:t>実際の学習の様子</a:t>
            </a:r>
            <a:endParaRPr lang="en-US" altLang="ja-JP" dirty="0"/>
          </a:p>
        </p:txBody>
      </p:sp>
      <mc:AlternateContent xmlns:mc="http://schemas.openxmlformats.org/markup-compatibility/2006">
        <mc:Choice xmlns:a14="http://schemas.microsoft.com/office/drawing/2010/main" Requires="a14">
          <p:sp>
            <p:nvSpPr>
              <p:cNvPr id="3" name="テキスト プレースホルダー 2">
                <a:extLst>
                  <a:ext uri="{FF2B5EF4-FFF2-40B4-BE49-F238E27FC236}">
                    <a16:creationId xmlns:a16="http://schemas.microsoft.com/office/drawing/2014/main" id="{947B04F6-02DA-4D12-B9EE-34FEBE259E71}"/>
                  </a:ext>
                </a:extLst>
              </p:cNvPr>
              <p:cNvSpPr>
                <a:spLocks noGrp="1"/>
              </p:cNvSpPr>
              <p:nvPr>
                <p:ph type="body" sz="quarter" idx="10"/>
              </p:nvPr>
            </p:nvSpPr>
            <p:spPr>
              <a:xfrm>
                <a:off x="1955954" y="3879005"/>
                <a:ext cx="8280092" cy="2339719"/>
              </a:xfrm>
            </p:spPr>
            <p:txBody>
              <a:bodyPr/>
              <a:lstStyle/>
              <a:p>
                <a14:m>
                  <m:oMath xmlns:m="http://schemas.openxmlformats.org/officeDocument/2006/math">
                    <m:sSub>
                      <m:sSubPr>
                        <m:ctrlPr>
                          <a:rPr lang="en-US" altLang="ja-JP" b="1" i="1" dirty="0" smtClean="0">
                            <a:solidFill>
                              <a:schemeClr val="tx1">
                                <a:lumMod val="75000"/>
                                <a:lumOff val="25000"/>
                              </a:schemeClr>
                            </a:solidFill>
                            <a:latin typeface="Cambria Math" panose="02040503050406030204" pitchFamily="18" charset="0"/>
                          </a:rPr>
                        </m:ctrlPr>
                      </m:sSubPr>
                      <m:e>
                        <m:r>
                          <a:rPr lang="en-US" altLang="ja-JP" b="1" i="1" dirty="0">
                            <a:solidFill>
                              <a:schemeClr val="tx1">
                                <a:lumMod val="75000"/>
                                <a:lumOff val="25000"/>
                              </a:schemeClr>
                            </a:solidFill>
                            <a:latin typeface="Cambria Math" panose="02040503050406030204" pitchFamily="18" charset="0"/>
                          </a:rPr>
                          <m:t>𝒙</m:t>
                        </m:r>
                      </m:e>
                      <m:sub>
                        <m:r>
                          <a:rPr lang="en-US" altLang="ja-JP" b="1" i="1" dirty="0" smtClean="0">
                            <a:solidFill>
                              <a:schemeClr val="tx1">
                                <a:lumMod val="75000"/>
                                <a:lumOff val="25000"/>
                              </a:schemeClr>
                            </a:solidFill>
                            <a:latin typeface="Cambria Math" panose="02040503050406030204" pitchFamily="18" charset="0"/>
                          </a:rPr>
                          <m:t>𝟒</m:t>
                        </m:r>
                      </m:sub>
                    </m:sSub>
                  </m:oMath>
                </a14:m>
                <a:r>
                  <a:rPr kumimoji="1" lang="ja-JP" altLang="en-US" dirty="0">
                    <a:solidFill>
                      <a:schemeClr val="tx1">
                        <a:lumMod val="75000"/>
                        <a:lumOff val="25000"/>
                      </a:schemeClr>
                    </a:solidFill>
                  </a:rPr>
                  <a:t> の方向を予測する</a:t>
                </a:r>
                <a:endParaRPr kumimoji="1" lang="en-US" altLang="ja-JP" dirty="0">
                  <a:solidFill>
                    <a:schemeClr val="tx1">
                      <a:lumMod val="75000"/>
                      <a:lumOff val="25000"/>
                    </a:schemeClr>
                  </a:solidFill>
                </a:endParaRPr>
              </a:p>
              <a:p>
                <a:pPr lvl="1"/>
                <a14:m>
                  <m:oMath xmlns:m="http://schemas.openxmlformats.org/officeDocument/2006/math">
                    <m:sSub>
                      <m:sSubPr>
                        <m:ctrlPr>
                          <a:rPr lang="en-US" altLang="ja-JP" b="1" i="1" dirty="0">
                            <a:latin typeface="Cambria Math" panose="02040503050406030204" pitchFamily="18" charset="0"/>
                          </a:rPr>
                        </m:ctrlPr>
                      </m:sSubPr>
                      <m:e>
                        <m:r>
                          <a:rPr lang="en-US" altLang="ja-JP" b="1" i="1" dirty="0">
                            <a:latin typeface="Cambria Math" panose="02040503050406030204" pitchFamily="18" charset="0"/>
                          </a:rPr>
                          <m:t>𝒙</m:t>
                        </m:r>
                      </m:e>
                      <m:sub>
                        <m:r>
                          <a:rPr lang="en-US" altLang="ja-JP" b="1" i="1" dirty="0">
                            <a:latin typeface="Cambria Math" panose="02040503050406030204" pitchFamily="18" charset="0"/>
                          </a:rPr>
                          <m:t>𝟒</m:t>
                        </m:r>
                      </m:sub>
                    </m:sSub>
                  </m:oMath>
                </a14:m>
                <a:r>
                  <a:rPr kumimoji="1" lang="ja-JP" altLang="en-US" dirty="0">
                    <a:solidFill>
                      <a:schemeClr val="tx1">
                        <a:lumMod val="75000"/>
                        <a:lumOff val="25000"/>
                      </a:schemeClr>
                    </a:solidFill>
                  </a:rPr>
                  <a:t> は </a:t>
                </a:r>
                <a14:m>
                  <m:oMath xmlns:m="http://schemas.openxmlformats.org/officeDocument/2006/math">
                    <m:sSub>
                      <m:sSubPr>
                        <m:ctrlPr>
                          <a:rPr lang="en-US" altLang="ja-JP" b="1" i="1" dirty="0">
                            <a:latin typeface="Cambria Math" panose="02040503050406030204" pitchFamily="18" charset="0"/>
                          </a:rPr>
                        </m:ctrlPr>
                      </m:sSubPr>
                      <m:e>
                        <m:r>
                          <a:rPr lang="en-US" altLang="ja-JP" b="1" i="1" dirty="0">
                            <a:latin typeface="Cambria Math" panose="02040503050406030204" pitchFamily="18" charset="0"/>
                          </a:rPr>
                          <m:t>𝒙</m:t>
                        </m:r>
                      </m:e>
                      <m:sub>
                        <m:r>
                          <a:rPr lang="en-US" altLang="ja-JP" b="1" i="1" dirty="0">
                            <a:latin typeface="Cambria Math" panose="02040503050406030204" pitchFamily="18" charset="0"/>
                          </a:rPr>
                          <m:t>2</m:t>
                        </m:r>
                      </m:sub>
                    </m:sSub>
                  </m:oMath>
                </a14:m>
                <a:r>
                  <a:rPr lang="ja-JP" altLang="en-US" dirty="0"/>
                  <a:t> </a:t>
                </a:r>
                <a14:m>
                  <m:oMath xmlns:m="http://schemas.openxmlformats.org/officeDocument/2006/math">
                    <m:sSub>
                      <m:sSubPr>
                        <m:ctrlPr>
                          <a:rPr lang="en-US" altLang="ja-JP" b="1" i="1" dirty="0">
                            <a:latin typeface="Cambria Math" panose="02040503050406030204" pitchFamily="18" charset="0"/>
                          </a:rPr>
                        </m:ctrlPr>
                      </m:sSubPr>
                      <m:e>
                        <m:r>
                          <a:rPr lang="en-US" altLang="ja-JP" b="1" i="1" dirty="0">
                            <a:latin typeface="Cambria Math" panose="02040503050406030204" pitchFamily="18" charset="0"/>
                          </a:rPr>
                          <m:t>𝒙</m:t>
                        </m:r>
                      </m:e>
                      <m:sub>
                        <m:r>
                          <a:rPr lang="en-US" altLang="ja-JP" b="1" i="1" dirty="0" smtClean="0">
                            <a:latin typeface="Cambria Math" panose="02040503050406030204" pitchFamily="18" charset="0"/>
                          </a:rPr>
                          <m:t>𝟑</m:t>
                        </m:r>
                      </m:sub>
                    </m:sSub>
                  </m:oMath>
                </a14:m>
                <a:r>
                  <a:rPr lang="ja-JP" altLang="en-US" dirty="0"/>
                  <a:t> の方向とは関係なく，</a:t>
                </a:r>
                <a14:m>
                  <m:oMath xmlns:m="http://schemas.openxmlformats.org/officeDocument/2006/math">
                    <m:sSub>
                      <m:sSubPr>
                        <m:ctrlPr>
                          <a:rPr lang="en-US" altLang="ja-JP" b="1" i="1" dirty="0">
                            <a:latin typeface="Cambria Math" panose="02040503050406030204" pitchFamily="18" charset="0"/>
                          </a:rPr>
                        </m:ctrlPr>
                      </m:sSubPr>
                      <m:e>
                        <m:r>
                          <a:rPr lang="en-US" altLang="ja-JP" b="1" i="1" dirty="0">
                            <a:latin typeface="Cambria Math" panose="02040503050406030204" pitchFamily="18" charset="0"/>
                          </a:rPr>
                          <m:t>𝒙</m:t>
                        </m:r>
                      </m:e>
                      <m:sub>
                        <m:r>
                          <a:rPr lang="en-US" altLang="ja-JP" b="1" i="1" dirty="0" smtClean="0">
                            <a:latin typeface="Cambria Math" panose="02040503050406030204" pitchFamily="18" charset="0"/>
                          </a:rPr>
                          <m:t>𝟏</m:t>
                        </m:r>
                      </m:sub>
                    </m:sSub>
                  </m:oMath>
                </a14:m>
                <a:r>
                  <a:rPr kumimoji="1" lang="ja-JP" altLang="en-US" dirty="0">
                    <a:solidFill>
                      <a:schemeClr val="tx1">
                        <a:lumMod val="75000"/>
                        <a:lumOff val="25000"/>
                      </a:schemeClr>
                    </a:solidFill>
                  </a:rPr>
                  <a:t> の方向のみと相関する場合を考える</a:t>
                </a:r>
                <a:endParaRPr kumimoji="1" lang="en-US" altLang="ja-JP" dirty="0">
                  <a:solidFill>
                    <a:schemeClr val="tx1">
                      <a:lumMod val="75000"/>
                      <a:lumOff val="25000"/>
                    </a:schemeClr>
                  </a:solidFill>
                </a:endParaRPr>
              </a:p>
              <a:p>
                <a:pPr lvl="1"/>
                <a14:m>
                  <m:oMath xmlns:m="http://schemas.openxmlformats.org/officeDocument/2006/math">
                    <m:sSub>
                      <m:sSubPr>
                        <m:ctrlPr>
                          <a:rPr lang="en-US" altLang="ja-JP" b="1" i="1" dirty="0">
                            <a:latin typeface="Cambria Math" panose="02040503050406030204" pitchFamily="18" charset="0"/>
                          </a:rPr>
                        </m:ctrlPr>
                      </m:sSubPr>
                      <m:e>
                        <m:r>
                          <a:rPr lang="en-US" altLang="ja-JP" b="1" i="1" dirty="0">
                            <a:latin typeface="Cambria Math" panose="02040503050406030204" pitchFamily="18" charset="0"/>
                          </a:rPr>
                          <m:t>𝒙</m:t>
                        </m:r>
                      </m:e>
                      <m:sub>
                        <m:r>
                          <a:rPr lang="en-US" altLang="ja-JP" b="1" i="1" dirty="0" smtClean="0">
                            <a:latin typeface="Cambria Math" panose="02040503050406030204" pitchFamily="18" charset="0"/>
                          </a:rPr>
                          <m:t>𝟏</m:t>
                        </m:r>
                      </m:sub>
                    </m:sSub>
                  </m:oMath>
                </a14:m>
                <a:r>
                  <a:rPr kumimoji="1" lang="ja-JP" altLang="en-US" dirty="0">
                    <a:solidFill>
                      <a:schemeClr val="tx1">
                        <a:lumMod val="75000"/>
                        <a:lumOff val="25000"/>
                      </a:schemeClr>
                    </a:solidFill>
                  </a:rPr>
                  <a:t> に対応する </a:t>
                </a:r>
                <a14:m>
                  <m:oMath xmlns:m="http://schemas.openxmlformats.org/officeDocument/2006/math">
                    <m:sSub>
                      <m:sSubPr>
                        <m:ctrlPr>
                          <a:rPr kumimoji="1" lang="en-US" altLang="ja-JP" b="1" i="1" dirty="0" smtClean="0">
                            <a:solidFill>
                              <a:schemeClr val="tx1">
                                <a:lumMod val="75000"/>
                                <a:lumOff val="25000"/>
                              </a:schemeClr>
                            </a:solidFill>
                            <a:latin typeface="Cambria Math" panose="02040503050406030204" pitchFamily="18" charset="0"/>
                          </a:rPr>
                        </m:ctrlPr>
                      </m:sSubPr>
                      <m:e>
                        <m:r>
                          <a:rPr kumimoji="1" lang="en-US" altLang="ja-JP" b="1" i="1" dirty="0" smtClean="0">
                            <a:solidFill>
                              <a:schemeClr val="tx1">
                                <a:lumMod val="75000"/>
                                <a:lumOff val="25000"/>
                              </a:schemeClr>
                            </a:solidFill>
                            <a:latin typeface="Cambria Math" panose="02040503050406030204" pitchFamily="18" charset="0"/>
                          </a:rPr>
                          <m:t>𝒘</m:t>
                        </m:r>
                      </m:e>
                      <m:sub>
                        <m:r>
                          <a:rPr kumimoji="1" lang="en-US" altLang="ja-JP" b="1" i="1" dirty="0" smtClean="0">
                            <a:solidFill>
                              <a:schemeClr val="tx1">
                                <a:lumMod val="75000"/>
                                <a:lumOff val="25000"/>
                              </a:schemeClr>
                            </a:solidFill>
                            <a:latin typeface="Cambria Math" panose="02040503050406030204" pitchFamily="18" charset="0"/>
                          </a:rPr>
                          <m:t>𝟏</m:t>
                        </m:r>
                      </m:sub>
                    </m:sSub>
                  </m:oMath>
                </a14:m>
                <a:r>
                  <a:rPr kumimoji="1" lang="ja-JP" altLang="en-US" b="1" dirty="0">
                    <a:solidFill>
                      <a:schemeClr val="tx1">
                        <a:lumMod val="75000"/>
                        <a:lumOff val="25000"/>
                      </a:schemeClr>
                    </a:solidFill>
                  </a:rPr>
                  <a:t> </a:t>
                </a:r>
                <a:r>
                  <a:rPr kumimoji="1" lang="ja-JP" altLang="en-US" dirty="0">
                    <a:solidFill>
                      <a:schemeClr val="tx1">
                        <a:lumMod val="75000"/>
                        <a:lumOff val="25000"/>
                      </a:schemeClr>
                    </a:solidFill>
                  </a:rPr>
                  <a:t>の重みを大きく，それ以外の絶対値を小さくなるよう学習すればよい</a:t>
                </a:r>
                <a:endParaRPr kumimoji="1" lang="en-US" altLang="ja-JP" dirty="0">
                  <a:solidFill>
                    <a:schemeClr val="tx1">
                      <a:lumMod val="75000"/>
                      <a:lumOff val="25000"/>
                    </a:schemeClr>
                  </a:solidFill>
                </a:endParaRPr>
              </a:p>
              <a:p>
                <a:pPr lvl="2"/>
                <a:r>
                  <a:rPr kumimoji="1" lang="ja-JP" altLang="en-US" dirty="0">
                    <a:solidFill>
                      <a:schemeClr val="tx1">
                        <a:lumMod val="75000"/>
                        <a:lumOff val="25000"/>
                      </a:schemeClr>
                    </a:solidFill>
                  </a:rPr>
                  <a:t>分岐方向に応じて毎回重みを加算</a:t>
                </a:r>
                <a:r>
                  <a:rPr kumimoji="1" lang="en-US" altLang="ja-JP" dirty="0">
                    <a:solidFill>
                      <a:schemeClr val="tx1">
                        <a:lumMod val="75000"/>
                        <a:lumOff val="25000"/>
                      </a:schemeClr>
                    </a:solidFill>
                  </a:rPr>
                  <a:t>/</a:t>
                </a:r>
                <a:r>
                  <a:rPr lang="ja-JP" altLang="en-US" dirty="0"/>
                  <a:t>減算すれば，</a:t>
                </a:r>
                <a:br>
                  <a:rPr lang="en-US" altLang="ja-JP" dirty="0"/>
                </a:br>
                <a:r>
                  <a:rPr lang="ja-JP" altLang="en-US" dirty="0"/>
                  <a:t>成立に偏る場合は大きくなり，無相関な場合は０に近づく</a:t>
                </a:r>
                <a:endParaRPr lang="en-US" altLang="ja-JP" dirty="0"/>
              </a:p>
              <a:p>
                <a:pPr lvl="1"/>
                <a:r>
                  <a:rPr kumimoji="1" lang="ja-JP" altLang="en-US" dirty="0">
                    <a:solidFill>
                      <a:schemeClr val="tx1">
                        <a:lumMod val="75000"/>
                        <a:lumOff val="25000"/>
                      </a:schemeClr>
                    </a:solidFill>
                  </a:rPr>
                  <a:t>内積をとると，</a:t>
                </a:r>
                <a:r>
                  <a:rPr lang="en-US" altLang="ja-JP" b="1" dirty="0"/>
                  <a:t> </a:t>
                </a:r>
                <a14:m>
                  <m:oMath xmlns:m="http://schemas.openxmlformats.org/officeDocument/2006/math">
                    <m:sSub>
                      <m:sSubPr>
                        <m:ctrlPr>
                          <a:rPr lang="en-US" altLang="ja-JP" b="1" i="1" dirty="0">
                            <a:latin typeface="Cambria Math" panose="02040503050406030204" pitchFamily="18" charset="0"/>
                          </a:rPr>
                        </m:ctrlPr>
                      </m:sSubPr>
                      <m:e>
                        <m:r>
                          <a:rPr lang="en-US" altLang="ja-JP" b="1" i="1" dirty="0">
                            <a:latin typeface="Cambria Math" panose="02040503050406030204" pitchFamily="18" charset="0"/>
                          </a:rPr>
                          <m:t>𝒙</m:t>
                        </m:r>
                      </m:e>
                      <m:sub>
                        <m:r>
                          <a:rPr lang="en-US" altLang="ja-JP" b="1" i="1" dirty="0">
                            <a:latin typeface="Cambria Math" panose="02040503050406030204" pitchFamily="18" charset="0"/>
                          </a:rPr>
                          <m:t>𝟏</m:t>
                        </m:r>
                      </m:sub>
                    </m:sSub>
                  </m:oMath>
                </a14:m>
                <a:r>
                  <a:rPr lang="ja-JP" altLang="en-US" dirty="0"/>
                  <a:t> が </a:t>
                </a:r>
                <a:r>
                  <a:rPr lang="en-US" altLang="ja-JP" dirty="0"/>
                  <a:t>0 </a:t>
                </a:r>
                <a:r>
                  <a:rPr lang="ja-JP" altLang="en-US" dirty="0"/>
                  <a:t>か </a:t>
                </a:r>
                <a:r>
                  <a:rPr lang="en-US" altLang="ja-JP" dirty="0"/>
                  <a:t>1 </a:t>
                </a:r>
                <a:r>
                  <a:rPr lang="ja-JP" altLang="en-US" dirty="0"/>
                  <a:t>かにのみ応じて結果が変わる</a:t>
                </a:r>
              </a:p>
            </p:txBody>
          </p:sp>
        </mc:Choice>
        <mc:Fallback>
          <p:sp>
            <p:nvSpPr>
              <p:cNvPr id="3" name="テキスト プレースホルダー 2">
                <a:extLst>
                  <a:ext uri="{FF2B5EF4-FFF2-40B4-BE49-F238E27FC236}">
                    <a16:creationId xmlns:a16="http://schemas.microsoft.com/office/drawing/2014/main" id="{947B04F6-02DA-4D12-B9EE-34FEBE259E71}"/>
                  </a:ext>
                </a:extLst>
              </p:cNvPr>
              <p:cNvSpPr>
                <a:spLocks noGrp="1" noRot="1" noChangeAspect="1" noMove="1" noResize="1" noEditPoints="1" noAdjustHandles="1" noChangeArrowheads="1" noChangeShapeType="1" noTextEdit="1"/>
              </p:cNvSpPr>
              <p:nvPr>
                <p:ph type="body" sz="quarter" idx="10"/>
              </p:nvPr>
            </p:nvSpPr>
            <p:spPr>
              <a:xfrm>
                <a:off x="1955954" y="3879005"/>
                <a:ext cx="8280092" cy="2339719"/>
              </a:xfrm>
              <a:blipFill>
                <a:blip r:embed="rId2"/>
                <a:stretch>
                  <a:fillRect l="-663" t="-16406" b="-20833"/>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8" name="Rectangle 195">
                <a:extLst>
                  <a:ext uri="{FF2B5EF4-FFF2-40B4-BE49-F238E27FC236}">
                    <a16:creationId xmlns:a16="http://schemas.microsoft.com/office/drawing/2014/main" id="{779E7484-C769-45E0-AF06-EF48C66DD89C}"/>
                  </a:ext>
                </a:extLst>
              </p:cNvPr>
              <p:cNvSpPr>
                <a:spLocks noChangeArrowheads="1"/>
              </p:cNvSpPr>
              <p:nvPr/>
            </p:nvSpPr>
            <p:spPr bwMode="auto">
              <a:xfrm>
                <a:off x="5015987" y="1268977"/>
                <a:ext cx="2070023" cy="360363"/>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14:m>
                  <m:oMath xmlns:m="http://schemas.openxmlformats.org/officeDocument/2006/math">
                    <m:sSub>
                      <m:sSubPr>
                        <m:ctrlPr>
                          <a:rPr lang="en-US" altLang="ja-JP" b="1" i="1" dirty="0">
                            <a:solidFill>
                              <a:schemeClr val="accent5"/>
                            </a:solidFill>
                            <a:latin typeface="Cambria Math" panose="02040503050406030204" pitchFamily="18" charset="0"/>
                            <a:ea typeface="MeiryoKe_PGothic" pitchFamily="50" charset="-128"/>
                          </a:rPr>
                        </m:ctrlPr>
                      </m:sSubPr>
                      <m:e>
                        <m:r>
                          <a:rPr lang="en-US" altLang="ja-JP" b="1" i="1" dirty="0">
                            <a:solidFill>
                              <a:schemeClr val="accent5"/>
                            </a:solidFill>
                            <a:latin typeface="Cambria Math" panose="02040503050406030204" pitchFamily="18" charset="0"/>
                            <a:ea typeface="MeiryoKe_PGothic" pitchFamily="50" charset="-128"/>
                          </a:rPr>
                          <m:t>𝒘</m:t>
                        </m:r>
                      </m:e>
                      <m:sub>
                        <m:r>
                          <a:rPr lang="en-US" altLang="ja-JP" b="1" i="1" dirty="0">
                            <a:solidFill>
                              <a:schemeClr val="accent5"/>
                            </a:solidFill>
                            <a:latin typeface="Cambria Math" panose="02040503050406030204" pitchFamily="18" charset="0"/>
                            <a:ea typeface="MeiryoKe_PGothic" pitchFamily="50" charset="-128"/>
                          </a:rPr>
                          <m:t>𝟎</m:t>
                        </m:r>
                      </m:sub>
                    </m:sSub>
                  </m:oMath>
                </a14:m>
                <a:r>
                  <a:rPr lang="en-US" altLang="ja-JP" b="1" dirty="0">
                    <a:solidFill>
                      <a:schemeClr val="accent5"/>
                    </a:solidFill>
                    <a:latin typeface="MeiryoKe_PGothic" pitchFamily="50" charset="-128"/>
                    <a:ea typeface="MeiryoKe_PGothic" pitchFamily="50" charset="-128"/>
                  </a:rPr>
                  <a:t>=0, </a:t>
                </a:r>
                <a14:m>
                  <m:oMath xmlns:m="http://schemas.openxmlformats.org/officeDocument/2006/math">
                    <m:sSub>
                      <m:sSubPr>
                        <m:ctrlPr>
                          <a:rPr lang="en-US" altLang="ja-JP" b="1" i="1" dirty="0">
                            <a:solidFill>
                              <a:schemeClr val="accent5"/>
                            </a:solidFill>
                            <a:latin typeface="Cambria Math" panose="02040503050406030204" pitchFamily="18" charset="0"/>
                            <a:ea typeface="MeiryoKe_PGothic" pitchFamily="50" charset="-128"/>
                          </a:rPr>
                        </m:ctrlPr>
                      </m:sSubPr>
                      <m:e>
                        <m:r>
                          <a:rPr lang="en-US" altLang="ja-JP" b="1" i="1" dirty="0">
                            <a:solidFill>
                              <a:schemeClr val="accent5"/>
                            </a:solidFill>
                            <a:latin typeface="Cambria Math" panose="02040503050406030204" pitchFamily="18" charset="0"/>
                            <a:ea typeface="MeiryoKe_PGothic" pitchFamily="50" charset="-128"/>
                          </a:rPr>
                          <m:t>𝒘</m:t>
                        </m:r>
                      </m:e>
                      <m:sub>
                        <m:r>
                          <a:rPr lang="en-US" altLang="ja-JP" b="1" i="1" dirty="0">
                            <a:solidFill>
                              <a:schemeClr val="accent5"/>
                            </a:solidFill>
                            <a:latin typeface="Cambria Math" panose="02040503050406030204" pitchFamily="18" charset="0"/>
                            <a:ea typeface="MeiryoKe_PGothic" pitchFamily="50" charset="-128"/>
                          </a:rPr>
                          <m:t>𝟏</m:t>
                        </m:r>
                      </m:sub>
                    </m:sSub>
                  </m:oMath>
                </a14:m>
                <a:r>
                  <a:rPr lang="en-US" altLang="ja-JP" b="1" dirty="0">
                    <a:solidFill>
                      <a:schemeClr val="accent5"/>
                    </a:solidFill>
                    <a:latin typeface="MeiryoKe_PGothic" pitchFamily="50" charset="-128"/>
                    <a:ea typeface="MeiryoKe_PGothic" pitchFamily="50" charset="-128"/>
                  </a:rPr>
                  <a:t>=</a:t>
                </a:r>
                <a14:m>
                  <m:oMath xmlns:m="http://schemas.openxmlformats.org/officeDocument/2006/math">
                    <m:r>
                      <a:rPr lang="en-US" altLang="ja-JP" b="1" dirty="0">
                        <a:solidFill>
                          <a:schemeClr val="accent6"/>
                        </a:solidFill>
                        <a:latin typeface="Cambria Math" panose="02040503050406030204" pitchFamily="18" charset="0"/>
                        <a:ea typeface="MeiryoKe_PGothic" pitchFamily="50" charset="-128"/>
                      </a:rPr>
                      <m:t>𝟏𝟎</m:t>
                    </m:r>
                    <m:r>
                      <a:rPr lang="en-US" altLang="ja-JP" b="1" i="1" dirty="0">
                        <a:solidFill>
                          <a:schemeClr val="accent6"/>
                        </a:solidFill>
                        <a:latin typeface="Cambria Math" panose="02040503050406030204" pitchFamily="18" charset="0"/>
                        <a:ea typeface="MeiryoKe_PGothic" pitchFamily="50" charset="-128"/>
                      </a:rPr>
                      <m:t>𝟎</m:t>
                    </m:r>
                  </m:oMath>
                </a14:m>
                <a:r>
                  <a:rPr lang="en-US" altLang="ja-JP" b="1" dirty="0">
                    <a:solidFill>
                      <a:schemeClr val="accent5"/>
                    </a:solidFill>
                    <a:latin typeface="MeiryoKe_PGothic" pitchFamily="50" charset="-128"/>
                    <a:ea typeface="MeiryoKe_PGothic" pitchFamily="50" charset="-128"/>
                  </a:rPr>
                  <a:t>, </a:t>
                </a:r>
                <a14:m>
                  <m:oMath xmlns:m="http://schemas.openxmlformats.org/officeDocument/2006/math">
                    <m:sSub>
                      <m:sSubPr>
                        <m:ctrlPr>
                          <a:rPr lang="en-US" altLang="ja-JP" b="1" i="1" dirty="0">
                            <a:solidFill>
                              <a:schemeClr val="accent5"/>
                            </a:solidFill>
                            <a:latin typeface="Cambria Math" panose="02040503050406030204" pitchFamily="18" charset="0"/>
                            <a:ea typeface="MeiryoKe_PGothic" pitchFamily="50" charset="-128"/>
                          </a:rPr>
                        </m:ctrlPr>
                      </m:sSubPr>
                      <m:e>
                        <m:r>
                          <a:rPr lang="en-US" altLang="ja-JP" b="1" i="1" dirty="0">
                            <a:solidFill>
                              <a:schemeClr val="accent5"/>
                            </a:solidFill>
                            <a:latin typeface="Cambria Math" panose="02040503050406030204" pitchFamily="18" charset="0"/>
                            <a:ea typeface="MeiryoKe_PGothic" pitchFamily="50" charset="-128"/>
                          </a:rPr>
                          <m:t>𝒘</m:t>
                        </m:r>
                      </m:e>
                      <m:sub>
                        <m:r>
                          <a:rPr lang="en-US" altLang="ja-JP" b="1" i="1" dirty="0">
                            <a:solidFill>
                              <a:schemeClr val="accent5"/>
                            </a:solidFill>
                            <a:latin typeface="Cambria Math" panose="02040503050406030204" pitchFamily="18" charset="0"/>
                            <a:ea typeface="MeiryoKe_PGothic" pitchFamily="50" charset="-128"/>
                          </a:rPr>
                          <m:t>𝟐</m:t>
                        </m:r>
                      </m:sub>
                    </m:sSub>
                    <m:r>
                      <a:rPr lang="en-US" altLang="ja-JP" b="1" i="1" dirty="0">
                        <a:solidFill>
                          <a:schemeClr val="accent5"/>
                        </a:solidFill>
                        <a:latin typeface="Cambria Math" panose="02040503050406030204" pitchFamily="18" charset="0"/>
                        <a:ea typeface="MeiryoKe_PGothic" pitchFamily="50" charset="-128"/>
                      </a:rPr>
                      <m:t>=</m:t>
                    </m:r>
                    <m:r>
                      <a:rPr lang="en-US" altLang="ja-JP" b="1" i="1" dirty="0">
                        <a:solidFill>
                          <a:schemeClr val="accent5"/>
                        </a:solidFill>
                        <a:latin typeface="Cambria Math" panose="02040503050406030204" pitchFamily="18" charset="0"/>
                        <a:ea typeface="MeiryoKe_PGothic" pitchFamily="50" charset="-128"/>
                      </a:rPr>
                      <m:t>𝟎</m:t>
                    </m:r>
                    <m:r>
                      <m:rPr>
                        <m:nor/>
                      </m:rPr>
                      <a:rPr lang="en-US" altLang="ja-JP" b="1" dirty="0">
                        <a:solidFill>
                          <a:schemeClr val="accent5"/>
                        </a:solidFill>
                        <a:latin typeface="MeiryoKe_PGothic" pitchFamily="50" charset="-128"/>
                        <a:ea typeface="MeiryoKe_PGothic" pitchFamily="50" charset="-128"/>
                      </a:rPr>
                      <m:t>, </m:t>
                    </m:r>
                    <m:sSub>
                      <m:sSubPr>
                        <m:ctrlPr>
                          <a:rPr lang="en-US" altLang="ja-JP" b="1" i="1" dirty="0">
                            <a:solidFill>
                              <a:schemeClr val="accent5"/>
                            </a:solidFill>
                            <a:latin typeface="Cambria Math" panose="02040503050406030204" pitchFamily="18" charset="0"/>
                            <a:ea typeface="MeiryoKe_PGothic" pitchFamily="50" charset="-128"/>
                          </a:rPr>
                        </m:ctrlPr>
                      </m:sSubPr>
                      <m:e>
                        <m:r>
                          <a:rPr lang="en-US" altLang="ja-JP" b="1" i="1" dirty="0">
                            <a:solidFill>
                              <a:schemeClr val="accent5"/>
                            </a:solidFill>
                            <a:latin typeface="Cambria Math" panose="02040503050406030204" pitchFamily="18" charset="0"/>
                            <a:ea typeface="MeiryoKe_PGothic" pitchFamily="50" charset="-128"/>
                          </a:rPr>
                          <m:t>𝒘</m:t>
                        </m:r>
                      </m:e>
                      <m:sub>
                        <m:r>
                          <a:rPr lang="en-US" altLang="ja-JP" b="1" i="1" dirty="0">
                            <a:solidFill>
                              <a:schemeClr val="accent5"/>
                            </a:solidFill>
                            <a:latin typeface="Cambria Math" panose="02040503050406030204" pitchFamily="18" charset="0"/>
                            <a:ea typeface="MeiryoKe_PGothic" pitchFamily="50" charset="-128"/>
                          </a:rPr>
                          <m:t>𝟑</m:t>
                        </m:r>
                      </m:sub>
                    </m:sSub>
                    <m:r>
                      <a:rPr lang="en-US" altLang="ja-JP" b="1" i="1" dirty="0">
                        <a:solidFill>
                          <a:schemeClr val="accent5"/>
                        </a:solidFill>
                        <a:latin typeface="Cambria Math" panose="02040503050406030204" pitchFamily="18" charset="0"/>
                        <a:ea typeface="MeiryoKe_PGothic" pitchFamily="50" charset="-128"/>
                      </a:rPr>
                      <m:t>=</m:t>
                    </m:r>
                    <m:r>
                      <a:rPr lang="en-US" altLang="ja-JP" b="1" i="1" dirty="0">
                        <a:solidFill>
                          <a:schemeClr val="accent5"/>
                        </a:solidFill>
                        <a:latin typeface="Cambria Math" panose="02040503050406030204" pitchFamily="18" charset="0"/>
                        <a:ea typeface="MeiryoKe_PGothic" pitchFamily="50" charset="-128"/>
                      </a:rPr>
                      <m:t>𝟎</m:t>
                    </m:r>
                  </m:oMath>
                </a14:m>
                <a:endParaRPr lang="ja-JP" altLang="en-US" b="1" dirty="0">
                  <a:solidFill>
                    <a:schemeClr val="accent5"/>
                  </a:solidFill>
                  <a:latin typeface="MeiryoKe_PGothic" pitchFamily="50" charset="-128"/>
                  <a:ea typeface="MeiryoKe_PGothic" pitchFamily="50" charset="-128"/>
                </a:endParaRPr>
              </a:p>
            </p:txBody>
          </p:sp>
        </mc:Choice>
        <mc:Fallback>
          <p:sp>
            <p:nvSpPr>
              <p:cNvPr id="8" name="Rectangle 195">
                <a:extLst>
                  <a:ext uri="{FF2B5EF4-FFF2-40B4-BE49-F238E27FC236}">
                    <a16:creationId xmlns:a16="http://schemas.microsoft.com/office/drawing/2014/main" id="{779E7484-C769-45E0-AF06-EF48C66DD89C}"/>
                  </a:ext>
                </a:extLst>
              </p:cNvPr>
              <p:cNvSpPr>
                <a:spLocks noRot="1" noChangeAspect="1" noMove="1" noResize="1" noEditPoints="1" noAdjustHandles="1" noChangeArrowheads="1" noChangeShapeType="1" noTextEdit="1"/>
              </p:cNvSpPr>
              <p:nvPr/>
            </p:nvSpPr>
            <p:spPr bwMode="auto">
              <a:xfrm>
                <a:off x="5015987" y="1268977"/>
                <a:ext cx="2070023" cy="360363"/>
              </a:xfrm>
              <a:prstGeom prst="rect">
                <a:avLst/>
              </a:prstGeom>
              <a:blipFill>
                <a:blip r:embed="rId3"/>
                <a:stretch>
                  <a:fillRect l="-41888" t="-11864" r="-43068" b="-37288"/>
                </a:stretch>
              </a:blipFill>
              <a:ln>
                <a:noFill/>
                <a:headEnd/>
                <a:tailEnd/>
              </a:ln>
              <a:effectLst/>
            </p:spPr>
            <p:txBody>
              <a:bodyPr/>
              <a:lstStyle/>
              <a:p>
                <a:r>
                  <a:rPr lang="ja-JP" altLang="en-US">
                    <a:noFill/>
                  </a:rPr>
                  <a:t> </a:t>
                </a:r>
              </a:p>
            </p:txBody>
          </p:sp>
        </mc:Fallback>
      </mc:AlternateContent>
      <p:cxnSp>
        <p:nvCxnSpPr>
          <p:cNvPr id="19" name="直線矢印コネクタ 18">
            <a:extLst>
              <a:ext uri="{FF2B5EF4-FFF2-40B4-BE49-F238E27FC236}">
                <a16:creationId xmlns:a16="http://schemas.microsoft.com/office/drawing/2014/main" id="{D7442937-7050-426E-8E64-C46D2BB8F543}"/>
              </a:ext>
            </a:extLst>
          </p:cNvPr>
          <p:cNvCxnSpPr>
            <a:cxnSpLocks/>
          </p:cNvCxnSpPr>
          <p:nvPr/>
        </p:nvCxnSpPr>
        <p:spPr bwMode="auto">
          <a:xfrm>
            <a:off x="6005998" y="1628981"/>
            <a:ext cx="0" cy="1170013"/>
          </a:xfrm>
          <a:prstGeom prst="straightConnector1">
            <a:avLst/>
          </a:prstGeom>
          <a:ln>
            <a:headEnd type="none" w="sm" len="sm"/>
            <a:tailEnd type="triangle" w="lg" len="lg"/>
          </a:ln>
        </p:spPr>
        <p:style>
          <a:lnRef idx="2">
            <a:schemeClr val="accent5"/>
          </a:lnRef>
          <a:fillRef idx="0">
            <a:schemeClr val="accent5"/>
          </a:fillRef>
          <a:effectRef idx="1">
            <a:schemeClr val="accent5"/>
          </a:effectRef>
          <a:fontRef idx="minor">
            <a:schemeClr val="tx1"/>
          </a:fontRef>
        </p:style>
      </p:cxnSp>
      <p:sp>
        <p:nvSpPr>
          <p:cNvPr id="21" name="楕円 20">
            <a:extLst>
              <a:ext uri="{FF2B5EF4-FFF2-40B4-BE49-F238E27FC236}">
                <a16:creationId xmlns:a16="http://schemas.microsoft.com/office/drawing/2014/main" id="{B1749308-D151-4005-9160-4E42DFC0FA48}"/>
              </a:ext>
            </a:extLst>
          </p:cNvPr>
          <p:cNvSpPr/>
          <p:nvPr/>
        </p:nvSpPr>
        <p:spPr bwMode="auto">
          <a:xfrm>
            <a:off x="5735996" y="2798993"/>
            <a:ext cx="540006" cy="540006"/>
          </a:xfrm>
          <a:prstGeom prst="ellips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2400" dirty="0">
                <a:solidFill>
                  <a:schemeClr val="tx1">
                    <a:lumMod val="75000"/>
                    <a:lumOff val="25000"/>
                  </a:schemeClr>
                </a:solidFill>
                <a:latin typeface="+mn-ea"/>
              </a:rPr>
              <a:t>Σ</a:t>
            </a:r>
            <a:endParaRPr lang="ja-JP" altLang="en-US" sz="2400" dirty="0">
              <a:solidFill>
                <a:schemeClr val="tx1">
                  <a:lumMod val="75000"/>
                  <a:lumOff val="25000"/>
                </a:schemeClr>
              </a:solidFill>
              <a:latin typeface="+mn-ea"/>
            </a:endParaRPr>
          </a:p>
        </p:txBody>
      </p:sp>
      <mc:AlternateContent xmlns:mc="http://schemas.openxmlformats.org/markup-compatibility/2006">
        <mc:Choice xmlns:a14="http://schemas.microsoft.com/office/drawing/2010/main" Requires="a14">
          <p:sp>
            <p:nvSpPr>
              <p:cNvPr id="22" name="Rectangle 195">
                <a:extLst>
                  <a:ext uri="{FF2B5EF4-FFF2-40B4-BE49-F238E27FC236}">
                    <a16:creationId xmlns:a16="http://schemas.microsoft.com/office/drawing/2014/main" id="{28364BA4-8D52-4FB7-9D3E-63E2AE737758}"/>
                  </a:ext>
                </a:extLst>
              </p:cNvPr>
              <p:cNvSpPr>
                <a:spLocks noChangeArrowheads="1"/>
              </p:cNvSpPr>
              <p:nvPr/>
            </p:nvSpPr>
            <p:spPr bwMode="auto">
              <a:xfrm>
                <a:off x="2585962" y="2888815"/>
                <a:ext cx="2070023" cy="360363"/>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14:m>
                  <m:oMath xmlns:m="http://schemas.openxmlformats.org/officeDocument/2006/math">
                    <m:sSub>
                      <m:sSubPr>
                        <m:ctrlPr>
                          <a:rPr lang="en-US" altLang="ja-JP" b="1" i="1" dirty="0">
                            <a:solidFill>
                              <a:schemeClr val="accent5"/>
                            </a:solidFill>
                            <a:latin typeface="Cambria Math" panose="02040503050406030204" pitchFamily="18" charset="0"/>
                          </a:rPr>
                        </m:ctrlPr>
                      </m:sSubPr>
                      <m:e>
                        <m:r>
                          <a:rPr lang="en-US" altLang="ja-JP" b="1" i="1" dirty="0">
                            <a:solidFill>
                              <a:schemeClr val="accent5"/>
                            </a:solidFill>
                            <a:latin typeface="Cambria Math" panose="02040503050406030204" pitchFamily="18" charset="0"/>
                          </a:rPr>
                          <m:t>𝒙</m:t>
                        </m:r>
                      </m:e>
                      <m:sub>
                        <m:r>
                          <a:rPr lang="en-US" altLang="ja-JP" b="1" i="1" dirty="0">
                            <a:solidFill>
                              <a:schemeClr val="accent5"/>
                            </a:solidFill>
                            <a:latin typeface="Cambria Math" panose="02040503050406030204" pitchFamily="18" charset="0"/>
                          </a:rPr>
                          <m:t>𝟎</m:t>
                        </m:r>
                      </m:sub>
                    </m:sSub>
                  </m:oMath>
                </a14:m>
                <a:r>
                  <a:rPr lang="en-US" altLang="ja-JP" b="1" dirty="0">
                    <a:solidFill>
                      <a:schemeClr val="accent5"/>
                    </a:solidFill>
                    <a:latin typeface="Cambria Math" panose="02040503050406030204" pitchFamily="18" charset="0"/>
                    <a:ea typeface="MeiryoKe_PGothic" pitchFamily="50" charset="-128"/>
                  </a:rPr>
                  <a:t>=1</a:t>
                </a:r>
                <a:r>
                  <a:rPr lang="en-US" altLang="ja-JP" b="1" i="1" dirty="0">
                    <a:solidFill>
                      <a:schemeClr val="accent5"/>
                    </a:solidFill>
                    <a:latin typeface="Cambria Math" panose="02040503050406030204" pitchFamily="18" charset="0"/>
                    <a:ea typeface="MeiryoKe_PGothic" pitchFamily="50" charset="-128"/>
                  </a:rPr>
                  <a:t>, </a:t>
                </a:r>
                <a14:m>
                  <m:oMath xmlns:m="http://schemas.openxmlformats.org/officeDocument/2006/math">
                    <m:sSub>
                      <m:sSubPr>
                        <m:ctrlPr>
                          <a:rPr lang="en-US" altLang="ja-JP" b="1" i="1" dirty="0">
                            <a:solidFill>
                              <a:schemeClr val="accent6"/>
                            </a:solidFill>
                            <a:latin typeface="Cambria Math" panose="02040503050406030204" pitchFamily="18" charset="0"/>
                          </a:rPr>
                        </m:ctrlPr>
                      </m:sSubPr>
                      <m:e>
                        <m:r>
                          <a:rPr lang="en-US" altLang="ja-JP" b="1" i="1" dirty="0">
                            <a:solidFill>
                              <a:schemeClr val="accent6"/>
                            </a:solidFill>
                            <a:latin typeface="Cambria Math" panose="02040503050406030204" pitchFamily="18" charset="0"/>
                          </a:rPr>
                          <m:t>𝒙</m:t>
                        </m:r>
                      </m:e>
                      <m:sub>
                        <m:r>
                          <a:rPr lang="en-US" altLang="ja-JP" b="1" i="1" dirty="0">
                            <a:solidFill>
                              <a:schemeClr val="accent6"/>
                            </a:solidFill>
                            <a:latin typeface="Cambria Math" panose="02040503050406030204" pitchFamily="18" charset="0"/>
                          </a:rPr>
                          <m:t>𝟏</m:t>
                        </m:r>
                      </m:sub>
                    </m:sSub>
                  </m:oMath>
                </a14:m>
                <a:r>
                  <a:rPr lang="en-US" altLang="ja-JP" b="1" dirty="0">
                    <a:solidFill>
                      <a:schemeClr val="accent6"/>
                    </a:solidFill>
                    <a:latin typeface="Cambria Math" panose="02040503050406030204" pitchFamily="18" charset="0"/>
                    <a:ea typeface="MeiryoKe_PGothic" pitchFamily="50" charset="-128"/>
                  </a:rPr>
                  <a:t>=1</a:t>
                </a:r>
                <a:r>
                  <a:rPr lang="en-US" altLang="ja-JP" b="1" i="1" dirty="0">
                    <a:solidFill>
                      <a:schemeClr val="accent5"/>
                    </a:solidFill>
                    <a:latin typeface="Cambria Math" panose="02040503050406030204" pitchFamily="18" charset="0"/>
                    <a:ea typeface="MeiryoKe_PGothic" pitchFamily="50" charset="-128"/>
                  </a:rPr>
                  <a:t>, </a:t>
                </a:r>
                <a14:m>
                  <m:oMath xmlns:m="http://schemas.openxmlformats.org/officeDocument/2006/math">
                    <m:sSub>
                      <m:sSubPr>
                        <m:ctrlPr>
                          <a:rPr lang="en-US" altLang="ja-JP" b="1" i="1" dirty="0">
                            <a:solidFill>
                              <a:schemeClr val="accent5"/>
                            </a:solidFill>
                            <a:latin typeface="Cambria Math" panose="02040503050406030204" pitchFamily="18" charset="0"/>
                          </a:rPr>
                        </m:ctrlPr>
                      </m:sSubPr>
                      <m:e>
                        <m:r>
                          <a:rPr lang="en-US" altLang="ja-JP" b="1" i="1" dirty="0">
                            <a:solidFill>
                              <a:schemeClr val="accent5"/>
                            </a:solidFill>
                            <a:latin typeface="Cambria Math" panose="02040503050406030204" pitchFamily="18" charset="0"/>
                          </a:rPr>
                          <m:t>𝒙</m:t>
                        </m:r>
                      </m:e>
                      <m:sub>
                        <m:r>
                          <a:rPr lang="en-US" altLang="ja-JP" b="1" i="1" dirty="0">
                            <a:solidFill>
                              <a:schemeClr val="accent5"/>
                            </a:solidFill>
                            <a:latin typeface="Cambria Math" panose="02040503050406030204" pitchFamily="18" charset="0"/>
                          </a:rPr>
                          <m:t>𝟐</m:t>
                        </m:r>
                      </m:sub>
                    </m:sSub>
                  </m:oMath>
                </a14:m>
                <a:r>
                  <a:rPr lang="en-US" altLang="ja-JP" b="1" i="1" dirty="0">
                    <a:solidFill>
                      <a:schemeClr val="accent5"/>
                    </a:solidFill>
                    <a:latin typeface="Cambria Math" panose="02040503050406030204" pitchFamily="18" charset="0"/>
                    <a:ea typeface="MeiryoKe_PGothic" pitchFamily="50" charset="-128"/>
                  </a:rPr>
                  <a:t>=</a:t>
                </a:r>
                <a:r>
                  <a:rPr lang="en-US" altLang="ja-JP" b="1" dirty="0">
                    <a:solidFill>
                      <a:schemeClr val="accent5"/>
                    </a:solidFill>
                    <a:latin typeface="Cambria Math" panose="02040503050406030204" pitchFamily="18" charset="0"/>
                    <a:ea typeface="MeiryoKe_PGothic" pitchFamily="50" charset="-128"/>
                  </a:rPr>
                  <a:t>0,</a:t>
                </a:r>
                <a:r>
                  <a:rPr lang="en-US" altLang="ja-JP" b="1" dirty="0">
                    <a:solidFill>
                      <a:schemeClr val="accent5"/>
                    </a:solidFill>
                  </a:rPr>
                  <a:t> </a:t>
                </a:r>
                <a14:m>
                  <m:oMath xmlns:m="http://schemas.openxmlformats.org/officeDocument/2006/math">
                    <m:sSub>
                      <m:sSubPr>
                        <m:ctrlPr>
                          <a:rPr lang="en-US" altLang="ja-JP" b="1" i="1" dirty="0">
                            <a:solidFill>
                              <a:schemeClr val="accent5"/>
                            </a:solidFill>
                            <a:latin typeface="Cambria Math" panose="02040503050406030204" pitchFamily="18" charset="0"/>
                          </a:rPr>
                        </m:ctrlPr>
                      </m:sSubPr>
                      <m:e>
                        <m:r>
                          <a:rPr lang="en-US" altLang="ja-JP" b="1" i="1" dirty="0">
                            <a:solidFill>
                              <a:schemeClr val="accent5"/>
                            </a:solidFill>
                            <a:latin typeface="Cambria Math" panose="02040503050406030204" pitchFamily="18" charset="0"/>
                          </a:rPr>
                          <m:t>𝒙</m:t>
                        </m:r>
                      </m:e>
                      <m:sub>
                        <m:r>
                          <a:rPr lang="en-US" altLang="ja-JP" b="1" i="1" dirty="0">
                            <a:solidFill>
                              <a:schemeClr val="accent5"/>
                            </a:solidFill>
                            <a:latin typeface="Cambria Math" panose="02040503050406030204" pitchFamily="18" charset="0"/>
                          </a:rPr>
                          <m:t>𝟑</m:t>
                        </m:r>
                      </m:sub>
                    </m:sSub>
                  </m:oMath>
                </a14:m>
                <a:r>
                  <a:rPr lang="en-US" altLang="ja-JP" b="1" i="1" dirty="0">
                    <a:solidFill>
                      <a:schemeClr val="accent5"/>
                    </a:solidFill>
                    <a:latin typeface="Cambria Math" panose="02040503050406030204" pitchFamily="18" charset="0"/>
                    <a:ea typeface="MeiryoKe_PGothic" pitchFamily="50" charset="-128"/>
                  </a:rPr>
                  <a:t>=</a:t>
                </a:r>
                <a:r>
                  <a:rPr lang="en-US" altLang="ja-JP" b="1" dirty="0">
                    <a:solidFill>
                      <a:schemeClr val="accent5"/>
                    </a:solidFill>
                    <a:latin typeface="Cambria Math" panose="02040503050406030204" pitchFamily="18" charset="0"/>
                    <a:ea typeface="MeiryoKe_PGothic" pitchFamily="50" charset="-128"/>
                  </a:rPr>
                  <a:t>0</a:t>
                </a:r>
                <a:endParaRPr lang="ja-JP" altLang="en-US" b="1" dirty="0">
                  <a:solidFill>
                    <a:schemeClr val="accent5"/>
                  </a:solidFill>
                  <a:latin typeface="Cambria Math" panose="02040503050406030204" pitchFamily="18" charset="0"/>
                  <a:ea typeface="MeiryoKe_PGothic" pitchFamily="50" charset="-128"/>
                </a:endParaRPr>
              </a:p>
            </p:txBody>
          </p:sp>
        </mc:Choice>
        <mc:Fallback>
          <p:sp>
            <p:nvSpPr>
              <p:cNvPr id="22" name="Rectangle 195">
                <a:extLst>
                  <a:ext uri="{FF2B5EF4-FFF2-40B4-BE49-F238E27FC236}">
                    <a16:creationId xmlns:a16="http://schemas.microsoft.com/office/drawing/2014/main" id="{28364BA4-8D52-4FB7-9D3E-63E2AE737758}"/>
                  </a:ext>
                </a:extLst>
              </p:cNvPr>
              <p:cNvSpPr>
                <a:spLocks noRot="1" noChangeAspect="1" noMove="1" noResize="1" noEditPoints="1" noAdjustHandles="1" noChangeArrowheads="1" noChangeShapeType="1" noTextEdit="1"/>
              </p:cNvSpPr>
              <p:nvPr/>
            </p:nvSpPr>
            <p:spPr bwMode="auto">
              <a:xfrm>
                <a:off x="2585962" y="2888815"/>
                <a:ext cx="2070023" cy="360363"/>
              </a:xfrm>
              <a:prstGeom prst="rect">
                <a:avLst/>
              </a:prstGeom>
              <a:blipFill>
                <a:blip r:embed="rId4"/>
                <a:stretch>
                  <a:fillRect l="-19412" t="-15254" r="-23529" b="-35593"/>
                </a:stretch>
              </a:blipFill>
              <a:ln>
                <a:noFill/>
                <a:headEnd/>
                <a:tailEnd/>
              </a:ln>
              <a:effectLst/>
            </p:spPr>
            <p:txBody>
              <a:bodyPr/>
              <a:lstStyle/>
              <a:p>
                <a:r>
                  <a:rPr lang="ja-JP" altLang="en-US">
                    <a:noFill/>
                  </a:rPr>
                  <a:t> </a:t>
                </a:r>
              </a:p>
            </p:txBody>
          </p:sp>
        </mc:Fallback>
      </mc:AlternateContent>
      <p:cxnSp>
        <p:nvCxnSpPr>
          <p:cNvPr id="23" name="直線矢印コネクタ 22">
            <a:extLst>
              <a:ext uri="{FF2B5EF4-FFF2-40B4-BE49-F238E27FC236}">
                <a16:creationId xmlns:a16="http://schemas.microsoft.com/office/drawing/2014/main" id="{7F5236E7-5D47-4169-9579-44B99F690291}"/>
              </a:ext>
            </a:extLst>
          </p:cNvPr>
          <p:cNvCxnSpPr>
            <a:cxnSpLocks/>
            <a:endCxn id="21" idx="2"/>
          </p:cNvCxnSpPr>
          <p:nvPr/>
        </p:nvCxnSpPr>
        <p:spPr bwMode="auto">
          <a:xfrm>
            <a:off x="5015988" y="3068996"/>
            <a:ext cx="720008" cy="0"/>
          </a:xfrm>
          <a:prstGeom prst="straightConnector1">
            <a:avLst/>
          </a:prstGeom>
          <a:ln>
            <a:headEnd type="none" w="sm" len="sm"/>
            <a:tailEnd type="triangle" w="lg" len="lg"/>
          </a:ln>
        </p:spPr>
        <p:style>
          <a:lnRef idx="2">
            <a:schemeClr val="accent5"/>
          </a:lnRef>
          <a:fillRef idx="0">
            <a:schemeClr val="accent5"/>
          </a:fillRef>
          <a:effectRef idx="1">
            <a:schemeClr val="accent5"/>
          </a:effectRef>
          <a:fontRef idx="minor">
            <a:schemeClr val="tx1"/>
          </a:fontRef>
        </p:style>
      </p:cxnSp>
      <p:cxnSp>
        <p:nvCxnSpPr>
          <p:cNvPr id="26" name="直線矢印コネクタ 25">
            <a:extLst>
              <a:ext uri="{FF2B5EF4-FFF2-40B4-BE49-F238E27FC236}">
                <a16:creationId xmlns:a16="http://schemas.microsoft.com/office/drawing/2014/main" id="{C38AF409-99D2-4DDA-8826-CF1770100714}"/>
              </a:ext>
            </a:extLst>
          </p:cNvPr>
          <p:cNvCxnSpPr>
            <a:cxnSpLocks/>
          </p:cNvCxnSpPr>
          <p:nvPr/>
        </p:nvCxnSpPr>
        <p:spPr bwMode="auto">
          <a:xfrm flipV="1">
            <a:off x="6276002" y="3068996"/>
            <a:ext cx="540007" cy="180"/>
          </a:xfrm>
          <a:prstGeom prst="straightConnector1">
            <a:avLst/>
          </a:prstGeom>
          <a:ln>
            <a:headEnd type="none" w="sm" len="sm"/>
            <a:tailEnd type="triangle" w="lg" len="lg"/>
          </a:ln>
        </p:spPr>
        <p:style>
          <a:lnRef idx="2">
            <a:schemeClr val="accent5"/>
          </a:lnRef>
          <a:fillRef idx="0">
            <a:schemeClr val="accent5"/>
          </a:fillRef>
          <a:effectRef idx="1">
            <a:schemeClr val="accent5"/>
          </a:effectRef>
          <a:fontRef idx="minor">
            <a:schemeClr val="tx1"/>
          </a:fontRef>
        </p:style>
      </p:cxnSp>
      <mc:AlternateContent xmlns:mc="http://schemas.openxmlformats.org/markup-compatibility/2006">
        <mc:Choice xmlns:a14="http://schemas.microsoft.com/office/drawing/2010/main" Requires="a14">
          <p:sp>
            <p:nvSpPr>
              <p:cNvPr id="12" name="Rectangle 195">
                <a:extLst>
                  <a:ext uri="{FF2B5EF4-FFF2-40B4-BE49-F238E27FC236}">
                    <a16:creationId xmlns:a16="http://schemas.microsoft.com/office/drawing/2014/main" id="{E5DBD47E-696D-4062-96BD-4563BC6BAC36}"/>
                  </a:ext>
                </a:extLst>
              </p:cNvPr>
              <p:cNvSpPr>
                <a:spLocks noChangeArrowheads="1"/>
              </p:cNvSpPr>
              <p:nvPr/>
            </p:nvSpPr>
            <p:spPr bwMode="auto">
              <a:xfrm>
                <a:off x="6816008" y="2888995"/>
                <a:ext cx="900010" cy="360363"/>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14:m>
                  <m:oMathPara xmlns:m="http://schemas.openxmlformats.org/officeDocument/2006/math">
                    <m:oMathParaPr>
                      <m:jc m:val="centerGroup"/>
                    </m:oMathParaPr>
                    <m:oMath xmlns:m="http://schemas.openxmlformats.org/officeDocument/2006/math">
                      <m:r>
                        <a:rPr lang="en-US" altLang="ja-JP" b="1" i="1" dirty="0">
                          <a:solidFill>
                            <a:schemeClr val="accent6"/>
                          </a:solidFill>
                          <a:latin typeface="Cambria Math" panose="02040503050406030204" pitchFamily="18" charset="0"/>
                        </a:rPr>
                        <m:t>𝟏𝟎𝟎</m:t>
                      </m:r>
                    </m:oMath>
                  </m:oMathPara>
                </a14:m>
                <a:endParaRPr lang="ja-JP" altLang="en-US" b="1" dirty="0">
                  <a:solidFill>
                    <a:schemeClr val="accent6"/>
                  </a:solidFill>
                  <a:latin typeface="Cambria Math" panose="02040503050406030204" pitchFamily="18" charset="0"/>
                  <a:ea typeface="MeiryoKe_PGothic" pitchFamily="50" charset="-128"/>
                </a:endParaRPr>
              </a:p>
            </p:txBody>
          </p:sp>
        </mc:Choice>
        <mc:Fallback>
          <p:sp>
            <p:nvSpPr>
              <p:cNvPr id="12" name="Rectangle 195">
                <a:extLst>
                  <a:ext uri="{FF2B5EF4-FFF2-40B4-BE49-F238E27FC236}">
                    <a16:creationId xmlns:a16="http://schemas.microsoft.com/office/drawing/2014/main" id="{E5DBD47E-696D-4062-96BD-4563BC6BAC36}"/>
                  </a:ext>
                </a:extLst>
              </p:cNvPr>
              <p:cNvSpPr>
                <a:spLocks noRot="1" noChangeAspect="1" noMove="1" noResize="1" noEditPoints="1" noAdjustHandles="1" noChangeArrowheads="1" noChangeShapeType="1" noTextEdit="1"/>
              </p:cNvSpPr>
              <p:nvPr/>
            </p:nvSpPr>
            <p:spPr bwMode="auto">
              <a:xfrm>
                <a:off x="6816008" y="2888995"/>
                <a:ext cx="900010" cy="360363"/>
              </a:xfrm>
              <a:prstGeom prst="rect">
                <a:avLst/>
              </a:prstGeom>
              <a:blipFill>
                <a:blip r:embed="rId5"/>
                <a:stretch>
                  <a:fillRect b="-1695"/>
                </a:stretch>
              </a:blipFill>
              <a:ln>
                <a:noFill/>
                <a:headEnd/>
                <a:tailEnd/>
              </a:ln>
              <a:effectLst/>
            </p:spPr>
            <p:txBody>
              <a:bodyPr/>
              <a:lstStyle/>
              <a:p>
                <a:r>
                  <a:rPr lang="ja-JP" altLang="en-US">
                    <a:noFill/>
                  </a:rPr>
                  <a:t> </a:t>
                </a:r>
              </a:p>
            </p:txBody>
          </p:sp>
        </mc:Fallback>
      </mc:AlternateContent>
      <p:sp>
        <p:nvSpPr>
          <p:cNvPr id="13" name="Rectangle 195">
            <a:extLst>
              <a:ext uri="{FF2B5EF4-FFF2-40B4-BE49-F238E27FC236}">
                <a16:creationId xmlns:a16="http://schemas.microsoft.com/office/drawing/2014/main" id="{435CF6DA-C2DF-4FA4-864D-8BAD6026196B}"/>
              </a:ext>
            </a:extLst>
          </p:cNvPr>
          <p:cNvSpPr>
            <a:spLocks noChangeArrowheads="1"/>
          </p:cNvSpPr>
          <p:nvPr/>
        </p:nvSpPr>
        <p:spPr bwMode="auto">
          <a:xfrm>
            <a:off x="2315958" y="2618633"/>
            <a:ext cx="900010" cy="360363"/>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ja-JP" altLang="en-US" dirty="0">
                <a:solidFill>
                  <a:schemeClr val="accent5"/>
                </a:solidFill>
                <a:latin typeface="+mn-ea"/>
                <a:ea typeface="+mn-ea"/>
              </a:rPr>
              <a:t>分岐履歴</a:t>
            </a:r>
          </a:p>
        </p:txBody>
      </p:sp>
      <p:sp>
        <p:nvSpPr>
          <p:cNvPr id="14" name="Rectangle 195">
            <a:extLst>
              <a:ext uri="{FF2B5EF4-FFF2-40B4-BE49-F238E27FC236}">
                <a16:creationId xmlns:a16="http://schemas.microsoft.com/office/drawing/2014/main" id="{D213282B-D28F-44F8-B3D8-6ECF60EA5288}"/>
              </a:ext>
            </a:extLst>
          </p:cNvPr>
          <p:cNvSpPr>
            <a:spLocks noChangeArrowheads="1"/>
          </p:cNvSpPr>
          <p:nvPr/>
        </p:nvSpPr>
        <p:spPr bwMode="auto">
          <a:xfrm>
            <a:off x="4115978" y="998974"/>
            <a:ext cx="900010" cy="360363"/>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ja-JP" altLang="en-US" dirty="0">
                <a:solidFill>
                  <a:schemeClr val="accent5"/>
                </a:solidFill>
                <a:latin typeface="+mn-ea"/>
                <a:ea typeface="+mn-ea"/>
              </a:rPr>
              <a:t>学習済みの重み</a:t>
            </a:r>
          </a:p>
        </p:txBody>
      </p:sp>
    </p:spTree>
    <p:extLst>
      <p:ext uri="{BB962C8B-B14F-4D97-AF65-F5344CB8AC3E}">
        <p14:creationId xmlns:p14="http://schemas.microsoft.com/office/powerpoint/2010/main" val="26204577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B989705-3C7D-5910-2EFA-E85FFEAFFC76}"/>
              </a:ext>
            </a:extLst>
          </p:cNvPr>
          <p:cNvSpPr>
            <a:spLocks noGrp="1"/>
          </p:cNvSpPr>
          <p:nvPr>
            <p:ph type="title"/>
          </p:nvPr>
        </p:nvSpPr>
        <p:spPr/>
        <p:txBody>
          <a:bodyPr/>
          <a:lstStyle/>
          <a:p>
            <a:r>
              <a:rPr lang="en-US" altLang="ja-JP" dirty="0"/>
              <a:t>Liner perceptron </a:t>
            </a:r>
            <a:r>
              <a:rPr lang="ja-JP" altLang="en-US" dirty="0"/>
              <a:t>系</a:t>
            </a:r>
            <a:endParaRPr kumimoji="1" lang="ja-JP" altLang="en-US" dirty="0"/>
          </a:p>
        </p:txBody>
      </p:sp>
      <p:sp>
        <p:nvSpPr>
          <p:cNvPr id="3" name="テキスト プレースホルダー 2">
            <a:extLst>
              <a:ext uri="{FF2B5EF4-FFF2-40B4-BE49-F238E27FC236}">
                <a16:creationId xmlns:a16="http://schemas.microsoft.com/office/drawing/2014/main" id="{04BC5944-8BD8-05E3-8480-D453029BA6D0}"/>
              </a:ext>
            </a:extLst>
          </p:cNvPr>
          <p:cNvSpPr>
            <a:spLocks noGrp="1"/>
          </p:cNvSpPr>
          <p:nvPr>
            <p:ph type="body" sz="quarter" idx="10"/>
          </p:nvPr>
        </p:nvSpPr>
        <p:spPr>
          <a:xfrm>
            <a:off x="1055944" y="1178975"/>
            <a:ext cx="10260114" cy="5219751"/>
          </a:xfrm>
        </p:spPr>
        <p:txBody>
          <a:bodyPr/>
          <a:lstStyle/>
          <a:p>
            <a:pPr marL="817200" lvl="1" indent="-457200">
              <a:buFont typeface="+mj-lt"/>
              <a:buAutoNum type="arabicPeriod"/>
            </a:pPr>
            <a:r>
              <a:rPr lang="ja-JP" altLang="en-US" dirty="0"/>
              <a:t>最初に提案されたパーセプトロン予測器</a:t>
            </a:r>
            <a:br>
              <a:rPr lang="en-US" altLang="ja-JP" dirty="0"/>
            </a:br>
            <a:r>
              <a:rPr lang="en-US" altLang="ja-JP" i="1" dirty="0"/>
              <a:t>Jimenez, Daniel A et al., Dynamic branch prediction with </a:t>
            </a:r>
            <a:r>
              <a:rPr lang="en-US" altLang="ja-JP" i="1" dirty="0" err="1"/>
              <a:t>perceptrons</a:t>
            </a:r>
            <a:r>
              <a:rPr lang="en-US" altLang="ja-JP" i="1" dirty="0"/>
              <a:t>, HPCA 2001</a:t>
            </a:r>
          </a:p>
          <a:p>
            <a:pPr marL="817200" lvl="1" indent="-457200">
              <a:buFont typeface="+mj-lt"/>
              <a:buAutoNum type="arabicPeriod"/>
            </a:pPr>
            <a:r>
              <a:rPr lang="en-US" altLang="ja-JP" dirty="0"/>
              <a:t>Path-Based </a:t>
            </a:r>
            <a:r>
              <a:rPr lang="ja-JP" altLang="en-US" dirty="0"/>
              <a:t>予測器</a:t>
            </a:r>
            <a:br>
              <a:rPr lang="en-US" altLang="ja-JP" i="1" dirty="0"/>
            </a:br>
            <a:r>
              <a:rPr lang="en-US" altLang="ja-JP" i="1" dirty="0"/>
              <a:t>Jimenez, Daniel A et al., Fast Path-Based Neural Branch Prediction, MICRO 2003</a:t>
            </a:r>
          </a:p>
          <a:p>
            <a:pPr marL="817200" lvl="1" indent="-457200">
              <a:buFont typeface="+mj-lt"/>
              <a:buAutoNum type="arabicPeriod"/>
            </a:pPr>
            <a:r>
              <a:rPr lang="en-US" altLang="ja-JP" dirty="0"/>
              <a:t>Piecewise Linear </a:t>
            </a:r>
            <a:r>
              <a:rPr lang="ja-JP" altLang="en-US" dirty="0"/>
              <a:t>予測器</a:t>
            </a:r>
            <a:br>
              <a:rPr lang="en-US" altLang="ja-JP" i="1" dirty="0"/>
            </a:br>
            <a:r>
              <a:rPr lang="en-US" altLang="ja-JP" i="1" dirty="0"/>
              <a:t>Jimenez, Daniel A et al., Piecewise Linear Branch Prediction, ISCA 2005</a:t>
            </a:r>
            <a:br>
              <a:rPr lang="en-US" altLang="ja-JP" i="1" dirty="0"/>
            </a:br>
            <a:r>
              <a:rPr lang="ja-JP" altLang="en-US" i="1" dirty="0"/>
              <a:t>富士通の </a:t>
            </a:r>
            <a:r>
              <a:rPr lang="en-US" altLang="ja-JP" dirty="0"/>
              <a:t>A64fx</a:t>
            </a:r>
            <a:r>
              <a:rPr lang="en-US" altLang="ja-JP" i="1" dirty="0"/>
              <a:t> </a:t>
            </a:r>
            <a:r>
              <a:rPr lang="ja-JP" altLang="en-US" i="1" dirty="0"/>
              <a:t>にはこれが搭載されている</a:t>
            </a:r>
            <a:endParaRPr lang="en-US" altLang="ja-JP" i="1" dirty="0"/>
          </a:p>
          <a:p>
            <a:pPr lvl="1"/>
            <a:endParaRPr lang="en-US" altLang="ja-JP" dirty="0"/>
          </a:p>
          <a:p>
            <a:pPr lvl="1"/>
            <a:r>
              <a:rPr lang="ja-JP" altLang="en-US" dirty="0"/>
              <a:t>「付録：分岐予測の詳細」にて，これらは詳細を説明</a:t>
            </a:r>
            <a:endParaRPr kumimoji="1" lang="ja-JP" altLang="en-US" dirty="0"/>
          </a:p>
        </p:txBody>
      </p:sp>
    </p:spTree>
    <p:extLst>
      <p:ext uri="{BB962C8B-B14F-4D97-AF65-F5344CB8AC3E}">
        <p14:creationId xmlns:p14="http://schemas.microsoft.com/office/powerpoint/2010/main" val="28900622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A1659B-CD43-44A3-BCDC-4279B67480E6}"/>
              </a:ext>
            </a:extLst>
          </p:cNvPr>
          <p:cNvSpPr>
            <a:spLocks noGrp="1"/>
          </p:cNvSpPr>
          <p:nvPr>
            <p:ph type="title"/>
          </p:nvPr>
        </p:nvSpPr>
        <p:spPr/>
        <p:txBody>
          <a:bodyPr/>
          <a:lstStyle/>
          <a:p>
            <a:r>
              <a:rPr kumimoji="1" lang="en-US" altLang="ja-JP" dirty="0"/>
              <a:t>Hash</a:t>
            </a:r>
            <a:r>
              <a:rPr lang="en-US" altLang="ja-JP" dirty="0"/>
              <a:t>ed</a:t>
            </a:r>
            <a:r>
              <a:rPr kumimoji="1" lang="en-US" altLang="ja-JP" dirty="0"/>
              <a:t> perceptron</a:t>
            </a:r>
            <a:endParaRPr lang="ja-JP" altLang="en-US" sz="1800" dirty="0"/>
          </a:p>
        </p:txBody>
      </p:sp>
      <p:sp>
        <p:nvSpPr>
          <p:cNvPr id="3" name="テキスト プレースホルダー 2">
            <a:extLst>
              <a:ext uri="{FF2B5EF4-FFF2-40B4-BE49-F238E27FC236}">
                <a16:creationId xmlns:a16="http://schemas.microsoft.com/office/drawing/2014/main" id="{6DC531F1-305B-4E6C-AFD6-4B95198C118C}"/>
              </a:ext>
            </a:extLst>
          </p:cNvPr>
          <p:cNvSpPr>
            <a:spLocks noGrp="1"/>
          </p:cNvSpPr>
          <p:nvPr>
            <p:ph type="body" sz="quarter" idx="10"/>
          </p:nvPr>
        </p:nvSpPr>
        <p:spPr>
          <a:xfrm>
            <a:off x="1595950" y="3789005"/>
            <a:ext cx="8820098" cy="2790031"/>
          </a:xfrm>
        </p:spPr>
        <p:txBody>
          <a:bodyPr/>
          <a:lstStyle/>
          <a:p>
            <a:r>
              <a:rPr lang="ja-JP" altLang="en-US" sz="1800" dirty="0"/>
              <a:t>履歴長（</a:t>
            </a:r>
            <a:r>
              <a:rPr lang="en-US" altLang="ja-JP" sz="1800" dirty="0"/>
              <a:t>HL</a:t>
            </a:r>
            <a:r>
              <a:rPr lang="ja-JP" altLang="en-US" sz="1800" dirty="0"/>
              <a:t>）が異なるグローバル予測器のようなテーブルを複数用意</a:t>
            </a:r>
            <a:endParaRPr lang="en-US" altLang="ja-JP" sz="1800" dirty="0"/>
          </a:p>
          <a:p>
            <a:pPr lvl="1"/>
            <a:r>
              <a:rPr lang="ja-JP" altLang="en-US" sz="1800" dirty="0"/>
              <a:t>履歴 と</a:t>
            </a:r>
            <a:r>
              <a:rPr lang="en-US" altLang="ja-JP" sz="1800" dirty="0"/>
              <a:t> PC </a:t>
            </a:r>
            <a:r>
              <a:rPr lang="ja-JP" altLang="en-US" sz="1800" dirty="0"/>
              <a:t>の組み合わせでテーブルを引く（グローバル予測器と同じ）</a:t>
            </a:r>
            <a:endParaRPr lang="en-US" altLang="ja-JP" sz="1800" dirty="0"/>
          </a:p>
          <a:p>
            <a:pPr lvl="1"/>
            <a:r>
              <a:rPr lang="ja-JP" altLang="en-US" sz="1800" dirty="0"/>
              <a:t>中身は </a:t>
            </a:r>
            <a:r>
              <a:rPr lang="en-US" altLang="ja-JP" sz="1800" dirty="0"/>
              <a:t>2</a:t>
            </a:r>
            <a:r>
              <a:rPr lang="ja-JP" altLang="en-US" sz="1800" dirty="0"/>
              <a:t> ビットカウンタではなく，重み（</a:t>
            </a:r>
            <a:r>
              <a:rPr lang="en-US" altLang="ja-JP" sz="1800" dirty="0"/>
              <a:t>8 </a:t>
            </a:r>
            <a:r>
              <a:rPr lang="ja-JP" altLang="en-US" sz="1800" dirty="0"/>
              <a:t>ビットなど）にする</a:t>
            </a:r>
            <a:endParaRPr lang="en-US" altLang="ja-JP" sz="1800" dirty="0"/>
          </a:p>
          <a:p>
            <a:r>
              <a:rPr lang="en-US" altLang="ja-JP" sz="1800" dirty="0"/>
              <a:t>History length (HL)=4 </a:t>
            </a:r>
            <a:r>
              <a:rPr lang="ja-JP" altLang="en-US" sz="1800" dirty="0"/>
              <a:t>のテーブルの場合</a:t>
            </a:r>
            <a:endParaRPr lang="en-US" altLang="ja-JP" sz="1800" dirty="0"/>
          </a:p>
          <a:p>
            <a:pPr lvl="1"/>
            <a:r>
              <a:rPr lang="en-US" altLang="ja-JP" sz="1800" dirty="0"/>
              <a:t>4</a:t>
            </a:r>
            <a:r>
              <a:rPr lang="ja-JP" altLang="en-US" sz="1800" dirty="0"/>
              <a:t>ビットの履歴と </a:t>
            </a:r>
            <a:r>
              <a:rPr lang="en-US" altLang="ja-JP" sz="1800" dirty="0"/>
              <a:t>PC </a:t>
            </a:r>
            <a:r>
              <a:rPr lang="ja-JP" altLang="en-US" sz="1800" dirty="0"/>
              <a:t>を </a:t>
            </a:r>
            <a:r>
              <a:rPr lang="en-US" altLang="ja-JP" sz="1800" dirty="0"/>
              <a:t>XOR </a:t>
            </a:r>
            <a:r>
              <a:rPr lang="ja-JP" altLang="en-US" sz="1800" dirty="0"/>
              <a:t>してそれをインデックスにしてアクセス</a:t>
            </a:r>
            <a:endParaRPr lang="en-US" altLang="ja-JP" sz="1800" dirty="0">
              <a:solidFill>
                <a:schemeClr val="accent5"/>
              </a:solidFill>
            </a:endParaRPr>
          </a:p>
          <a:p>
            <a:pPr lvl="1"/>
            <a:r>
              <a:rPr lang="ja-JP" altLang="en-US" sz="1800" dirty="0"/>
              <a:t>８ビットの重み（符号付き）が取れてくる</a:t>
            </a:r>
            <a:endParaRPr lang="en-US" altLang="ja-JP" sz="1800" dirty="0"/>
          </a:p>
          <a:p>
            <a:pPr lvl="2"/>
            <a:r>
              <a:rPr lang="ja-JP" altLang="en-US" sz="1800" dirty="0"/>
              <a:t>符号なし２ビットにすれば本当にただのグローバル分岐予測器と等価</a:t>
            </a:r>
            <a:endParaRPr lang="en-US" altLang="ja-JP" sz="1800" dirty="0"/>
          </a:p>
        </p:txBody>
      </p:sp>
      <p:sp>
        <p:nvSpPr>
          <p:cNvPr id="4" name="楕円 3">
            <a:extLst>
              <a:ext uri="{FF2B5EF4-FFF2-40B4-BE49-F238E27FC236}">
                <a16:creationId xmlns:a16="http://schemas.microsoft.com/office/drawing/2014/main" id="{3EC8A76E-D410-4437-B8B0-2A59C68F9CF0}"/>
              </a:ext>
            </a:extLst>
          </p:cNvPr>
          <p:cNvSpPr/>
          <p:nvPr/>
        </p:nvSpPr>
        <p:spPr bwMode="auto">
          <a:xfrm>
            <a:off x="5015989" y="2618991"/>
            <a:ext cx="2160025" cy="900010"/>
          </a:xfrm>
          <a:prstGeom prst="ellips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2400" dirty="0">
                <a:solidFill>
                  <a:schemeClr val="tx1">
                    <a:lumMod val="75000"/>
                    <a:lumOff val="25000"/>
                  </a:schemeClr>
                </a:solidFill>
                <a:latin typeface="+mn-ea"/>
              </a:rPr>
              <a:t>Σ</a:t>
            </a:r>
            <a:endParaRPr lang="ja-JP" altLang="en-US" sz="2400" dirty="0">
              <a:solidFill>
                <a:schemeClr val="tx1">
                  <a:lumMod val="75000"/>
                  <a:lumOff val="25000"/>
                </a:schemeClr>
              </a:solidFill>
              <a:latin typeface="+mn-ea"/>
            </a:endParaRPr>
          </a:p>
        </p:txBody>
      </p:sp>
      <p:cxnSp>
        <p:nvCxnSpPr>
          <p:cNvPr id="5" name="直線矢印コネクタ 4">
            <a:extLst>
              <a:ext uri="{FF2B5EF4-FFF2-40B4-BE49-F238E27FC236}">
                <a16:creationId xmlns:a16="http://schemas.microsoft.com/office/drawing/2014/main" id="{A2E98D29-6D55-4109-AB91-20689F35EE3D}"/>
              </a:ext>
            </a:extLst>
          </p:cNvPr>
          <p:cNvCxnSpPr>
            <a:cxnSpLocks/>
            <a:stCxn id="9" idx="2"/>
            <a:endCxn id="4" idx="1"/>
          </p:cNvCxnSpPr>
          <p:nvPr/>
        </p:nvCxnSpPr>
        <p:spPr bwMode="auto">
          <a:xfrm>
            <a:off x="3980976" y="1809342"/>
            <a:ext cx="1351340" cy="941453"/>
          </a:xfrm>
          <a:prstGeom prst="straightConnector1">
            <a:avLst/>
          </a:prstGeom>
          <a:noFill/>
          <a:ln w="9525" cap="flat" cmpd="sng" algn="ctr">
            <a:solidFill>
              <a:schemeClr val="tx1"/>
            </a:solidFill>
            <a:prstDash val="solid"/>
            <a:round/>
            <a:headEnd type="none" w="med" len="med"/>
            <a:tailEnd type="triangle"/>
          </a:ln>
          <a:effectLst/>
        </p:spPr>
      </p:cxnSp>
      <p:cxnSp>
        <p:nvCxnSpPr>
          <p:cNvPr id="6" name="直線矢印コネクタ 5">
            <a:extLst>
              <a:ext uri="{FF2B5EF4-FFF2-40B4-BE49-F238E27FC236}">
                <a16:creationId xmlns:a16="http://schemas.microsoft.com/office/drawing/2014/main" id="{84FDD99D-C2CD-4171-94BB-CF5F0507F9B6}"/>
              </a:ext>
            </a:extLst>
          </p:cNvPr>
          <p:cNvCxnSpPr>
            <a:cxnSpLocks/>
            <a:stCxn id="10" idx="2"/>
          </p:cNvCxnSpPr>
          <p:nvPr/>
        </p:nvCxnSpPr>
        <p:spPr bwMode="auto">
          <a:xfrm>
            <a:off x="5420993" y="1809341"/>
            <a:ext cx="315005" cy="809650"/>
          </a:xfrm>
          <a:prstGeom prst="straightConnector1">
            <a:avLst/>
          </a:prstGeom>
          <a:noFill/>
          <a:ln w="9525" cap="flat" cmpd="sng" algn="ctr">
            <a:solidFill>
              <a:schemeClr val="tx1"/>
            </a:solidFill>
            <a:prstDash val="solid"/>
            <a:round/>
            <a:headEnd type="none" w="med" len="med"/>
            <a:tailEnd type="triangle"/>
          </a:ln>
          <a:effectLst/>
        </p:spPr>
      </p:cxnSp>
      <p:cxnSp>
        <p:nvCxnSpPr>
          <p:cNvPr id="7" name="直線矢印コネクタ 6">
            <a:extLst>
              <a:ext uri="{FF2B5EF4-FFF2-40B4-BE49-F238E27FC236}">
                <a16:creationId xmlns:a16="http://schemas.microsoft.com/office/drawing/2014/main" id="{0FC17288-F0BA-44F1-B652-586F922DD8B9}"/>
              </a:ext>
            </a:extLst>
          </p:cNvPr>
          <p:cNvCxnSpPr>
            <a:cxnSpLocks/>
            <a:stCxn id="12" idx="2"/>
          </p:cNvCxnSpPr>
          <p:nvPr/>
        </p:nvCxnSpPr>
        <p:spPr bwMode="auto">
          <a:xfrm flipH="1">
            <a:off x="6456004" y="1809341"/>
            <a:ext cx="405004" cy="809650"/>
          </a:xfrm>
          <a:prstGeom prst="straightConnector1">
            <a:avLst/>
          </a:prstGeom>
          <a:noFill/>
          <a:ln w="9525" cap="flat" cmpd="sng" algn="ctr">
            <a:solidFill>
              <a:schemeClr val="tx1"/>
            </a:solidFill>
            <a:prstDash val="solid"/>
            <a:round/>
            <a:headEnd type="none" w="med" len="med"/>
            <a:tailEnd type="triangle"/>
          </a:ln>
          <a:effectLst/>
        </p:spPr>
      </p:cxnSp>
      <p:cxnSp>
        <p:nvCxnSpPr>
          <p:cNvPr id="8" name="直線矢印コネクタ 7">
            <a:extLst>
              <a:ext uri="{FF2B5EF4-FFF2-40B4-BE49-F238E27FC236}">
                <a16:creationId xmlns:a16="http://schemas.microsoft.com/office/drawing/2014/main" id="{EFDA1D6E-4111-40C9-9318-3F4E1774D2D7}"/>
              </a:ext>
            </a:extLst>
          </p:cNvPr>
          <p:cNvCxnSpPr>
            <a:cxnSpLocks/>
            <a:stCxn id="13" idx="2"/>
            <a:endCxn id="4" idx="7"/>
          </p:cNvCxnSpPr>
          <p:nvPr/>
        </p:nvCxnSpPr>
        <p:spPr bwMode="auto">
          <a:xfrm flipH="1">
            <a:off x="6859686" y="1809342"/>
            <a:ext cx="1441339" cy="941453"/>
          </a:xfrm>
          <a:prstGeom prst="straightConnector1">
            <a:avLst/>
          </a:prstGeom>
          <a:noFill/>
          <a:ln w="9525" cap="flat" cmpd="sng" algn="ctr">
            <a:solidFill>
              <a:schemeClr val="tx1"/>
            </a:solidFill>
            <a:prstDash val="solid"/>
            <a:round/>
            <a:headEnd type="none" w="med" len="med"/>
            <a:tailEnd type="triangle"/>
          </a:ln>
          <a:effectLst/>
        </p:spPr>
      </p:cxnSp>
      <p:sp>
        <p:nvSpPr>
          <p:cNvPr id="9" name="Rectangle 195">
            <a:extLst>
              <a:ext uri="{FF2B5EF4-FFF2-40B4-BE49-F238E27FC236}">
                <a16:creationId xmlns:a16="http://schemas.microsoft.com/office/drawing/2014/main" id="{D3D62268-3611-4552-9D9D-57AD00617ABD}"/>
              </a:ext>
            </a:extLst>
          </p:cNvPr>
          <p:cNvSpPr>
            <a:spLocks noChangeArrowheads="1"/>
          </p:cNvSpPr>
          <p:nvPr/>
        </p:nvSpPr>
        <p:spPr bwMode="auto">
          <a:xfrm>
            <a:off x="3485971" y="1088975"/>
            <a:ext cx="990010" cy="720367"/>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accent5"/>
                </a:solidFill>
                <a:latin typeface="+mj-lt"/>
                <a:ea typeface="MeiryoKe_PGothic" pitchFamily="50" charset="-128"/>
              </a:rPr>
              <a:t>HL=0</a:t>
            </a:r>
            <a:endParaRPr lang="ja-JP" altLang="en-US" b="1" dirty="0">
              <a:solidFill>
                <a:schemeClr val="accent5"/>
              </a:solidFill>
              <a:latin typeface="MeiryoKe_PGothic" pitchFamily="50" charset="-128"/>
              <a:ea typeface="MeiryoKe_PGothic" pitchFamily="50" charset="-128"/>
            </a:endParaRPr>
          </a:p>
        </p:txBody>
      </p:sp>
      <p:sp>
        <p:nvSpPr>
          <p:cNvPr id="10" name="Rectangle 195">
            <a:extLst>
              <a:ext uri="{FF2B5EF4-FFF2-40B4-BE49-F238E27FC236}">
                <a16:creationId xmlns:a16="http://schemas.microsoft.com/office/drawing/2014/main" id="{EA9C846A-1384-4476-8AE7-70772D01821A}"/>
              </a:ext>
            </a:extLst>
          </p:cNvPr>
          <p:cNvSpPr>
            <a:spLocks noChangeArrowheads="1"/>
          </p:cNvSpPr>
          <p:nvPr/>
        </p:nvSpPr>
        <p:spPr bwMode="auto">
          <a:xfrm>
            <a:off x="4925987" y="1088975"/>
            <a:ext cx="990010" cy="720367"/>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accent5"/>
                </a:solidFill>
                <a:latin typeface="+mj-lt"/>
                <a:ea typeface="MeiryoKe_PGothic" pitchFamily="50" charset="-128"/>
              </a:rPr>
              <a:t>HL=4</a:t>
            </a:r>
            <a:endParaRPr lang="ja-JP" altLang="en-US" b="1" dirty="0">
              <a:solidFill>
                <a:schemeClr val="accent5"/>
              </a:solidFill>
              <a:latin typeface="MeiryoKe_PGothic" pitchFamily="50" charset="-128"/>
              <a:ea typeface="MeiryoKe_PGothic" pitchFamily="50" charset="-128"/>
            </a:endParaRPr>
          </a:p>
        </p:txBody>
      </p:sp>
      <p:sp>
        <p:nvSpPr>
          <p:cNvPr id="12" name="Rectangle 195">
            <a:extLst>
              <a:ext uri="{FF2B5EF4-FFF2-40B4-BE49-F238E27FC236}">
                <a16:creationId xmlns:a16="http://schemas.microsoft.com/office/drawing/2014/main" id="{EC705AE8-1739-4829-9FDD-66C9C1FF9555}"/>
              </a:ext>
            </a:extLst>
          </p:cNvPr>
          <p:cNvSpPr>
            <a:spLocks noChangeArrowheads="1"/>
          </p:cNvSpPr>
          <p:nvPr/>
        </p:nvSpPr>
        <p:spPr bwMode="auto">
          <a:xfrm>
            <a:off x="6366003" y="1088975"/>
            <a:ext cx="990010" cy="720367"/>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accent5"/>
                </a:solidFill>
                <a:latin typeface="+mj-lt"/>
                <a:ea typeface="MeiryoKe_PGothic" pitchFamily="50" charset="-128"/>
              </a:rPr>
              <a:t>HL=8</a:t>
            </a:r>
            <a:endParaRPr lang="ja-JP" altLang="en-US" b="1" dirty="0">
              <a:solidFill>
                <a:schemeClr val="accent5"/>
              </a:solidFill>
              <a:latin typeface="MeiryoKe_PGothic" pitchFamily="50" charset="-128"/>
              <a:ea typeface="MeiryoKe_PGothic" pitchFamily="50" charset="-128"/>
            </a:endParaRPr>
          </a:p>
        </p:txBody>
      </p:sp>
      <p:sp>
        <p:nvSpPr>
          <p:cNvPr id="13" name="Rectangle 195">
            <a:extLst>
              <a:ext uri="{FF2B5EF4-FFF2-40B4-BE49-F238E27FC236}">
                <a16:creationId xmlns:a16="http://schemas.microsoft.com/office/drawing/2014/main" id="{CB354B78-0B91-439B-872E-39F7E935C2AB}"/>
              </a:ext>
            </a:extLst>
          </p:cNvPr>
          <p:cNvSpPr>
            <a:spLocks noChangeArrowheads="1"/>
          </p:cNvSpPr>
          <p:nvPr/>
        </p:nvSpPr>
        <p:spPr bwMode="auto">
          <a:xfrm>
            <a:off x="7806019" y="1088975"/>
            <a:ext cx="990010" cy="720367"/>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accent5"/>
                </a:solidFill>
                <a:latin typeface="+mj-lt"/>
                <a:ea typeface="MeiryoKe_PGothic" pitchFamily="50" charset="-128"/>
              </a:rPr>
              <a:t>HL=16</a:t>
            </a:r>
            <a:endParaRPr lang="ja-JP" altLang="en-US" b="1" dirty="0">
              <a:solidFill>
                <a:schemeClr val="accent5"/>
              </a:solidFill>
              <a:latin typeface="MeiryoKe_PGothic" pitchFamily="50" charset="-128"/>
              <a:ea typeface="MeiryoKe_PGothic" pitchFamily="50" charset="-128"/>
            </a:endParaRPr>
          </a:p>
        </p:txBody>
      </p:sp>
    </p:spTree>
    <p:extLst>
      <p:ext uri="{BB962C8B-B14F-4D97-AF65-F5344CB8AC3E}">
        <p14:creationId xmlns:p14="http://schemas.microsoft.com/office/powerpoint/2010/main" val="27829748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A1659B-CD43-44A3-BCDC-4279B67480E6}"/>
              </a:ext>
            </a:extLst>
          </p:cNvPr>
          <p:cNvSpPr>
            <a:spLocks noGrp="1"/>
          </p:cNvSpPr>
          <p:nvPr>
            <p:ph type="title"/>
          </p:nvPr>
        </p:nvSpPr>
        <p:spPr/>
        <p:txBody>
          <a:bodyPr/>
          <a:lstStyle/>
          <a:p>
            <a:r>
              <a:rPr kumimoji="1" lang="en-US" altLang="ja-JP" dirty="0"/>
              <a:t>Hash</a:t>
            </a:r>
            <a:r>
              <a:rPr lang="en-US" altLang="ja-JP" dirty="0"/>
              <a:t>ed</a:t>
            </a:r>
            <a:r>
              <a:rPr kumimoji="1" lang="en-US" altLang="ja-JP" dirty="0"/>
              <a:t> perceptron</a:t>
            </a:r>
            <a:endParaRPr kumimoji="1" lang="ja-JP" altLang="en-US" dirty="0"/>
          </a:p>
        </p:txBody>
      </p:sp>
      <p:sp>
        <p:nvSpPr>
          <p:cNvPr id="3" name="テキスト プレースホルダー 2">
            <a:extLst>
              <a:ext uri="{FF2B5EF4-FFF2-40B4-BE49-F238E27FC236}">
                <a16:creationId xmlns:a16="http://schemas.microsoft.com/office/drawing/2014/main" id="{6DC531F1-305B-4E6C-AFD6-4B95198C118C}"/>
              </a:ext>
            </a:extLst>
          </p:cNvPr>
          <p:cNvSpPr>
            <a:spLocks noGrp="1"/>
          </p:cNvSpPr>
          <p:nvPr>
            <p:ph type="body" sz="quarter" idx="10"/>
          </p:nvPr>
        </p:nvSpPr>
        <p:spPr>
          <a:xfrm>
            <a:off x="1595950" y="3789005"/>
            <a:ext cx="8820098" cy="2790031"/>
          </a:xfrm>
        </p:spPr>
        <p:txBody>
          <a:bodyPr/>
          <a:lstStyle/>
          <a:p>
            <a:r>
              <a:rPr kumimoji="1" lang="ja-JP" altLang="en-US" dirty="0"/>
              <a:t>全員の出力を加算してパーセプトロンの処理</a:t>
            </a:r>
            <a:endParaRPr kumimoji="1" lang="en-US" altLang="ja-JP" dirty="0"/>
          </a:p>
          <a:p>
            <a:pPr lvl="1"/>
            <a:r>
              <a:rPr kumimoji="1" lang="ja-JP" altLang="en-US" dirty="0"/>
              <a:t>通常のパーセプトロン予測器と違い，</a:t>
            </a:r>
            <a:r>
              <a:rPr kumimoji="1" lang="ja-JP" altLang="en-US" dirty="0">
                <a:solidFill>
                  <a:schemeClr val="accent5"/>
                </a:solidFill>
              </a:rPr>
              <a:t>各テーブルから出てきた重みはそのまま加算される</a:t>
            </a:r>
            <a:endParaRPr kumimoji="1" lang="en-US" altLang="ja-JP" dirty="0">
              <a:solidFill>
                <a:schemeClr val="accent5"/>
              </a:solidFill>
            </a:endParaRPr>
          </a:p>
          <a:p>
            <a:pPr lvl="2"/>
            <a:r>
              <a:rPr lang="ja-JP" altLang="en-US" dirty="0"/>
              <a:t>重みつき多数決のイメージ</a:t>
            </a:r>
            <a:endParaRPr lang="en-US" altLang="ja-JP" dirty="0"/>
          </a:p>
          <a:p>
            <a:pPr lvl="1"/>
            <a:r>
              <a:rPr lang="ja-JP" altLang="en-US" dirty="0"/>
              <a:t>履歴と重みの内積はとらない</a:t>
            </a:r>
            <a:endParaRPr lang="en-US" altLang="ja-JP" dirty="0"/>
          </a:p>
          <a:p>
            <a:pPr lvl="2"/>
            <a:r>
              <a:rPr kumimoji="1" lang="ja-JP" altLang="en-US" dirty="0"/>
              <a:t>履歴は各テーブルをアクセスするときに使用されている</a:t>
            </a:r>
          </a:p>
        </p:txBody>
      </p:sp>
      <p:sp>
        <p:nvSpPr>
          <p:cNvPr id="4" name="楕円 3">
            <a:extLst>
              <a:ext uri="{FF2B5EF4-FFF2-40B4-BE49-F238E27FC236}">
                <a16:creationId xmlns:a16="http://schemas.microsoft.com/office/drawing/2014/main" id="{3EC8A76E-D410-4437-B8B0-2A59C68F9CF0}"/>
              </a:ext>
            </a:extLst>
          </p:cNvPr>
          <p:cNvSpPr/>
          <p:nvPr/>
        </p:nvSpPr>
        <p:spPr bwMode="auto">
          <a:xfrm>
            <a:off x="5015989" y="2618991"/>
            <a:ext cx="2160025" cy="900010"/>
          </a:xfrm>
          <a:prstGeom prst="ellips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2400" dirty="0">
                <a:solidFill>
                  <a:schemeClr val="tx1">
                    <a:lumMod val="75000"/>
                    <a:lumOff val="25000"/>
                  </a:schemeClr>
                </a:solidFill>
                <a:latin typeface="+mn-ea"/>
              </a:rPr>
              <a:t>Σ</a:t>
            </a:r>
            <a:endParaRPr lang="ja-JP" altLang="en-US" sz="2400" dirty="0">
              <a:solidFill>
                <a:schemeClr val="tx1">
                  <a:lumMod val="75000"/>
                  <a:lumOff val="25000"/>
                </a:schemeClr>
              </a:solidFill>
              <a:latin typeface="+mn-ea"/>
            </a:endParaRPr>
          </a:p>
        </p:txBody>
      </p:sp>
      <p:cxnSp>
        <p:nvCxnSpPr>
          <p:cNvPr id="5" name="直線矢印コネクタ 4">
            <a:extLst>
              <a:ext uri="{FF2B5EF4-FFF2-40B4-BE49-F238E27FC236}">
                <a16:creationId xmlns:a16="http://schemas.microsoft.com/office/drawing/2014/main" id="{A2E98D29-6D55-4109-AB91-20689F35EE3D}"/>
              </a:ext>
            </a:extLst>
          </p:cNvPr>
          <p:cNvCxnSpPr>
            <a:cxnSpLocks/>
            <a:stCxn id="9" idx="2"/>
            <a:endCxn id="4" idx="1"/>
          </p:cNvCxnSpPr>
          <p:nvPr/>
        </p:nvCxnSpPr>
        <p:spPr bwMode="auto">
          <a:xfrm>
            <a:off x="3980976" y="1809342"/>
            <a:ext cx="1351340" cy="941453"/>
          </a:xfrm>
          <a:prstGeom prst="straightConnector1">
            <a:avLst/>
          </a:prstGeom>
          <a:noFill/>
          <a:ln w="9525" cap="flat" cmpd="sng" algn="ctr">
            <a:solidFill>
              <a:schemeClr val="tx1"/>
            </a:solidFill>
            <a:prstDash val="solid"/>
            <a:round/>
            <a:headEnd type="none" w="med" len="med"/>
            <a:tailEnd type="triangle"/>
          </a:ln>
          <a:effectLst/>
        </p:spPr>
      </p:cxnSp>
      <p:cxnSp>
        <p:nvCxnSpPr>
          <p:cNvPr id="6" name="直線矢印コネクタ 5">
            <a:extLst>
              <a:ext uri="{FF2B5EF4-FFF2-40B4-BE49-F238E27FC236}">
                <a16:creationId xmlns:a16="http://schemas.microsoft.com/office/drawing/2014/main" id="{84FDD99D-C2CD-4171-94BB-CF5F0507F9B6}"/>
              </a:ext>
            </a:extLst>
          </p:cNvPr>
          <p:cNvCxnSpPr>
            <a:cxnSpLocks/>
            <a:stCxn id="10" idx="2"/>
          </p:cNvCxnSpPr>
          <p:nvPr/>
        </p:nvCxnSpPr>
        <p:spPr bwMode="auto">
          <a:xfrm>
            <a:off x="5420993" y="1809341"/>
            <a:ext cx="315005" cy="809650"/>
          </a:xfrm>
          <a:prstGeom prst="straightConnector1">
            <a:avLst/>
          </a:prstGeom>
          <a:noFill/>
          <a:ln w="9525" cap="flat" cmpd="sng" algn="ctr">
            <a:solidFill>
              <a:schemeClr val="tx1"/>
            </a:solidFill>
            <a:prstDash val="solid"/>
            <a:round/>
            <a:headEnd type="none" w="med" len="med"/>
            <a:tailEnd type="triangle"/>
          </a:ln>
          <a:effectLst/>
        </p:spPr>
      </p:cxnSp>
      <p:cxnSp>
        <p:nvCxnSpPr>
          <p:cNvPr id="7" name="直線矢印コネクタ 6">
            <a:extLst>
              <a:ext uri="{FF2B5EF4-FFF2-40B4-BE49-F238E27FC236}">
                <a16:creationId xmlns:a16="http://schemas.microsoft.com/office/drawing/2014/main" id="{0FC17288-F0BA-44F1-B652-586F922DD8B9}"/>
              </a:ext>
            </a:extLst>
          </p:cNvPr>
          <p:cNvCxnSpPr>
            <a:cxnSpLocks/>
            <a:stCxn id="12" idx="2"/>
          </p:cNvCxnSpPr>
          <p:nvPr/>
        </p:nvCxnSpPr>
        <p:spPr bwMode="auto">
          <a:xfrm flipH="1">
            <a:off x="6456004" y="1809341"/>
            <a:ext cx="405004" cy="809650"/>
          </a:xfrm>
          <a:prstGeom prst="straightConnector1">
            <a:avLst/>
          </a:prstGeom>
          <a:noFill/>
          <a:ln w="9525" cap="flat" cmpd="sng" algn="ctr">
            <a:solidFill>
              <a:schemeClr val="tx1"/>
            </a:solidFill>
            <a:prstDash val="solid"/>
            <a:round/>
            <a:headEnd type="none" w="med" len="med"/>
            <a:tailEnd type="triangle"/>
          </a:ln>
          <a:effectLst/>
        </p:spPr>
      </p:cxnSp>
      <p:cxnSp>
        <p:nvCxnSpPr>
          <p:cNvPr id="8" name="直線矢印コネクタ 7">
            <a:extLst>
              <a:ext uri="{FF2B5EF4-FFF2-40B4-BE49-F238E27FC236}">
                <a16:creationId xmlns:a16="http://schemas.microsoft.com/office/drawing/2014/main" id="{EFDA1D6E-4111-40C9-9318-3F4E1774D2D7}"/>
              </a:ext>
            </a:extLst>
          </p:cNvPr>
          <p:cNvCxnSpPr>
            <a:cxnSpLocks/>
            <a:stCxn id="13" idx="2"/>
            <a:endCxn id="4" idx="7"/>
          </p:cNvCxnSpPr>
          <p:nvPr/>
        </p:nvCxnSpPr>
        <p:spPr bwMode="auto">
          <a:xfrm flipH="1">
            <a:off x="6859686" y="1809342"/>
            <a:ext cx="1441339" cy="941453"/>
          </a:xfrm>
          <a:prstGeom prst="straightConnector1">
            <a:avLst/>
          </a:prstGeom>
          <a:noFill/>
          <a:ln w="9525" cap="flat" cmpd="sng" algn="ctr">
            <a:solidFill>
              <a:schemeClr val="tx1"/>
            </a:solidFill>
            <a:prstDash val="solid"/>
            <a:round/>
            <a:headEnd type="none" w="med" len="med"/>
            <a:tailEnd type="triangle"/>
          </a:ln>
          <a:effectLst/>
        </p:spPr>
      </p:cxnSp>
      <p:sp>
        <p:nvSpPr>
          <p:cNvPr id="9" name="Rectangle 195">
            <a:extLst>
              <a:ext uri="{FF2B5EF4-FFF2-40B4-BE49-F238E27FC236}">
                <a16:creationId xmlns:a16="http://schemas.microsoft.com/office/drawing/2014/main" id="{D3D62268-3611-4552-9D9D-57AD00617ABD}"/>
              </a:ext>
            </a:extLst>
          </p:cNvPr>
          <p:cNvSpPr>
            <a:spLocks noChangeArrowheads="1"/>
          </p:cNvSpPr>
          <p:nvPr/>
        </p:nvSpPr>
        <p:spPr bwMode="auto">
          <a:xfrm>
            <a:off x="3485971" y="1088975"/>
            <a:ext cx="990010" cy="720367"/>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accent5"/>
                </a:solidFill>
                <a:latin typeface="+mj-lt"/>
                <a:ea typeface="MeiryoKe_PGothic" pitchFamily="50" charset="-128"/>
              </a:rPr>
              <a:t>HL=0</a:t>
            </a:r>
            <a:endParaRPr lang="ja-JP" altLang="en-US" b="1" dirty="0">
              <a:solidFill>
                <a:schemeClr val="accent5"/>
              </a:solidFill>
              <a:latin typeface="MeiryoKe_PGothic" pitchFamily="50" charset="-128"/>
              <a:ea typeface="MeiryoKe_PGothic" pitchFamily="50" charset="-128"/>
            </a:endParaRPr>
          </a:p>
        </p:txBody>
      </p:sp>
      <p:sp>
        <p:nvSpPr>
          <p:cNvPr id="10" name="Rectangle 195">
            <a:extLst>
              <a:ext uri="{FF2B5EF4-FFF2-40B4-BE49-F238E27FC236}">
                <a16:creationId xmlns:a16="http://schemas.microsoft.com/office/drawing/2014/main" id="{EA9C846A-1384-4476-8AE7-70772D01821A}"/>
              </a:ext>
            </a:extLst>
          </p:cNvPr>
          <p:cNvSpPr>
            <a:spLocks noChangeArrowheads="1"/>
          </p:cNvSpPr>
          <p:nvPr/>
        </p:nvSpPr>
        <p:spPr bwMode="auto">
          <a:xfrm>
            <a:off x="4925987" y="1088975"/>
            <a:ext cx="990010" cy="720367"/>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accent5"/>
                </a:solidFill>
                <a:latin typeface="+mj-lt"/>
                <a:ea typeface="MeiryoKe_PGothic" pitchFamily="50" charset="-128"/>
              </a:rPr>
              <a:t>HL=4</a:t>
            </a:r>
            <a:endParaRPr lang="ja-JP" altLang="en-US" b="1" dirty="0">
              <a:solidFill>
                <a:schemeClr val="accent5"/>
              </a:solidFill>
              <a:latin typeface="MeiryoKe_PGothic" pitchFamily="50" charset="-128"/>
              <a:ea typeface="MeiryoKe_PGothic" pitchFamily="50" charset="-128"/>
            </a:endParaRPr>
          </a:p>
        </p:txBody>
      </p:sp>
      <p:sp>
        <p:nvSpPr>
          <p:cNvPr id="12" name="Rectangle 195">
            <a:extLst>
              <a:ext uri="{FF2B5EF4-FFF2-40B4-BE49-F238E27FC236}">
                <a16:creationId xmlns:a16="http://schemas.microsoft.com/office/drawing/2014/main" id="{EC705AE8-1739-4829-9FDD-66C9C1FF9555}"/>
              </a:ext>
            </a:extLst>
          </p:cNvPr>
          <p:cNvSpPr>
            <a:spLocks noChangeArrowheads="1"/>
          </p:cNvSpPr>
          <p:nvPr/>
        </p:nvSpPr>
        <p:spPr bwMode="auto">
          <a:xfrm>
            <a:off x="6366003" y="1088975"/>
            <a:ext cx="990010" cy="720367"/>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accent5"/>
                </a:solidFill>
                <a:latin typeface="+mj-lt"/>
                <a:ea typeface="MeiryoKe_PGothic" pitchFamily="50" charset="-128"/>
              </a:rPr>
              <a:t>HL=8</a:t>
            </a:r>
            <a:endParaRPr lang="ja-JP" altLang="en-US" b="1" dirty="0">
              <a:solidFill>
                <a:schemeClr val="accent5"/>
              </a:solidFill>
              <a:latin typeface="MeiryoKe_PGothic" pitchFamily="50" charset="-128"/>
              <a:ea typeface="MeiryoKe_PGothic" pitchFamily="50" charset="-128"/>
            </a:endParaRPr>
          </a:p>
        </p:txBody>
      </p:sp>
      <p:sp>
        <p:nvSpPr>
          <p:cNvPr id="13" name="Rectangle 195">
            <a:extLst>
              <a:ext uri="{FF2B5EF4-FFF2-40B4-BE49-F238E27FC236}">
                <a16:creationId xmlns:a16="http://schemas.microsoft.com/office/drawing/2014/main" id="{CB354B78-0B91-439B-872E-39F7E935C2AB}"/>
              </a:ext>
            </a:extLst>
          </p:cNvPr>
          <p:cNvSpPr>
            <a:spLocks noChangeArrowheads="1"/>
          </p:cNvSpPr>
          <p:nvPr/>
        </p:nvSpPr>
        <p:spPr bwMode="auto">
          <a:xfrm>
            <a:off x="7806019" y="1088975"/>
            <a:ext cx="990010" cy="720367"/>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accent5"/>
                </a:solidFill>
                <a:latin typeface="+mj-lt"/>
                <a:ea typeface="MeiryoKe_PGothic" pitchFamily="50" charset="-128"/>
              </a:rPr>
              <a:t>HL=16</a:t>
            </a:r>
            <a:endParaRPr lang="ja-JP" altLang="en-US" b="1" dirty="0">
              <a:solidFill>
                <a:schemeClr val="accent5"/>
              </a:solidFill>
              <a:latin typeface="MeiryoKe_PGothic" pitchFamily="50" charset="-128"/>
              <a:ea typeface="MeiryoKe_PGothic" pitchFamily="50" charset="-128"/>
            </a:endParaRPr>
          </a:p>
        </p:txBody>
      </p:sp>
    </p:spTree>
    <p:extLst>
      <p:ext uri="{BB962C8B-B14F-4D97-AF65-F5344CB8AC3E}">
        <p14:creationId xmlns:p14="http://schemas.microsoft.com/office/powerpoint/2010/main" val="25054311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A1659B-CD43-44A3-BCDC-4279B67480E6}"/>
              </a:ext>
            </a:extLst>
          </p:cNvPr>
          <p:cNvSpPr>
            <a:spLocks noGrp="1"/>
          </p:cNvSpPr>
          <p:nvPr>
            <p:ph type="title"/>
          </p:nvPr>
        </p:nvSpPr>
        <p:spPr/>
        <p:txBody>
          <a:bodyPr/>
          <a:lstStyle/>
          <a:p>
            <a:r>
              <a:rPr lang="en-US" altLang="ja-JP" dirty="0"/>
              <a:t>Hashed perceptron </a:t>
            </a:r>
            <a:r>
              <a:rPr lang="ja-JP" altLang="en-US" dirty="0"/>
              <a:t>の効果</a:t>
            </a:r>
          </a:p>
        </p:txBody>
      </p:sp>
      <p:sp>
        <p:nvSpPr>
          <p:cNvPr id="3" name="テキスト プレースホルダー 2">
            <a:extLst>
              <a:ext uri="{FF2B5EF4-FFF2-40B4-BE49-F238E27FC236}">
                <a16:creationId xmlns:a16="http://schemas.microsoft.com/office/drawing/2014/main" id="{6DC531F1-305B-4E6C-AFD6-4B95198C118C}"/>
              </a:ext>
            </a:extLst>
          </p:cNvPr>
          <p:cNvSpPr>
            <a:spLocks noGrp="1"/>
          </p:cNvSpPr>
          <p:nvPr>
            <p:ph type="body" sz="quarter" idx="10"/>
          </p:nvPr>
        </p:nvSpPr>
        <p:spPr>
          <a:xfrm>
            <a:off x="695940" y="1088974"/>
            <a:ext cx="10890121" cy="5219751"/>
          </a:xfrm>
        </p:spPr>
        <p:txBody>
          <a:bodyPr/>
          <a:lstStyle/>
          <a:p>
            <a:r>
              <a:rPr lang="en-US" altLang="ja-JP" dirty="0"/>
              <a:t>g-share</a:t>
            </a:r>
            <a:r>
              <a:rPr lang="ja-JP" altLang="en-US" dirty="0"/>
              <a:t> や </a:t>
            </a:r>
            <a:r>
              <a:rPr lang="en-US" altLang="ja-JP" dirty="0"/>
              <a:t>linear perceptron </a:t>
            </a:r>
            <a:r>
              <a:rPr lang="ja-JP" altLang="en-US" dirty="0"/>
              <a:t>予測器の問題</a:t>
            </a:r>
            <a:endParaRPr kumimoji="1" lang="en-US" altLang="ja-JP" dirty="0"/>
          </a:p>
          <a:p>
            <a:pPr lvl="1"/>
            <a:r>
              <a:rPr kumimoji="1" lang="ja-JP" altLang="en-US" dirty="0"/>
              <a:t>長い履歴を捉えようとすると履歴長に比例した記憶容量が必要</a:t>
            </a:r>
            <a:endParaRPr kumimoji="1" lang="en-US" altLang="ja-JP" dirty="0"/>
          </a:p>
          <a:p>
            <a:pPr lvl="1"/>
            <a:r>
              <a:rPr lang="ja-JP" altLang="en-US" dirty="0"/>
              <a:t>長い履歴を憶えようとすると，短い履歴で済む場合も大きな記憶容量が必要</a:t>
            </a:r>
            <a:endParaRPr lang="en-US" altLang="ja-JP" dirty="0"/>
          </a:p>
          <a:p>
            <a:r>
              <a:rPr lang="ja-JP" altLang="en-US" dirty="0"/>
              <a:t>ハッシュ・パーセプトロンの効果：</a:t>
            </a:r>
            <a:endParaRPr lang="en-US" altLang="ja-JP" dirty="0"/>
          </a:p>
          <a:p>
            <a:pPr lvl="1"/>
            <a:r>
              <a:rPr lang="ja-JP" altLang="en-US" dirty="0"/>
              <a:t>長い履歴をきちんと憶えつつ，履歴が短い大半の場合は少ないエントリ数で記憶できる</a:t>
            </a:r>
            <a:endParaRPr lang="en-US" altLang="ja-JP" dirty="0"/>
          </a:p>
          <a:p>
            <a:pPr lvl="1"/>
            <a:r>
              <a:rPr lang="ja-JP" altLang="en-US" dirty="0"/>
              <a:t>相関がある履歴長のテーブルの重みの絶対値が増えるように学習される</a:t>
            </a:r>
            <a:endParaRPr lang="en-US" altLang="ja-JP" dirty="0"/>
          </a:p>
          <a:p>
            <a:pPr lvl="2"/>
            <a:r>
              <a:rPr lang="ja-JP" altLang="en-US" dirty="0"/>
              <a:t>（正確には，そこより長い履歴長のテーブル</a:t>
            </a:r>
            <a:endParaRPr lang="en-US" altLang="ja-JP" dirty="0"/>
          </a:p>
        </p:txBody>
      </p:sp>
    </p:spTree>
    <p:extLst>
      <p:ext uri="{BB962C8B-B14F-4D97-AF65-F5344CB8AC3E}">
        <p14:creationId xmlns:p14="http://schemas.microsoft.com/office/powerpoint/2010/main" val="17070759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A1659B-CD43-44A3-BCDC-4279B67480E6}"/>
              </a:ext>
            </a:extLst>
          </p:cNvPr>
          <p:cNvSpPr>
            <a:spLocks noGrp="1"/>
          </p:cNvSpPr>
          <p:nvPr>
            <p:ph type="title"/>
          </p:nvPr>
        </p:nvSpPr>
        <p:spPr/>
        <p:txBody>
          <a:bodyPr/>
          <a:lstStyle/>
          <a:p>
            <a:r>
              <a:rPr lang="ja-JP" altLang="en-US" dirty="0"/>
              <a:t>ハッシュ・パーセプトロンの効果の例</a:t>
            </a:r>
          </a:p>
        </p:txBody>
      </p:sp>
      <p:sp>
        <p:nvSpPr>
          <p:cNvPr id="3" name="テキスト プレースホルダー 2">
            <a:extLst>
              <a:ext uri="{FF2B5EF4-FFF2-40B4-BE49-F238E27FC236}">
                <a16:creationId xmlns:a16="http://schemas.microsoft.com/office/drawing/2014/main" id="{6DC531F1-305B-4E6C-AFD6-4B95198C118C}"/>
              </a:ext>
            </a:extLst>
          </p:cNvPr>
          <p:cNvSpPr>
            <a:spLocks noGrp="1"/>
          </p:cNvSpPr>
          <p:nvPr>
            <p:ph type="body" sz="quarter" idx="10"/>
          </p:nvPr>
        </p:nvSpPr>
        <p:spPr>
          <a:xfrm>
            <a:off x="1775952" y="1088974"/>
            <a:ext cx="9540106" cy="5219751"/>
          </a:xfrm>
        </p:spPr>
        <p:txBody>
          <a:bodyPr/>
          <a:lstStyle/>
          <a:p>
            <a:r>
              <a:rPr lang="ja-JP" altLang="en-US" dirty="0">
                <a:latin typeface="+mn-ea"/>
              </a:rPr>
              <a:t>たとえば </a:t>
            </a:r>
            <a:r>
              <a:rPr lang="en-US" altLang="ja-JP" dirty="0">
                <a:solidFill>
                  <a:schemeClr val="accent5"/>
                </a:solidFill>
                <a:latin typeface="+mn-ea"/>
                <a:ea typeface="+mn-ea"/>
              </a:rPr>
              <a:t>101</a:t>
            </a:r>
            <a:r>
              <a:rPr lang="en-US" altLang="ja-JP" dirty="0">
                <a:latin typeface="+mn-ea"/>
                <a:ea typeface="+mn-ea"/>
              </a:rPr>
              <a:t> </a:t>
            </a:r>
            <a:r>
              <a:rPr lang="ja-JP" altLang="en-US" dirty="0">
                <a:latin typeface="+mn-ea"/>
                <a:ea typeface="+mn-ea"/>
              </a:rPr>
              <a:t>と </a:t>
            </a:r>
            <a:r>
              <a:rPr lang="en-US" altLang="ja-JP" dirty="0">
                <a:solidFill>
                  <a:schemeClr val="accent5"/>
                </a:solidFill>
                <a:latin typeface="+mn-ea"/>
                <a:ea typeface="+mn-ea"/>
              </a:rPr>
              <a:t>11111</a:t>
            </a:r>
            <a:r>
              <a:rPr lang="en-US" altLang="ja-JP" dirty="0">
                <a:solidFill>
                  <a:schemeClr val="accent6"/>
                </a:solidFill>
                <a:latin typeface="+mn-ea"/>
                <a:ea typeface="+mn-ea"/>
              </a:rPr>
              <a:t> </a:t>
            </a:r>
            <a:r>
              <a:rPr lang="ja-JP" altLang="en-US" dirty="0">
                <a:latin typeface="+mn-ea"/>
              </a:rPr>
              <a:t>の２パターンがあった場合</a:t>
            </a:r>
            <a:br>
              <a:rPr lang="en-US" altLang="ja-JP" dirty="0">
                <a:latin typeface="+mn-ea"/>
              </a:rPr>
            </a:br>
            <a:r>
              <a:rPr lang="ja-JP" altLang="en-US" dirty="0">
                <a:latin typeface="+mn-ea"/>
              </a:rPr>
              <a:t>（左から右に </a:t>
            </a:r>
            <a:r>
              <a:rPr lang="en-US" altLang="ja-JP" dirty="0">
                <a:latin typeface="+mn-ea"/>
              </a:rPr>
              <a:t>taken:1, untaken:0</a:t>
            </a:r>
            <a:r>
              <a:rPr lang="ja-JP" altLang="en-US" dirty="0">
                <a:latin typeface="+mn-ea"/>
              </a:rPr>
              <a:t>）</a:t>
            </a:r>
            <a:endParaRPr lang="en-US" altLang="ja-JP" dirty="0">
              <a:solidFill>
                <a:schemeClr val="accent6"/>
              </a:solidFill>
              <a:latin typeface="+mn-ea"/>
              <a:ea typeface="+mn-ea"/>
            </a:endParaRPr>
          </a:p>
          <a:p>
            <a:r>
              <a:rPr kumimoji="1" lang="ja-JP" altLang="en-US" dirty="0">
                <a:latin typeface="+mn-ea"/>
                <a:ea typeface="+mn-ea"/>
              </a:rPr>
              <a:t>固定長グローバル履歴予測 </a:t>
            </a:r>
            <a:r>
              <a:rPr kumimoji="1" lang="en-US" altLang="ja-JP" dirty="0">
                <a:latin typeface="+mn-ea"/>
                <a:ea typeface="+mn-ea"/>
              </a:rPr>
              <a:t>(HL=5)</a:t>
            </a:r>
            <a:endParaRPr lang="en-US" altLang="ja-JP" dirty="0">
              <a:latin typeface="+mn-ea"/>
              <a:ea typeface="+mn-ea"/>
            </a:endParaRPr>
          </a:p>
          <a:p>
            <a:pPr lvl="1"/>
            <a:r>
              <a:rPr lang="ja-JP" altLang="en-US" dirty="0">
                <a:latin typeface="+mn-ea"/>
                <a:ea typeface="+mn-ea"/>
              </a:rPr>
              <a:t>５カ所を更新：</a:t>
            </a:r>
            <a:r>
              <a:rPr lang="en-US" altLang="ja-JP" dirty="0">
                <a:solidFill>
                  <a:schemeClr val="accent6"/>
                </a:solidFill>
                <a:latin typeface="+mn-ea"/>
                <a:ea typeface="+mn-ea"/>
              </a:rPr>
              <a:t>00</a:t>
            </a:r>
            <a:r>
              <a:rPr lang="en-US" altLang="ja-JP" dirty="0">
                <a:solidFill>
                  <a:schemeClr val="accent5"/>
                </a:solidFill>
                <a:latin typeface="+mn-ea"/>
                <a:ea typeface="+mn-ea"/>
              </a:rPr>
              <a:t>101</a:t>
            </a:r>
            <a:r>
              <a:rPr lang="en-US" altLang="ja-JP" dirty="0">
                <a:latin typeface="+mn-ea"/>
                <a:ea typeface="+mn-ea"/>
              </a:rPr>
              <a:t>, </a:t>
            </a:r>
            <a:r>
              <a:rPr lang="en-US" altLang="ja-JP" dirty="0">
                <a:solidFill>
                  <a:schemeClr val="accent6"/>
                </a:solidFill>
                <a:latin typeface="+mn-ea"/>
                <a:ea typeface="+mn-ea"/>
              </a:rPr>
              <a:t>01</a:t>
            </a:r>
            <a:r>
              <a:rPr lang="en-US" altLang="ja-JP" dirty="0">
                <a:solidFill>
                  <a:schemeClr val="accent5"/>
                </a:solidFill>
                <a:latin typeface="+mn-ea"/>
                <a:ea typeface="+mn-ea"/>
              </a:rPr>
              <a:t>101</a:t>
            </a:r>
            <a:r>
              <a:rPr lang="en-US" altLang="ja-JP" dirty="0">
                <a:latin typeface="+mn-ea"/>
                <a:ea typeface="+mn-ea"/>
              </a:rPr>
              <a:t>, </a:t>
            </a:r>
            <a:r>
              <a:rPr lang="en-US" altLang="ja-JP" dirty="0">
                <a:solidFill>
                  <a:schemeClr val="accent6"/>
                </a:solidFill>
                <a:latin typeface="+mn-ea"/>
                <a:ea typeface="+mn-ea"/>
              </a:rPr>
              <a:t>10</a:t>
            </a:r>
            <a:r>
              <a:rPr lang="en-US" altLang="ja-JP" dirty="0">
                <a:solidFill>
                  <a:schemeClr val="accent5"/>
                </a:solidFill>
                <a:latin typeface="+mn-ea"/>
                <a:ea typeface="+mn-ea"/>
              </a:rPr>
              <a:t>101</a:t>
            </a:r>
            <a:r>
              <a:rPr lang="en-US" altLang="ja-JP" dirty="0">
                <a:latin typeface="+mn-ea"/>
                <a:ea typeface="+mn-ea"/>
              </a:rPr>
              <a:t>, </a:t>
            </a:r>
            <a:r>
              <a:rPr lang="en-US" altLang="ja-JP" dirty="0">
                <a:solidFill>
                  <a:schemeClr val="accent6"/>
                </a:solidFill>
                <a:latin typeface="+mn-ea"/>
                <a:ea typeface="+mn-ea"/>
              </a:rPr>
              <a:t>11</a:t>
            </a:r>
            <a:r>
              <a:rPr lang="en-US" altLang="ja-JP" dirty="0">
                <a:solidFill>
                  <a:schemeClr val="accent5"/>
                </a:solidFill>
                <a:latin typeface="+mn-ea"/>
                <a:ea typeface="+mn-ea"/>
              </a:rPr>
              <a:t>101</a:t>
            </a:r>
            <a:r>
              <a:rPr lang="en-US" altLang="ja-JP" dirty="0">
                <a:latin typeface="+mn-ea"/>
                <a:ea typeface="+mn-ea"/>
              </a:rPr>
              <a:t>, </a:t>
            </a:r>
            <a:r>
              <a:rPr lang="en-US" altLang="ja-JP" dirty="0">
                <a:solidFill>
                  <a:schemeClr val="accent5"/>
                </a:solidFill>
                <a:latin typeface="+mn-ea"/>
                <a:ea typeface="+mn-ea"/>
              </a:rPr>
              <a:t>11111</a:t>
            </a:r>
          </a:p>
          <a:p>
            <a:r>
              <a:rPr lang="ja-JP" altLang="en-US" dirty="0">
                <a:latin typeface="+mn-ea"/>
              </a:rPr>
              <a:t>ハッシュ・パーセプトロン</a:t>
            </a:r>
            <a:r>
              <a:rPr lang="en-US" altLang="ja-JP" dirty="0">
                <a:latin typeface="+mn-ea"/>
              </a:rPr>
              <a:t> (HL=3,5)</a:t>
            </a:r>
            <a:r>
              <a:rPr lang="ja-JP" altLang="en-US" dirty="0">
                <a:latin typeface="+mn-ea"/>
              </a:rPr>
              <a:t>  ：</a:t>
            </a:r>
            <a:endParaRPr lang="en-US" altLang="ja-JP" dirty="0">
              <a:latin typeface="+mn-ea"/>
            </a:endParaRPr>
          </a:p>
          <a:p>
            <a:pPr lvl="1"/>
            <a:r>
              <a:rPr lang="en-US" altLang="ja-JP" dirty="0">
                <a:solidFill>
                  <a:schemeClr val="accent5"/>
                </a:solidFill>
                <a:latin typeface="+mn-ea"/>
                <a:ea typeface="+mn-ea"/>
              </a:rPr>
              <a:t>101</a:t>
            </a:r>
            <a:r>
              <a:rPr lang="ja-JP" altLang="en-US" dirty="0">
                <a:latin typeface="+mn-ea"/>
              </a:rPr>
              <a:t>：主に１カ所を更新</a:t>
            </a:r>
            <a:endParaRPr lang="en-US" altLang="ja-JP" dirty="0">
              <a:latin typeface="+mn-ea"/>
            </a:endParaRPr>
          </a:p>
          <a:p>
            <a:pPr lvl="2"/>
            <a:r>
              <a:rPr lang="en-US" altLang="ja-JP" dirty="0">
                <a:latin typeface="+mn-ea"/>
              </a:rPr>
              <a:t>HL=3</a:t>
            </a:r>
            <a:r>
              <a:rPr lang="ja-JP" altLang="en-US" dirty="0">
                <a:latin typeface="+mn-ea"/>
              </a:rPr>
              <a:t>のテーブルでは，</a:t>
            </a:r>
            <a:r>
              <a:rPr lang="en-US" altLang="ja-JP" dirty="0">
                <a:solidFill>
                  <a:schemeClr val="accent5"/>
                </a:solidFill>
                <a:latin typeface="+mn-ea"/>
                <a:ea typeface="+mn-ea"/>
              </a:rPr>
              <a:t>101 </a:t>
            </a:r>
            <a:r>
              <a:rPr lang="ja-JP" altLang="en-US" dirty="0">
                <a:latin typeface="+mn-ea"/>
              </a:rPr>
              <a:t>の重みを大きく</a:t>
            </a:r>
            <a:endParaRPr lang="en-US" altLang="ja-JP" dirty="0">
              <a:latin typeface="+mn-ea"/>
            </a:endParaRPr>
          </a:p>
          <a:p>
            <a:pPr lvl="2"/>
            <a:r>
              <a:rPr lang="en-US" altLang="ja-JP" dirty="0">
                <a:latin typeface="+mn-ea"/>
              </a:rPr>
              <a:t>HL=5</a:t>
            </a:r>
            <a:r>
              <a:rPr lang="ja-JP" altLang="en-US" dirty="0">
                <a:latin typeface="+mn-ea"/>
              </a:rPr>
              <a:t>のテーブルでは，</a:t>
            </a:r>
            <a:r>
              <a:rPr lang="en-US" altLang="ja-JP" dirty="0">
                <a:solidFill>
                  <a:schemeClr val="accent6"/>
                </a:solidFill>
                <a:latin typeface="+mn-ea"/>
                <a:ea typeface="+mn-ea"/>
              </a:rPr>
              <a:t>00</a:t>
            </a:r>
            <a:r>
              <a:rPr lang="en-US" altLang="ja-JP" dirty="0">
                <a:solidFill>
                  <a:schemeClr val="accent5"/>
                </a:solidFill>
                <a:latin typeface="+mn-ea"/>
                <a:ea typeface="+mn-ea"/>
              </a:rPr>
              <a:t>101</a:t>
            </a:r>
            <a:r>
              <a:rPr lang="en-US" altLang="ja-JP" dirty="0">
                <a:latin typeface="+mn-ea"/>
                <a:ea typeface="+mn-ea"/>
              </a:rPr>
              <a:t>, </a:t>
            </a:r>
            <a:r>
              <a:rPr lang="en-US" altLang="ja-JP" dirty="0">
                <a:solidFill>
                  <a:schemeClr val="accent6"/>
                </a:solidFill>
                <a:latin typeface="+mn-ea"/>
                <a:ea typeface="+mn-ea"/>
              </a:rPr>
              <a:t>01</a:t>
            </a:r>
            <a:r>
              <a:rPr lang="en-US" altLang="ja-JP" dirty="0">
                <a:solidFill>
                  <a:schemeClr val="accent5"/>
                </a:solidFill>
                <a:latin typeface="+mn-ea"/>
                <a:ea typeface="+mn-ea"/>
              </a:rPr>
              <a:t>101</a:t>
            </a:r>
            <a:r>
              <a:rPr lang="en-US" altLang="ja-JP" dirty="0">
                <a:latin typeface="+mn-ea"/>
                <a:ea typeface="+mn-ea"/>
              </a:rPr>
              <a:t>, </a:t>
            </a:r>
            <a:r>
              <a:rPr lang="en-US" altLang="ja-JP" dirty="0">
                <a:solidFill>
                  <a:schemeClr val="accent6"/>
                </a:solidFill>
                <a:latin typeface="+mn-ea"/>
                <a:ea typeface="+mn-ea"/>
              </a:rPr>
              <a:t>10</a:t>
            </a:r>
            <a:r>
              <a:rPr lang="en-US" altLang="ja-JP" dirty="0">
                <a:solidFill>
                  <a:schemeClr val="accent5"/>
                </a:solidFill>
                <a:latin typeface="+mn-ea"/>
                <a:ea typeface="+mn-ea"/>
              </a:rPr>
              <a:t>101</a:t>
            </a:r>
            <a:r>
              <a:rPr lang="en-US" altLang="ja-JP" dirty="0">
                <a:latin typeface="+mn-ea"/>
                <a:ea typeface="+mn-ea"/>
              </a:rPr>
              <a:t>, </a:t>
            </a:r>
            <a:r>
              <a:rPr lang="en-US" altLang="ja-JP" dirty="0">
                <a:solidFill>
                  <a:schemeClr val="accent6"/>
                </a:solidFill>
                <a:latin typeface="+mn-ea"/>
                <a:ea typeface="+mn-ea"/>
              </a:rPr>
              <a:t>11</a:t>
            </a:r>
            <a:r>
              <a:rPr lang="en-US" altLang="ja-JP" dirty="0">
                <a:solidFill>
                  <a:schemeClr val="accent5"/>
                </a:solidFill>
                <a:latin typeface="+mn-ea"/>
                <a:ea typeface="+mn-ea"/>
              </a:rPr>
              <a:t>101 </a:t>
            </a:r>
            <a:r>
              <a:rPr lang="ja-JP" altLang="en-US" dirty="0">
                <a:latin typeface="+mn-ea"/>
                <a:ea typeface="+mn-ea"/>
              </a:rPr>
              <a:t>に散らされる</a:t>
            </a:r>
            <a:endParaRPr lang="en-US" altLang="ja-JP" dirty="0">
              <a:latin typeface="+mn-ea"/>
            </a:endParaRPr>
          </a:p>
          <a:p>
            <a:pPr lvl="1"/>
            <a:r>
              <a:rPr lang="en-US" altLang="ja-JP" dirty="0">
                <a:solidFill>
                  <a:schemeClr val="accent5"/>
                </a:solidFill>
                <a:latin typeface="+mn-ea"/>
              </a:rPr>
              <a:t>11111</a:t>
            </a:r>
            <a:r>
              <a:rPr lang="ja-JP" altLang="en-US" dirty="0">
                <a:latin typeface="+mn-ea"/>
              </a:rPr>
              <a:t>：主に１ </a:t>
            </a:r>
            <a:r>
              <a:rPr lang="en-US" altLang="ja-JP" dirty="0">
                <a:latin typeface="+mn-ea"/>
              </a:rPr>
              <a:t>or 2 </a:t>
            </a:r>
            <a:r>
              <a:rPr lang="ja-JP" altLang="en-US" dirty="0">
                <a:latin typeface="+mn-ea"/>
              </a:rPr>
              <a:t>カ所を更新</a:t>
            </a:r>
            <a:endParaRPr lang="en-US" altLang="ja-JP" dirty="0">
              <a:latin typeface="+mn-ea"/>
            </a:endParaRPr>
          </a:p>
          <a:p>
            <a:pPr lvl="2"/>
            <a:r>
              <a:rPr lang="en-US" altLang="ja-JP" dirty="0">
                <a:latin typeface="+mn-ea"/>
              </a:rPr>
              <a:t>HL=3</a:t>
            </a:r>
            <a:r>
              <a:rPr lang="ja-JP" altLang="en-US" dirty="0">
                <a:latin typeface="+mn-ea"/>
              </a:rPr>
              <a:t>のテーブルでは，</a:t>
            </a:r>
            <a:r>
              <a:rPr lang="en-US" altLang="ja-JP" dirty="0">
                <a:solidFill>
                  <a:schemeClr val="accent5"/>
                </a:solidFill>
                <a:latin typeface="+mn-ea"/>
                <a:ea typeface="+mn-ea"/>
              </a:rPr>
              <a:t>111 </a:t>
            </a:r>
            <a:r>
              <a:rPr lang="ja-JP" altLang="en-US" dirty="0">
                <a:latin typeface="+mn-ea"/>
              </a:rPr>
              <a:t>の重みを大きく</a:t>
            </a:r>
            <a:endParaRPr lang="en-US" altLang="ja-JP" dirty="0">
              <a:latin typeface="+mn-ea"/>
            </a:endParaRPr>
          </a:p>
          <a:p>
            <a:pPr lvl="2"/>
            <a:r>
              <a:rPr lang="en-US" altLang="ja-JP" dirty="0">
                <a:latin typeface="+mn-ea"/>
              </a:rPr>
              <a:t>HL=5</a:t>
            </a:r>
            <a:r>
              <a:rPr lang="ja-JP" altLang="en-US" dirty="0">
                <a:latin typeface="+mn-ea"/>
              </a:rPr>
              <a:t>のテーブルでは，</a:t>
            </a:r>
            <a:r>
              <a:rPr lang="en-US" altLang="ja-JP" dirty="0">
                <a:solidFill>
                  <a:schemeClr val="accent5"/>
                </a:solidFill>
                <a:latin typeface="+mn-ea"/>
              </a:rPr>
              <a:t>11111 </a:t>
            </a:r>
            <a:r>
              <a:rPr lang="ja-JP" altLang="en-US" dirty="0">
                <a:latin typeface="+mn-ea"/>
              </a:rPr>
              <a:t>の重みを大きく</a:t>
            </a:r>
            <a:endParaRPr lang="en-US" altLang="ja-JP" dirty="0">
              <a:latin typeface="+mn-ea"/>
            </a:endParaRPr>
          </a:p>
        </p:txBody>
      </p:sp>
    </p:spTree>
    <p:extLst>
      <p:ext uri="{BB962C8B-B14F-4D97-AF65-F5344CB8AC3E}">
        <p14:creationId xmlns:p14="http://schemas.microsoft.com/office/powerpoint/2010/main" val="2628127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B78F036-0CFF-41D7-9978-D3E95CF1D90A}"/>
              </a:ext>
            </a:extLst>
          </p:cNvPr>
          <p:cNvSpPr>
            <a:spLocks noGrp="1"/>
          </p:cNvSpPr>
          <p:nvPr>
            <p:ph type="title"/>
          </p:nvPr>
        </p:nvSpPr>
        <p:spPr/>
        <p:txBody>
          <a:bodyPr/>
          <a:lstStyle/>
          <a:p>
            <a:r>
              <a:rPr kumimoji="1" lang="en-US" altLang="ja-JP" dirty="0"/>
              <a:t>AMD Zen </a:t>
            </a:r>
            <a:r>
              <a:rPr kumimoji="1" lang="ja-JP" altLang="en-US" dirty="0"/>
              <a:t>では </a:t>
            </a:r>
            <a:r>
              <a:rPr kumimoji="1" lang="en-US" altLang="ja-JP" dirty="0"/>
              <a:t>Hashed Perceptron </a:t>
            </a:r>
            <a:r>
              <a:rPr kumimoji="1" lang="ja-JP" altLang="en-US" dirty="0"/>
              <a:t>を使ってる</a:t>
            </a:r>
          </a:p>
        </p:txBody>
      </p:sp>
      <p:sp>
        <p:nvSpPr>
          <p:cNvPr id="3" name="テキスト プレースホルダー 2">
            <a:extLst>
              <a:ext uri="{FF2B5EF4-FFF2-40B4-BE49-F238E27FC236}">
                <a16:creationId xmlns:a16="http://schemas.microsoft.com/office/drawing/2014/main" id="{DA236509-5739-46CD-9D4E-440FEE8D06BD}"/>
              </a:ext>
            </a:extLst>
          </p:cNvPr>
          <p:cNvSpPr>
            <a:spLocks noGrp="1"/>
          </p:cNvSpPr>
          <p:nvPr>
            <p:ph type="body" sz="quarter" idx="10"/>
          </p:nvPr>
        </p:nvSpPr>
        <p:spPr>
          <a:xfrm>
            <a:off x="2135956" y="6399033"/>
            <a:ext cx="8280092" cy="269696"/>
          </a:xfrm>
        </p:spPr>
        <p:txBody>
          <a:bodyPr/>
          <a:lstStyle/>
          <a:p>
            <a:r>
              <a:rPr kumimoji="1" lang="en-US" altLang="ja-JP" dirty="0" err="1"/>
              <a:t>HotChips</a:t>
            </a:r>
            <a:r>
              <a:rPr kumimoji="1" lang="en-US" altLang="ja-JP" dirty="0"/>
              <a:t> 2016 </a:t>
            </a:r>
            <a:r>
              <a:rPr kumimoji="1" lang="ja-JP" altLang="en-US" dirty="0"/>
              <a:t>の発表より</a:t>
            </a:r>
          </a:p>
        </p:txBody>
      </p:sp>
      <p:pic>
        <p:nvPicPr>
          <p:cNvPr id="1026" name="Picture 2">
            <a:extLst>
              <a:ext uri="{FF2B5EF4-FFF2-40B4-BE49-F238E27FC236}">
                <a16:creationId xmlns:a16="http://schemas.microsoft.com/office/drawing/2014/main" id="{9A64C54A-6011-4C15-AD1B-21A9596A71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5954" y="1268976"/>
            <a:ext cx="8352042" cy="4698024"/>
          </a:xfrm>
          <a:prstGeom prst="rect">
            <a:avLst/>
          </a:prstGeom>
          <a:noFill/>
          <a:extLst>
            <a:ext uri="{909E8E84-426E-40DD-AFC4-6F175D3DCCD1}">
              <a14:hiddenFill xmlns:a14="http://schemas.microsoft.com/office/drawing/2010/main">
                <a:solidFill>
                  <a:srgbClr val="FFFFFF"/>
                </a:solidFill>
              </a14:hiddenFill>
            </a:ext>
          </a:extLst>
        </p:spPr>
      </p:pic>
      <p:sp>
        <p:nvSpPr>
          <p:cNvPr id="4" name="楕円 3">
            <a:extLst>
              <a:ext uri="{FF2B5EF4-FFF2-40B4-BE49-F238E27FC236}">
                <a16:creationId xmlns:a16="http://schemas.microsoft.com/office/drawing/2014/main" id="{6B152878-60DE-4F10-8E61-E6044EBCFCAB}"/>
              </a:ext>
            </a:extLst>
          </p:cNvPr>
          <p:cNvSpPr/>
          <p:nvPr/>
        </p:nvSpPr>
        <p:spPr bwMode="auto">
          <a:xfrm>
            <a:off x="4295980" y="3248998"/>
            <a:ext cx="1620018" cy="630007"/>
          </a:xfrm>
          <a:prstGeom prst="ellipse">
            <a:avLst/>
          </a:prstGeom>
          <a:noFill/>
          <a:ln w="44450">
            <a:solidFill>
              <a:srgbClr val="FF0000"/>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 name="楕円 4">
            <a:extLst>
              <a:ext uri="{FF2B5EF4-FFF2-40B4-BE49-F238E27FC236}">
                <a16:creationId xmlns:a16="http://schemas.microsoft.com/office/drawing/2014/main" id="{66939187-48CA-AB75-244E-C57C017091BF}"/>
              </a:ext>
            </a:extLst>
          </p:cNvPr>
          <p:cNvSpPr/>
          <p:nvPr/>
        </p:nvSpPr>
        <p:spPr bwMode="auto">
          <a:xfrm>
            <a:off x="7266012" y="2438989"/>
            <a:ext cx="2070023" cy="450005"/>
          </a:xfrm>
          <a:prstGeom prst="ellipse">
            <a:avLst/>
          </a:prstGeom>
          <a:noFill/>
          <a:ln w="44450">
            <a:solidFill>
              <a:srgbClr val="FF0000"/>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14236926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415948" y="0"/>
            <a:ext cx="10776052" cy="908972"/>
          </a:xfrm>
        </p:spPr>
        <p:txBody>
          <a:bodyPr/>
          <a:lstStyle/>
          <a:p>
            <a:r>
              <a:rPr lang="en-US" altLang="ja-JP" dirty="0"/>
              <a:t>TAGE </a:t>
            </a:r>
            <a:r>
              <a:rPr lang="ja-JP" altLang="en-US" dirty="0"/>
              <a:t>予測器</a:t>
            </a:r>
          </a:p>
        </p:txBody>
      </p:sp>
      <p:sp>
        <p:nvSpPr>
          <p:cNvPr id="3" name="テキスト プレースホルダー 2"/>
          <p:cNvSpPr>
            <a:spLocks noGrp="1"/>
          </p:cNvSpPr>
          <p:nvPr>
            <p:ph type="body" sz="quarter" idx="10"/>
          </p:nvPr>
        </p:nvSpPr>
        <p:spPr>
          <a:xfrm>
            <a:off x="1775952" y="1088974"/>
            <a:ext cx="8730097" cy="5219751"/>
          </a:xfrm>
        </p:spPr>
        <p:txBody>
          <a:bodyPr/>
          <a:lstStyle/>
          <a:p>
            <a:r>
              <a:rPr lang="en-US" altLang="ja-JP" sz="1800" dirty="0"/>
              <a:t>TAGE </a:t>
            </a:r>
            <a:r>
              <a:rPr lang="ja-JP" altLang="en-US" sz="1800" dirty="0"/>
              <a:t>予測器</a:t>
            </a:r>
            <a:endParaRPr lang="en-US" altLang="ja-JP" sz="1800" dirty="0"/>
          </a:p>
          <a:p>
            <a:pPr lvl="1"/>
            <a:r>
              <a:rPr lang="en-US" altLang="ja-JP" sz="1800" dirty="0"/>
              <a:t>A. </a:t>
            </a:r>
            <a:r>
              <a:rPr lang="en-US" altLang="ja-JP" sz="1800" dirty="0" err="1"/>
              <a:t>Seznec</a:t>
            </a:r>
            <a:r>
              <a:rPr lang="en-US" altLang="ja-JP" sz="1800" dirty="0"/>
              <a:t> and P. Michaud. A case for (partially)-tagged geometric history length predictors, Journal of Instruction Level Parallelism (http://www.jilp.org/vol8), 2006</a:t>
            </a:r>
          </a:p>
          <a:p>
            <a:r>
              <a:rPr lang="ja-JP" altLang="en-US" sz="1800" dirty="0"/>
              <a:t>現在最も予測精度が高いと言われている予測器</a:t>
            </a:r>
            <a:endParaRPr lang="en-US" altLang="ja-JP" sz="1800" dirty="0"/>
          </a:p>
          <a:p>
            <a:pPr lvl="1"/>
            <a:r>
              <a:rPr lang="en-US" altLang="ja-JP" sz="1800" dirty="0"/>
              <a:t>2026 </a:t>
            </a:r>
            <a:r>
              <a:rPr lang="ja-JP" altLang="en-US" sz="1800" dirty="0"/>
              <a:t>年現在の高性能 </a:t>
            </a:r>
            <a:r>
              <a:rPr lang="en-US" altLang="ja-JP" sz="1800" dirty="0"/>
              <a:t>CPU </a:t>
            </a:r>
            <a:r>
              <a:rPr lang="ja-JP" altLang="en-US" sz="1800" dirty="0"/>
              <a:t>は知っている限り全部これベース</a:t>
            </a:r>
            <a:endParaRPr lang="en-US" altLang="ja-JP" sz="1800" dirty="0"/>
          </a:p>
          <a:p>
            <a:pPr lvl="2"/>
            <a:r>
              <a:rPr lang="en-US" altLang="ja-JP" sz="1800" dirty="0"/>
              <a:t>Intel, AMD, ARM, Apple…</a:t>
            </a:r>
          </a:p>
          <a:p>
            <a:pPr lvl="1"/>
            <a:r>
              <a:rPr lang="ja-JP" altLang="en-US" sz="1800" dirty="0"/>
              <a:t>多くの論文でリバースエンジニアリングされている</a:t>
            </a:r>
            <a:endParaRPr lang="en-US" altLang="ja-JP" sz="1800" dirty="0"/>
          </a:p>
          <a:p>
            <a:r>
              <a:rPr lang="ja-JP" altLang="en-US" sz="1800" dirty="0"/>
              <a:t>モチベーション</a:t>
            </a:r>
            <a:endParaRPr lang="en-US" altLang="ja-JP" sz="1800" dirty="0"/>
          </a:p>
          <a:p>
            <a:pPr lvl="1"/>
            <a:r>
              <a:rPr lang="ja-JP" altLang="en-US" sz="1800" dirty="0"/>
              <a:t>必要となるテーブルのエントリ数は２の履歴長乗に比例するので，</a:t>
            </a:r>
            <a:br>
              <a:rPr lang="en-US" altLang="ja-JP" sz="1800" dirty="0"/>
            </a:br>
            <a:r>
              <a:rPr lang="ja-JP" altLang="en-US" sz="1800" dirty="0"/>
              <a:t>なるべく履歴が短いテーブルだけで学習を済ましたい</a:t>
            </a:r>
          </a:p>
        </p:txBody>
      </p:sp>
    </p:spTree>
    <p:extLst>
      <p:ext uri="{BB962C8B-B14F-4D97-AF65-F5344CB8AC3E}">
        <p14:creationId xmlns:p14="http://schemas.microsoft.com/office/powerpoint/2010/main" val="24267363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TAGE </a:t>
            </a:r>
            <a:r>
              <a:rPr lang="ja-JP" altLang="en-US" dirty="0"/>
              <a:t>予測器</a:t>
            </a:r>
            <a:br>
              <a:rPr lang="en-US" altLang="ja-JP" dirty="0"/>
            </a:br>
            <a:r>
              <a:rPr lang="ja-JP" altLang="en-US" sz="1400" dirty="0"/>
              <a:t>図は </a:t>
            </a:r>
            <a:r>
              <a:rPr lang="en-US" altLang="ja-JP" sz="1400" dirty="0"/>
              <a:t>A. </a:t>
            </a:r>
            <a:r>
              <a:rPr lang="en-US" altLang="ja-JP" sz="1400" dirty="0" err="1"/>
              <a:t>Seznec</a:t>
            </a:r>
            <a:r>
              <a:rPr lang="en-US" altLang="ja-JP" sz="1400" dirty="0"/>
              <a:t> and P. Michaud.: A case for (partially)-tagged geometric history length predictors </a:t>
            </a:r>
            <a:r>
              <a:rPr lang="ja-JP" altLang="en-US" sz="1400" dirty="0"/>
              <a:t>より</a:t>
            </a:r>
            <a:endParaRPr lang="ja-JP" altLang="en-US" dirty="0"/>
          </a:p>
        </p:txBody>
      </p:sp>
      <p:sp>
        <p:nvSpPr>
          <p:cNvPr id="3" name="テキスト プレースホルダー 2"/>
          <p:cNvSpPr>
            <a:spLocks noGrp="1"/>
          </p:cNvSpPr>
          <p:nvPr>
            <p:ph type="body" sz="quarter" idx="10"/>
          </p:nvPr>
        </p:nvSpPr>
        <p:spPr>
          <a:xfrm>
            <a:off x="2135957" y="4329011"/>
            <a:ext cx="8010089" cy="1890021"/>
          </a:xfrm>
        </p:spPr>
        <p:txBody>
          <a:bodyPr/>
          <a:lstStyle/>
          <a:p>
            <a:r>
              <a:rPr lang="ja-JP" altLang="en-US" dirty="0">
                <a:latin typeface="+mn-ea"/>
                <a:ea typeface="+mn-ea"/>
              </a:rPr>
              <a:t>トーナメント式の構造：</a:t>
            </a:r>
            <a:endParaRPr lang="en-US" altLang="ja-JP" dirty="0">
              <a:latin typeface="+mn-ea"/>
              <a:ea typeface="+mn-ea"/>
            </a:endParaRPr>
          </a:p>
          <a:p>
            <a:pPr lvl="1"/>
            <a:r>
              <a:rPr lang="ja-JP" altLang="en-US" dirty="0">
                <a:latin typeface="+mn-ea"/>
                <a:ea typeface="+mn-ea"/>
              </a:rPr>
              <a:t>左端：　　単純な２ビット・カウンタ</a:t>
            </a:r>
            <a:endParaRPr lang="en-US" altLang="ja-JP" dirty="0">
              <a:latin typeface="+mn-ea"/>
              <a:ea typeface="+mn-ea"/>
            </a:endParaRPr>
          </a:p>
          <a:p>
            <a:pPr lvl="1"/>
            <a:r>
              <a:rPr lang="ja-JP" altLang="en-US" dirty="0">
                <a:latin typeface="+mn-ea"/>
                <a:ea typeface="+mn-ea"/>
              </a:rPr>
              <a:t>それ以外：</a:t>
            </a:r>
            <a:endParaRPr lang="en-US" altLang="ja-JP" dirty="0">
              <a:latin typeface="+mn-ea"/>
              <a:ea typeface="+mn-ea"/>
            </a:endParaRPr>
          </a:p>
          <a:p>
            <a:pPr lvl="2"/>
            <a:r>
              <a:rPr lang="ja-JP" altLang="en-US" dirty="0">
                <a:latin typeface="+mn-ea"/>
              </a:rPr>
              <a:t>グローバル履歴</a:t>
            </a:r>
            <a:r>
              <a:rPr lang="en-US" altLang="ja-JP" dirty="0">
                <a:latin typeface="+mn-ea"/>
              </a:rPr>
              <a:t>+PC </a:t>
            </a:r>
            <a:r>
              <a:rPr lang="ja-JP" altLang="en-US" dirty="0">
                <a:latin typeface="+mn-ea"/>
              </a:rPr>
              <a:t>でアクセスし，</a:t>
            </a:r>
            <a:r>
              <a:rPr lang="en-US" altLang="ja-JP" dirty="0">
                <a:latin typeface="+mn-ea"/>
              </a:rPr>
              <a:t>BTB </a:t>
            </a:r>
            <a:r>
              <a:rPr lang="ja-JP" altLang="en-US" dirty="0">
                <a:latin typeface="+mn-ea"/>
              </a:rPr>
              <a:t>の時のように</a:t>
            </a:r>
            <a:br>
              <a:rPr lang="en-US" altLang="ja-JP" dirty="0">
                <a:latin typeface="+mn-ea"/>
              </a:rPr>
            </a:br>
            <a:r>
              <a:rPr lang="ja-JP" altLang="en-US" dirty="0">
                <a:latin typeface="+mn-ea"/>
              </a:rPr>
              <a:t>ヒット</a:t>
            </a:r>
            <a:r>
              <a:rPr lang="en-US" altLang="ja-JP" dirty="0">
                <a:latin typeface="+mn-ea"/>
              </a:rPr>
              <a:t>/</a:t>
            </a:r>
            <a:r>
              <a:rPr lang="ja-JP" altLang="en-US" dirty="0">
                <a:latin typeface="+mn-ea"/>
              </a:rPr>
              <a:t>ミス判定を行う</a:t>
            </a:r>
            <a:endParaRPr lang="en-US" altLang="ja-JP" dirty="0">
              <a:latin typeface="+mn-ea"/>
            </a:endParaRPr>
          </a:p>
          <a:p>
            <a:pPr lvl="2"/>
            <a:r>
              <a:rPr kumimoji="1" lang="ja-JP" altLang="en-US" dirty="0">
                <a:latin typeface="+mn-ea"/>
                <a:ea typeface="+mn-ea"/>
              </a:rPr>
              <a:t>ヒットした場合，そのテーブルの </a:t>
            </a:r>
            <a:r>
              <a:rPr kumimoji="1" lang="en-US" altLang="ja-JP" dirty="0">
                <a:latin typeface="+mn-ea"/>
                <a:ea typeface="+mn-ea"/>
              </a:rPr>
              <a:t>n </a:t>
            </a:r>
            <a:r>
              <a:rPr kumimoji="1" lang="ja-JP" altLang="en-US" dirty="0">
                <a:latin typeface="+mn-ea"/>
                <a:ea typeface="+mn-ea"/>
              </a:rPr>
              <a:t>ビット・カウンタの内容で予測</a:t>
            </a:r>
            <a:endParaRPr kumimoji="1" lang="en-US" altLang="ja-JP" dirty="0">
              <a:latin typeface="+mn-ea"/>
              <a:ea typeface="+mn-ea"/>
            </a:endParaRPr>
          </a:p>
        </p:txBody>
      </p:sp>
      <p:pic>
        <p:nvPicPr>
          <p:cNvPr id="4" name="図 3"/>
          <p:cNvPicPr>
            <a:picLocks noChangeAspect="1"/>
          </p:cNvPicPr>
          <p:nvPr/>
        </p:nvPicPr>
        <p:blipFill>
          <a:blip r:embed="rId2"/>
          <a:stretch>
            <a:fillRect/>
          </a:stretch>
        </p:blipFill>
        <p:spPr>
          <a:xfrm>
            <a:off x="3575973" y="998973"/>
            <a:ext cx="4770053" cy="2921796"/>
          </a:xfrm>
          <a:prstGeom prst="rect">
            <a:avLst/>
          </a:prstGeom>
        </p:spPr>
      </p:pic>
    </p:spTree>
    <p:extLst>
      <p:ext uri="{BB962C8B-B14F-4D97-AF65-F5344CB8AC3E}">
        <p14:creationId xmlns:p14="http://schemas.microsoft.com/office/powerpoint/2010/main" val="26027392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TAGE </a:t>
            </a:r>
            <a:r>
              <a:rPr lang="ja-JP" altLang="en-US" dirty="0"/>
              <a:t>予測器</a:t>
            </a:r>
            <a:br>
              <a:rPr lang="en-US" altLang="ja-JP" dirty="0"/>
            </a:br>
            <a:r>
              <a:rPr lang="ja-JP" altLang="en-US" sz="1400" dirty="0"/>
              <a:t>図は </a:t>
            </a:r>
            <a:r>
              <a:rPr lang="en-US" altLang="ja-JP" sz="1400" dirty="0"/>
              <a:t>A. </a:t>
            </a:r>
            <a:r>
              <a:rPr lang="en-US" altLang="ja-JP" sz="1400" dirty="0" err="1"/>
              <a:t>Seznec</a:t>
            </a:r>
            <a:r>
              <a:rPr lang="en-US" altLang="ja-JP" sz="1400" dirty="0"/>
              <a:t> and P. Michaud. A case for (partially)-tagged</a:t>
            </a:r>
            <a:br>
              <a:rPr lang="en-US" altLang="ja-JP" sz="1400" dirty="0"/>
            </a:br>
            <a:r>
              <a:rPr lang="en-US" altLang="ja-JP" sz="1400" dirty="0"/>
              <a:t> geometric history length predictors </a:t>
            </a:r>
            <a:r>
              <a:rPr lang="ja-JP" altLang="en-US" sz="1400" dirty="0"/>
              <a:t>より</a:t>
            </a:r>
            <a:endParaRPr lang="ja-JP" altLang="en-US" dirty="0"/>
          </a:p>
        </p:txBody>
      </p:sp>
      <p:sp>
        <p:nvSpPr>
          <p:cNvPr id="3" name="テキスト プレースホルダー 2"/>
          <p:cNvSpPr>
            <a:spLocks noGrp="1"/>
          </p:cNvSpPr>
          <p:nvPr>
            <p:ph type="body" sz="quarter" idx="10"/>
          </p:nvPr>
        </p:nvSpPr>
        <p:spPr>
          <a:xfrm>
            <a:off x="2135957" y="4509013"/>
            <a:ext cx="8010089" cy="1890021"/>
          </a:xfrm>
        </p:spPr>
        <p:txBody>
          <a:bodyPr/>
          <a:lstStyle/>
          <a:p>
            <a:r>
              <a:rPr lang="ja-JP" altLang="en-US" dirty="0">
                <a:latin typeface="+mn-ea"/>
                <a:ea typeface="+mn-ea"/>
              </a:rPr>
              <a:t>パターン長が長いテーブルの結果を優先して使う</a:t>
            </a:r>
            <a:endParaRPr lang="en-US" altLang="ja-JP" dirty="0">
              <a:latin typeface="+mn-ea"/>
              <a:ea typeface="+mn-ea"/>
            </a:endParaRPr>
          </a:p>
          <a:p>
            <a:pPr lvl="1"/>
            <a:r>
              <a:rPr lang="ja-JP" altLang="en-US" dirty="0">
                <a:latin typeface="+mn-ea"/>
                <a:ea typeface="+mn-ea"/>
              </a:rPr>
              <a:t>右側でヒットするほど，その結果を優先する</a:t>
            </a:r>
            <a:endParaRPr lang="en-US" altLang="ja-JP" dirty="0">
              <a:latin typeface="+mn-ea"/>
              <a:ea typeface="+mn-ea"/>
            </a:endParaRPr>
          </a:p>
          <a:p>
            <a:pPr lvl="1"/>
            <a:r>
              <a:rPr lang="ja-JP" altLang="en-US" dirty="0">
                <a:latin typeface="+mn-ea"/>
                <a:ea typeface="+mn-ea"/>
              </a:rPr>
              <a:t>右に行くほど</a:t>
            </a:r>
            <a:r>
              <a:rPr lang="ja-JP" altLang="en-US" dirty="0">
                <a:latin typeface="+mn-ea"/>
              </a:rPr>
              <a:t>指数的に</a:t>
            </a:r>
            <a:r>
              <a:rPr lang="ja-JP" altLang="en-US" dirty="0">
                <a:latin typeface="+mn-ea"/>
                <a:ea typeface="+mn-ea"/>
              </a:rPr>
              <a:t>履歴長が長くなっている</a:t>
            </a:r>
            <a:endParaRPr lang="en-US" altLang="ja-JP" dirty="0">
              <a:latin typeface="+mn-ea"/>
              <a:ea typeface="+mn-ea"/>
            </a:endParaRPr>
          </a:p>
          <a:p>
            <a:r>
              <a:rPr lang="ja-JP" altLang="en-US" dirty="0">
                <a:latin typeface="+mn-ea"/>
                <a:ea typeface="+mn-ea"/>
              </a:rPr>
              <a:t>ヒット</a:t>
            </a:r>
            <a:r>
              <a:rPr lang="en-US" altLang="ja-JP" dirty="0">
                <a:latin typeface="+mn-ea"/>
                <a:ea typeface="+mn-ea"/>
              </a:rPr>
              <a:t>/</a:t>
            </a:r>
            <a:r>
              <a:rPr lang="ja-JP" altLang="en-US" dirty="0">
                <a:latin typeface="+mn-ea"/>
                <a:ea typeface="+mn-ea"/>
              </a:rPr>
              <a:t>ミスの判定ができるため，トーナメント状に優先度が</a:t>
            </a:r>
            <a:br>
              <a:rPr lang="en-US" altLang="ja-JP" dirty="0">
                <a:latin typeface="+mn-ea"/>
                <a:ea typeface="+mn-ea"/>
              </a:rPr>
            </a:br>
            <a:r>
              <a:rPr lang="ja-JP" altLang="en-US" dirty="0">
                <a:latin typeface="+mn-ea"/>
                <a:ea typeface="+mn-ea"/>
              </a:rPr>
              <a:t>決定できる</a:t>
            </a:r>
            <a:endParaRPr lang="en-US" altLang="ja-JP" dirty="0">
              <a:latin typeface="+mn-ea"/>
              <a:ea typeface="+mn-ea"/>
            </a:endParaRPr>
          </a:p>
          <a:p>
            <a:pPr lvl="1"/>
            <a:r>
              <a:rPr lang="ja-JP" altLang="en-US" dirty="0">
                <a:latin typeface="+mn-ea"/>
                <a:ea typeface="+mn-ea"/>
              </a:rPr>
              <a:t>ただの </a:t>
            </a:r>
            <a:r>
              <a:rPr lang="en-US" altLang="ja-JP" dirty="0">
                <a:latin typeface="+mn-ea"/>
                <a:ea typeface="+mn-ea"/>
              </a:rPr>
              <a:t>PHT </a:t>
            </a:r>
            <a:r>
              <a:rPr lang="ja-JP" altLang="en-US" dirty="0">
                <a:latin typeface="+mn-ea"/>
                <a:ea typeface="+mn-ea"/>
              </a:rPr>
              <a:t>だと，だれの結果を使えばいいかわからない</a:t>
            </a:r>
            <a:endParaRPr lang="en-US" altLang="ja-JP" dirty="0">
              <a:latin typeface="+mn-ea"/>
              <a:ea typeface="+mn-ea"/>
            </a:endParaRPr>
          </a:p>
          <a:p>
            <a:pPr lvl="1"/>
            <a:endParaRPr lang="en-US" altLang="ja-JP" dirty="0">
              <a:latin typeface="+mn-ea"/>
              <a:ea typeface="+mn-ea"/>
            </a:endParaRPr>
          </a:p>
        </p:txBody>
      </p:sp>
      <p:pic>
        <p:nvPicPr>
          <p:cNvPr id="4" name="図 3"/>
          <p:cNvPicPr>
            <a:picLocks noChangeAspect="1"/>
          </p:cNvPicPr>
          <p:nvPr/>
        </p:nvPicPr>
        <p:blipFill>
          <a:blip r:embed="rId2"/>
          <a:stretch>
            <a:fillRect/>
          </a:stretch>
        </p:blipFill>
        <p:spPr>
          <a:xfrm>
            <a:off x="3575973" y="998973"/>
            <a:ext cx="4770053" cy="2921796"/>
          </a:xfrm>
          <a:prstGeom prst="rect">
            <a:avLst/>
          </a:prstGeom>
        </p:spPr>
      </p:pic>
    </p:spTree>
    <p:extLst>
      <p:ext uri="{BB962C8B-B14F-4D97-AF65-F5344CB8AC3E}">
        <p14:creationId xmlns:p14="http://schemas.microsoft.com/office/powerpoint/2010/main" val="42756087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TAGE </a:t>
            </a:r>
            <a:r>
              <a:rPr lang="ja-JP" altLang="en-US" dirty="0"/>
              <a:t>予測器のメリット（１）</a:t>
            </a:r>
          </a:p>
        </p:txBody>
      </p:sp>
      <p:sp>
        <p:nvSpPr>
          <p:cNvPr id="3" name="テキスト プレースホルダー 2"/>
          <p:cNvSpPr>
            <a:spLocks noGrp="1"/>
          </p:cNvSpPr>
          <p:nvPr>
            <p:ph type="body" sz="quarter" idx="10"/>
          </p:nvPr>
        </p:nvSpPr>
        <p:spPr>
          <a:xfrm>
            <a:off x="2135957" y="4329011"/>
            <a:ext cx="8010089" cy="2250025"/>
          </a:xfrm>
        </p:spPr>
        <p:txBody>
          <a:bodyPr/>
          <a:lstStyle/>
          <a:p>
            <a:r>
              <a:rPr lang="ja-JP" altLang="en-US" dirty="0">
                <a:latin typeface="+mn-ea"/>
              </a:rPr>
              <a:t>利点１：パターン長ごとに，最適なテーブルに学習できる</a:t>
            </a:r>
            <a:endParaRPr lang="en-US" altLang="ja-JP" dirty="0">
              <a:latin typeface="+mn-ea"/>
            </a:endParaRPr>
          </a:p>
          <a:p>
            <a:pPr lvl="1"/>
            <a:r>
              <a:rPr kumimoji="1" lang="ja-JP" altLang="en-US" dirty="0">
                <a:latin typeface="+mn-ea"/>
                <a:ea typeface="+mn-ea"/>
              </a:rPr>
              <a:t>記憶すべきパターン数が減る</a:t>
            </a:r>
            <a:endParaRPr kumimoji="1" lang="en-US" altLang="ja-JP" dirty="0">
              <a:latin typeface="+mn-ea"/>
              <a:ea typeface="+mn-ea"/>
            </a:endParaRPr>
          </a:p>
          <a:p>
            <a:pPr lvl="1"/>
            <a:r>
              <a:rPr lang="ja-JP" altLang="en-US" dirty="0">
                <a:latin typeface="+mn-ea"/>
              </a:rPr>
              <a:t>たとえば </a:t>
            </a:r>
            <a:r>
              <a:rPr lang="en-US" altLang="ja-JP" dirty="0">
                <a:solidFill>
                  <a:schemeClr val="accent5"/>
                </a:solidFill>
                <a:latin typeface="+mn-ea"/>
                <a:ea typeface="+mn-ea"/>
              </a:rPr>
              <a:t>101</a:t>
            </a:r>
            <a:r>
              <a:rPr lang="en-US" altLang="ja-JP" dirty="0">
                <a:latin typeface="+mn-ea"/>
                <a:ea typeface="+mn-ea"/>
              </a:rPr>
              <a:t> </a:t>
            </a:r>
            <a:r>
              <a:rPr lang="ja-JP" altLang="en-US" dirty="0">
                <a:latin typeface="+mn-ea"/>
                <a:ea typeface="+mn-ea"/>
              </a:rPr>
              <a:t>と </a:t>
            </a:r>
            <a:r>
              <a:rPr lang="en-US" altLang="ja-JP" dirty="0">
                <a:solidFill>
                  <a:schemeClr val="accent5"/>
                </a:solidFill>
                <a:latin typeface="+mn-ea"/>
                <a:ea typeface="+mn-ea"/>
              </a:rPr>
              <a:t>11111</a:t>
            </a:r>
            <a:r>
              <a:rPr lang="en-US" altLang="ja-JP" dirty="0">
                <a:solidFill>
                  <a:schemeClr val="accent6"/>
                </a:solidFill>
                <a:latin typeface="+mn-ea"/>
                <a:ea typeface="+mn-ea"/>
              </a:rPr>
              <a:t> </a:t>
            </a:r>
            <a:r>
              <a:rPr lang="ja-JP" altLang="en-US" dirty="0">
                <a:latin typeface="+mn-ea"/>
              </a:rPr>
              <a:t>の２パターンがあった場合</a:t>
            </a:r>
            <a:endParaRPr lang="en-US" altLang="ja-JP" dirty="0">
              <a:solidFill>
                <a:schemeClr val="accent6"/>
              </a:solidFill>
              <a:latin typeface="+mn-ea"/>
              <a:ea typeface="+mn-ea"/>
            </a:endParaRPr>
          </a:p>
          <a:p>
            <a:pPr lvl="2"/>
            <a:r>
              <a:rPr lang="ja-JP" altLang="en-US" dirty="0">
                <a:latin typeface="+mn-ea"/>
                <a:ea typeface="+mn-ea"/>
              </a:rPr>
              <a:t>固定長</a:t>
            </a:r>
            <a:r>
              <a:rPr lang="en-US" altLang="ja-JP" dirty="0">
                <a:latin typeface="+mn-ea"/>
                <a:ea typeface="+mn-ea"/>
              </a:rPr>
              <a:t>(5)</a:t>
            </a:r>
            <a:r>
              <a:rPr lang="ja-JP" altLang="en-US" dirty="0">
                <a:latin typeface="+mn-ea"/>
                <a:ea typeface="+mn-ea"/>
              </a:rPr>
              <a:t>     ：</a:t>
            </a:r>
            <a:r>
              <a:rPr lang="en-US" altLang="ja-JP" dirty="0">
                <a:solidFill>
                  <a:schemeClr val="accent6"/>
                </a:solidFill>
                <a:latin typeface="+mn-ea"/>
                <a:ea typeface="+mn-ea"/>
              </a:rPr>
              <a:t>00</a:t>
            </a:r>
            <a:r>
              <a:rPr lang="en-US" altLang="ja-JP" dirty="0">
                <a:solidFill>
                  <a:schemeClr val="accent5"/>
                </a:solidFill>
                <a:latin typeface="+mn-ea"/>
                <a:ea typeface="+mn-ea"/>
              </a:rPr>
              <a:t>101</a:t>
            </a:r>
            <a:r>
              <a:rPr lang="en-US" altLang="ja-JP" dirty="0">
                <a:latin typeface="+mn-ea"/>
                <a:ea typeface="+mn-ea"/>
              </a:rPr>
              <a:t>, </a:t>
            </a:r>
            <a:r>
              <a:rPr lang="en-US" altLang="ja-JP" dirty="0">
                <a:solidFill>
                  <a:schemeClr val="accent6"/>
                </a:solidFill>
                <a:latin typeface="+mn-ea"/>
                <a:ea typeface="+mn-ea"/>
              </a:rPr>
              <a:t>01</a:t>
            </a:r>
            <a:r>
              <a:rPr lang="en-US" altLang="ja-JP" dirty="0">
                <a:solidFill>
                  <a:schemeClr val="accent5"/>
                </a:solidFill>
                <a:latin typeface="+mn-ea"/>
                <a:ea typeface="+mn-ea"/>
              </a:rPr>
              <a:t>101</a:t>
            </a:r>
            <a:r>
              <a:rPr lang="en-US" altLang="ja-JP" dirty="0">
                <a:latin typeface="+mn-ea"/>
                <a:ea typeface="+mn-ea"/>
              </a:rPr>
              <a:t>, </a:t>
            </a:r>
            <a:r>
              <a:rPr lang="en-US" altLang="ja-JP" dirty="0">
                <a:solidFill>
                  <a:schemeClr val="accent6"/>
                </a:solidFill>
                <a:latin typeface="+mn-ea"/>
                <a:ea typeface="+mn-ea"/>
              </a:rPr>
              <a:t>10</a:t>
            </a:r>
            <a:r>
              <a:rPr lang="en-US" altLang="ja-JP" dirty="0">
                <a:solidFill>
                  <a:schemeClr val="accent5"/>
                </a:solidFill>
                <a:latin typeface="+mn-ea"/>
                <a:ea typeface="+mn-ea"/>
              </a:rPr>
              <a:t>101</a:t>
            </a:r>
            <a:r>
              <a:rPr lang="en-US" altLang="ja-JP" dirty="0">
                <a:latin typeface="+mn-ea"/>
                <a:ea typeface="+mn-ea"/>
              </a:rPr>
              <a:t>, </a:t>
            </a:r>
            <a:r>
              <a:rPr lang="en-US" altLang="ja-JP" dirty="0">
                <a:solidFill>
                  <a:schemeClr val="accent6"/>
                </a:solidFill>
                <a:latin typeface="+mn-ea"/>
                <a:ea typeface="+mn-ea"/>
              </a:rPr>
              <a:t>11</a:t>
            </a:r>
            <a:r>
              <a:rPr lang="en-US" altLang="ja-JP" dirty="0">
                <a:solidFill>
                  <a:schemeClr val="accent5"/>
                </a:solidFill>
                <a:latin typeface="+mn-ea"/>
                <a:ea typeface="+mn-ea"/>
              </a:rPr>
              <a:t>101</a:t>
            </a:r>
            <a:r>
              <a:rPr lang="en-US" altLang="ja-JP" dirty="0">
                <a:latin typeface="+mn-ea"/>
                <a:ea typeface="+mn-ea"/>
              </a:rPr>
              <a:t>, </a:t>
            </a:r>
            <a:r>
              <a:rPr lang="en-US" altLang="ja-JP" dirty="0">
                <a:solidFill>
                  <a:schemeClr val="accent5"/>
                </a:solidFill>
                <a:latin typeface="+mn-ea"/>
                <a:ea typeface="+mn-ea"/>
              </a:rPr>
              <a:t>11111</a:t>
            </a:r>
          </a:p>
          <a:p>
            <a:pPr lvl="2"/>
            <a:r>
              <a:rPr lang="en-US" altLang="ja-JP" dirty="0">
                <a:latin typeface="+mn-ea"/>
              </a:rPr>
              <a:t>TAGE(3+5)</a:t>
            </a:r>
            <a:r>
              <a:rPr lang="ja-JP" altLang="en-US" dirty="0">
                <a:latin typeface="+mn-ea"/>
              </a:rPr>
              <a:t>  ：</a:t>
            </a:r>
            <a:r>
              <a:rPr lang="en-US" altLang="ja-JP" dirty="0">
                <a:solidFill>
                  <a:schemeClr val="accent5"/>
                </a:solidFill>
                <a:latin typeface="+mn-ea"/>
              </a:rPr>
              <a:t>101</a:t>
            </a:r>
            <a:r>
              <a:rPr lang="en-US" altLang="ja-JP" dirty="0">
                <a:latin typeface="+mn-ea"/>
              </a:rPr>
              <a:t>, </a:t>
            </a:r>
            <a:r>
              <a:rPr lang="en-US" altLang="ja-JP" dirty="0">
                <a:solidFill>
                  <a:schemeClr val="accent5"/>
                </a:solidFill>
                <a:latin typeface="+mn-ea"/>
              </a:rPr>
              <a:t>11111</a:t>
            </a:r>
            <a:endParaRPr lang="en-US" altLang="ja-JP" dirty="0">
              <a:latin typeface="+mn-ea"/>
            </a:endParaRPr>
          </a:p>
        </p:txBody>
      </p:sp>
      <p:pic>
        <p:nvPicPr>
          <p:cNvPr id="4" name="図 3"/>
          <p:cNvPicPr>
            <a:picLocks noChangeAspect="1"/>
          </p:cNvPicPr>
          <p:nvPr/>
        </p:nvPicPr>
        <p:blipFill>
          <a:blip r:embed="rId2"/>
          <a:stretch>
            <a:fillRect/>
          </a:stretch>
        </p:blipFill>
        <p:spPr>
          <a:xfrm>
            <a:off x="3575973" y="998973"/>
            <a:ext cx="4770053" cy="2921796"/>
          </a:xfrm>
          <a:prstGeom prst="rect">
            <a:avLst/>
          </a:prstGeom>
        </p:spPr>
      </p:pic>
    </p:spTree>
    <p:extLst>
      <p:ext uri="{BB962C8B-B14F-4D97-AF65-F5344CB8AC3E}">
        <p14:creationId xmlns:p14="http://schemas.microsoft.com/office/powerpoint/2010/main" val="40253955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TAGE </a:t>
            </a:r>
            <a:r>
              <a:rPr lang="ja-JP" altLang="en-US" dirty="0"/>
              <a:t>予測器のメリット（２）</a:t>
            </a:r>
          </a:p>
        </p:txBody>
      </p:sp>
      <p:sp>
        <p:nvSpPr>
          <p:cNvPr id="3" name="テキスト プレースホルダー 2"/>
          <p:cNvSpPr>
            <a:spLocks noGrp="1"/>
          </p:cNvSpPr>
          <p:nvPr>
            <p:ph type="body" sz="quarter" idx="10"/>
          </p:nvPr>
        </p:nvSpPr>
        <p:spPr>
          <a:xfrm>
            <a:off x="2135956" y="4329011"/>
            <a:ext cx="8280092" cy="2250025"/>
          </a:xfrm>
        </p:spPr>
        <p:txBody>
          <a:bodyPr/>
          <a:lstStyle/>
          <a:p>
            <a:r>
              <a:rPr lang="ja-JP" altLang="en-US" dirty="0">
                <a:latin typeface="+mn-ea"/>
              </a:rPr>
              <a:t>利点２：学習が早い</a:t>
            </a:r>
            <a:endParaRPr lang="en-US" altLang="ja-JP" dirty="0">
              <a:latin typeface="+mn-ea"/>
            </a:endParaRPr>
          </a:p>
          <a:p>
            <a:pPr lvl="1"/>
            <a:r>
              <a:rPr lang="ja-JP" altLang="en-US" dirty="0">
                <a:latin typeface="+mn-ea"/>
              </a:rPr>
              <a:t>大ざっぱに成立</a:t>
            </a:r>
            <a:r>
              <a:rPr lang="en-US" altLang="ja-JP" dirty="0">
                <a:latin typeface="+mn-ea"/>
              </a:rPr>
              <a:t>/</a:t>
            </a:r>
            <a:r>
              <a:rPr lang="ja-JP" altLang="en-US" dirty="0">
                <a:latin typeface="+mn-ea"/>
              </a:rPr>
              <a:t>不成立な傾向があるような場合，</a:t>
            </a:r>
            <a:endParaRPr lang="en-US" altLang="ja-JP" dirty="0">
              <a:latin typeface="+mn-ea"/>
            </a:endParaRPr>
          </a:p>
          <a:p>
            <a:pPr lvl="1"/>
            <a:r>
              <a:rPr lang="ja-JP" altLang="en-US" dirty="0">
                <a:latin typeface="+mn-ea"/>
              </a:rPr>
              <a:t>難しいパターンを学習する前に，とりあえず左端で大ざっぱな</a:t>
            </a:r>
            <a:br>
              <a:rPr lang="en-US" altLang="ja-JP" dirty="0">
                <a:latin typeface="+mn-ea"/>
              </a:rPr>
            </a:br>
            <a:r>
              <a:rPr lang="ja-JP" altLang="en-US" dirty="0">
                <a:latin typeface="+mn-ea"/>
              </a:rPr>
              <a:t>予測ができる</a:t>
            </a:r>
            <a:endParaRPr lang="en-US" altLang="ja-JP" dirty="0">
              <a:latin typeface="+mn-ea"/>
            </a:endParaRPr>
          </a:p>
          <a:p>
            <a:pPr lvl="2"/>
            <a:r>
              <a:rPr lang="ja-JP" altLang="en-US" dirty="0">
                <a:latin typeface="+mn-ea"/>
              </a:rPr>
              <a:t>左端は履歴を使わないただのカウンタだから</a:t>
            </a:r>
            <a:endParaRPr lang="en-US" altLang="ja-JP" dirty="0">
              <a:latin typeface="+mn-ea"/>
            </a:endParaRPr>
          </a:p>
        </p:txBody>
      </p:sp>
      <p:pic>
        <p:nvPicPr>
          <p:cNvPr id="4" name="図 3"/>
          <p:cNvPicPr>
            <a:picLocks noChangeAspect="1"/>
          </p:cNvPicPr>
          <p:nvPr/>
        </p:nvPicPr>
        <p:blipFill>
          <a:blip r:embed="rId2"/>
          <a:stretch>
            <a:fillRect/>
          </a:stretch>
        </p:blipFill>
        <p:spPr>
          <a:xfrm>
            <a:off x="3575973" y="998973"/>
            <a:ext cx="4770053" cy="2921796"/>
          </a:xfrm>
          <a:prstGeom prst="rect">
            <a:avLst/>
          </a:prstGeom>
        </p:spPr>
      </p:pic>
    </p:spTree>
    <p:extLst>
      <p:ext uri="{BB962C8B-B14F-4D97-AF65-F5344CB8AC3E}">
        <p14:creationId xmlns:p14="http://schemas.microsoft.com/office/powerpoint/2010/main" val="32120676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TAGE </a:t>
            </a:r>
            <a:r>
              <a:rPr lang="ja-JP" altLang="en-US" dirty="0"/>
              <a:t>予測器</a:t>
            </a:r>
            <a:r>
              <a:rPr kumimoji="1" lang="en-US" altLang="ja-JP" dirty="0"/>
              <a:t> </a:t>
            </a:r>
            <a:r>
              <a:rPr kumimoji="1" lang="ja-JP" altLang="en-US" dirty="0"/>
              <a:t>と ハッシュパーセプトロン予測器</a:t>
            </a:r>
          </a:p>
        </p:txBody>
      </p:sp>
      <p:sp>
        <p:nvSpPr>
          <p:cNvPr id="3" name="テキスト プレースホルダー 2"/>
          <p:cNvSpPr>
            <a:spLocks noGrp="1"/>
          </p:cNvSpPr>
          <p:nvPr>
            <p:ph type="body" sz="quarter" idx="10"/>
          </p:nvPr>
        </p:nvSpPr>
        <p:spPr/>
        <p:txBody>
          <a:bodyPr/>
          <a:lstStyle/>
          <a:p>
            <a:r>
              <a:rPr kumimoji="1" lang="ja-JP" altLang="en-US" dirty="0"/>
              <a:t>それぞれ，今一番予測精度が高いと思われている</a:t>
            </a:r>
            <a:endParaRPr kumimoji="1" lang="en-US" altLang="ja-JP" dirty="0"/>
          </a:p>
          <a:p>
            <a:pPr lvl="1"/>
            <a:r>
              <a:rPr kumimoji="1" lang="ja-JP" altLang="en-US" dirty="0"/>
              <a:t>インテルや </a:t>
            </a:r>
            <a:r>
              <a:rPr kumimoji="1" lang="en-US" altLang="ja-JP" dirty="0"/>
              <a:t>AMD </a:t>
            </a:r>
            <a:r>
              <a:rPr kumimoji="1" lang="ja-JP" altLang="en-US" dirty="0"/>
              <a:t>の </a:t>
            </a:r>
            <a:r>
              <a:rPr kumimoji="1" lang="en-US" altLang="ja-JP" dirty="0"/>
              <a:t>CPU </a:t>
            </a:r>
            <a:r>
              <a:rPr kumimoji="1" lang="ja-JP" altLang="en-US" dirty="0"/>
              <a:t>でも実際に採用</a:t>
            </a:r>
            <a:endParaRPr kumimoji="1" lang="en-US" altLang="ja-JP" dirty="0"/>
          </a:p>
          <a:p>
            <a:r>
              <a:rPr kumimoji="1" lang="en-US" altLang="ja-JP" dirty="0"/>
              <a:t>TAGE </a:t>
            </a:r>
            <a:r>
              <a:rPr kumimoji="1" lang="ja-JP" altLang="en-US" dirty="0"/>
              <a:t>の方が，基本的には良い精度を示す</a:t>
            </a:r>
            <a:endParaRPr kumimoji="1" lang="en-US" altLang="ja-JP" dirty="0"/>
          </a:p>
          <a:p>
            <a:pPr lvl="1"/>
            <a:r>
              <a:rPr kumimoji="1" lang="ja-JP" altLang="en-US" dirty="0"/>
              <a:t>タグでドンピシャで憶えるほうが，重みが散るより容量効率がよい</a:t>
            </a:r>
            <a:endParaRPr kumimoji="1" lang="en-US" altLang="ja-JP" dirty="0"/>
          </a:p>
        </p:txBody>
      </p:sp>
    </p:spTree>
    <p:extLst>
      <p:ext uri="{BB962C8B-B14F-4D97-AF65-F5344CB8AC3E}">
        <p14:creationId xmlns:p14="http://schemas.microsoft.com/office/powerpoint/2010/main" val="22909014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予測器の精度</a:t>
            </a:r>
            <a:br>
              <a:rPr lang="en-US" altLang="ja-JP" dirty="0"/>
            </a:br>
            <a:r>
              <a:rPr lang="en-US" altLang="ja-JP" sz="1600" dirty="0"/>
              <a:t>Pierre Michaud, An alternative TAGE-like conditional branch predictor, TACO 2018 </a:t>
            </a:r>
            <a:r>
              <a:rPr lang="ja-JP" altLang="en-US" sz="1600" dirty="0"/>
              <a:t>より</a:t>
            </a:r>
            <a:endParaRPr lang="ja-JP" altLang="en-US" sz="2000" dirty="0"/>
          </a:p>
        </p:txBody>
      </p:sp>
      <p:sp>
        <p:nvSpPr>
          <p:cNvPr id="5" name="テキスト プレースホルダー 4">
            <a:extLst>
              <a:ext uri="{FF2B5EF4-FFF2-40B4-BE49-F238E27FC236}">
                <a16:creationId xmlns:a16="http://schemas.microsoft.com/office/drawing/2014/main" id="{5B8A5D46-84F2-E930-4C19-148DC8901081}"/>
              </a:ext>
            </a:extLst>
          </p:cNvPr>
          <p:cNvSpPr>
            <a:spLocks noGrp="1"/>
          </p:cNvSpPr>
          <p:nvPr>
            <p:ph type="body" sz="quarter" idx="10"/>
          </p:nvPr>
        </p:nvSpPr>
        <p:spPr>
          <a:xfrm>
            <a:off x="1685951" y="6039029"/>
            <a:ext cx="8730097" cy="539699"/>
          </a:xfrm>
        </p:spPr>
        <p:txBody>
          <a:bodyPr/>
          <a:lstStyle/>
          <a:p>
            <a:r>
              <a:rPr lang="en-US" altLang="ja-JP" dirty="0"/>
              <a:t>TAGE-SC-L </a:t>
            </a:r>
            <a:r>
              <a:rPr lang="ja-JP" altLang="en-US" dirty="0"/>
              <a:t>と呼ぶある種のハイブリッド型が強い</a:t>
            </a:r>
            <a:endParaRPr lang="en-US" altLang="ja-JP" dirty="0"/>
          </a:p>
          <a:p>
            <a:pPr lvl="1"/>
            <a:r>
              <a:rPr lang="en-US" altLang="ja-JP" dirty="0"/>
              <a:t>statistical corrector  (SC) </a:t>
            </a:r>
            <a:r>
              <a:rPr lang="ja-JP" altLang="en-US" dirty="0"/>
              <a:t>は，一種のハッシュパーセプトロン</a:t>
            </a:r>
            <a:endParaRPr lang="en-US" altLang="ja-JP" dirty="0"/>
          </a:p>
          <a:p>
            <a:pPr lvl="1"/>
            <a:r>
              <a:rPr lang="en-US" altLang="ja-JP" dirty="0"/>
              <a:t>TAGE </a:t>
            </a:r>
            <a:r>
              <a:rPr lang="ja-JP" altLang="en-US" dirty="0"/>
              <a:t>の結果を補正する</a:t>
            </a:r>
          </a:p>
          <a:p>
            <a:endParaRPr lang="ja-JP" altLang="en-US" dirty="0"/>
          </a:p>
        </p:txBody>
      </p:sp>
      <p:pic>
        <p:nvPicPr>
          <p:cNvPr id="1028" name="Picture 4" descr="画像"/>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5951" y="1178975"/>
            <a:ext cx="8719331" cy="38700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07856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5C36FA-4923-9F9A-9B2E-3AD9A2E9DE72}"/>
              </a:ext>
            </a:extLst>
          </p:cNvPr>
          <p:cNvSpPr>
            <a:spLocks noGrp="1"/>
          </p:cNvSpPr>
          <p:nvPr>
            <p:ph type="title"/>
          </p:nvPr>
        </p:nvSpPr>
        <p:spPr>
          <a:xfrm>
            <a:off x="1415948" y="0"/>
            <a:ext cx="10776052" cy="908972"/>
          </a:xfrm>
        </p:spPr>
        <p:txBody>
          <a:bodyPr/>
          <a:lstStyle/>
          <a:p>
            <a:r>
              <a:rPr lang="ja-JP" altLang="en-US" dirty="0"/>
              <a:t>分岐予測のアルゴリズムの発展</a:t>
            </a:r>
            <a:endParaRPr lang="en-US" dirty="0"/>
          </a:p>
        </p:txBody>
      </p:sp>
      <p:sp>
        <p:nvSpPr>
          <p:cNvPr id="3" name="コンテンツ プレースホルダー 2">
            <a:extLst>
              <a:ext uri="{FF2B5EF4-FFF2-40B4-BE49-F238E27FC236}">
                <a16:creationId xmlns:a16="http://schemas.microsoft.com/office/drawing/2014/main" id="{3E229215-1F13-D6B9-EF86-F917FBA59DDA}"/>
              </a:ext>
            </a:extLst>
          </p:cNvPr>
          <p:cNvSpPr>
            <a:spLocks noGrp="1"/>
          </p:cNvSpPr>
          <p:nvPr>
            <p:ph type="body" sz="quarter" idx="10"/>
          </p:nvPr>
        </p:nvSpPr>
        <p:spPr>
          <a:xfrm>
            <a:off x="605939" y="1898983"/>
            <a:ext cx="8729662" cy="4679694"/>
          </a:xfrm>
        </p:spPr>
        <p:txBody>
          <a:bodyPr anchor="t"/>
          <a:lstStyle/>
          <a:p>
            <a:r>
              <a:rPr lang="ja-JP" altLang="en-US" dirty="0"/>
              <a:t>基本的には </a:t>
            </a:r>
            <a:r>
              <a:rPr lang="en-US" altLang="ja-JP" dirty="0"/>
              <a:t>André Seznec </a:t>
            </a:r>
            <a:r>
              <a:rPr lang="ja-JP" altLang="en-US" dirty="0"/>
              <a:t>先生が作った </a:t>
            </a:r>
            <a:r>
              <a:rPr lang="en-US" altLang="ja-JP" dirty="0"/>
              <a:t>TAGE-SC </a:t>
            </a:r>
            <a:r>
              <a:rPr lang="ja-JP" altLang="en-US" dirty="0"/>
              <a:t>が</a:t>
            </a:r>
            <a:br>
              <a:rPr lang="en-US" altLang="ja-JP" dirty="0"/>
            </a:br>
            <a:r>
              <a:rPr lang="ja-JP" altLang="en-US" dirty="0"/>
              <a:t>最も予測精度が高いと言われている</a:t>
            </a:r>
            <a:endParaRPr lang="en-US" altLang="ja-JP" dirty="0"/>
          </a:p>
          <a:p>
            <a:pPr lvl="1"/>
            <a:r>
              <a:rPr lang="ja-JP" altLang="en-US" dirty="0"/>
              <a:t>写真 は </a:t>
            </a:r>
            <a:r>
              <a:rPr lang="en-US" dirty="0">
                <a:hlinkClick r:id="rId2"/>
              </a:rPr>
              <a:t>https://team.inria.fr/pacap/members/andre-seznec/</a:t>
            </a:r>
            <a:r>
              <a:rPr lang="en-US" dirty="0"/>
              <a:t> </a:t>
            </a:r>
            <a:r>
              <a:rPr lang="ja-JP" altLang="en-US" dirty="0"/>
              <a:t>より</a:t>
            </a:r>
            <a:endParaRPr lang="en-US" altLang="ja-JP" dirty="0"/>
          </a:p>
          <a:p>
            <a:r>
              <a:rPr lang="en-US" altLang="ja-JP" dirty="0"/>
              <a:t>Championship Branch Prediction</a:t>
            </a:r>
          </a:p>
          <a:p>
            <a:pPr lvl="1"/>
            <a:r>
              <a:rPr lang="ja-JP" altLang="en-US" dirty="0"/>
              <a:t>分岐予測は，この大会で出た様々なアイデアを元に発展してきた</a:t>
            </a:r>
            <a:endParaRPr lang="en-US" altLang="ja-JP" dirty="0"/>
          </a:p>
          <a:p>
            <a:pPr lvl="1"/>
            <a:r>
              <a:rPr lang="en-US" altLang="ja-JP" dirty="0"/>
              <a:t>Seznec </a:t>
            </a:r>
            <a:r>
              <a:rPr lang="ja-JP" altLang="en-US" dirty="0"/>
              <a:t>先生がもうずーっと優勝し続けていた（</a:t>
            </a:r>
            <a:r>
              <a:rPr lang="en-US" altLang="ja-JP" dirty="0"/>
              <a:t>20</a:t>
            </a:r>
            <a:r>
              <a:rPr lang="ja-JP" altLang="en-US" dirty="0"/>
              <a:t>年以上）</a:t>
            </a:r>
            <a:endParaRPr lang="en-US" altLang="ja-JP" dirty="0"/>
          </a:p>
          <a:p>
            <a:pPr lvl="1"/>
            <a:r>
              <a:rPr lang="en-US" altLang="ja-JP" dirty="0"/>
              <a:t>2025 </a:t>
            </a:r>
            <a:r>
              <a:rPr lang="ja-JP" altLang="en-US" dirty="0"/>
              <a:t>年に久しぶりに開催</a:t>
            </a:r>
            <a:endParaRPr lang="en-US" altLang="ja-JP" dirty="0"/>
          </a:p>
        </p:txBody>
      </p:sp>
      <p:pic>
        <p:nvPicPr>
          <p:cNvPr id="5" name="Picture 2" descr="André Seznec">
            <a:extLst>
              <a:ext uri="{FF2B5EF4-FFF2-40B4-BE49-F238E27FC236}">
                <a16:creationId xmlns:a16="http://schemas.microsoft.com/office/drawing/2014/main" id="{E9F29D1A-5CC8-69E9-F12E-7DF24787415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76032" y="1988984"/>
            <a:ext cx="2436754" cy="36538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88187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424BDF23-B6B9-A415-6103-A64416F597ED}"/>
              </a:ext>
            </a:extLst>
          </p:cNvPr>
          <p:cNvSpPr/>
          <p:nvPr/>
        </p:nvSpPr>
        <p:spPr bwMode="auto">
          <a:xfrm>
            <a:off x="1524000" y="0"/>
            <a:ext cx="9144000" cy="6858000"/>
          </a:xfrm>
          <a:prstGeom prst="rect">
            <a:avLst/>
          </a:prstGeom>
          <a:ln>
            <a:noFill/>
            <a:headEnd/>
            <a:tailEnd type="triangle" w="sm" len="med"/>
          </a:ln>
        </p:spPr>
        <p:style>
          <a:lnRef idx="2">
            <a:schemeClr val="dk1">
              <a:shade val="15000"/>
            </a:schemeClr>
          </a:lnRef>
          <a:fillRef idx="1">
            <a:schemeClr val="dk1"/>
          </a:fillRef>
          <a:effectRef idx="0">
            <a:schemeClr val="dk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pic>
        <p:nvPicPr>
          <p:cNvPr id="5" name="図 4">
            <a:extLst>
              <a:ext uri="{FF2B5EF4-FFF2-40B4-BE49-F238E27FC236}">
                <a16:creationId xmlns:a16="http://schemas.microsoft.com/office/drawing/2014/main" id="{4B735AC2-5A7B-033B-BC7F-04D89242E9C0}"/>
              </a:ext>
            </a:extLst>
          </p:cNvPr>
          <p:cNvPicPr>
            <a:picLocks noChangeAspect="1"/>
          </p:cNvPicPr>
          <p:nvPr/>
        </p:nvPicPr>
        <p:blipFill>
          <a:blip r:embed="rId2"/>
          <a:stretch>
            <a:fillRect/>
          </a:stretch>
        </p:blipFill>
        <p:spPr>
          <a:xfrm>
            <a:off x="1524000" y="864898"/>
            <a:ext cx="9144000" cy="5128205"/>
          </a:xfrm>
          <a:prstGeom prst="rect">
            <a:avLst/>
          </a:prstGeom>
        </p:spPr>
      </p:pic>
    </p:spTree>
    <p:extLst>
      <p:ext uri="{BB962C8B-B14F-4D97-AF65-F5344CB8AC3E}">
        <p14:creationId xmlns:p14="http://schemas.microsoft.com/office/powerpoint/2010/main" val="16292237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6A3E8BC-E410-7405-495D-07ADB2A61C10}"/>
              </a:ext>
            </a:extLst>
          </p:cNvPr>
          <p:cNvSpPr>
            <a:spLocks noGrp="1"/>
          </p:cNvSpPr>
          <p:nvPr>
            <p:ph type="title"/>
          </p:nvPr>
        </p:nvSpPr>
        <p:spPr/>
        <p:txBody>
          <a:bodyPr/>
          <a:lstStyle/>
          <a:p>
            <a:r>
              <a:rPr kumimoji="1" lang="ja-JP" altLang="en-US" dirty="0"/>
              <a:t>去年はうちが優勝</a:t>
            </a:r>
          </a:p>
        </p:txBody>
      </p:sp>
      <p:pic>
        <p:nvPicPr>
          <p:cNvPr id="5" name="図 4">
            <a:extLst>
              <a:ext uri="{FF2B5EF4-FFF2-40B4-BE49-F238E27FC236}">
                <a16:creationId xmlns:a16="http://schemas.microsoft.com/office/drawing/2014/main" id="{AA9825A1-BF79-0D9E-3822-84FBAA53926A}"/>
              </a:ext>
            </a:extLst>
          </p:cNvPr>
          <p:cNvPicPr>
            <a:picLocks noChangeAspect="1"/>
          </p:cNvPicPr>
          <p:nvPr/>
        </p:nvPicPr>
        <p:blipFill>
          <a:blip r:embed="rId2"/>
          <a:stretch>
            <a:fillRect/>
          </a:stretch>
        </p:blipFill>
        <p:spPr>
          <a:xfrm>
            <a:off x="1505949" y="998973"/>
            <a:ext cx="9144000" cy="5141876"/>
          </a:xfrm>
          <a:prstGeom prst="rect">
            <a:avLst/>
          </a:prstGeom>
        </p:spPr>
      </p:pic>
    </p:spTree>
    <p:extLst>
      <p:ext uri="{BB962C8B-B14F-4D97-AF65-F5344CB8AC3E}">
        <p14:creationId xmlns:p14="http://schemas.microsoft.com/office/powerpoint/2010/main" val="6446615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3BB5915-FAB6-7557-A1C3-60B29982973E}"/>
              </a:ext>
            </a:extLst>
          </p:cNvPr>
          <p:cNvSpPr>
            <a:spLocks noGrp="1"/>
          </p:cNvSpPr>
          <p:nvPr>
            <p:ph type="title"/>
          </p:nvPr>
        </p:nvSpPr>
        <p:spPr/>
        <p:txBody>
          <a:bodyPr>
            <a:normAutofit fontScale="90000"/>
          </a:bodyPr>
          <a:lstStyle/>
          <a:p>
            <a:r>
              <a:rPr lang="en-US" altLang="ja-JP" sz="3600" dirty="0"/>
              <a:t>RUNLTS </a:t>
            </a:r>
            <a:r>
              <a:rPr lang="ja-JP" altLang="en-US" sz="3600" dirty="0"/>
              <a:t>予測器</a:t>
            </a:r>
            <a:br>
              <a:rPr lang="en-US" altLang="ja-JP" sz="4000" dirty="0"/>
            </a:br>
            <a:r>
              <a:rPr lang="ja-JP" altLang="en-US" sz="2400" dirty="0">
                <a:latin typeface="メイリオ" panose="020B0604030504040204" pitchFamily="50" charset="-128"/>
              </a:rPr>
              <a:t>世界でもっとも強い分岐予測器の１つ（</a:t>
            </a:r>
            <a:r>
              <a:rPr lang="en-US" altLang="ja-JP" sz="2400" dirty="0">
                <a:latin typeface="メイリオ" panose="020B0604030504040204" pitchFamily="50" charset="-128"/>
              </a:rPr>
              <a:t>2026</a:t>
            </a:r>
            <a:r>
              <a:rPr lang="ja-JP" altLang="en-US" sz="2400" dirty="0">
                <a:latin typeface="メイリオ" panose="020B0604030504040204" pitchFamily="50" charset="-128"/>
              </a:rPr>
              <a:t>年</a:t>
            </a:r>
            <a:r>
              <a:rPr lang="en-US" altLang="ja-JP" sz="2400" dirty="0">
                <a:latin typeface="メイリオ" panose="020B0604030504040204" pitchFamily="50" charset="-128"/>
              </a:rPr>
              <a:t>5</a:t>
            </a:r>
            <a:r>
              <a:rPr lang="ja-JP" altLang="en-US" sz="2400" dirty="0">
                <a:latin typeface="メイリオ" panose="020B0604030504040204" pitchFamily="50" charset="-128"/>
              </a:rPr>
              <a:t>月現在）</a:t>
            </a:r>
            <a:endParaRPr lang="ja-JP" altLang="en-US" sz="4000" dirty="0">
              <a:latin typeface="メイリオ" panose="020B0604030504040204" pitchFamily="50" charset="-128"/>
            </a:endParaRPr>
          </a:p>
        </p:txBody>
      </p:sp>
      <p:sp>
        <p:nvSpPr>
          <p:cNvPr id="3" name="コンテンツ プレースホルダー 2">
            <a:extLst>
              <a:ext uri="{FF2B5EF4-FFF2-40B4-BE49-F238E27FC236}">
                <a16:creationId xmlns:a16="http://schemas.microsoft.com/office/drawing/2014/main" id="{4334B937-DFF3-F15A-A301-50998CA03BA9}"/>
              </a:ext>
            </a:extLst>
          </p:cNvPr>
          <p:cNvSpPr>
            <a:spLocks noGrp="1"/>
          </p:cNvSpPr>
          <p:nvPr>
            <p:ph sz="quarter" idx="10"/>
          </p:nvPr>
        </p:nvSpPr>
        <p:spPr>
          <a:xfrm>
            <a:off x="1685951" y="1538979"/>
            <a:ext cx="8730097" cy="1980022"/>
          </a:xfrm>
        </p:spPr>
        <p:txBody>
          <a:bodyPr/>
          <a:lstStyle/>
          <a:p>
            <a:r>
              <a:rPr lang="ja-JP" altLang="en-US" sz="1800" dirty="0"/>
              <a:t>基本的には </a:t>
            </a:r>
            <a:r>
              <a:rPr lang="en-US" altLang="ja-JP" sz="1800" dirty="0"/>
              <a:t>TAGE-SC </a:t>
            </a:r>
            <a:r>
              <a:rPr lang="ja-JP" altLang="en-US" sz="1800" dirty="0"/>
              <a:t>予測器の構造を踏襲</a:t>
            </a:r>
            <a:endParaRPr lang="en-US" altLang="ja-JP" sz="1800" dirty="0"/>
          </a:p>
          <a:p>
            <a:pPr marL="817200" lvl="1" indent="-457200">
              <a:buFont typeface="+mj-lt"/>
              <a:buAutoNum type="arabicPeriod"/>
            </a:pPr>
            <a:r>
              <a:rPr lang="ja-JP" altLang="en-US" sz="1800" dirty="0"/>
              <a:t>エントリのアロケーションポリシ</a:t>
            </a:r>
            <a:endParaRPr lang="en-US" altLang="ja-JP" sz="1800" dirty="0"/>
          </a:p>
          <a:p>
            <a:pPr marL="817200" lvl="1" indent="-457200">
              <a:buFont typeface="+mj-lt"/>
              <a:buAutoNum type="arabicPeriod"/>
            </a:pPr>
            <a:r>
              <a:rPr lang="ja-JP" altLang="en-US" sz="1800" dirty="0"/>
              <a:t>ヒストリ長の取り方を幾何級数から異なるものに</a:t>
            </a:r>
            <a:endParaRPr lang="en-US" altLang="ja-JP" sz="1800" dirty="0"/>
          </a:p>
          <a:p>
            <a:pPr marL="817200" lvl="1" indent="-457200">
              <a:buFont typeface="+mj-lt"/>
              <a:buAutoNum type="arabicPeriod"/>
            </a:pPr>
            <a:r>
              <a:rPr lang="en-US" altLang="ja-JP" sz="1800" dirty="0"/>
              <a:t>SC </a:t>
            </a:r>
            <a:r>
              <a:rPr lang="ja-JP" altLang="en-US" sz="1800" dirty="0"/>
              <a:t>をいろいろ改良</a:t>
            </a:r>
            <a:endParaRPr lang="en-US" altLang="ja-JP" sz="1800" dirty="0"/>
          </a:p>
          <a:p>
            <a:pPr marL="817200" lvl="1" indent="-457200">
              <a:buFont typeface="+mj-lt"/>
              <a:buAutoNum type="arabicPeriod"/>
            </a:pPr>
            <a:r>
              <a:rPr lang="en-US" altLang="ja-JP" sz="1800" dirty="0" err="1">
                <a:solidFill>
                  <a:schemeClr val="accent5"/>
                </a:solidFill>
              </a:rPr>
              <a:t>RBias</a:t>
            </a:r>
            <a:r>
              <a:rPr lang="ja-JP" altLang="en-US" sz="1800" dirty="0">
                <a:solidFill>
                  <a:schemeClr val="accent5"/>
                </a:solidFill>
              </a:rPr>
              <a:t>：レジスタ値と分岐方向の相関を捉える新しい機構</a:t>
            </a:r>
            <a:endParaRPr lang="en-US" altLang="ja-JP" sz="1800" dirty="0">
              <a:solidFill>
                <a:schemeClr val="accent5"/>
              </a:solidFill>
            </a:endParaRPr>
          </a:p>
          <a:p>
            <a:r>
              <a:rPr lang="en-US" altLang="ja-JP" sz="1800" dirty="0"/>
              <a:t>Toru Koizumi et al., “RUNLTS: Branch Prediction with Register-Value Correlations and Hierarchical Table Orchestration”, ISCA 2026 </a:t>
            </a:r>
            <a:r>
              <a:rPr lang="ja-JP" altLang="en-US" sz="1800" dirty="0"/>
              <a:t>でフルペーパーの発表予定</a:t>
            </a:r>
            <a:endParaRPr kumimoji="1" lang="en-US" altLang="ja-JP" sz="1800" dirty="0"/>
          </a:p>
        </p:txBody>
      </p:sp>
      <p:grpSp>
        <p:nvGrpSpPr>
          <p:cNvPr id="5" name="グループ化 4">
            <a:extLst>
              <a:ext uri="{FF2B5EF4-FFF2-40B4-BE49-F238E27FC236}">
                <a16:creationId xmlns:a16="http://schemas.microsoft.com/office/drawing/2014/main" id="{4BC487FC-8D14-C40F-C837-30CA113D20E0}"/>
              </a:ext>
            </a:extLst>
          </p:cNvPr>
          <p:cNvGrpSpPr/>
          <p:nvPr/>
        </p:nvGrpSpPr>
        <p:grpSpPr>
          <a:xfrm>
            <a:off x="1505949" y="4059007"/>
            <a:ext cx="8572500" cy="2598749"/>
            <a:chOff x="1809750" y="3057751"/>
            <a:chExt cx="8572500" cy="2598749"/>
          </a:xfrm>
        </p:grpSpPr>
        <p:sp>
          <p:nvSpPr>
            <p:cNvPr id="260" name="正方形/長方形 259">
              <a:extLst>
                <a:ext uri="{FF2B5EF4-FFF2-40B4-BE49-F238E27FC236}">
                  <a16:creationId xmlns:a16="http://schemas.microsoft.com/office/drawing/2014/main" id="{6B4AE000-F6C8-7D70-EEF6-86BFFA9AF891}"/>
                </a:ext>
              </a:extLst>
            </p:cNvPr>
            <p:cNvSpPr/>
            <p:nvPr/>
          </p:nvSpPr>
          <p:spPr>
            <a:xfrm>
              <a:off x="4543500" y="3057751"/>
              <a:ext cx="5838750" cy="2159999"/>
            </a:xfrm>
            <a:prstGeom prst="rect">
              <a:avLst/>
            </a:prstGeom>
            <a:solidFill>
              <a:schemeClr val="accent3">
                <a:lumMod val="20000"/>
                <a:lumOff val="80000"/>
              </a:schemeClr>
            </a:solidFill>
            <a:ln>
              <a:noFill/>
            </a:ln>
          </p:spPr>
          <p:style>
            <a:lnRef idx="2">
              <a:schemeClr val="dk1"/>
            </a:lnRef>
            <a:fillRef idx="1">
              <a:schemeClr val="lt1"/>
            </a:fillRef>
            <a:effectRef idx="0">
              <a:schemeClr val="dk1"/>
            </a:effectRef>
            <a:fontRef idx="minor">
              <a:schemeClr val="dk1"/>
            </a:fontRef>
          </p:style>
          <p:txBody>
            <a:bodyPr rtlCol="0" anchor="t"/>
            <a:lstStyle/>
            <a:p>
              <a:pPr defTabSz="342900"/>
              <a:r>
                <a:rPr lang="en-US" altLang="ja-JP" sz="1350" dirty="0">
                  <a:solidFill>
                    <a:prstClr val="black"/>
                  </a:solidFill>
                  <a:latin typeface="Calibri" panose="020F0502020204030204"/>
                  <a:ea typeface="游ゴシック" panose="020B0400000000000000" pitchFamily="50" charset="-128"/>
                </a:rPr>
                <a:t>Statistical corrector predictor (SC)</a:t>
              </a:r>
              <a:endParaRPr lang="ja-JP" altLang="en-US" sz="1350" dirty="0">
                <a:solidFill>
                  <a:prstClr val="black"/>
                </a:solidFill>
                <a:latin typeface="Calibri" panose="020F0502020204030204"/>
                <a:ea typeface="游ゴシック" panose="020B0400000000000000" pitchFamily="50" charset="-128"/>
              </a:endParaRPr>
            </a:p>
          </p:txBody>
        </p:sp>
        <p:sp>
          <p:nvSpPr>
            <p:cNvPr id="259" name="正方形/長方形 258">
              <a:extLst>
                <a:ext uri="{FF2B5EF4-FFF2-40B4-BE49-F238E27FC236}">
                  <a16:creationId xmlns:a16="http://schemas.microsoft.com/office/drawing/2014/main" id="{53C7C9D7-ED39-551D-4AF3-CBF9A89C6FB4}"/>
                </a:ext>
              </a:extLst>
            </p:cNvPr>
            <p:cNvSpPr/>
            <p:nvPr/>
          </p:nvSpPr>
          <p:spPr>
            <a:xfrm>
              <a:off x="1809750" y="3057751"/>
              <a:ext cx="2531250" cy="2159999"/>
            </a:xfrm>
            <a:prstGeom prst="rect">
              <a:avLst/>
            </a:prstGeom>
            <a:solidFill>
              <a:schemeClr val="accent3">
                <a:lumMod val="20000"/>
                <a:lumOff val="80000"/>
              </a:schemeClr>
            </a:solidFill>
            <a:ln>
              <a:noFill/>
            </a:ln>
          </p:spPr>
          <p:style>
            <a:lnRef idx="2">
              <a:schemeClr val="dk1"/>
            </a:lnRef>
            <a:fillRef idx="1">
              <a:schemeClr val="lt1"/>
            </a:fillRef>
            <a:effectRef idx="0">
              <a:schemeClr val="dk1"/>
            </a:effectRef>
            <a:fontRef idx="minor">
              <a:schemeClr val="dk1"/>
            </a:fontRef>
          </p:style>
          <p:txBody>
            <a:bodyPr rtlCol="0" anchor="t"/>
            <a:lstStyle/>
            <a:p>
              <a:pPr defTabSz="342900"/>
              <a:r>
                <a:rPr lang="en-US" altLang="ja-JP" sz="1350" dirty="0">
                  <a:solidFill>
                    <a:prstClr val="black"/>
                  </a:solidFill>
                  <a:latin typeface="Calibri" panose="020F0502020204030204"/>
                  <a:ea typeface="游ゴシック" panose="020B0400000000000000" pitchFamily="50" charset="-128"/>
                </a:rPr>
                <a:t>Table predictor</a:t>
              </a:r>
              <a:endParaRPr lang="ja-JP" altLang="en-US" sz="1350" dirty="0">
                <a:solidFill>
                  <a:prstClr val="black"/>
                </a:solidFill>
                <a:latin typeface="Calibri" panose="020F0502020204030204"/>
                <a:ea typeface="游ゴシック" panose="020B0400000000000000" pitchFamily="50" charset="-128"/>
              </a:endParaRPr>
            </a:p>
          </p:txBody>
        </p:sp>
        <p:sp>
          <p:nvSpPr>
            <p:cNvPr id="140" name="Freeform 10">
              <a:extLst>
                <a:ext uri="{FF2B5EF4-FFF2-40B4-BE49-F238E27FC236}">
                  <a16:creationId xmlns:a16="http://schemas.microsoft.com/office/drawing/2014/main" id="{8F07BF9A-D5BA-0BE3-9A4B-C20A499CA3DA}"/>
                </a:ext>
              </a:extLst>
            </p:cNvPr>
            <p:cNvSpPr>
              <a:spLocks/>
            </p:cNvSpPr>
            <p:nvPr/>
          </p:nvSpPr>
          <p:spPr bwMode="auto">
            <a:xfrm>
              <a:off x="2181000" y="4103999"/>
              <a:ext cx="371224" cy="101250"/>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9525"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Lst>
          </p:spPr>
          <p:txBody>
            <a:bodyPr wrap="none" lIns="0" tIns="0" rIns="0" bIns="0">
              <a:noAutofit/>
            </a:bodyPr>
            <a:lstStyle/>
            <a:p>
              <a:pPr defTabSz="342900"/>
              <a:endParaRPr kumimoji="0" lang="ja-JP" altLang="en-US" sz="1350">
                <a:solidFill>
                  <a:prstClr val="black"/>
                </a:solidFill>
                <a:latin typeface="Arial Narrow" pitchFamily="34" charset="0"/>
                <a:ea typeface="游ゴシック" panose="020B0400000000000000" pitchFamily="50" charset="-128"/>
                <a:cs typeface="Times New Roman" pitchFamily="18" charset="0"/>
              </a:endParaRPr>
            </a:p>
          </p:txBody>
        </p:sp>
        <p:sp>
          <p:nvSpPr>
            <p:cNvPr id="141" name="正方形/長方形 140">
              <a:extLst>
                <a:ext uri="{FF2B5EF4-FFF2-40B4-BE49-F238E27FC236}">
                  <a16:creationId xmlns:a16="http://schemas.microsoft.com/office/drawing/2014/main" id="{72311D96-7E86-2073-B66E-1E49526C408F}"/>
                </a:ext>
              </a:extLst>
            </p:cNvPr>
            <p:cNvSpPr/>
            <p:nvPr/>
          </p:nvSpPr>
          <p:spPr>
            <a:xfrm>
              <a:off x="1944750" y="3732749"/>
              <a:ext cx="472508" cy="371250"/>
            </a:xfrm>
            <a:prstGeom prst="rect">
              <a:avLst/>
            </a:prstGeom>
            <a:solidFill>
              <a:schemeClr val="accent5">
                <a:lumMod val="20000"/>
                <a:lumOff val="80000"/>
              </a:schemeClr>
            </a:solidFill>
            <a:ln w="12700"/>
          </p:spPr>
          <p:style>
            <a:lnRef idx="2">
              <a:schemeClr val="dk1"/>
            </a:lnRef>
            <a:fillRef idx="1">
              <a:schemeClr val="lt1"/>
            </a:fillRef>
            <a:effectRef idx="0">
              <a:schemeClr val="dk1"/>
            </a:effectRef>
            <a:fontRef idx="minor">
              <a:schemeClr val="dk1"/>
            </a:fontRef>
          </p:style>
          <p:txBody>
            <a:bodyPr wrap="none" lIns="0" tIns="0" rIns="0" bIns="0" rtlCol="0" anchor="ctr">
              <a:noAutofit/>
            </a:bodyPr>
            <a:lstStyle/>
            <a:p>
              <a:pPr algn="ctr" defTabSz="342900">
                <a:lnSpc>
                  <a:spcPts val="825"/>
                </a:lnSpc>
              </a:pPr>
              <a:r>
                <a:rPr kumimoji="0" lang="en-US" altLang="ja-JP" sz="825" dirty="0">
                  <a:solidFill>
                    <a:prstClr val="black"/>
                  </a:solidFill>
                  <a:latin typeface="Arial" panose="020B0604020202020204" pitchFamily="34" charset="0"/>
                  <a:ea typeface="游ゴシック" panose="020B0400000000000000" pitchFamily="50" charset="-128"/>
                  <a:cs typeface="Arial" panose="020B0604020202020204" pitchFamily="34" charset="0"/>
                </a:rPr>
                <a:t>Bimodal</a:t>
              </a:r>
            </a:p>
          </p:txBody>
        </p:sp>
        <p:sp>
          <p:nvSpPr>
            <p:cNvPr id="142" name="正方形/長方形 141">
              <a:extLst>
                <a:ext uri="{FF2B5EF4-FFF2-40B4-BE49-F238E27FC236}">
                  <a16:creationId xmlns:a16="http://schemas.microsoft.com/office/drawing/2014/main" id="{81472155-8763-1486-9F16-827BABD57A20}"/>
                </a:ext>
              </a:extLst>
            </p:cNvPr>
            <p:cNvSpPr/>
            <p:nvPr/>
          </p:nvSpPr>
          <p:spPr>
            <a:xfrm>
              <a:off x="1911000" y="3361498"/>
              <a:ext cx="540006" cy="13500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342900"/>
              <a:r>
                <a:rPr lang="en-US" altLang="ja-JP" sz="825" dirty="0">
                  <a:solidFill>
                    <a:prstClr val="black"/>
                  </a:solidFill>
                  <a:latin typeface="Arial" panose="020B0604020202020204" pitchFamily="34" charset="0"/>
                  <a:ea typeface="游ゴシック" panose="020B0400000000000000" pitchFamily="50" charset="-128"/>
                  <a:cs typeface="Arial" panose="020B0604020202020204" pitchFamily="34" charset="0"/>
                </a:rPr>
                <a:t>PC</a:t>
              </a:r>
              <a:endParaRPr lang="en-US" sz="825" dirty="0">
                <a:solidFill>
                  <a:prstClr val="black"/>
                </a:solidFill>
                <a:latin typeface="Times New Roman" panose="02020603050405020304" pitchFamily="18" charset="0"/>
                <a:cs typeface="Times New Roman" panose="02020603050405020304" pitchFamily="18" charset="0"/>
              </a:endParaRPr>
            </a:p>
          </p:txBody>
        </p:sp>
        <p:cxnSp>
          <p:nvCxnSpPr>
            <p:cNvPr id="143" name="直線矢印コネクタ 142">
              <a:extLst>
                <a:ext uri="{FF2B5EF4-FFF2-40B4-BE49-F238E27FC236}">
                  <a16:creationId xmlns:a16="http://schemas.microsoft.com/office/drawing/2014/main" id="{3C951A0E-74B6-BDDE-1A91-1520BC7167E7}"/>
                </a:ext>
              </a:extLst>
            </p:cNvPr>
            <p:cNvCxnSpPr>
              <a:cxnSpLocks/>
              <a:stCxn id="142" idx="2"/>
              <a:endCxn id="141" idx="0"/>
            </p:cNvCxnSpPr>
            <p:nvPr/>
          </p:nvCxnSpPr>
          <p:spPr>
            <a:xfrm>
              <a:off x="2181004" y="3496501"/>
              <a:ext cx="1" cy="236249"/>
            </a:xfrm>
            <a:prstGeom prst="straightConnector1">
              <a:avLst/>
            </a:prstGeom>
            <a:ln w="952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44" name="台形 143">
              <a:extLst>
                <a:ext uri="{FF2B5EF4-FFF2-40B4-BE49-F238E27FC236}">
                  <a16:creationId xmlns:a16="http://schemas.microsoft.com/office/drawing/2014/main" id="{A13D0BE4-4990-85D1-6000-ECA0B8E83874}"/>
                </a:ext>
              </a:extLst>
            </p:cNvPr>
            <p:cNvSpPr/>
            <p:nvPr/>
          </p:nvSpPr>
          <p:spPr>
            <a:xfrm flipV="1">
              <a:off x="2484724" y="4306498"/>
              <a:ext cx="270003" cy="67502"/>
            </a:xfrm>
            <a:prstGeom prst="trapezoid">
              <a:avLst/>
            </a:prstGeom>
            <a:ln w="12700"/>
          </p:spPr>
          <p:style>
            <a:lnRef idx="2">
              <a:schemeClr val="dk1"/>
            </a:lnRef>
            <a:fillRef idx="1">
              <a:schemeClr val="lt1"/>
            </a:fillRef>
            <a:effectRef idx="0">
              <a:schemeClr val="dk1"/>
            </a:effectRef>
            <a:fontRef idx="minor">
              <a:schemeClr val="dk1"/>
            </a:fontRef>
          </p:style>
          <p:txBody>
            <a:bodyPr wrap="none" rtlCol="0" anchor="ctr"/>
            <a:lstStyle/>
            <a:p>
              <a:pPr algn="ctr" defTabSz="342900"/>
              <a:endParaRPr lang="en-US" sz="1350" dirty="0">
                <a:solidFill>
                  <a:prstClr val="black"/>
                </a:solidFill>
                <a:latin typeface="Times New Roman" panose="02020603050405020304" pitchFamily="18" charset="0"/>
                <a:cs typeface="Times New Roman" panose="02020603050405020304" pitchFamily="18" charset="0"/>
              </a:endParaRPr>
            </a:p>
          </p:txBody>
        </p:sp>
        <p:cxnSp>
          <p:nvCxnSpPr>
            <p:cNvPr id="145" name="直線コネクタ 144">
              <a:extLst>
                <a:ext uri="{FF2B5EF4-FFF2-40B4-BE49-F238E27FC236}">
                  <a16:creationId xmlns:a16="http://schemas.microsoft.com/office/drawing/2014/main" id="{F5D03A6A-7879-3202-F6DF-5F8F9C3B9CBD}"/>
                </a:ext>
              </a:extLst>
            </p:cNvPr>
            <p:cNvCxnSpPr>
              <a:cxnSpLocks/>
            </p:cNvCxnSpPr>
            <p:nvPr/>
          </p:nvCxnSpPr>
          <p:spPr>
            <a:xfrm>
              <a:off x="2687225" y="4103998"/>
              <a:ext cx="0" cy="202502"/>
            </a:xfrm>
            <a:prstGeom prst="line">
              <a:avLst/>
            </a:prstGeom>
            <a:noFill/>
            <a:ln w="9525" cap="rnd"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Lst>
          </p:spPr>
        </p:cxnSp>
        <p:cxnSp>
          <p:nvCxnSpPr>
            <p:cNvPr id="146" name="直線コネクタ 145">
              <a:extLst>
                <a:ext uri="{FF2B5EF4-FFF2-40B4-BE49-F238E27FC236}">
                  <a16:creationId xmlns:a16="http://schemas.microsoft.com/office/drawing/2014/main" id="{73620010-2877-1B7F-9086-0CF5392B6BBC}"/>
                </a:ext>
              </a:extLst>
            </p:cNvPr>
            <p:cNvCxnSpPr>
              <a:cxnSpLocks/>
            </p:cNvCxnSpPr>
            <p:nvPr/>
          </p:nvCxnSpPr>
          <p:spPr>
            <a:xfrm>
              <a:off x="2552224" y="4205250"/>
              <a:ext cx="0" cy="101251"/>
            </a:xfrm>
            <a:prstGeom prst="line">
              <a:avLst/>
            </a:prstGeom>
            <a:noFill/>
            <a:ln w="9525" cap="rnd"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Lst>
          </p:spPr>
        </p:cxnSp>
        <p:sp>
          <p:nvSpPr>
            <p:cNvPr id="147" name="Freeform 10">
              <a:extLst>
                <a:ext uri="{FF2B5EF4-FFF2-40B4-BE49-F238E27FC236}">
                  <a16:creationId xmlns:a16="http://schemas.microsoft.com/office/drawing/2014/main" id="{D83A9C4D-4913-CD67-BDE8-CF81A303026B}"/>
                </a:ext>
              </a:extLst>
            </p:cNvPr>
            <p:cNvSpPr>
              <a:spLocks/>
            </p:cNvSpPr>
            <p:nvPr/>
          </p:nvSpPr>
          <p:spPr bwMode="auto">
            <a:xfrm>
              <a:off x="2619725" y="4374001"/>
              <a:ext cx="405005" cy="6750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9525"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Lst>
          </p:spPr>
          <p:txBody>
            <a:bodyPr wrap="none" lIns="0" tIns="0" rIns="0" bIns="0">
              <a:noAutofit/>
            </a:bodyPr>
            <a:lstStyle/>
            <a:p>
              <a:pPr defTabSz="342900"/>
              <a:endParaRPr kumimoji="0" lang="ja-JP" altLang="en-US" sz="1350">
                <a:solidFill>
                  <a:prstClr val="black"/>
                </a:solidFill>
                <a:latin typeface="Arial Narrow" pitchFamily="34" charset="0"/>
                <a:ea typeface="游ゴシック" panose="020B0400000000000000" pitchFamily="50" charset="-128"/>
                <a:cs typeface="Times New Roman" pitchFamily="18" charset="0"/>
              </a:endParaRPr>
            </a:p>
          </p:txBody>
        </p:sp>
        <p:sp>
          <p:nvSpPr>
            <p:cNvPr id="148" name="台形 147">
              <a:extLst>
                <a:ext uri="{FF2B5EF4-FFF2-40B4-BE49-F238E27FC236}">
                  <a16:creationId xmlns:a16="http://schemas.microsoft.com/office/drawing/2014/main" id="{7F475CD8-9E95-9BD5-EDB7-22331E49EB48}"/>
                </a:ext>
              </a:extLst>
            </p:cNvPr>
            <p:cNvSpPr/>
            <p:nvPr/>
          </p:nvSpPr>
          <p:spPr>
            <a:xfrm flipV="1">
              <a:off x="2957229" y="4509002"/>
              <a:ext cx="270003" cy="67501"/>
            </a:xfrm>
            <a:prstGeom prst="trapezoid">
              <a:avLst/>
            </a:prstGeom>
            <a:ln w="12700"/>
          </p:spPr>
          <p:style>
            <a:lnRef idx="2">
              <a:schemeClr val="dk1"/>
            </a:lnRef>
            <a:fillRef idx="1">
              <a:schemeClr val="lt1"/>
            </a:fillRef>
            <a:effectRef idx="0">
              <a:schemeClr val="dk1"/>
            </a:effectRef>
            <a:fontRef idx="minor">
              <a:schemeClr val="dk1"/>
            </a:fontRef>
          </p:style>
          <p:txBody>
            <a:bodyPr wrap="none" rtlCol="0" anchor="ctr"/>
            <a:lstStyle/>
            <a:p>
              <a:pPr algn="ctr" defTabSz="342900"/>
              <a:endParaRPr lang="en-US" sz="1350" dirty="0">
                <a:solidFill>
                  <a:prstClr val="black"/>
                </a:solidFill>
                <a:latin typeface="Times New Roman" panose="02020603050405020304" pitchFamily="18" charset="0"/>
                <a:cs typeface="Times New Roman" panose="02020603050405020304" pitchFamily="18" charset="0"/>
              </a:endParaRPr>
            </a:p>
          </p:txBody>
        </p:sp>
        <p:cxnSp>
          <p:nvCxnSpPr>
            <p:cNvPr id="149" name="直線コネクタ 148">
              <a:extLst>
                <a:ext uri="{FF2B5EF4-FFF2-40B4-BE49-F238E27FC236}">
                  <a16:creationId xmlns:a16="http://schemas.microsoft.com/office/drawing/2014/main" id="{36BA481A-613B-A05A-4E17-7CD643D95694}"/>
                </a:ext>
              </a:extLst>
            </p:cNvPr>
            <p:cNvCxnSpPr>
              <a:cxnSpLocks/>
            </p:cNvCxnSpPr>
            <p:nvPr/>
          </p:nvCxnSpPr>
          <p:spPr>
            <a:xfrm>
              <a:off x="3024729" y="4441502"/>
              <a:ext cx="0" cy="67501"/>
            </a:xfrm>
            <a:prstGeom prst="line">
              <a:avLst/>
            </a:prstGeom>
            <a:noFill/>
            <a:ln w="9525" cap="rnd"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Lst>
          </p:spPr>
        </p:cxnSp>
        <p:cxnSp>
          <p:nvCxnSpPr>
            <p:cNvPr id="150" name="直線コネクタ 149">
              <a:extLst>
                <a:ext uri="{FF2B5EF4-FFF2-40B4-BE49-F238E27FC236}">
                  <a16:creationId xmlns:a16="http://schemas.microsoft.com/office/drawing/2014/main" id="{758202AE-33B5-CB5B-379D-2270D5E3FDDB}"/>
                </a:ext>
              </a:extLst>
            </p:cNvPr>
            <p:cNvCxnSpPr>
              <a:cxnSpLocks/>
            </p:cNvCxnSpPr>
            <p:nvPr/>
          </p:nvCxnSpPr>
          <p:spPr>
            <a:xfrm>
              <a:off x="3159731" y="4104000"/>
              <a:ext cx="0" cy="405003"/>
            </a:xfrm>
            <a:prstGeom prst="line">
              <a:avLst/>
            </a:prstGeom>
            <a:noFill/>
            <a:ln w="9525" cap="rnd"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Lst>
          </p:spPr>
        </p:cxnSp>
        <p:sp>
          <p:nvSpPr>
            <p:cNvPr id="151" name="正方形/長方形 150">
              <a:extLst>
                <a:ext uri="{FF2B5EF4-FFF2-40B4-BE49-F238E27FC236}">
                  <a16:creationId xmlns:a16="http://schemas.microsoft.com/office/drawing/2014/main" id="{A5EC6D91-90AE-B241-8F5E-67C2EE42E807}"/>
                </a:ext>
              </a:extLst>
            </p:cNvPr>
            <p:cNvSpPr/>
            <p:nvPr/>
          </p:nvSpPr>
          <p:spPr>
            <a:xfrm>
              <a:off x="2484748" y="3361491"/>
              <a:ext cx="540006" cy="13500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342900"/>
              <a:r>
                <a:rPr lang="en-US" altLang="ja-JP" sz="825" dirty="0">
                  <a:solidFill>
                    <a:prstClr val="black"/>
                  </a:solidFill>
                  <a:latin typeface="Arial" panose="020B0604020202020204" pitchFamily="34" charset="0"/>
                  <a:ea typeface="游ゴシック" panose="020B0400000000000000" pitchFamily="50" charset="-128"/>
                  <a:cs typeface="Arial" panose="020B0604020202020204" pitchFamily="34" charset="0"/>
                </a:rPr>
                <a:t>PC  GHR[5:0]</a:t>
              </a:r>
              <a:endParaRPr lang="en-US" sz="825" dirty="0">
                <a:solidFill>
                  <a:prstClr val="black"/>
                </a:solidFill>
                <a:latin typeface="Times New Roman" panose="02020603050405020304" pitchFamily="18" charset="0"/>
                <a:cs typeface="Times New Roman" panose="02020603050405020304" pitchFamily="18" charset="0"/>
              </a:endParaRPr>
            </a:p>
          </p:txBody>
        </p:sp>
        <p:sp>
          <p:nvSpPr>
            <p:cNvPr id="152" name="Freeform 10">
              <a:extLst>
                <a:ext uri="{FF2B5EF4-FFF2-40B4-BE49-F238E27FC236}">
                  <a16:creationId xmlns:a16="http://schemas.microsoft.com/office/drawing/2014/main" id="{3D3356D0-4062-0D32-CF52-B23457FD3A06}"/>
                </a:ext>
              </a:extLst>
            </p:cNvPr>
            <p:cNvSpPr>
              <a:spLocks/>
            </p:cNvSpPr>
            <p:nvPr/>
          </p:nvSpPr>
          <p:spPr bwMode="auto">
            <a:xfrm>
              <a:off x="2552250" y="3496493"/>
              <a:ext cx="67501" cy="135002"/>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9525"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Lst>
          </p:spPr>
          <p:txBody>
            <a:bodyPr wrap="none" lIns="0" tIns="0" rIns="0" bIns="0">
              <a:noAutofit/>
            </a:bodyPr>
            <a:lstStyle/>
            <a:p>
              <a:pPr defTabSz="342900"/>
              <a:endParaRPr kumimoji="0" lang="ja-JP" altLang="en-US" sz="1350">
                <a:solidFill>
                  <a:prstClr val="black"/>
                </a:solidFill>
                <a:latin typeface="Arial Narrow" pitchFamily="34" charset="0"/>
                <a:ea typeface="游ゴシック" panose="020B0400000000000000" pitchFamily="50" charset="-128"/>
                <a:cs typeface="Times New Roman" pitchFamily="18" charset="0"/>
              </a:endParaRPr>
            </a:p>
          </p:txBody>
        </p:sp>
        <p:sp>
          <p:nvSpPr>
            <p:cNvPr id="153" name="Freeform 10">
              <a:extLst>
                <a:ext uri="{FF2B5EF4-FFF2-40B4-BE49-F238E27FC236}">
                  <a16:creationId xmlns:a16="http://schemas.microsoft.com/office/drawing/2014/main" id="{4BE43900-F816-2A34-E1EA-99F37D56A1F5}"/>
                </a:ext>
              </a:extLst>
            </p:cNvPr>
            <p:cNvSpPr>
              <a:spLocks/>
            </p:cNvSpPr>
            <p:nvPr/>
          </p:nvSpPr>
          <p:spPr bwMode="auto">
            <a:xfrm flipH="1">
              <a:off x="2754751" y="3496493"/>
              <a:ext cx="67501" cy="135002"/>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9525"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Lst>
          </p:spPr>
          <p:txBody>
            <a:bodyPr wrap="none" lIns="0" tIns="0" rIns="0" bIns="0">
              <a:noAutofit/>
            </a:bodyPr>
            <a:lstStyle/>
            <a:p>
              <a:pPr defTabSz="342900"/>
              <a:endParaRPr kumimoji="0" lang="ja-JP" altLang="en-US" sz="1350">
                <a:solidFill>
                  <a:prstClr val="black"/>
                </a:solidFill>
                <a:latin typeface="Arial Narrow" pitchFamily="34" charset="0"/>
                <a:ea typeface="游ゴシック" panose="020B0400000000000000" pitchFamily="50" charset="-128"/>
                <a:cs typeface="Times New Roman" pitchFamily="18" charset="0"/>
              </a:endParaRPr>
            </a:p>
          </p:txBody>
        </p:sp>
        <p:sp>
          <p:nvSpPr>
            <p:cNvPr id="154" name="四角形: 角を丸くする 153">
              <a:extLst>
                <a:ext uri="{FF2B5EF4-FFF2-40B4-BE49-F238E27FC236}">
                  <a16:creationId xmlns:a16="http://schemas.microsoft.com/office/drawing/2014/main" id="{281ADE9F-33B7-D4CE-E5FC-0792B2C32FC5}"/>
                </a:ext>
              </a:extLst>
            </p:cNvPr>
            <p:cNvSpPr/>
            <p:nvPr/>
          </p:nvSpPr>
          <p:spPr>
            <a:xfrm>
              <a:off x="2619750" y="3563993"/>
              <a:ext cx="135002" cy="135002"/>
            </a:xfrm>
            <a:prstGeom prst="roundRect">
              <a:avLst>
                <a:gd name="adj" fmla="val 11375"/>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342900"/>
              <a:r>
                <a:rPr lang="en-US" sz="825" dirty="0">
                  <a:solidFill>
                    <a:prstClr val="black"/>
                  </a:solidFill>
                  <a:latin typeface="Arial" panose="020B0604020202020204" pitchFamily="34" charset="0"/>
                  <a:cs typeface="Arial" panose="020B0604020202020204" pitchFamily="34" charset="0"/>
                </a:rPr>
                <a:t>h1</a:t>
              </a:r>
            </a:p>
          </p:txBody>
        </p:sp>
        <p:cxnSp>
          <p:nvCxnSpPr>
            <p:cNvPr id="155" name="直線コネクタ 154">
              <a:extLst>
                <a:ext uri="{FF2B5EF4-FFF2-40B4-BE49-F238E27FC236}">
                  <a16:creationId xmlns:a16="http://schemas.microsoft.com/office/drawing/2014/main" id="{A698C5DA-F1C8-3D44-BAA6-F93E14066CCF}"/>
                </a:ext>
              </a:extLst>
            </p:cNvPr>
            <p:cNvCxnSpPr>
              <a:cxnSpLocks/>
            </p:cNvCxnSpPr>
            <p:nvPr/>
          </p:nvCxnSpPr>
          <p:spPr>
            <a:xfrm>
              <a:off x="2687250" y="3698998"/>
              <a:ext cx="0" cy="135002"/>
            </a:xfrm>
            <a:prstGeom prst="line">
              <a:avLst/>
            </a:prstGeom>
            <a:noFill/>
            <a:ln w="9525" cap="rnd"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Lst>
          </p:spPr>
        </p:cxnSp>
        <p:sp>
          <p:nvSpPr>
            <p:cNvPr id="156" name="正方形/長方形 155">
              <a:extLst>
                <a:ext uri="{FF2B5EF4-FFF2-40B4-BE49-F238E27FC236}">
                  <a16:creationId xmlns:a16="http://schemas.microsoft.com/office/drawing/2014/main" id="{F13495BB-2F56-76CB-FA5A-16C22404E388}"/>
                </a:ext>
              </a:extLst>
            </p:cNvPr>
            <p:cNvSpPr/>
            <p:nvPr/>
          </p:nvSpPr>
          <p:spPr>
            <a:xfrm>
              <a:off x="3497251" y="4508998"/>
              <a:ext cx="270003" cy="13500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defTabSz="342900"/>
              <a:r>
                <a:rPr lang="en-US" altLang="ja-JP" sz="1350" dirty="0">
                  <a:solidFill>
                    <a:prstClr val="black"/>
                  </a:solidFill>
                  <a:latin typeface="Arial" panose="020B0604020202020204" pitchFamily="34" charset="0"/>
                  <a:ea typeface="游ゴシック" panose="020B0400000000000000" pitchFamily="50" charset="-128"/>
                  <a:cs typeface="Arial" panose="020B0604020202020204" pitchFamily="34" charset="0"/>
                </a:rPr>
                <a:t>...</a:t>
              </a:r>
              <a:endParaRPr lang="en-US" sz="1350" dirty="0">
                <a:solidFill>
                  <a:prstClr val="black"/>
                </a:solidFill>
                <a:latin typeface="Times New Roman" panose="02020603050405020304" pitchFamily="18" charset="0"/>
                <a:cs typeface="Times New Roman" panose="02020603050405020304" pitchFamily="18" charset="0"/>
              </a:endParaRPr>
            </a:p>
          </p:txBody>
        </p:sp>
        <p:sp>
          <p:nvSpPr>
            <p:cNvPr id="157" name="Freeform 10">
              <a:extLst>
                <a:ext uri="{FF2B5EF4-FFF2-40B4-BE49-F238E27FC236}">
                  <a16:creationId xmlns:a16="http://schemas.microsoft.com/office/drawing/2014/main" id="{1A255DC8-8586-18F3-2A37-540A7EF5CD73}"/>
                </a:ext>
              </a:extLst>
            </p:cNvPr>
            <p:cNvSpPr>
              <a:spLocks/>
            </p:cNvSpPr>
            <p:nvPr/>
          </p:nvSpPr>
          <p:spPr bwMode="auto">
            <a:xfrm>
              <a:off x="3092246" y="4576495"/>
              <a:ext cx="337505" cy="675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9525" cap="rnd"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Lst>
          </p:spPr>
          <p:txBody>
            <a:bodyPr wrap="none" lIns="0" tIns="0" rIns="0" bIns="0">
              <a:noAutofit/>
            </a:bodyPr>
            <a:lstStyle/>
            <a:p>
              <a:pPr defTabSz="342900"/>
              <a:endParaRPr kumimoji="0" lang="ja-JP" altLang="en-US" sz="1350">
                <a:solidFill>
                  <a:prstClr val="black"/>
                </a:solidFill>
                <a:latin typeface="Arial Narrow" pitchFamily="34" charset="0"/>
                <a:ea typeface="游ゴシック" panose="020B0400000000000000" pitchFamily="50" charset="-128"/>
                <a:cs typeface="Times New Roman" pitchFamily="18" charset="0"/>
              </a:endParaRPr>
            </a:p>
          </p:txBody>
        </p:sp>
        <p:sp>
          <p:nvSpPr>
            <p:cNvPr id="158" name="台形 157">
              <a:extLst>
                <a:ext uri="{FF2B5EF4-FFF2-40B4-BE49-F238E27FC236}">
                  <a16:creationId xmlns:a16="http://schemas.microsoft.com/office/drawing/2014/main" id="{A85D5CAC-FAE6-0BC7-7FEB-B591020BEEFA}"/>
                </a:ext>
              </a:extLst>
            </p:cNvPr>
            <p:cNvSpPr/>
            <p:nvPr/>
          </p:nvSpPr>
          <p:spPr>
            <a:xfrm flipV="1">
              <a:off x="3767253" y="4711497"/>
              <a:ext cx="270003" cy="67501"/>
            </a:xfrm>
            <a:prstGeom prst="trapezoid">
              <a:avLst/>
            </a:prstGeom>
            <a:ln w="12700"/>
          </p:spPr>
          <p:style>
            <a:lnRef idx="2">
              <a:schemeClr val="dk1"/>
            </a:lnRef>
            <a:fillRef idx="1">
              <a:schemeClr val="lt1"/>
            </a:fillRef>
            <a:effectRef idx="0">
              <a:schemeClr val="dk1"/>
            </a:effectRef>
            <a:fontRef idx="minor">
              <a:schemeClr val="dk1"/>
            </a:fontRef>
          </p:style>
          <p:txBody>
            <a:bodyPr wrap="none" rtlCol="0" anchor="ctr"/>
            <a:lstStyle/>
            <a:p>
              <a:pPr algn="ctr" defTabSz="342900"/>
              <a:endParaRPr lang="en-US" sz="1350" dirty="0">
                <a:solidFill>
                  <a:prstClr val="black"/>
                </a:solidFill>
                <a:latin typeface="Times New Roman" panose="02020603050405020304" pitchFamily="18" charset="0"/>
                <a:cs typeface="Times New Roman" panose="02020603050405020304" pitchFamily="18" charset="0"/>
              </a:endParaRPr>
            </a:p>
          </p:txBody>
        </p:sp>
        <p:cxnSp>
          <p:nvCxnSpPr>
            <p:cNvPr id="159" name="直線コネクタ 158">
              <a:extLst>
                <a:ext uri="{FF2B5EF4-FFF2-40B4-BE49-F238E27FC236}">
                  <a16:creationId xmlns:a16="http://schemas.microsoft.com/office/drawing/2014/main" id="{6203D419-64CE-F11A-9E85-785F9B34DF08}"/>
                </a:ext>
              </a:extLst>
            </p:cNvPr>
            <p:cNvCxnSpPr>
              <a:cxnSpLocks/>
            </p:cNvCxnSpPr>
            <p:nvPr/>
          </p:nvCxnSpPr>
          <p:spPr>
            <a:xfrm>
              <a:off x="3834753" y="4643997"/>
              <a:ext cx="0" cy="67501"/>
            </a:xfrm>
            <a:prstGeom prst="line">
              <a:avLst/>
            </a:prstGeom>
            <a:noFill/>
            <a:ln w="9525" cap="rnd"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Lst>
          </p:spPr>
        </p:cxnSp>
        <p:cxnSp>
          <p:nvCxnSpPr>
            <p:cNvPr id="160" name="直線コネクタ 159">
              <a:extLst>
                <a:ext uri="{FF2B5EF4-FFF2-40B4-BE49-F238E27FC236}">
                  <a16:creationId xmlns:a16="http://schemas.microsoft.com/office/drawing/2014/main" id="{B4B27E7A-3148-6C71-EEF0-7C2D9B488402}"/>
                </a:ext>
              </a:extLst>
            </p:cNvPr>
            <p:cNvCxnSpPr>
              <a:cxnSpLocks/>
            </p:cNvCxnSpPr>
            <p:nvPr/>
          </p:nvCxnSpPr>
          <p:spPr>
            <a:xfrm>
              <a:off x="3969755" y="4103999"/>
              <a:ext cx="0" cy="607498"/>
            </a:xfrm>
            <a:prstGeom prst="line">
              <a:avLst/>
            </a:prstGeom>
            <a:noFill/>
            <a:ln w="9525" cap="rnd"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Lst>
          </p:spPr>
        </p:cxnSp>
        <p:cxnSp>
          <p:nvCxnSpPr>
            <p:cNvPr id="161" name="直線コネクタ 160">
              <a:extLst>
                <a:ext uri="{FF2B5EF4-FFF2-40B4-BE49-F238E27FC236}">
                  <a16:creationId xmlns:a16="http://schemas.microsoft.com/office/drawing/2014/main" id="{0DF1C8AE-C19F-E904-EAE0-5A8A0E033B89}"/>
                </a:ext>
              </a:extLst>
            </p:cNvPr>
            <p:cNvCxnSpPr>
              <a:cxnSpLocks/>
            </p:cNvCxnSpPr>
            <p:nvPr/>
          </p:nvCxnSpPr>
          <p:spPr>
            <a:xfrm>
              <a:off x="3699751" y="4643996"/>
              <a:ext cx="135002" cy="0"/>
            </a:xfrm>
            <a:prstGeom prst="line">
              <a:avLst/>
            </a:prstGeom>
            <a:noFill/>
            <a:ln w="9525"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Lst>
          </p:spPr>
        </p:cxnSp>
        <p:sp>
          <p:nvSpPr>
            <p:cNvPr id="162" name="四角形: 角を丸くする 161">
              <a:extLst>
                <a:ext uri="{FF2B5EF4-FFF2-40B4-BE49-F238E27FC236}">
                  <a16:creationId xmlns:a16="http://schemas.microsoft.com/office/drawing/2014/main" id="{1D891A7A-E2BF-4DEF-22F0-D717C7934114}"/>
                </a:ext>
              </a:extLst>
            </p:cNvPr>
            <p:cNvSpPr/>
            <p:nvPr/>
          </p:nvSpPr>
          <p:spPr>
            <a:xfrm>
              <a:off x="3092246" y="3563997"/>
              <a:ext cx="135002" cy="135002"/>
            </a:xfrm>
            <a:prstGeom prst="roundRect">
              <a:avLst>
                <a:gd name="adj" fmla="val 11375"/>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342900"/>
              <a:r>
                <a:rPr lang="en-US" sz="825" dirty="0">
                  <a:solidFill>
                    <a:prstClr val="black"/>
                  </a:solidFill>
                  <a:latin typeface="Arial" panose="020B0604020202020204" pitchFamily="34" charset="0"/>
                  <a:cs typeface="Arial" panose="020B0604020202020204" pitchFamily="34" charset="0"/>
                </a:rPr>
                <a:t>h2</a:t>
              </a:r>
            </a:p>
          </p:txBody>
        </p:sp>
        <p:cxnSp>
          <p:nvCxnSpPr>
            <p:cNvPr id="163" name="直線コネクタ 162">
              <a:extLst>
                <a:ext uri="{FF2B5EF4-FFF2-40B4-BE49-F238E27FC236}">
                  <a16:creationId xmlns:a16="http://schemas.microsoft.com/office/drawing/2014/main" id="{0EBFB757-9511-CC52-95D0-5D2E0400B5BF}"/>
                </a:ext>
              </a:extLst>
            </p:cNvPr>
            <p:cNvCxnSpPr>
              <a:cxnSpLocks/>
            </p:cNvCxnSpPr>
            <p:nvPr/>
          </p:nvCxnSpPr>
          <p:spPr>
            <a:xfrm>
              <a:off x="3159750" y="3698998"/>
              <a:ext cx="0" cy="135002"/>
            </a:xfrm>
            <a:prstGeom prst="line">
              <a:avLst/>
            </a:prstGeom>
            <a:noFill/>
            <a:ln w="9525" cap="rnd"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Lst>
          </p:spPr>
        </p:cxnSp>
        <p:sp>
          <p:nvSpPr>
            <p:cNvPr id="164" name="台形 163">
              <a:extLst>
                <a:ext uri="{FF2B5EF4-FFF2-40B4-BE49-F238E27FC236}">
                  <a16:creationId xmlns:a16="http://schemas.microsoft.com/office/drawing/2014/main" id="{639AEF4A-D3E8-6DA8-8635-A9E152D5A7DE}"/>
                </a:ext>
              </a:extLst>
            </p:cNvPr>
            <p:cNvSpPr/>
            <p:nvPr/>
          </p:nvSpPr>
          <p:spPr>
            <a:xfrm flipV="1">
              <a:off x="3564751" y="4981499"/>
              <a:ext cx="405005" cy="67500"/>
            </a:xfrm>
            <a:prstGeom prst="trapezoid">
              <a:avLst/>
            </a:prstGeom>
            <a:ln w="12700"/>
          </p:spPr>
          <p:style>
            <a:lnRef idx="2">
              <a:schemeClr val="dk1"/>
            </a:lnRef>
            <a:fillRef idx="1">
              <a:schemeClr val="lt1"/>
            </a:fillRef>
            <a:effectRef idx="0">
              <a:schemeClr val="dk1"/>
            </a:effectRef>
            <a:fontRef idx="minor">
              <a:schemeClr val="dk1"/>
            </a:fontRef>
          </p:style>
          <p:txBody>
            <a:bodyPr wrap="none" rtlCol="0" anchor="ctr"/>
            <a:lstStyle/>
            <a:p>
              <a:pPr algn="ctr" defTabSz="342900"/>
              <a:endParaRPr lang="en-US" sz="1350" dirty="0">
                <a:solidFill>
                  <a:prstClr val="black"/>
                </a:solidFill>
                <a:latin typeface="Times New Roman" panose="02020603050405020304" pitchFamily="18" charset="0"/>
                <a:cs typeface="Times New Roman" panose="02020603050405020304" pitchFamily="18" charset="0"/>
              </a:endParaRPr>
            </a:p>
          </p:txBody>
        </p:sp>
        <p:cxnSp>
          <p:nvCxnSpPr>
            <p:cNvPr id="165" name="直線コネクタ 164">
              <a:extLst>
                <a:ext uri="{FF2B5EF4-FFF2-40B4-BE49-F238E27FC236}">
                  <a16:creationId xmlns:a16="http://schemas.microsoft.com/office/drawing/2014/main" id="{021F666C-48FD-CE28-5C24-EA7FB7D48940}"/>
                </a:ext>
              </a:extLst>
            </p:cNvPr>
            <p:cNvCxnSpPr>
              <a:cxnSpLocks/>
            </p:cNvCxnSpPr>
            <p:nvPr/>
          </p:nvCxnSpPr>
          <p:spPr>
            <a:xfrm>
              <a:off x="3632251" y="4914000"/>
              <a:ext cx="0" cy="67501"/>
            </a:xfrm>
            <a:prstGeom prst="line">
              <a:avLst/>
            </a:prstGeom>
            <a:noFill/>
            <a:ln w="9525" cap="rnd"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Lst>
          </p:spPr>
        </p:cxnSp>
        <p:cxnSp>
          <p:nvCxnSpPr>
            <p:cNvPr id="166" name="直線コネクタ 165">
              <a:extLst>
                <a:ext uri="{FF2B5EF4-FFF2-40B4-BE49-F238E27FC236}">
                  <a16:creationId xmlns:a16="http://schemas.microsoft.com/office/drawing/2014/main" id="{9718FD81-3910-6315-8ECC-AFD1C5F2AFDB}"/>
                </a:ext>
              </a:extLst>
            </p:cNvPr>
            <p:cNvCxnSpPr>
              <a:cxnSpLocks/>
            </p:cNvCxnSpPr>
            <p:nvPr/>
          </p:nvCxnSpPr>
          <p:spPr>
            <a:xfrm>
              <a:off x="3902254" y="4778998"/>
              <a:ext cx="0" cy="202502"/>
            </a:xfrm>
            <a:prstGeom prst="line">
              <a:avLst/>
            </a:prstGeom>
            <a:noFill/>
            <a:ln w="9525" cap="rnd"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Lst>
          </p:spPr>
        </p:cxnSp>
        <p:cxnSp>
          <p:nvCxnSpPr>
            <p:cNvPr id="167" name="直線コネクタ 166">
              <a:extLst>
                <a:ext uri="{FF2B5EF4-FFF2-40B4-BE49-F238E27FC236}">
                  <a16:creationId xmlns:a16="http://schemas.microsoft.com/office/drawing/2014/main" id="{58B7BB25-3142-6490-2119-A31E30FFAA26}"/>
                </a:ext>
              </a:extLst>
            </p:cNvPr>
            <p:cNvCxnSpPr>
              <a:cxnSpLocks/>
            </p:cNvCxnSpPr>
            <p:nvPr/>
          </p:nvCxnSpPr>
          <p:spPr>
            <a:xfrm>
              <a:off x="3429747" y="4913999"/>
              <a:ext cx="202504" cy="0"/>
            </a:xfrm>
            <a:prstGeom prst="line">
              <a:avLst/>
            </a:prstGeom>
            <a:noFill/>
            <a:ln w="9525"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Lst>
          </p:spPr>
        </p:cxnSp>
        <p:sp>
          <p:nvSpPr>
            <p:cNvPr id="168" name="正方形/長方形 167">
              <a:extLst>
                <a:ext uri="{FF2B5EF4-FFF2-40B4-BE49-F238E27FC236}">
                  <a16:creationId xmlns:a16="http://schemas.microsoft.com/office/drawing/2014/main" id="{963388B5-119A-FFA9-840C-70A6C0E35E74}"/>
                </a:ext>
              </a:extLst>
            </p:cNvPr>
            <p:cNvSpPr/>
            <p:nvPr/>
          </p:nvSpPr>
          <p:spPr>
            <a:xfrm>
              <a:off x="3497249" y="4778997"/>
              <a:ext cx="135002" cy="13500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defTabSz="342900"/>
              <a:r>
                <a:rPr lang="en-US" altLang="ja-JP" sz="750" dirty="0">
                  <a:solidFill>
                    <a:prstClr val="black"/>
                  </a:solidFill>
                  <a:latin typeface="Arial" panose="020B0604020202020204" pitchFamily="34" charset="0"/>
                  <a:ea typeface="游ゴシック" panose="020B0400000000000000" pitchFamily="50" charset="-128"/>
                  <a:cs typeface="Arial" panose="020B0604020202020204" pitchFamily="34" charset="0"/>
                </a:rPr>
                <a:t>alt</a:t>
              </a:r>
              <a:endParaRPr lang="en-US" sz="750" dirty="0">
                <a:solidFill>
                  <a:prstClr val="black"/>
                </a:solidFill>
                <a:latin typeface="Times New Roman" panose="02020603050405020304" pitchFamily="18" charset="0"/>
                <a:cs typeface="Times New Roman" panose="02020603050405020304" pitchFamily="18" charset="0"/>
              </a:endParaRPr>
            </a:p>
          </p:txBody>
        </p:sp>
        <p:sp>
          <p:nvSpPr>
            <p:cNvPr id="169" name="四角形: 角を丸くする 168">
              <a:extLst>
                <a:ext uri="{FF2B5EF4-FFF2-40B4-BE49-F238E27FC236}">
                  <a16:creationId xmlns:a16="http://schemas.microsoft.com/office/drawing/2014/main" id="{60D8E690-09D3-E739-8CA3-A088D9753CD1}"/>
                </a:ext>
              </a:extLst>
            </p:cNvPr>
            <p:cNvSpPr/>
            <p:nvPr/>
          </p:nvSpPr>
          <p:spPr>
            <a:xfrm>
              <a:off x="3868501" y="3563995"/>
              <a:ext cx="202502" cy="135002"/>
            </a:xfrm>
            <a:prstGeom prst="roundRect">
              <a:avLst>
                <a:gd name="adj" fmla="val 11375"/>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342900"/>
              <a:r>
                <a:rPr lang="en-US" sz="825" dirty="0">
                  <a:solidFill>
                    <a:prstClr val="black"/>
                  </a:solidFill>
                  <a:latin typeface="Arial" panose="020B0604020202020204" pitchFamily="34" charset="0"/>
                  <a:cs typeface="Arial" panose="020B0604020202020204" pitchFamily="34" charset="0"/>
                </a:rPr>
                <a:t>h23</a:t>
              </a:r>
            </a:p>
          </p:txBody>
        </p:sp>
        <p:cxnSp>
          <p:nvCxnSpPr>
            <p:cNvPr id="170" name="直線コネクタ 169">
              <a:extLst>
                <a:ext uri="{FF2B5EF4-FFF2-40B4-BE49-F238E27FC236}">
                  <a16:creationId xmlns:a16="http://schemas.microsoft.com/office/drawing/2014/main" id="{3DB0C9A4-5CB6-D9B0-9489-CB6F05B452DD}"/>
                </a:ext>
              </a:extLst>
            </p:cNvPr>
            <p:cNvCxnSpPr>
              <a:cxnSpLocks/>
            </p:cNvCxnSpPr>
            <p:nvPr/>
          </p:nvCxnSpPr>
          <p:spPr>
            <a:xfrm>
              <a:off x="3969750" y="3698998"/>
              <a:ext cx="0" cy="135002"/>
            </a:xfrm>
            <a:prstGeom prst="line">
              <a:avLst/>
            </a:prstGeom>
            <a:noFill/>
            <a:ln w="9525" cap="rnd"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Lst>
          </p:spPr>
        </p:cxnSp>
        <p:sp>
          <p:nvSpPr>
            <p:cNvPr id="171" name="正方形/長方形 170">
              <a:extLst>
                <a:ext uri="{FF2B5EF4-FFF2-40B4-BE49-F238E27FC236}">
                  <a16:creationId xmlns:a16="http://schemas.microsoft.com/office/drawing/2014/main" id="{6466072F-4A8F-3D2D-5ABB-6EC6EF9575A1}"/>
                </a:ext>
              </a:extLst>
            </p:cNvPr>
            <p:cNvSpPr/>
            <p:nvPr/>
          </p:nvSpPr>
          <p:spPr>
            <a:xfrm>
              <a:off x="3429750" y="3530245"/>
              <a:ext cx="540006" cy="13500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defTabSz="342900"/>
              <a:r>
                <a:rPr lang="en-US" altLang="ja-JP" sz="1350" dirty="0">
                  <a:solidFill>
                    <a:prstClr val="black"/>
                  </a:solidFill>
                  <a:latin typeface="Arial" panose="020B0604020202020204" pitchFamily="34" charset="0"/>
                  <a:ea typeface="游ゴシック" panose="020B0400000000000000" pitchFamily="50" charset="-128"/>
                  <a:cs typeface="Arial" panose="020B0604020202020204" pitchFamily="34" charset="0"/>
                </a:rPr>
                <a:t>...</a:t>
              </a:r>
              <a:endParaRPr lang="en-US" sz="1350" dirty="0">
                <a:solidFill>
                  <a:prstClr val="black"/>
                </a:solidFill>
                <a:latin typeface="Times New Roman" panose="02020603050405020304" pitchFamily="18" charset="0"/>
                <a:cs typeface="Times New Roman" panose="02020603050405020304" pitchFamily="18" charset="0"/>
              </a:endParaRPr>
            </a:p>
          </p:txBody>
        </p:sp>
        <p:cxnSp>
          <p:nvCxnSpPr>
            <p:cNvPr id="172" name="直線コネクタ 171">
              <a:extLst>
                <a:ext uri="{FF2B5EF4-FFF2-40B4-BE49-F238E27FC236}">
                  <a16:creationId xmlns:a16="http://schemas.microsoft.com/office/drawing/2014/main" id="{205CA371-A39C-D9FA-2CCB-66F754FF6688}"/>
                </a:ext>
              </a:extLst>
            </p:cNvPr>
            <p:cNvCxnSpPr>
              <a:cxnSpLocks/>
            </p:cNvCxnSpPr>
            <p:nvPr/>
          </p:nvCxnSpPr>
          <p:spPr>
            <a:xfrm>
              <a:off x="3767252" y="5049001"/>
              <a:ext cx="0" cy="202502"/>
            </a:xfrm>
            <a:prstGeom prst="line">
              <a:avLst/>
            </a:prstGeom>
            <a:noFill/>
            <a:ln w="9525" cap="rnd"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Lst>
          </p:spPr>
        </p:cxnSp>
        <p:sp>
          <p:nvSpPr>
            <p:cNvPr id="173" name="正方形/長方形 172">
              <a:extLst>
                <a:ext uri="{FF2B5EF4-FFF2-40B4-BE49-F238E27FC236}">
                  <a16:creationId xmlns:a16="http://schemas.microsoft.com/office/drawing/2014/main" id="{3A714261-311F-786A-5121-95E8A2A221D2}"/>
                </a:ext>
              </a:extLst>
            </p:cNvPr>
            <p:cNvSpPr/>
            <p:nvPr/>
          </p:nvSpPr>
          <p:spPr>
            <a:xfrm>
              <a:off x="3969755" y="4778997"/>
              <a:ext cx="337504" cy="13500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defTabSz="342900"/>
              <a:r>
                <a:rPr lang="en-US" altLang="ja-JP" sz="750" dirty="0">
                  <a:solidFill>
                    <a:prstClr val="black"/>
                  </a:solidFill>
                  <a:latin typeface="Arial" panose="020B0604020202020204" pitchFamily="34" charset="0"/>
                  <a:ea typeface="游ゴシック" panose="020B0400000000000000" pitchFamily="50" charset="-128"/>
                  <a:cs typeface="Arial" panose="020B0604020202020204" pitchFamily="34" charset="0"/>
                </a:rPr>
                <a:t>longest</a:t>
              </a:r>
              <a:endParaRPr lang="en-US" sz="750" dirty="0">
                <a:solidFill>
                  <a:prstClr val="black"/>
                </a:solidFill>
                <a:latin typeface="Times New Roman" panose="02020603050405020304" pitchFamily="18" charset="0"/>
                <a:cs typeface="Times New Roman" panose="02020603050405020304" pitchFamily="18" charset="0"/>
              </a:endParaRPr>
            </a:p>
          </p:txBody>
        </p:sp>
        <p:sp>
          <p:nvSpPr>
            <p:cNvPr id="174" name="正方形/長方形 173">
              <a:extLst>
                <a:ext uri="{FF2B5EF4-FFF2-40B4-BE49-F238E27FC236}">
                  <a16:creationId xmlns:a16="http://schemas.microsoft.com/office/drawing/2014/main" id="{C7C31A1A-1272-2827-E7F2-4455DD1253F2}"/>
                </a:ext>
              </a:extLst>
            </p:cNvPr>
            <p:cNvSpPr/>
            <p:nvPr/>
          </p:nvSpPr>
          <p:spPr>
            <a:xfrm>
              <a:off x="3294750" y="5082748"/>
              <a:ext cx="337504" cy="13500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defTabSz="342900"/>
              <a:r>
                <a:rPr lang="en-US" altLang="ja-JP" sz="750" b="1" dirty="0">
                  <a:solidFill>
                    <a:prstClr val="black"/>
                  </a:solidFill>
                  <a:latin typeface="Arial" panose="020B0604020202020204" pitchFamily="34" charset="0"/>
                  <a:ea typeface="游ゴシック" panose="020B0400000000000000" pitchFamily="50" charset="-128"/>
                  <a:cs typeface="Arial" panose="020B0604020202020204" pitchFamily="34" charset="0"/>
                </a:rPr>
                <a:t>Table out</a:t>
              </a:r>
              <a:endParaRPr lang="en-US" sz="750" b="1" dirty="0">
                <a:solidFill>
                  <a:prstClr val="black"/>
                </a:solidFill>
                <a:latin typeface="Times New Roman" panose="02020603050405020304" pitchFamily="18" charset="0"/>
                <a:cs typeface="Times New Roman" panose="02020603050405020304" pitchFamily="18" charset="0"/>
              </a:endParaRPr>
            </a:p>
          </p:txBody>
        </p:sp>
        <p:sp>
          <p:nvSpPr>
            <p:cNvPr id="175" name="正方形/長方形 174">
              <a:extLst>
                <a:ext uri="{FF2B5EF4-FFF2-40B4-BE49-F238E27FC236}">
                  <a16:creationId xmlns:a16="http://schemas.microsoft.com/office/drawing/2014/main" id="{F351066B-1B57-F3E9-C26C-8AB5F5DDDCE2}"/>
                </a:ext>
              </a:extLst>
            </p:cNvPr>
            <p:cNvSpPr/>
            <p:nvPr/>
          </p:nvSpPr>
          <p:spPr>
            <a:xfrm>
              <a:off x="3024750" y="3361495"/>
              <a:ext cx="540006" cy="13500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342900"/>
              <a:r>
                <a:rPr lang="en-US" altLang="ja-JP" sz="825" dirty="0">
                  <a:solidFill>
                    <a:prstClr val="black"/>
                  </a:solidFill>
                  <a:latin typeface="Arial" panose="020B0604020202020204" pitchFamily="34" charset="0"/>
                  <a:ea typeface="游ゴシック" panose="020B0400000000000000" pitchFamily="50" charset="-128"/>
                  <a:cs typeface="Arial" panose="020B0604020202020204" pitchFamily="34" charset="0"/>
                </a:rPr>
                <a:t>[13:0]</a:t>
              </a:r>
              <a:endParaRPr lang="en-US" sz="825" dirty="0">
                <a:solidFill>
                  <a:prstClr val="black"/>
                </a:solidFill>
                <a:latin typeface="Times New Roman" panose="02020603050405020304" pitchFamily="18" charset="0"/>
                <a:cs typeface="Times New Roman" panose="02020603050405020304" pitchFamily="18" charset="0"/>
              </a:endParaRPr>
            </a:p>
          </p:txBody>
        </p:sp>
        <p:cxnSp>
          <p:nvCxnSpPr>
            <p:cNvPr id="176" name="直線コネクタ 175">
              <a:extLst>
                <a:ext uri="{FF2B5EF4-FFF2-40B4-BE49-F238E27FC236}">
                  <a16:creationId xmlns:a16="http://schemas.microsoft.com/office/drawing/2014/main" id="{1303E782-89CD-D45A-9027-DA2E0437B749}"/>
                </a:ext>
              </a:extLst>
            </p:cNvPr>
            <p:cNvCxnSpPr>
              <a:cxnSpLocks/>
              <a:endCxn id="144" idx="3"/>
            </p:cNvCxnSpPr>
            <p:nvPr/>
          </p:nvCxnSpPr>
          <p:spPr>
            <a:xfrm flipH="1">
              <a:off x="2746288" y="4340249"/>
              <a:ext cx="143462" cy="0"/>
            </a:xfrm>
            <a:prstGeom prst="line">
              <a:avLst/>
            </a:prstGeom>
            <a:noFill/>
            <a:ln w="9525" cap="rnd"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Lst>
          </p:spPr>
        </p:cxnSp>
        <p:sp>
          <p:nvSpPr>
            <p:cNvPr id="177" name="Freeform 10">
              <a:extLst>
                <a:ext uri="{FF2B5EF4-FFF2-40B4-BE49-F238E27FC236}">
                  <a16:creationId xmlns:a16="http://schemas.microsoft.com/office/drawing/2014/main" id="{006BF587-CE95-09F7-D143-E5B68FB1C8C1}"/>
                </a:ext>
              </a:extLst>
            </p:cNvPr>
            <p:cNvSpPr>
              <a:spLocks/>
            </p:cNvSpPr>
            <p:nvPr/>
          </p:nvSpPr>
          <p:spPr bwMode="auto">
            <a:xfrm rot="5400000" flipV="1">
              <a:off x="2720991" y="4171487"/>
              <a:ext cx="134998" cy="20252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9525"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Lst>
          </p:spPr>
          <p:txBody>
            <a:bodyPr wrap="none" lIns="0" tIns="0" rIns="0" bIns="0">
              <a:noAutofit/>
            </a:bodyPr>
            <a:lstStyle/>
            <a:p>
              <a:pPr defTabSz="342900"/>
              <a:endParaRPr kumimoji="0" lang="ja-JP" altLang="en-US" sz="1350">
                <a:solidFill>
                  <a:prstClr val="black"/>
                </a:solidFill>
                <a:latin typeface="Arial Narrow" pitchFamily="34" charset="0"/>
                <a:ea typeface="游ゴシック" panose="020B0400000000000000" pitchFamily="50" charset="-128"/>
                <a:cs typeface="Times New Roman" pitchFamily="18" charset="0"/>
              </a:endParaRPr>
            </a:p>
          </p:txBody>
        </p:sp>
        <p:sp>
          <p:nvSpPr>
            <p:cNvPr id="178" name="Freeform 10">
              <a:extLst>
                <a:ext uri="{FF2B5EF4-FFF2-40B4-BE49-F238E27FC236}">
                  <a16:creationId xmlns:a16="http://schemas.microsoft.com/office/drawing/2014/main" id="{EA2F939D-67F9-05EA-0862-F4B24E65FD1F}"/>
                </a:ext>
              </a:extLst>
            </p:cNvPr>
            <p:cNvSpPr>
              <a:spLocks/>
            </p:cNvSpPr>
            <p:nvPr/>
          </p:nvSpPr>
          <p:spPr bwMode="auto">
            <a:xfrm rot="5400000" flipV="1">
              <a:off x="3193493" y="4373988"/>
              <a:ext cx="134999" cy="20252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9525"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Lst>
          </p:spPr>
          <p:txBody>
            <a:bodyPr wrap="none" lIns="0" tIns="0" rIns="0" bIns="0">
              <a:noAutofit/>
            </a:bodyPr>
            <a:lstStyle/>
            <a:p>
              <a:pPr defTabSz="342900"/>
              <a:endParaRPr kumimoji="0" lang="ja-JP" altLang="en-US" sz="1350">
                <a:solidFill>
                  <a:prstClr val="black"/>
                </a:solidFill>
                <a:latin typeface="Arial Narrow" pitchFamily="34" charset="0"/>
                <a:ea typeface="游ゴシック" panose="020B0400000000000000" pitchFamily="50" charset="-128"/>
                <a:cs typeface="Times New Roman" pitchFamily="18" charset="0"/>
              </a:endParaRPr>
            </a:p>
          </p:txBody>
        </p:sp>
        <p:sp>
          <p:nvSpPr>
            <p:cNvPr id="179" name="Freeform 10">
              <a:extLst>
                <a:ext uri="{FF2B5EF4-FFF2-40B4-BE49-F238E27FC236}">
                  <a16:creationId xmlns:a16="http://schemas.microsoft.com/office/drawing/2014/main" id="{ABB26FA8-DC6B-15EF-9A32-67D2BBEF9910}"/>
                </a:ext>
              </a:extLst>
            </p:cNvPr>
            <p:cNvSpPr>
              <a:spLocks/>
            </p:cNvSpPr>
            <p:nvPr/>
          </p:nvSpPr>
          <p:spPr bwMode="auto">
            <a:xfrm rot="5400000" flipV="1">
              <a:off x="4003504" y="4576502"/>
              <a:ext cx="134996" cy="20249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9525"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Lst>
          </p:spPr>
          <p:txBody>
            <a:bodyPr wrap="none" lIns="0" tIns="0" rIns="0" bIns="0">
              <a:noAutofit/>
            </a:bodyPr>
            <a:lstStyle/>
            <a:p>
              <a:pPr defTabSz="342900"/>
              <a:endParaRPr kumimoji="0" lang="ja-JP" altLang="en-US" sz="1350">
                <a:solidFill>
                  <a:prstClr val="black"/>
                </a:solidFill>
                <a:latin typeface="Arial Narrow" pitchFamily="34" charset="0"/>
                <a:ea typeface="游ゴシック" panose="020B0400000000000000" pitchFamily="50" charset="-128"/>
                <a:cs typeface="Times New Roman" pitchFamily="18" charset="0"/>
              </a:endParaRPr>
            </a:p>
          </p:txBody>
        </p:sp>
        <p:cxnSp>
          <p:nvCxnSpPr>
            <p:cNvPr id="180" name="直線コネクタ 179">
              <a:extLst>
                <a:ext uri="{FF2B5EF4-FFF2-40B4-BE49-F238E27FC236}">
                  <a16:creationId xmlns:a16="http://schemas.microsoft.com/office/drawing/2014/main" id="{3740F24A-C90A-60A5-E39D-563616EDDDC9}"/>
                </a:ext>
              </a:extLst>
            </p:cNvPr>
            <p:cNvCxnSpPr>
              <a:cxnSpLocks/>
            </p:cNvCxnSpPr>
            <p:nvPr/>
          </p:nvCxnSpPr>
          <p:spPr>
            <a:xfrm flipH="1">
              <a:off x="4037257" y="4745246"/>
              <a:ext cx="134993" cy="0"/>
            </a:xfrm>
            <a:prstGeom prst="line">
              <a:avLst/>
            </a:prstGeom>
            <a:noFill/>
            <a:ln w="9525" cap="rnd"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Lst>
          </p:spPr>
        </p:cxnSp>
        <p:sp>
          <p:nvSpPr>
            <p:cNvPr id="181" name="正方形/長方形 180">
              <a:extLst>
                <a:ext uri="{FF2B5EF4-FFF2-40B4-BE49-F238E27FC236}">
                  <a16:creationId xmlns:a16="http://schemas.microsoft.com/office/drawing/2014/main" id="{3E9D8510-B1F1-1D75-8DDB-50D541AD43CA}"/>
                </a:ext>
              </a:extLst>
            </p:cNvPr>
            <p:cNvSpPr/>
            <p:nvPr/>
          </p:nvSpPr>
          <p:spPr>
            <a:xfrm>
              <a:off x="3024747" y="4880233"/>
              <a:ext cx="135002" cy="13500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defTabSz="342900"/>
              <a:r>
                <a:rPr lang="en-US" altLang="ja-JP" sz="750" dirty="0">
                  <a:solidFill>
                    <a:prstClr val="black"/>
                  </a:solidFill>
                  <a:latin typeface="Arial" panose="020B0604020202020204" pitchFamily="34" charset="0"/>
                  <a:ea typeface="游ゴシック" panose="020B0400000000000000" pitchFamily="50" charset="-128"/>
                  <a:cs typeface="Arial" panose="020B0604020202020204" pitchFamily="34" charset="0"/>
                </a:rPr>
                <a:t>Use alt</a:t>
              </a:r>
              <a:endParaRPr lang="en-US" sz="750" dirty="0">
                <a:solidFill>
                  <a:prstClr val="black"/>
                </a:solidFill>
                <a:latin typeface="Times New Roman" panose="02020603050405020304" pitchFamily="18" charset="0"/>
                <a:cs typeface="Times New Roman" panose="02020603050405020304" pitchFamily="18" charset="0"/>
              </a:endParaRPr>
            </a:p>
          </p:txBody>
        </p:sp>
        <p:cxnSp>
          <p:nvCxnSpPr>
            <p:cNvPr id="182" name="直線コネクタ 181">
              <a:extLst>
                <a:ext uri="{FF2B5EF4-FFF2-40B4-BE49-F238E27FC236}">
                  <a16:creationId xmlns:a16="http://schemas.microsoft.com/office/drawing/2014/main" id="{9476EE21-ECED-554B-B7C5-10070EB66C58}"/>
                </a:ext>
              </a:extLst>
            </p:cNvPr>
            <p:cNvCxnSpPr>
              <a:cxnSpLocks/>
            </p:cNvCxnSpPr>
            <p:nvPr/>
          </p:nvCxnSpPr>
          <p:spPr>
            <a:xfrm>
              <a:off x="3227248" y="5015234"/>
              <a:ext cx="345939" cy="18"/>
            </a:xfrm>
            <a:prstGeom prst="line">
              <a:avLst/>
            </a:prstGeom>
            <a:noFill/>
            <a:ln w="9525" cap="rnd"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Lst>
          </p:spPr>
        </p:cxnSp>
        <p:sp>
          <p:nvSpPr>
            <p:cNvPr id="183" name="正方形/長方形 182">
              <a:extLst>
                <a:ext uri="{FF2B5EF4-FFF2-40B4-BE49-F238E27FC236}">
                  <a16:creationId xmlns:a16="http://schemas.microsoft.com/office/drawing/2014/main" id="{DF593F2B-3892-A6BB-8281-0C74CDAF9F77}"/>
                </a:ext>
              </a:extLst>
            </p:cNvPr>
            <p:cNvSpPr/>
            <p:nvPr/>
          </p:nvSpPr>
          <p:spPr>
            <a:xfrm>
              <a:off x="3703724" y="3361492"/>
              <a:ext cx="540006" cy="13500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342900"/>
              <a:r>
                <a:rPr lang="en-US" altLang="ja-JP" sz="825" dirty="0">
                  <a:solidFill>
                    <a:prstClr val="black"/>
                  </a:solidFill>
                  <a:latin typeface="Arial" panose="020B0604020202020204" pitchFamily="34" charset="0"/>
                  <a:ea typeface="游ゴシック" panose="020B0400000000000000" pitchFamily="50" charset="-128"/>
                  <a:cs typeface="Arial" panose="020B0604020202020204" pitchFamily="34" charset="0"/>
                </a:rPr>
                <a:t>[4</a:t>
              </a:r>
              <a:r>
                <a:rPr kumimoji="0" lang="en-US" altLang="ja-JP" sz="825" dirty="0">
                  <a:solidFill>
                    <a:prstClr val="black"/>
                  </a:solidFill>
                  <a:latin typeface="Arial" panose="020B0604020202020204" pitchFamily="34" charset="0"/>
                  <a:ea typeface="游ゴシック" panose="020B0400000000000000" pitchFamily="50" charset="-128"/>
                  <a:cs typeface="Arial" panose="020B0604020202020204" pitchFamily="34" charset="0"/>
                </a:rPr>
                <a:t>315</a:t>
              </a:r>
              <a:r>
                <a:rPr lang="en-US" altLang="ja-JP" sz="825" dirty="0">
                  <a:solidFill>
                    <a:prstClr val="black"/>
                  </a:solidFill>
                  <a:latin typeface="Arial" panose="020B0604020202020204" pitchFamily="34" charset="0"/>
                  <a:ea typeface="游ゴシック" panose="020B0400000000000000" pitchFamily="50" charset="-128"/>
                  <a:cs typeface="Arial" panose="020B0604020202020204" pitchFamily="34" charset="0"/>
                </a:rPr>
                <a:t>:0]</a:t>
              </a:r>
              <a:endParaRPr lang="en-US" sz="825" dirty="0">
                <a:solidFill>
                  <a:prstClr val="black"/>
                </a:solidFill>
                <a:latin typeface="Times New Roman" panose="02020603050405020304" pitchFamily="18" charset="0"/>
                <a:cs typeface="Times New Roman" panose="02020603050405020304" pitchFamily="18" charset="0"/>
              </a:endParaRPr>
            </a:p>
          </p:txBody>
        </p:sp>
        <p:cxnSp>
          <p:nvCxnSpPr>
            <p:cNvPr id="184" name="直線コネクタ 183">
              <a:extLst>
                <a:ext uri="{FF2B5EF4-FFF2-40B4-BE49-F238E27FC236}">
                  <a16:creationId xmlns:a16="http://schemas.microsoft.com/office/drawing/2014/main" id="{EE4C44E6-5C47-9C11-57E0-63EA434870C7}"/>
                </a:ext>
              </a:extLst>
            </p:cNvPr>
            <p:cNvCxnSpPr>
              <a:cxnSpLocks/>
            </p:cNvCxnSpPr>
            <p:nvPr/>
          </p:nvCxnSpPr>
          <p:spPr>
            <a:xfrm flipH="1">
              <a:off x="3227250" y="4542749"/>
              <a:ext cx="135000" cy="0"/>
            </a:xfrm>
            <a:prstGeom prst="line">
              <a:avLst/>
            </a:prstGeom>
            <a:noFill/>
            <a:ln w="9525" cap="rnd"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Lst>
          </p:spPr>
        </p:cxnSp>
        <p:sp>
          <p:nvSpPr>
            <p:cNvPr id="185" name="正方形/長方形 184">
              <a:extLst>
                <a:ext uri="{FF2B5EF4-FFF2-40B4-BE49-F238E27FC236}">
                  <a16:creationId xmlns:a16="http://schemas.microsoft.com/office/drawing/2014/main" id="{685A0972-6705-922A-64DE-CCD2A361EFA5}"/>
                </a:ext>
              </a:extLst>
            </p:cNvPr>
            <p:cNvSpPr/>
            <p:nvPr/>
          </p:nvSpPr>
          <p:spPr>
            <a:xfrm>
              <a:off x="2484750" y="3833999"/>
              <a:ext cx="405000" cy="270012"/>
            </a:xfrm>
            <a:prstGeom prst="rect">
              <a:avLst/>
            </a:prstGeom>
            <a:solidFill>
              <a:schemeClr val="accent5">
                <a:lumMod val="20000"/>
                <a:lumOff val="80000"/>
              </a:schemeClr>
            </a:solidFill>
            <a:ln w="12700"/>
          </p:spPr>
          <p:style>
            <a:lnRef idx="2">
              <a:schemeClr val="dk1"/>
            </a:lnRef>
            <a:fillRef idx="1">
              <a:schemeClr val="lt1"/>
            </a:fillRef>
            <a:effectRef idx="0">
              <a:schemeClr val="dk1"/>
            </a:effectRef>
            <a:fontRef idx="minor">
              <a:schemeClr val="dk1"/>
            </a:fontRef>
          </p:style>
          <p:txBody>
            <a:bodyPr wrap="none" lIns="0" tIns="0" rIns="0" bIns="0" rtlCol="0" anchor="ctr">
              <a:noAutofit/>
            </a:bodyPr>
            <a:lstStyle/>
            <a:p>
              <a:pPr algn="ctr" defTabSz="342900">
                <a:lnSpc>
                  <a:spcPts val="825"/>
                </a:lnSpc>
              </a:pPr>
              <a:r>
                <a:rPr kumimoji="0" lang="en-US" altLang="ja-JP" sz="825" dirty="0">
                  <a:solidFill>
                    <a:prstClr val="black"/>
                  </a:solidFill>
                  <a:latin typeface="Arial" panose="020B0604020202020204" pitchFamily="34" charset="0"/>
                  <a:ea typeface="游ゴシック" panose="020B0400000000000000" pitchFamily="50" charset="-128"/>
                  <a:cs typeface="Arial" panose="020B0604020202020204" pitchFamily="34" charset="0"/>
                </a:rPr>
                <a:t>Tagged</a:t>
              </a:r>
              <a:br>
                <a:rPr kumimoji="0" lang="en-US" altLang="ja-JP" sz="825" dirty="0">
                  <a:solidFill>
                    <a:prstClr val="black"/>
                  </a:solidFill>
                  <a:latin typeface="Arial" panose="020B0604020202020204" pitchFamily="34" charset="0"/>
                  <a:ea typeface="游ゴシック" panose="020B0400000000000000" pitchFamily="50" charset="-128"/>
                  <a:cs typeface="Arial" panose="020B0604020202020204" pitchFamily="34" charset="0"/>
                </a:rPr>
              </a:br>
              <a:r>
                <a:rPr kumimoji="0" lang="en-US" altLang="ja-JP" sz="825" dirty="0">
                  <a:solidFill>
                    <a:prstClr val="black"/>
                  </a:solidFill>
                  <a:latin typeface="Arial" panose="020B0604020202020204" pitchFamily="34" charset="0"/>
                  <a:ea typeface="游ゴシック" panose="020B0400000000000000" pitchFamily="50" charset="-128"/>
                  <a:cs typeface="Arial" panose="020B0604020202020204" pitchFamily="34" charset="0"/>
                </a:rPr>
                <a:t>table</a:t>
              </a:r>
            </a:p>
          </p:txBody>
        </p:sp>
        <p:sp>
          <p:nvSpPr>
            <p:cNvPr id="186" name="正方形/長方形 185">
              <a:extLst>
                <a:ext uri="{FF2B5EF4-FFF2-40B4-BE49-F238E27FC236}">
                  <a16:creationId xmlns:a16="http://schemas.microsoft.com/office/drawing/2014/main" id="{C744C5B7-443A-65FA-DCFF-3D0CB4A8996A}"/>
                </a:ext>
              </a:extLst>
            </p:cNvPr>
            <p:cNvSpPr/>
            <p:nvPr/>
          </p:nvSpPr>
          <p:spPr>
            <a:xfrm>
              <a:off x="2957250" y="3833999"/>
              <a:ext cx="405000" cy="270012"/>
            </a:xfrm>
            <a:prstGeom prst="rect">
              <a:avLst/>
            </a:prstGeom>
            <a:solidFill>
              <a:schemeClr val="accent5">
                <a:lumMod val="20000"/>
                <a:lumOff val="80000"/>
              </a:schemeClr>
            </a:solidFill>
            <a:ln w="12700"/>
          </p:spPr>
          <p:style>
            <a:lnRef idx="2">
              <a:schemeClr val="dk1"/>
            </a:lnRef>
            <a:fillRef idx="1">
              <a:schemeClr val="lt1"/>
            </a:fillRef>
            <a:effectRef idx="0">
              <a:schemeClr val="dk1"/>
            </a:effectRef>
            <a:fontRef idx="minor">
              <a:schemeClr val="dk1"/>
            </a:fontRef>
          </p:style>
          <p:txBody>
            <a:bodyPr wrap="none" lIns="0" tIns="0" rIns="0" bIns="0" rtlCol="0" anchor="ctr">
              <a:noAutofit/>
            </a:bodyPr>
            <a:lstStyle/>
            <a:p>
              <a:pPr algn="ctr" defTabSz="342900">
                <a:lnSpc>
                  <a:spcPts val="825"/>
                </a:lnSpc>
              </a:pPr>
              <a:r>
                <a:rPr kumimoji="0" lang="en-US" altLang="ja-JP" sz="825" dirty="0">
                  <a:solidFill>
                    <a:prstClr val="black"/>
                  </a:solidFill>
                  <a:latin typeface="Arial" panose="020B0604020202020204" pitchFamily="34" charset="0"/>
                  <a:ea typeface="游ゴシック" panose="020B0400000000000000" pitchFamily="50" charset="-128"/>
                  <a:cs typeface="Arial" panose="020B0604020202020204" pitchFamily="34" charset="0"/>
                </a:rPr>
                <a:t>Tagged</a:t>
              </a:r>
              <a:br>
                <a:rPr kumimoji="0" lang="en-US" altLang="ja-JP" sz="825" dirty="0">
                  <a:solidFill>
                    <a:prstClr val="black"/>
                  </a:solidFill>
                  <a:latin typeface="Arial" panose="020B0604020202020204" pitchFamily="34" charset="0"/>
                  <a:ea typeface="游ゴシック" panose="020B0400000000000000" pitchFamily="50" charset="-128"/>
                  <a:cs typeface="Arial" panose="020B0604020202020204" pitchFamily="34" charset="0"/>
                </a:rPr>
              </a:br>
              <a:r>
                <a:rPr kumimoji="0" lang="en-US" altLang="ja-JP" sz="825" dirty="0">
                  <a:solidFill>
                    <a:prstClr val="black"/>
                  </a:solidFill>
                  <a:latin typeface="Arial" panose="020B0604020202020204" pitchFamily="34" charset="0"/>
                  <a:ea typeface="游ゴシック" panose="020B0400000000000000" pitchFamily="50" charset="-128"/>
                  <a:cs typeface="Arial" panose="020B0604020202020204" pitchFamily="34" charset="0"/>
                </a:rPr>
                <a:t>table</a:t>
              </a:r>
            </a:p>
          </p:txBody>
        </p:sp>
        <p:sp>
          <p:nvSpPr>
            <p:cNvPr id="187" name="正方形/長方形 186">
              <a:extLst>
                <a:ext uri="{FF2B5EF4-FFF2-40B4-BE49-F238E27FC236}">
                  <a16:creationId xmlns:a16="http://schemas.microsoft.com/office/drawing/2014/main" id="{FDAF47B6-E2C3-6484-A6E8-160F4088E6AD}"/>
                </a:ext>
              </a:extLst>
            </p:cNvPr>
            <p:cNvSpPr/>
            <p:nvPr/>
          </p:nvSpPr>
          <p:spPr>
            <a:xfrm>
              <a:off x="3767250" y="3833999"/>
              <a:ext cx="405000" cy="270012"/>
            </a:xfrm>
            <a:prstGeom prst="rect">
              <a:avLst/>
            </a:prstGeom>
            <a:solidFill>
              <a:schemeClr val="accent5">
                <a:lumMod val="20000"/>
                <a:lumOff val="80000"/>
              </a:schemeClr>
            </a:solidFill>
            <a:ln w="12700"/>
          </p:spPr>
          <p:style>
            <a:lnRef idx="2">
              <a:schemeClr val="dk1"/>
            </a:lnRef>
            <a:fillRef idx="1">
              <a:schemeClr val="lt1"/>
            </a:fillRef>
            <a:effectRef idx="0">
              <a:schemeClr val="dk1"/>
            </a:effectRef>
            <a:fontRef idx="minor">
              <a:schemeClr val="dk1"/>
            </a:fontRef>
          </p:style>
          <p:txBody>
            <a:bodyPr wrap="none" lIns="0" tIns="0" rIns="0" bIns="0" rtlCol="0" anchor="ctr">
              <a:noAutofit/>
            </a:bodyPr>
            <a:lstStyle/>
            <a:p>
              <a:pPr algn="ctr" defTabSz="342900">
                <a:lnSpc>
                  <a:spcPts val="825"/>
                </a:lnSpc>
              </a:pPr>
              <a:r>
                <a:rPr kumimoji="0" lang="en-US" altLang="ja-JP" sz="825" dirty="0">
                  <a:solidFill>
                    <a:prstClr val="black"/>
                  </a:solidFill>
                  <a:latin typeface="Arial" panose="020B0604020202020204" pitchFamily="34" charset="0"/>
                  <a:ea typeface="游ゴシック" panose="020B0400000000000000" pitchFamily="50" charset="-128"/>
                  <a:cs typeface="Arial" panose="020B0604020202020204" pitchFamily="34" charset="0"/>
                </a:rPr>
                <a:t>Tagged</a:t>
              </a:r>
              <a:br>
                <a:rPr kumimoji="0" lang="en-US" altLang="ja-JP" sz="825" dirty="0">
                  <a:solidFill>
                    <a:prstClr val="black"/>
                  </a:solidFill>
                  <a:latin typeface="Arial" panose="020B0604020202020204" pitchFamily="34" charset="0"/>
                  <a:ea typeface="游ゴシック" panose="020B0400000000000000" pitchFamily="50" charset="-128"/>
                  <a:cs typeface="Arial" panose="020B0604020202020204" pitchFamily="34" charset="0"/>
                </a:rPr>
              </a:br>
              <a:r>
                <a:rPr kumimoji="0" lang="en-US" altLang="ja-JP" sz="825" dirty="0">
                  <a:solidFill>
                    <a:prstClr val="black"/>
                  </a:solidFill>
                  <a:latin typeface="Arial" panose="020B0604020202020204" pitchFamily="34" charset="0"/>
                  <a:ea typeface="游ゴシック" panose="020B0400000000000000" pitchFamily="50" charset="-128"/>
                  <a:cs typeface="Arial" panose="020B0604020202020204" pitchFamily="34" charset="0"/>
                </a:rPr>
                <a:t>table</a:t>
              </a:r>
            </a:p>
          </p:txBody>
        </p:sp>
        <p:sp>
          <p:nvSpPr>
            <p:cNvPr id="188" name="正方形/長方形 187">
              <a:extLst>
                <a:ext uri="{FF2B5EF4-FFF2-40B4-BE49-F238E27FC236}">
                  <a16:creationId xmlns:a16="http://schemas.microsoft.com/office/drawing/2014/main" id="{58218F4A-4BCF-EBA4-F015-BE31BE4483F8}"/>
                </a:ext>
              </a:extLst>
            </p:cNvPr>
            <p:cNvSpPr/>
            <p:nvPr/>
          </p:nvSpPr>
          <p:spPr>
            <a:xfrm>
              <a:off x="3497251" y="3833998"/>
              <a:ext cx="270003" cy="13500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defTabSz="342900"/>
              <a:r>
                <a:rPr lang="en-US" altLang="ja-JP" sz="1350" dirty="0">
                  <a:solidFill>
                    <a:prstClr val="black"/>
                  </a:solidFill>
                  <a:latin typeface="Arial" panose="020B0604020202020204" pitchFamily="34" charset="0"/>
                  <a:ea typeface="游ゴシック" panose="020B0400000000000000" pitchFamily="50" charset="-128"/>
                  <a:cs typeface="Arial" panose="020B0604020202020204" pitchFamily="34" charset="0"/>
                </a:rPr>
                <a:t>...</a:t>
              </a:r>
              <a:endParaRPr lang="en-US" sz="1350" dirty="0">
                <a:solidFill>
                  <a:prstClr val="black"/>
                </a:solidFill>
                <a:latin typeface="Times New Roman" panose="02020603050405020304" pitchFamily="18" charset="0"/>
                <a:cs typeface="Times New Roman" panose="02020603050405020304" pitchFamily="18" charset="0"/>
              </a:endParaRPr>
            </a:p>
          </p:txBody>
        </p:sp>
        <p:sp>
          <p:nvSpPr>
            <p:cNvPr id="189" name="正方形/長方形 188">
              <a:extLst>
                <a:ext uri="{FF2B5EF4-FFF2-40B4-BE49-F238E27FC236}">
                  <a16:creationId xmlns:a16="http://schemas.microsoft.com/office/drawing/2014/main" id="{7D1F7A39-313B-061A-04B8-D43B2B4E9F4F}"/>
                </a:ext>
              </a:extLst>
            </p:cNvPr>
            <p:cNvSpPr/>
            <p:nvPr/>
          </p:nvSpPr>
          <p:spPr>
            <a:xfrm>
              <a:off x="4678492" y="3563986"/>
              <a:ext cx="270003" cy="13500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342900"/>
              <a:r>
                <a:rPr lang="en-US" altLang="ja-JP" sz="825" dirty="0">
                  <a:solidFill>
                    <a:prstClr val="black"/>
                  </a:solidFill>
                  <a:latin typeface="Arial" panose="020B0604020202020204" pitchFamily="34" charset="0"/>
                  <a:ea typeface="游ゴシック" panose="020B0400000000000000" pitchFamily="50" charset="-128"/>
                  <a:cs typeface="Arial" panose="020B0604020202020204" pitchFamily="34" charset="0"/>
                </a:rPr>
                <a:t>PC</a:t>
              </a:r>
              <a:endParaRPr lang="en-US" sz="825" dirty="0">
                <a:solidFill>
                  <a:prstClr val="black"/>
                </a:solidFill>
                <a:latin typeface="Times New Roman" panose="02020603050405020304" pitchFamily="18" charset="0"/>
                <a:cs typeface="Times New Roman" panose="02020603050405020304" pitchFamily="18" charset="0"/>
              </a:endParaRPr>
            </a:p>
          </p:txBody>
        </p:sp>
        <p:cxnSp>
          <p:nvCxnSpPr>
            <p:cNvPr id="190" name="直線矢印コネクタ 189">
              <a:extLst>
                <a:ext uri="{FF2B5EF4-FFF2-40B4-BE49-F238E27FC236}">
                  <a16:creationId xmlns:a16="http://schemas.microsoft.com/office/drawing/2014/main" id="{6815EE92-43C6-A0EA-5723-0D3A6A4E22AF}"/>
                </a:ext>
              </a:extLst>
            </p:cNvPr>
            <p:cNvCxnSpPr>
              <a:cxnSpLocks/>
            </p:cNvCxnSpPr>
            <p:nvPr/>
          </p:nvCxnSpPr>
          <p:spPr>
            <a:xfrm>
              <a:off x="5556002" y="4373995"/>
              <a:ext cx="0" cy="135002"/>
            </a:xfrm>
            <a:prstGeom prst="straightConnector1">
              <a:avLst/>
            </a:prstGeom>
            <a:noFill/>
            <a:ln w="9525" cap="rnd"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Lst>
          </p:spPr>
        </p:cxnSp>
        <p:sp>
          <p:nvSpPr>
            <p:cNvPr id="191" name="正方形/長方形 190">
              <a:extLst>
                <a:ext uri="{FF2B5EF4-FFF2-40B4-BE49-F238E27FC236}">
                  <a16:creationId xmlns:a16="http://schemas.microsoft.com/office/drawing/2014/main" id="{3631DAC4-A0FB-7388-0836-FF69B85BB499}"/>
                </a:ext>
              </a:extLst>
            </p:cNvPr>
            <p:cNvSpPr/>
            <p:nvPr/>
          </p:nvSpPr>
          <p:spPr>
            <a:xfrm>
              <a:off x="5353500" y="4508997"/>
              <a:ext cx="405005" cy="135002"/>
            </a:xfrm>
            <a:prstGeom prst="rect">
              <a:avLst/>
            </a:prstGeom>
            <a:solidFill>
              <a:schemeClr val="bg1"/>
            </a:solidFill>
            <a:ln w="12700"/>
          </p:spPr>
          <p:style>
            <a:lnRef idx="2">
              <a:schemeClr val="dk1"/>
            </a:lnRef>
            <a:fillRef idx="1">
              <a:schemeClr val="lt1"/>
            </a:fillRef>
            <a:effectRef idx="0">
              <a:schemeClr val="dk1"/>
            </a:effectRef>
            <a:fontRef idx="minor">
              <a:schemeClr val="dk1"/>
            </a:fontRef>
          </p:style>
          <p:txBody>
            <a:bodyPr wrap="none" lIns="0" tIns="0" rIns="0" bIns="0" rtlCol="0" anchor="ctr">
              <a:noAutofit/>
            </a:bodyPr>
            <a:lstStyle/>
            <a:p>
              <a:pPr algn="ctr" defTabSz="342900">
                <a:lnSpc>
                  <a:spcPts val="825"/>
                </a:lnSpc>
              </a:pPr>
              <a:r>
                <a:rPr kumimoji="0" lang="en-US" altLang="ja-JP" sz="750" dirty="0">
                  <a:solidFill>
                    <a:prstClr val="black"/>
                  </a:solidFill>
                  <a:latin typeface="Arial" panose="020B0604020202020204" pitchFamily="34" charset="0"/>
                  <a:ea typeface="游ゴシック" panose="020B0400000000000000" pitchFamily="50" charset="-128"/>
                  <a:cs typeface="Arial" panose="020B0604020202020204" pitchFamily="34" charset="0"/>
                </a:rPr>
                <a:t>x1 or </a:t>
              </a:r>
              <a:r>
                <a:rPr kumimoji="0" lang="en-US" altLang="ja-JP" sz="750" dirty="0" err="1">
                  <a:solidFill>
                    <a:prstClr val="black"/>
                  </a:solidFill>
                  <a:latin typeface="Arial" panose="020B0604020202020204" pitchFamily="34" charset="0"/>
                  <a:ea typeface="游ゴシック" panose="020B0400000000000000" pitchFamily="50" charset="-128"/>
                  <a:cs typeface="Arial" panose="020B0604020202020204" pitchFamily="34" charset="0"/>
                </a:rPr>
                <a:t>x</a:t>
              </a:r>
              <a:r>
                <a:rPr kumimoji="0" lang="en-US" altLang="ja-JP" sz="750" u="sng" dirty="0" err="1">
                  <a:solidFill>
                    <a:prstClr val="black"/>
                  </a:solidFill>
                  <a:latin typeface="Arial" panose="020B0604020202020204" pitchFamily="34" charset="0"/>
                  <a:ea typeface="游ゴシック" panose="020B0400000000000000" pitchFamily="50" charset="-128"/>
                  <a:cs typeface="Arial" panose="020B0604020202020204" pitchFamily="34" charset="0"/>
                </a:rPr>
                <a:t>M</a:t>
              </a:r>
              <a:endParaRPr kumimoji="0" lang="ja-JP" altLang="en-US" sz="750" u="sng" dirty="0">
                <a:solidFill>
                  <a:prstClr val="black"/>
                </a:solidFill>
                <a:latin typeface="Arial" panose="020B0604020202020204" pitchFamily="34" charset="0"/>
                <a:ea typeface="游ゴシック" panose="020B0400000000000000" pitchFamily="50" charset="-128"/>
                <a:cs typeface="Arial" panose="020B0604020202020204" pitchFamily="34" charset="0"/>
              </a:endParaRPr>
            </a:p>
          </p:txBody>
        </p:sp>
        <p:sp>
          <p:nvSpPr>
            <p:cNvPr id="256" name="正方形/長方形 255">
              <a:extLst>
                <a:ext uri="{FF2B5EF4-FFF2-40B4-BE49-F238E27FC236}">
                  <a16:creationId xmlns:a16="http://schemas.microsoft.com/office/drawing/2014/main" id="{26E1C8D2-32D8-FD35-BC51-3574817CC999}"/>
                </a:ext>
              </a:extLst>
            </p:cNvPr>
            <p:cNvSpPr/>
            <p:nvPr/>
          </p:nvSpPr>
          <p:spPr>
            <a:xfrm>
              <a:off x="4610991" y="3833991"/>
              <a:ext cx="405005" cy="270003"/>
            </a:xfrm>
            <a:prstGeom prst="rect">
              <a:avLst/>
            </a:prstGeom>
            <a:solidFill>
              <a:schemeClr val="accent5">
                <a:lumMod val="20000"/>
                <a:lumOff val="80000"/>
              </a:schemeClr>
            </a:solidFill>
            <a:ln w="12700"/>
          </p:spPr>
          <p:style>
            <a:lnRef idx="2">
              <a:schemeClr val="dk1"/>
            </a:lnRef>
            <a:fillRef idx="1">
              <a:schemeClr val="lt1"/>
            </a:fillRef>
            <a:effectRef idx="0">
              <a:schemeClr val="dk1"/>
            </a:effectRef>
            <a:fontRef idx="minor">
              <a:schemeClr val="dk1"/>
            </a:fontRef>
          </p:style>
          <p:txBody>
            <a:bodyPr wrap="none" lIns="0" tIns="0" rIns="0" bIns="0" rtlCol="0" anchor="ctr">
              <a:noAutofit/>
            </a:bodyPr>
            <a:lstStyle/>
            <a:p>
              <a:pPr algn="ctr" defTabSz="342900">
                <a:lnSpc>
                  <a:spcPts val="825"/>
                </a:lnSpc>
              </a:pPr>
              <a:r>
                <a:rPr kumimoji="0" lang="en-US" altLang="ja-JP" sz="750" dirty="0">
                  <a:solidFill>
                    <a:prstClr val="black"/>
                  </a:solidFill>
                  <a:latin typeface="Arial" panose="020B0604020202020204" pitchFamily="34" charset="0"/>
                  <a:ea typeface="游ゴシック" panose="020B0400000000000000" pitchFamily="50" charset="-128"/>
                  <a:cs typeface="Arial" panose="020B0604020202020204" pitchFamily="34" charset="0"/>
                </a:rPr>
                <a:t>UT</a:t>
              </a:r>
              <a:endParaRPr kumimoji="0" lang="ja-JP" altLang="en-US" sz="750" dirty="0">
                <a:solidFill>
                  <a:prstClr val="black"/>
                </a:solidFill>
                <a:latin typeface="Arial" panose="020B0604020202020204" pitchFamily="34" charset="0"/>
                <a:ea typeface="游ゴシック" panose="020B0400000000000000" pitchFamily="50" charset="-128"/>
                <a:cs typeface="Arial" panose="020B0604020202020204" pitchFamily="34" charset="0"/>
              </a:endParaRPr>
            </a:p>
          </p:txBody>
        </p:sp>
        <p:sp>
          <p:nvSpPr>
            <p:cNvPr id="257" name="Freeform 10">
              <a:extLst>
                <a:ext uri="{FF2B5EF4-FFF2-40B4-BE49-F238E27FC236}">
                  <a16:creationId xmlns:a16="http://schemas.microsoft.com/office/drawing/2014/main" id="{67CBCB58-76E2-CCD2-36D5-B796E41B1629}"/>
                </a:ext>
              </a:extLst>
            </p:cNvPr>
            <p:cNvSpPr>
              <a:spLocks/>
            </p:cNvSpPr>
            <p:nvPr/>
          </p:nvSpPr>
          <p:spPr bwMode="auto">
            <a:xfrm>
              <a:off x="4813494" y="4103994"/>
              <a:ext cx="540007" cy="4725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9525" cap="rnd"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Lst>
          </p:spPr>
          <p:txBody>
            <a:bodyPr wrap="none" lIns="0" tIns="0" rIns="0" bIns="0">
              <a:noAutofit/>
            </a:bodyPr>
            <a:lstStyle/>
            <a:p>
              <a:pPr defTabSz="342900"/>
              <a:endParaRPr kumimoji="0" lang="ja-JP" altLang="en-US" sz="1350">
                <a:solidFill>
                  <a:prstClr val="black"/>
                </a:solidFill>
                <a:latin typeface="Arial Narrow" pitchFamily="34" charset="0"/>
                <a:ea typeface="游ゴシック" panose="020B0400000000000000" pitchFamily="50" charset="-128"/>
                <a:cs typeface="Times New Roman" pitchFamily="18" charset="0"/>
              </a:endParaRPr>
            </a:p>
          </p:txBody>
        </p:sp>
        <p:cxnSp>
          <p:nvCxnSpPr>
            <p:cNvPr id="258" name="直線矢印コネクタ 257">
              <a:extLst>
                <a:ext uri="{FF2B5EF4-FFF2-40B4-BE49-F238E27FC236}">
                  <a16:creationId xmlns:a16="http://schemas.microsoft.com/office/drawing/2014/main" id="{5EC9EB57-D64E-7254-3AF0-C5777842A33E}"/>
                </a:ext>
              </a:extLst>
            </p:cNvPr>
            <p:cNvCxnSpPr>
              <a:cxnSpLocks/>
            </p:cNvCxnSpPr>
            <p:nvPr/>
          </p:nvCxnSpPr>
          <p:spPr>
            <a:xfrm>
              <a:off x="6973500" y="5082748"/>
              <a:ext cx="0" cy="135002"/>
            </a:xfrm>
            <a:prstGeom prst="straightConnector1">
              <a:avLst/>
            </a:prstGeom>
            <a:noFill/>
            <a:ln w="9525" cap="rnd"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Lst>
          </p:spPr>
        </p:cxnSp>
        <p:sp>
          <p:nvSpPr>
            <p:cNvPr id="261" name="正方形/長方形 260">
              <a:extLst>
                <a:ext uri="{FF2B5EF4-FFF2-40B4-BE49-F238E27FC236}">
                  <a16:creationId xmlns:a16="http://schemas.microsoft.com/office/drawing/2014/main" id="{2B96A664-E3CE-DA69-4505-F0DB55F70FB1}"/>
                </a:ext>
              </a:extLst>
            </p:cNvPr>
            <p:cNvSpPr/>
            <p:nvPr/>
          </p:nvSpPr>
          <p:spPr>
            <a:xfrm>
              <a:off x="4813493" y="4441496"/>
              <a:ext cx="540006" cy="13500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342900"/>
              <a:r>
                <a:rPr lang="en-US" altLang="ja-JP" sz="825" dirty="0">
                  <a:solidFill>
                    <a:prstClr val="black"/>
                  </a:solidFill>
                  <a:latin typeface="Arial" panose="020B0604020202020204" pitchFamily="34" charset="0"/>
                  <a:ea typeface="游ゴシック" panose="020B0400000000000000" pitchFamily="50" charset="-128"/>
                  <a:cs typeface="Arial" panose="020B0604020202020204" pitchFamily="34" charset="0"/>
                </a:rPr>
                <a:t>Useful</a:t>
              </a:r>
              <a:endParaRPr lang="en-US" sz="825" dirty="0">
                <a:solidFill>
                  <a:prstClr val="black"/>
                </a:solidFill>
                <a:latin typeface="Times New Roman" panose="02020603050405020304" pitchFamily="18" charset="0"/>
                <a:cs typeface="Times New Roman" panose="02020603050405020304" pitchFamily="18" charset="0"/>
              </a:endParaRPr>
            </a:p>
          </p:txBody>
        </p:sp>
        <p:cxnSp>
          <p:nvCxnSpPr>
            <p:cNvPr id="262" name="直線矢印コネクタ 261">
              <a:extLst>
                <a:ext uri="{FF2B5EF4-FFF2-40B4-BE49-F238E27FC236}">
                  <a16:creationId xmlns:a16="http://schemas.microsoft.com/office/drawing/2014/main" id="{AE1F306D-C93E-0BE2-5BAB-331E39F884D2}"/>
                </a:ext>
              </a:extLst>
            </p:cNvPr>
            <p:cNvCxnSpPr>
              <a:cxnSpLocks/>
            </p:cNvCxnSpPr>
            <p:nvPr/>
          </p:nvCxnSpPr>
          <p:spPr>
            <a:xfrm>
              <a:off x="4813493" y="3698988"/>
              <a:ext cx="0" cy="135002"/>
            </a:xfrm>
            <a:prstGeom prst="straightConnector1">
              <a:avLst/>
            </a:prstGeom>
            <a:noFill/>
            <a:ln w="9525" cap="rnd"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Lst>
          </p:spPr>
        </p:cxnSp>
        <p:sp>
          <p:nvSpPr>
            <p:cNvPr id="263" name="正方形/長方形 262">
              <a:extLst>
                <a:ext uri="{FF2B5EF4-FFF2-40B4-BE49-F238E27FC236}">
                  <a16:creationId xmlns:a16="http://schemas.microsoft.com/office/drawing/2014/main" id="{5D2E6AEA-4208-1D8A-299A-A321E063E91D}"/>
                </a:ext>
              </a:extLst>
            </p:cNvPr>
            <p:cNvSpPr/>
            <p:nvPr/>
          </p:nvSpPr>
          <p:spPr>
            <a:xfrm>
              <a:off x="5083497" y="3833991"/>
              <a:ext cx="270003" cy="270003"/>
            </a:xfrm>
            <a:prstGeom prst="rect">
              <a:avLst/>
            </a:prstGeom>
            <a:solidFill>
              <a:schemeClr val="accent5">
                <a:lumMod val="20000"/>
                <a:lumOff val="80000"/>
              </a:schemeClr>
            </a:solidFill>
            <a:ln w="12700"/>
          </p:spPr>
          <p:style>
            <a:lnRef idx="2">
              <a:schemeClr val="dk1"/>
            </a:lnRef>
            <a:fillRef idx="1">
              <a:schemeClr val="lt1"/>
            </a:fillRef>
            <a:effectRef idx="0">
              <a:schemeClr val="dk1"/>
            </a:effectRef>
            <a:fontRef idx="minor">
              <a:schemeClr val="dk1"/>
            </a:fontRef>
          </p:style>
          <p:txBody>
            <a:bodyPr wrap="none" lIns="0" tIns="0" rIns="0" bIns="0" rtlCol="0" anchor="ctr">
              <a:noAutofit/>
            </a:bodyPr>
            <a:lstStyle/>
            <a:p>
              <a:pPr algn="ctr" defTabSz="342900">
                <a:lnSpc>
                  <a:spcPts val="825"/>
                </a:lnSpc>
              </a:pPr>
              <a:r>
                <a:rPr kumimoji="0" lang="en-US" altLang="ja-JP" sz="750" dirty="0">
                  <a:solidFill>
                    <a:prstClr val="black"/>
                  </a:solidFill>
                  <a:latin typeface="Arial" panose="020B0604020202020204" pitchFamily="34" charset="0"/>
                  <a:ea typeface="游ゴシック" panose="020B0400000000000000" pitchFamily="50" charset="-128"/>
                  <a:cs typeface="Arial" panose="020B0604020202020204" pitchFamily="34" charset="0"/>
                </a:rPr>
                <a:t>WT0</a:t>
              </a:r>
              <a:endParaRPr kumimoji="0" lang="ja-JP" altLang="en-US" sz="750" dirty="0">
                <a:solidFill>
                  <a:prstClr val="black"/>
                </a:solidFill>
                <a:latin typeface="Arial" panose="020B0604020202020204" pitchFamily="34" charset="0"/>
                <a:ea typeface="游ゴシック" panose="020B0400000000000000" pitchFamily="50" charset="-128"/>
                <a:cs typeface="Arial" panose="020B0604020202020204" pitchFamily="34" charset="0"/>
              </a:endParaRPr>
            </a:p>
          </p:txBody>
        </p:sp>
        <p:sp>
          <p:nvSpPr>
            <p:cNvPr id="264" name="正方形/長方形 263">
              <a:extLst>
                <a:ext uri="{FF2B5EF4-FFF2-40B4-BE49-F238E27FC236}">
                  <a16:creationId xmlns:a16="http://schemas.microsoft.com/office/drawing/2014/main" id="{9139F120-0FC0-9A97-5BCB-81BA3B081FD4}"/>
                </a:ext>
              </a:extLst>
            </p:cNvPr>
            <p:cNvSpPr/>
            <p:nvPr/>
          </p:nvSpPr>
          <p:spPr>
            <a:xfrm>
              <a:off x="5421001" y="3833991"/>
              <a:ext cx="270003" cy="270003"/>
            </a:xfrm>
            <a:prstGeom prst="rect">
              <a:avLst/>
            </a:prstGeom>
            <a:solidFill>
              <a:schemeClr val="accent5">
                <a:lumMod val="20000"/>
                <a:lumOff val="80000"/>
              </a:schemeClr>
            </a:solidFill>
            <a:ln w="12700"/>
          </p:spPr>
          <p:style>
            <a:lnRef idx="2">
              <a:schemeClr val="dk1"/>
            </a:lnRef>
            <a:fillRef idx="1">
              <a:schemeClr val="lt1"/>
            </a:fillRef>
            <a:effectRef idx="0">
              <a:schemeClr val="dk1"/>
            </a:effectRef>
            <a:fontRef idx="minor">
              <a:schemeClr val="dk1"/>
            </a:fontRef>
          </p:style>
          <p:txBody>
            <a:bodyPr wrap="none" lIns="0" tIns="0" rIns="0" bIns="0" rtlCol="0" anchor="ctr">
              <a:noAutofit/>
            </a:bodyPr>
            <a:lstStyle/>
            <a:p>
              <a:pPr algn="ctr" defTabSz="342900">
                <a:lnSpc>
                  <a:spcPts val="825"/>
                </a:lnSpc>
              </a:pPr>
              <a:r>
                <a:rPr kumimoji="0" lang="en-US" altLang="ja-JP" sz="750" dirty="0">
                  <a:solidFill>
                    <a:prstClr val="black"/>
                  </a:solidFill>
                  <a:latin typeface="Arial" panose="020B0604020202020204" pitchFamily="34" charset="0"/>
                  <a:ea typeface="游ゴシック" panose="020B0400000000000000" pitchFamily="50" charset="-128"/>
                  <a:cs typeface="Arial" panose="020B0604020202020204" pitchFamily="34" charset="0"/>
                </a:rPr>
                <a:t>WT1</a:t>
              </a:r>
              <a:endParaRPr kumimoji="0" lang="ja-JP" altLang="en-US" sz="750" dirty="0">
                <a:solidFill>
                  <a:prstClr val="black"/>
                </a:solidFill>
                <a:latin typeface="Arial" panose="020B0604020202020204" pitchFamily="34" charset="0"/>
                <a:ea typeface="游ゴシック" panose="020B0400000000000000" pitchFamily="50" charset="-128"/>
                <a:cs typeface="Arial" panose="020B0604020202020204" pitchFamily="34" charset="0"/>
              </a:endParaRPr>
            </a:p>
          </p:txBody>
        </p:sp>
        <p:sp>
          <p:nvSpPr>
            <p:cNvPr id="265" name="正方形/長方形 264">
              <a:extLst>
                <a:ext uri="{FF2B5EF4-FFF2-40B4-BE49-F238E27FC236}">
                  <a16:creationId xmlns:a16="http://schemas.microsoft.com/office/drawing/2014/main" id="{4B859FC2-76D6-FEBD-DFE3-E57940FB3AE1}"/>
                </a:ext>
              </a:extLst>
            </p:cNvPr>
            <p:cNvSpPr/>
            <p:nvPr/>
          </p:nvSpPr>
          <p:spPr>
            <a:xfrm>
              <a:off x="5961006" y="3833991"/>
              <a:ext cx="270003" cy="270003"/>
            </a:xfrm>
            <a:prstGeom prst="rect">
              <a:avLst/>
            </a:prstGeom>
            <a:solidFill>
              <a:schemeClr val="accent5">
                <a:lumMod val="20000"/>
                <a:lumOff val="80000"/>
              </a:schemeClr>
            </a:solidFill>
            <a:ln w="12700"/>
          </p:spPr>
          <p:style>
            <a:lnRef idx="2">
              <a:schemeClr val="dk1"/>
            </a:lnRef>
            <a:fillRef idx="1">
              <a:schemeClr val="lt1"/>
            </a:fillRef>
            <a:effectRef idx="0">
              <a:schemeClr val="dk1"/>
            </a:effectRef>
            <a:fontRef idx="minor">
              <a:schemeClr val="dk1"/>
            </a:fontRef>
          </p:style>
          <p:txBody>
            <a:bodyPr wrap="none" lIns="0" tIns="0" rIns="0" bIns="0" rtlCol="0" anchor="ctr">
              <a:noAutofit/>
            </a:bodyPr>
            <a:lstStyle/>
            <a:p>
              <a:pPr algn="ctr" defTabSz="342900">
                <a:lnSpc>
                  <a:spcPts val="825"/>
                </a:lnSpc>
              </a:pPr>
              <a:r>
                <a:rPr kumimoji="0" lang="en-US" altLang="ja-JP" sz="750" dirty="0">
                  <a:solidFill>
                    <a:prstClr val="black"/>
                  </a:solidFill>
                  <a:latin typeface="Arial" panose="020B0604020202020204" pitchFamily="34" charset="0"/>
                  <a:ea typeface="游ゴシック" panose="020B0400000000000000" pitchFamily="50" charset="-128"/>
                  <a:cs typeface="Arial" panose="020B0604020202020204" pitchFamily="34" charset="0"/>
                </a:rPr>
                <a:t>WT</a:t>
              </a:r>
              <a:r>
                <a:rPr kumimoji="0" lang="en-US" altLang="ja-JP" sz="750" u="sng" dirty="0">
                  <a:solidFill>
                    <a:prstClr val="black"/>
                  </a:solidFill>
                  <a:latin typeface="Arial" panose="020B0604020202020204" pitchFamily="34" charset="0"/>
                  <a:ea typeface="游ゴシック" panose="020B0400000000000000" pitchFamily="50" charset="-128"/>
                  <a:cs typeface="Arial" panose="020B0604020202020204" pitchFamily="34" charset="0"/>
                </a:rPr>
                <a:t>N</a:t>
              </a:r>
              <a:endParaRPr kumimoji="0" lang="ja-JP" altLang="en-US" sz="750" u="sng" dirty="0">
                <a:solidFill>
                  <a:prstClr val="black"/>
                </a:solidFill>
                <a:latin typeface="Arial" panose="020B0604020202020204" pitchFamily="34" charset="0"/>
                <a:ea typeface="游ゴシック" panose="020B0400000000000000" pitchFamily="50" charset="-128"/>
                <a:cs typeface="Arial" panose="020B0604020202020204" pitchFamily="34" charset="0"/>
              </a:endParaRPr>
            </a:p>
          </p:txBody>
        </p:sp>
        <p:sp>
          <p:nvSpPr>
            <p:cNvPr id="266" name="四角形: 角を丸くする 265">
              <a:extLst>
                <a:ext uri="{FF2B5EF4-FFF2-40B4-BE49-F238E27FC236}">
                  <a16:creationId xmlns:a16="http://schemas.microsoft.com/office/drawing/2014/main" id="{9AE0EABD-181A-1A98-5B63-DEC750F39F92}"/>
                </a:ext>
              </a:extLst>
            </p:cNvPr>
            <p:cNvSpPr/>
            <p:nvPr/>
          </p:nvSpPr>
          <p:spPr>
            <a:xfrm>
              <a:off x="5421001" y="4238994"/>
              <a:ext cx="270003" cy="135002"/>
            </a:xfrm>
            <a:prstGeom prst="roundRect">
              <a:avLst>
                <a:gd name="adj" fmla="val 11375"/>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342900"/>
              <a:r>
                <a:rPr lang="en-US" altLang="ja-JP" sz="825" dirty="0">
                  <a:solidFill>
                    <a:prstClr val="black"/>
                  </a:solidFill>
                  <a:latin typeface="Arial" panose="020B0604020202020204" pitchFamily="34" charset="0"/>
                  <a:ea typeface="游ゴシック" panose="020B0400000000000000" pitchFamily="50" charset="-128"/>
                  <a:cs typeface="Arial" panose="020B0604020202020204" pitchFamily="34" charset="0"/>
                </a:rPr>
                <a:t>Σ</a:t>
              </a:r>
              <a:endParaRPr lang="en-US" sz="825" dirty="0">
                <a:solidFill>
                  <a:prstClr val="black"/>
                </a:solidFill>
                <a:latin typeface="Arial" panose="020B0604020202020204" pitchFamily="34" charset="0"/>
                <a:cs typeface="Arial" panose="020B0604020202020204" pitchFamily="34" charset="0"/>
              </a:endParaRPr>
            </a:p>
          </p:txBody>
        </p:sp>
        <p:sp>
          <p:nvSpPr>
            <p:cNvPr id="267" name="Freeform 10">
              <a:extLst>
                <a:ext uri="{FF2B5EF4-FFF2-40B4-BE49-F238E27FC236}">
                  <a16:creationId xmlns:a16="http://schemas.microsoft.com/office/drawing/2014/main" id="{C732D85C-DB49-5C19-86BB-3C202C3E2907}"/>
                </a:ext>
              </a:extLst>
            </p:cNvPr>
            <p:cNvSpPr>
              <a:spLocks/>
            </p:cNvSpPr>
            <p:nvPr/>
          </p:nvSpPr>
          <p:spPr bwMode="auto">
            <a:xfrm>
              <a:off x="5218497" y="4103994"/>
              <a:ext cx="270004" cy="6750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9525"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Lst>
          </p:spPr>
          <p:txBody>
            <a:bodyPr wrap="none" lIns="0" tIns="0" rIns="0" bIns="0">
              <a:noAutofit/>
            </a:bodyPr>
            <a:lstStyle/>
            <a:p>
              <a:pPr defTabSz="342900"/>
              <a:endParaRPr kumimoji="0" lang="ja-JP" altLang="en-US" sz="1350">
                <a:solidFill>
                  <a:prstClr val="black"/>
                </a:solidFill>
                <a:latin typeface="Arial Narrow" pitchFamily="34" charset="0"/>
                <a:ea typeface="游ゴシック" panose="020B0400000000000000" pitchFamily="50" charset="-128"/>
                <a:cs typeface="Times New Roman" pitchFamily="18" charset="0"/>
              </a:endParaRPr>
            </a:p>
          </p:txBody>
        </p:sp>
        <p:cxnSp>
          <p:nvCxnSpPr>
            <p:cNvPr id="268" name="直線矢印コネクタ 267">
              <a:extLst>
                <a:ext uri="{FF2B5EF4-FFF2-40B4-BE49-F238E27FC236}">
                  <a16:creationId xmlns:a16="http://schemas.microsoft.com/office/drawing/2014/main" id="{3348AB6D-CC95-B9AE-0982-F4701F60A21C}"/>
                </a:ext>
              </a:extLst>
            </p:cNvPr>
            <p:cNvCxnSpPr>
              <a:cxnSpLocks/>
            </p:cNvCxnSpPr>
            <p:nvPr/>
          </p:nvCxnSpPr>
          <p:spPr>
            <a:xfrm>
              <a:off x="5488501" y="4171495"/>
              <a:ext cx="0" cy="67501"/>
            </a:xfrm>
            <a:prstGeom prst="straightConnector1">
              <a:avLst/>
            </a:prstGeom>
            <a:noFill/>
            <a:ln w="9525" cap="rnd"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Lst>
          </p:spPr>
        </p:cxnSp>
        <p:cxnSp>
          <p:nvCxnSpPr>
            <p:cNvPr id="269" name="直線矢印コネクタ 268">
              <a:extLst>
                <a:ext uri="{FF2B5EF4-FFF2-40B4-BE49-F238E27FC236}">
                  <a16:creationId xmlns:a16="http://schemas.microsoft.com/office/drawing/2014/main" id="{584589EE-6568-9EEF-B132-081E81AC1B35}"/>
                </a:ext>
              </a:extLst>
            </p:cNvPr>
            <p:cNvCxnSpPr>
              <a:cxnSpLocks/>
              <a:endCxn id="266" idx="0"/>
            </p:cNvCxnSpPr>
            <p:nvPr/>
          </p:nvCxnSpPr>
          <p:spPr>
            <a:xfrm>
              <a:off x="5556002" y="4103992"/>
              <a:ext cx="0" cy="135002"/>
            </a:xfrm>
            <a:prstGeom prst="straightConnector1">
              <a:avLst/>
            </a:prstGeom>
            <a:noFill/>
            <a:ln w="9525" cap="rnd"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Lst>
          </p:spPr>
        </p:cxnSp>
        <p:sp>
          <p:nvSpPr>
            <p:cNvPr id="270" name="Freeform 10">
              <a:extLst>
                <a:ext uri="{FF2B5EF4-FFF2-40B4-BE49-F238E27FC236}">
                  <a16:creationId xmlns:a16="http://schemas.microsoft.com/office/drawing/2014/main" id="{1D58274E-4EAE-4D59-508B-6AC0FB950787}"/>
                </a:ext>
              </a:extLst>
            </p:cNvPr>
            <p:cNvSpPr>
              <a:spLocks/>
            </p:cNvSpPr>
            <p:nvPr/>
          </p:nvSpPr>
          <p:spPr bwMode="auto">
            <a:xfrm flipH="1">
              <a:off x="5623502" y="4103994"/>
              <a:ext cx="472505" cy="6750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9525"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Lst>
          </p:spPr>
          <p:txBody>
            <a:bodyPr wrap="none" lIns="0" tIns="0" rIns="0" bIns="0">
              <a:noAutofit/>
            </a:bodyPr>
            <a:lstStyle/>
            <a:p>
              <a:pPr defTabSz="342900"/>
              <a:endParaRPr kumimoji="0" lang="ja-JP" altLang="en-US" sz="1350">
                <a:solidFill>
                  <a:prstClr val="black"/>
                </a:solidFill>
                <a:latin typeface="Arial Narrow" pitchFamily="34" charset="0"/>
                <a:ea typeface="游ゴシック" panose="020B0400000000000000" pitchFamily="50" charset="-128"/>
                <a:cs typeface="Times New Roman" pitchFamily="18" charset="0"/>
              </a:endParaRPr>
            </a:p>
          </p:txBody>
        </p:sp>
        <p:cxnSp>
          <p:nvCxnSpPr>
            <p:cNvPr id="192" name="直線矢印コネクタ 191">
              <a:extLst>
                <a:ext uri="{FF2B5EF4-FFF2-40B4-BE49-F238E27FC236}">
                  <a16:creationId xmlns:a16="http://schemas.microsoft.com/office/drawing/2014/main" id="{923F1ECD-D21C-517D-4A59-C478A2133B47}"/>
                </a:ext>
              </a:extLst>
            </p:cNvPr>
            <p:cNvCxnSpPr>
              <a:cxnSpLocks/>
            </p:cNvCxnSpPr>
            <p:nvPr/>
          </p:nvCxnSpPr>
          <p:spPr>
            <a:xfrm>
              <a:off x="5623502" y="4171495"/>
              <a:ext cx="0" cy="67501"/>
            </a:xfrm>
            <a:prstGeom prst="straightConnector1">
              <a:avLst/>
            </a:prstGeom>
            <a:noFill/>
            <a:ln w="9525" cap="rnd"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Lst>
          </p:spPr>
        </p:cxnSp>
        <p:cxnSp>
          <p:nvCxnSpPr>
            <p:cNvPr id="193" name="直線矢印コネクタ 192">
              <a:extLst>
                <a:ext uri="{FF2B5EF4-FFF2-40B4-BE49-F238E27FC236}">
                  <a16:creationId xmlns:a16="http://schemas.microsoft.com/office/drawing/2014/main" id="{CA7271CA-E064-E19B-2D4D-5FB1731C6770}"/>
                </a:ext>
              </a:extLst>
            </p:cNvPr>
            <p:cNvCxnSpPr>
              <a:cxnSpLocks/>
            </p:cNvCxnSpPr>
            <p:nvPr/>
          </p:nvCxnSpPr>
          <p:spPr>
            <a:xfrm>
              <a:off x="5218497" y="3698988"/>
              <a:ext cx="0" cy="135002"/>
            </a:xfrm>
            <a:prstGeom prst="straightConnector1">
              <a:avLst/>
            </a:prstGeom>
            <a:noFill/>
            <a:ln w="9525" cap="rnd"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Lst>
          </p:spPr>
        </p:cxnSp>
        <p:sp>
          <p:nvSpPr>
            <p:cNvPr id="194" name="四角形: 角を丸くする 193">
              <a:extLst>
                <a:ext uri="{FF2B5EF4-FFF2-40B4-BE49-F238E27FC236}">
                  <a16:creationId xmlns:a16="http://schemas.microsoft.com/office/drawing/2014/main" id="{CCAD3A09-AD47-5A8E-4EE1-CFFCB6005203}"/>
                </a:ext>
              </a:extLst>
            </p:cNvPr>
            <p:cNvSpPr/>
            <p:nvPr/>
          </p:nvSpPr>
          <p:spPr>
            <a:xfrm>
              <a:off x="5150996" y="3563986"/>
              <a:ext cx="135002" cy="135002"/>
            </a:xfrm>
            <a:prstGeom prst="roundRect">
              <a:avLst>
                <a:gd name="adj" fmla="val 11375"/>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342900"/>
              <a:r>
                <a:rPr lang="en-US" sz="825" dirty="0">
                  <a:solidFill>
                    <a:prstClr val="black"/>
                  </a:solidFill>
                  <a:latin typeface="Arial" panose="020B0604020202020204" pitchFamily="34" charset="0"/>
                  <a:cs typeface="Arial" panose="020B0604020202020204" pitchFamily="34" charset="0"/>
                </a:rPr>
                <a:t>h0</a:t>
              </a:r>
            </a:p>
          </p:txBody>
        </p:sp>
        <p:cxnSp>
          <p:nvCxnSpPr>
            <p:cNvPr id="195" name="直線矢印コネクタ 194">
              <a:extLst>
                <a:ext uri="{FF2B5EF4-FFF2-40B4-BE49-F238E27FC236}">
                  <a16:creationId xmlns:a16="http://schemas.microsoft.com/office/drawing/2014/main" id="{9D73AFAC-59F8-D05D-AB7E-3FEBAC81537D}"/>
                </a:ext>
              </a:extLst>
            </p:cNvPr>
            <p:cNvCxnSpPr>
              <a:cxnSpLocks/>
            </p:cNvCxnSpPr>
            <p:nvPr/>
          </p:nvCxnSpPr>
          <p:spPr>
            <a:xfrm>
              <a:off x="5556001" y="3698988"/>
              <a:ext cx="0" cy="135002"/>
            </a:xfrm>
            <a:prstGeom prst="straightConnector1">
              <a:avLst/>
            </a:prstGeom>
            <a:noFill/>
            <a:ln w="9525" cap="rnd"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Lst>
          </p:spPr>
        </p:cxnSp>
        <p:sp>
          <p:nvSpPr>
            <p:cNvPr id="196" name="四角形: 角を丸くする 195">
              <a:extLst>
                <a:ext uri="{FF2B5EF4-FFF2-40B4-BE49-F238E27FC236}">
                  <a16:creationId xmlns:a16="http://schemas.microsoft.com/office/drawing/2014/main" id="{E4A2FDA2-9E0D-52E4-9864-06D9DC867725}"/>
                </a:ext>
              </a:extLst>
            </p:cNvPr>
            <p:cNvSpPr/>
            <p:nvPr/>
          </p:nvSpPr>
          <p:spPr>
            <a:xfrm>
              <a:off x="5488500" y="3563986"/>
              <a:ext cx="135002" cy="135002"/>
            </a:xfrm>
            <a:prstGeom prst="roundRect">
              <a:avLst>
                <a:gd name="adj" fmla="val 11375"/>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342900"/>
              <a:r>
                <a:rPr lang="en-US" sz="825" dirty="0">
                  <a:solidFill>
                    <a:prstClr val="black"/>
                  </a:solidFill>
                  <a:latin typeface="Arial" panose="020B0604020202020204" pitchFamily="34" charset="0"/>
                  <a:cs typeface="Arial" panose="020B0604020202020204" pitchFamily="34" charset="0"/>
                </a:rPr>
                <a:t>h1</a:t>
              </a:r>
            </a:p>
          </p:txBody>
        </p:sp>
        <p:sp>
          <p:nvSpPr>
            <p:cNvPr id="197" name="正方形/長方形 196">
              <a:extLst>
                <a:ext uri="{FF2B5EF4-FFF2-40B4-BE49-F238E27FC236}">
                  <a16:creationId xmlns:a16="http://schemas.microsoft.com/office/drawing/2014/main" id="{759D6D52-EC64-74AA-045A-4E6391715CC5}"/>
                </a:ext>
              </a:extLst>
            </p:cNvPr>
            <p:cNvSpPr/>
            <p:nvPr/>
          </p:nvSpPr>
          <p:spPr>
            <a:xfrm>
              <a:off x="5691002" y="3833989"/>
              <a:ext cx="540006" cy="13500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defTabSz="342900"/>
              <a:r>
                <a:rPr lang="en-US" altLang="ja-JP" sz="1350" dirty="0">
                  <a:solidFill>
                    <a:prstClr val="black"/>
                  </a:solidFill>
                  <a:latin typeface="Arial" panose="020B0604020202020204" pitchFamily="34" charset="0"/>
                  <a:ea typeface="游ゴシック" panose="020B0400000000000000" pitchFamily="50" charset="-128"/>
                  <a:cs typeface="Arial" panose="020B0604020202020204" pitchFamily="34" charset="0"/>
                </a:rPr>
                <a:t>...</a:t>
              </a:r>
              <a:endParaRPr lang="en-US" sz="1350" dirty="0">
                <a:solidFill>
                  <a:prstClr val="black"/>
                </a:solidFill>
                <a:latin typeface="Times New Roman" panose="02020603050405020304" pitchFamily="18" charset="0"/>
                <a:cs typeface="Times New Roman" panose="02020603050405020304" pitchFamily="18" charset="0"/>
              </a:endParaRPr>
            </a:p>
          </p:txBody>
        </p:sp>
        <p:sp>
          <p:nvSpPr>
            <p:cNvPr id="198" name="四角形: 角を丸くする 197">
              <a:extLst>
                <a:ext uri="{FF2B5EF4-FFF2-40B4-BE49-F238E27FC236}">
                  <a16:creationId xmlns:a16="http://schemas.microsoft.com/office/drawing/2014/main" id="{70B9CA27-74F4-6A68-5E0E-F6D2565BAEF1}"/>
                </a:ext>
              </a:extLst>
            </p:cNvPr>
            <p:cNvSpPr/>
            <p:nvPr/>
          </p:nvSpPr>
          <p:spPr>
            <a:xfrm>
              <a:off x="6028506" y="3563986"/>
              <a:ext cx="135002" cy="135002"/>
            </a:xfrm>
            <a:prstGeom prst="roundRect">
              <a:avLst>
                <a:gd name="adj" fmla="val 11375"/>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342900"/>
              <a:r>
                <a:rPr lang="en-US" sz="750" dirty="0" err="1">
                  <a:solidFill>
                    <a:prstClr val="black"/>
                  </a:solidFill>
                  <a:latin typeface="Arial" panose="020B0604020202020204" pitchFamily="34" charset="0"/>
                  <a:cs typeface="Arial" panose="020B0604020202020204" pitchFamily="34" charset="0"/>
                </a:rPr>
                <a:t>h</a:t>
              </a:r>
              <a:r>
                <a:rPr lang="en-US" sz="750" u="sng" dirty="0" err="1">
                  <a:solidFill>
                    <a:prstClr val="black"/>
                  </a:solidFill>
                  <a:latin typeface="Arial" panose="020B0604020202020204" pitchFamily="34" charset="0"/>
                  <a:cs typeface="Arial" panose="020B0604020202020204" pitchFamily="34" charset="0"/>
                </a:rPr>
                <a:t>N</a:t>
              </a:r>
              <a:endParaRPr lang="en-US" sz="750" u="sng" dirty="0">
                <a:solidFill>
                  <a:prstClr val="black"/>
                </a:solidFill>
                <a:latin typeface="Arial" panose="020B0604020202020204" pitchFamily="34" charset="0"/>
                <a:cs typeface="Arial" panose="020B0604020202020204" pitchFamily="34" charset="0"/>
              </a:endParaRPr>
            </a:p>
          </p:txBody>
        </p:sp>
        <p:cxnSp>
          <p:nvCxnSpPr>
            <p:cNvPr id="199" name="直線矢印コネクタ 198">
              <a:extLst>
                <a:ext uri="{FF2B5EF4-FFF2-40B4-BE49-F238E27FC236}">
                  <a16:creationId xmlns:a16="http://schemas.microsoft.com/office/drawing/2014/main" id="{9445DADC-60E7-A3DC-03B2-EF2E95D802E3}"/>
                </a:ext>
              </a:extLst>
            </p:cNvPr>
            <p:cNvCxnSpPr>
              <a:cxnSpLocks/>
            </p:cNvCxnSpPr>
            <p:nvPr/>
          </p:nvCxnSpPr>
          <p:spPr>
            <a:xfrm>
              <a:off x="6096007" y="3698988"/>
              <a:ext cx="0" cy="135002"/>
            </a:xfrm>
            <a:prstGeom prst="straightConnector1">
              <a:avLst/>
            </a:prstGeom>
            <a:noFill/>
            <a:ln w="9525" cap="rnd"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Lst>
          </p:spPr>
        </p:cxnSp>
        <p:sp>
          <p:nvSpPr>
            <p:cNvPr id="200" name="正方形/長方形 199">
              <a:extLst>
                <a:ext uri="{FF2B5EF4-FFF2-40B4-BE49-F238E27FC236}">
                  <a16:creationId xmlns:a16="http://schemas.microsoft.com/office/drawing/2014/main" id="{9705F9D8-793A-3DA6-9204-B7E3E586C500}"/>
                </a:ext>
              </a:extLst>
            </p:cNvPr>
            <p:cNvSpPr/>
            <p:nvPr/>
          </p:nvSpPr>
          <p:spPr>
            <a:xfrm>
              <a:off x="5049751" y="3395248"/>
              <a:ext cx="270003" cy="13500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defTabSz="342900"/>
              <a:r>
                <a:rPr lang="en-US" altLang="ja-JP" sz="825" dirty="0">
                  <a:solidFill>
                    <a:prstClr val="black"/>
                  </a:solidFill>
                  <a:latin typeface="Arial" panose="020B0604020202020204" pitchFamily="34" charset="0"/>
                  <a:ea typeface="游ゴシック" panose="020B0400000000000000" pitchFamily="50" charset="-128"/>
                  <a:cs typeface="Arial" panose="020B0604020202020204" pitchFamily="34" charset="0"/>
                </a:rPr>
                <a:t>PC, Table out, histories</a:t>
              </a:r>
              <a:endParaRPr lang="en-US" sz="825" dirty="0">
                <a:solidFill>
                  <a:prstClr val="black"/>
                </a:solidFill>
                <a:latin typeface="Times New Roman" panose="02020603050405020304" pitchFamily="18" charset="0"/>
                <a:cs typeface="Times New Roman" panose="02020603050405020304" pitchFamily="18" charset="0"/>
              </a:endParaRPr>
            </a:p>
          </p:txBody>
        </p:sp>
        <p:sp>
          <p:nvSpPr>
            <p:cNvPr id="201" name="台形 200">
              <a:extLst>
                <a:ext uri="{FF2B5EF4-FFF2-40B4-BE49-F238E27FC236}">
                  <a16:creationId xmlns:a16="http://schemas.microsoft.com/office/drawing/2014/main" id="{470FE165-0D72-6864-0127-4BD175112C0D}"/>
                </a:ext>
              </a:extLst>
            </p:cNvPr>
            <p:cNvSpPr/>
            <p:nvPr/>
          </p:nvSpPr>
          <p:spPr>
            <a:xfrm flipV="1">
              <a:off x="6197250" y="5420250"/>
              <a:ext cx="675008" cy="67501"/>
            </a:xfrm>
            <a:prstGeom prst="trapezoid">
              <a:avLst/>
            </a:prstGeom>
            <a:ln w="12700"/>
          </p:spPr>
          <p:style>
            <a:lnRef idx="2">
              <a:schemeClr val="dk1"/>
            </a:lnRef>
            <a:fillRef idx="1">
              <a:schemeClr val="lt1"/>
            </a:fillRef>
            <a:effectRef idx="0">
              <a:schemeClr val="dk1"/>
            </a:effectRef>
            <a:fontRef idx="minor">
              <a:schemeClr val="dk1"/>
            </a:fontRef>
          </p:style>
          <p:txBody>
            <a:bodyPr wrap="none" rtlCol="0" anchor="ctr"/>
            <a:lstStyle/>
            <a:p>
              <a:pPr algn="ctr" defTabSz="342900"/>
              <a:endParaRPr lang="en-US" sz="1350" dirty="0">
                <a:solidFill>
                  <a:prstClr val="black"/>
                </a:solidFill>
                <a:latin typeface="Times New Roman" panose="02020603050405020304" pitchFamily="18" charset="0"/>
                <a:cs typeface="Times New Roman" panose="02020603050405020304" pitchFamily="18" charset="0"/>
              </a:endParaRPr>
            </a:p>
          </p:txBody>
        </p:sp>
        <p:cxnSp>
          <p:nvCxnSpPr>
            <p:cNvPr id="202" name="直線コネクタ 201">
              <a:extLst>
                <a:ext uri="{FF2B5EF4-FFF2-40B4-BE49-F238E27FC236}">
                  <a16:creationId xmlns:a16="http://schemas.microsoft.com/office/drawing/2014/main" id="{D00F3572-49A7-545E-F599-B42ADBD7E005}"/>
                </a:ext>
              </a:extLst>
            </p:cNvPr>
            <p:cNvCxnSpPr>
              <a:cxnSpLocks/>
            </p:cNvCxnSpPr>
            <p:nvPr/>
          </p:nvCxnSpPr>
          <p:spPr>
            <a:xfrm>
              <a:off x="6534750" y="5487749"/>
              <a:ext cx="0" cy="168750"/>
            </a:xfrm>
            <a:prstGeom prst="line">
              <a:avLst/>
            </a:prstGeom>
            <a:noFill/>
            <a:ln w="9525" cap="rnd"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Lst>
          </p:spPr>
        </p:cxnSp>
        <p:sp>
          <p:nvSpPr>
            <p:cNvPr id="203" name="正方形/長方形 202">
              <a:extLst>
                <a:ext uri="{FF2B5EF4-FFF2-40B4-BE49-F238E27FC236}">
                  <a16:creationId xmlns:a16="http://schemas.microsoft.com/office/drawing/2014/main" id="{54BE6768-3D52-9BC1-7F8E-457C44E27953}"/>
                </a:ext>
              </a:extLst>
            </p:cNvPr>
            <p:cNvSpPr/>
            <p:nvPr/>
          </p:nvSpPr>
          <p:spPr>
            <a:xfrm>
              <a:off x="5758500" y="5521498"/>
              <a:ext cx="337504" cy="13500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defTabSz="342900"/>
              <a:r>
                <a:rPr lang="en-US" altLang="ja-JP" sz="750" b="1" dirty="0">
                  <a:solidFill>
                    <a:prstClr val="black"/>
                  </a:solidFill>
                  <a:latin typeface="Arial" panose="020B0604020202020204" pitchFamily="34" charset="0"/>
                  <a:ea typeface="游ゴシック" panose="020B0400000000000000" pitchFamily="50" charset="-128"/>
                  <a:cs typeface="Arial" panose="020B0604020202020204" pitchFamily="34" charset="0"/>
                </a:rPr>
                <a:t>Final Prediction</a:t>
              </a:r>
              <a:endParaRPr lang="en-US" sz="750" b="1" dirty="0">
                <a:solidFill>
                  <a:prstClr val="black"/>
                </a:solidFill>
                <a:latin typeface="Times New Roman" panose="02020603050405020304" pitchFamily="18" charset="0"/>
                <a:cs typeface="Times New Roman" panose="02020603050405020304" pitchFamily="18" charset="0"/>
              </a:endParaRPr>
            </a:p>
          </p:txBody>
        </p:sp>
        <p:sp>
          <p:nvSpPr>
            <p:cNvPr id="204" name="Freeform 10">
              <a:extLst>
                <a:ext uri="{FF2B5EF4-FFF2-40B4-BE49-F238E27FC236}">
                  <a16:creationId xmlns:a16="http://schemas.microsoft.com/office/drawing/2014/main" id="{8DB91F96-23B6-4026-4097-B8A6EEBA64FA}"/>
                </a:ext>
              </a:extLst>
            </p:cNvPr>
            <p:cNvSpPr>
              <a:spLocks/>
            </p:cNvSpPr>
            <p:nvPr/>
          </p:nvSpPr>
          <p:spPr bwMode="auto">
            <a:xfrm>
              <a:off x="3767250" y="5251501"/>
              <a:ext cx="2565000" cy="67499"/>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9525"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Lst>
          </p:spPr>
          <p:txBody>
            <a:bodyPr wrap="none" lIns="0" tIns="0" rIns="0" bIns="0">
              <a:noAutofit/>
            </a:bodyPr>
            <a:lstStyle/>
            <a:p>
              <a:pPr defTabSz="342900"/>
              <a:endParaRPr kumimoji="0" lang="ja-JP" altLang="en-US" sz="1350">
                <a:solidFill>
                  <a:prstClr val="black"/>
                </a:solidFill>
                <a:latin typeface="Arial Narrow" pitchFamily="34" charset="0"/>
                <a:ea typeface="游ゴシック" panose="020B0400000000000000" pitchFamily="50" charset="-128"/>
                <a:cs typeface="Times New Roman" pitchFamily="18" charset="0"/>
              </a:endParaRPr>
            </a:p>
          </p:txBody>
        </p:sp>
        <p:cxnSp>
          <p:nvCxnSpPr>
            <p:cNvPr id="205" name="直線コネクタ 204">
              <a:extLst>
                <a:ext uri="{FF2B5EF4-FFF2-40B4-BE49-F238E27FC236}">
                  <a16:creationId xmlns:a16="http://schemas.microsoft.com/office/drawing/2014/main" id="{42833906-7E12-0E07-18E9-0A49EEA2C8C5}"/>
                </a:ext>
              </a:extLst>
            </p:cNvPr>
            <p:cNvCxnSpPr>
              <a:cxnSpLocks/>
            </p:cNvCxnSpPr>
            <p:nvPr/>
          </p:nvCxnSpPr>
          <p:spPr>
            <a:xfrm>
              <a:off x="6332250" y="5318999"/>
              <a:ext cx="0" cy="101250"/>
            </a:xfrm>
            <a:prstGeom prst="line">
              <a:avLst/>
            </a:prstGeom>
            <a:noFill/>
            <a:ln w="9525" cap="rnd"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Lst>
          </p:spPr>
        </p:cxnSp>
        <p:sp>
          <p:nvSpPr>
            <p:cNvPr id="209" name="Freeform 10">
              <a:extLst>
                <a:ext uri="{FF2B5EF4-FFF2-40B4-BE49-F238E27FC236}">
                  <a16:creationId xmlns:a16="http://schemas.microsoft.com/office/drawing/2014/main" id="{4B3A3463-2EC9-A2C5-994A-1618F9853B4A}"/>
                </a:ext>
              </a:extLst>
            </p:cNvPr>
            <p:cNvSpPr>
              <a:spLocks/>
            </p:cNvSpPr>
            <p:nvPr/>
          </p:nvSpPr>
          <p:spPr bwMode="auto">
            <a:xfrm flipH="1">
              <a:off x="6737250" y="5183999"/>
              <a:ext cx="236250" cy="135000"/>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9525"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Lst>
          </p:spPr>
          <p:txBody>
            <a:bodyPr wrap="none" lIns="0" tIns="0" rIns="0" bIns="0">
              <a:noAutofit/>
            </a:bodyPr>
            <a:lstStyle/>
            <a:p>
              <a:pPr defTabSz="342900"/>
              <a:endParaRPr kumimoji="0" lang="ja-JP" altLang="en-US" sz="1350">
                <a:solidFill>
                  <a:prstClr val="black"/>
                </a:solidFill>
                <a:latin typeface="Arial Narrow" pitchFamily="34" charset="0"/>
                <a:ea typeface="游ゴシック" panose="020B0400000000000000" pitchFamily="50" charset="-128"/>
                <a:cs typeface="Times New Roman" pitchFamily="18" charset="0"/>
              </a:endParaRPr>
            </a:p>
          </p:txBody>
        </p:sp>
        <p:cxnSp>
          <p:nvCxnSpPr>
            <p:cNvPr id="210" name="直線コネクタ 209">
              <a:extLst>
                <a:ext uri="{FF2B5EF4-FFF2-40B4-BE49-F238E27FC236}">
                  <a16:creationId xmlns:a16="http://schemas.microsoft.com/office/drawing/2014/main" id="{4E82C83A-4E5B-28C7-4977-D6D6AF62712B}"/>
                </a:ext>
              </a:extLst>
            </p:cNvPr>
            <p:cNvCxnSpPr>
              <a:cxnSpLocks/>
            </p:cNvCxnSpPr>
            <p:nvPr/>
          </p:nvCxnSpPr>
          <p:spPr>
            <a:xfrm>
              <a:off x="6737250" y="5318999"/>
              <a:ext cx="0" cy="101250"/>
            </a:xfrm>
            <a:prstGeom prst="line">
              <a:avLst/>
            </a:prstGeom>
            <a:noFill/>
            <a:ln w="9525" cap="rnd"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Lst>
          </p:spPr>
        </p:cxnSp>
        <p:sp>
          <p:nvSpPr>
            <p:cNvPr id="211" name="正方形/長方形 210">
              <a:extLst>
                <a:ext uri="{FF2B5EF4-FFF2-40B4-BE49-F238E27FC236}">
                  <a16:creationId xmlns:a16="http://schemas.microsoft.com/office/drawing/2014/main" id="{AEB67A6B-7B68-9A75-B7CC-E2ADC4D82EF0}"/>
                </a:ext>
              </a:extLst>
            </p:cNvPr>
            <p:cNvSpPr/>
            <p:nvPr/>
          </p:nvSpPr>
          <p:spPr>
            <a:xfrm>
              <a:off x="7041000" y="5082748"/>
              <a:ext cx="337504" cy="13500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defTabSz="342900"/>
              <a:r>
                <a:rPr lang="en-US" altLang="ja-JP" sz="750" b="1" dirty="0">
                  <a:solidFill>
                    <a:prstClr val="black"/>
                  </a:solidFill>
                  <a:latin typeface="Arial" panose="020B0604020202020204" pitchFamily="34" charset="0"/>
                  <a:ea typeface="游ゴシック" panose="020B0400000000000000" pitchFamily="50" charset="-128"/>
                  <a:cs typeface="Arial" panose="020B0604020202020204" pitchFamily="34" charset="0"/>
                </a:rPr>
                <a:t>SC out</a:t>
              </a:r>
              <a:endParaRPr lang="en-US" sz="750" b="1" dirty="0">
                <a:solidFill>
                  <a:prstClr val="black"/>
                </a:solidFill>
                <a:latin typeface="Times New Roman" panose="02020603050405020304" pitchFamily="18" charset="0"/>
                <a:cs typeface="Times New Roman" panose="02020603050405020304" pitchFamily="18" charset="0"/>
              </a:endParaRPr>
            </a:p>
          </p:txBody>
        </p:sp>
        <p:sp>
          <p:nvSpPr>
            <p:cNvPr id="212" name="四角形: 角を丸くする 211">
              <a:extLst>
                <a:ext uri="{FF2B5EF4-FFF2-40B4-BE49-F238E27FC236}">
                  <a16:creationId xmlns:a16="http://schemas.microsoft.com/office/drawing/2014/main" id="{021DBD1E-B2CC-B15D-2E52-88C7B340C901}"/>
                </a:ext>
              </a:extLst>
            </p:cNvPr>
            <p:cNvSpPr/>
            <p:nvPr/>
          </p:nvSpPr>
          <p:spPr>
            <a:xfrm>
              <a:off x="6838501" y="4947748"/>
              <a:ext cx="270003" cy="135002"/>
            </a:xfrm>
            <a:prstGeom prst="roundRect">
              <a:avLst>
                <a:gd name="adj" fmla="val 11375"/>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342900"/>
              <a:r>
                <a:rPr lang="en-US" altLang="ja-JP" sz="825" dirty="0">
                  <a:solidFill>
                    <a:prstClr val="black"/>
                  </a:solidFill>
                  <a:latin typeface="Arial" panose="020B0604020202020204" pitchFamily="34" charset="0"/>
                  <a:ea typeface="游ゴシック" panose="020B0400000000000000" pitchFamily="50" charset="-128"/>
                  <a:cs typeface="Arial" panose="020B0604020202020204" pitchFamily="34" charset="0"/>
                </a:rPr>
                <a:t>Σ</a:t>
              </a:r>
              <a:endParaRPr lang="en-US" sz="825" dirty="0">
                <a:solidFill>
                  <a:prstClr val="black"/>
                </a:solidFill>
                <a:latin typeface="Arial" panose="020B0604020202020204" pitchFamily="34" charset="0"/>
                <a:cs typeface="Arial" panose="020B0604020202020204" pitchFamily="34" charset="0"/>
              </a:endParaRPr>
            </a:p>
          </p:txBody>
        </p:sp>
        <p:cxnSp>
          <p:nvCxnSpPr>
            <p:cNvPr id="214" name="直線矢印コネクタ 213">
              <a:extLst>
                <a:ext uri="{FF2B5EF4-FFF2-40B4-BE49-F238E27FC236}">
                  <a16:creationId xmlns:a16="http://schemas.microsoft.com/office/drawing/2014/main" id="{7357CC90-2558-A897-BD1E-6DBAC0504939}"/>
                </a:ext>
              </a:extLst>
            </p:cNvPr>
            <p:cNvCxnSpPr>
              <a:cxnSpLocks/>
            </p:cNvCxnSpPr>
            <p:nvPr/>
          </p:nvCxnSpPr>
          <p:spPr>
            <a:xfrm>
              <a:off x="6973502" y="4373997"/>
              <a:ext cx="0" cy="135002"/>
            </a:xfrm>
            <a:prstGeom prst="straightConnector1">
              <a:avLst/>
            </a:prstGeom>
            <a:noFill/>
            <a:ln w="9525" cap="rnd"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Lst>
          </p:spPr>
        </p:cxnSp>
        <p:sp>
          <p:nvSpPr>
            <p:cNvPr id="215" name="正方形/長方形 214">
              <a:extLst>
                <a:ext uri="{FF2B5EF4-FFF2-40B4-BE49-F238E27FC236}">
                  <a16:creationId xmlns:a16="http://schemas.microsoft.com/office/drawing/2014/main" id="{A27E723E-68E3-84E3-F76A-5A7EB21BB014}"/>
                </a:ext>
              </a:extLst>
            </p:cNvPr>
            <p:cNvSpPr/>
            <p:nvPr/>
          </p:nvSpPr>
          <p:spPr>
            <a:xfrm>
              <a:off x="6771000" y="4508998"/>
              <a:ext cx="405005" cy="135002"/>
            </a:xfrm>
            <a:prstGeom prst="rect">
              <a:avLst/>
            </a:prstGeom>
            <a:solidFill>
              <a:schemeClr val="bg1"/>
            </a:solidFill>
            <a:ln w="12700"/>
          </p:spPr>
          <p:style>
            <a:lnRef idx="2">
              <a:schemeClr val="dk1"/>
            </a:lnRef>
            <a:fillRef idx="1">
              <a:schemeClr val="lt1"/>
            </a:fillRef>
            <a:effectRef idx="0">
              <a:schemeClr val="dk1"/>
            </a:effectRef>
            <a:fontRef idx="minor">
              <a:schemeClr val="dk1"/>
            </a:fontRef>
          </p:style>
          <p:txBody>
            <a:bodyPr wrap="none" lIns="0" tIns="0" rIns="0" bIns="0" rtlCol="0" anchor="ctr">
              <a:noAutofit/>
            </a:bodyPr>
            <a:lstStyle/>
            <a:p>
              <a:pPr algn="ctr" defTabSz="342900">
                <a:lnSpc>
                  <a:spcPts val="825"/>
                </a:lnSpc>
              </a:pPr>
              <a:r>
                <a:rPr kumimoji="0" lang="en-US" altLang="ja-JP" sz="750" dirty="0">
                  <a:solidFill>
                    <a:prstClr val="black"/>
                  </a:solidFill>
                  <a:latin typeface="Arial" panose="020B0604020202020204" pitchFamily="34" charset="0"/>
                  <a:ea typeface="游ゴシック" panose="020B0400000000000000" pitchFamily="50" charset="-128"/>
                  <a:cs typeface="Arial" panose="020B0604020202020204" pitchFamily="34" charset="0"/>
                </a:rPr>
                <a:t>x</a:t>
              </a:r>
            </a:p>
          </p:txBody>
        </p:sp>
        <p:sp>
          <p:nvSpPr>
            <p:cNvPr id="216" name="正方形/長方形 215">
              <a:extLst>
                <a:ext uri="{FF2B5EF4-FFF2-40B4-BE49-F238E27FC236}">
                  <a16:creationId xmlns:a16="http://schemas.microsoft.com/office/drawing/2014/main" id="{8F803C52-1450-5E88-9162-CA0BE14C8746}"/>
                </a:ext>
              </a:extLst>
            </p:cNvPr>
            <p:cNvSpPr/>
            <p:nvPr/>
          </p:nvSpPr>
          <p:spPr>
            <a:xfrm>
              <a:off x="6399750" y="3833997"/>
              <a:ext cx="202500" cy="270003"/>
            </a:xfrm>
            <a:prstGeom prst="rect">
              <a:avLst/>
            </a:prstGeom>
            <a:solidFill>
              <a:schemeClr val="accent5">
                <a:lumMod val="20000"/>
                <a:lumOff val="80000"/>
              </a:schemeClr>
            </a:solidFill>
            <a:ln w="12700"/>
          </p:spPr>
          <p:style>
            <a:lnRef idx="2">
              <a:schemeClr val="dk1"/>
            </a:lnRef>
            <a:fillRef idx="1">
              <a:schemeClr val="lt1"/>
            </a:fillRef>
            <a:effectRef idx="0">
              <a:schemeClr val="dk1"/>
            </a:effectRef>
            <a:fontRef idx="minor">
              <a:schemeClr val="dk1"/>
            </a:fontRef>
          </p:style>
          <p:txBody>
            <a:bodyPr wrap="none" lIns="0" tIns="0" rIns="0" bIns="0" rtlCol="0" anchor="ctr">
              <a:noAutofit/>
            </a:bodyPr>
            <a:lstStyle/>
            <a:p>
              <a:pPr algn="ctr" defTabSz="342900">
                <a:lnSpc>
                  <a:spcPts val="825"/>
                </a:lnSpc>
              </a:pPr>
              <a:endParaRPr kumimoji="0" lang="ja-JP" altLang="en-US" sz="750" dirty="0">
                <a:solidFill>
                  <a:prstClr val="black"/>
                </a:solidFill>
                <a:latin typeface="Arial" panose="020B0604020202020204" pitchFamily="34" charset="0"/>
                <a:ea typeface="游ゴシック" panose="020B0400000000000000" pitchFamily="50" charset="-128"/>
                <a:cs typeface="Arial" panose="020B0604020202020204" pitchFamily="34" charset="0"/>
              </a:endParaRPr>
            </a:p>
          </p:txBody>
        </p:sp>
        <p:sp>
          <p:nvSpPr>
            <p:cNvPr id="217" name="Freeform 10">
              <a:extLst>
                <a:ext uri="{FF2B5EF4-FFF2-40B4-BE49-F238E27FC236}">
                  <a16:creationId xmlns:a16="http://schemas.microsoft.com/office/drawing/2014/main" id="{D9AF9B6A-8017-C41D-7D56-5CF2BF056967}"/>
                </a:ext>
              </a:extLst>
            </p:cNvPr>
            <p:cNvSpPr>
              <a:spLocks/>
            </p:cNvSpPr>
            <p:nvPr/>
          </p:nvSpPr>
          <p:spPr bwMode="auto">
            <a:xfrm>
              <a:off x="6501002" y="4103996"/>
              <a:ext cx="269999" cy="4725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9525" cap="rnd"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Lst>
          </p:spPr>
          <p:txBody>
            <a:bodyPr wrap="none" lIns="0" tIns="0" rIns="0" bIns="0">
              <a:noAutofit/>
            </a:bodyPr>
            <a:lstStyle/>
            <a:p>
              <a:pPr defTabSz="342900"/>
              <a:endParaRPr kumimoji="0" lang="ja-JP" altLang="en-US" sz="1350">
                <a:solidFill>
                  <a:prstClr val="black"/>
                </a:solidFill>
                <a:latin typeface="Arial Narrow" pitchFamily="34" charset="0"/>
                <a:ea typeface="游ゴシック" panose="020B0400000000000000" pitchFamily="50" charset="-128"/>
                <a:cs typeface="Times New Roman" pitchFamily="18" charset="0"/>
              </a:endParaRPr>
            </a:p>
          </p:txBody>
        </p:sp>
        <p:sp>
          <p:nvSpPr>
            <p:cNvPr id="220" name="正方形/長方形 219">
              <a:extLst>
                <a:ext uri="{FF2B5EF4-FFF2-40B4-BE49-F238E27FC236}">
                  <a16:creationId xmlns:a16="http://schemas.microsoft.com/office/drawing/2014/main" id="{C210402D-9EAD-FF0F-F234-FE57D3BBF60D}"/>
                </a:ext>
              </a:extLst>
            </p:cNvPr>
            <p:cNvSpPr/>
            <p:nvPr/>
          </p:nvSpPr>
          <p:spPr>
            <a:xfrm>
              <a:off x="6737251" y="3833997"/>
              <a:ext cx="135005" cy="270003"/>
            </a:xfrm>
            <a:prstGeom prst="rect">
              <a:avLst/>
            </a:prstGeom>
            <a:solidFill>
              <a:schemeClr val="accent5">
                <a:lumMod val="20000"/>
                <a:lumOff val="80000"/>
              </a:schemeClr>
            </a:solidFill>
            <a:ln w="12700"/>
          </p:spPr>
          <p:style>
            <a:lnRef idx="2">
              <a:schemeClr val="dk1"/>
            </a:lnRef>
            <a:fillRef idx="1">
              <a:schemeClr val="lt1"/>
            </a:fillRef>
            <a:effectRef idx="0">
              <a:schemeClr val="dk1"/>
            </a:effectRef>
            <a:fontRef idx="minor">
              <a:schemeClr val="dk1"/>
            </a:fontRef>
          </p:style>
          <p:txBody>
            <a:bodyPr wrap="none" lIns="0" tIns="0" rIns="0" bIns="0" rtlCol="0" anchor="ctr">
              <a:noAutofit/>
            </a:bodyPr>
            <a:lstStyle/>
            <a:p>
              <a:pPr algn="ctr" defTabSz="342900">
                <a:lnSpc>
                  <a:spcPts val="825"/>
                </a:lnSpc>
              </a:pPr>
              <a:endParaRPr kumimoji="0" lang="ja-JP" altLang="en-US" sz="750" dirty="0">
                <a:solidFill>
                  <a:prstClr val="black"/>
                </a:solidFill>
                <a:latin typeface="Arial" panose="020B0604020202020204" pitchFamily="34" charset="0"/>
                <a:ea typeface="游ゴシック" panose="020B0400000000000000" pitchFamily="50" charset="-128"/>
                <a:cs typeface="Arial" panose="020B0604020202020204" pitchFamily="34" charset="0"/>
              </a:endParaRPr>
            </a:p>
          </p:txBody>
        </p:sp>
        <p:sp>
          <p:nvSpPr>
            <p:cNvPr id="221" name="正方形/長方形 220">
              <a:extLst>
                <a:ext uri="{FF2B5EF4-FFF2-40B4-BE49-F238E27FC236}">
                  <a16:creationId xmlns:a16="http://schemas.microsoft.com/office/drawing/2014/main" id="{98DD337B-6D1F-8BD1-D11B-A1FD37C7DCF7}"/>
                </a:ext>
              </a:extLst>
            </p:cNvPr>
            <p:cNvSpPr/>
            <p:nvPr/>
          </p:nvSpPr>
          <p:spPr>
            <a:xfrm>
              <a:off x="6906000" y="3833997"/>
              <a:ext cx="135000" cy="270003"/>
            </a:xfrm>
            <a:prstGeom prst="rect">
              <a:avLst/>
            </a:prstGeom>
            <a:solidFill>
              <a:schemeClr val="accent5">
                <a:lumMod val="20000"/>
                <a:lumOff val="80000"/>
              </a:schemeClr>
            </a:solidFill>
            <a:ln w="12700"/>
          </p:spPr>
          <p:style>
            <a:lnRef idx="2">
              <a:schemeClr val="dk1"/>
            </a:lnRef>
            <a:fillRef idx="1">
              <a:schemeClr val="lt1"/>
            </a:fillRef>
            <a:effectRef idx="0">
              <a:schemeClr val="dk1"/>
            </a:effectRef>
            <a:fontRef idx="minor">
              <a:schemeClr val="dk1"/>
            </a:fontRef>
          </p:style>
          <p:txBody>
            <a:bodyPr wrap="none" lIns="0" tIns="0" rIns="0" bIns="0" rtlCol="0" anchor="ctr">
              <a:noAutofit/>
            </a:bodyPr>
            <a:lstStyle/>
            <a:p>
              <a:pPr algn="ctr" defTabSz="342900">
                <a:lnSpc>
                  <a:spcPts val="825"/>
                </a:lnSpc>
              </a:pPr>
              <a:endParaRPr kumimoji="0" lang="ja-JP" altLang="en-US" sz="750" dirty="0">
                <a:solidFill>
                  <a:prstClr val="black"/>
                </a:solidFill>
                <a:latin typeface="Arial" panose="020B0604020202020204" pitchFamily="34" charset="0"/>
                <a:ea typeface="游ゴシック" panose="020B0400000000000000" pitchFamily="50" charset="-128"/>
                <a:cs typeface="Arial" panose="020B0604020202020204" pitchFamily="34" charset="0"/>
              </a:endParaRPr>
            </a:p>
          </p:txBody>
        </p:sp>
        <p:sp>
          <p:nvSpPr>
            <p:cNvPr id="222" name="正方形/長方形 221">
              <a:extLst>
                <a:ext uri="{FF2B5EF4-FFF2-40B4-BE49-F238E27FC236}">
                  <a16:creationId xmlns:a16="http://schemas.microsoft.com/office/drawing/2014/main" id="{BE130F61-040D-2764-DC37-A93EA7D55A30}"/>
                </a:ext>
              </a:extLst>
            </p:cNvPr>
            <p:cNvSpPr/>
            <p:nvPr/>
          </p:nvSpPr>
          <p:spPr>
            <a:xfrm>
              <a:off x="7243500" y="3833997"/>
              <a:ext cx="135000" cy="270003"/>
            </a:xfrm>
            <a:prstGeom prst="rect">
              <a:avLst/>
            </a:prstGeom>
            <a:solidFill>
              <a:schemeClr val="accent5">
                <a:lumMod val="20000"/>
                <a:lumOff val="80000"/>
              </a:schemeClr>
            </a:solidFill>
            <a:ln w="12700"/>
          </p:spPr>
          <p:style>
            <a:lnRef idx="2">
              <a:schemeClr val="dk1"/>
            </a:lnRef>
            <a:fillRef idx="1">
              <a:schemeClr val="lt1"/>
            </a:fillRef>
            <a:effectRef idx="0">
              <a:schemeClr val="dk1"/>
            </a:effectRef>
            <a:fontRef idx="minor">
              <a:schemeClr val="dk1"/>
            </a:fontRef>
          </p:style>
          <p:txBody>
            <a:bodyPr wrap="none" lIns="0" tIns="0" rIns="0" bIns="0" rtlCol="0" anchor="ctr">
              <a:noAutofit/>
            </a:bodyPr>
            <a:lstStyle/>
            <a:p>
              <a:pPr algn="ctr" defTabSz="342900">
                <a:lnSpc>
                  <a:spcPts val="825"/>
                </a:lnSpc>
              </a:pPr>
              <a:endParaRPr kumimoji="0" lang="ja-JP" altLang="en-US" sz="750" u="sng" dirty="0">
                <a:solidFill>
                  <a:prstClr val="black"/>
                </a:solidFill>
                <a:latin typeface="Arial" panose="020B0604020202020204" pitchFamily="34" charset="0"/>
                <a:ea typeface="游ゴシック" panose="020B0400000000000000" pitchFamily="50" charset="-128"/>
                <a:cs typeface="Arial" panose="020B0604020202020204" pitchFamily="34" charset="0"/>
              </a:endParaRPr>
            </a:p>
          </p:txBody>
        </p:sp>
        <p:sp>
          <p:nvSpPr>
            <p:cNvPr id="223" name="四角形: 角を丸くする 222">
              <a:extLst>
                <a:ext uri="{FF2B5EF4-FFF2-40B4-BE49-F238E27FC236}">
                  <a16:creationId xmlns:a16="http://schemas.microsoft.com/office/drawing/2014/main" id="{824B03BE-F060-F34F-D8B2-0FD19253249E}"/>
                </a:ext>
              </a:extLst>
            </p:cNvPr>
            <p:cNvSpPr/>
            <p:nvPr/>
          </p:nvSpPr>
          <p:spPr>
            <a:xfrm>
              <a:off x="6838501" y="4238995"/>
              <a:ext cx="270003" cy="135002"/>
            </a:xfrm>
            <a:prstGeom prst="roundRect">
              <a:avLst>
                <a:gd name="adj" fmla="val 11375"/>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342900"/>
              <a:r>
                <a:rPr lang="en-US" altLang="ja-JP" sz="825" dirty="0">
                  <a:solidFill>
                    <a:prstClr val="black"/>
                  </a:solidFill>
                  <a:latin typeface="Arial" panose="020B0604020202020204" pitchFamily="34" charset="0"/>
                  <a:ea typeface="游ゴシック" panose="020B0400000000000000" pitchFamily="50" charset="-128"/>
                  <a:cs typeface="Arial" panose="020B0604020202020204" pitchFamily="34" charset="0"/>
                </a:rPr>
                <a:t>Σ</a:t>
              </a:r>
              <a:endParaRPr lang="en-US" sz="825" dirty="0">
                <a:solidFill>
                  <a:prstClr val="black"/>
                </a:solidFill>
                <a:latin typeface="Arial" panose="020B0604020202020204" pitchFamily="34" charset="0"/>
                <a:cs typeface="Arial" panose="020B0604020202020204" pitchFamily="34" charset="0"/>
              </a:endParaRPr>
            </a:p>
          </p:txBody>
        </p:sp>
        <p:sp>
          <p:nvSpPr>
            <p:cNvPr id="224" name="Freeform 10">
              <a:extLst>
                <a:ext uri="{FF2B5EF4-FFF2-40B4-BE49-F238E27FC236}">
                  <a16:creationId xmlns:a16="http://schemas.microsoft.com/office/drawing/2014/main" id="{526B2135-5591-FA01-6EBF-E8833B2AF0F9}"/>
                </a:ext>
              </a:extLst>
            </p:cNvPr>
            <p:cNvSpPr>
              <a:spLocks/>
            </p:cNvSpPr>
            <p:nvPr/>
          </p:nvSpPr>
          <p:spPr bwMode="auto">
            <a:xfrm>
              <a:off x="6804751" y="4103997"/>
              <a:ext cx="101250" cy="6750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9525"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Lst>
          </p:spPr>
          <p:txBody>
            <a:bodyPr wrap="none" lIns="0" tIns="0" rIns="0" bIns="0">
              <a:noAutofit/>
            </a:bodyPr>
            <a:lstStyle/>
            <a:p>
              <a:pPr defTabSz="342900"/>
              <a:endParaRPr kumimoji="0" lang="ja-JP" altLang="en-US" sz="1350">
                <a:solidFill>
                  <a:prstClr val="black"/>
                </a:solidFill>
                <a:latin typeface="Arial Narrow" pitchFamily="34" charset="0"/>
                <a:ea typeface="游ゴシック" panose="020B0400000000000000" pitchFamily="50" charset="-128"/>
                <a:cs typeface="Times New Roman" pitchFamily="18" charset="0"/>
              </a:endParaRPr>
            </a:p>
          </p:txBody>
        </p:sp>
        <p:cxnSp>
          <p:nvCxnSpPr>
            <p:cNvPr id="225" name="直線矢印コネクタ 224">
              <a:extLst>
                <a:ext uri="{FF2B5EF4-FFF2-40B4-BE49-F238E27FC236}">
                  <a16:creationId xmlns:a16="http://schemas.microsoft.com/office/drawing/2014/main" id="{70030A0C-BB6E-4F09-03ED-72D639C62FD1}"/>
                </a:ext>
              </a:extLst>
            </p:cNvPr>
            <p:cNvCxnSpPr>
              <a:cxnSpLocks/>
            </p:cNvCxnSpPr>
            <p:nvPr/>
          </p:nvCxnSpPr>
          <p:spPr>
            <a:xfrm>
              <a:off x="6906001" y="4171496"/>
              <a:ext cx="0" cy="67501"/>
            </a:xfrm>
            <a:prstGeom prst="straightConnector1">
              <a:avLst/>
            </a:prstGeom>
            <a:noFill/>
            <a:ln w="9525" cap="rnd"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Lst>
          </p:spPr>
        </p:cxnSp>
        <p:cxnSp>
          <p:nvCxnSpPr>
            <p:cNvPr id="226" name="直線矢印コネクタ 225">
              <a:extLst>
                <a:ext uri="{FF2B5EF4-FFF2-40B4-BE49-F238E27FC236}">
                  <a16:creationId xmlns:a16="http://schemas.microsoft.com/office/drawing/2014/main" id="{601C9BF8-15B3-9B8E-E260-1AAC698081DF}"/>
                </a:ext>
              </a:extLst>
            </p:cNvPr>
            <p:cNvCxnSpPr>
              <a:cxnSpLocks/>
              <a:endCxn id="223" idx="0"/>
            </p:cNvCxnSpPr>
            <p:nvPr/>
          </p:nvCxnSpPr>
          <p:spPr>
            <a:xfrm>
              <a:off x="6973502" y="4103994"/>
              <a:ext cx="0" cy="135002"/>
            </a:xfrm>
            <a:prstGeom prst="straightConnector1">
              <a:avLst/>
            </a:prstGeom>
            <a:noFill/>
            <a:ln w="9525" cap="rnd"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Lst>
          </p:spPr>
        </p:cxnSp>
        <p:sp>
          <p:nvSpPr>
            <p:cNvPr id="227" name="Freeform 10">
              <a:extLst>
                <a:ext uri="{FF2B5EF4-FFF2-40B4-BE49-F238E27FC236}">
                  <a16:creationId xmlns:a16="http://schemas.microsoft.com/office/drawing/2014/main" id="{8C588948-A009-5220-BFFE-46CD622AD14B}"/>
                </a:ext>
              </a:extLst>
            </p:cNvPr>
            <p:cNvSpPr>
              <a:spLocks/>
            </p:cNvSpPr>
            <p:nvPr/>
          </p:nvSpPr>
          <p:spPr bwMode="auto">
            <a:xfrm flipH="1">
              <a:off x="7041002" y="4103995"/>
              <a:ext cx="269999" cy="6750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9525"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Lst>
          </p:spPr>
          <p:txBody>
            <a:bodyPr wrap="none" lIns="0" tIns="0" rIns="0" bIns="0">
              <a:noAutofit/>
            </a:bodyPr>
            <a:lstStyle/>
            <a:p>
              <a:pPr defTabSz="342900"/>
              <a:endParaRPr kumimoji="0" lang="ja-JP" altLang="en-US" sz="1350">
                <a:solidFill>
                  <a:prstClr val="black"/>
                </a:solidFill>
                <a:latin typeface="Arial Narrow" pitchFamily="34" charset="0"/>
                <a:ea typeface="游ゴシック" panose="020B0400000000000000" pitchFamily="50" charset="-128"/>
                <a:cs typeface="Times New Roman" pitchFamily="18" charset="0"/>
              </a:endParaRPr>
            </a:p>
          </p:txBody>
        </p:sp>
        <p:cxnSp>
          <p:nvCxnSpPr>
            <p:cNvPr id="228" name="直線矢印コネクタ 227">
              <a:extLst>
                <a:ext uri="{FF2B5EF4-FFF2-40B4-BE49-F238E27FC236}">
                  <a16:creationId xmlns:a16="http://schemas.microsoft.com/office/drawing/2014/main" id="{4BEFF42C-16D2-2DC8-218C-FB7F1A35981F}"/>
                </a:ext>
              </a:extLst>
            </p:cNvPr>
            <p:cNvCxnSpPr>
              <a:cxnSpLocks/>
            </p:cNvCxnSpPr>
            <p:nvPr/>
          </p:nvCxnSpPr>
          <p:spPr>
            <a:xfrm>
              <a:off x="7041002" y="4171496"/>
              <a:ext cx="0" cy="67501"/>
            </a:xfrm>
            <a:prstGeom prst="straightConnector1">
              <a:avLst/>
            </a:prstGeom>
            <a:noFill/>
            <a:ln w="9525" cap="rnd"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Lst>
          </p:spPr>
        </p:cxnSp>
        <p:sp>
          <p:nvSpPr>
            <p:cNvPr id="233" name="正方形/長方形 232">
              <a:extLst>
                <a:ext uri="{FF2B5EF4-FFF2-40B4-BE49-F238E27FC236}">
                  <a16:creationId xmlns:a16="http://schemas.microsoft.com/office/drawing/2014/main" id="{A3F8CDCE-E667-93B9-824E-6077495BDBD5}"/>
                </a:ext>
              </a:extLst>
            </p:cNvPr>
            <p:cNvSpPr/>
            <p:nvPr/>
          </p:nvSpPr>
          <p:spPr>
            <a:xfrm>
              <a:off x="7007250" y="3833998"/>
              <a:ext cx="540006" cy="13500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defTabSz="342900"/>
              <a:r>
                <a:rPr lang="en-US" altLang="ja-JP" sz="1350" dirty="0">
                  <a:solidFill>
                    <a:prstClr val="black"/>
                  </a:solidFill>
                  <a:latin typeface="Arial" panose="020B0604020202020204" pitchFamily="34" charset="0"/>
                  <a:ea typeface="游ゴシック" panose="020B0400000000000000" pitchFamily="50" charset="-128"/>
                  <a:cs typeface="Arial" panose="020B0604020202020204" pitchFamily="34" charset="0"/>
                </a:rPr>
                <a:t>...</a:t>
              </a:r>
              <a:endParaRPr lang="en-US" sz="1350" dirty="0">
                <a:solidFill>
                  <a:prstClr val="black"/>
                </a:solidFill>
                <a:latin typeface="Times New Roman" panose="02020603050405020304" pitchFamily="18" charset="0"/>
                <a:cs typeface="Times New Roman" panose="02020603050405020304" pitchFamily="18" charset="0"/>
              </a:endParaRPr>
            </a:p>
          </p:txBody>
        </p:sp>
        <p:cxnSp>
          <p:nvCxnSpPr>
            <p:cNvPr id="237" name="直線矢印コネクタ 236">
              <a:extLst>
                <a:ext uri="{FF2B5EF4-FFF2-40B4-BE49-F238E27FC236}">
                  <a16:creationId xmlns:a16="http://schemas.microsoft.com/office/drawing/2014/main" id="{6FD93F03-98C8-EDF2-DDEF-7A428ADF053B}"/>
                </a:ext>
              </a:extLst>
            </p:cNvPr>
            <p:cNvCxnSpPr>
              <a:cxnSpLocks/>
            </p:cNvCxnSpPr>
            <p:nvPr/>
          </p:nvCxnSpPr>
          <p:spPr>
            <a:xfrm>
              <a:off x="8154746" y="4373997"/>
              <a:ext cx="0" cy="135002"/>
            </a:xfrm>
            <a:prstGeom prst="straightConnector1">
              <a:avLst/>
            </a:prstGeom>
            <a:noFill/>
            <a:ln w="9525" cap="rnd"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Lst>
          </p:spPr>
        </p:cxnSp>
        <p:sp>
          <p:nvSpPr>
            <p:cNvPr id="238" name="正方形/長方形 237">
              <a:extLst>
                <a:ext uri="{FF2B5EF4-FFF2-40B4-BE49-F238E27FC236}">
                  <a16:creationId xmlns:a16="http://schemas.microsoft.com/office/drawing/2014/main" id="{A936A88E-EED7-A0A0-A9D2-25CD0AFFB9E7}"/>
                </a:ext>
              </a:extLst>
            </p:cNvPr>
            <p:cNvSpPr/>
            <p:nvPr/>
          </p:nvSpPr>
          <p:spPr>
            <a:xfrm>
              <a:off x="7952244" y="4508998"/>
              <a:ext cx="405005" cy="135002"/>
            </a:xfrm>
            <a:prstGeom prst="rect">
              <a:avLst/>
            </a:prstGeom>
            <a:solidFill>
              <a:schemeClr val="bg1"/>
            </a:solidFill>
            <a:ln w="12700"/>
          </p:spPr>
          <p:style>
            <a:lnRef idx="2">
              <a:schemeClr val="dk1"/>
            </a:lnRef>
            <a:fillRef idx="1">
              <a:schemeClr val="lt1"/>
            </a:fillRef>
            <a:effectRef idx="0">
              <a:schemeClr val="dk1"/>
            </a:effectRef>
            <a:fontRef idx="minor">
              <a:schemeClr val="dk1"/>
            </a:fontRef>
          </p:style>
          <p:txBody>
            <a:bodyPr wrap="none" lIns="0" tIns="0" rIns="0" bIns="0" rtlCol="0" anchor="ctr">
              <a:noAutofit/>
            </a:bodyPr>
            <a:lstStyle/>
            <a:p>
              <a:pPr algn="ctr" defTabSz="342900">
                <a:lnSpc>
                  <a:spcPts val="825"/>
                </a:lnSpc>
              </a:pPr>
              <a:r>
                <a:rPr kumimoji="0" lang="en-US" altLang="ja-JP" sz="750" dirty="0">
                  <a:solidFill>
                    <a:prstClr val="black"/>
                  </a:solidFill>
                  <a:latin typeface="Arial" panose="020B0604020202020204" pitchFamily="34" charset="0"/>
                  <a:ea typeface="游ゴシック" panose="020B0400000000000000" pitchFamily="50" charset="-128"/>
                  <a:cs typeface="Arial" panose="020B0604020202020204" pitchFamily="34" charset="0"/>
                </a:rPr>
                <a:t>x</a:t>
              </a:r>
            </a:p>
          </p:txBody>
        </p:sp>
        <p:sp>
          <p:nvSpPr>
            <p:cNvPr id="239" name="正方形/長方形 238">
              <a:extLst>
                <a:ext uri="{FF2B5EF4-FFF2-40B4-BE49-F238E27FC236}">
                  <a16:creationId xmlns:a16="http://schemas.microsoft.com/office/drawing/2014/main" id="{9CDA0CF2-4C1D-A4BD-A2E4-B281A380BDCD}"/>
                </a:ext>
              </a:extLst>
            </p:cNvPr>
            <p:cNvSpPr/>
            <p:nvPr/>
          </p:nvSpPr>
          <p:spPr>
            <a:xfrm>
              <a:off x="7580994" y="3833997"/>
              <a:ext cx="202500" cy="270003"/>
            </a:xfrm>
            <a:prstGeom prst="rect">
              <a:avLst/>
            </a:prstGeom>
            <a:solidFill>
              <a:schemeClr val="accent5">
                <a:lumMod val="20000"/>
                <a:lumOff val="80000"/>
              </a:schemeClr>
            </a:solidFill>
            <a:ln w="12700"/>
          </p:spPr>
          <p:style>
            <a:lnRef idx="2">
              <a:schemeClr val="dk1"/>
            </a:lnRef>
            <a:fillRef idx="1">
              <a:schemeClr val="lt1"/>
            </a:fillRef>
            <a:effectRef idx="0">
              <a:schemeClr val="dk1"/>
            </a:effectRef>
            <a:fontRef idx="minor">
              <a:schemeClr val="dk1"/>
            </a:fontRef>
          </p:style>
          <p:txBody>
            <a:bodyPr wrap="none" lIns="0" tIns="0" rIns="0" bIns="0" rtlCol="0" anchor="ctr">
              <a:noAutofit/>
            </a:bodyPr>
            <a:lstStyle/>
            <a:p>
              <a:pPr algn="ctr" defTabSz="342900">
                <a:lnSpc>
                  <a:spcPts val="825"/>
                </a:lnSpc>
              </a:pPr>
              <a:endParaRPr kumimoji="0" lang="ja-JP" altLang="en-US" sz="750" dirty="0">
                <a:solidFill>
                  <a:prstClr val="black"/>
                </a:solidFill>
                <a:latin typeface="Arial" panose="020B0604020202020204" pitchFamily="34" charset="0"/>
                <a:ea typeface="游ゴシック" panose="020B0400000000000000" pitchFamily="50" charset="-128"/>
                <a:cs typeface="Arial" panose="020B0604020202020204" pitchFamily="34" charset="0"/>
              </a:endParaRPr>
            </a:p>
          </p:txBody>
        </p:sp>
        <p:sp>
          <p:nvSpPr>
            <p:cNvPr id="240" name="Freeform 10">
              <a:extLst>
                <a:ext uri="{FF2B5EF4-FFF2-40B4-BE49-F238E27FC236}">
                  <a16:creationId xmlns:a16="http://schemas.microsoft.com/office/drawing/2014/main" id="{F87212B7-1FC2-E62D-8C55-4735499FC469}"/>
                </a:ext>
              </a:extLst>
            </p:cNvPr>
            <p:cNvSpPr>
              <a:spLocks/>
            </p:cNvSpPr>
            <p:nvPr/>
          </p:nvSpPr>
          <p:spPr bwMode="auto">
            <a:xfrm>
              <a:off x="7682246" y="4103996"/>
              <a:ext cx="269999" cy="4725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9525" cap="rnd"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Lst>
          </p:spPr>
          <p:txBody>
            <a:bodyPr wrap="none" lIns="0" tIns="0" rIns="0" bIns="0">
              <a:noAutofit/>
            </a:bodyPr>
            <a:lstStyle/>
            <a:p>
              <a:pPr defTabSz="342900"/>
              <a:endParaRPr kumimoji="0" lang="ja-JP" altLang="en-US" sz="1350">
                <a:solidFill>
                  <a:prstClr val="black"/>
                </a:solidFill>
                <a:latin typeface="Arial Narrow" pitchFamily="34" charset="0"/>
                <a:ea typeface="游ゴシック" panose="020B0400000000000000" pitchFamily="50" charset="-128"/>
                <a:cs typeface="Times New Roman" pitchFamily="18" charset="0"/>
              </a:endParaRPr>
            </a:p>
          </p:txBody>
        </p:sp>
        <p:sp>
          <p:nvSpPr>
            <p:cNvPr id="241" name="正方形/長方形 240">
              <a:extLst>
                <a:ext uri="{FF2B5EF4-FFF2-40B4-BE49-F238E27FC236}">
                  <a16:creationId xmlns:a16="http://schemas.microsoft.com/office/drawing/2014/main" id="{D61108B4-E55F-C962-EDA0-14FF73F631F9}"/>
                </a:ext>
              </a:extLst>
            </p:cNvPr>
            <p:cNvSpPr/>
            <p:nvPr/>
          </p:nvSpPr>
          <p:spPr>
            <a:xfrm>
              <a:off x="7918495" y="3833997"/>
              <a:ext cx="135005" cy="270003"/>
            </a:xfrm>
            <a:prstGeom prst="rect">
              <a:avLst/>
            </a:prstGeom>
            <a:solidFill>
              <a:schemeClr val="accent5">
                <a:lumMod val="20000"/>
                <a:lumOff val="80000"/>
              </a:schemeClr>
            </a:solidFill>
            <a:ln w="12700"/>
          </p:spPr>
          <p:style>
            <a:lnRef idx="2">
              <a:schemeClr val="dk1"/>
            </a:lnRef>
            <a:fillRef idx="1">
              <a:schemeClr val="lt1"/>
            </a:fillRef>
            <a:effectRef idx="0">
              <a:schemeClr val="dk1"/>
            </a:effectRef>
            <a:fontRef idx="minor">
              <a:schemeClr val="dk1"/>
            </a:fontRef>
          </p:style>
          <p:txBody>
            <a:bodyPr wrap="none" lIns="0" tIns="0" rIns="0" bIns="0" rtlCol="0" anchor="ctr">
              <a:noAutofit/>
            </a:bodyPr>
            <a:lstStyle/>
            <a:p>
              <a:pPr algn="ctr" defTabSz="342900">
                <a:lnSpc>
                  <a:spcPts val="825"/>
                </a:lnSpc>
              </a:pPr>
              <a:endParaRPr kumimoji="0" lang="ja-JP" altLang="en-US" sz="750" dirty="0">
                <a:solidFill>
                  <a:prstClr val="black"/>
                </a:solidFill>
                <a:latin typeface="Arial" panose="020B0604020202020204" pitchFamily="34" charset="0"/>
                <a:ea typeface="游ゴシック" panose="020B0400000000000000" pitchFamily="50" charset="-128"/>
                <a:cs typeface="Arial" panose="020B0604020202020204" pitchFamily="34" charset="0"/>
              </a:endParaRPr>
            </a:p>
          </p:txBody>
        </p:sp>
        <p:sp>
          <p:nvSpPr>
            <p:cNvPr id="242" name="正方形/長方形 241">
              <a:extLst>
                <a:ext uri="{FF2B5EF4-FFF2-40B4-BE49-F238E27FC236}">
                  <a16:creationId xmlns:a16="http://schemas.microsoft.com/office/drawing/2014/main" id="{B9AAEA07-66DD-23E3-F80D-266D10834E48}"/>
                </a:ext>
              </a:extLst>
            </p:cNvPr>
            <p:cNvSpPr/>
            <p:nvPr/>
          </p:nvSpPr>
          <p:spPr>
            <a:xfrm>
              <a:off x="8087244" y="3833997"/>
              <a:ext cx="135000" cy="270003"/>
            </a:xfrm>
            <a:prstGeom prst="rect">
              <a:avLst/>
            </a:prstGeom>
            <a:solidFill>
              <a:schemeClr val="accent5">
                <a:lumMod val="20000"/>
                <a:lumOff val="80000"/>
              </a:schemeClr>
            </a:solidFill>
            <a:ln w="12700"/>
          </p:spPr>
          <p:style>
            <a:lnRef idx="2">
              <a:schemeClr val="dk1"/>
            </a:lnRef>
            <a:fillRef idx="1">
              <a:schemeClr val="lt1"/>
            </a:fillRef>
            <a:effectRef idx="0">
              <a:schemeClr val="dk1"/>
            </a:effectRef>
            <a:fontRef idx="minor">
              <a:schemeClr val="dk1"/>
            </a:fontRef>
          </p:style>
          <p:txBody>
            <a:bodyPr wrap="none" lIns="0" tIns="0" rIns="0" bIns="0" rtlCol="0" anchor="ctr">
              <a:noAutofit/>
            </a:bodyPr>
            <a:lstStyle/>
            <a:p>
              <a:pPr algn="ctr" defTabSz="342900">
                <a:lnSpc>
                  <a:spcPts val="825"/>
                </a:lnSpc>
              </a:pPr>
              <a:endParaRPr kumimoji="0" lang="ja-JP" altLang="en-US" sz="750" dirty="0">
                <a:solidFill>
                  <a:prstClr val="black"/>
                </a:solidFill>
                <a:latin typeface="Arial" panose="020B0604020202020204" pitchFamily="34" charset="0"/>
                <a:ea typeface="游ゴシック" panose="020B0400000000000000" pitchFamily="50" charset="-128"/>
                <a:cs typeface="Arial" panose="020B0604020202020204" pitchFamily="34" charset="0"/>
              </a:endParaRPr>
            </a:p>
          </p:txBody>
        </p:sp>
        <p:sp>
          <p:nvSpPr>
            <p:cNvPr id="243" name="正方形/長方形 242">
              <a:extLst>
                <a:ext uri="{FF2B5EF4-FFF2-40B4-BE49-F238E27FC236}">
                  <a16:creationId xmlns:a16="http://schemas.microsoft.com/office/drawing/2014/main" id="{5EE2683B-EFF7-8AD2-E740-947862119A06}"/>
                </a:ext>
              </a:extLst>
            </p:cNvPr>
            <p:cNvSpPr/>
            <p:nvPr/>
          </p:nvSpPr>
          <p:spPr>
            <a:xfrm>
              <a:off x="8424744" y="3833997"/>
              <a:ext cx="135000" cy="270003"/>
            </a:xfrm>
            <a:prstGeom prst="rect">
              <a:avLst/>
            </a:prstGeom>
            <a:solidFill>
              <a:schemeClr val="accent5">
                <a:lumMod val="20000"/>
                <a:lumOff val="80000"/>
              </a:schemeClr>
            </a:solidFill>
            <a:ln w="12700"/>
          </p:spPr>
          <p:style>
            <a:lnRef idx="2">
              <a:schemeClr val="dk1"/>
            </a:lnRef>
            <a:fillRef idx="1">
              <a:schemeClr val="lt1"/>
            </a:fillRef>
            <a:effectRef idx="0">
              <a:schemeClr val="dk1"/>
            </a:effectRef>
            <a:fontRef idx="minor">
              <a:schemeClr val="dk1"/>
            </a:fontRef>
          </p:style>
          <p:txBody>
            <a:bodyPr wrap="none" lIns="0" tIns="0" rIns="0" bIns="0" rtlCol="0" anchor="ctr">
              <a:noAutofit/>
            </a:bodyPr>
            <a:lstStyle/>
            <a:p>
              <a:pPr algn="ctr" defTabSz="342900">
                <a:lnSpc>
                  <a:spcPts val="825"/>
                </a:lnSpc>
              </a:pPr>
              <a:endParaRPr kumimoji="0" lang="ja-JP" altLang="en-US" sz="750" u="sng" dirty="0">
                <a:solidFill>
                  <a:prstClr val="black"/>
                </a:solidFill>
                <a:latin typeface="Arial" panose="020B0604020202020204" pitchFamily="34" charset="0"/>
                <a:ea typeface="游ゴシック" panose="020B0400000000000000" pitchFamily="50" charset="-128"/>
                <a:cs typeface="Arial" panose="020B0604020202020204" pitchFamily="34" charset="0"/>
              </a:endParaRPr>
            </a:p>
          </p:txBody>
        </p:sp>
        <p:sp>
          <p:nvSpPr>
            <p:cNvPr id="244" name="四角形: 角を丸くする 243">
              <a:extLst>
                <a:ext uri="{FF2B5EF4-FFF2-40B4-BE49-F238E27FC236}">
                  <a16:creationId xmlns:a16="http://schemas.microsoft.com/office/drawing/2014/main" id="{88D66EAA-EF32-76D3-98B3-C4B2950E7131}"/>
                </a:ext>
              </a:extLst>
            </p:cNvPr>
            <p:cNvSpPr/>
            <p:nvPr/>
          </p:nvSpPr>
          <p:spPr>
            <a:xfrm>
              <a:off x="8019745" y="4238995"/>
              <a:ext cx="270003" cy="135002"/>
            </a:xfrm>
            <a:prstGeom prst="roundRect">
              <a:avLst>
                <a:gd name="adj" fmla="val 11375"/>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342900"/>
              <a:r>
                <a:rPr lang="en-US" altLang="ja-JP" sz="825" dirty="0">
                  <a:solidFill>
                    <a:prstClr val="black"/>
                  </a:solidFill>
                  <a:latin typeface="Arial" panose="020B0604020202020204" pitchFamily="34" charset="0"/>
                  <a:ea typeface="游ゴシック" panose="020B0400000000000000" pitchFamily="50" charset="-128"/>
                  <a:cs typeface="Arial" panose="020B0604020202020204" pitchFamily="34" charset="0"/>
                </a:rPr>
                <a:t>Σ</a:t>
              </a:r>
              <a:endParaRPr lang="en-US" sz="825" dirty="0">
                <a:solidFill>
                  <a:prstClr val="black"/>
                </a:solidFill>
                <a:latin typeface="Arial" panose="020B0604020202020204" pitchFamily="34" charset="0"/>
                <a:cs typeface="Arial" panose="020B0604020202020204" pitchFamily="34" charset="0"/>
              </a:endParaRPr>
            </a:p>
          </p:txBody>
        </p:sp>
        <p:sp>
          <p:nvSpPr>
            <p:cNvPr id="245" name="Freeform 10">
              <a:extLst>
                <a:ext uri="{FF2B5EF4-FFF2-40B4-BE49-F238E27FC236}">
                  <a16:creationId xmlns:a16="http://schemas.microsoft.com/office/drawing/2014/main" id="{B25E7648-D8CF-B7E9-2D30-295999C783EF}"/>
                </a:ext>
              </a:extLst>
            </p:cNvPr>
            <p:cNvSpPr>
              <a:spLocks/>
            </p:cNvSpPr>
            <p:nvPr/>
          </p:nvSpPr>
          <p:spPr bwMode="auto">
            <a:xfrm>
              <a:off x="7985995" y="4103997"/>
              <a:ext cx="101250" cy="6750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9525"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Lst>
          </p:spPr>
          <p:txBody>
            <a:bodyPr wrap="none" lIns="0" tIns="0" rIns="0" bIns="0">
              <a:noAutofit/>
            </a:bodyPr>
            <a:lstStyle/>
            <a:p>
              <a:pPr defTabSz="342900"/>
              <a:endParaRPr kumimoji="0" lang="ja-JP" altLang="en-US" sz="1350">
                <a:solidFill>
                  <a:prstClr val="black"/>
                </a:solidFill>
                <a:latin typeface="Arial Narrow" pitchFamily="34" charset="0"/>
                <a:ea typeface="游ゴシック" panose="020B0400000000000000" pitchFamily="50" charset="-128"/>
                <a:cs typeface="Times New Roman" pitchFamily="18" charset="0"/>
              </a:endParaRPr>
            </a:p>
          </p:txBody>
        </p:sp>
        <p:cxnSp>
          <p:nvCxnSpPr>
            <p:cNvPr id="246" name="直線矢印コネクタ 245">
              <a:extLst>
                <a:ext uri="{FF2B5EF4-FFF2-40B4-BE49-F238E27FC236}">
                  <a16:creationId xmlns:a16="http://schemas.microsoft.com/office/drawing/2014/main" id="{7A692883-F45D-C867-F371-BE747D626C24}"/>
                </a:ext>
              </a:extLst>
            </p:cNvPr>
            <p:cNvCxnSpPr>
              <a:cxnSpLocks/>
            </p:cNvCxnSpPr>
            <p:nvPr/>
          </p:nvCxnSpPr>
          <p:spPr>
            <a:xfrm>
              <a:off x="8087245" y="4171496"/>
              <a:ext cx="0" cy="67501"/>
            </a:xfrm>
            <a:prstGeom prst="straightConnector1">
              <a:avLst/>
            </a:prstGeom>
            <a:noFill/>
            <a:ln w="9525" cap="rnd"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Lst>
          </p:spPr>
        </p:cxnSp>
        <p:cxnSp>
          <p:nvCxnSpPr>
            <p:cNvPr id="247" name="直線矢印コネクタ 246">
              <a:extLst>
                <a:ext uri="{FF2B5EF4-FFF2-40B4-BE49-F238E27FC236}">
                  <a16:creationId xmlns:a16="http://schemas.microsoft.com/office/drawing/2014/main" id="{4F222C99-8A26-0E8F-BBD3-D69FBDC34507}"/>
                </a:ext>
              </a:extLst>
            </p:cNvPr>
            <p:cNvCxnSpPr>
              <a:cxnSpLocks/>
              <a:endCxn id="244" idx="0"/>
            </p:cNvCxnSpPr>
            <p:nvPr/>
          </p:nvCxnSpPr>
          <p:spPr>
            <a:xfrm>
              <a:off x="8154746" y="4103994"/>
              <a:ext cx="0" cy="135002"/>
            </a:xfrm>
            <a:prstGeom prst="straightConnector1">
              <a:avLst/>
            </a:prstGeom>
            <a:noFill/>
            <a:ln w="9525" cap="rnd"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Lst>
          </p:spPr>
        </p:cxnSp>
        <p:sp>
          <p:nvSpPr>
            <p:cNvPr id="248" name="Freeform 10">
              <a:extLst>
                <a:ext uri="{FF2B5EF4-FFF2-40B4-BE49-F238E27FC236}">
                  <a16:creationId xmlns:a16="http://schemas.microsoft.com/office/drawing/2014/main" id="{5BE17E9C-1884-9B96-67D0-9DC246EEFE43}"/>
                </a:ext>
              </a:extLst>
            </p:cNvPr>
            <p:cNvSpPr>
              <a:spLocks/>
            </p:cNvSpPr>
            <p:nvPr/>
          </p:nvSpPr>
          <p:spPr bwMode="auto">
            <a:xfrm flipH="1">
              <a:off x="8222246" y="4103995"/>
              <a:ext cx="269999" cy="6750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9525"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Lst>
          </p:spPr>
          <p:txBody>
            <a:bodyPr wrap="none" lIns="0" tIns="0" rIns="0" bIns="0">
              <a:noAutofit/>
            </a:bodyPr>
            <a:lstStyle/>
            <a:p>
              <a:pPr defTabSz="342900"/>
              <a:endParaRPr kumimoji="0" lang="ja-JP" altLang="en-US" sz="1350">
                <a:solidFill>
                  <a:prstClr val="black"/>
                </a:solidFill>
                <a:latin typeface="Arial Narrow" pitchFamily="34" charset="0"/>
                <a:ea typeface="游ゴシック" panose="020B0400000000000000" pitchFamily="50" charset="-128"/>
                <a:cs typeface="Times New Roman" pitchFamily="18" charset="0"/>
              </a:endParaRPr>
            </a:p>
          </p:txBody>
        </p:sp>
        <p:cxnSp>
          <p:nvCxnSpPr>
            <p:cNvPr id="249" name="直線矢印コネクタ 248">
              <a:extLst>
                <a:ext uri="{FF2B5EF4-FFF2-40B4-BE49-F238E27FC236}">
                  <a16:creationId xmlns:a16="http://schemas.microsoft.com/office/drawing/2014/main" id="{7E367F46-DDB6-2B10-577C-DCC98A786B67}"/>
                </a:ext>
              </a:extLst>
            </p:cNvPr>
            <p:cNvCxnSpPr>
              <a:cxnSpLocks/>
            </p:cNvCxnSpPr>
            <p:nvPr/>
          </p:nvCxnSpPr>
          <p:spPr>
            <a:xfrm>
              <a:off x="8222246" y="4171496"/>
              <a:ext cx="0" cy="67501"/>
            </a:xfrm>
            <a:prstGeom prst="straightConnector1">
              <a:avLst/>
            </a:prstGeom>
            <a:noFill/>
            <a:ln w="9525" cap="rnd"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Lst>
          </p:spPr>
        </p:cxnSp>
        <p:sp>
          <p:nvSpPr>
            <p:cNvPr id="250" name="正方形/長方形 249">
              <a:extLst>
                <a:ext uri="{FF2B5EF4-FFF2-40B4-BE49-F238E27FC236}">
                  <a16:creationId xmlns:a16="http://schemas.microsoft.com/office/drawing/2014/main" id="{0516CA1C-D31A-9AED-5543-14AE40F4D608}"/>
                </a:ext>
              </a:extLst>
            </p:cNvPr>
            <p:cNvSpPr/>
            <p:nvPr/>
          </p:nvSpPr>
          <p:spPr>
            <a:xfrm>
              <a:off x="8188494" y="3833995"/>
              <a:ext cx="540006" cy="13500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defTabSz="342900"/>
              <a:r>
                <a:rPr lang="en-US" altLang="ja-JP" sz="1350" dirty="0">
                  <a:solidFill>
                    <a:prstClr val="black"/>
                  </a:solidFill>
                  <a:latin typeface="Arial" panose="020B0604020202020204" pitchFamily="34" charset="0"/>
                  <a:ea typeface="游ゴシック" panose="020B0400000000000000" pitchFamily="50" charset="-128"/>
                  <a:cs typeface="Arial" panose="020B0604020202020204" pitchFamily="34" charset="0"/>
                </a:rPr>
                <a:t>...</a:t>
              </a:r>
              <a:endParaRPr lang="en-US" sz="1350" dirty="0">
                <a:solidFill>
                  <a:prstClr val="black"/>
                </a:solidFill>
                <a:latin typeface="Times New Roman" panose="02020603050405020304" pitchFamily="18" charset="0"/>
                <a:cs typeface="Times New Roman" panose="02020603050405020304" pitchFamily="18" charset="0"/>
              </a:endParaRPr>
            </a:p>
          </p:txBody>
        </p:sp>
        <p:sp>
          <p:nvSpPr>
            <p:cNvPr id="253" name="Freeform 10">
              <a:extLst>
                <a:ext uri="{FF2B5EF4-FFF2-40B4-BE49-F238E27FC236}">
                  <a16:creationId xmlns:a16="http://schemas.microsoft.com/office/drawing/2014/main" id="{1045A486-2E7A-EA24-E64D-D4AFC3C47168}"/>
                </a:ext>
              </a:extLst>
            </p:cNvPr>
            <p:cNvSpPr>
              <a:spLocks/>
            </p:cNvSpPr>
            <p:nvPr/>
          </p:nvSpPr>
          <p:spPr bwMode="auto">
            <a:xfrm>
              <a:off x="5556000" y="4644000"/>
              <a:ext cx="1316250" cy="16875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9525"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Lst>
          </p:spPr>
          <p:txBody>
            <a:bodyPr wrap="none" lIns="0" tIns="0" rIns="0" bIns="0">
              <a:noAutofit/>
            </a:bodyPr>
            <a:lstStyle/>
            <a:p>
              <a:pPr defTabSz="342900"/>
              <a:endParaRPr kumimoji="0" lang="ja-JP" altLang="en-US" sz="1350">
                <a:solidFill>
                  <a:prstClr val="black"/>
                </a:solidFill>
                <a:latin typeface="Arial Narrow" pitchFamily="34" charset="0"/>
                <a:ea typeface="游ゴシック" panose="020B0400000000000000" pitchFamily="50" charset="-128"/>
                <a:cs typeface="Times New Roman" pitchFamily="18" charset="0"/>
              </a:endParaRPr>
            </a:p>
          </p:txBody>
        </p:sp>
        <p:cxnSp>
          <p:nvCxnSpPr>
            <p:cNvPr id="254" name="直線矢印コネクタ 253">
              <a:extLst>
                <a:ext uri="{FF2B5EF4-FFF2-40B4-BE49-F238E27FC236}">
                  <a16:creationId xmlns:a16="http://schemas.microsoft.com/office/drawing/2014/main" id="{5CFE9ABB-F6AA-3DB9-6AB5-2A2408A1E3EA}"/>
                </a:ext>
              </a:extLst>
            </p:cNvPr>
            <p:cNvCxnSpPr>
              <a:cxnSpLocks/>
            </p:cNvCxnSpPr>
            <p:nvPr/>
          </p:nvCxnSpPr>
          <p:spPr>
            <a:xfrm>
              <a:off x="6872250" y="4812750"/>
              <a:ext cx="0" cy="135001"/>
            </a:xfrm>
            <a:prstGeom prst="straightConnector1">
              <a:avLst/>
            </a:prstGeom>
            <a:noFill/>
            <a:ln w="9525" cap="rnd"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Lst>
          </p:spPr>
        </p:cxnSp>
        <p:cxnSp>
          <p:nvCxnSpPr>
            <p:cNvPr id="271" name="直線矢印コネクタ 270">
              <a:extLst>
                <a:ext uri="{FF2B5EF4-FFF2-40B4-BE49-F238E27FC236}">
                  <a16:creationId xmlns:a16="http://schemas.microsoft.com/office/drawing/2014/main" id="{59E64831-B18C-02E7-582B-699F5E24EE35}"/>
                </a:ext>
              </a:extLst>
            </p:cNvPr>
            <p:cNvCxnSpPr>
              <a:cxnSpLocks/>
            </p:cNvCxnSpPr>
            <p:nvPr/>
          </p:nvCxnSpPr>
          <p:spPr>
            <a:xfrm>
              <a:off x="7007250" y="4778999"/>
              <a:ext cx="0" cy="168750"/>
            </a:xfrm>
            <a:prstGeom prst="straightConnector1">
              <a:avLst/>
            </a:prstGeom>
            <a:noFill/>
            <a:ln w="9525" cap="rnd"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Lst>
          </p:spPr>
        </p:cxnSp>
        <p:sp>
          <p:nvSpPr>
            <p:cNvPr id="272" name="Freeform 10">
              <a:extLst>
                <a:ext uri="{FF2B5EF4-FFF2-40B4-BE49-F238E27FC236}">
                  <a16:creationId xmlns:a16="http://schemas.microsoft.com/office/drawing/2014/main" id="{F42821C4-2E9C-ECFD-F9ED-09B861F19E86}"/>
                </a:ext>
              </a:extLst>
            </p:cNvPr>
            <p:cNvSpPr>
              <a:spLocks/>
            </p:cNvSpPr>
            <p:nvPr/>
          </p:nvSpPr>
          <p:spPr bwMode="auto">
            <a:xfrm flipH="1">
              <a:off x="7007250" y="4643999"/>
              <a:ext cx="1113750" cy="135000"/>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9525"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Lst>
          </p:spPr>
          <p:txBody>
            <a:bodyPr wrap="none" lIns="0" tIns="0" rIns="0" bIns="0">
              <a:noAutofit/>
            </a:bodyPr>
            <a:lstStyle/>
            <a:p>
              <a:pPr defTabSz="342900"/>
              <a:endParaRPr kumimoji="0" lang="ja-JP" altLang="en-US" sz="1350">
                <a:solidFill>
                  <a:prstClr val="black"/>
                </a:solidFill>
                <a:latin typeface="Arial Narrow" pitchFamily="34" charset="0"/>
                <a:ea typeface="游ゴシック" panose="020B0400000000000000" pitchFamily="50" charset="-128"/>
                <a:cs typeface="Times New Roman" pitchFamily="18" charset="0"/>
              </a:endParaRPr>
            </a:p>
          </p:txBody>
        </p:sp>
        <p:sp>
          <p:nvSpPr>
            <p:cNvPr id="273" name="正方形/長方形 272">
              <a:extLst>
                <a:ext uri="{FF2B5EF4-FFF2-40B4-BE49-F238E27FC236}">
                  <a16:creationId xmlns:a16="http://schemas.microsoft.com/office/drawing/2014/main" id="{F90C0378-B2FC-FEB1-193A-5F840D466EE8}"/>
                </a:ext>
              </a:extLst>
            </p:cNvPr>
            <p:cNvSpPr/>
            <p:nvPr/>
          </p:nvSpPr>
          <p:spPr>
            <a:xfrm>
              <a:off x="7311000" y="4340248"/>
              <a:ext cx="540006" cy="13500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defTabSz="342900"/>
              <a:r>
                <a:rPr lang="en-US" altLang="ja-JP" sz="1350" dirty="0">
                  <a:solidFill>
                    <a:prstClr val="black"/>
                  </a:solidFill>
                  <a:latin typeface="Arial" panose="020B0604020202020204" pitchFamily="34" charset="0"/>
                  <a:ea typeface="游ゴシック" panose="020B0400000000000000" pitchFamily="50" charset="-128"/>
                  <a:cs typeface="Arial" panose="020B0604020202020204" pitchFamily="34" charset="0"/>
                </a:rPr>
                <a:t>...</a:t>
              </a:r>
              <a:endParaRPr lang="en-US" sz="1350" dirty="0">
                <a:solidFill>
                  <a:prstClr val="black"/>
                </a:solidFill>
                <a:latin typeface="Times New Roman" panose="02020603050405020304" pitchFamily="18" charset="0"/>
                <a:cs typeface="Times New Roman" panose="02020603050405020304" pitchFamily="18" charset="0"/>
              </a:endParaRPr>
            </a:p>
          </p:txBody>
        </p:sp>
        <p:cxnSp>
          <p:nvCxnSpPr>
            <p:cNvPr id="276" name="直線コネクタ 275">
              <a:extLst>
                <a:ext uri="{FF2B5EF4-FFF2-40B4-BE49-F238E27FC236}">
                  <a16:creationId xmlns:a16="http://schemas.microsoft.com/office/drawing/2014/main" id="{4AD53ECC-5659-888C-D00A-F7DAC035934C}"/>
                </a:ext>
              </a:extLst>
            </p:cNvPr>
            <p:cNvCxnSpPr>
              <a:cxnSpLocks/>
            </p:cNvCxnSpPr>
            <p:nvPr/>
          </p:nvCxnSpPr>
          <p:spPr>
            <a:xfrm>
              <a:off x="6973500" y="5318999"/>
              <a:ext cx="0" cy="135000"/>
            </a:xfrm>
            <a:prstGeom prst="line">
              <a:avLst/>
            </a:prstGeom>
            <a:noFill/>
            <a:ln w="9525"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Lst>
          </p:spPr>
        </p:cxnSp>
        <p:cxnSp>
          <p:nvCxnSpPr>
            <p:cNvPr id="277" name="直線矢印コネクタ 276">
              <a:extLst>
                <a:ext uri="{FF2B5EF4-FFF2-40B4-BE49-F238E27FC236}">
                  <a16:creationId xmlns:a16="http://schemas.microsoft.com/office/drawing/2014/main" id="{1BB6138F-A9D4-3E5B-F009-9A82E3E0F6A0}"/>
                </a:ext>
              </a:extLst>
            </p:cNvPr>
            <p:cNvCxnSpPr>
              <a:cxnSpLocks/>
              <a:endCxn id="201" idx="3"/>
            </p:cNvCxnSpPr>
            <p:nvPr/>
          </p:nvCxnSpPr>
          <p:spPr>
            <a:xfrm flipH="1">
              <a:off x="6863820" y="5453999"/>
              <a:ext cx="109680" cy="0"/>
            </a:xfrm>
            <a:prstGeom prst="straightConnector1">
              <a:avLst/>
            </a:prstGeom>
            <a:noFill/>
            <a:ln w="9525" cap="rnd"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Lst>
          </p:spPr>
        </p:cxnSp>
        <p:cxnSp>
          <p:nvCxnSpPr>
            <p:cNvPr id="281" name="直線コネクタ 280">
              <a:extLst>
                <a:ext uri="{FF2B5EF4-FFF2-40B4-BE49-F238E27FC236}">
                  <a16:creationId xmlns:a16="http://schemas.microsoft.com/office/drawing/2014/main" id="{665D468B-ABA4-2191-2CD9-3A7B0433031B}"/>
                </a:ext>
              </a:extLst>
            </p:cNvPr>
            <p:cNvCxnSpPr>
              <a:cxnSpLocks/>
            </p:cNvCxnSpPr>
            <p:nvPr/>
          </p:nvCxnSpPr>
          <p:spPr>
            <a:xfrm>
              <a:off x="6939750" y="4643999"/>
              <a:ext cx="0" cy="303750"/>
            </a:xfrm>
            <a:prstGeom prst="line">
              <a:avLst/>
            </a:prstGeom>
            <a:noFill/>
            <a:ln w="9525" cap="rnd"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Lst>
          </p:spPr>
        </p:cxnSp>
        <p:cxnSp>
          <p:nvCxnSpPr>
            <p:cNvPr id="300" name="直線矢印コネクタ 299">
              <a:extLst>
                <a:ext uri="{FF2B5EF4-FFF2-40B4-BE49-F238E27FC236}">
                  <a16:creationId xmlns:a16="http://schemas.microsoft.com/office/drawing/2014/main" id="{5D41BAFF-51AF-8636-EA37-EF9FC357F24B}"/>
                </a:ext>
              </a:extLst>
            </p:cNvPr>
            <p:cNvCxnSpPr>
              <a:cxnSpLocks/>
            </p:cNvCxnSpPr>
            <p:nvPr/>
          </p:nvCxnSpPr>
          <p:spPr>
            <a:xfrm>
              <a:off x="7074750" y="4846500"/>
              <a:ext cx="0" cy="101251"/>
            </a:xfrm>
            <a:prstGeom prst="straightConnector1">
              <a:avLst/>
            </a:prstGeom>
            <a:noFill/>
            <a:ln w="9525" cap="rnd"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Lst>
          </p:spPr>
        </p:cxnSp>
        <p:sp>
          <p:nvSpPr>
            <p:cNvPr id="303" name="Freeform 10">
              <a:extLst>
                <a:ext uri="{FF2B5EF4-FFF2-40B4-BE49-F238E27FC236}">
                  <a16:creationId xmlns:a16="http://schemas.microsoft.com/office/drawing/2014/main" id="{5A972FEC-516F-376E-8040-FF500E4214DD}"/>
                </a:ext>
              </a:extLst>
            </p:cNvPr>
            <p:cNvSpPr>
              <a:spLocks/>
            </p:cNvSpPr>
            <p:nvPr/>
          </p:nvSpPr>
          <p:spPr bwMode="auto">
            <a:xfrm flipH="1">
              <a:off x="7074750" y="4745249"/>
              <a:ext cx="2430000" cy="101250"/>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9525"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Lst>
          </p:spPr>
          <p:txBody>
            <a:bodyPr wrap="none" lIns="0" tIns="0" rIns="0" bIns="0">
              <a:noAutofit/>
            </a:bodyPr>
            <a:lstStyle/>
            <a:p>
              <a:pPr defTabSz="342900"/>
              <a:endParaRPr kumimoji="0" lang="ja-JP" altLang="en-US" sz="1350">
                <a:solidFill>
                  <a:prstClr val="black"/>
                </a:solidFill>
                <a:latin typeface="Arial Narrow" pitchFamily="34" charset="0"/>
                <a:ea typeface="游ゴシック" panose="020B0400000000000000" pitchFamily="50" charset="-128"/>
                <a:cs typeface="Times New Roman" pitchFamily="18" charset="0"/>
              </a:endParaRPr>
            </a:p>
          </p:txBody>
        </p:sp>
        <p:sp>
          <p:nvSpPr>
            <p:cNvPr id="304" name="正方形/長方形 303">
              <a:extLst>
                <a:ext uri="{FF2B5EF4-FFF2-40B4-BE49-F238E27FC236}">
                  <a16:creationId xmlns:a16="http://schemas.microsoft.com/office/drawing/2014/main" id="{D1598358-14B8-C850-7013-3388D04018B9}"/>
                </a:ext>
              </a:extLst>
            </p:cNvPr>
            <p:cNvSpPr/>
            <p:nvPr/>
          </p:nvSpPr>
          <p:spPr>
            <a:xfrm>
              <a:off x="8829750" y="3766499"/>
              <a:ext cx="1350000" cy="978750"/>
            </a:xfrm>
            <a:prstGeom prst="rect">
              <a:avLst/>
            </a:prstGeom>
            <a:solidFill>
              <a:schemeClr val="accent6">
                <a:lumMod val="20000"/>
                <a:lumOff val="80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defTabSz="342900"/>
              <a:r>
                <a:rPr lang="en-US" altLang="ja-JP" sz="1350" dirty="0">
                  <a:solidFill>
                    <a:prstClr val="black"/>
                  </a:solidFill>
                  <a:latin typeface="Calibri" panose="020F0502020204030204"/>
                  <a:ea typeface="游ゴシック" panose="020B0400000000000000" pitchFamily="50" charset="-128"/>
                </a:rPr>
                <a:t>Register-value component</a:t>
              </a:r>
              <a:endParaRPr lang="ja-JP" altLang="en-US" sz="1350" dirty="0">
                <a:solidFill>
                  <a:prstClr val="black"/>
                </a:solidFill>
                <a:latin typeface="Calibri" panose="020F0502020204030204"/>
                <a:ea typeface="游ゴシック" panose="020B0400000000000000" pitchFamily="50" charset="-128"/>
              </a:endParaRPr>
            </a:p>
          </p:txBody>
        </p:sp>
        <p:sp>
          <p:nvSpPr>
            <p:cNvPr id="305" name="正方形/長方形 304">
              <a:extLst>
                <a:ext uri="{FF2B5EF4-FFF2-40B4-BE49-F238E27FC236}">
                  <a16:creationId xmlns:a16="http://schemas.microsoft.com/office/drawing/2014/main" id="{806C2916-62C0-837C-DCB7-F37F631236AD}"/>
                </a:ext>
              </a:extLst>
            </p:cNvPr>
            <p:cNvSpPr/>
            <p:nvPr/>
          </p:nvSpPr>
          <p:spPr>
            <a:xfrm>
              <a:off x="9369750" y="3496497"/>
              <a:ext cx="270003" cy="13500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342900"/>
              <a:r>
                <a:rPr lang="en-US" altLang="ja-JP" sz="1050" dirty="0">
                  <a:solidFill>
                    <a:prstClr val="black"/>
                  </a:solidFill>
                  <a:latin typeface="Arial" panose="020B0604020202020204" pitchFamily="34" charset="0"/>
                  <a:ea typeface="游ゴシック" panose="020B0400000000000000" pitchFamily="50" charset="-128"/>
                  <a:cs typeface="Arial" panose="020B0604020202020204" pitchFamily="34" charset="0"/>
                </a:rPr>
                <a:t>PC, register values</a:t>
              </a:r>
              <a:endParaRPr lang="en-US" sz="1050" dirty="0">
                <a:solidFill>
                  <a:prstClr val="black"/>
                </a:solidFill>
                <a:latin typeface="Times New Roman" panose="02020603050405020304" pitchFamily="18" charset="0"/>
                <a:cs typeface="Times New Roman" panose="02020603050405020304" pitchFamily="18" charset="0"/>
              </a:endParaRPr>
            </a:p>
          </p:txBody>
        </p:sp>
        <p:cxnSp>
          <p:nvCxnSpPr>
            <p:cNvPr id="306" name="直線矢印コネクタ 305">
              <a:extLst>
                <a:ext uri="{FF2B5EF4-FFF2-40B4-BE49-F238E27FC236}">
                  <a16:creationId xmlns:a16="http://schemas.microsoft.com/office/drawing/2014/main" id="{1306462D-5BFD-848C-5F42-8130E61859AD}"/>
                </a:ext>
              </a:extLst>
            </p:cNvPr>
            <p:cNvCxnSpPr>
              <a:cxnSpLocks/>
            </p:cNvCxnSpPr>
            <p:nvPr/>
          </p:nvCxnSpPr>
          <p:spPr>
            <a:xfrm>
              <a:off x="9504750" y="3631498"/>
              <a:ext cx="0" cy="135002"/>
            </a:xfrm>
            <a:prstGeom prst="straightConnector1">
              <a:avLst/>
            </a:prstGeom>
            <a:noFill/>
            <a:ln w="9525" cap="rnd"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Lst>
          </p:spPr>
        </p:cxnSp>
        <p:cxnSp>
          <p:nvCxnSpPr>
            <p:cNvPr id="274" name="直線コネクタ 273">
              <a:extLst>
                <a:ext uri="{FF2B5EF4-FFF2-40B4-BE49-F238E27FC236}">
                  <a16:creationId xmlns:a16="http://schemas.microsoft.com/office/drawing/2014/main" id="{1E787BEC-2402-21DE-ECA5-5D2C7FB2068A}"/>
                </a:ext>
              </a:extLst>
            </p:cNvPr>
            <p:cNvCxnSpPr>
              <a:cxnSpLocks/>
            </p:cNvCxnSpPr>
            <p:nvPr/>
          </p:nvCxnSpPr>
          <p:spPr>
            <a:xfrm>
              <a:off x="4442250" y="3462750"/>
              <a:ext cx="641250" cy="0"/>
            </a:xfrm>
            <a:prstGeom prst="line">
              <a:avLst/>
            </a:prstGeom>
            <a:noFill/>
            <a:ln w="9525" cap="rnd"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Lst>
          </p:spPr>
        </p:cxnSp>
        <p:cxnSp>
          <p:nvCxnSpPr>
            <p:cNvPr id="280" name="直線コネクタ 279">
              <a:extLst>
                <a:ext uri="{FF2B5EF4-FFF2-40B4-BE49-F238E27FC236}">
                  <a16:creationId xmlns:a16="http://schemas.microsoft.com/office/drawing/2014/main" id="{5D488E0F-E4E5-7604-65D4-946EAD362353}"/>
                </a:ext>
              </a:extLst>
            </p:cNvPr>
            <p:cNvCxnSpPr>
              <a:cxnSpLocks/>
            </p:cNvCxnSpPr>
            <p:nvPr/>
          </p:nvCxnSpPr>
          <p:spPr>
            <a:xfrm>
              <a:off x="4442250" y="3462750"/>
              <a:ext cx="0" cy="185625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674393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グループ化 33"/>
          <p:cNvGrpSpPr/>
          <p:nvPr/>
        </p:nvGrpSpPr>
        <p:grpSpPr>
          <a:xfrm>
            <a:off x="3125967" y="3158997"/>
            <a:ext cx="1562400" cy="576064"/>
            <a:chOff x="971600" y="5445224"/>
            <a:chExt cx="7200800" cy="576064"/>
          </a:xfrm>
        </p:grpSpPr>
        <p:sp>
          <p:nvSpPr>
            <p:cNvPr id="35" name="平行四辺形 3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7" name="平行四辺形 36"/>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38" name="グループ化 37"/>
          <p:cNvGrpSpPr/>
          <p:nvPr/>
        </p:nvGrpSpPr>
        <p:grpSpPr>
          <a:xfrm>
            <a:off x="4566127" y="3158997"/>
            <a:ext cx="1562400" cy="576064"/>
            <a:chOff x="971600" y="5445224"/>
            <a:chExt cx="7200800" cy="576064"/>
          </a:xfrm>
        </p:grpSpPr>
        <p:sp>
          <p:nvSpPr>
            <p:cNvPr id="50" name="平行四辺形 49"/>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1" name="平行四辺形 50"/>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2" name="グループ化 51"/>
          <p:cNvGrpSpPr/>
          <p:nvPr/>
        </p:nvGrpSpPr>
        <p:grpSpPr>
          <a:xfrm>
            <a:off x="6006287" y="3158997"/>
            <a:ext cx="1562400" cy="576064"/>
            <a:chOff x="971600" y="5445224"/>
            <a:chExt cx="7200800" cy="576064"/>
          </a:xfrm>
        </p:grpSpPr>
        <p:sp>
          <p:nvSpPr>
            <p:cNvPr id="53" name="平行四辺形 52"/>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4" name="平行四辺形 5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6" name="グループ化 55"/>
          <p:cNvGrpSpPr/>
          <p:nvPr/>
        </p:nvGrpSpPr>
        <p:grpSpPr>
          <a:xfrm>
            <a:off x="7446447" y="3158997"/>
            <a:ext cx="1584176" cy="576064"/>
            <a:chOff x="971600" y="5445224"/>
            <a:chExt cx="7200800" cy="576064"/>
          </a:xfrm>
        </p:grpSpPr>
        <p:sp>
          <p:nvSpPr>
            <p:cNvPr id="62" name="平行四辺形 61"/>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4" name="平行四辺形 6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 name="正方形/長方形 2"/>
          <p:cNvSpPr/>
          <p:nvPr/>
        </p:nvSpPr>
        <p:spPr>
          <a:xfrm>
            <a:off x="3087807" y="2294454"/>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正方形/長方形 35"/>
          <p:cNvSpPr/>
          <p:nvPr/>
        </p:nvSpPr>
        <p:spPr>
          <a:xfrm>
            <a:off x="4527967" y="2294454"/>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p:cNvSpPr/>
          <p:nvPr/>
        </p:nvSpPr>
        <p:spPr>
          <a:xfrm>
            <a:off x="5970014" y="2313038"/>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p:cNvSpPr/>
          <p:nvPr/>
        </p:nvSpPr>
        <p:spPr>
          <a:xfrm>
            <a:off x="7410174" y="2313038"/>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p:cNvSpPr>
            <a:spLocks noGrp="1"/>
          </p:cNvSpPr>
          <p:nvPr>
            <p:ph type="title"/>
          </p:nvPr>
        </p:nvSpPr>
        <p:spPr/>
        <p:txBody>
          <a:bodyPr/>
          <a:lstStyle/>
          <a:p>
            <a:r>
              <a:rPr kumimoji="1" lang="ja-JP" altLang="en-US" dirty="0"/>
              <a:t>分岐命令の処理と制御ハザード</a:t>
            </a:r>
          </a:p>
        </p:txBody>
      </p:sp>
      <p:sp>
        <p:nvSpPr>
          <p:cNvPr id="58" name="コンテンツ プレースホルダー 57"/>
          <p:cNvSpPr>
            <a:spLocks noGrp="1"/>
          </p:cNvSpPr>
          <p:nvPr>
            <p:ph idx="4294967295"/>
          </p:nvPr>
        </p:nvSpPr>
        <p:spPr>
          <a:xfrm>
            <a:off x="1651205" y="4329011"/>
            <a:ext cx="9000100" cy="2250025"/>
          </a:xfrm>
          <a:prstGeom prst="rect">
            <a:avLst/>
          </a:prstGeom>
        </p:spPr>
        <p:txBody>
          <a:bodyPr/>
          <a:lstStyle/>
          <a:p>
            <a:r>
              <a:rPr lang="ja-JP" altLang="en-US" dirty="0"/>
              <a:t>「</a:t>
            </a:r>
            <a:r>
              <a:rPr lang="en-US" altLang="ja-JP" dirty="0"/>
              <a:t>if a &gt; 0</a:t>
            </a:r>
            <a:r>
              <a:rPr lang="ja-JP" altLang="en-US" dirty="0"/>
              <a:t>」の結果は最終段の </a:t>
            </a:r>
            <a:r>
              <a:rPr lang="el-GR" altLang="ja-JP" sz="1800" b="1" dirty="0">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800" b="1" dirty="0">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800" b="1" dirty="0">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800" b="1" dirty="0">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800" b="1" dirty="0">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800" b="1" dirty="0">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800" b="1" dirty="0">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800" b="1" dirty="0">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dirty="0"/>
              <a:t>の人まで反映出来ない</a:t>
            </a:r>
            <a:endParaRPr lang="en-US" altLang="ja-JP" sz="1800" dirty="0"/>
          </a:p>
          <a:p>
            <a:pPr lvl="1"/>
            <a:r>
              <a:rPr lang="ja-JP" altLang="en-US" dirty="0"/>
              <a:t>先頭は次に </a:t>
            </a:r>
            <a:r>
              <a:rPr lang="en-US" altLang="ja-JP" dirty="0"/>
              <a:t>a=a+1 </a:t>
            </a:r>
            <a:r>
              <a:rPr lang="ja-JP" altLang="en-US" dirty="0"/>
              <a:t>と </a:t>
            </a:r>
            <a:r>
              <a:rPr lang="en-US" altLang="ja-JP" dirty="0"/>
              <a:t>a=a-1 </a:t>
            </a:r>
            <a:r>
              <a:rPr lang="ja-JP" altLang="en-US" dirty="0"/>
              <a:t>のどちらを取り込めばいいのかわからない</a:t>
            </a:r>
            <a:endParaRPr lang="en-US" altLang="ja-JP" dirty="0"/>
          </a:p>
          <a:p>
            <a:r>
              <a:rPr lang="ja-JP" altLang="en-US" dirty="0">
                <a:solidFill>
                  <a:schemeClr val="accent5"/>
                </a:solidFill>
              </a:rPr>
              <a:t>当然に，</a:t>
            </a:r>
            <a:r>
              <a:rPr lang="en-US" altLang="ja-JP" dirty="0">
                <a:solidFill>
                  <a:schemeClr val="accent5"/>
                </a:solidFill>
              </a:rPr>
              <a:t>a </a:t>
            </a:r>
            <a:r>
              <a:rPr lang="ja-JP" altLang="en-US" dirty="0">
                <a:solidFill>
                  <a:schemeClr val="accent5"/>
                </a:solidFill>
              </a:rPr>
              <a:t>の値も予測時にはわかっていないから使えない</a:t>
            </a:r>
            <a:endParaRPr lang="en-US" altLang="ja-JP" dirty="0">
              <a:solidFill>
                <a:schemeClr val="accent5"/>
              </a:solidFill>
            </a:endParaRPr>
          </a:p>
        </p:txBody>
      </p:sp>
      <p:cxnSp>
        <p:nvCxnSpPr>
          <p:cNvPr id="67" name="直線矢印コネクタ 66"/>
          <p:cNvCxnSpPr/>
          <p:nvPr/>
        </p:nvCxnSpPr>
        <p:spPr bwMode="auto">
          <a:xfrm>
            <a:off x="3125967" y="3969006"/>
            <a:ext cx="5904656"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90" name="角丸四角形 89"/>
          <p:cNvSpPr/>
          <p:nvPr/>
        </p:nvSpPr>
        <p:spPr bwMode="auto">
          <a:xfrm>
            <a:off x="3575972" y="2978995"/>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Arial Narrow" panose="020B0606020202030204" pitchFamily="34" charset="0"/>
              </a:rPr>
              <a:t>if a &gt; 0</a:t>
            </a:r>
            <a:endParaRPr lang="ja-JP" altLang="en-US" dirty="0">
              <a:latin typeface="Arial Narrow" panose="020B0606020202030204" pitchFamily="34" charset="0"/>
            </a:endParaRPr>
          </a:p>
        </p:txBody>
      </p:sp>
      <p:sp>
        <p:nvSpPr>
          <p:cNvPr id="96" name="正方形/長方形 95"/>
          <p:cNvSpPr/>
          <p:nvPr/>
        </p:nvSpPr>
        <p:spPr bwMode="auto">
          <a:xfrm>
            <a:off x="1775952" y="2438990"/>
            <a:ext cx="1152128" cy="1710019"/>
          </a:xfrm>
          <a:prstGeom prst="rect">
            <a:avLst/>
          </a:prstGeom>
          <a:ln>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a:lnSpc>
                <a:spcPct val="80000"/>
              </a:lnSpc>
            </a:pPr>
            <a:r>
              <a:rPr lang="en-US" altLang="ja-JP" sz="2400" b="1" dirty="0">
                <a:solidFill>
                  <a:schemeClr val="tx2"/>
                </a:solidFill>
                <a:latin typeface="Arial Narrow" panose="020B0606020202030204" pitchFamily="34" charset="0"/>
              </a:rPr>
              <a:t>if a &gt; 0:</a:t>
            </a:r>
          </a:p>
          <a:p>
            <a:pPr>
              <a:lnSpc>
                <a:spcPct val="80000"/>
              </a:lnSpc>
            </a:pPr>
            <a:r>
              <a:rPr lang="en-US" altLang="ja-JP" sz="2400" dirty="0">
                <a:solidFill>
                  <a:schemeClr val="bg1"/>
                </a:solidFill>
                <a:latin typeface="Arial Narrow" panose="020B0606020202030204" pitchFamily="34" charset="0"/>
              </a:rPr>
              <a:t>    a=a+1</a:t>
            </a:r>
          </a:p>
          <a:p>
            <a:pPr>
              <a:lnSpc>
                <a:spcPct val="80000"/>
              </a:lnSpc>
            </a:pPr>
            <a:r>
              <a:rPr lang="en-US" altLang="ja-JP" sz="2400" dirty="0">
                <a:solidFill>
                  <a:schemeClr val="bg1"/>
                </a:solidFill>
                <a:latin typeface="Arial Narrow" panose="020B0606020202030204" pitchFamily="34" charset="0"/>
              </a:rPr>
              <a:t>else:</a:t>
            </a:r>
          </a:p>
          <a:p>
            <a:pPr>
              <a:lnSpc>
                <a:spcPct val="80000"/>
              </a:lnSpc>
            </a:pPr>
            <a:r>
              <a:rPr lang="en-US" altLang="ja-JP" sz="2400" dirty="0">
                <a:solidFill>
                  <a:schemeClr val="bg1"/>
                </a:solidFill>
                <a:latin typeface="Arial Narrow" panose="020B0606020202030204" pitchFamily="34" charset="0"/>
              </a:rPr>
              <a:t>    a=a-1</a:t>
            </a:r>
          </a:p>
          <a:p>
            <a:pPr>
              <a:lnSpc>
                <a:spcPct val="80000"/>
              </a:lnSpc>
            </a:pPr>
            <a:r>
              <a:rPr lang="ja-JP" altLang="en-US" sz="2000" dirty="0">
                <a:solidFill>
                  <a:schemeClr val="bg1"/>
                </a:solidFill>
                <a:latin typeface="Arial Narrow" panose="020B0606020202030204" pitchFamily="34" charset="0"/>
              </a:rPr>
              <a:t>  </a:t>
            </a:r>
          </a:p>
        </p:txBody>
      </p:sp>
      <p:sp>
        <p:nvSpPr>
          <p:cNvPr id="97" name="正方形/長方形 96"/>
          <p:cNvSpPr/>
          <p:nvPr/>
        </p:nvSpPr>
        <p:spPr bwMode="auto">
          <a:xfrm>
            <a:off x="2045956" y="1898983"/>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tx1">
                    <a:lumMod val="65000"/>
                    <a:lumOff val="35000"/>
                  </a:schemeClr>
                </a:solidFill>
              </a:rPr>
              <a:t>命令メモリ</a:t>
            </a:r>
          </a:p>
        </p:txBody>
      </p:sp>
      <p:sp>
        <p:nvSpPr>
          <p:cNvPr id="24" name="角丸四角形吹き出し 23"/>
          <p:cNvSpPr/>
          <p:nvPr/>
        </p:nvSpPr>
        <p:spPr bwMode="auto">
          <a:xfrm>
            <a:off x="3665973" y="1718981"/>
            <a:ext cx="1440016" cy="432646"/>
          </a:xfrm>
          <a:prstGeom prst="wedgeRoundRectCallout">
            <a:avLst>
              <a:gd name="adj1" fmla="val -43365"/>
              <a:gd name="adj2" fmla="val 134720"/>
              <a:gd name="adj3" fmla="val 16667"/>
            </a:avLst>
          </a:prstGeom>
          <a:ln>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次どう</a:t>
            </a:r>
            <a:r>
              <a:rPr lang="ja-JP" altLang="en-US" sz="1400" dirty="0" err="1">
                <a:solidFill>
                  <a:schemeClr val="tx1">
                    <a:lumMod val="65000"/>
                    <a:lumOff val="35000"/>
                  </a:schemeClr>
                </a:solidFill>
                <a:latin typeface="Arial Narrow" panose="020B0606020202030204" pitchFamily="34" charset="0"/>
              </a:rPr>
              <a:t>すんねん</a:t>
            </a:r>
            <a:endParaRPr lang="ja-JP" altLang="en-US" sz="1400" dirty="0">
              <a:solidFill>
                <a:schemeClr val="tx1">
                  <a:lumMod val="65000"/>
                  <a:lumOff val="35000"/>
                </a:schemeClr>
              </a:solidFill>
              <a:latin typeface="Arial Narrow" panose="020B0606020202030204" pitchFamily="34" charset="0"/>
            </a:endParaRPr>
          </a:p>
        </p:txBody>
      </p:sp>
    </p:spTree>
    <p:extLst>
      <p:ext uri="{BB962C8B-B14F-4D97-AF65-F5344CB8AC3E}">
        <p14:creationId xmlns:p14="http://schemas.microsoft.com/office/powerpoint/2010/main" val="8484018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グループ化 33"/>
          <p:cNvGrpSpPr/>
          <p:nvPr/>
        </p:nvGrpSpPr>
        <p:grpSpPr>
          <a:xfrm>
            <a:off x="3125967" y="3158997"/>
            <a:ext cx="1562400" cy="576064"/>
            <a:chOff x="971600" y="5445224"/>
            <a:chExt cx="7200800" cy="576064"/>
          </a:xfrm>
        </p:grpSpPr>
        <p:sp>
          <p:nvSpPr>
            <p:cNvPr id="35" name="平行四辺形 3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7" name="平行四辺形 36"/>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38" name="グループ化 37"/>
          <p:cNvGrpSpPr/>
          <p:nvPr/>
        </p:nvGrpSpPr>
        <p:grpSpPr>
          <a:xfrm>
            <a:off x="4566127" y="3158997"/>
            <a:ext cx="1562400" cy="576064"/>
            <a:chOff x="971600" y="5445224"/>
            <a:chExt cx="7200800" cy="576064"/>
          </a:xfrm>
        </p:grpSpPr>
        <p:sp>
          <p:nvSpPr>
            <p:cNvPr id="50" name="平行四辺形 49"/>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1" name="平行四辺形 50"/>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2" name="グループ化 51"/>
          <p:cNvGrpSpPr/>
          <p:nvPr/>
        </p:nvGrpSpPr>
        <p:grpSpPr>
          <a:xfrm>
            <a:off x="6006287" y="3158997"/>
            <a:ext cx="1562400" cy="576064"/>
            <a:chOff x="971600" y="5445224"/>
            <a:chExt cx="7200800" cy="576064"/>
          </a:xfrm>
        </p:grpSpPr>
        <p:sp>
          <p:nvSpPr>
            <p:cNvPr id="53" name="平行四辺形 52"/>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4" name="平行四辺形 5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6" name="グループ化 55"/>
          <p:cNvGrpSpPr/>
          <p:nvPr/>
        </p:nvGrpSpPr>
        <p:grpSpPr>
          <a:xfrm>
            <a:off x="7446447" y="3158997"/>
            <a:ext cx="1584176" cy="576064"/>
            <a:chOff x="971600" y="5445224"/>
            <a:chExt cx="7200800" cy="576064"/>
          </a:xfrm>
        </p:grpSpPr>
        <p:sp>
          <p:nvSpPr>
            <p:cNvPr id="62" name="平行四辺形 61"/>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4" name="平行四辺形 6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 name="正方形/長方形 2"/>
          <p:cNvSpPr/>
          <p:nvPr/>
        </p:nvSpPr>
        <p:spPr>
          <a:xfrm>
            <a:off x="3087807" y="2294454"/>
            <a:ext cx="1658179"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ｲｹﾙﾃﾞ</a:t>
            </a:r>
            <a:endPar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 ｺﾚﾊ </a:t>
            </a:r>
          </a:p>
        </p:txBody>
      </p:sp>
      <p:sp>
        <p:nvSpPr>
          <p:cNvPr id="36" name="正方形/長方形 35"/>
          <p:cNvSpPr/>
          <p:nvPr/>
        </p:nvSpPr>
        <p:spPr>
          <a:xfrm>
            <a:off x="4527966" y="2294454"/>
            <a:ext cx="1478033"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ｷﾘｶｴｶﾞ</a:t>
            </a:r>
            <a:endPar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 ﾀﾞｲｼﾞ</a:t>
            </a:r>
          </a:p>
        </p:txBody>
      </p:sp>
      <p:sp>
        <p:nvSpPr>
          <p:cNvPr id="49" name="正方形/長方形 48"/>
          <p:cNvSpPr/>
          <p:nvPr/>
        </p:nvSpPr>
        <p:spPr>
          <a:xfrm>
            <a:off x="5970013" y="2313038"/>
            <a:ext cx="1296000"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ﾔﾚﾔﾚ（つ   つ</a:t>
            </a:r>
          </a:p>
        </p:txBody>
      </p:sp>
      <p:sp>
        <p:nvSpPr>
          <p:cNvPr id="55" name="正方形/長方形 54"/>
          <p:cNvSpPr/>
          <p:nvPr/>
        </p:nvSpPr>
        <p:spPr>
          <a:xfrm>
            <a:off x="7410174" y="2313038"/>
            <a:ext cx="1925863"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ﾏﾀﾏﾁｶﾞｯﾃﾙ</a:t>
            </a:r>
            <a:b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b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p:cNvSpPr>
            <a:spLocks noGrp="1"/>
          </p:cNvSpPr>
          <p:nvPr>
            <p:ph type="title"/>
          </p:nvPr>
        </p:nvSpPr>
        <p:spPr/>
        <p:txBody>
          <a:bodyPr/>
          <a:lstStyle/>
          <a:p>
            <a:r>
              <a:rPr lang="en-US" altLang="ja-JP" dirty="0" err="1"/>
              <a:t>RBias</a:t>
            </a:r>
            <a:r>
              <a:rPr lang="en-US" altLang="ja-JP" dirty="0"/>
              <a:t> </a:t>
            </a:r>
            <a:r>
              <a:rPr lang="ja-JP" altLang="en-US" dirty="0"/>
              <a:t>のやりかた</a:t>
            </a:r>
            <a:endParaRPr kumimoji="1" lang="ja-JP" altLang="en-US" dirty="0"/>
          </a:p>
        </p:txBody>
      </p:sp>
      <p:sp>
        <p:nvSpPr>
          <p:cNvPr id="58" name="コンテンツ プレースホルダー 57"/>
          <p:cNvSpPr>
            <a:spLocks noGrp="1"/>
          </p:cNvSpPr>
          <p:nvPr>
            <p:ph idx="4294967295"/>
          </p:nvPr>
        </p:nvSpPr>
        <p:spPr>
          <a:xfrm>
            <a:off x="1651205" y="4329011"/>
            <a:ext cx="9000100" cy="2250025"/>
          </a:xfrm>
          <a:prstGeom prst="rect">
            <a:avLst/>
          </a:prstGeom>
        </p:spPr>
        <p:txBody>
          <a:bodyPr/>
          <a:lstStyle/>
          <a:p>
            <a:r>
              <a:rPr lang="ja-JP" altLang="en-US" dirty="0"/>
              <a:t>連続した分岐の１個目（「</a:t>
            </a:r>
            <a:r>
              <a:rPr lang="en-US" altLang="ja-JP" dirty="0">
                <a:solidFill>
                  <a:schemeClr val="accent5"/>
                </a:solidFill>
              </a:rPr>
              <a:t>if z==0</a:t>
            </a:r>
            <a:r>
              <a:rPr lang="ja-JP" altLang="en-US" dirty="0"/>
              <a:t>」）でミスがあった場合を考える</a:t>
            </a:r>
            <a:endParaRPr lang="en-US" altLang="ja-JP" dirty="0"/>
          </a:p>
          <a:p>
            <a:pPr lvl="1"/>
            <a:r>
              <a:rPr lang="ja-JP" altLang="en-US" dirty="0"/>
              <a:t>「</a:t>
            </a:r>
            <a:r>
              <a:rPr lang="en-US" altLang="ja-JP" dirty="0">
                <a:solidFill>
                  <a:schemeClr val="accent5"/>
                </a:solidFill>
              </a:rPr>
              <a:t>If z==0</a:t>
            </a:r>
            <a:r>
              <a:rPr lang="ja-JP" altLang="en-US" dirty="0"/>
              <a:t>」の後は一旦取り消される</a:t>
            </a:r>
            <a:endParaRPr lang="en-US" altLang="ja-JP" dirty="0"/>
          </a:p>
          <a:p>
            <a:pPr lvl="1"/>
            <a:r>
              <a:rPr lang="ja-JP" altLang="en-US" dirty="0"/>
              <a:t>このとき，その前に決定された値「</a:t>
            </a:r>
            <a:r>
              <a:rPr lang="en-US" altLang="ja-JP" dirty="0"/>
              <a:t>a=1</a:t>
            </a:r>
            <a:r>
              <a:rPr lang="ja-JP" altLang="en-US" dirty="0"/>
              <a:t>」が観測可能になる</a:t>
            </a:r>
            <a:endParaRPr lang="en-US" altLang="ja-JP" dirty="0"/>
          </a:p>
          <a:p>
            <a:pPr lvl="1"/>
            <a:r>
              <a:rPr lang="ja-JP" altLang="en-US" dirty="0"/>
              <a:t>分岐予測ミスはバーストで起きやすいので結構こういう事がある</a:t>
            </a:r>
            <a:endParaRPr lang="en-US" altLang="ja-JP" dirty="0"/>
          </a:p>
          <a:p>
            <a:r>
              <a:rPr lang="ja-JP" altLang="en-US" dirty="0"/>
              <a:t>他にも関数の引数などで，長期間変わってない値も使える</a:t>
            </a:r>
            <a:endParaRPr lang="en-US" altLang="ja-JP" dirty="0"/>
          </a:p>
        </p:txBody>
      </p:sp>
      <p:cxnSp>
        <p:nvCxnSpPr>
          <p:cNvPr id="67" name="直線矢印コネクタ 66"/>
          <p:cNvCxnSpPr/>
          <p:nvPr/>
        </p:nvCxnSpPr>
        <p:spPr bwMode="auto">
          <a:xfrm>
            <a:off x="3125967" y="3969006"/>
            <a:ext cx="5904656"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90" name="角丸四角形 89"/>
          <p:cNvSpPr/>
          <p:nvPr/>
        </p:nvSpPr>
        <p:spPr bwMode="auto">
          <a:xfrm>
            <a:off x="7896020" y="3068996"/>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b="1" dirty="0">
                <a:solidFill>
                  <a:schemeClr val="bg2"/>
                </a:solidFill>
                <a:latin typeface="Arial Narrow" panose="020B0606020202030204" pitchFamily="34" charset="0"/>
              </a:rPr>
              <a:t>if z == 0</a:t>
            </a:r>
            <a:endParaRPr lang="ja-JP" altLang="en-US" b="1" dirty="0">
              <a:solidFill>
                <a:schemeClr val="bg2"/>
              </a:solidFill>
              <a:latin typeface="Arial Narrow" panose="020B0606020202030204" pitchFamily="34" charset="0"/>
            </a:endParaRPr>
          </a:p>
        </p:txBody>
      </p:sp>
      <p:sp>
        <p:nvSpPr>
          <p:cNvPr id="96" name="正方形/長方形 95"/>
          <p:cNvSpPr/>
          <p:nvPr/>
        </p:nvSpPr>
        <p:spPr bwMode="auto">
          <a:xfrm>
            <a:off x="1775952" y="1628981"/>
            <a:ext cx="1152128" cy="2520028"/>
          </a:xfrm>
          <a:prstGeom prst="rect">
            <a:avLst/>
          </a:prstGeom>
          <a:ln>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a:lnSpc>
                <a:spcPct val="80000"/>
              </a:lnSpc>
            </a:pPr>
            <a:r>
              <a:rPr lang="en-US" altLang="ja-JP" sz="2400" b="1" dirty="0">
                <a:solidFill>
                  <a:schemeClr val="tx2"/>
                </a:solidFill>
                <a:latin typeface="Arial Narrow" panose="020B0606020202030204" pitchFamily="34" charset="0"/>
              </a:rPr>
              <a:t>a = 1</a:t>
            </a:r>
            <a:br>
              <a:rPr lang="en-US" altLang="ja-JP" sz="2400" b="1" dirty="0">
                <a:solidFill>
                  <a:schemeClr val="tx2"/>
                </a:solidFill>
                <a:latin typeface="Arial Narrow" panose="020B0606020202030204" pitchFamily="34" charset="0"/>
              </a:rPr>
            </a:br>
            <a:r>
              <a:rPr lang="en-US" altLang="ja-JP" sz="2400" b="1" dirty="0">
                <a:solidFill>
                  <a:schemeClr val="bg2"/>
                </a:solidFill>
                <a:latin typeface="Arial Narrow" panose="020B0606020202030204" pitchFamily="34" charset="0"/>
              </a:rPr>
              <a:t>if z==0: </a:t>
            </a:r>
            <a:br>
              <a:rPr lang="en-US" altLang="ja-JP" sz="2400" b="1" dirty="0">
                <a:solidFill>
                  <a:schemeClr val="tx2"/>
                </a:solidFill>
                <a:latin typeface="Arial Narrow" panose="020B0606020202030204" pitchFamily="34" charset="0"/>
              </a:rPr>
            </a:br>
            <a:r>
              <a:rPr lang="en-US" altLang="ja-JP" sz="2400" b="1" dirty="0">
                <a:solidFill>
                  <a:schemeClr val="tx2"/>
                </a:solidFill>
                <a:latin typeface="Arial Narrow" panose="020B0606020202030204" pitchFamily="34" charset="0"/>
              </a:rPr>
              <a:t>    …</a:t>
            </a:r>
            <a:br>
              <a:rPr lang="en-US" altLang="ja-JP" sz="2400" b="1" dirty="0">
                <a:solidFill>
                  <a:schemeClr val="tx2"/>
                </a:solidFill>
                <a:latin typeface="Arial Narrow" panose="020B0606020202030204" pitchFamily="34" charset="0"/>
              </a:rPr>
            </a:br>
            <a:r>
              <a:rPr lang="en-US" altLang="ja-JP" sz="2400" b="1" dirty="0">
                <a:solidFill>
                  <a:schemeClr val="tx2"/>
                </a:solidFill>
                <a:latin typeface="Arial Narrow" panose="020B0606020202030204" pitchFamily="34" charset="0"/>
              </a:rPr>
              <a:t>if a &gt; 0:</a:t>
            </a:r>
          </a:p>
          <a:p>
            <a:pPr>
              <a:lnSpc>
                <a:spcPct val="80000"/>
              </a:lnSpc>
            </a:pPr>
            <a:r>
              <a:rPr lang="en-US" altLang="ja-JP" sz="2400" dirty="0">
                <a:solidFill>
                  <a:schemeClr val="bg1"/>
                </a:solidFill>
                <a:latin typeface="Arial Narrow" panose="020B0606020202030204" pitchFamily="34" charset="0"/>
              </a:rPr>
              <a:t>    a=a+1</a:t>
            </a:r>
          </a:p>
          <a:p>
            <a:pPr>
              <a:lnSpc>
                <a:spcPct val="80000"/>
              </a:lnSpc>
            </a:pPr>
            <a:r>
              <a:rPr lang="en-US" altLang="ja-JP" sz="2400" dirty="0">
                <a:solidFill>
                  <a:schemeClr val="bg1"/>
                </a:solidFill>
                <a:latin typeface="Arial Narrow" panose="020B0606020202030204" pitchFamily="34" charset="0"/>
              </a:rPr>
              <a:t>else:</a:t>
            </a:r>
          </a:p>
          <a:p>
            <a:pPr>
              <a:lnSpc>
                <a:spcPct val="80000"/>
              </a:lnSpc>
            </a:pPr>
            <a:r>
              <a:rPr lang="en-US" altLang="ja-JP" sz="2400" dirty="0">
                <a:solidFill>
                  <a:schemeClr val="bg1"/>
                </a:solidFill>
                <a:latin typeface="Arial Narrow" panose="020B0606020202030204" pitchFamily="34" charset="0"/>
              </a:rPr>
              <a:t>    a=a-1</a:t>
            </a:r>
          </a:p>
          <a:p>
            <a:pPr>
              <a:lnSpc>
                <a:spcPct val="80000"/>
              </a:lnSpc>
            </a:pPr>
            <a:r>
              <a:rPr lang="ja-JP" altLang="en-US" sz="2000" dirty="0">
                <a:solidFill>
                  <a:schemeClr val="bg1"/>
                </a:solidFill>
                <a:latin typeface="Arial Narrow" panose="020B0606020202030204" pitchFamily="34" charset="0"/>
              </a:rPr>
              <a:t>  </a:t>
            </a:r>
          </a:p>
        </p:txBody>
      </p:sp>
      <p:sp>
        <p:nvSpPr>
          <p:cNvPr id="24" name="角丸四角形吹き出し 23"/>
          <p:cNvSpPr/>
          <p:nvPr/>
        </p:nvSpPr>
        <p:spPr bwMode="auto">
          <a:xfrm>
            <a:off x="3575973" y="1448978"/>
            <a:ext cx="2250025" cy="612648"/>
          </a:xfrm>
          <a:prstGeom prst="wedgeRoundRectCallout">
            <a:avLst>
              <a:gd name="adj1" fmla="val -44492"/>
              <a:gd name="adj2" fmla="val 108781"/>
              <a:gd name="adj3" fmla="val 16667"/>
            </a:avLst>
          </a:prstGeom>
          <a:ln>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65000"/>
                    <a:lumOff val="35000"/>
                  </a:schemeClr>
                </a:solidFill>
                <a:latin typeface="Arial Narrow" panose="020B0606020202030204" pitchFamily="34" charset="0"/>
              </a:rPr>
              <a:t>…</a:t>
            </a:r>
            <a:r>
              <a:rPr lang="ja-JP" altLang="en-US" sz="1400" dirty="0">
                <a:solidFill>
                  <a:schemeClr val="tx1">
                    <a:lumMod val="65000"/>
                    <a:lumOff val="35000"/>
                  </a:schemeClr>
                </a:solidFill>
                <a:latin typeface="Arial Narrow" panose="020B0606020202030204" pitchFamily="34" charset="0"/>
              </a:rPr>
              <a:t>それはそれとして，</a:t>
            </a:r>
            <a:br>
              <a:rPr lang="en-US" altLang="ja-JP" sz="1400" dirty="0">
                <a:solidFill>
                  <a:schemeClr val="tx1">
                    <a:lumMod val="65000"/>
                    <a:lumOff val="35000"/>
                  </a:schemeClr>
                </a:solidFill>
                <a:latin typeface="Arial Narrow" panose="020B0606020202030204" pitchFamily="34" charset="0"/>
              </a:rPr>
            </a:br>
            <a:r>
              <a:rPr lang="en-US" altLang="ja-JP" sz="1400" dirty="0">
                <a:solidFill>
                  <a:schemeClr val="tx1">
                    <a:lumMod val="65000"/>
                    <a:lumOff val="35000"/>
                  </a:schemeClr>
                </a:solidFill>
                <a:latin typeface="Arial Narrow" panose="020B0606020202030204" pitchFamily="34" charset="0"/>
              </a:rPr>
              <a:t>a </a:t>
            </a:r>
            <a:r>
              <a:rPr lang="ja-JP" altLang="en-US" sz="1400" dirty="0">
                <a:solidFill>
                  <a:schemeClr val="tx1">
                    <a:lumMod val="65000"/>
                    <a:lumOff val="35000"/>
                  </a:schemeClr>
                </a:solidFill>
                <a:latin typeface="Arial Narrow" panose="020B0606020202030204" pitchFamily="34" charset="0"/>
              </a:rPr>
              <a:t>の結果もう出てるやん</a:t>
            </a:r>
          </a:p>
        </p:txBody>
      </p:sp>
      <p:sp>
        <p:nvSpPr>
          <p:cNvPr id="4" name="角丸四角形 89">
            <a:extLst>
              <a:ext uri="{FF2B5EF4-FFF2-40B4-BE49-F238E27FC236}">
                <a16:creationId xmlns:a16="http://schemas.microsoft.com/office/drawing/2014/main" id="{F76920FC-DEFC-0BFB-3781-F74EA8E9C75E}"/>
              </a:ext>
            </a:extLst>
          </p:cNvPr>
          <p:cNvSpPr/>
          <p:nvPr/>
        </p:nvSpPr>
        <p:spPr bwMode="auto">
          <a:xfrm>
            <a:off x="9336036" y="3068996"/>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b="1" dirty="0">
                <a:latin typeface="Arial Narrow" panose="020B0606020202030204" pitchFamily="34" charset="0"/>
              </a:rPr>
              <a:t>a =1</a:t>
            </a:r>
            <a:endParaRPr lang="ja-JP" altLang="en-US" b="1" dirty="0">
              <a:latin typeface="Arial Narrow" panose="020B0606020202030204" pitchFamily="34" charset="0"/>
            </a:endParaRPr>
          </a:p>
        </p:txBody>
      </p:sp>
      <p:sp>
        <p:nvSpPr>
          <p:cNvPr id="16" name="矢印: 右 15">
            <a:extLst>
              <a:ext uri="{FF2B5EF4-FFF2-40B4-BE49-F238E27FC236}">
                <a16:creationId xmlns:a16="http://schemas.microsoft.com/office/drawing/2014/main" id="{3FD636D5-F7C0-6AE9-4072-41DBAF27DB14}"/>
              </a:ext>
            </a:extLst>
          </p:cNvPr>
          <p:cNvSpPr/>
          <p:nvPr/>
        </p:nvSpPr>
        <p:spPr bwMode="auto">
          <a:xfrm rot="16200000">
            <a:off x="9381037" y="3564001"/>
            <a:ext cx="630007" cy="540006"/>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33357639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B6852A6-BCF1-A4F2-5CC4-17AB92C53E0F}"/>
              </a:ext>
            </a:extLst>
          </p:cNvPr>
          <p:cNvSpPr>
            <a:spLocks noGrp="1"/>
          </p:cNvSpPr>
          <p:nvPr>
            <p:ph type="title"/>
          </p:nvPr>
        </p:nvSpPr>
        <p:spPr/>
        <p:txBody>
          <a:bodyPr/>
          <a:lstStyle/>
          <a:p>
            <a:r>
              <a:rPr kumimoji="1" lang="ja-JP" altLang="en-US" dirty="0"/>
              <a:t>ダイジェストの作り方と，</a:t>
            </a:r>
            <a:r>
              <a:rPr kumimoji="1" lang="en-US" altLang="ja-JP" dirty="0" err="1"/>
              <a:t>RBias</a:t>
            </a:r>
            <a:r>
              <a:rPr kumimoji="1" lang="en-US" altLang="ja-JP" dirty="0"/>
              <a:t> </a:t>
            </a:r>
            <a:r>
              <a:rPr kumimoji="1" lang="ja-JP" altLang="en-US" dirty="0"/>
              <a:t>が効くコードの例</a:t>
            </a:r>
          </a:p>
        </p:txBody>
      </p:sp>
      <p:sp>
        <p:nvSpPr>
          <p:cNvPr id="3" name="テキスト プレースホルダー 2">
            <a:extLst>
              <a:ext uri="{FF2B5EF4-FFF2-40B4-BE49-F238E27FC236}">
                <a16:creationId xmlns:a16="http://schemas.microsoft.com/office/drawing/2014/main" id="{FE2460E2-423C-8C0E-4943-26E0E19906F2}"/>
              </a:ext>
            </a:extLst>
          </p:cNvPr>
          <p:cNvSpPr>
            <a:spLocks noGrp="1"/>
          </p:cNvSpPr>
          <p:nvPr>
            <p:ph type="body" sz="quarter" idx="10"/>
          </p:nvPr>
        </p:nvSpPr>
        <p:spPr>
          <a:xfrm>
            <a:off x="965943" y="5409022"/>
            <a:ext cx="10170113" cy="809702"/>
          </a:xfrm>
        </p:spPr>
        <p:txBody>
          <a:bodyPr/>
          <a:lstStyle/>
          <a:p>
            <a:pPr lvl="1"/>
            <a:r>
              <a:rPr lang="en-US" altLang="ja-JP" dirty="0"/>
              <a:t>INT </a:t>
            </a:r>
            <a:r>
              <a:rPr lang="ja-JP" altLang="en-US" dirty="0"/>
              <a:t>では </a:t>
            </a:r>
            <a:r>
              <a:rPr lang="en-US" altLang="ja-JP" dirty="0"/>
              <a:t>MSB/LSB </a:t>
            </a:r>
            <a:r>
              <a:rPr lang="ja-JP" altLang="en-US" dirty="0"/>
              <a:t>の連続 </a:t>
            </a:r>
            <a:r>
              <a:rPr lang="en-US" altLang="ja-JP" dirty="0"/>
              <a:t>0/1 </a:t>
            </a:r>
            <a:r>
              <a:rPr lang="ja-JP" altLang="en-US" dirty="0"/>
              <a:t>数や </a:t>
            </a:r>
            <a:r>
              <a:rPr lang="en-US" altLang="ja-JP" dirty="0"/>
              <a:t>LSB </a:t>
            </a:r>
            <a:r>
              <a:rPr lang="ja-JP" altLang="en-US" dirty="0"/>
              <a:t>自体，</a:t>
            </a:r>
            <a:r>
              <a:rPr lang="en-US" altLang="ja-JP" dirty="0"/>
              <a:t>FP </a:t>
            </a:r>
            <a:r>
              <a:rPr lang="ja-JP" altLang="en-US" dirty="0"/>
              <a:t>では符号と指数から</a:t>
            </a:r>
            <a:br>
              <a:rPr lang="en-US" altLang="ja-JP" dirty="0"/>
            </a:br>
            <a:r>
              <a:rPr lang="ja-JP" altLang="en-US" dirty="0"/>
              <a:t>汎化性があるダイジェストを作成し，ハッシュに使用</a:t>
            </a:r>
            <a:endParaRPr lang="en-US" altLang="ja-JP" dirty="0"/>
          </a:p>
          <a:p>
            <a:pPr lvl="1"/>
            <a:r>
              <a:rPr kumimoji="1" lang="ja-JP" altLang="en-US" dirty="0"/>
              <a:t>たとえばクイックソート末端でそろそろ再帰から戻るところなどを当てられる</a:t>
            </a:r>
            <a:endParaRPr kumimoji="1" lang="en-US" altLang="ja-JP" dirty="0"/>
          </a:p>
          <a:p>
            <a:pPr lvl="2"/>
            <a:r>
              <a:rPr lang="ja-JP" altLang="en-US" dirty="0"/>
              <a:t>変数 </a:t>
            </a:r>
            <a:r>
              <a:rPr lang="en-US" altLang="ja-JP" dirty="0"/>
              <a:t>n </a:t>
            </a:r>
            <a:r>
              <a:rPr lang="ja-JP" altLang="en-US" dirty="0"/>
              <a:t>が小さくなってくると，次のパターンが決まってくる</a:t>
            </a:r>
            <a:endParaRPr kumimoji="1" lang="ja-JP" altLang="en-US" dirty="0"/>
          </a:p>
        </p:txBody>
      </p:sp>
      <p:pic>
        <p:nvPicPr>
          <p:cNvPr id="7" name="図 6">
            <a:extLst>
              <a:ext uri="{FF2B5EF4-FFF2-40B4-BE49-F238E27FC236}">
                <a16:creationId xmlns:a16="http://schemas.microsoft.com/office/drawing/2014/main" id="{D71A0EA4-AADB-7556-AF1C-C07C94A8C567}"/>
              </a:ext>
            </a:extLst>
          </p:cNvPr>
          <p:cNvPicPr>
            <a:picLocks noChangeAspect="1"/>
          </p:cNvPicPr>
          <p:nvPr/>
        </p:nvPicPr>
        <p:blipFill>
          <a:blip r:embed="rId2"/>
          <a:stretch>
            <a:fillRect/>
          </a:stretch>
        </p:blipFill>
        <p:spPr>
          <a:xfrm>
            <a:off x="1775952" y="908972"/>
            <a:ext cx="8940547" cy="3870043"/>
          </a:xfrm>
          <a:prstGeom prst="rect">
            <a:avLst/>
          </a:prstGeom>
        </p:spPr>
      </p:pic>
    </p:spTree>
    <p:extLst>
      <p:ext uri="{BB962C8B-B14F-4D97-AF65-F5344CB8AC3E}">
        <p14:creationId xmlns:p14="http://schemas.microsoft.com/office/powerpoint/2010/main" val="27033243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F220F2AA-11A8-9ACC-2B7F-79606FAE85D2}"/>
              </a:ext>
            </a:extLst>
          </p:cNvPr>
          <p:cNvPicPr>
            <a:picLocks noChangeAspect="1"/>
          </p:cNvPicPr>
          <p:nvPr/>
        </p:nvPicPr>
        <p:blipFill>
          <a:blip r:embed="rId2"/>
          <a:stretch>
            <a:fillRect/>
          </a:stretch>
        </p:blipFill>
        <p:spPr>
          <a:xfrm>
            <a:off x="3215968" y="908972"/>
            <a:ext cx="5440731" cy="3330037"/>
          </a:xfrm>
          <a:prstGeom prst="rect">
            <a:avLst/>
          </a:prstGeom>
        </p:spPr>
      </p:pic>
      <p:sp>
        <p:nvSpPr>
          <p:cNvPr id="2" name="タイトル 1">
            <a:extLst>
              <a:ext uri="{FF2B5EF4-FFF2-40B4-BE49-F238E27FC236}">
                <a16:creationId xmlns:a16="http://schemas.microsoft.com/office/drawing/2014/main" id="{7A44A2B6-4E4C-56DF-2A23-F372002C7441}"/>
              </a:ext>
            </a:extLst>
          </p:cNvPr>
          <p:cNvSpPr>
            <a:spLocks noGrp="1"/>
          </p:cNvSpPr>
          <p:nvPr>
            <p:ph type="title"/>
          </p:nvPr>
        </p:nvSpPr>
        <p:spPr/>
        <p:txBody>
          <a:bodyPr/>
          <a:lstStyle/>
          <a:p>
            <a:r>
              <a:rPr kumimoji="1" lang="ja-JP" altLang="en-US" dirty="0"/>
              <a:t>相関を抽出する機構</a:t>
            </a:r>
          </a:p>
        </p:txBody>
      </p:sp>
      <p:sp>
        <p:nvSpPr>
          <p:cNvPr id="3" name="テキスト プレースホルダー 2">
            <a:extLst>
              <a:ext uri="{FF2B5EF4-FFF2-40B4-BE49-F238E27FC236}">
                <a16:creationId xmlns:a16="http://schemas.microsoft.com/office/drawing/2014/main" id="{AF49465A-52CA-A45D-8D8F-32CFE9BABC5C}"/>
              </a:ext>
            </a:extLst>
          </p:cNvPr>
          <p:cNvSpPr>
            <a:spLocks noGrp="1"/>
          </p:cNvSpPr>
          <p:nvPr>
            <p:ph type="body" sz="quarter" idx="10"/>
          </p:nvPr>
        </p:nvSpPr>
        <p:spPr>
          <a:xfrm>
            <a:off x="605939" y="4059007"/>
            <a:ext cx="10980122" cy="2519721"/>
          </a:xfrm>
        </p:spPr>
        <p:txBody>
          <a:bodyPr/>
          <a:lstStyle/>
          <a:p>
            <a:pPr lvl="1"/>
            <a:r>
              <a:rPr kumimoji="1" lang="ja-JP" altLang="en-US" dirty="0"/>
              <a:t>課題：</a:t>
            </a:r>
            <a:endParaRPr kumimoji="1" lang="en-US" altLang="ja-JP" dirty="0"/>
          </a:p>
          <a:p>
            <a:pPr lvl="2"/>
            <a:r>
              <a:rPr kumimoji="1" lang="ja-JP" altLang="en-US" dirty="0"/>
              <a:t>基本的にはレジスタ値は分岐結果と無関係のノイズまみれで，相関を拾うのは大変</a:t>
            </a:r>
            <a:endParaRPr kumimoji="1" lang="en-US" altLang="ja-JP" dirty="0"/>
          </a:p>
          <a:p>
            <a:pPr lvl="2"/>
            <a:r>
              <a:rPr lang="ja-JP" altLang="en-US" dirty="0"/>
              <a:t>常時全レジスタを見張るのも厳しい</a:t>
            </a:r>
            <a:endParaRPr lang="en-US" altLang="ja-JP" dirty="0"/>
          </a:p>
          <a:p>
            <a:pPr lvl="1"/>
            <a:r>
              <a:rPr kumimoji="1" lang="ja-JP" altLang="en-US" dirty="0"/>
              <a:t>バンク化やランダムサンプリング，結果の増幅をいうまく使ってコンパクトに実現</a:t>
            </a:r>
            <a:endParaRPr kumimoji="1" lang="en-US" altLang="ja-JP" dirty="0"/>
          </a:p>
          <a:p>
            <a:pPr lvl="2"/>
            <a:r>
              <a:rPr kumimoji="1" lang="ja-JP" altLang="en-US" dirty="0"/>
              <a:t>「こう言うところに相関があるはずだ」を思いついたのは塩谷だが，</a:t>
            </a:r>
            <a:br>
              <a:rPr kumimoji="1" lang="en-US" altLang="ja-JP" dirty="0"/>
            </a:br>
            <a:r>
              <a:rPr kumimoji="1" lang="ja-JP" altLang="en-US" dirty="0"/>
              <a:t>実際に相関をとれる機構を作ったのは小泉くん（とてもえらい</a:t>
            </a:r>
            <a:endParaRPr kumimoji="1" lang="en-US" altLang="ja-JP" dirty="0"/>
          </a:p>
        </p:txBody>
      </p:sp>
    </p:spTree>
    <p:extLst>
      <p:ext uri="{BB962C8B-B14F-4D97-AF65-F5344CB8AC3E}">
        <p14:creationId xmlns:p14="http://schemas.microsoft.com/office/powerpoint/2010/main" val="9765689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2F05B63-F2EA-9EA1-493A-BA3A94D256E1}"/>
              </a:ext>
            </a:extLst>
          </p:cNvPr>
          <p:cNvSpPr>
            <a:spLocks noGrp="1"/>
          </p:cNvSpPr>
          <p:nvPr>
            <p:ph type="title"/>
          </p:nvPr>
        </p:nvSpPr>
        <p:spPr/>
        <p:txBody>
          <a:bodyPr/>
          <a:lstStyle/>
          <a:p>
            <a:r>
              <a:rPr kumimoji="1" lang="ja-JP" altLang="en-US" dirty="0"/>
              <a:t>予測ミスしたパスからの相関の抽出</a:t>
            </a:r>
          </a:p>
        </p:txBody>
      </p:sp>
      <p:sp>
        <p:nvSpPr>
          <p:cNvPr id="3" name="テキスト プレースホルダー 2">
            <a:extLst>
              <a:ext uri="{FF2B5EF4-FFF2-40B4-BE49-F238E27FC236}">
                <a16:creationId xmlns:a16="http://schemas.microsoft.com/office/drawing/2014/main" id="{D8853E39-FC28-A8A3-B1A0-B6E8EC4E7E37}"/>
              </a:ext>
            </a:extLst>
          </p:cNvPr>
          <p:cNvSpPr>
            <a:spLocks noGrp="1"/>
          </p:cNvSpPr>
          <p:nvPr>
            <p:ph type="body" sz="quarter" idx="10"/>
          </p:nvPr>
        </p:nvSpPr>
        <p:spPr>
          <a:xfrm>
            <a:off x="1415948" y="5409022"/>
            <a:ext cx="9270103" cy="1079705"/>
          </a:xfrm>
        </p:spPr>
        <p:txBody>
          <a:bodyPr/>
          <a:lstStyle/>
          <a:p>
            <a:pPr lvl="1"/>
            <a:r>
              <a:rPr kumimoji="1" lang="en-US" altLang="ja-JP" dirty="0"/>
              <a:t>Seq-</a:t>
            </a:r>
            <a:r>
              <a:rPr kumimoji="1" lang="en-US" altLang="ja-JP" dirty="0" err="1"/>
              <a:t>RBias</a:t>
            </a:r>
            <a:r>
              <a:rPr kumimoji="1" lang="ja-JP" altLang="en-US" dirty="0"/>
              <a:t>（発展型）では，予測ミスした実行パスの結果からも</a:t>
            </a:r>
            <a:br>
              <a:rPr kumimoji="1" lang="en-US" altLang="ja-JP" dirty="0"/>
            </a:br>
            <a:r>
              <a:rPr kumimoji="1" lang="ja-JP" altLang="en-US" dirty="0"/>
              <a:t>有用な情報を拾えるようになった</a:t>
            </a:r>
            <a:endParaRPr kumimoji="1" lang="en-US" altLang="ja-JP" dirty="0"/>
          </a:p>
          <a:p>
            <a:pPr lvl="1"/>
            <a:r>
              <a:rPr lang="ja-JP" altLang="en-US" dirty="0"/>
              <a:t>リングバッファに格納して消すのを忘れてたら勝手に拾って改善してた</a:t>
            </a:r>
            <a:endParaRPr kumimoji="1" lang="ja-JP" altLang="en-US" dirty="0"/>
          </a:p>
        </p:txBody>
      </p:sp>
      <p:pic>
        <p:nvPicPr>
          <p:cNvPr id="5" name="図 4">
            <a:extLst>
              <a:ext uri="{FF2B5EF4-FFF2-40B4-BE49-F238E27FC236}">
                <a16:creationId xmlns:a16="http://schemas.microsoft.com/office/drawing/2014/main" id="{6EFC3BD9-5089-4932-0A1D-3B7E589DEE53}"/>
              </a:ext>
            </a:extLst>
          </p:cNvPr>
          <p:cNvPicPr>
            <a:picLocks noChangeAspect="1"/>
          </p:cNvPicPr>
          <p:nvPr/>
        </p:nvPicPr>
        <p:blipFill>
          <a:blip r:embed="rId2"/>
          <a:stretch>
            <a:fillRect/>
          </a:stretch>
        </p:blipFill>
        <p:spPr>
          <a:xfrm>
            <a:off x="3395970" y="998973"/>
            <a:ext cx="4988384" cy="4140046"/>
          </a:xfrm>
          <a:prstGeom prst="rect">
            <a:avLst/>
          </a:prstGeom>
        </p:spPr>
      </p:pic>
    </p:spTree>
    <p:extLst>
      <p:ext uri="{BB962C8B-B14F-4D97-AF65-F5344CB8AC3E}">
        <p14:creationId xmlns:p14="http://schemas.microsoft.com/office/powerpoint/2010/main" val="2179082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24AD97-AEA6-C303-1343-DD8A557FEA23}"/>
              </a:ext>
            </a:extLst>
          </p:cNvPr>
          <p:cNvSpPr>
            <a:spLocks noGrp="1"/>
          </p:cNvSpPr>
          <p:nvPr>
            <p:ph type="title"/>
          </p:nvPr>
        </p:nvSpPr>
        <p:spPr/>
        <p:txBody>
          <a:bodyPr/>
          <a:lstStyle/>
          <a:p>
            <a:r>
              <a:rPr kumimoji="1" lang="ja-JP" altLang="en-US" dirty="0"/>
              <a:t>興味がある人向け</a:t>
            </a:r>
          </a:p>
        </p:txBody>
      </p:sp>
      <p:sp>
        <p:nvSpPr>
          <p:cNvPr id="3" name="テキスト プレースホルダー 2">
            <a:extLst>
              <a:ext uri="{FF2B5EF4-FFF2-40B4-BE49-F238E27FC236}">
                <a16:creationId xmlns:a16="http://schemas.microsoft.com/office/drawing/2014/main" id="{B09E2511-C1A8-9A8F-2AE9-AF6F77209543}"/>
              </a:ext>
            </a:extLst>
          </p:cNvPr>
          <p:cNvSpPr>
            <a:spLocks noGrp="1"/>
          </p:cNvSpPr>
          <p:nvPr>
            <p:ph type="body" sz="quarter" idx="10"/>
          </p:nvPr>
        </p:nvSpPr>
        <p:spPr>
          <a:xfrm>
            <a:off x="1055944" y="3879005"/>
            <a:ext cx="9900110" cy="2339719"/>
          </a:xfrm>
        </p:spPr>
        <p:txBody>
          <a:bodyPr/>
          <a:lstStyle/>
          <a:p>
            <a:pPr lvl="1"/>
            <a:r>
              <a:rPr lang="en-US" altLang="ja-JP" sz="1800" dirty="0">
                <a:latin typeface="Meiryo" panose="020B0604030504040204" pitchFamily="50" charset="-128"/>
                <a:ea typeface="Meiryo" panose="020B0604030504040204" pitchFamily="50" charset="-128"/>
              </a:rPr>
              <a:t>CBP-2025</a:t>
            </a:r>
            <a:r>
              <a:rPr lang="ja-JP" altLang="en-US" sz="1800" dirty="0">
                <a:latin typeface="Meiryo" panose="020B0604030504040204" pitchFamily="50" charset="-128"/>
                <a:ea typeface="Meiryo" panose="020B0604030504040204" pitchFamily="50" charset="-128"/>
              </a:rPr>
              <a:t>：</a:t>
            </a:r>
            <a:r>
              <a:rPr lang="en-US" altLang="ja-JP" sz="1800" dirty="0">
                <a:solidFill>
                  <a:srgbClr val="000000"/>
                </a:solidFill>
                <a:latin typeface="Meiryo" panose="020B0604030504040204" pitchFamily="50" charset="-128"/>
                <a:ea typeface="Meiryo" panose="020B0604030504040204" pitchFamily="50" charset="-128"/>
                <a:hlinkClick r:id="rId2"/>
              </a:rPr>
              <a:t>https://ericrotenberg.wordpress.ncsu.edu/cbp2025/</a:t>
            </a:r>
            <a:endParaRPr lang="en-US" altLang="ja-JP" sz="1800" dirty="0">
              <a:latin typeface="Meiryo" panose="020B0604030504040204" pitchFamily="50" charset="-128"/>
              <a:ea typeface="Meiryo" panose="020B0604030504040204" pitchFamily="50" charset="-128"/>
            </a:endParaRPr>
          </a:p>
          <a:p>
            <a:pPr lvl="2"/>
            <a:r>
              <a:rPr lang="ja-JP" altLang="en-US" sz="1800" dirty="0">
                <a:latin typeface="Meiryo" panose="020B0604030504040204" pitchFamily="50" charset="-128"/>
                <a:ea typeface="Meiryo" panose="020B0604030504040204" pitchFamily="50" charset="-128"/>
              </a:rPr>
              <a:t>去年久々に開催，こっちの方がとっつきがよい</a:t>
            </a:r>
            <a:br>
              <a:rPr lang="en-US" altLang="ja-JP" sz="1800" dirty="0">
                <a:latin typeface="Meiryo" panose="020B0604030504040204" pitchFamily="50" charset="-128"/>
                <a:ea typeface="Meiryo" panose="020B0604030504040204" pitchFamily="50" charset="-128"/>
              </a:rPr>
            </a:br>
            <a:endParaRPr lang="en-US" altLang="ja-JP" sz="1800" dirty="0">
              <a:latin typeface="Meiryo" panose="020B0604030504040204" pitchFamily="50" charset="-128"/>
              <a:ea typeface="Meiryo" panose="020B0604030504040204" pitchFamily="50" charset="-128"/>
            </a:endParaRPr>
          </a:p>
          <a:p>
            <a:pPr lvl="1"/>
            <a:r>
              <a:rPr lang="en-US" altLang="ja-JP" sz="1800" dirty="0"/>
              <a:t>CBP-NG (2026)</a:t>
            </a:r>
            <a:r>
              <a:rPr lang="ja-JP" altLang="en-US" sz="1800" dirty="0"/>
              <a:t>：</a:t>
            </a:r>
            <a:r>
              <a:rPr lang="en-US" altLang="ja-JP" sz="1800" dirty="0">
                <a:solidFill>
                  <a:srgbClr val="000000"/>
                </a:solidFill>
                <a:latin typeface="Meiryo" panose="020B0604030504040204" pitchFamily="50" charset="-128"/>
                <a:ea typeface="Meiryo" panose="020B0604030504040204" pitchFamily="50" charset="-128"/>
                <a:hlinkClick r:id="rId3"/>
              </a:rPr>
              <a:t> https://cbp-ng.bpchamp.com/</a:t>
            </a:r>
            <a:endParaRPr lang="en-US" altLang="ja-JP" sz="1800" dirty="0"/>
          </a:p>
          <a:p>
            <a:pPr lvl="2"/>
            <a:r>
              <a:rPr lang="ja-JP" altLang="en-US" sz="1800" dirty="0"/>
              <a:t>去年</a:t>
            </a:r>
            <a:r>
              <a:rPr lang="ja-JP" altLang="en-US" sz="1800" dirty="0">
                <a:latin typeface="Meiryo" panose="020B0604030504040204" pitchFamily="50" charset="-128"/>
                <a:ea typeface="Meiryo" panose="020B0604030504040204" pitchFamily="50" charset="-128"/>
              </a:rPr>
              <a:t>久々に</a:t>
            </a:r>
            <a:r>
              <a:rPr lang="ja-JP" altLang="en-US" sz="1800" dirty="0"/>
              <a:t>やったら盛り上がったからか，今年も開催予定</a:t>
            </a:r>
            <a:endParaRPr lang="en-US" altLang="ja-JP" sz="1800" dirty="0"/>
          </a:p>
          <a:p>
            <a:pPr lvl="2"/>
            <a:r>
              <a:rPr lang="ja-JP" altLang="en-US" sz="1800" dirty="0"/>
              <a:t>回路レベルの事を考慮が入るなど，伝統的なものから大幅にルールを変更</a:t>
            </a:r>
            <a:br>
              <a:rPr lang="en-US" altLang="ja-JP" sz="1800" dirty="0"/>
            </a:br>
            <a:endParaRPr lang="en-US" altLang="ja-JP" sz="1800" dirty="0"/>
          </a:p>
          <a:p>
            <a:pPr lvl="1"/>
            <a:r>
              <a:rPr kumimoji="1" lang="ja-JP" altLang="en-US" sz="1800" dirty="0"/>
              <a:t>各種アルゴリズムを評価するシミュレータや入力データ</a:t>
            </a:r>
            <a:r>
              <a:rPr lang="ja-JP" altLang="en-US" sz="1800" dirty="0"/>
              <a:t>などを配布</a:t>
            </a:r>
            <a:endParaRPr kumimoji="1" lang="ja-JP" altLang="en-US" sz="1800" dirty="0"/>
          </a:p>
        </p:txBody>
      </p:sp>
      <p:pic>
        <p:nvPicPr>
          <p:cNvPr id="5" name="図 4">
            <a:extLst>
              <a:ext uri="{FF2B5EF4-FFF2-40B4-BE49-F238E27FC236}">
                <a16:creationId xmlns:a16="http://schemas.microsoft.com/office/drawing/2014/main" id="{14864850-2578-4786-E8B5-A3965088B93F}"/>
              </a:ext>
            </a:extLst>
          </p:cNvPr>
          <p:cNvPicPr>
            <a:picLocks noChangeAspect="1"/>
          </p:cNvPicPr>
          <p:nvPr/>
        </p:nvPicPr>
        <p:blipFill>
          <a:blip r:embed="rId4"/>
          <a:stretch>
            <a:fillRect/>
          </a:stretch>
        </p:blipFill>
        <p:spPr>
          <a:xfrm>
            <a:off x="2608445" y="1088974"/>
            <a:ext cx="6501721" cy="2070023"/>
          </a:xfrm>
          <a:prstGeom prst="rect">
            <a:avLst/>
          </a:prstGeom>
        </p:spPr>
      </p:pic>
    </p:spTree>
    <p:extLst>
      <p:ext uri="{BB962C8B-B14F-4D97-AF65-F5344CB8AC3E}">
        <p14:creationId xmlns:p14="http://schemas.microsoft.com/office/powerpoint/2010/main" val="9880038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45533A0-38A4-FBC8-A5B1-068E5E6508AD}"/>
              </a:ext>
            </a:extLst>
          </p:cNvPr>
          <p:cNvSpPr>
            <a:spLocks noGrp="1"/>
          </p:cNvSpPr>
          <p:nvPr>
            <p:ph type="title"/>
          </p:nvPr>
        </p:nvSpPr>
        <p:spPr/>
        <p:txBody>
          <a:bodyPr/>
          <a:lstStyle/>
          <a:p>
            <a:r>
              <a:rPr kumimoji="1" lang="en-US" altLang="ja-JP" dirty="0"/>
              <a:t>TAGE </a:t>
            </a:r>
            <a:r>
              <a:rPr kumimoji="1" lang="ja-JP" altLang="en-US"/>
              <a:t>の詳細と参考</a:t>
            </a:r>
            <a:endParaRPr kumimoji="1" lang="ja-JP" altLang="en-US" dirty="0"/>
          </a:p>
        </p:txBody>
      </p:sp>
      <p:sp>
        <p:nvSpPr>
          <p:cNvPr id="3" name="テキスト プレースホルダー 2">
            <a:extLst>
              <a:ext uri="{FF2B5EF4-FFF2-40B4-BE49-F238E27FC236}">
                <a16:creationId xmlns:a16="http://schemas.microsoft.com/office/drawing/2014/main" id="{46D08392-5F20-5C45-A1B6-4E5D1533FFD8}"/>
              </a:ext>
            </a:extLst>
          </p:cNvPr>
          <p:cNvSpPr>
            <a:spLocks noGrp="1"/>
          </p:cNvSpPr>
          <p:nvPr>
            <p:ph type="body" sz="quarter" idx="10"/>
          </p:nvPr>
        </p:nvSpPr>
        <p:spPr>
          <a:xfrm>
            <a:off x="1055944" y="1088974"/>
            <a:ext cx="9450105" cy="5219751"/>
          </a:xfrm>
        </p:spPr>
        <p:txBody>
          <a:bodyPr/>
          <a:lstStyle/>
          <a:p>
            <a:r>
              <a:rPr lang="ja-JP" altLang="en-US" dirty="0"/>
              <a:t>ここに書ききれない色々な話がまだかなりある</a:t>
            </a:r>
            <a:r>
              <a:rPr lang="en-US" altLang="ja-JP" dirty="0"/>
              <a:t>…</a:t>
            </a:r>
          </a:p>
          <a:p>
            <a:pPr lvl="1"/>
            <a:r>
              <a:rPr lang="ja-JP" altLang="en-US" dirty="0"/>
              <a:t>基本的なテーブルの学習順序</a:t>
            </a:r>
            <a:endParaRPr lang="en-US" altLang="ja-JP" dirty="0"/>
          </a:p>
          <a:p>
            <a:pPr lvl="1"/>
            <a:r>
              <a:rPr lang="en-US" altLang="ja-JP" dirty="0"/>
              <a:t>U-bit </a:t>
            </a:r>
            <a:r>
              <a:rPr lang="ja-JP" altLang="en-US" dirty="0"/>
              <a:t>を使った置き換え</a:t>
            </a:r>
            <a:endParaRPr lang="en-US" altLang="ja-JP" dirty="0"/>
          </a:p>
          <a:p>
            <a:pPr lvl="1"/>
            <a:r>
              <a:rPr lang="ja-JP" altLang="en-US" dirty="0"/>
              <a:t>最長履歴マッチと</a:t>
            </a:r>
            <a:r>
              <a:rPr lang="en-US" altLang="ja-JP" dirty="0"/>
              <a:t>2</a:t>
            </a:r>
            <a:r>
              <a:rPr lang="ja-JP" altLang="en-US" dirty="0"/>
              <a:t>番目のマッチの併用，そのための </a:t>
            </a:r>
            <a:r>
              <a:rPr lang="en-US" altLang="ja-JP" dirty="0"/>
              <a:t>meta </a:t>
            </a:r>
            <a:r>
              <a:rPr lang="ja-JP" altLang="en-US" dirty="0"/>
              <a:t>予測</a:t>
            </a:r>
            <a:endParaRPr lang="en-US" altLang="ja-JP" dirty="0"/>
          </a:p>
          <a:p>
            <a:pPr lvl="1"/>
            <a:r>
              <a:rPr lang="ja-JP" altLang="en-US" dirty="0"/>
              <a:t>超長履歴の高速な畳み込みの方法</a:t>
            </a:r>
            <a:endParaRPr lang="en-US" altLang="ja-JP" dirty="0"/>
          </a:p>
          <a:p>
            <a:pPr lvl="1"/>
            <a:r>
              <a:rPr lang="ja-JP" altLang="en-US" dirty="0"/>
              <a:t>複数分岐命令予測時の履歴の作り方やテーブルの読み方</a:t>
            </a:r>
            <a:endParaRPr lang="en-US" altLang="ja-JP" dirty="0"/>
          </a:p>
          <a:p>
            <a:r>
              <a:rPr lang="en-US" altLang="ja-JP" dirty="0"/>
              <a:t>TAGE: an engineering cookbook</a:t>
            </a:r>
          </a:p>
          <a:p>
            <a:pPr lvl="1"/>
            <a:r>
              <a:rPr lang="en-US" altLang="ja-JP" dirty="0">
                <a:hlinkClick r:id="rId2"/>
              </a:rPr>
              <a:t>https://hal.science/hal-04804900</a:t>
            </a:r>
            <a:endParaRPr lang="en-US" altLang="ja-JP" dirty="0"/>
          </a:p>
          <a:p>
            <a:pPr lvl="1"/>
            <a:r>
              <a:rPr kumimoji="1" lang="en-US" altLang="ja-JP" dirty="0"/>
              <a:t>Seznec </a:t>
            </a:r>
            <a:r>
              <a:rPr kumimoji="1" lang="ja-JP" altLang="en-US" dirty="0"/>
              <a:t>先生が，実際に作るならという観点で色々な技をまとめている</a:t>
            </a:r>
          </a:p>
        </p:txBody>
      </p:sp>
    </p:spTree>
    <p:extLst>
      <p:ext uri="{BB962C8B-B14F-4D97-AF65-F5344CB8AC3E}">
        <p14:creationId xmlns:p14="http://schemas.microsoft.com/office/powerpoint/2010/main" val="27167992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127762DD-0281-C3EA-2D3A-C3D3C0471507}"/>
              </a:ext>
            </a:extLst>
          </p:cNvPr>
          <p:cNvSpPr>
            <a:spLocks noGrp="1"/>
          </p:cNvSpPr>
          <p:nvPr>
            <p:ph type="title"/>
          </p:nvPr>
        </p:nvSpPr>
        <p:spPr/>
        <p:txBody>
          <a:bodyPr/>
          <a:lstStyle/>
          <a:p>
            <a:r>
              <a:rPr lang="ja-JP" altLang="en-US" dirty="0"/>
              <a:t>予測器とフェッチパイプライン</a:t>
            </a:r>
          </a:p>
        </p:txBody>
      </p:sp>
    </p:spTree>
    <p:extLst>
      <p:ext uri="{BB962C8B-B14F-4D97-AF65-F5344CB8AC3E}">
        <p14:creationId xmlns:p14="http://schemas.microsoft.com/office/powerpoint/2010/main" val="307679868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分岐予測器の全体構造</a:t>
            </a:r>
            <a:endParaRPr kumimoji="1" lang="ja-JP" altLang="en-US" dirty="0"/>
          </a:p>
        </p:txBody>
      </p:sp>
      <p:sp>
        <p:nvSpPr>
          <p:cNvPr id="3" name="テキスト プレースホルダー 2"/>
          <p:cNvSpPr>
            <a:spLocks noGrp="1"/>
          </p:cNvSpPr>
          <p:nvPr>
            <p:ph type="body" sz="quarter" idx="10"/>
          </p:nvPr>
        </p:nvSpPr>
        <p:spPr>
          <a:xfrm>
            <a:off x="2135956" y="1628981"/>
            <a:ext cx="8280092" cy="1350015"/>
          </a:xfrm>
        </p:spPr>
        <p:txBody>
          <a:bodyPr anchor="t"/>
          <a:lstStyle/>
          <a:p>
            <a:r>
              <a:rPr kumimoji="1" lang="ja-JP" altLang="en-US" dirty="0"/>
              <a:t>分岐予測器全体の仕事：</a:t>
            </a:r>
            <a:endParaRPr kumimoji="1" lang="en-US" altLang="ja-JP" dirty="0"/>
          </a:p>
          <a:p>
            <a:pPr lvl="1"/>
            <a:r>
              <a:rPr kumimoji="1" lang="ja-JP" altLang="en-US" dirty="0"/>
              <a:t>現在の </a:t>
            </a:r>
            <a:r>
              <a:rPr kumimoji="1" lang="en-US" altLang="ja-JP" dirty="0"/>
              <a:t>PC </a:t>
            </a:r>
            <a:r>
              <a:rPr kumimoji="1" lang="ja-JP" altLang="en-US" dirty="0"/>
              <a:t>から次の </a:t>
            </a:r>
            <a:r>
              <a:rPr kumimoji="1" lang="en-US" altLang="ja-JP" dirty="0"/>
              <a:t>PC </a:t>
            </a:r>
            <a:r>
              <a:rPr kumimoji="1" lang="ja-JP" altLang="en-US" dirty="0"/>
              <a:t>を予測する</a:t>
            </a:r>
            <a:endParaRPr kumimoji="1" lang="en-US" altLang="ja-JP" dirty="0"/>
          </a:p>
          <a:p>
            <a:pPr lvl="1"/>
            <a:r>
              <a:rPr kumimoji="1" lang="ja-JP" altLang="en-US" dirty="0"/>
              <a:t>読み出された命令が実行されて次の </a:t>
            </a:r>
            <a:r>
              <a:rPr kumimoji="1" lang="en-US" altLang="ja-JP" dirty="0"/>
              <a:t>PC </a:t>
            </a:r>
            <a:r>
              <a:rPr kumimoji="1" lang="ja-JP" altLang="en-US" dirty="0"/>
              <a:t>が確定するのを待たずに</a:t>
            </a:r>
            <a:br>
              <a:rPr kumimoji="1" lang="en-US" altLang="ja-JP" dirty="0"/>
            </a:br>
            <a:r>
              <a:rPr kumimoji="1" lang="ja-JP" altLang="en-US" dirty="0"/>
              <a:t>次の </a:t>
            </a:r>
            <a:r>
              <a:rPr kumimoji="1" lang="en-US" altLang="ja-JP" dirty="0"/>
              <a:t>PC </a:t>
            </a:r>
            <a:r>
              <a:rPr kumimoji="1" lang="ja-JP" altLang="en-US" dirty="0"/>
              <a:t>を予測で決定する</a:t>
            </a:r>
          </a:p>
        </p:txBody>
      </p:sp>
      <p:sp>
        <p:nvSpPr>
          <p:cNvPr id="4" name="Rectangle 13">
            <a:extLst>
              <a:ext uri="{FF2B5EF4-FFF2-40B4-BE49-F238E27FC236}">
                <a16:creationId xmlns:a16="http://schemas.microsoft.com/office/drawing/2014/main" id="{6F3553EC-3B3D-4454-92A6-5F570F10C904}"/>
              </a:ext>
            </a:extLst>
          </p:cNvPr>
          <p:cNvSpPr>
            <a:spLocks noChangeArrowheads="1"/>
          </p:cNvSpPr>
          <p:nvPr/>
        </p:nvSpPr>
        <p:spPr bwMode="auto">
          <a:xfrm>
            <a:off x="1775953" y="4154125"/>
            <a:ext cx="720725" cy="360362"/>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tx1">
                    <a:lumMod val="75000"/>
                    <a:lumOff val="25000"/>
                  </a:schemeClr>
                </a:solidFill>
                <a:latin typeface="+mn-ea"/>
                <a:ea typeface="+mn-ea"/>
              </a:rPr>
              <a:t>PC</a:t>
            </a:r>
            <a:endParaRPr lang="ja-JP" altLang="en-US" b="1" dirty="0">
              <a:solidFill>
                <a:schemeClr val="tx1">
                  <a:lumMod val="75000"/>
                  <a:lumOff val="25000"/>
                </a:schemeClr>
              </a:solidFill>
              <a:latin typeface="+mn-ea"/>
              <a:ea typeface="+mn-ea"/>
            </a:endParaRPr>
          </a:p>
        </p:txBody>
      </p:sp>
      <p:cxnSp>
        <p:nvCxnSpPr>
          <p:cNvPr id="5" name="直線矢印コネクタ 4">
            <a:extLst>
              <a:ext uri="{FF2B5EF4-FFF2-40B4-BE49-F238E27FC236}">
                <a16:creationId xmlns:a16="http://schemas.microsoft.com/office/drawing/2014/main" id="{52359309-6823-42AD-A91D-F3B7B4D5954B}"/>
              </a:ext>
            </a:extLst>
          </p:cNvPr>
          <p:cNvCxnSpPr>
            <a:cxnSpLocks/>
            <a:stCxn id="14" idx="0"/>
            <a:endCxn id="4" idx="0"/>
          </p:cNvCxnSpPr>
          <p:nvPr/>
        </p:nvCxnSpPr>
        <p:spPr bwMode="auto">
          <a:xfrm>
            <a:off x="2135959" y="3609005"/>
            <a:ext cx="357" cy="545120"/>
          </a:xfrm>
          <a:prstGeom prst="straightConnector1">
            <a:avLst/>
          </a:prstGeom>
          <a:ln>
            <a:headEnd type="none" w="sm" len="sm"/>
            <a:tailEnd type="triangle" w="lg" len="lg"/>
          </a:ln>
        </p:spPr>
        <p:style>
          <a:lnRef idx="2">
            <a:schemeClr val="accent5"/>
          </a:lnRef>
          <a:fillRef idx="0">
            <a:schemeClr val="accent5"/>
          </a:fillRef>
          <a:effectRef idx="1">
            <a:schemeClr val="accent5"/>
          </a:effectRef>
          <a:fontRef idx="minor">
            <a:schemeClr val="tx1"/>
          </a:fontRef>
        </p:style>
      </p:cxnSp>
      <p:cxnSp>
        <p:nvCxnSpPr>
          <p:cNvPr id="6" name="直線矢印コネクタ 5">
            <a:extLst>
              <a:ext uri="{FF2B5EF4-FFF2-40B4-BE49-F238E27FC236}">
                <a16:creationId xmlns:a16="http://schemas.microsoft.com/office/drawing/2014/main" id="{52359309-6823-42AD-A91D-F3B7B4D5954B}"/>
              </a:ext>
            </a:extLst>
          </p:cNvPr>
          <p:cNvCxnSpPr>
            <a:cxnSpLocks/>
          </p:cNvCxnSpPr>
          <p:nvPr/>
        </p:nvCxnSpPr>
        <p:spPr bwMode="auto">
          <a:xfrm>
            <a:off x="2495960" y="4329010"/>
            <a:ext cx="720008" cy="0"/>
          </a:xfrm>
          <a:prstGeom prst="straightConnector1">
            <a:avLst/>
          </a:prstGeom>
          <a:ln>
            <a:headEnd type="none" w="sm" len="sm"/>
            <a:tailEnd type="triangle" w="lg" len="lg"/>
          </a:ln>
        </p:spPr>
        <p:style>
          <a:lnRef idx="2">
            <a:schemeClr val="accent4"/>
          </a:lnRef>
          <a:fillRef idx="0">
            <a:schemeClr val="accent4"/>
          </a:fillRef>
          <a:effectRef idx="1">
            <a:schemeClr val="accent4"/>
          </a:effectRef>
          <a:fontRef idx="minor">
            <a:schemeClr val="tx1"/>
          </a:fontRef>
        </p:style>
      </p:cxnSp>
      <p:sp>
        <p:nvSpPr>
          <p:cNvPr id="7"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215968" y="5229020"/>
            <a:ext cx="1440016" cy="720008"/>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ja-JP" altLang="en-US" dirty="0">
                <a:latin typeface="+mn-ea"/>
                <a:ea typeface="+mn-ea"/>
              </a:rPr>
              <a:t>命令メモリ</a:t>
            </a:r>
          </a:p>
        </p:txBody>
      </p:sp>
      <p:cxnSp>
        <p:nvCxnSpPr>
          <p:cNvPr id="8" name="直線矢印コネクタ 7">
            <a:extLst>
              <a:ext uri="{FF2B5EF4-FFF2-40B4-BE49-F238E27FC236}">
                <a16:creationId xmlns:a16="http://schemas.microsoft.com/office/drawing/2014/main" id="{52359309-6823-42AD-A91D-F3B7B4D5954B}"/>
              </a:ext>
            </a:extLst>
          </p:cNvPr>
          <p:cNvCxnSpPr>
            <a:cxnSpLocks/>
          </p:cNvCxnSpPr>
          <p:nvPr/>
        </p:nvCxnSpPr>
        <p:spPr bwMode="auto">
          <a:xfrm>
            <a:off x="4655984" y="4329010"/>
            <a:ext cx="720008" cy="0"/>
          </a:xfrm>
          <a:prstGeom prst="straightConnector1">
            <a:avLst/>
          </a:prstGeom>
          <a:ln>
            <a:headEnd type="none" w="sm" len="sm"/>
            <a:tailEnd type="none" w="lg" len="lg"/>
          </a:ln>
        </p:spPr>
        <p:style>
          <a:lnRef idx="2">
            <a:schemeClr val="accent5"/>
          </a:lnRef>
          <a:fillRef idx="0">
            <a:schemeClr val="accent5"/>
          </a:fillRef>
          <a:effectRef idx="1">
            <a:schemeClr val="accent5"/>
          </a:effectRef>
          <a:fontRef idx="minor">
            <a:schemeClr val="tx1"/>
          </a:fontRef>
        </p:style>
      </p:cxnSp>
      <p:sp>
        <p:nvSpPr>
          <p:cNvPr id="11" name="Freeform 10">
            <a:extLst>
              <a:ext uri="{FF2B5EF4-FFF2-40B4-BE49-F238E27FC236}">
                <a16:creationId xmlns:a16="http://schemas.microsoft.com/office/drawing/2014/main" id="{594994CD-2E8A-4F58-A850-5DAC43A07B36}"/>
              </a:ext>
            </a:extLst>
          </p:cNvPr>
          <p:cNvSpPr>
            <a:spLocks/>
          </p:cNvSpPr>
          <p:nvPr/>
        </p:nvSpPr>
        <p:spPr bwMode="auto">
          <a:xfrm rot="16200000" flipV="1">
            <a:off x="2135954" y="4509013"/>
            <a:ext cx="1080012" cy="1080010"/>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triangle" w="lg" len="lg"/>
            <a:tailEnd type="none" w="med" len="med"/>
          </a:ln>
        </p:spPr>
        <p:style>
          <a:lnRef idx="2">
            <a:schemeClr val="accent4"/>
          </a:lnRef>
          <a:fillRef idx="0">
            <a:schemeClr val="accent4"/>
          </a:fillRef>
          <a:effectRef idx="1">
            <a:schemeClr val="accent4"/>
          </a:effectRef>
          <a:fontRef idx="minor">
            <a:schemeClr val="tx1"/>
          </a:fontRef>
        </p:style>
        <p:txBody>
          <a:bodyPr/>
          <a:lstStyle/>
          <a:p>
            <a:endParaRPr lang="ja-JP" altLang="en-US">
              <a:latin typeface="+mn-ea"/>
              <a:cs typeface="Times New Roman" pitchFamily="18" charset="0"/>
            </a:endParaRPr>
          </a:p>
        </p:txBody>
      </p:sp>
      <p:sp>
        <p:nvSpPr>
          <p:cNvPr id="12"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215968" y="3969006"/>
            <a:ext cx="1440016" cy="720008"/>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ja-JP" altLang="en-US" dirty="0">
                <a:latin typeface="+mn-ea"/>
                <a:ea typeface="+mn-ea"/>
              </a:rPr>
              <a:t>分岐予測器</a:t>
            </a:r>
          </a:p>
        </p:txBody>
      </p:sp>
      <p:sp>
        <p:nvSpPr>
          <p:cNvPr id="14" name="Freeform 10">
            <a:extLst>
              <a:ext uri="{FF2B5EF4-FFF2-40B4-BE49-F238E27FC236}">
                <a16:creationId xmlns:a16="http://schemas.microsoft.com/office/drawing/2014/main" id="{594994CD-2E8A-4F58-A850-5DAC43A07B36}"/>
              </a:ext>
            </a:extLst>
          </p:cNvPr>
          <p:cNvSpPr>
            <a:spLocks/>
          </p:cNvSpPr>
          <p:nvPr/>
        </p:nvSpPr>
        <p:spPr bwMode="auto">
          <a:xfrm rot="5400000" flipV="1">
            <a:off x="3395971" y="2348992"/>
            <a:ext cx="720010" cy="324003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none" w="lg" len="lg"/>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a:latin typeface="+mn-ea"/>
              <a:cs typeface="Times New Roman" pitchFamily="18" charset="0"/>
            </a:endParaRPr>
          </a:p>
        </p:txBody>
      </p:sp>
      <p:cxnSp>
        <p:nvCxnSpPr>
          <p:cNvPr id="15" name="直線矢印コネクタ 14">
            <a:extLst>
              <a:ext uri="{FF2B5EF4-FFF2-40B4-BE49-F238E27FC236}">
                <a16:creationId xmlns:a16="http://schemas.microsoft.com/office/drawing/2014/main" id="{52359309-6823-42AD-A91D-F3B7B4D5954B}"/>
              </a:ext>
            </a:extLst>
          </p:cNvPr>
          <p:cNvCxnSpPr>
            <a:cxnSpLocks/>
          </p:cNvCxnSpPr>
          <p:nvPr/>
        </p:nvCxnSpPr>
        <p:spPr bwMode="auto">
          <a:xfrm>
            <a:off x="4655984" y="5589024"/>
            <a:ext cx="720008" cy="0"/>
          </a:xfrm>
          <a:prstGeom prst="straightConnector1">
            <a:avLst/>
          </a:prstGeom>
          <a:ln>
            <a:headEnd type="none" w="sm" len="sm"/>
            <a:tailEnd type="triangle" w="lg" len="lg"/>
          </a:ln>
        </p:spPr>
        <p:style>
          <a:lnRef idx="2">
            <a:schemeClr val="accent3"/>
          </a:lnRef>
          <a:fillRef idx="0">
            <a:schemeClr val="accent3"/>
          </a:fillRef>
          <a:effectRef idx="1">
            <a:schemeClr val="accent3"/>
          </a:effectRef>
          <a:fontRef idx="minor">
            <a:schemeClr val="tx1"/>
          </a:fontRef>
        </p:style>
      </p:cxnSp>
      <p:sp>
        <p:nvSpPr>
          <p:cNvPr id="16" name="Rectangle 133">
            <a:extLst>
              <a:ext uri="{FF2B5EF4-FFF2-40B4-BE49-F238E27FC236}">
                <a16:creationId xmlns:a16="http://schemas.microsoft.com/office/drawing/2014/main" id="{0031F1DA-9455-4239-A0EE-58244DDFC3AE}"/>
              </a:ext>
            </a:extLst>
          </p:cNvPr>
          <p:cNvSpPr>
            <a:spLocks noChangeArrowheads="1"/>
          </p:cNvSpPr>
          <p:nvPr/>
        </p:nvSpPr>
        <p:spPr bwMode="auto">
          <a:xfrm>
            <a:off x="5375992" y="3879006"/>
            <a:ext cx="1260014" cy="450005"/>
          </a:xfrm>
          <a:prstGeom prst="rect">
            <a:avLst/>
          </a:prstGeom>
          <a:noFill/>
          <a:ln w="12700">
            <a:noFill/>
            <a:miter lim="800000"/>
            <a:headEnd/>
            <a:tailEnd/>
          </a:ln>
          <a:effectLst/>
        </p:spPr>
        <p:txBody>
          <a:bodyPr wrap="none" lIns="93600" tIns="46800" rIns="93600" bIns="46800" anchor="t"/>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ja-JP" altLang="en-US" dirty="0">
                <a:solidFill>
                  <a:schemeClr val="tx1">
                    <a:lumMod val="75000"/>
                    <a:lumOff val="25000"/>
                  </a:schemeClr>
                </a:solidFill>
                <a:latin typeface="+mn-ea"/>
                <a:ea typeface="+mn-ea"/>
              </a:rPr>
              <a:t>予測された次の </a:t>
            </a:r>
            <a:r>
              <a:rPr lang="en-US" altLang="ja-JP" dirty="0">
                <a:solidFill>
                  <a:schemeClr val="tx1">
                    <a:lumMod val="75000"/>
                    <a:lumOff val="25000"/>
                  </a:schemeClr>
                </a:solidFill>
                <a:latin typeface="+mn-ea"/>
                <a:ea typeface="+mn-ea"/>
              </a:rPr>
              <a:t>PC </a:t>
            </a:r>
          </a:p>
        </p:txBody>
      </p:sp>
      <p:sp>
        <p:nvSpPr>
          <p:cNvPr id="17" name="Rectangle 133">
            <a:extLst>
              <a:ext uri="{FF2B5EF4-FFF2-40B4-BE49-F238E27FC236}">
                <a16:creationId xmlns:a16="http://schemas.microsoft.com/office/drawing/2014/main" id="{0031F1DA-9455-4239-A0EE-58244DDFC3AE}"/>
              </a:ext>
            </a:extLst>
          </p:cNvPr>
          <p:cNvSpPr>
            <a:spLocks noChangeArrowheads="1"/>
          </p:cNvSpPr>
          <p:nvPr/>
        </p:nvSpPr>
        <p:spPr bwMode="auto">
          <a:xfrm>
            <a:off x="5375992" y="5409023"/>
            <a:ext cx="1260014" cy="450005"/>
          </a:xfrm>
          <a:prstGeom prst="rect">
            <a:avLst/>
          </a:prstGeom>
          <a:noFill/>
          <a:ln w="12700">
            <a:noFill/>
            <a:miter lim="800000"/>
            <a:headEnd/>
            <a:tailEnd/>
          </a:ln>
          <a:effectLst/>
        </p:spPr>
        <p:txBody>
          <a:bodyPr wrap="none" lIns="93600" tIns="46800" rIns="93600" bIns="46800" anchor="t"/>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ja-JP" altLang="en-US" dirty="0">
                <a:solidFill>
                  <a:schemeClr val="tx1">
                    <a:lumMod val="75000"/>
                    <a:lumOff val="25000"/>
                  </a:schemeClr>
                </a:solidFill>
                <a:latin typeface="+mn-ea"/>
                <a:ea typeface="+mn-ea"/>
              </a:rPr>
              <a:t>命令</a:t>
            </a:r>
            <a:endParaRPr lang="en-US" altLang="ja-JP" dirty="0">
              <a:solidFill>
                <a:schemeClr val="tx1">
                  <a:lumMod val="75000"/>
                  <a:lumOff val="25000"/>
                </a:schemeClr>
              </a:solidFill>
              <a:latin typeface="+mn-ea"/>
              <a:ea typeface="+mn-ea"/>
            </a:endParaRPr>
          </a:p>
        </p:txBody>
      </p:sp>
      <p:cxnSp>
        <p:nvCxnSpPr>
          <p:cNvPr id="20" name="直線矢印コネクタ 19">
            <a:extLst>
              <a:ext uri="{FF2B5EF4-FFF2-40B4-BE49-F238E27FC236}">
                <a16:creationId xmlns:a16="http://schemas.microsoft.com/office/drawing/2014/main" id="{52359309-6823-42AD-A91D-F3B7B4D5954B}"/>
              </a:ext>
            </a:extLst>
          </p:cNvPr>
          <p:cNvCxnSpPr>
            <a:cxnSpLocks/>
          </p:cNvCxnSpPr>
          <p:nvPr/>
        </p:nvCxnSpPr>
        <p:spPr bwMode="auto">
          <a:xfrm>
            <a:off x="6096001" y="5589024"/>
            <a:ext cx="630007" cy="0"/>
          </a:xfrm>
          <a:prstGeom prst="straightConnector1">
            <a:avLst/>
          </a:prstGeom>
          <a:ln>
            <a:headEnd type="none" w="sm" len="sm"/>
            <a:tailEnd type="triangle" w="lg" len="lg"/>
          </a:ln>
        </p:spPr>
        <p:style>
          <a:lnRef idx="2">
            <a:schemeClr val="accent3"/>
          </a:lnRef>
          <a:fillRef idx="0">
            <a:schemeClr val="accent3"/>
          </a:fillRef>
          <a:effectRef idx="1">
            <a:schemeClr val="accent3"/>
          </a:effectRef>
          <a:fontRef idx="minor">
            <a:schemeClr val="tx1"/>
          </a:fontRef>
        </p:style>
      </p:cxnSp>
      <p:sp>
        <p:nvSpPr>
          <p:cNvPr id="21" name="Rectangle 133">
            <a:extLst>
              <a:ext uri="{FF2B5EF4-FFF2-40B4-BE49-F238E27FC236}">
                <a16:creationId xmlns:a16="http://schemas.microsoft.com/office/drawing/2014/main" id="{0031F1DA-9455-4239-A0EE-58244DDFC3AE}"/>
              </a:ext>
            </a:extLst>
          </p:cNvPr>
          <p:cNvSpPr>
            <a:spLocks noChangeArrowheads="1"/>
          </p:cNvSpPr>
          <p:nvPr/>
        </p:nvSpPr>
        <p:spPr bwMode="auto">
          <a:xfrm>
            <a:off x="9336037" y="5409023"/>
            <a:ext cx="1061961" cy="450005"/>
          </a:xfrm>
          <a:prstGeom prst="rect">
            <a:avLst/>
          </a:prstGeom>
          <a:noFill/>
          <a:ln w="12700">
            <a:noFill/>
            <a:miter lim="800000"/>
            <a:headEnd/>
            <a:tailEnd/>
          </a:ln>
          <a:effectLst/>
        </p:spPr>
        <p:txBody>
          <a:bodyPr wrap="none" lIns="93600" tIns="46800" rIns="93600" bIns="46800" anchor="t"/>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ja-JP" altLang="en-US" dirty="0">
                <a:solidFill>
                  <a:schemeClr val="tx1">
                    <a:lumMod val="75000"/>
                    <a:lumOff val="25000"/>
                  </a:schemeClr>
                </a:solidFill>
                <a:latin typeface="+mn-ea"/>
                <a:ea typeface="+mn-ea"/>
              </a:rPr>
              <a:t>次の</a:t>
            </a:r>
            <a:r>
              <a:rPr lang="en-US" altLang="ja-JP" dirty="0">
                <a:solidFill>
                  <a:schemeClr val="tx1">
                    <a:lumMod val="75000"/>
                    <a:lumOff val="25000"/>
                  </a:schemeClr>
                </a:solidFill>
                <a:latin typeface="+mn-ea"/>
                <a:ea typeface="+mn-ea"/>
              </a:rPr>
              <a:t>PC</a:t>
            </a:r>
          </a:p>
        </p:txBody>
      </p:sp>
      <p:cxnSp>
        <p:nvCxnSpPr>
          <p:cNvPr id="23" name="直線矢印コネクタ 22">
            <a:extLst>
              <a:ext uri="{FF2B5EF4-FFF2-40B4-BE49-F238E27FC236}">
                <a16:creationId xmlns:a16="http://schemas.microsoft.com/office/drawing/2014/main" id="{52359309-6823-42AD-A91D-F3B7B4D5954B}"/>
              </a:ext>
            </a:extLst>
          </p:cNvPr>
          <p:cNvCxnSpPr>
            <a:cxnSpLocks/>
          </p:cNvCxnSpPr>
          <p:nvPr/>
        </p:nvCxnSpPr>
        <p:spPr bwMode="auto">
          <a:xfrm>
            <a:off x="8706030" y="5589024"/>
            <a:ext cx="630007" cy="0"/>
          </a:xfrm>
          <a:prstGeom prst="straightConnector1">
            <a:avLst/>
          </a:prstGeom>
          <a:ln>
            <a:headEnd type="none" w="sm" len="sm"/>
            <a:tailEnd type="triangle" w="lg" len="lg"/>
          </a:ln>
        </p:spPr>
        <p:style>
          <a:lnRef idx="2">
            <a:schemeClr val="accent3"/>
          </a:lnRef>
          <a:fillRef idx="0">
            <a:schemeClr val="accent3"/>
          </a:fillRef>
          <a:effectRef idx="1">
            <a:schemeClr val="accent3"/>
          </a:effectRef>
          <a:fontRef idx="minor">
            <a:schemeClr val="tx1"/>
          </a:fontRef>
        </p:style>
      </p:cxnSp>
      <p:sp>
        <p:nvSpPr>
          <p:cNvPr id="24" name="Rectangle 133">
            <a:extLst>
              <a:ext uri="{FF2B5EF4-FFF2-40B4-BE49-F238E27FC236}">
                <a16:creationId xmlns:a16="http://schemas.microsoft.com/office/drawing/2014/main" id="{0031F1DA-9455-4239-A0EE-58244DDFC3AE}"/>
              </a:ext>
            </a:extLst>
          </p:cNvPr>
          <p:cNvSpPr>
            <a:spLocks noChangeArrowheads="1"/>
          </p:cNvSpPr>
          <p:nvPr/>
        </p:nvSpPr>
        <p:spPr bwMode="auto">
          <a:xfrm>
            <a:off x="6636006" y="5409023"/>
            <a:ext cx="1260014" cy="450005"/>
          </a:xfrm>
          <a:prstGeom prst="rect">
            <a:avLst/>
          </a:prstGeom>
          <a:noFill/>
          <a:ln w="12700">
            <a:noFill/>
            <a:miter lim="800000"/>
            <a:headEnd/>
            <a:tailEnd/>
          </a:ln>
          <a:effectLst/>
        </p:spPr>
        <p:txBody>
          <a:bodyPr wrap="none" lIns="93600" tIns="46800" rIns="93600" bIns="46800" anchor="t"/>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ja-JP" altLang="en-US" dirty="0">
                <a:solidFill>
                  <a:schemeClr val="tx1">
                    <a:lumMod val="75000"/>
                    <a:lumOff val="25000"/>
                  </a:schemeClr>
                </a:solidFill>
                <a:latin typeface="+mn-ea"/>
                <a:ea typeface="+mn-ea"/>
              </a:rPr>
              <a:t>（パイプライン）</a:t>
            </a:r>
            <a:endParaRPr lang="en-US" altLang="ja-JP" dirty="0">
              <a:solidFill>
                <a:schemeClr val="tx1">
                  <a:lumMod val="75000"/>
                  <a:lumOff val="25000"/>
                </a:schemeClr>
              </a:solidFill>
              <a:latin typeface="+mn-ea"/>
              <a:ea typeface="+mn-ea"/>
            </a:endParaRPr>
          </a:p>
        </p:txBody>
      </p:sp>
    </p:spTree>
    <p:extLst>
      <p:ext uri="{BB962C8B-B14F-4D97-AF65-F5344CB8AC3E}">
        <p14:creationId xmlns:p14="http://schemas.microsoft.com/office/powerpoint/2010/main" val="34820739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09D2D3BB-831F-4607-8123-6BB98910D54A}"/>
              </a:ext>
            </a:extLst>
          </p:cNvPr>
          <p:cNvSpPr>
            <a:spLocks noGrp="1"/>
          </p:cNvSpPr>
          <p:nvPr>
            <p:ph type="title"/>
          </p:nvPr>
        </p:nvSpPr>
        <p:spPr/>
        <p:txBody>
          <a:bodyPr/>
          <a:lstStyle/>
          <a:p>
            <a:r>
              <a:rPr lang="ja-JP" altLang="en-US" dirty="0">
                <a:latin typeface="+mn-ea"/>
                <a:ea typeface="+mn-ea"/>
              </a:rPr>
              <a:t>分岐予測器の全体構造</a:t>
            </a:r>
          </a:p>
        </p:txBody>
      </p:sp>
      <p:sp>
        <p:nvSpPr>
          <p:cNvPr id="110" name="Rectangle 13">
            <a:extLst>
              <a:ext uri="{FF2B5EF4-FFF2-40B4-BE49-F238E27FC236}">
                <a16:creationId xmlns:a16="http://schemas.microsoft.com/office/drawing/2014/main" id="{6F3553EC-3B3D-4454-92A6-5F570F10C904}"/>
              </a:ext>
            </a:extLst>
          </p:cNvPr>
          <p:cNvSpPr>
            <a:spLocks noChangeArrowheads="1"/>
          </p:cNvSpPr>
          <p:nvPr/>
        </p:nvSpPr>
        <p:spPr bwMode="auto">
          <a:xfrm>
            <a:off x="2495961" y="1454095"/>
            <a:ext cx="720725" cy="360362"/>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tx1">
                    <a:lumMod val="75000"/>
                    <a:lumOff val="25000"/>
                  </a:schemeClr>
                </a:solidFill>
                <a:latin typeface="+mn-ea"/>
                <a:ea typeface="+mn-ea"/>
              </a:rPr>
              <a:t>PC</a:t>
            </a:r>
            <a:endParaRPr lang="ja-JP" altLang="en-US" b="1" dirty="0">
              <a:solidFill>
                <a:schemeClr val="tx1">
                  <a:lumMod val="75000"/>
                  <a:lumOff val="25000"/>
                </a:schemeClr>
              </a:solidFill>
              <a:latin typeface="+mn-ea"/>
              <a:ea typeface="+mn-ea"/>
            </a:endParaRPr>
          </a:p>
        </p:txBody>
      </p:sp>
      <p:sp>
        <p:nvSpPr>
          <p:cNvPr id="111" name="Freeform 10">
            <a:extLst>
              <a:ext uri="{FF2B5EF4-FFF2-40B4-BE49-F238E27FC236}">
                <a16:creationId xmlns:a16="http://schemas.microsoft.com/office/drawing/2014/main" id="{EB48C9DE-478E-4AAF-BBBA-4890D91B1B5B}"/>
              </a:ext>
            </a:extLst>
          </p:cNvPr>
          <p:cNvSpPr>
            <a:spLocks/>
          </p:cNvSpPr>
          <p:nvPr/>
        </p:nvSpPr>
        <p:spPr bwMode="auto">
          <a:xfrm rot="16200000" flipV="1">
            <a:off x="3305969" y="1358977"/>
            <a:ext cx="900010" cy="180002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triangle" w="lg" len="lg"/>
            <a:tailEnd type="none" w="med" len="med"/>
          </a:ln>
        </p:spPr>
        <p:style>
          <a:lnRef idx="2">
            <a:schemeClr val="accent4"/>
          </a:lnRef>
          <a:fillRef idx="0">
            <a:schemeClr val="accent4"/>
          </a:fillRef>
          <a:effectRef idx="1">
            <a:schemeClr val="accent4"/>
          </a:effectRef>
          <a:fontRef idx="minor">
            <a:schemeClr val="tx1"/>
          </a:fontRef>
        </p:style>
        <p:txBody>
          <a:bodyPr/>
          <a:lstStyle/>
          <a:p>
            <a:endParaRPr lang="ja-JP" altLang="en-US">
              <a:latin typeface="+mn-ea"/>
              <a:cs typeface="Times New Roman" pitchFamily="18" charset="0"/>
            </a:endParaRPr>
          </a:p>
        </p:txBody>
      </p:sp>
      <p:sp>
        <p:nvSpPr>
          <p:cNvPr id="112" name="Rectangle 154">
            <a:extLst>
              <a:ext uri="{FF2B5EF4-FFF2-40B4-BE49-F238E27FC236}">
                <a16:creationId xmlns:a16="http://schemas.microsoft.com/office/drawing/2014/main" id="{FC6C970C-6B8A-45ED-8C30-DD305B2E2B1E}"/>
              </a:ext>
            </a:extLst>
          </p:cNvPr>
          <p:cNvSpPr>
            <a:spLocks noChangeArrowheads="1"/>
          </p:cNvSpPr>
          <p:nvPr/>
        </p:nvSpPr>
        <p:spPr bwMode="auto">
          <a:xfrm>
            <a:off x="6816009" y="2258988"/>
            <a:ext cx="718369" cy="984893"/>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mn-ea"/>
              <a:ea typeface="+mn-ea"/>
            </a:endParaRPr>
          </a:p>
        </p:txBody>
      </p:sp>
      <p:sp>
        <p:nvSpPr>
          <p:cNvPr id="121" name="Rectangle 133">
            <a:extLst>
              <a:ext uri="{FF2B5EF4-FFF2-40B4-BE49-F238E27FC236}">
                <a16:creationId xmlns:a16="http://schemas.microsoft.com/office/drawing/2014/main" id="{994A97D3-93DB-41F6-8CF4-7FC1DB7B78F4}"/>
              </a:ext>
            </a:extLst>
          </p:cNvPr>
          <p:cNvSpPr>
            <a:spLocks noChangeArrowheads="1"/>
          </p:cNvSpPr>
          <p:nvPr/>
        </p:nvSpPr>
        <p:spPr bwMode="auto">
          <a:xfrm>
            <a:off x="6456005" y="2018745"/>
            <a:ext cx="719803" cy="240242"/>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ja-JP" altLang="en-US" dirty="0">
                <a:solidFill>
                  <a:schemeClr val="tx1">
                    <a:lumMod val="75000"/>
                    <a:lumOff val="25000"/>
                  </a:schemeClr>
                </a:solidFill>
                <a:latin typeface="+mn-ea"/>
                <a:ea typeface="+mn-ea"/>
              </a:rPr>
              <a:t>方向予測器</a:t>
            </a:r>
            <a:endParaRPr lang="en-US" altLang="ja-JP" dirty="0">
              <a:solidFill>
                <a:schemeClr val="tx1">
                  <a:lumMod val="75000"/>
                  <a:lumOff val="25000"/>
                </a:schemeClr>
              </a:solidFill>
              <a:latin typeface="+mn-ea"/>
              <a:ea typeface="+mn-ea"/>
            </a:endParaRPr>
          </a:p>
        </p:txBody>
      </p:sp>
      <p:cxnSp>
        <p:nvCxnSpPr>
          <p:cNvPr id="126" name="直線矢印コネクタ 125">
            <a:extLst>
              <a:ext uri="{FF2B5EF4-FFF2-40B4-BE49-F238E27FC236}">
                <a16:creationId xmlns:a16="http://schemas.microsoft.com/office/drawing/2014/main" id="{6720ADC0-FF92-4C17-8CCD-4C47695473C9}"/>
              </a:ext>
            </a:extLst>
          </p:cNvPr>
          <p:cNvCxnSpPr/>
          <p:nvPr/>
        </p:nvCxnSpPr>
        <p:spPr bwMode="auto">
          <a:xfrm>
            <a:off x="5195990" y="3248999"/>
            <a:ext cx="0" cy="450005"/>
          </a:xfrm>
          <a:prstGeom prst="straightConnector1">
            <a:avLst/>
          </a:prstGeom>
          <a:ln>
            <a:headEnd type="none" w="sm" len="sm"/>
            <a:tailEnd type="none" w="lg" len="lg"/>
          </a:ln>
        </p:spPr>
        <p:style>
          <a:lnRef idx="2">
            <a:schemeClr val="accent5"/>
          </a:lnRef>
          <a:fillRef idx="0">
            <a:schemeClr val="accent5"/>
          </a:fillRef>
          <a:effectRef idx="1">
            <a:schemeClr val="accent5"/>
          </a:effectRef>
          <a:fontRef idx="minor">
            <a:schemeClr val="tx1"/>
          </a:fontRef>
        </p:style>
      </p:cxnSp>
      <p:cxnSp>
        <p:nvCxnSpPr>
          <p:cNvPr id="134" name="直線矢印コネクタ 133">
            <a:extLst>
              <a:ext uri="{FF2B5EF4-FFF2-40B4-BE49-F238E27FC236}">
                <a16:creationId xmlns:a16="http://schemas.microsoft.com/office/drawing/2014/main" id="{7ABC4675-0E42-42E0-8BA9-621092B9AB07}"/>
              </a:ext>
            </a:extLst>
          </p:cNvPr>
          <p:cNvCxnSpPr/>
          <p:nvPr/>
        </p:nvCxnSpPr>
        <p:spPr bwMode="auto">
          <a:xfrm>
            <a:off x="7176012" y="3248999"/>
            <a:ext cx="0" cy="450005"/>
          </a:xfrm>
          <a:prstGeom prst="straightConnector1">
            <a:avLst/>
          </a:prstGeom>
          <a:ln>
            <a:headEnd type="none" w="sm" len="sm"/>
            <a:tailEnd type="none" w="lg" len="lg"/>
          </a:ln>
        </p:spPr>
        <p:style>
          <a:lnRef idx="2">
            <a:schemeClr val="accent5"/>
          </a:lnRef>
          <a:fillRef idx="0">
            <a:schemeClr val="accent5"/>
          </a:fillRef>
          <a:effectRef idx="1">
            <a:schemeClr val="accent5"/>
          </a:effectRef>
          <a:fontRef idx="minor">
            <a:schemeClr val="tx1"/>
          </a:fontRef>
        </p:style>
      </p:cxnSp>
      <p:sp>
        <p:nvSpPr>
          <p:cNvPr id="135" name="Freeform 10">
            <a:extLst>
              <a:ext uri="{FF2B5EF4-FFF2-40B4-BE49-F238E27FC236}">
                <a16:creationId xmlns:a16="http://schemas.microsoft.com/office/drawing/2014/main" id="{2D7F3348-C62D-4BE6-8124-759D7284CC1D}"/>
              </a:ext>
            </a:extLst>
          </p:cNvPr>
          <p:cNvSpPr>
            <a:spLocks/>
          </p:cNvSpPr>
          <p:nvPr/>
        </p:nvSpPr>
        <p:spPr bwMode="auto">
          <a:xfrm rot="10800000">
            <a:off x="3215966" y="1628980"/>
            <a:ext cx="2880033" cy="1080012"/>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none" w="lg" len="lg"/>
            <a:tailEnd type="none" w="med" len="med"/>
          </a:ln>
        </p:spPr>
        <p:style>
          <a:lnRef idx="2">
            <a:schemeClr val="accent4"/>
          </a:lnRef>
          <a:fillRef idx="0">
            <a:schemeClr val="accent4"/>
          </a:fillRef>
          <a:effectRef idx="1">
            <a:schemeClr val="accent4"/>
          </a:effectRef>
          <a:fontRef idx="minor">
            <a:schemeClr val="tx1"/>
          </a:fontRef>
        </p:style>
        <p:txBody>
          <a:bodyPr/>
          <a:lstStyle/>
          <a:p>
            <a:endParaRPr lang="ja-JP" altLang="en-US">
              <a:latin typeface="+mn-ea"/>
              <a:cs typeface="Times New Roman" pitchFamily="18" charset="0"/>
            </a:endParaRPr>
          </a:p>
        </p:txBody>
      </p:sp>
      <p:cxnSp>
        <p:nvCxnSpPr>
          <p:cNvPr id="136" name="直線矢印コネクタ 135">
            <a:extLst>
              <a:ext uri="{FF2B5EF4-FFF2-40B4-BE49-F238E27FC236}">
                <a16:creationId xmlns:a16="http://schemas.microsoft.com/office/drawing/2014/main" id="{B9D87B37-B505-4688-A744-B1A1E10BFBF9}"/>
              </a:ext>
            </a:extLst>
          </p:cNvPr>
          <p:cNvCxnSpPr>
            <a:cxnSpLocks/>
          </p:cNvCxnSpPr>
          <p:nvPr/>
        </p:nvCxnSpPr>
        <p:spPr bwMode="auto">
          <a:xfrm>
            <a:off x="6096001" y="2708992"/>
            <a:ext cx="690295" cy="0"/>
          </a:xfrm>
          <a:prstGeom prst="straightConnector1">
            <a:avLst/>
          </a:prstGeom>
          <a:ln>
            <a:headEnd type="none" w="sm" len="sm"/>
            <a:tailEnd type="triangle" w="lg" len="lg"/>
          </a:ln>
        </p:spPr>
        <p:style>
          <a:lnRef idx="2">
            <a:schemeClr val="accent4"/>
          </a:lnRef>
          <a:fillRef idx="0">
            <a:schemeClr val="accent4"/>
          </a:fillRef>
          <a:effectRef idx="1">
            <a:schemeClr val="accent4"/>
          </a:effectRef>
          <a:fontRef idx="minor">
            <a:schemeClr val="tx1"/>
          </a:fontRef>
        </p:style>
      </p:cxnSp>
      <p:sp>
        <p:nvSpPr>
          <p:cNvPr id="131" name="Rectangle 133">
            <a:extLst>
              <a:ext uri="{FF2B5EF4-FFF2-40B4-BE49-F238E27FC236}">
                <a16:creationId xmlns:a16="http://schemas.microsoft.com/office/drawing/2014/main" id="{50950858-F2AD-4754-B7CC-69AD6E6ABCC8}"/>
              </a:ext>
            </a:extLst>
          </p:cNvPr>
          <p:cNvSpPr>
            <a:spLocks noChangeArrowheads="1"/>
          </p:cNvSpPr>
          <p:nvPr/>
        </p:nvSpPr>
        <p:spPr bwMode="auto">
          <a:xfrm>
            <a:off x="4657624" y="2018745"/>
            <a:ext cx="719803" cy="240242"/>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en-US" altLang="ja-JP" dirty="0">
                <a:solidFill>
                  <a:schemeClr val="tx1">
                    <a:lumMod val="75000"/>
                    <a:lumOff val="25000"/>
                  </a:schemeClr>
                </a:solidFill>
                <a:latin typeface="+mn-ea"/>
                <a:ea typeface="+mn-ea"/>
              </a:rPr>
              <a:t>BTB</a:t>
            </a:r>
          </a:p>
        </p:txBody>
      </p:sp>
      <p:sp>
        <p:nvSpPr>
          <p:cNvPr id="137"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657624" y="2258988"/>
            <a:ext cx="718369" cy="990011"/>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mn-ea"/>
              <a:ea typeface="+mn-ea"/>
            </a:endParaRPr>
          </a:p>
        </p:txBody>
      </p:sp>
      <p:sp>
        <p:nvSpPr>
          <p:cNvPr id="142" name="Rectangle 133">
            <a:extLst>
              <a:ext uri="{FF2B5EF4-FFF2-40B4-BE49-F238E27FC236}">
                <a16:creationId xmlns:a16="http://schemas.microsoft.com/office/drawing/2014/main" id="{638798E7-DA2E-4A64-8729-E0ECA9F8F543}"/>
              </a:ext>
            </a:extLst>
          </p:cNvPr>
          <p:cNvSpPr>
            <a:spLocks noChangeArrowheads="1"/>
          </p:cNvSpPr>
          <p:nvPr/>
        </p:nvSpPr>
        <p:spPr bwMode="auto">
          <a:xfrm>
            <a:off x="2945965" y="3339000"/>
            <a:ext cx="2160024" cy="630007"/>
          </a:xfrm>
          <a:prstGeom prst="rect">
            <a:avLst/>
          </a:prstGeom>
          <a:noFill/>
          <a:ln w="12700">
            <a:noFill/>
            <a:miter lim="800000"/>
            <a:headEnd/>
            <a:tailEnd/>
          </a:ln>
          <a:effectLst/>
        </p:spPr>
        <p:txBody>
          <a:bodyPr wrap="none" lIns="93600" tIns="46800" rIns="93600" bIns="46800" anchor="t"/>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ja-JP" altLang="en-US" dirty="0">
                <a:solidFill>
                  <a:schemeClr val="tx1">
                    <a:lumMod val="75000"/>
                    <a:lumOff val="25000"/>
                  </a:schemeClr>
                </a:solidFill>
                <a:latin typeface="+mn-ea"/>
                <a:ea typeface="+mn-ea"/>
              </a:rPr>
              <a:t>分岐ターゲット</a:t>
            </a:r>
            <a:endParaRPr lang="en-US" altLang="ja-JP" dirty="0">
              <a:solidFill>
                <a:schemeClr val="tx1">
                  <a:lumMod val="75000"/>
                  <a:lumOff val="25000"/>
                </a:schemeClr>
              </a:solidFill>
              <a:latin typeface="+mn-ea"/>
              <a:ea typeface="+mn-ea"/>
            </a:endParaRPr>
          </a:p>
          <a:p>
            <a:pPr eaLnBrk="0" hangingPunct="0"/>
            <a:r>
              <a:rPr lang="ja-JP" altLang="en-US" dirty="0">
                <a:solidFill>
                  <a:schemeClr val="tx1">
                    <a:lumMod val="75000"/>
                    <a:lumOff val="25000"/>
                  </a:schemeClr>
                </a:solidFill>
                <a:latin typeface="+mn-ea"/>
                <a:ea typeface="+mn-ea"/>
              </a:rPr>
              <a:t>アドレス</a:t>
            </a:r>
            <a:endParaRPr lang="en-US" altLang="ja-JP" dirty="0">
              <a:solidFill>
                <a:schemeClr val="tx1">
                  <a:lumMod val="75000"/>
                  <a:lumOff val="25000"/>
                </a:schemeClr>
              </a:solidFill>
              <a:latin typeface="+mn-ea"/>
              <a:ea typeface="+mn-ea"/>
            </a:endParaRPr>
          </a:p>
        </p:txBody>
      </p:sp>
      <p:sp>
        <p:nvSpPr>
          <p:cNvPr id="143" name="フリーフォーム 10">
            <a:extLst>
              <a:ext uri="{FF2B5EF4-FFF2-40B4-BE49-F238E27FC236}">
                <a16:creationId xmlns:a16="http://schemas.microsoft.com/office/drawing/2014/main" id="{D52C6EB9-323F-420C-80BF-1D60C6D23699}"/>
              </a:ext>
            </a:extLst>
          </p:cNvPr>
          <p:cNvSpPr>
            <a:spLocks noChangeArrowheads="1"/>
          </p:cNvSpPr>
          <p:nvPr/>
        </p:nvSpPr>
        <p:spPr bwMode="auto">
          <a:xfrm rot="-5400000">
            <a:off x="3755974" y="5139019"/>
            <a:ext cx="900010"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5"/>
          </a:lnRef>
          <a:fillRef idx="2">
            <a:schemeClr val="accent5"/>
          </a:fillRef>
          <a:effectRef idx="1">
            <a:schemeClr val="accent5"/>
          </a:effectRef>
          <a:fontRef idx="minor">
            <a:schemeClr val="dk1"/>
          </a:fontRef>
        </p:style>
        <p:txBody>
          <a:bodyPr vert="eaVert" wrap="square" anchor="ctr">
            <a:noAutofit/>
          </a:bodyPr>
          <a:lstStyle/>
          <a:p>
            <a:pPr algn="ctr"/>
            <a:r>
              <a:rPr lang="ja-JP" altLang="en-US" sz="1600" dirty="0">
                <a:latin typeface="メイリオ" panose="020B0604030504040204" pitchFamily="50" charset="-128"/>
                <a:ea typeface="メイリオ" panose="020B0604030504040204" pitchFamily="50" charset="-128"/>
                <a:cs typeface="Times New Roman" pitchFamily="18" charset="0"/>
              </a:rPr>
              <a:t>加算</a:t>
            </a:r>
          </a:p>
        </p:txBody>
      </p:sp>
      <p:sp>
        <p:nvSpPr>
          <p:cNvPr id="144" name="Freeform 10">
            <a:extLst>
              <a:ext uri="{FF2B5EF4-FFF2-40B4-BE49-F238E27FC236}">
                <a16:creationId xmlns:a16="http://schemas.microsoft.com/office/drawing/2014/main" id="{594994CD-2E8A-4F58-A850-5DAC43A07B36}"/>
              </a:ext>
            </a:extLst>
          </p:cNvPr>
          <p:cNvSpPr>
            <a:spLocks/>
          </p:cNvSpPr>
          <p:nvPr/>
        </p:nvSpPr>
        <p:spPr bwMode="auto">
          <a:xfrm rot="16200000" flipV="1">
            <a:off x="2270956" y="3293998"/>
            <a:ext cx="2340028" cy="117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triangle" w="lg" len="lg"/>
            <a:tailEnd type="none" w="med" len="med"/>
          </a:ln>
        </p:spPr>
        <p:style>
          <a:lnRef idx="2">
            <a:schemeClr val="accent4"/>
          </a:lnRef>
          <a:fillRef idx="0">
            <a:schemeClr val="accent4"/>
          </a:fillRef>
          <a:effectRef idx="1">
            <a:schemeClr val="accent4"/>
          </a:effectRef>
          <a:fontRef idx="minor">
            <a:schemeClr val="tx1"/>
          </a:fontRef>
        </p:style>
        <p:txBody>
          <a:bodyPr/>
          <a:lstStyle/>
          <a:p>
            <a:endParaRPr lang="ja-JP" altLang="en-US">
              <a:latin typeface="+mn-ea"/>
              <a:cs typeface="Times New Roman" pitchFamily="18" charset="0"/>
            </a:endParaRPr>
          </a:p>
        </p:txBody>
      </p:sp>
      <p:cxnSp>
        <p:nvCxnSpPr>
          <p:cNvPr id="145" name="直線矢印コネクタ 144">
            <a:extLst>
              <a:ext uri="{FF2B5EF4-FFF2-40B4-BE49-F238E27FC236}">
                <a16:creationId xmlns:a16="http://schemas.microsoft.com/office/drawing/2014/main" id="{52359309-6823-42AD-A91D-F3B7B4D5954B}"/>
              </a:ext>
            </a:extLst>
          </p:cNvPr>
          <p:cNvCxnSpPr>
            <a:cxnSpLocks/>
          </p:cNvCxnSpPr>
          <p:nvPr/>
        </p:nvCxnSpPr>
        <p:spPr bwMode="auto">
          <a:xfrm>
            <a:off x="3395970" y="5589023"/>
            <a:ext cx="630007" cy="0"/>
          </a:xfrm>
          <a:prstGeom prst="straightConnector1">
            <a:avLst/>
          </a:prstGeom>
          <a:ln>
            <a:headEnd type="none" w="sm" len="sm"/>
            <a:tailEnd type="triangle" w="lg" len="lg"/>
          </a:ln>
        </p:spPr>
        <p:style>
          <a:lnRef idx="2">
            <a:schemeClr val="accent5"/>
          </a:lnRef>
          <a:fillRef idx="0">
            <a:schemeClr val="accent5"/>
          </a:fillRef>
          <a:effectRef idx="1">
            <a:schemeClr val="accent5"/>
          </a:effectRef>
          <a:fontRef idx="minor">
            <a:schemeClr val="tx1"/>
          </a:fontRef>
        </p:style>
      </p:cxnSp>
      <p:sp>
        <p:nvSpPr>
          <p:cNvPr id="146" name="Rectangle 133">
            <a:extLst>
              <a:ext uri="{FF2B5EF4-FFF2-40B4-BE49-F238E27FC236}">
                <a16:creationId xmlns:a16="http://schemas.microsoft.com/office/drawing/2014/main" id="{8F38E4F8-4494-4354-BADF-673A3E9CF695}"/>
              </a:ext>
            </a:extLst>
          </p:cNvPr>
          <p:cNvSpPr>
            <a:spLocks noChangeArrowheads="1"/>
          </p:cNvSpPr>
          <p:nvPr/>
        </p:nvSpPr>
        <p:spPr bwMode="auto">
          <a:xfrm>
            <a:off x="3035966" y="5434194"/>
            <a:ext cx="360004" cy="360004"/>
          </a:xfrm>
          <a:prstGeom prst="rect">
            <a:avLst/>
          </a:prstGeom>
          <a:noFill/>
          <a:ln w="12700">
            <a:noFill/>
            <a:miter lim="800000"/>
            <a:headEnd/>
            <a:tailEnd/>
          </a:ln>
          <a:effectLst/>
        </p:spPr>
        <p:txBody>
          <a:bodyPr wrap="none" lIns="93600" tIns="46800" rIns="93600" bIns="46800" anchor="t"/>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en-US" altLang="ja-JP" dirty="0">
                <a:solidFill>
                  <a:schemeClr val="tx1">
                    <a:lumMod val="75000"/>
                    <a:lumOff val="25000"/>
                  </a:schemeClr>
                </a:solidFill>
                <a:latin typeface="+mn-ea"/>
                <a:ea typeface="+mn-ea"/>
              </a:rPr>
              <a:t>4</a:t>
            </a:r>
          </a:p>
        </p:txBody>
      </p:sp>
      <p:cxnSp>
        <p:nvCxnSpPr>
          <p:cNvPr id="148" name="直線矢印コネクタ 147">
            <a:extLst>
              <a:ext uri="{FF2B5EF4-FFF2-40B4-BE49-F238E27FC236}">
                <a16:creationId xmlns:a16="http://schemas.microsoft.com/office/drawing/2014/main" id="{3CE44858-6285-44F6-AFC4-780D2A5B8561}"/>
              </a:ext>
            </a:extLst>
          </p:cNvPr>
          <p:cNvCxnSpPr>
            <a:cxnSpLocks/>
          </p:cNvCxnSpPr>
          <p:nvPr/>
        </p:nvCxnSpPr>
        <p:spPr bwMode="auto">
          <a:xfrm>
            <a:off x="4385981" y="5319021"/>
            <a:ext cx="1620018" cy="0"/>
          </a:xfrm>
          <a:prstGeom prst="straightConnector1">
            <a:avLst/>
          </a:prstGeom>
          <a:ln>
            <a:headEnd type="none" w="sm" len="sm"/>
            <a:tailEnd type="triangle" w="lg" len="lg"/>
          </a:ln>
        </p:spPr>
        <p:style>
          <a:lnRef idx="2">
            <a:schemeClr val="accent5"/>
          </a:lnRef>
          <a:fillRef idx="0">
            <a:schemeClr val="accent5"/>
          </a:fillRef>
          <a:effectRef idx="1">
            <a:schemeClr val="accent5"/>
          </a:effectRef>
          <a:fontRef idx="minor">
            <a:schemeClr val="tx1"/>
          </a:fontRef>
        </p:style>
      </p:cxnSp>
      <p:sp>
        <p:nvSpPr>
          <p:cNvPr id="149" name="Rectangle 133">
            <a:extLst>
              <a:ext uri="{FF2B5EF4-FFF2-40B4-BE49-F238E27FC236}">
                <a16:creationId xmlns:a16="http://schemas.microsoft.com/office/drawing/2014/main" id="{0031F1DA-9455-4239-A0EE-58244DDFC3AE}"/>
              </a:ext>
            </a:extLst>
          </p:cNvPr>
          <p:cNvSpPr>
            <a:spLocks noChangeArrowheads="1"/>
          </p:cNvSpPr>
          <p:nvPr/>
        </p:nvSpPr>
        <p:spPr bwMode="auto">
          <a:xfrm>
            <a:off x="5195991" y="3339000"/>
            <a:ext cx="990011" cy="450005"/>
          </a:xfrm>
          <a:prstGeom prst="rect">
            <a:avLst/>
          </a:prstGeom>
          <a:noFill/>
          <a:ln w="12700">
            <a:noFill/>
            <a:miter lim="800000"/>
            <a:headEnd/>
            <a:tailEnd/>
          </a:ln>
          <a:effectLst/>
        </p:spPr>
        <p:txBody>
          <a:bodyPr wrap="none" lIns="93600" tIns="46800" rIns="93600" bIns="46800" anchor="t"/>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ja-JP" altLang="en-US" dirty="0">
                <a:solidFill>
                  <a:schemeClr val="tx1">
                    <a:lumMod val="75000"/>
                    <a:lumOff val="25000"/>
                  </a:schemeClr>
                </a:solidFill>
                <a:latin typeface="+mn-ea"/>
                <a:ea typeface="+mn-ea"/>
              </a:rPr>
              <a:t>分岐</a:t>
            </a:r>
            <a:r>
              <a:rPr lang="en-US" altLang="ja-JP" dirty="0">
                <a:solidFill>
                  <a:schemeClr val="tx1">
                    <a:lumMod val="75000"/>
                    <a:lumOff val="25000"/>
                  </a:schemeClr>
                </a:solidFill>
                <a:latin typeface="+mn-ea"/>
                <a:ea typeface="+mn-ea"/>
              </a:rPr>
              <a:t>?</a:t>
            </a:r>
          </a:p>
        </p:txBody>
      </p:sp>
      <p:sp>
        <p:nvSpPr>
          <p:cNvPr id="152" name="Freeform 10">
            <a:extLst>
              <a:ext uri="{FF2B5EF4-FFF2-40B4-BE49-F238E27FC236}">
                <a16:creationId xmlns:a16="http://schemas.microsoft.com/office/drawing/2014/main" id="{EF622197-A443-4469-8DBF-998182EEA9EA}"/>
              </a:ext>
            </a:extLst>
          </p:cNvPr>
          <p:cNvSpPr>
            <a:spLocks/>
          </p:cNvSpPr>
          <p:nvPr/>
        </p:nvSpPr>
        <p:spPr bwMode="auto">
          <a:xfrm rot="10800000">
            <a:off x="5195989" y="3699001"/>
            <a:ext cx="720008" cy="27000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triangle" w="lg" len="lg"/>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a:latin typeface="+mn-ea"/>
              <a:cs typeface="Times New Roman" pitchFamily="18" charset="0"/>
            </a:endParaRPr>
          </a:p>
        </p:txBody>
      </p:sp>
      <p:sp>
        <p:nvSpPr>
          <p:cNvPr id="153" name="Freeform 10">
            <a:extLst>
              <a:ext uri="{FF2B5EF4-FFF2-40B4-BE49-F238E27FC236}">
                <a16:creationId xmlns:a16="http://schemas.microsoft.com/office/drawing/2014/main" id="{E20517F6-5A95-450C-BCB8-EC77C3E57666}"/>
              </a:ext>
            </a:extLst>
          </p:cNvPr>
          <p:cNvSpPr>
            <a:spLocks/>
          </p:cNvSpPr>
          <p:nvPr/>
        </p:nvSpPr>
        <p:spPr bwMode="auto">
          <a:xfrm rot="10800000" flipH="1">
            <a:off x="6276002" y="3698999"/>
            <a:ext cx="900010" cy="27000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triangle" w="lg" len="lg"/>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a:latin typeface="+mn-ea"/>
              <a:cs typeface="Times New Roman" pitchFamily="18" charset="0"/>
            </a:endParaRPr>
          </a:p>
        </p:txBody>
      </p:sp>
      <p:sp>
        <p:nvSpPr>
          <p:cNvPr id="31" name="Rectangle 133">
            <a:extLst>
              <a:ext uri="{FF2B5EF4-FFF2-40B4-BE49-F238E27FC236}">
                <a16:creationId xmlns:a16="http://schemas.microsoft.com/office/drawing/2014/main" id="{0031F1DA-9455-4239-A0EE-58244DDFC3AE}"/>
              </a:ext>
            </a:extLst>
          </p:cNvPr>
          <p:cNvSpPr>
            <a:spLocks noChangeArrowheads="1"/>
          </p:cNvSpPr>
          <p:nvPr/>
        </p:nvSpPr>
        <p:spPr bwMode="auto">
          <a:xfrm>
            <a:off x="7266013" y="3339000"/>
            <a:ext cx="1260014" cy="450005"/>
          </a:xfrm>
          <a:prstGeom prst="rect">
            <a:avLst/>
          </a:prstGeom>
          <a:noFill/>
          <a:ln w="12700">
            <a:noFill/>
            <a:miter lim="800000"/>
            <a:headEnd/>
            <a:tailEnd/>
          </a:ln>
          <a:effectLst/>
        </p:spPr>
        <p:txBody>
          <a:bodyPr wrap="none" lIns="93600" tIns="46800" rIns="93600" bIns="46800" anchor="t"/>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ja-JP" altLang="en-US" dirty="0">
                <a:solidFill>
                  <a:schemeClr val="tx1">
                    <a:lumMod val="75000"/>
                    <a:lumOff val="25000"/>
                  </a:schemeClr>
                </a:solidFill>
                <a:latin typeface="+mn-ea"/>
                <a:ea typeface="+mn-ea"/>
              </a:rPr>
              <a:t>分岐方向</a:t>
            </a:r>
            <a:endParaRPr lang="en-US" altLang="ja-JP" dirty="0">
              <a:solidFill>
                <a:schemeClr val="tx1">
                  <a:lumMod val="75000"/>
                  <a:lumOff val="25000"/>
                </a:schemeClr>
              </a:solidFill>
              <a:latin typeface="+mn-ea"/>
              <a:ea typeface="+mn-ea"/>
            </a:endParaRPr>
          </a:p>
        </p:txBody>
      </p:sp>
      <p:sp>
        <p:nvSpPr>
          <p:cNvPr id="36" name="Freeform 10">
            <a:extLst>
              <a:ext uri="{FF2B5EF4-FFF2-40B4-BE49-F238E27FC236}">
                <a16:creationId xmlns:a16="http://schemas.microsoft.com/office/drawing/2014/main" id="{594994CD-2E8A-4F58-A850-5DAC43A07B36}"/>
              </a:ext>
            </a:extLst>
          </p:cNvPr>
          <p:cNvSpPr>
            <a:spLocks/>
          </p:cNvSpPr>
          <p:nvPr/>
        </p:nvSpPr>
        <p:spPr bwMode="auto">
          <a:xfrm rot="16200000" flipV="1">
            <a:off x="4565983" y="3519000"/>
            <a:ext cx="1710019" cy="117001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triangle" w="lg" len="lg"/>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a:latin typeface="+mn-ea"/>
              <a:cs typeface="Times New Roman" pitchFamily="18" charset="0"/>
            </a:endParaRPr>
          </a:p>
        </p:txBody>
      </p:sp>
      <p:sp>
        <p:nvSpPr>
          <p:cNvPr id="8" name="フローチャート: 手作業 7"/>
          <p:cNvSpPr/>
          <p:nvPr/>
        </p:nvSpPr>
        <p:spPr bwMode="auto">
          <a:xfrm rot="16200000">
            <a:off x="5735997" y="5049017"/>
            <a:ext cx="720007" cy="180002"/>
          </a:xfrm>
          <a:prstGeom prst="flowChartManualOperation">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cxnSp>
        <p:nvCxnSpPr>
          <p:cNvPr id="40" name="直線矢印コネクタ 39">
            <a:extLst>
              <a:ext uri="{FF2B5EF4-FFF2-40B4-BE49-F238E27FC236}">
                <a16:creationId xmlns:a16="http://schemas.microsoft.com/office/drawing/2014/main" id="{52359309-6823-42AD-A91D-F3B7B4D5954B}"/>
              </a:ext>
            </a:extLst>
          </p:cNvPr>
          <p:cNvCxnSpPr>
            <a:cxnSpLocks/>
            <a:stCxn id="16" idx="3"/>
            <a:endCxn id="8" idx="3"/>
          </p:cNvCxnSpPr>
          <p:nvPr/>
        </p:nvCxnSpPr>
        <p:spPr bwMode="auto">
          <a:xfrm>
            <a:off x="6096000" y="4509012"/>
            <a:ext cx="0" cy="342004"/>
          </a:xfrm>
          <a:prstGeom prst="straightConnector1">
            <a:avLst/>
          </a:prstGeom>
          <a:ln>
            <a:headEnd type="none" w="sm" len="sm"/>
            <a:tailEnd type="triangle" w="lg" len="lg"/>
          </a:ln>
        </p:spPr>
        <p:style>
          <a:lnRef idx="2">
            <a:schemeClr val="accent5"/>
          </a:lnRef>
          <a:fillRef idx="0">
            <a:schemeClr val="accent5"/>
          </a:fillRef>
          <a:effectRef idx="1">
            <a:schemeClr val="accent5"/>
          </a:effectRef>
          <a:fontRef idx="minor">
            <a:schemeClr val="tx1"/>
          </a:fontRef>
        </p:style>
      </p:cxnSp>
      <p:cxnSp>
        <p:nvCxnSpPr>
          <p:cNvPr id="43" name="直線矢印コネクタ 42">
            <a:extLst>
              <a:ext uri="{FF2B5EF4-FFF2-40B4-BE49-F238E27FC236}">
                <a16:creationId xmlns:a16="http://schemas.microsoft.com/office/drawing/2014/main" id="{52359309-6823-42AD-A91D-F3B7B4D5954B}"/>
              </a:ext>
            </a:extLst>
          </p:cNvPr>
          <p:cNvCxnSpPr>
            <a:cxnSpLocks/>
            <a:stCxn id="8" idx="2"/>
          </p:cNvCxnSpPr>
          <p:nvPr/>
        </p:nvCxnSpPr>
        <p:spPr bwMode="auto">
          <a:xfrm>
            <a:off x="6186002" y="5139019"/>
            <a:ext cx="2790031" cy="1"/>
          </a:xfrm>
          <a:prstGeom prst="straightConnector1">
            <a:avLst/>
          </a:prstGeom>
          <a:ln>
            <a:headEnd type="none" w="sm" len="sm"/>
            <a:tailEnd type="none" w="lg" len="lg"/>
          </a:ln>
        </p:spPr>
        <p:style>
          <a:lnRef idx="2">
            <a:schemeClr val="accent5"/>
          </a:lnRef>
          <a:fillRef idx="0">
            <a:schemeClr val="accent5"/>
          </a:fillRef>
          <a:effectRef idx="1">
            <a:schemeClr val="accent5"/>
          </a:effectRef>
          <a:fontRef idx="minor">
            <a:schemeClr val="tx1"/>
          </a:fontRef>
        </p:style>
      </p:cxnSp>
      <p:sp>
        <p:nvSpPr>
          <p:cNvPr id="16" name="フローチャート: 論理積ゲート 15"/>
          <p:cNvSpPr/>
          <p:nvPr/>
        </p:nvSpPr>
        <p:spPr bwMode="auto">
          <a:xfrm rot="5400000">
            <a:off x="5825997" y="3969006"/>
            <a:ext cx="540006" cy="540006"/>
          </a:xfrm>
          <a:prstGeom prst="flowChartDelay">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dirty="0">
                <a:solidFill>
                  <a:schemeClr val="tx1">
                    <a:lumMod val="75000"/>
                    <a:lumOff val="25000"/>
                  </a:schemeClr>
                </a:solidFill>
                <a:latin typeface="+mn-ea"/>
              </a:rPr>
              <a:t>AND</a:t>
            </a:r>
            <a:endParaRPr lang="ja-JP" altLang="en-US" sz="1400" dirty="0">
              <a:solidFill>
                <a:schemeClr val="tx1">
                  <a:lumMod val="75000"/>
                  <a:lumOff val="25000"/>
                </a:schemeClr>
              </a:solidFill>
              <a:latin typeface="+mn-ea"/>
            </a:endParaRPr>
          </a:p>
        </p:txBody>
      </p:sp>
      <p:sp>
        <p:nvSpPr>
          <p:cNvPr id="51" name="Freeform 10">
            <a:extLst>
              <a:ext uri="{FF2B5EF4-FFF2-40B4-BE49-F238E27FC236}">
                <a16:creationId xmlns:a16="http://schemas.microsoft.com/office/drawing/2014/main" id="{594994CD-2E8A-4F58-A850-5DAC43A07B36}"/>
              </a:ext>
            </a:extLst>
          </p:cNvPr>
          <p:cNvSpPr>
            <a:spLocks/>
          </p:cNvSpPr>
          <p:nvPr/>
        </p:nvSpPr>
        <p:spPr bwMode="auto">
          <a:xfrm rot="5400000" flipV="1">
            <a:off x="3893537" y="56522"/>
            <a:ext cx="4044929" cy="612007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none" w="lg" len="lg"/>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a:latin typeface="+mn-ea"/>
              <a:cs typeface="Times New Roman" pitchFamily="18" charset="0"/>
            </a:endParaRPr>
          </a:p>
        </p:txBody>
      </p:sp>
      <p:cxnSp>
        <p:nvCxnSpPr>
          <p:cNvPr id="52" name="直線矢印コネクタ 51">
            <a:extLst>
              <a:ext uri="{FF2B5EF4-FFF2-40B4-BE49-F238E27FC236}">
                <a16:creationId xmlns:a16="http://schemas.microsoft.com/office/drawing/2014/main" id="{52359309-6823-42AD-A91D-F3B7B4D5954B}"/>
              </a:ext>
            </a:extLst>
          </p:cNvPr>
          <p:cNvCxnSpPr>
            <a:cxnSpLocks/>
            <a:endCxn id="110" idx="0"/>
          </p:cNvCxnSpPr>
          <p:nvPr/>
        </p:nvCxnSpPr>
        <p:spPr bwMode="auto">
          <a:xfrm>
            <a:off x="2855963" y="1094091"/>
            <a:ext cx="360" cy="360005"/>
          </a:xfrm>
          <a:prstGeom prst="straightConnector1">
            <a:avLst/>
          </a:prstGeom>
          <a:ln>
            <a:headEnd type="none" w="sm" len="sm"/>
            <a:tailEnd type="triangle" w="lg" len="lg"/>
          </a:ln>
        </p:spPr>
        <p:style>
          <a:lnRef idx="2">
            <a:schemeClr val="accent5"/>
          </a:lnRef>
          <a:fillRef idx="0">
            <a:schemeClr val="accent5"/>
          </a:fillRef>
          <a:effectRef idx="1">
            <a:schemeClr val="accent5"/>
          </a:effectRef>
          <a:fontRef idx="minor">
            <a:schemeClr val="tx1"/>
          </a:fontRef>
        </p:style>
      </p:cxnSp>
      <p:sp>
        <p:nvSpPr>
          <p:cNvPr id="58" name="Freeform 10">
            <a:extLst>
              <a:ext uri="{FF2B5EF4-FFF2-40B4-BE49-F238E27FC236}">
                <a16:creationId xmlns:a16="http://schemas.microsoft.com/office/drawing/2014/main" id="{594994CD-2E8A-4F58-A850-5DAC43A07B36}"/>
              </a:ext>
            </a:extLst>
          </p:cNvPr>
          <p:cNvSpPr>
            <a:spLocks/>
          </p:cNvSpPr>
          <p:nvPr/>
        </p:nvSpPr>
        <p:spPr bwMode="auto">
          <a:xfrm rot="16200000" flipV="1">
            <a:off x="2225954" y="4509011"/>
            <a:ext cx="2430030" cy="117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triangle" w="lg" len="lg"/>
            <a:tailEnd type="none" w="med" len="med"/>
          </a:ln>
        </p:spPr>
        <p:style>
          <a:lnRef idx="2">
            <a:schemeClr val="accent4"/>
          </a:lnRef>
          <a:fillRef idx="0">
            <a:schemeClr val="accent4"/>
          </a:fillRef>
          <a:effectRef idx="1">
            <a:schemeClr val="accent4"/>
          </a:effectRef>
          <a:fontRef idx="minor">
            <a:schemeClr val="tx1"/>
          </a:fontRef>
        </p:style>
        <p:txBody>
          <a:bodyPr/>
          <a:lstStyle/>
          <a:p>
            <a:endParaRPr lang="ja-JP" altLang="en-US">
              <a:latin typeface="+mn-ea"/>
              <a:cs typeface="Times New Roman" pitchFamily="18" charset="0"/>
            </a:endParaRPr>
          </a:p>
        </p:txBody>
      </p:sp>
      <p:sp>
        <p:nvSpPr>
          <p:cNvPr id="64"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025978" y="5949028"/>
            <a:ext cx="1710019" cy="720008"/>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ja-JP" altLang="en-US" dirty="0">
                <a:solidFill>
                  <a:schemeClr val="tx1">
                    <a:lumMod val="75000"/>
                    <a:lumOff val="25000"/>
                  </a:schemeClr>
                </a:solidFill>
                <a:latin typeface="+mn-ea"/>
                <a:ea typeface="+mn-ea"/>
              </a:rPr>
              <a:t>命令メモリ</a:t>
            </a:r>
          </a:p>
        </p:txBody>
      </p:sp>
      <p:cxnSp>
        <p:nvCxnSpPr>
          <p:cNvPr id="65" name="直線矢印コネクタ 64">
            <a:extLst>
              <a:ext uri="{FF2B5EF4-FFF2-40B4-BE49-F238E27FC236}">
                <a16:creationId xmlns:a16="http://schemas.microsoft.com/office/drawing/2014/main" id="{52359309-6823-42AD-A91D-F3B7B4D5954B}"/>
              </a:ext>
            </a:extLst>
          </p:cNvPr>
          <p:cNvCxnSpPr>
            <a:cxnSpLocks/>
          </p:cNvCxnSpPr>
          <p:nvPr/>
        </p:nvCxnSpPr>
        <p:spPr bwMode="auto">
          <a:xfrm>
            <a:off x="5735996" y="6309032"/>
            <a:ext cx="720008" cy="0"/>
          </a:xfrm>
          <a:prstGeom prst="straightConnector1">
            <a:avLst/>
          </a:prstGeom>
          <a:ln>
            <a:headEnd type="none" w="sm" len="sm"/>
            <a:tailEnd type="triangle" w="lg" len="lg"/>
          </a:ln>
        </p:spPr>
        <p:style>
          <a:lnRef idx="2">
            <a:schemeClr val="accent3"/>
          </a:lnRef>
          <a:fillRef idx="0">
            <a:schemeClr val="accent3"/>
          </a:fillRef>
          <a:effectRef idx="1">
            <a:schemeClr val="accent3"/>
          </a:effectRef>
          <a:fontRef idx="minor">
            <a:schemeClr val="tx1"/>
          </a:fontRef>
        </p:style>
      </p:cxnSp>
      <p:sp>
        <p:nvSpPr>
          <p:cNvPr id="66" name="Rectangle 133">
            <a:extLst>
              <a:ext uri="{FF2B5EF4-FFF2-40B4-BE49-F238E27FC236}">
                <a16:creationId xmlns:a16="http://schemas.microsoft.com/office/drawing/2014/main" id="{0031F1DA-9455-4239-A0EE-58244DDFC3AE}"/>
              </a:ext>
            </a:extLst>
          </p:cNvPr>
          <p:cNvSpPr>
            <a:spLocks noChangeArrowheads="1"/>
          </p:cNvSpPr>
          <p:nvPr/>
        </p:nvSpPr>
        <p:spPr bwMode="auto">
          <a:xfrm>
            <a:off x="6456004" y="6129031"/>
            <a:ext cx="1260014" cy="450005"/>
          </a:xfrm>
          <a:prstGeom prst="rect">
            <a:avLst/>
          </a:prstGeom>
          <a:noFill/>
          <a:ln w="12700">
            <a:noFill/>
            <a:miter lim="800000"/>
            <a:headEnd/>
            <a:tailEnd/>
          </a:ln>
          <a:effectLst/>
        </p:spPr>
        <p:txBody>
          <a:bodyPr wrap="none" lIns="93600" tIns="46800" rIns="93600" bIns="46800" anchor="t"/>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ja-JP" altLang="en-US" dirty="0">
                <a:solidFill>
                  <a:schemeClr val="tx1">
                    <a:lumMod val="75000"/>
                    <a:lumOff val="25000"/>
                  </a:schemeClr>
                </a:solidFill>
                <a:latin typeface="+mn-ea"/>
                <a:ea typeface="+mn-ea"/>
              </a:rPr>
              <a:t>命令</a:t>
            </a:r>
            <a:endParaRPr lang="en-US" altLang="ja-JP" dirty="0">
              <a:solidFill>
                <a:schemeClr val="tx1">
                  <a:lumMod val="75000"/>
                  <a:lumOff val="25000"/>
                </a:schemeClr>
              </a:solidFill>
              <a:latin typeface="+mn-ea"/>
              <a:ea typeface="+mn-ea"/>
            </a:endParaRPr>
          </a:p>
        </p:txBody>
      </p:sp>
    </p:spTree>
    <p:extLst>
      <p:ext uri="{BB962C8B-B14F-4D97-AF65-F5344CB8AC3E}">
        <p14:creationId xmlns:p14="http://schemas.microsoft.com/office/powerpoint/2010/main" val="38490770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09D2D3BB-831F-4607-8123-6BB98910D54A}"/>
              </a:ext>
            </a:extLst>
          </p:cNvPr>
          <p:cNvSpPr>
            <a:spLocks noGrp="1"/>
          </p:cNvSpPr>
          <p:nvPr>
            <p:ph type="title"/>
          </p:nvPr>
        </p:nvSpPr>
        <p:spPr/>
        <p:txBody>
          <a:bodyPr/>
          <a:lstStyle/>
          <a:p>
            <a:r>
              <a:rPr lang="ja-JP" altLang="en-US" dirty="0">
                <a:latin typeface="+mn-ea"/>
                <a:ea typeface="+mn-ea"/>
              </a:rPr>
              <a:t>分岐予測器の動作（１）</a:t>
            </a:r>
            <a:br>
              <a:rPr lang="en-US" altLang="ja-JP" dirty="0">
                <a:latin typeface="+mn-ea"/>
                <a:ea typeface="+mn-ea"/>
              </a:rPr>
            </a:br>
            <a:r>
              <a:rPr lang="en-US" altLang="ja-JP" dirty="0">
                <a:latin typeface="+mn-ea"/>
                <a:ea typeface="+mn-ea"/>
              </a:rPr>
              <a:t>BTB </a:t>
            </a:r>
            <a:r>
              <a:rPr lang="ja-JP" altLang="en-US" dirty="0">
                <a:latin typeface="+mn-ea"/>
                <a:ea typeface="+mn-ea"/>
              </a:rPr>
              <a:t>による分岐ターゲットと分岐かどうかの予測</a:t>
            </a:r>
          </a:p>
        </p:txBody>
      </p:sp>
      <p:sp>
        <p:nvSpPr>
          <p:cNvPr id="4" name="テキスト プレースホルダー 3"/>
          <p:cNvSpPr>
            <a:spLocks noGrp="1"/>
          </p:cNvSpPr>
          <p:nvPr>
            <p:ph type="body" sz="quarter" idx="10"/>
          </p:nvPr>
        </p:nvSpPr>
        <p:spPr>
          <a:xfrm>
            <a:off x="2135956" y="5589025"/>
            <a:ext cx="8280092" cy="719701"/>
          </a:xfrm>
        </p:spPr>
        <p:txBody>
          <a:bodyPr/>
          <a:lstStyle/>
          <a:p>
            <a:r>
              <a:rPr kumimoji="1" lang="en-US" altLang="ja-JP" dirty="0"/>
              <a:t>BTB </a:t>
            </a:r>
            <a:r>
              <a:rPr kumimoji="1" lang="ja-JP" altLang="en-US" dirty="0"/>
              <a:t>により以下を予測</a:t>
            </a:r>
            <a:endParaRPr kumimoji="1" lang="en-US" altLang="ja-JP" dirty="0"/>
          </a:p>
          <a:p>
            <a:pPr lvl="1"/>
            <a:r>
              <a:rPr kumimoji="1" lang="ja-JP" altLang="en-US" dirty="0"/>
              <a:t>分岐の飛び先（ターゲット・アドレス）</a:t>
            </a:r>
            <a:endParaRPr kumimoji="1" lang="en-US" altLang="ja-JP" dirty="0"/>
          </a:p>
          <a:p>
            <a:pPr lvl="1"/>
            <a:r>
              <a:rPr lang="ja-JP" altLang="en-US" dirty="0"/>
              <a:t>分岐かどうか</a:t>
            </a:r>
            <a:endParaRPr kumimoji="1" lang="ja-JP" altLang="en-US" dirty="0"/>
          </a:p>
        </p:txBody>
      </p:sp>
      <p:sp>
        <p:nvSpPr>
          <p:cNvPr id="110" name="Rectangle 13">
            <a:extLst>
              <a:ext uri="{FF2B5EF4-FFF2-40B4-BE49-F238E27FC236}">
                <a16:creationId xmlns:a16="http://schemas.microsoft.com/office/drawing/2014/main" id="{6F3553EC-3B3D-4454-92A6-5F570F10C904}"/>
              </a:ext>
            </a:extLst>
          </p:cNvPr>
          <p:cNvSpPr>
            <a:spLocks noChangeArrowheads="1"/>
          </p:cNvSpPr>
          <p:nvPr/>
        </p:nvSpPr>
        <p:spPr bwMode="auto">
          <a:xfrm>
            <a:off x="2495961" y="1454095"/>
            <a:ext cx="720725" cy="360362"/>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tx1">
                    <a:lumMod val="75000"/>
                    <a:lumOff val="25000"/>
                  </a:schemeClr>
                </a:solidFill>
                <a:latin typeface="+mn-ea"/>
                <a:ea typeface="+mn-ea"/>
              </a:rPr>
              <a:t>PC</a:t>
            </a:r>
            <a:endParaRPr lang="ja-JP" altLang="en-US" b="1" dirty="0">
              <a:solidFill>
                <a:schemeClr val="tx1">
                  <a:lumMod val="75000"/>
                  <a:lumOff val="25000"/>
                </a:schemeClr>
              </a:solidFill>
              <a:latin typeface="+mn-ea"/>
              <a:ea typeface="+mn-ea"/>
            </a:endParaRPr>
          </a:p>
        </p:txBody>
      </p:sp>
      <p:sp>
        <p:nvSpPr>
          <p:cNvPr id="111" name="Freeform 10">
            <a:extLst>
              <a:ext uri="{FF2B5EF4-FFF2-40B4-BE49-F238E27FC236}">
                <a16:creationId xmlns:a16="http://schemas.microsoft.com/office/drawing/2014/main" id="{EB48C9DE-478E-4AAF-BBBA-4890D91B1B5B}"/>
              </a:ext>
            </a:extLst>
          </p:cNvPr>
          <p:cNvSpPr>
            <a:spLocks/>
          </p:cNvSpPr>
          <p:nvPr/>
        </p:nvSpPr>
        <p:spPr bwMode="auto">
          <a:xfrm rot="16200000" flipV="1">
            <a:off x="3305969" y="1358977"/>
            <a:ext cx="900010" cy="180002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triangle" w="lg" len="lg"/>
            <a:tailEnd type="none" w="med" len="med"/>
          </a:ln>
        </p:spPr>
        <p:style>
          <a:lnRef idx="2">
            <a:schemeClr val="accent4"/>
          </a:lnRef>
          <a:fillRef idx="0">
            <a:schemeClr val="accent4"/>
          </a:fillRef>
          <a:effectRef idx="1">
            <a:schemeClr val="accent4"/>
          </a:effectRef>
          <a:fontRef idx="minor">
            <a:schemeClr val="tx1"/>
          </a:fontRef>
        </p:style>
        <p:txBody>
          <a:bodyPr/>
          <a:lstStyle/>
          <a:p>
            <a:endParaRPr lang="ja-JP" altLang="en-US">
              <a:latin typeface="+mn-ea"/>
              <a:cs typeface="Times New Roman" pitchFamily="18" charset="0"/>
            </a:endParaRPr>
          </a:p>
        </p:txBody>
      </p:sp>
      <p:sp>
        <p:nvSpPr>
          <p:cNvPr id="131" name="Rectangle 133">
            <a:extLst>
              <a:ext uri="{FF2B5EF4-FFF2-40B4-BE49-F238E27FC236}">
                <a16:creationId xmlns:a16="http://schemas.microsoft.com/office/drawing/2014/main" id="{50950858-F2AD-4754-B7CC-69AD6E6ABCC8}"/>
              </a:ext>
            </a:extLst>
          </p:cNvPr>
          <p:cNvSpPr>
            <a:spLocks noChangeArrowheads="1"/>
          </p:cNvSpPr>
          <p:nvPr/>
        </p:nvSpPr>
        <p:spPr bwMode="auto">
          <a:xfrm>
            <a:off x="4657624" y="2018745"/>
            <a:ext cx="719803" cy="240242"/>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en-US" altLang="ja-JP" dirty="0">
                <a:solidFill>
                  <a:schemeClr val="tx1">
                    <a:lumMod val="75000"/>
                    <a:lumOff val="25000"/>
                  </a:schemeClr>
                </a:solidFill>
                <a:latin typeface="+mn-ea"/>
                <a:ea typeface="+mn-ea"/>
              </a:rPr>
              <a:t>BTB</a:t>
            </a:r>
          </a:p>
        </p:txBody>
      </p:sp>
      <p:sp>
        <p:nvSpPr>
          <p:cNvPr id="137"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657624" y="2258988"/>
            <a:ext cx="718369" cy="990011"/>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mn-ea"/>
              <a:ea typeface="+mn-ea"/>
            </a:endParaRPr>
          </a:p>
        </p:txBody>
      </p:sp>
      <p:sp>
        <p:nvSpPr>
          <p:cNvPr id="142" name="Rectangle 133">
            <a:extLst>
              <a:ext uri="{FF2B5EF4-FFF2-40B4-BE49-F238E27FC236}">
                <a16:creationId xmlns:a16="http://schemas.microsoft.com/office/drawing/2014/main" id="{638798E7-DA2E-4A64-8729-E0ECA9F8F543}"/>
              </a:ext>
            </a:extLst>
          </p:cNvPr>
          <p:cNvSpPr>
            <a:spLocks noChangeArrowheads="1"/>
          </p:cNvSpPr>
          <p:nvPr/>
        </p:nvSpPr>
        <p:spPr bwMode="auto">
          <a:xfrm>
            <a:off x="2945965" y="3339000"/>
            <a:ext cx="2160024" cy="630007"/>
          </a:xfrm>
          <a:prstGeom prst="rect">
            <a:avLst/>
          </a:prstGeom>
          <a:noFill/>
          <a:ln w="12700">
            <a:noFill/>
            <a:miter lim="800000"/>
            <a:headEnd/>
            <a:tailEnd/>
          </a:ln>
          <a:effectLst/>
        </p:spPr>
        <p:txBody>
          <a:bodyPr wrap="none" lIns="93600" tIns="46800" rIns="93600" bIns="46800" anchor="t"/>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ja-JP" altLang="en-US" dirty="0">
                <a:solidFill>
                  <a:schemeClr val="tx1">
                    <a:lumMod val="75000"/>
                    <a:lumOff val="25000"/>
                  </a:schemeClr>
                </a:solidFill>
                <a:latin typeface="+mn-ea"/>
                <a:ea typeface="+mn-ea"/>
              </a:rPr>
              <a:t>分岐ターゲット</a:t>
            </a:r>
            <a:endParaRPr lang="en-US" altLang="ja-JP" dirty="0">
              <a:solidFill>
                <a:schemeClr val="tx1">
                  <a:lumMod val="75000"/>
                  <a:lumOff val="25000"/>
                </a:schemeClr>
              </a:solidFill>
              <a:latin typeface="+mn-ea"/>
              <a:ea typeface="+mn-ea"/>
            </a:endParaRPr>
          </a:p>
          <a:p>
            <a:pPr eaLnBrk="0" hangingPunct="0"/>
            <a:r>
              <a:rPr lang="ja-JP" altLang="en-US" dirty="0">
                <a:solidFill>
                  <a:schemeClr val="tx1">
                    <a:lumMod val="75000"/>
                    <a:lumOff val="25000"/>
                  </a:schemeClr>
                </a:solidFill>
                <a:latin typeface="+mn-ea"/>
                <a:ea typeface="+mn-ea"/>
              </a:rPr>
              <a:t>アドレス</a:t>
            </a:r>
            <a:endParaRPr lang="en-US" altLang="ja-JP" dirty="0">
              <a:solidFill>
                <a:schemeClr val="tx1">
                  <a:lumMod val="75000"/>
                  <a:lumOff val="25000"/>
                </a:schemeClr>
              </a:solidFill>
              <a:latin typeface="+mn-ea"/>
              <a:ea typeface="+mn-ea"/>
            </a:endParaRPr>
          </a:p>
        </p:txBody>
      </p:sp>
      <p:sp>
        <p:nvSpPr>
          <p:cNvPr id="149" name="Rectangle 133">
            <a:extLst>
              <a:ext uri="{FF2B5EF4-FFF2-40B4-BE49-F238E27FC236}">
                <a16:creationId xmlns:a16="http://schemas.microsoft.com/office/drawing/2014/main" id="{0031F1DA-9455-4239-A0EE-58244DDFC3AE}"/>
              </a:ext>
            </a:extLst>
          </p:cNvPr>
          <p:cNvSpPr>
            <a:spLocks noChangeArrowheads="1"/>
          </p:cNvSpPr>
          <p:nvPr/>
        </p:nvSpPr>
        <p:spPr bwMode="auto">
          <a:xfrm>
            <a:off x="5195991" y="3339000"/>
            <a:ext cx="990011" cy="450005"/>
          </a:xfrm>
          <a:prstGeom prst="rect">
            <a:avLst/>
          </a:prstGeom>
          <a:noFill/>
          <a:ln w="12700">
            <a:noFill/>
            <a:miter lim="800000"/>
            <a:headEnd/>
            <a:tailEnd/>
          </a:ln>
          <a:effectLst/>
        </p:spPr>
        <p:txBody>
          <a:bodyPr wrap="none" lIns="93600" tIns="46800" rIns="93600" bIns="46800" anchor="t"/>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ja-JP" altLang="en-US" dirty="0">
                <a:solidFill>
                  <a:schemeClr val="tx1">
                    <a:lumMod val="75000"/>
                    <a:lumOff val="25000"/>
                  </a:schemeClr>
                </a:solidFill>
                <a:latin typeface="+mn-ea"/>
                <a:ea typeface="+mn-ea"/>
              </a:rPr>
              <a:t>分岐</a:t>
            </a:r>
            <a:r>
              <a:rPr lang="en-US" altLang="ja-JP" dirty="0">
                <a:solidFill>
                  <a:schemeClr val="tx1">
                    <a:lumMod val="75000"/>
                    <a:lumOff val="25000"/>
                  </a:schemeClr>
                </a:solidFill>
                <a:latin typeface="+mn-ea"/>
                <a:ea typeface="+mn-ea"/>
              </a:rPr>
              <a:t>?</a:t>
            </a:r>
          </a:p>
        </p:txBody>
      </p:sp>
      <p:cxnSp>
        <p:nvCxnSpPr>
          <p:cNvPr id="34" name="直線矢印コネクタ 33">
            <a:extLst>
              <a:ext uri="{FF2B5EF4-FFF2-40B4-BE49-F238E27FC236}">
                <a16:creationId xmlns:a16="http://schemas.microsoft.com/office/drawing/2014/main" id="{52359309-6823-42AD-A91D-F3B7B4D5954B}"/>
              </a:ext>
            </a:extLst>
          </p:cNvPr>
          <p:cNvCxnSpPr>
            <a:cxnSpLocks/>
          </p:cNvCxnSpPr>
          <p:nvPr/>
        </p:nvCxnSpPr>
        <p:spPr bwMode="auto">
          <a:xfrm>
            <a:off x="4835986" y="3248998"/>
            <a:ext cx="0" cy="540006"/>
          </a:xfrm>
          <a:prstGeom prst="straightConnector1">
            <a:avLst/>
          </a:prstGeom>
          <a:ln>
            <a:headEnd type="none" w="sm" len="sm"/>
            <a:tailEnd type="triangle" w="lg" len="lg"/>
          </a:ln>
        </p:spPr>
        <p:style>
          <a:lnRef idx="2">
            <a:schemeClr val="accent5"/>
          </a:lnRef>
          <a:fillRef idx="0">
            <a:schemeClr val="accent5"/>
          </a:fillRef>
          <a:effectRef idx="1">
            <a:schemeClr val="accent5"/>
          </a:effectRef>
          <a:fontRef idx="minor">
            <a:schemeClr val="tx1"/>
          </a:fontRef>
        </p:style>
      </p:cxnSp>
      <p:cxnSp>
        <p:nvCxnSpPr>
          <p:cNvPr id="37" name="直線矢印コネクタ 36">
            <a:extLst>
              <a:ext uri="{FF2B5EF4-FFF2-40B4-BE49-F238E27FC236}">
                <a16:creationId xmlns:a16="http://schemas.microsoft.com/office/drawing/2014/main" id="{52359309-6823-42AD-A91D-F3B7B4D5954B}"/>
              </a:ext>
            </a:extLst>
          </p:cNvPr>
          <p:cNvCxnSpPr>
            <a:cxnSpLocks/>
          </p:cNvCxnSpPr>
          <p:nvPr/>
        </p:nvCxnSpPr>
        <p:spPr bwMode="auto">
          <a:xfrm>
            <a:off x="5195990" y="3248998"/>
            <a:ext cx="0" cy="540006"/>
          </a:xfrm>
          <a:prstGeom prst="straightConnector1">
            <a:avLst/>
          </a:prstGeom>
          <a:ln>
            <a:headEnd type="none" w="sm" len="sm"/>
            <a:tailEnd type="triangle" w="lg" len="lg"/>
          </a:ln>
        </p:spPr>
        <p:style>
          <a:lnRef idx="2">
            <a:schemeClr val="accent5"/>
          </a:lnRef>
          <a:fillRef idx="0">
            <a:schemeClr val="accent5"/>
          </a:fillRef>
          <a:effectRef idx="1">
            <a:schemeClr val="accent5"/>
          </a:effectRef>
          <a:fontRef idx="minor">
            <a:schemeClr val="tx1"/>
          </a:fontRef>
        </p:style>
      </p:cxnSp>
    </p:spTree>
    <p:extLst>
      <p:ext uri="{BB962C8B-B14F-4D97-AF65-F5344CB8AC3E}">
        <p14:creationId xmlns:p14="http://schemas.microsoft.com/office/powerpoint/2010/main" val="35488671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09D2D3BB-831F-4607-8123-6BB98910D54A}"/>
              </a:ext>
            </a:extLst>
          </p:cNvPr>
          <p:cNvSpPr>
            <a:spLocks noGrp="1"/>
          </p:cNvSpPr>
          <p:nvPr>
            <p:ph type="title"/>
          </p:nvPr>
        </p:nvSpPr>
        <p:spPr/>
        <p:txBody>
          <a:bodyPr/>
          <a:lstStyle/>
          <a:p>
            <a:r>
              <a:rPr lang="ja-JP" altLang="en-US" dirty="0">
                <a:latin typeface="+mn-ea"/>
              </a:rPr>
              <a:t>分岐予測器の動作（２）</a:t>
            </a:r>
            <a:br>
              <a:rPr lang="en-US" altLang="ja-JP" dirty="0">
                <a:latin typeface="+mn-ea"/>
              </a:rPr>
            </a:br>
            <a:r>
              <a:rPr lang="ja-JP" altLang="en-US" dirty="0">
                <a:latin typeface="+mn-ea"/>
              </a:rPr>
              <a:t>方向予測器による分岐方向の予測</a:t>
            </a:r>
            <a:endParaRPr lang="ja-JP" altLang="en-US" dirty="0">
              <a:latin typeface="+mn-ea"/>
              <a:ea typeface="+mn-ea"/>
            </a:endParaRPr>
          </a:p>
        </p:txBody>
      </p:sp>
      <p:sp>
        <p:nvSpPr>
          <p:cNvPr id="46" name="テキスト プレースホルダー 3"/>
          <p:cNvSpPr>
            <a:spLocks noGrp="1"/>
          </p:cNvSpPr>
          <p:nvPr>
            <p:ph type="body" sz="quarter" idx="10"/>
          </p:nvPr>
        </p:nvSpPr>
        <p:spPr>
          <a:xfrm>
            <a:off x="2135956" y="5589025"/>
            <a:ext cx="8280092" cy="719701"/>
          </a:xfrm>
        </p:spPr>
        <p:txBody>
          <a:bodyPr/>
          <a:lstStyle/>
          <a:p>
            <a:r>
              <a:rPr kumimoji="1" lang="ja-JP" altLang="en-US" dirty="0"/>
              <a:t>方向予測器により，分岐の方向を予測</a:t>
            </a:r>
            <a:endParaRPr kumimoji="1" lang="en-US" altLang="ja-JP" dirty="0"/>
          </a:p>
        </p:txBody>
      </p:sp>
      <p:sp>
        <p:nvSpPr>
          <p:cNvPr id="112" name="Rectangle 154">
            <a:extLst>
              <a:ext uri="{FF2B5EF4-FFF2-40B4-BE49-F238E27FC236}">
                <a16:creationId xmlns:a16="http://schemas.microsoft.com/office/drawing/2014/main" id="{FC6C970C-6B8A-45ED-8C30-DD305B2E2B1E}"/>
              </a:ext>
            </a:extLst>
          </p:cNvPr>
          <p:cNvSpPr>
            <a:spLocks noChangeArrowheads="1"/>
          </p:cNvSpPr>
          <p:nvPr/>
        </p:nvSpPr>
        <p:spPr bwMode="auto">
          <a:xfrm>
            <a:off x="6816009" y="2258988"/>
            <a:ext cx="718369" cy="984893"/>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mn-ea"/>
              <a:ea typeface="+mn-ea"/>
            </a:endParaRPr>
          </a:p>
        </p:txBody>
      </p:sp>
      <p:sp>
        <p:nvSpPr>
          <p:cNvPr id="121" name="Rectangle 133">
            <a:extLst>
              <a:ext uri="{FF2B5EF4-FFF2-40B4-BE49-F238E27FC236}">
                <a16:creationId xmlns:a16="http://schemas.microsoft.com/office/drawing/2014/main" id="{994A97D3-93DB-41F6-8CF4-7FC1DB7B78F4}"/>
              </a:ext>
            </a:extLst>
          </p:cNvPr>
          <p:cNvSpPr>
            <a:spLocks noChangeArrowheads="1"/>
          </p:cNvSpPr>
          <p:nvPr/>
        </p:nvSpPr>
        <p:spPr bwMode="auto">
          <a:xfrm>
            <a:off x="6456005" y="2018745"/>
            <a:ext cx="719803" cy="240242"/>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ja-JP" altLang="en-US" dirty="0">
                <a:solidFill>
                  <a:schemeClr val="tx1">
                    <a:lumMod val="75000"/>
                    <a:lumOff val="25000"/>
                  </a:schemeClr>
                </a:solidFill>
                <a:latin typeface="+mn-ea"/>
                <a:ea typeface="+mn-ea"/>
              </a:rPr>
              <a:t>方向予測器</a:t>
            </a:r>
            <a:endParaRPr lang="en-US" altLang="ja-JP" dirty="0">
              <a:solidFill>
                <a:schemeClr val="tx1">
                  <a:lumMod val="75000"/>
                  <a:lumOff val="25000"/>
                </a:schemeClr>
              </a:solidFill>
              <a:latin typeface="+mn-ea"/>
              <a:ea typeface="+mn-ea"/>
            </a:endParaRPr>
          </a:p>
        </p:txBody>
      </p:sp>
      <p:sp>
        <p:nvSpPr>
          <p:cNvPr id="135" name="Freeform 10">
            <a:extLst>
              <a:ext uri="{FF2B5EF4-FFF2-40B4-BE49-F238E27FC236}">
                <a16:creationId xmlns:a16="http://schemas.microsoft.com/office/drawing/2014/main" id="{2D7F3348-C62D-4BE6-8124-759D7284CC1D}"/>
              </a:ext>
            </a:extLst>
          </p:cNvPr>
          <p:cNvSpPr>
            <a:spLocks/>
          </p:cNvSpPr>
          <p:nvPr/>
        </p:nvSpPr>
        <p:spPr bwMode="auto">
          <a:xfrm rot="10800000">
            <a:off x="3215966" y="1628980"/>
            <a:ext cx="2880033" cy="1080012"/>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none" w="lg" len="lg"/>
            <a:tailEnd type="none" w="med" len="med"/>
          </a:ln>
        </p:spPr>
        <p:style>
          <a:lnRef idx="2">
            <a:schemeClr val="accent4"/>
          </a:lnRef>
          <a:fillRef idx="0">
            <a:schemeClr val="accent4"/>
          </a:fillRef>
          <a:effectRef idx="1">
            <a:schemeClr val="accent4"/>
          </a:effectRef>
          <a:fontRef idx="minor">
            <a:schemeClr val="tx1"/>
          </a:fontRef>
        </p:style>
        <p:txBody>
          <a:bodyPr/>
          <a:lstStyle/>
          <a:p>
            <a:endParaRPr lang="ja-JP" altLang="en-US">
              <a:latin typeface="+mn-ea"/>
              <a:cs typeface="Times New Roman" pitchFamily="18" charset="0"/>
            </a:endParaRPr>
          </a:p>
        </p:txBody>
      </p:sp>
      <p:cxnSp>
        <p:nvCxnSpPr>
          <p:cNvPr id="136" name="直線矢印コネクタ 135">
            <a:extLst>
              <a:ext uri="{FF2B5EF4-FFF2-40B4-BE49-F238E27FC236}">
                <a16:creationId xmlns:a16="http://schemas.microsoft.com/office/drawing/2014/main" id="{B9D87B37-B505-4688-A744-B1A1E10BFBF9}"/>
              </a:ext>
            </a:extLst>
          </p:cNvPr>
          <p:cNvCxnSpPr>
            <a:cxnSpLocks/>
          </p:cNvCxnSpPr>
          <p:nvPr/>
        </p:nvCxnSpPr>
        <p:spPr bwMode="auto">
          <a:xfrm>
            <a:off x="6096001" y="2708992"/>
            <a:ext cx="690295" cy="0"/>
          </a:xfrm>
          <a:prstGeom prst="straightConnector1">
            <a:avLst/>
          </a:prstGeom>
          <a:ln>
            <a:headEnd type="none" w="sm" len="sm"/>
            <a:tailEnd type="triangle" w="lg" len="lg"/>
          </a:ln>
        </p:spPr>
        <p:style>
          <a:lnRef idx="2">
            <a:schemeClr val="accent4"/>
          </a:lnRef>
          <a:fillRef idx="0">
            <a:schemeClr val="accent4"/>
          </a:fillRef>
          <a:effectRef idx="1">
            <a:schemeClr val="accent4"/>
          </a:effectRef>
          <a:fontRef idx="minor">
            <a:schemeClr val="tx1"/>
          </a:fontRef>
        </p:style>
      </p:cxnSp>
      <p:sp>
        <p:nvSpPr>
          <p:cNvPr id="31" name="Rectangle 133">
            <a:extLst>
              <a:ext uri="{FF2B5EF4-FFF2-40B4-BE49-F238E27FC236}">
                <a16:creationId xmlns:a16="http://schemas.microsoft.com/office/drawing/2014/main" id="{0031F1DA-9455-4239-A0EE-58244DDFC3AE}"/>
              </a:ext>
            </a:extLst>
          </p:cNvPr>
          <p:cNvSpPr>
            <a:spLocks noChangeArrowheads="1"/>
          </p:cNvSpPr>
          <p:nvPr/>
        </p:nvSpPr>
        <p:spPr bwMode="auto">
          <a:xfrm>
            <a:off x="7266013" y="3339000"/>
            <a:ext cx="1260014" cy="450005"/>
          </a:xfrm>
          <a:prstGeom prst="rect">
            <a:avLst/>
          </a:prstGeom>
          <a:noFill/>
          <a:ln w="12700">
            <a:noFill/>
            <a:miter lim="800000"/>
            <a:headEnd/>
            <a:tailEnd/>
          </a:ln>
          <a:effectLst/>
        </p:spPr>
        <p:txBody>
          <a:bodyPr wrap="none" lIns="93600" tIns="46800" rIns="93600" bIns="46800" anchor="t"/>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ja-JP" altLang="en-US" dirty="0">
                <a:solidFill>
                  <a:schemeClr val="tx1">
                    <a:lumMod val="75000"/>
                    <a:lumOff val="25000"/>
                  </a:schemeClr>
                </a:solidFill>
                <a:latin typeface="+mn-ea"/>
                <a:ea typeface="+mn-ea"/>
              </a:rPr>
              <a:t>分岐方向</a:t>
            </a:r>
            <a:endParaRPr lang="en-US" altLang="ja-JP" dirty="0">
              <a:solidFill>
                <a:schemeClr val="tx1">
                  <a:lumMod val="75000"/>
                  <a:lumOff val="25000"/>
                </a:schemeClr>
              </a:solidFill>
              <a:latin typeface="+mn-ea"/>
              <a:ea typeface="+mn-ea"/>
            </a:endParaRPr>
          </a:p>
        </p:txBody>
      </p:sp>
      <p:sp>
        <p:nvSpPr>
          <p:cNvPr id="34" name="Rectangle 13">
            <a:extLst>
              <a:ext uri="{FF2B5EF4-FFF2-40B4-BE49-F238E27FC236}">
                <a16:creationId xmlns:a16="http://schemas.microsoft.com/office/drawing/2014/main" id="{6F3553EC-3B3D-4454-92A6-5F570F10C904}"/>
              </a:ext>
            </a:extLst>
          </p:cNvPr>
          <p:cNvSpPr>
            <a:spLocks noChangeArrowheads="1"/>
          </p:cNvSpPr>
          <p:nvPr/>
        </p:nvSpPr>
        <p:spPr bwMode="auto">
          <a:xfrm>
            <a:off x="2495961" y="1454095"/>
            <a:ext cx="720725" cy="360362"/>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tx1">
                    <a:lumMod val="75000"/>
                    <a:lumOff val="25000"/>
                  </a:schemeClr>
                </a:solidFill>
                <a:latin typeface="+mn-ea"/>
                <a:ea typeface="+mn-ea"/>
              </a:rPr>
              <a:t>PC</a:t>
            </a:r>
            <a:endParaRPr lang="ja-JP" altLang="en-US" b="1" dirty="0">
              <a:solidFill>
                <a:schemeClr val="tx1">
                  <a:lumMod val="75000"/>
                  <a:lumOff val="25000"/>
                </a:schemeClr>
              </a:solidFill>
              <a:latin typeface="+mn-ea"/>
              <a:ea typeface="+mn-ea"/>
            </a:endParaRPr>
          </a:p>
        </p:txBody>
      </p:sp>
      <p:sp>
        <p:nvSpPr>
          <p:cNvPr id="35" name="Freeform 10">
            <a:extLst>
              <a:ext uri="{FF2B5EF4-FFF2-40B4-BE49-F238E27FC236}">
                <a16:creationId xmlns:a16="http://schemas.microsoft.com/office/drawing/2014/main" id="{EB48C9DE-478E-4AAF-BBBA-4890D91B1B5B}"/>
              </a:ext>
            </a:extLst>
          </p:cNvPr>
          <p:cNvSpPr>
            <a:spLocks/>
          </p:cNvSpPr>
          <p:nvPr/>
        </p:nvSpPr>
        <p:spPr bwMode="auto">
          <a:xfrm rot="16200000" flipV="1">
            <a:off x="3305969" y="1358977"/>
            <a:ext cx="900010" cy="180002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triangle" w="lg" len="lg"/>
            <a:tailEnd type="none" w="med" len="med"/>
          </a:ln>
        </p:spPr>
        <p:style>
          <a:lnRef idx="2">
            <a:schemeClr val="accent4"/>
          </a:lnRef>
          <a:fillRef idx="0">
            <a:schemeClr val="accent4"/>
          </a:fillRef>
          <a:effectRef idx="1">
            <a:schemeClr val="accent4"/>
          </a:effectRef>
          <a:fontRef idx="minor">
            <a:schemeClr val="tx1"/>
          </a:fontRef>
        </p:style>
        <p:txBody>
          <a:bodyPr/>
          <a:lstStyle/>
          <a:p>
            <a:endParaRPr lang="ja-JP" altLang="en-US">
              <a:latin typeface="+mn-ea"/>
              <a:cs typeface="Times New Roman" pitchFamily="18" charset="0"/>
            </a:endParaRPr>
          </a:p>
        </p:txBody>
      </p:sp>
      <p:sp>
        <p:nvSpPr>
          <p:cNvPr id="37" name="Rectangle 133">
            <a:extLst>
              <a:ext uri="{FF2B5EF4-FFF2-40B4-BE49-F238E27FC236}">
                <a16:creationId xmlns:a16="http://schemas.microsoft.com/office/drawing/2014/main" id="{50950858-F2AD-4754-B7CC-69AD6E6ABCC8}"/>
              </a:ext>
            </a:extLst>
          </p:cNvPr>
          <p:cNvSpPr>
            <a:spLocks noChangeArrowheads="1"/>
          </p:cNvSpPr>
          <p:nvPr/>
        </p:nvSpPr>
        <p:spPr bwMode="auto">
          <a:xfrm>
            <a:off x="4657624" y="2018745"/>
            <a:ext cx="719803" cy="240242"/>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en-US" altLang="ja-JP" dirty="0">
                <a:solidFill>
                  <a:schemeClr val="tx1">
                    <a:lumMod val="75000"/>
                    <a:lumOff val="25000"/>
                  </a:schemeClr>
                </a:solidFill>
                <a:latin typeface="+mn-ea"/>
                <a:ea typeface="+mn-ea"/>
              </a:rPr>
              <a:t>BTB</a:t>
            </a:r>
          </a:p>
        </p:txBody>
      </p:sp>
      <p:sp>
        <p:nvSpPr>
          <p:cNvPr id="38"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657624" y="2258988"/>
            <a:ext cx="718369" cy="990011"/>
          </a:xfrm>
          <a:prstGeom prst="rect">
            <a:avLst/>
          </a:prstGeom>
          <a:ln>
            <a:headEnd/>
            <a:tailEnd/>
          </a:ln>
        </p:spPr>
        <p:style>
          <a:lnRef idx="1">
            <a:schemeClr val="dk1"/>
          </a:lnRef>
          <a:fillRef idx="2">
            <a:schemeClr val="dk1"/>
          </a:fillRef>
          <a:effectRef idx="1">
            <a:schemeClr val="dk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mn-ea"/>
              <a:ea typeface="+mn-ea"/>
            </a:endParaRPr>
          </a:p>
        </p:txBody>
      </p:sp>
      <p:sp>
        <p:nvSpPr>
          <p:cNvPr id="39" name="Rectangle 133">
            <a:extLst>
              <a:ext uri="{FF2B5EF4-FFF2-40B4-BE49-F238E27FC236}">
                <a16:creationId xmlns:a16="http://schemas.microsoft.com/office/drawing/2014/main" id="{638798E7-DA2E-4A64-8729-E0ECA9F8F543}"/>
              </a:ext>
            </a:extLst>
          </p:cNvPr>
          <p:cNvSpPr>
            <a:spLocks noChangeArrowheads="1"/>
          </p:cNvSpPr>
          <p:nvPr/>
        </p:nvSpPr>
        <p:spPr bwMode="auto">
          <a:xfrm>
            <a:off x="2945965" y="3339000"/>
            <a:ext cx="2160024" cy="630007"/>
          </a:xfrm>
          <a:prstGeom prst="rect">
            <a:avLst/>
          </a:prstGeom>
          <a:noFill/>
          <a:ln w="12700">
            <a:noFill/>
            <a:miter lim="800000"/>
            <a:headEnd/>
            <a:tailEnd/>
          </a:ln>
          <a:effectLst/>
        </p:spPr>
        <p:txBody>
          <a:bodyPr wrap="none" lIns="93600" tIns="46800" rIns="93600" bIns="46800" anchor="t"/>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ja-JP" altLang="en-US" dirty="0">
                <a:solidFill>
                  <a:schemeClr val="tx1">
                    <a:lumMod val="75000"/>
                    <a:lumOff val="25000"/>
                  </a:schemeClr>
                </a:solidFill>
                <a:latin typeface="+mn-ea"/>
                <a:ea typeface="+mn-ea"/>
              </a:rPr>
              <a:t>分岐ターゲット</a:t>
            </a:r>
            <a:endParaRPr lang="en-US" altLang="ja-JP" dirty="0">
              <a:solidFill>
                <a:schemeClr val="tx1">
                  <a:lumMod val="75000"/>
                  <a:lumOff val="25000"/>
                </a:schemeClr>
              </a:solidFill>
              <a:latin typeface="+mn-ea"/>
              <a:ea typeface="+mn-ea"/>
            </a:endParaRPr>
          </a:p>
          <a:p>
            <a:pPr eaLnBrk="0" hangingPunct="0"/>
            <a:r>
              <a:rPr lang="ja-JP" altLang="en-US" dirty="0">
                <a:solidFill>
                  <a:schemeClr val="tx1">
                    <a:lumMod val="75000"/>
                    <a:lumOff val="25000"/>
                  </a:schemeClr>
                </a:solidFill>
                <a:latin typeface="+mn-ea"/>
                <a:ea typeface="+mn-ea"/>
              </a:rPr>
              <a:t>アドレス</a:t>
            </a:r>
            <a:endParaRPr lang="en-US" altLang="ja-JP" dirty="0">
              <a:solidFill>
                <a:schemeClr val="tx1">
                  <a:lumMod val="75000"/>
                  <a:lumOff val="25000"/>
                </a:schemeClr>
              </a:solidFill>
              <a:latin typeface="+mn-ea"/>
              <a:ea typeface="+mn-ea"/>
            </a:endParaRPr>
          </a:p>
        </p:txBody>
      </p:sp>
      <p:sp>
        <p:nvSpPr>
          <p:cNvPr id="41" name="Rectangle 133">
            <a:extLst>
              <a:ext uri="{FF2B5EF4-FFF2-40B4-BE49-F238E27FC236}">
                <a16:creationId xmlns:a16="http://schemas.microsoft.com/office/drawing/2014/main" id="{0031F1DA-9455-4239-A0EE-58244DDFC3AE}"/>
              </a:ext>
            </a:extLst>
          </p:cNvPr>
          <p:cNvSpPr>
            <a:spLocks noChangeArrowheads="1"/>
          </p:cNvSpPr>
          <p:nvPr/>
        </p:nvSpPr>
        <p:spPr bwMode="auto">
          <a:xfrm>
            <a:off x="5195991" y="3339000"/>
            <a:ext cx="990011" cy="450005"/>
          </a:xfrm>
          <a:prstGeom prst="rect">
            <a:avLst/>
          </a:prstGeom>
          <a:noFill/>
          <a:ln w="12700">
            <a:noFill/>
            <a:miter lim="800000"/>
            <a:headEnd/>
            <a:tailEnd/>
          </a:ln>
          <a:effectLst/>
        </p:spPr>
        <p:txBody>
          <a:bodyPr wrap="none" lIns="93600" tIns="46800" rIns="93600" bIns="46800" anchor="t"/>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ja-JP" altLang="en-US" dirty="0">
                <a:solidFill>
                  <a:schemeClr val="tx1">
                    <a:lumMod val="75000"/>
                    <a:lumOff val="25000"/>
                  </a:schemeClr>
                </a:solidFill>
                <a:latin typeface="+mn-ea"/>
                <a:ea typeface="+mn-ea"/>
              </a:rPr>
              <a:t>分岐</a:t>
            </a:r>
            <a:r>
              <a:rPr lang="en-US" altLang="ja-JP" dirty="0">
                <a:solidFill>
                  <a:schemeClr val="tx1">
                    <a:lumMod val="75000"/>
                    <a:lumOff val="25000"/>
                  </a:schemeClr>
                </a:solidFill>
                <a:latin typeface="+mn-ea"/>
                <a:ea typeface="+mn-ea"/>
              </a:rPr>
              <a:t>?</a:t>
            </a:r>
          </a:p>
        </p:txBody>
      </p:sp>
      <p:cxnSp>
        <p:nvCxnSpPr>
          <p:cNvPr id="42" name="直線矢印コネクタ 41">
            <a:extLst>
              <a:ext uri="{FF2B5EF4-FFF2-40B4-BE49-F238E27FC236}">
                <a16:creationId xmlns:a16="http://schemas.microsoft.com/office/drawing/2014/main" id="{52359309-6823-42AD-A91D-F3B7B4D5954B}"/>
              </a:ext>
            </a:extLst>
          </p:cNvPr>
          <p:cNvCxnSpPr>
            <a:cxnSpLocks/>
          </p:cNvCxnSpPr>
          <p:nvPr/>
        </p:nvCxnSpPr>
        <p:spPr bwMode="auto">
          <a:xfrm>
            <a:off x="4835986" y="3248998"/>
            <a:ext cx="0" cy="540006"/>
          </a:xfrm>
          <a:prstGeom prst="straightConnector1">
            <a:avLst/>
          </a:prstGeom>
          <a:ln>
            <a:solidFill>
              <a:schemeClr val="tx1">
                <a:lumMod val="75000"/>
                <a:lumOff val="25000"/>
              </a:schemeClr>
            </a:solidFill>
            <a:headEnd type="none" w="sm" len="sm"/>
            <a:tailEnd type="triangle" w="lg" len="lg"/>
          </a:ln>
        </p:spPr>
        <p:style>
          <a:lnRef idx="2">
            <a:schemeClr val="accent5"/>
          </a:lnRef>
          <a:fillRef idx="0">
            <a:schemeClr val="accent5"/>
          </a:fillRef>
          <a:effectRef idx="1">
            <a:schemeClr val="accent5"/>
          </a:effectRef>
          <a:fontRef idx="minor">
            <a:schemeClr val="tx1"/>
          </a:fontRef>
        </p:style>
      </p:cxnSp>
      <p:cxnSp>
        <p:nvCxnSpPr>
          <p:cNvPr id="44" name="直線矢印コネクタ 43">
            <a:extLst>
              <a:ext uri="{FF2B5EF4-FFF2-40B4-BE49-F238E27FC236}">
                <a16:creationId xmlns:a16="http://schemas.microsoft.com/office/drawing/2014/main" id="{52359309-6823-42AD-A91D-F3B7B4D5954B}"/>
              </a:ext>
            </a:extLst>
          </p:cNvPr>
          <p:cNvCxnSpPr>
            <a:cxnSpLocks/>
          </p:cNvCxnSpPr>
          <p:nvPr/>
        </p:nvCxnSpPr>
        <p:spPr bwMode="auto">
          <a:xfrm>
            <a:off x="5195990" y="3248998"/>
            <a:ext cx="0" cy="540006"/>
          </a:xfrm>
          <a:prstGeom prst="straightConnector1">
            <a:avLst/>
          </a:prstGeom>
          <a:ln>
            <a:solidFill>
              <a:schemeClr val="tx1">
                <a:lumMod val="75000"/>
                <a:lumOff val="25000"/>
              </a:schemeClr>
            </a:solidFill>
            <a:headEnd type="none" w="sm" len="sm"/>
            <a:tailEnd type="triangle" w="lg" len="lg"/>
          </a:ln>
        </p:spPr>
        <p:style>
          <a:lnRef idx="2">
            <a:schemeClr val="accent5"/>
          </a:lnRef>
          <a:fillRef idx="0">
            <a:schemeClr val="accent5"/>
          </a:fillRef>
          <a:effectRef idx="1">
            <a:schemeClr val="accent5"/>
          </a:effectRef>
          <a:fontRef idx="minor">
            <a:schemeClr val="tx1"/>
          </a:fontRef>
        </p:style>
      </p:cxnSp>
      <p:cxnSp>
        <p:nvCxnSpPr>
          <p:cNvPr id="45" name="直線矢印コネクタ 44">
            <a:extLst>
              <a:ext uri="{FF2B5EF4-FFF2-40B4-BE49-F238E27FC236}">
                <a16:creationId xmlns:a16="http://schemas.microsoft.com/office/drawing/2014/main" id="{52359309-6823-42AD-A91D-F3B7B4D5954B}"/>
              </a:ext>
            </a:extLst>
          </p:cNvPr>
          <p:cNvCxnSpPr>
            <a:cxnSpLocks/>
          </p:cNvCxnSpPr>
          <p:nvPr/>
        </p:nvCxnSpPr>
        <p:spPr bwMode="auto">
          <a:xfrm>
            <a:off x="7176012" y="3248998"/>
            <a:ext cx="0" cy="540006"/>
          </a:xfrm>
          <a:prstGeom prst="straightConnector1">
            <a:avLst/>
          </a:prstGeom>
          <a:ln>
            <a:headEnd type="none" w="sm" len="sm"/>
            <a:tailEnd type="triangle" w="lg" len="lg"/>
          </a:ln>
        </p:spPr>
        <p:style>
          <a:lnRef idx="2">
            <a:schemeClr val="accent5"/>
          </a:lnRef>
          <a:fillRef idx="0">
            <a:schemeClr val="accent5"/>
          </a:fillRef>
          <a:effectRef idx="1">
            <a:schemeClr val="accent5"/>
          </a:effectRef>
          <a:fontRef idx="minor">
            <a:schemeClr val="tx1"/>
          </a:fontRef>
        </p:style>
      </p:cxnSp>
    </p:spTree>
    <p:extLst>
      <p:ext uri="{BB962C8B-B14F-4D97-AF65-F5344CB8AC3E}">
        <p14:creationId xmlns:p14="http://schemas.microsoft.com/office/powerpoint/2010/main" val="20253763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09D2D3BB-831F-4607-8123-6BB98910D54A}"/>
              </a:ext>
            </a:extLst>
          </p:cNvPr>
          <p:cNvSpPr>
            <a:spLocks noGrp="1"/>
          </p:cNvSpPr>
          <p:nvPr>
            <p:ph type="title"/>
          </p:nvPr>
        </p:nvSpPr>
        <p:spPr/>
        <p:txBody>
          <a:bodyPr/>
          <a:lstStyle/>
          <a:p>
            <a:r>
              <a:rPr lang="ja-JP" altLang="en-US" dirty="0">
                <a:latin typeface="+mn-ea"/>
              </a:rPr>
              <a:t>分岐予測器の動作（３）</a:t>
            </a:r>
            <a:br>
              <a:rPr lang="en-US" altLang="ja-JP" dirty="0">
                <a:latin typeface="+mn-ea"/>
              </a:rPr>
            </a:br>
            <a:r>
              <a:rPr lang="ja-JP" altLang="en-US" dirty="0">
                <a:latin typeface="+mn-ea"/>
              </a:rPr>
              <a:t>次の </a:t>
            </a:r>
            <a:r>
              <a:rPr lang="en-US" altLang="ja-JP" dirty="0">
                <a:latin typeface="+mn-ea"/>
              </a:rPr>
              <a:t>PC </a:t>
            </a:r>
            <a:r>
              <a:rPr lang="ja-JP" altLang="en-US" dirty="0">
                <a:latin typeface="+mn-ea"/>
              </a:rPr>
              <a:t>の予測</a:t>
            </a:r>
            <a:endParaRPr lang="ja-JP" altLang="en-US" dirty="0">
              <a:latin typeface="+mn-ea"/>
              <a:ea typeface="+mn-ea"/>
            </a:endParaRPr>
          </a:p>
        </p:txBody>
      </p:sp>
      <p:sp>
        <p:nvSpPr>
          <p:cNvPr id="38" name="テキスト プレースホルダー 3"/>
          <p:cNvSpPr>
            <a:spLocks noGrp="1"/>
          </p:cNvSpPr>
          <p:nvPr>
            <p:ph type="body" sz="quarter" idx="10"/>
          </p:nvPr>
        </p:nvSpPr>
        <p:spPr>
          <a:xfrm>
            <a:off x="2135956" y="5859028"/>
            <a:ext cx="8280092" cy="719701"/>
          </a:xfrm>
        </p:spPr>
        <p:txBody>
          <a:bodyPr/>
          <a:lstStyle/>
          <a:p>
            <a:r>
              <a:rPr kumimoji="1" lang="ja-JP" altLang="en-US" dirty="0"/>
              <a:t>次の </a:t>
            </a:r>
            <a:r>
              <a:rPr kumimoji="1" lang="en-US" altLang="ja-JP" dirty="0"/>
              <a:t>PC </a:t>
            </a:r>
            <a:r>
              <a:rPr kumimoji="1" lang="ja-JP" altLang="en-US" dirty="0"/>
              <a:t>をマルチプレクサにより選択</a:t>
            </a:r>
            <a:endParaRPr kumimoji="1" lang="en-US" altLang="ja-JP" dirty="0"/>
          </a:p>
          <a:p>
            <a:pPr lvl="1"/>
            <a:r>
              <a:rPr kumimoji="1" lang="ja-JP" altLang="en-US" dirty="0"/>
              <a:t>分岐命令かつ分岐が成立なら，ターゲット・アドレスを選択</a:t>
            </a:r>
            <a:endParaRPr kumimoji="1" lang="en-US" altLang="ja-JP" dirty="0"/>
          </a:p>
          <a:p>
            <a:pPr lvl="1"/>
            <a:r>
              <a:rPr kumimoji="1" lang="ja-JP" altLang="en-US" dirty="0"/>
              <a:t>そうでなければ </a:t>
            </a:r>
            <a:r>
              <a:rPr kumimoji="1" lang="en-US" altLang="ja-JP" dirty="0"/>
              <a:t>PC + 4 </a:t>
            </a:r>
            <a:r>
              <a:rPr lang="ja-JP" altLang="en-US" dirty="0"/>
              <a:t>を選択</a:t>
            </a:r>
            <a:endParaRPr kumimoji="1" lang="en-US" altLang="ja-JP" dirty="0"/>
          </a:p>
        </p:txBody>
      </p:sp>
      <p:sp>
        <p:nvSpPr>
          <p:cNvPr id="110" name="Rectangle 13">
            <a:extLst>
              <a:ext uri="{FF2B5EF4-FFF2-40B4-BE49-F238E27FC236}">
                <a16:creationId xmlns:a16="http://schemas.microsoft.com/office/drawing/2014/main" id="{6F3553EC-3B3D-4454-92A6-5F570F10C904}"/>
              </a:ext>
            </a:extLst>
          </p:cNvPr>
          <p:cNvSpPr>
            <a:spLocks noChangeArrowheads="1"/>
          </p:cNvSpPr>
          <p:nvPr/>
        </p:nvSpPr>
        <p:spPr bwMode="auto">
          <a:xfrm>
            <a:off x="2495961" y="1088974"/>
            <a:ext cx="720725" cy="360362"/>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tx1">
                    <a:lumMod val="75000"/>
                    <a:lumOff val="25000"/>
                  </a:schemeClr>
                </a:solidFill>
                <a:latin typeface="+mn-ea"/>
                <a:ea typeface="+mn-ea"/>
              </a:rPr>
              <a:t>PC</a:t>
            </a:r>
            <a:endParaRPr lang="ja-JP" altLang="en-US" b="1" dirty="0">
              <a:solidFill>
                <a:schemeClr val="tx1">
                  <a:lumMod val="75000"/>
                  <a:lumOff val="25000"/>
                </a:schemeClr>
              </a:solidFill>
              <a:latin typeface="+mn-ea"/>
              <a:ea typeface="+mn-ea"/>
            </a:endParaRPr>
          </a:p>
        </p:txBody>
      </p:sp>
      <p:sp>
        <p:nvSpPr>
          <p:cNvPr id="111" name="Freeform 10">
            <a:extLst>
              <a:ext uri="{FF2B5EF4-FFF2-40B4-BE49-F238E27FC236}">
                <a16:creationId xmlns:a16="http://schemas.microsoft.com/office/drawing/2014/main" id="{EB48C9DE-478E-4AAF-BBBA-4890D91B1B5B}"/>
              </a:ext>
            </a:extLst>
          </p:cNvPr>
          <p:cNvSpPr>
            <a:spLocks/>
          </p:cNvSpPr>
          <p:nvPr/>
        </p:nvSpPr>
        <p:spPr bwMode="auto">
          <a:xfrm rot="16200000" flipV="1">
            <a:off x="3305969" y="993856"/>
            <a:ext cx="900010" cy="180002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triangle" w="lg" len="lg"/>
            <a:tailEnd type="none" w="med" len="med"/>
          </a:ln>
        </p:spPr>
        <p:style>
          <a:lnRef idx="2">
            <a:schemeClr val="accent4"/>
          </a:lnRef>
          <a:fillRef idx="0">
            <a:schemeClr val="accent4"/>
          </a:fillRef>
          <a:effectRef idx="1">
            <a:schemeClr val="accent4"/>
          </a:effectRef>
          <a:fontRef idx="minor">
            <a:schemeClr val="tx1"/>
          </a:fontRef>
        </p:style>
        <p:txBody>
          <a:bodyPr/>
          <a:lstStyle/>
          <a:p>
            <a:endParaRPr lang="ja-JP" altLang="en-US">
              <a:latin typeface="+mn-ea"/>
              <a:cs typeface="Times New Roman" pitchFamily="18" charset="0"/>
            </a:endParaRPr>
          </a:p>
        </p:txBody>
      </p:sp>
      <p:sp>
        <p:nvSpPr>
          <p:cNvPr id="112" name="Rectangle 154">
            <a:extLst>
              <a:ext uri="{FF2B5EF4-FFF2-40B4-BE49-F238E27FC236}">
                <a16:creationId xmlns:a16="http://schemas.microsoft.com/office/drawing/2014/main" id="{FC6C970C-6B8A-45ED-8C30-DD305B2E2B1E}"/>
              </a:ext>
            </a:extLst>
          </p:cNvPr>
          <p:cNvSpPr>
            <a:spLocks noChangeArrowheads="1"/>
          </p:cNvSpPr>
          <p:nvPr/>
        </p:nvSpPr>
        <p:spPr bwMode="auto">
          <a:xfrm>
            <a:off x="6816009" y="1893867"/>
            <a:ext cx="718369" cy="984893"/>
          </a:xfrm>
          <a:prstGeom prst="rect">
            <a:avLst/>
          </a:prstGeom>
          <a:ln>
            <a:headEnd/>
            <a:tailEnd/>
          </a:ln>
        </p:spPr>
        <p:style>
          <a:lnRef idx="1">
            <a:schemeClr val="dk1"/>
          </a:lnRef>
          <a:fillRef idx="2">
            <a:schemeClr val="dk1"/>
          </a:fillRef>
          <a:effectRef idx="1">
            <a:schemeClr val="dk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mn-ea"/>
              <a:ea typeface="+mn-ea"/>
            </a:endParaRPr>
          </a:p>
        </p:txBody>
      </p:sp>
      <p:sp>
        <p:nvSpPr>
          <p:cNvPr id="121" name="Rectangle 133">
            <a:extLst>
              <a:ext uri="{FF2B5EF4-FFF2-40B4-BE49-F238E27FC236}">
                <a16:creationId xmlns:a16="http://schemas.microsoft.com/office/drawing/2014/main" id="{994A97D3-93DB-41F6-8CF4-7FC1DB7B78F4}"/>
              </a:ext>
            </a:extLst>
          </p:cNvPr>
          <p:cNvSpPr>
            <a:spLocks noChangeArrowheads="1"/>
          </p:cNvSpPr>
          <p:nvPr/>
        </p:nvSpPr>
        <p:spPr bwMode="auto">
          <a:xfrm>
            <a:off x="6456005" y="1653624"/>
            <a:ext cx="719803" cy="240242"/>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ja-JP" altLang="en-US" dirty="0">
                <a:solidFill>
                  <a:schemeClr val="tx1">
                    <a:lumMod val="75000"/>
                    <a:lumOff val="25000"/>
                  </a:schemeClr>
                </a:solidFill>
                <a:latin typeface="+mn-ea"/>
                <a:ea typeface="+mn-ea"/>
              </a:rPr>
              <a:t>方向予測器</a:t>
            </a:r>
            <a:endParaRPr lang="en-US" altLang="ja-JP" dirty="0">
              <a:solidFill>
                <a:schemeClr val="tx1">
                  <a:lumMod val="75000"/>
                  <a:lumOff val="25000"/>
                </a:schemeClr>
              </a:solidFill>
              <a:latin typeface="+mn-ea"/>
              <a:ea typeface="+mn-ea"/>
            </a:endParaRPr>
          </a:p>
        </p:txBody>
      </p:sp>
      <p:cxnSp>
        <p:nvCxnSpPr>
          <p:cNvPr id="126" name="直線矢印コネクタ 125">
            <a:extLst>
              <a:ext uri="{FF2B5EF4-FFF2-40B4-BE49-F238E27FC236}">
                <a16:creationId xmlns:a16="http://schemas.microsoft.com/office/drawing/2014/main" id="{6720ADC0-FF92-4C17-8CCD-4C47695473C9}"/>
              </a:ext>
            </a:extLst>
          </p:cNvPr>
          <p:cNvCxnSpPr/>
          <p:nvPr/>
        </p:nvCxnSpPr>
        <p:spPr bwMode="auto">
          <a:xfrm>
            <a:off x="5195990" y="2883878"/>
            <a:ext cx="0" cy="450005"/>
          </a:xfrm>
          <a:prstGeom prst="straightConnector1">
            <a:avLst/>
          </a:prstGeom>
          <a:ln>
            <a:headEnd type="none" w="sm" len="sm"/>
            <a:tailEnd type="none" w="lg" len="lg"/>
          </a:ln>
        </p:spPr>
        <p:style>
          <a:lnRef idx="2">
            <a:schemeClr val="accent5"/>
          </a:lnRef>
          <a:fillRef idx="0">
            <a:schemeClr val="accent5"/>
          </a:fillRef>
          <a:effectRef idx="1">
            <a:schemeClr val="accent5"/>
          </a:effectRef>
          <a:fontRef idx="minor">
            <a:schemeClr val="tx1"/>
          </a:fontRef>
        </p:style>
      </p:cxnSp>
      <p:cxnSp>
        <p:nvCxnSpPr>
          <p:cNvPr id="134" name="直線矢印コネクタ 133">
            <a:extLst>
              <a:ext uri="{FF2B5EF4-FFF2-40B4-BE49-F238E27FC236}">
                <a16:creationId xmlns:a16="http://schemas.microsoft.com/office/drawing/2014/main" id="{7ABC4675-0E42-42E0-8BA9-621092B9AB07}"/>
              </a:ext>
            </a:extLst>
          </p:cNvPr>
          <p:cNvCxnSpPr/>
          <p:nvPr/>
        </p:nvCxnSpPr>
        <p:spPr bwMode="auto">
          <a:xfrm>
            <a:off x="7176012" y="2883878"/>
            <a:ext cx="0" cy="450005"/>
          </a:xfrm>
          <a:prstGeom prst="straightConnector1">
            <a:avLst/>
          </a:prstGeom>
          <a:ln>
            <a:headEnd type="none" w="sm" len="sm"/>
            <a:tailEnd type="none" w="lg" len="lg"/>
          </a:ln>
        </p:spPr>
        <p:style>
          <a:lnRef idx="2">
            <a:schemeClr val="accent5"/>
          </a:lnRef>
          <a:fillRef idx="0">
            <a:schemeClr val="accent5"/>
          </a:fillRef>
          <a:effectRef idx="1">
            <a:schemeClr val="accent5"/>
          </a:effectRef>
          <a:fontRef idx="minor">
            <a:schemeClr val="tx1"/>
          </a:fontRef>
        </p:style>
      </p:cxnSp>
      <p:sp>
        <p:nvSpPr>
          <p:cNvPr id="135" name="Freeform 10">
            <a:extLst>
              <a:ext uri="{FF2B5EF4-FFF2-40B4-BE49-F238E27FC236}">
                <a16:creationId xmlns:a16="http://schemas.microsoft.com/office/drawing/2014/main" id="{2D7F3348-C62D-4BE6-8124-759D7284CC1D}"/>
              </a:ext>
            </a:extLst>
          </p:cNvPr>
          <p:cNvSpPr>
            <a:spLocks/>
          </p:cNvSpPr>
          <p:nvPr/>
        </p:nvSpPr>
        <p:spPr bwMode="auto">
          <a:xfrm rot="10800000">
            <a:off x="3215966" y="1263859"/>
            <a:ext cx="2880033" cy="1080012"/>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tx1">
                <a:lumMod val="75000"/>
                <a:lumOff val="25000"/>
              </a:schemeClr>
            </a:solidFill>
            <a:headEnd type="none" w="lg" len="lg"/>
            <a:tailEnd type="none" w="med" len="med"/>
          </a:ln>
        </p:spPr>
        <p:style>
          <a:lnRef idx="2">
            <a:schemeClr val="accent4"/>
          </a:lnRef>
          <a:fillRef idx="0">
            <a:schemeClr val="accent4"/>
          </a:fillRef>
          <a:effectRef idx="1">
            <a:schemeClr val="accent4"/>
          </a:effectRef>
          <a:fontRef idx="minor">
            <a:schemeClr val="tx1"/>
          </a:fontRef>
        </p:style>
        <p:txBody>
          <a:bodyPr/>
          <a:lstStyle/>
          <a:p>
            <a:endParaRPr lang="ja-JP" altLang="en-US">
              <a:latin typeface="+mn-ea"/>
              <a:cs typeface="Times New Roman" pitchFamily="18" charset="0"/>
            </a:endParaRPr>
          </a:p>
        </p:txBody>
      </p:sp>
      <p:cxnSp>
        <p:nvCxnSpPr>
          <p:cNvPr id="136" name="直線矢印コネクタ 135">
            <a:extLst>
              <a:ext uri="{FF2B5EF4-FFF2-40B4-BE49-F238E27FC236}">
                <a16:creationId xmlns:a16="http://schemas.microsoft.com/office/drawing/2014/main" id="{B9D87B37-B505-4688-A744-B1A1E10BFBF9}"/>
              </a:ext>
            </a:extLst>
          </p:cNvPr>
          <p:cNvCxnSpPr>
            <a:cxnSpLocks/>
          </p:cNvCxnSpPr>
          <p:nvPr/>
        </p:nvCxnSpPr>
        <p:spPr bwMode="auto">
          <a:xfrm>
            <a:off x="6096001" y="2343871"/>
            <a:ext cx="690295" cy="0"/>
          </a:xfrm>
          <a:prstGeom prst="straightConnector1">
            <a:avLst/>
          </a:prstGeom>
          <a:ln>
            <a:solidFill>
              <a:schemeClr val="tx1">
                <a:lumMod val="75000"/>
                <a:lumOff val="25000"/>
              </a:schemeClr>
            </a:solidFill>
            <a:headEnd type="none" w="sm" len="sm"/>
            <a:tailEnd type="triangle" w="lg" len="lg"/>
          </a:ln>
        </p:spPr>
        <p:style>
          <a:lnRef idx="2">
            <a:schemeClr val="accent4"/>
          </a:lnRef>
          <a:fillRef idx="0">
            <a:schemeClr val="accent4"/>
          </a:fillRef>
          <a:effectRef idx="1">
            <a:schemeClr val="accent4"/>
          </a:effectRef>
          <a:fontRef idx="minor">
            <a:schemeClr val="tx1"/>
          </a:fontRef>
        </p:style>
      </p:cxnSp>
      <p:sp>
        <p:nvSpPr>
          <p:cNvPr id="131" name="Rectangle 133">
            <a:extLst>
              <a:ext uri="{FF2B5EF4-FFF2-40B4-BE49-F238E27FC236}">
                <a16:creationId xmlns:a16="http://schemas.microsoft.com/office/drawing/2014/main" id="{50950858-F2AD-4754-B7CC-69AD6E6ABCC8}"/>
              </a:ext>
            </a:extLst>
          </p:cNvPr>
          <p:cNvSpPr>
            <a:spLocks noChangeArrowheads="1"/>
          </p:cNvSpPr>
          <p:nvPr/>
        </p:nvSpPr>
        <p:spPr bwMode="auto">
          <a:xfrm>
            <a:off x="4657624" y="1653624"/>
            <a:ext cx="719803" cy="240242"/>
          </a:xfrm>
          <a:prstGeom prst="rect">
            <a:avLst/>
          </a:prstGeom>
          <a:noFill/>
          <a:ln>
            <a:noFill/>
            <a:headEnd/>
            <a:tailEnd/>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en-US" altLang="ja-JP" dirty="0">
                <a:solidFill>
                  <a:schemeClr val="tx1">
                    <a:lumMod val="75000"/>
                    <a:lumOff val="25000"/>
                  </a:schemeClr>
                </a:solidFill>
                <a:latin typeface="+mn-ea"/>
                <a:ea typeface="+mn-ea"/>
              </a:rPr>
              <a:t>BTB</a:t>
            </a:r>
          </a:p>
        </p:txBody>
      </p:sp>
      <p:sp>
        <p:nvSpPr>
          <p:cNvPr id="137"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657624" y="1893867"/>
            <a:ext cx="718369" cy="990011"/>
          </a:xfrm>
          <a:prstGeom prst="rect">
            <a:avLst/>
          </a:prstGeom>
          <a:ln>
            <a:headEnd/>
            <a:tailEnd/>
          </a:ln>
        </p:spPr>
        <p:style>
          <a:lnRef idx="1">
            <a:schemeClr val="dk1"/>
          </a:lnRef>
          <a:fillRef idx="2">
            <a:schemeClr val="dk1"/>
          </a:fillRef>
          <a:effectRef idx="1">
            <a:schemeClr val="dk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mn-ea"/>
              <a:ea typeface="+mn-ea"/>
            </a:endParaRPr>
          </a:p>
        </p:txBody>
      </p:sp>
      <p:sp>
        <p:nvSpPr>
          <p:cNvPr id="142" name="Rectangle 133">
            <a:extLst>
              <a:ext uri="{FF2B5EF4-FFF2-40B4-BE49-F238E27FC236}">
                <a16:creationId xmlns:a16="http://schemas.microsoft.com/office/drawing/2014/main" id="{638798E7-DA2E-4A64-8729-E0ECA9F8F543}"/>
              </a:ext>
            </a:extLst>
          </p:cNvPr>
          <p:cNvSpPr>
            <a:spLocks noChangeArrowheads="1"/>
          </p:cNvSpPr>
          <p:nvPr/>
        </p:nvSpPr>
        <p:spPr bwMode="auto">
          <a:xfrm>
            <a:off x="2945965" y="2973879"/>
            <a:ext cx="2160024" cy="630007"/>
          </a:xfrm>
          <a:prstGeom prst="rect">
            <a:avLst/>
          </a:prstGeom>
          <a:noFill/>
          <a:ln w="12700">
            <a:noFill/>
            <a:miter lim="800000"/>
            <a:headEnd/>
            <a:tailEnd/>
          </a:ln>
          <a:effectLst/>
        </p:spPr>
        <p:txBody>
          <a:bodyPr wrap="none" lIns="93600" tIns="46800" rIns="93600" bIns="46800" anchor="t"/>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ja-JP" altLang="en-US" dirty="0">
                <a:solidFill>
                  <a:schemeClr val="tx1">
                    <a:lumMod val="75000"/>
                    <a:lumOff val="25000"/>
                  </a:schemeClr>
                </a:solidFill>
                <a:latin typeface="+mn-ea"/>
                <a:ea typeface="+mn-ea"/>
              </a:rPr>
              <a:t>分岐ターゲット</a:t>
            </a:r>
            <a:endParaRPr lang="en-US" altLang="ja-JP" dirty="0">
              <a:solidFill>
                <a:schemeClr val="tx1">
                  <a:lumMod val="75000"/>
                  <a:lumOff val="25000"/>
                </a:schemeClr>
              </a:solidFill>
              <a:latin typeface="+mn-ea"/>
              <a:ea typeface="+mn-ea"/>
            </a:endParaRPr>
          </a:p>
          <a:p>
            <a:pPr eaLnBrk="0" hangingPunct="0"/>
            <a:r>
              <a:rPr lang="ja-JP" altLang="en-US" dirty="0">
                <a:solidFill>
                  <a:schemeClr val="tx1">
                    <a:lumMod val="75000"/>
                    <a:lumOff val="25000"/>
                  </a:schemeClr>
                </a:solidFill>
                <a:latin typeface="+mn-ea"/>
                <a:ea typeface="+mn-ea"/>
              </a:rPr>
              <a:t>アドレス</a:t>
            </a:r>
            <a:endParaRPr lang="en-US" altLang="ja-JP" dirty="0">
              <a:solidFill>
                <a:schemeClr val="tx1">
                  <a:lumMod val="75000"/>
                  <a:lumOff val="25000"/>
                </a:schemeClr>
              </a:solidFill>
              <a:latin typeface="+mn-ea"/>
              <a:ea typeface="+mn-ea"/>
            </a:endParaRPr>
          </a:p>
        </p:txBody>
      </p:sp>
      <p:sp>
        <p:nvSpPr>
          <p:cNvPr id="143" name="フリーフォーム 10">
            <a:extLst>
              <a:ext uri="{FF2B5EF4-FFF2-40B4-BE49-F238E27FC236}">
                <a16:creationId xmlns:a16="http://schemas.microsoft.com/office/drawing/2014/main" id="{D52C6EB9-323F-420C-80BF-1D60C6D23699}"/>
              </a:ext>
            </a:extLst>
          </p:cNvPr>
          <p:cNvSpPr>
            <a:spLocks noChangeArrowheads="1"/>
          </p:cNvSpPr>
          <p:nvPr/>
        </p:nvSpPr>
        <p:spPr bwMode="auto">
          <a:xfrm rot="-5400000">
            <a:off x="3755974" y="4773898"/>
            <a:ext cx="900010"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5"/>
          </a:lnRef>
          <a:fillRef idx="2">
            <a:schemeClr val="accent5"/>
          </a:fillRef>
          <a:effectRef idx="1">
            <a:schemeClr val="accent5"/>
          </a:effectRef>
          <a:fontRef idx="minor">
            <a:schemeClr val="dk1"/>
          </a:fontRef>
        </p:style>
        <p:txBody>
          <a:bodyPr vert="eaVert" wrap="square" anchor="ctr">
            <a:noAutofit/>
          </a:bodyPr>
          <a:lstStyle/>
          <a:p>
            <a:pPr algn="ctr"/>
            <a:r>
              <a:rPr lang="ja-JP" altLang="en-US" sz="1600" dirty="0">
                <a:latin typeface="メイリオ" panose="020B0604030504040204" pitchFamily="50" charset="-128"/>
                <a:ea typeface="メイリオ" panose="020B0604030504040204" pitchFamily="50" charset="-128"/>
                <a:cs typeface="Times New Roman" pitchFamily="18" charset="0"/>
              </a:rPr>
              <a:t>加算</a:t>
            </a:r>
          </a:p>
        </p:txBody>
      </p:sp>
      <p:sp>
        <p:nvSpPr>
          <p:cNvPr id="144" name="Freeform 10">
            <a:extLst>
              <a:ext uri="{FF2B5EF4-FFF2-40B4-BE49-F238E27FC236}">
                <a16:creationId xmlns:a16="http://schemas.microsoft.com/office/drawing/2014/main" id="{594994CD-2E8A-4F58-A850-5DAC43A07B36}"/>
              </a:ext>
            </a:extLst>
          </p:cNvPr>
          <p:cNvSpPr>
            <a:spLocks/>
          </p:cNvSpPr>
          <p:nvPr/>
        </p:nvSpPr>
        <p:spPr bwMode="auto">
          <a:xfrm rot="16200000" flipV="1">
            <a:off x="2270956" y="2928877"/>
            <a:ext cx="2340028" cy="117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triangle" w="lg" len="lg"/>
            <a:tailEnd type="none" w="med" len="med"/>
          </a:ln>
        </p:spPr>
        <p:style>
          <a:lnRef idx="2">
            <a:schemeClr val="accent4"/>
          </a:lnRef>
          <a:fillRef idx="0">
            <a:schemeClr val="accent4"/>
          </a:fillRef>
          <a:effectRef idx="1">
            <a:schemeClr val="accent4"/>
          </a:effectRef>
          <a:fontRef idx="minor">
            <a:schemeClr val="tx1"/>
          </a:fontRef>
        </p:style>
        <p:txBody>
          <a:bodyPr/>
          <a:lstStyle/>
          <a:p>
            <a:endParaRPr lang="ja-JP" altLang="en-US">
              <a:latin typeface="+mn-ea"/>
              <a:cs typeface="Times New Roman" pitchFamily="18" charset="0"/>
            </a:endParaRPr>
          </a:p>
        </p:txBody>
      </p:sp>
      <p:cxnSp>
        <p:nvCxnSpPr>
          <p:cNvPr id="145" name="直線矢印コネクタ 144">
            <a:extLst>
              <a:ext uri="{FF2B5EF4-FFF2-40B4-BE49-F238E27FC236}">
                <a16:creationId xmlns:a16="http://schemas.microsoft.com/office/drawing/2014/main" id="{52359309-6823-42AD-A91D-F3B7B4D5954B}"/>
              </a:ext>
            </a:extLst>
          </p:cNvPr>
          <p:cNvCxnSpPr>
            <a:cxnSpLocks/>
          </p:cNvCxnSpPr>
          <p:nvPr/>
        </p:nvCxnSpPr>
        <p:spPr bwMode="auto">
          <a:xfrm>
            <a:off x="3395970" y="5223902"/>
            <a:ext cx="630007" cy="0"/>
          </a:xfrm>
          <a:prstGeom prst="straightConnector1">
            <a:avLst/>
          </a:prstGeom>
          <a:ln>
            <a:headEnd type="none" w="sm" len="sm"/>
            <a:tailEnd type="triangle" w="lg" len="lg"/>
          </a:ln>
        </p:spPr>
        <p:style>
          <a:lnRef idx="2">
            <a:schemeClr val="accent5"/>
          </a:lnRef>
          <a:fillRef idx="0">
            <a:schemeClr val="accent5"/>
          </a:fillRef>
          <a:effectRef idx="1">
            <a:schemeClr val="accent5"/>
          </a:effectRef>
          <a:fontRef idx="minor">
            <a:schemeClr val="tx1"/>
          </a:fontRef>
        </p:style>
      </p:cxnSp>
      <p:sp>
        <p:nvSpPr>
          <p:cNvPr id="146" name="Rectangle 133">
            <a:extLst>
              <a:ext uri="{FF2B5EF4-FFF2-40B4-BE49-F238E27FC236}">
                <a16:creationId xmlns:a16="http://schemas.microsoft.com/office/drawing/2014/main" id="{8F38E4F8-4494-4354-BADF-673A3E9CF695}"/>
              </a:ext>
            </a:extLst>
          </p:cNvPr>
          <p:cNvSpPr>
            <a:spLocks noChangeArrowheads="1"/>
          </p:cNvSpPr>
          <p:nvPr/>
        </p:nvSpPr>
        <p:spPr bwMode="auto">
          <a:xfrm>
            <a:off x="3035966" y="5069073"/>
            <a:ext cx="360004" cy="360004"/>
          </a:xfrm>
          <a:prstGeom prst="rect">
            <a:avLst/>
          </a:prstGeom>
          <a:noFill/>
          <a:ln w="12700">
            <a:noFill/>
            <a:miter lim="800000"/>
            <a:headEnd/>
            <a:tailEnd/>
          </a:ln>
          <a:effectLst/>
        </p:spPr>
        <p:txBody>
          <a:bodyPr wrap="none" lIns="93600" tIns="46800" rIns="93600" bIns="46800" anchor="t"/>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en-US" altLang="ja-JP" dirty="0">
                <a:solidFill>
                  <a:schemeClr val="tx1">
                    <a:lumMod val="75000"/>
                    <a:lumOff val="25000"/>
                  </a:schemeClr>
                </a:solidFill>
                <a:latin typeface="+mn-ea"/>
                <a:ea typeface="+mn-ea"/>
              </a:rPr>
              <a:t>4</a:t>
            </a:r>
          </a:p>
        </p:txBody>
      </p:sp>
      <p:cxnSp>
        <p:nvCxnSpPr>
          <p:cNvPr id="148" name="直線矢印コネクタ 147">
            <a:extLst>
              <a:ext uri="{FF2B5EF4-FFF2-40B4-BE49-F238E27FC236}">
                <a16:creationId xmlns:a16="http://schemas.microsoft.com/office/drawing/2014/main" id="{3CE44858-6285-44F6-AFC4-780D2A5B8561}"/>
              </a:ext>
            </a:extLst>
          </p:cNvPr>
          <p:cNvCxnSpPr>
            <a:cxnSpLocks/>
          </p:cNvCxnSpPr>
          <p:nvPr/>
        </p:nvCxnSpPr>
        <p:spPr bwMode="auto">
          <a:xfrm>
            <a:off x="4385981" y="4953900"/>
            <a:ext cx="1620018" cy="0"/>
          </a:xfrm>
          <a:prstGeom prst="straightConnector1">
            <a:avLst/>
          </a:prstGeom>
          <a:ln>
            <a:headEnd type="none" w="sm" len="sm"/>
            <a:tailEnd type="triangle" w="lg" len="lg"/>
          </a:ln>
        </p:spPr>
        <p:style>
          <a:lnRef idx="2">
            <a:schemeClr val="accent5"/>
          </a:lnRef>
          <a:fillRef idx="0">
            <a:schemeClr val="accent5"/>
          </a:fillRef>
          <a:effectRef idx="1">
            <a:schemeClr val="accent5"/>
          </a:effectRef>
          <a:fontRef idx="minor">
            <a:schemeClr val="tx1"/>
          </a:fontRef>
        </p:style>
      </p:cxnSp>
      <p:sp>
        <p:nvSpPr>
          <p:cNvPr id="149" name="Rectangle 133">
            <a:extLst>
              <a:ext uri="{FF2B5EF4-FFF2-40B4-BE49-F238E27FC236}">
                <a16:creationId xmlns:a16="http://schemas.microsoft.com/office/drawing/2014/main" id="{0031F1DA-9455-4239-A0EE-58244DDFC3AE}"/>
              </a:ext>
            </a:extLst>
          </p:cNvPr>
          <p:cNvSpPr>
            <a:spLocks noChangeArrowheads="1"/>
          </p:cNvSpPr>
          <p:nvPr/>
        </p:nvSpPr>
        <p:spPr bwMode="auto">
          <a:xfrm>
            <a:off x="5195991" y="2973879"/>
            <a:ext cx="990011" cy="450005"/>
          </a:xfrm>
          <a:prstGeom prst="rect">
            <a:avLst/>
          </a:prstGeom>
          <a:noFill/>
          <a:ln w="12700">
            <a:noFill/>
            <a:miter lim="800000"/>
            <a:headEnd/>
            <a:tailEnd/>
          </a:ln>
          <a:effectLst/>
        </p:spPr>
        <p:txBody>
          <a:bodyPr wrap="none" lIns="93600" tIns="46800" rIns="93600" bIns="46800" anchor="t"/>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ja-JP" altLang="en-US" dirty="0">
                <a:solidFill>
                  <a:schemeClr val="tx1">
                    <a:lumMod val="75000"/>
                    <a:lumOff val="25000"/>
                  </a:schemeClr>
                </a:solidFill>
                <a:latin typeface="+mn-ea"/>
                <a:ea typeface="+mn-ea"/>
              </a:rPr>
              <a:t>分岐</a:t>
            </a:r>
            <a:r>
              <a:rPr lang="en-US" altLang="ja-JP" dirty="0">
                <a:solidFill>
                  <a:schemeClr val="tx1">
                    <a:lumMod val="75000"/>
                    <a:lumOff val="25000"/>
                  </a:schemeClr>
                </a:solidFill>
                <a:latin typeface="+mn-ea"/>
                <a:ea typeface="+mn-ea"/>
              </a:rPr>
              <a:t>?</a:t>
            </a:r>
          </a:p>
        </p:txBody>
      </p:sp>
      <p:sp>
        <p:nvSpPr>
          <p:cNvPr id="152" name="Freeform 10">
            <a:extLst>
              <a:ext uri="{FF2B5EF4-FFF2-40B4-BE49-F238E27FC236}">
                <a16:creationId xmlns:a16="http://schemas.microsoft.com/office/drawing/2014/main" id="{EF622197-A443-4469-8DBF-998182EEA9EA}"/>
              </a:ext>
            </a:extLst>
          </p:cNvPr>
          <p:cNvSpPr>
            <a:spLocks/>
          </p:cNvSpPr>
          <p:nvPr/>
        </p:nvSpPr>
        <p:spPr bwMode="auto">
          <a:xfrm rot="10800000">
            <a:off x="5195989" y="3333880"/>
            <a:ext cx="720008" cy="27000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triangle" w="lg" len="lg"/>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a:latin typeface="+mn-ea"/>
              <a:cs typeface="Times New Roman" pitchFamily="18" charset="0"/>
            </a:endParaRPr>
          </a:p>
        </p:txBody>
      </p:sp>
      <p:sp>
        <p:nvSpPr>
          <p:cNvPr id="153" name="Freeform 10">
            <a:extLst>
              <a:ext uri="{FF2B5EF4-FFF2-40B4-BE49-F238E27FC236}">
                <a16:creationId xmlns:a16="http://schemas.microsoft.com/office/drawing/2014/main" id="{E20517F6-5A95-450C-BCB8-EC77C3E57666}"/>
              </a:ext>
            </a:extLst>
          </p:cNvPr>
          <p:cNvSpPr>
            <a:spLocks/>
          </p:cNvSpPr>
          <p:nvPr/>
        </p:nvSpPr>
        <p:spPr bwMode="auto">
          <a:xfrm rot="10800000" flipH="1">
            <a:off x="6276002" y="3333878"/>
            <a:ext cx="900010" cy="27000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triangle" w="lg" len="lg"/>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a:latin typeface="+mn-ea"/>
              <a:cs typeface="Times New Roman" pitchFamily="18" charset="0"/>
            </a:endParaRPr>
          </a:p>
        </p:txBody>
      </p:sp>
      <p:sp>
        <p:nvSpPr>
          <p:cNvPr id="31" name="Rectangle 133">
            <a:extLst>
              <a:ext uri="{FF2B5EF4-FFF2-40B4-BE49-F238E27FC236}">
                <a16:creationId xmlns:a16="http://schemas.microsoft.com/office/drawing/2014/main" id="{0031F1DA-9455-4239-A0EE-58244DDFC3AE}"/>
              </a:ext>
            </a:extLst>
          </p:cNvPr>
          <p:cNvSpPr>
            <a:spLocks noChangeArrowheads="1"/>
          </p:cNvSpPr>
          <p:nvPr/>
        </p:nvSpPr>
        <p:spPr bwMode="auto">
          <a:xfrm>
            <a:off x="7266013" y="2973879"/>
            <a:ext cx="1260014" cy="450005"/>
          </a:xfrm>
          <a:prstGeom prst="rect">
            <a:avLst/>
          </a:prstGeom>
          <a:noFill/>
          <a:ln w="12700">
            <a:noFill/>
            <a:miter lim="800000"/>
            <a:headEnd/>
            <a:tailEnd/>
          </a:ln>
          <a:effectLst/>
        </p:spPr>
        <p:txBody>
          <a:bodyPr wrap="none" lIns="93600" tIns="46800" rIns="93600" bIns="46800" anchor="t"/>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ja-JP" altLang="en-US" dirty="0">
                <a:solidFill>
                  <a:schemeClr val="tx1">
                    <a:lumMod val="75000"/>
                    <a:lumOff val="25000"/>
                  </a:schemeClr>
                </a:solidFill>
                <a:latin typeface="+mn-ea"/>
                <a:ea typeface="+mn-ea"/>
              </a:rPr>
              <a:t>分岐方向</a:t>
            </a:r>
            <a:endParaRPr lang="en-US" altLang="ja-JP" dirty="0">
              <a:solidFill>
                <a:schemeClr val="tx1">
                  <a:lumMod val="75000"/>
                  <a:lumOff val="25000"/>
                </a:schemeClr>
              </a:solidFill>
              <a:latin typeface="+mn-ea"/>
              <a:ea typeface="+mn-ea"/>
            </a:endParaRPr>
          </a:p>
        </p:txBody>
      </p:sp>
      <p:sp>
        <p:nvSpPr>
          <p:cNvPr id="36" name="Freeform 10">
            <a:extLst>
              <a:ext uri="{FF2B5EF4-FFF2-40B4-BE49-F238E27FC236}">
                <a16:creationId xmlns:a16="http://schemas.microsoft.com/office/drawing/2014/main" id="{594994CD-2E8A-4F58-A850-5DAC43A07B36}"/>
              </a:ext>
            </a:extLst>
          </p:cNvPr>
          <p:cNvSpPr>
            <a:spLocks/>
          </p:cNvSpPr>
          <p:nvPr/>
        </p:nvSpPr>
        <p:spPr bwMode="auto">
          <a:xfrm rot="16200000" flipV="1">
            <a:off x="4565983" y="3153879"/>
            <a:ext cx="1710019" cy="117001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triangle" w="lg" len="lg"/>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a:latin typeface="+mn-ea"/>
              <a:cs typeface="Times New Roman" pitchFamily="18" charset="0"/>
            </a:endParaRPr>
          </a:p>
        </p:txBody>
      </p:sp>
      <p:sp>
        <p:nvSpPr>
          <p:cNvPr id="8" name="フローチャート: 手作業 7"/>
          <p:cNvSpPr/>
          <p:nvPr/>
        </p:nvSpPr>
        <p:spPr bwMode="auto">
          <a:xfrm rot="16200000">
            <a:off x="5735997" y="4683896"/>
            <a:ext cx="720007" cy="180002"/>
          </a:xfrm>
          <a:prstGeom prst="flowChartManualOperation">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cxnSp>
        <p:nvCxnSpPr>
          <p:cNvPr id="40" name="直線矢印コネクタ 39">
            <a:extLst>
              <a:ext uri="{FF2B5EF4-FFF2-40B4-BE49-F238E27FC236}">
                <a16:creationId xmlns:a16="http://schemas.microsoft.com/office/drawing/2014/main" id="{52359309-6823-42AD-A91D-F3B7B4D5954B}"/>
              </a:ext>
            </a:extLst>
          </p:cNvPr>
          <p:cNvCxnSpPr>
            <a:cxnSpLocks/>
            <a:stCxn id="16" idx="3"/>
            <a:endCxn id="8" idx="3"/>
          </p:cNvCxnSpPr>
          <p:nvPr/>
        </p:nvCxnSpPr>
        <p:spPr bwMode="auto">
          <a:xfrm>
            <a:off x="6096000" y="4143891"/>
            <a:ext cx="0" cy="342004"/>
          </a:xfrm>
          <a:prstGeom prst="straightConnector1">
            <a:avLst/>
          </a:prstGeom>
          <a:ln>
            <a:headEnd type="none" w="sm" len="sm"/>
            <a:tailEnd type="triangle" w="lg" len="lg"/>
          </a:ln>
        </p:spPr>
        <p:style>
          <a:lnRef idx="2">
            <a:schemeClr val="accent5"/>
          </a:lnRef>
          <a:fillRef idx="0">
            <a:schemeClr val="accent5"/>
          </a:fillRef>
          <a:effectRef idx="1">
            <a:schemeClr val="accent5"/>
          </a:effectRef>
          <a:fontRef idx="minor">
            <a:schemeClr val="tx1"/>
          </a:fontRef>
        </p:style>
      </p:cxnSp>
      <p:sp>
        <p:nvSpPr>
          <p:cNvPr id="16" name="フローチャート: 論理積ゲート 15"/>
          <p:cNvSpPr/>
          <p:nvPr/>
        </p:nvSpPr>
        <p:spPr bwMode="auto">
          <a:xfrm rot="5400000">
            <a:off x="5825997" y="3603885"/>
            <a:ext cx="540006" cy="540006"/>
          </a:xfrm>
          <a:prstGeom prst="flowChartDelay">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dirty="0">
                <a:solidFill>
                  <a:schemeClr val="tx1">
                    <a:lumMod val="75000"/>
                    <a:lumOff val="25000"/>
                  </a:schemeClr>
                </a:solidFill>
                <a:latin typeface="+mn-ea"/>
              </a:rPr>
              <a:t>AND</a:t>
            </a:r>
            <a:endParaRPr lang="ja-JP" altLang="en-US" sz="1400" dirty="0">
              <a:solidFill>
                <a:schemeClr val="tx1">
                  <a:lumMod val="75000"/>
                  <a:lumOff val="25000"/>
                </a:schemeClr>
              </a:solidFill>
              <a:latin typeface="+mn-ea"/>
            </a:endParaRPr>
          </a:p>
        </p:txBody>
      </p:sp>
      <p:cxnSp>
        <p:nvCxnSpPr>
          <p:cNvPr id="34" name="直線矢印コネクタ 33">
            <a:extLst>
              <a:ext uri="{FF2B5EF4-FFF2-40B4-BE49-F238E27FC236}">
                <a16:creationId xmlns:a16="http://schemas.microsoft.com/office/drawing/2014/main" id="{3CE44858-6285-44F6-AFC4-780D2A5B8561}"/>
              </a:ext>
            </a:extLst>
          </p:cNvPr>
          <p:cNvCxnSpPr>
            <a:cxnSpLocks/>
          </p:cNvCxnSpPr>
          <p:nvPr/>
        </p:nvCxnSpPr>
        <p:spPr bwMode="auto">
          <a:xfrm>
            <a:off x="6186002" y="4773898"/>
            <a:ext cx="630007" cy="0"/>
          </a:xfrm>
          <a:prstGeom prst="straightConnector1">
            <a:avLst/>
          </a:prstGeom>
          <a:ln>
            <a:headEnd type="none" w="sm" len="sm"/>
            <a:tailEnd type="triangle" w="lg" len="lg"/>
          </a:ln>
        </p:spPr>
        <p:style>
          <a:lnRef idx="2">
            <a:schemeClr val="accent5"/>
          </a:lnRef>
          <a:fillRef idx="0">
            <a:schemeClr val="accent5"/>
          </a:fillRef>
          <a:effectRef idx="1">
            <a:schemeClr val="accent5"/>
          </a:effectRef>
          <a:fontRef idx="minor">
            <a:schemeClr val="tx1"/>
          </a:fontRef>
        </p:style>
      </p:cxnSp>
      <p:sp>
        <p:nvSpPr>
          <p:cNvPr id="37" name="Rectangle 133">
            <a:extLst>
              <a:ext uri="{FF2B5EF4-FFF2-40B4-BE49-F238E27FC236}">
                <a16:creationId xmlns:a16="http://schemas.microsoft.com/office/drawing/2014/main" id="{8F38E4F8-4494-4354-BADF-673A3E9CF695}"/>
              </a:ext>
            </a:extLst>
          </p:cNvPr>
          <p:cNvSpPr>
            <a:spLocks noChangeArrowheads="1"/>
          </p:cNvSpPr>
          <p:nvPr/>
        </p:nvSpPr>
        <p:spPr bwMode="auto">
          <a:xfrm>
            <a:off x="6816008" y="4593896"/>
            <a:ext cx="360004" cy="360004"/>
          </a:xfrm>
          <a:prstGeom prst="rect">
            <a:avLst/>
          </a:prstGeom>
          <a:noFill/>
          <a:ln w="12700">
            <a:noFill/>
            <a:miter lim="800000"/>
            <a:headEnd/>
            <a:tailEnd/>
          </a:ln>
          <a:effectLst/>
        </p:spPr>
        <p:txBody>
          <a:bodyPr wrap="none" lIns="93600" tIns="46800" rIns="93600" bIns="46800" anchor="t"/>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ja-JP" altLang="en-US" dirty="0">
                <a:solidFill>
                  <a:schemeClr val="tx1">
                    <a:lumMod val="75000"/>
                    <a:lumOff val="25000"/>
                  </a:schemeClr>
                </a:solidFill>
                <a:latin typeface="+mn-ea"/>
                <a:ea typeface="+mn-ea"/>
              </a:rPr>
              <a:t>次の </a:t>
            </a:r>
            <a:r>
              <a:rPr lang="en-US" altLang="ja-JP" dirty="0">
                <a:solidFill>
                  <a:schemeClr val="tx1">
                    <a:lumMod val="75000"/>
                    <a:lumOff val="25000"/>
                  </a:schemeClr>
                </a:solidFill>
                <a:latin typeface="+mn-ea"/>
                <a:ea typeface="+mn-ea"/>
              </a:rPr>
              <a:t>PC </a:t>
            </a:r>
          </a:p>
        </p:txBody>
      </p:sp>
    </p:spTree>
    <p:extLst>
      <p:ext uri="{BB962C8B-B14F-4D97-AF65-F5344CB8AC3E}">
        <p14:creationId xmlns:p14="http://schemas.microsoft.com/office/powerpoint/2010/main" val="21482421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分岐予測の基本の補足</a:t>
            </a:r>
            <a:endParaRPr lang="en-US" altLang="ja-JP" dirty="0"/>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kumimoji="1" lang="ja-JP" altLang="en-US" dirty="0"/>
              <a:t>分岐予測器の全体構造</a:t>
            </a:r>
            <a:endParaRPr kumimoji="1" lang="en-US" altLang="ja-JP" dirty="0"/>
          </a:p>
          <a:p>
            <a:pPr marL="457200" indent="-457200">
              <a:buFont typeface="+mj-lt"/>
              <a:buAutoNum type="arabicPeriod"/>
            </a:pPr>
            <a:r>
              <a:rPr kumimoji="1" lang="ja-JP" altLang="en-US" b="1" dirty="0"/>
              <a:t>パイプラインとしての動作</a:t>
            </a:r>
            <a:endParaRPr kumimoji="1" lang="en-US" altLang="ja-JP" b="1" dirty="0"/>
          </a:p>
          <a:p>
            <a:pPr marL="457200" indent="-457200">
              <a:buFont typeface="+mj-lt"/>
              <a:buAutoNum type="arabicPeriod"/>
            </a:pPr>
            <a:endParaRPr kumimoji="1" lang="ja-JP" altLang="en-US" dirty="0"/>
          </a:p>
        </p:txBody>
      </p:sp>
    </p:spTree>
    <p:extLst>
      <p:ext uri="{BB962C8B-B14F-4D97-AF65-F5344CB8AC3E}">
        <p14:creationId xmlns:p14="http://schemas.microsoft.com/office/powerpoint/2010/main" val="275821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グループ化 33"/>
          <p:cNvGrpSpPr/>
          <p:nvPr/>
        </p:nvGrpSpPr>
        <p:grpSpPr>
          <a:xfrm>
            <a:off x="3215968" y="4329010"/>
            <a:ext cx="1562400" cy="576064"/>
            <a:chOff x="971600" y="5445224"/>
            <a:chExt cx="7200800" cy="576064"/>
          </a:xfrm>
        </p:grpSpPr>
        <p:sp>
          <p:nvSpPr>
            <p:cNvPr id="35" name="平行四辺形 3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7" name="平行四辺形 36"/>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38" name="グループ化 37"/>
          <p:cNvGrpSpPr/>
          <p:nvPr/>
        </p:nvGrpSpPr>
        <p:grpSpPr>
          <a:xfrm>
            <a:off x="4656128" y="4329010"/>
            <a:ext cx="1562400" cy="576064"/>
            <a:chOff x="971600" y="5445224"/>
            <a:chExt cx="7200800" cy="576064"/>
          </a:xfrm>
        </p:grpSpPr>
        <p:sp>
          <p:nvSpPr>
            <p:cNvPr id="50" name="平行四辺形 49"/>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1" name="平行四辺形 50"/>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2" name="グループ化 51"/>
          <p:cNvGrpSpPr/>
          <p:nvPr/>
        </p:nvGrpSpPr>
        <p:grpSpPr>
          <a:xfrm>
            <a:off x="6096288" y="4329010"/>
            <a:ext cx="1562400" cy="576064"/>
            <a:chOff x="971600" y="5445224"/>
            <a:chExt cx="7200800" cy="576064"/>
          </a:xfrm>
        </p:grpSpPr>
        <p:sp>
          <p:nvSpPr>
            <p:cNvPr id="53" name="平行四辺形 52"/>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4" name="平行四辺形 5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6" name="グループ化 55"/>
          <p:cNvGrpSpPr/>
          <p:nvPr/>
        </p:nvGrpSpPr>
        <p:grpSpPr>
          <a:xfrm>
            <a:off x="7536448" y="4329010"/>
            <a:ext cx="1584176" cy="576064"/>
            <a:chOff x="971600" y="5445224"/>
            <a:chExt cx="7200800" cy="576064"/>
          </a:xfrm>
        </p:grpSpPr>
        <p:sp>
          <p:nvSpPr>
            <p:cNvPr id="62" name="平行四辺形 61"/>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4" name="平行四辺形 6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 name="正方形/長方形 2"/>
          <p:cNvSpPr/>
          <p:nvPr/>
        </p:nvSpPr>
        <p:spPr>
          <a:xfrm>
            <a:off x="3177808" y="3464467"/>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正方形/長方形 35"/>
          <p:cNvSpPr/>
          <p:nvPr/>
        </p:nvSpPr>
        <p:spPr>
          <a:xfrm>
            <a:off x="4617968" y="3464467"/>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p:cNvSpPr/>
          <p:nvPr/>
        </p:nvSpPr>
        <p:spPr>
          <a:xfrm>
            <a:off x="6060015" y="3483051"/>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p:cNvSpPr/>
          <p:nvPr/>
        </p:nvSpPr>
        <p:spPr>
          <a:xfrm>
            <a:off x="7500175" y="3483051"/>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p:cNvSpPr>
            <a:spLocks noGrp="1"/>
          </p:cNvSpPr>
          <p:nvPr>
            <p:ph type="title"/>
          </p:nvPr>
        </p:nvSpPr>
        <p:spPr/>
        <p:txBody>
          <a:bodyPr/>
          <a:lstStyle/>
          <a:p>
            <a:r>
              <a:rPr lang="ja-JP" altLang="en-US" sz="2400" dirty="0"/>
              <a:t>パイプラインとしての動作（１）</a:t>
            </a:r>
            <a:br>
              <a:rPr lang="en-US" altLang="ja-JP" sz="2400" dirty="0"/>
            </a:br>
            <a:r>
              <a:rPr lang="ja-JP" altLang="en-US" sz="2400" dirty="0"/>
              <a:t>予測結果の </a:t>
            </a:r>
            <a:r>
              <a:rPr lang="en-US" altLang="ja-JP" sz="2400" dirty="0"/>
              <a:t>PC </a:t>
            </a:r>
            <a:r>
              <a:rPr lang="ja-JP" altLang="en-US" sz="2400" dirty="0"/>
              <a:t>や方向をパイプラインに流す</a:t>
            </a:r>
            <a:endParaRPr lang="en-US" altLang="ja-JP" sz="2400" dirty="0"/>
          </a:p>
        </p:txBody>
      </p:sp>
      <p:sp>
        <p:nvSpPr>
          <p:cNvPr id="24" name="角丸四角形 23"/>
          <p:cNvSpPr/>
          <p:nvPr/>
        </p:nvSpPr>
        <p:spPr bwMode="auto">
          <a:xfrm>
            <a:off x="3485971" y="4149008"/>
            <a:ext cx="1170013" cy="540006"/>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sz="1400" dirty="0">
                <a:latin typeface="Arial Narrow" panose="020B0606020202030204" pitchFamily="34" charset="0"/>
              </a:rPr>
              <a:t>いまの </a:t>
            </a:r>
            <a:r>
              <a:rPr lang="en-US" altLang="ja-JP" sz="1400" dirty="0">
                <a:latin typeface="Arial Narrow" panose="020B0606020202030204" pitchFamily="34" charset="0"/>
              </a:rPr>
              <a:t>PC +</a:t>
            </a:r>
          </a:p>
          <a:p>
            <a:pPr algn="ctr"/>
            <a:r>
              <a:rPr lang="ja-JP" altLang="en-US" sz="1400" dirty="0">
                <a:latin typeface="Arial Narrow" panose="020B0606020202030204" pitchFamily="34" charset="0"/>
              </a:rPr>
              <a:t>次 </a:t>
            </a:r>
            <a:r>
              <a:rPr lang="en-US" altLang="ja-JP" sz="1400" dirty="0">
                <a:latin typeface="Arial Narrow" panose="020B0606020202030204" pitchFamily="34" charset="0"/>
              </a:rPr>
              <a:t>PC (</a:t>
            </a:r>
            <a:r>
              <a:rPr lang="ja-JP" altLang="en-US" sz="1400" dirty="0">
                <a:latin typeface="Arial Narrow" panose="020B0606020202030204" pitchFamily="34" charset="0"/>
              </a:rPr>
              <a:t>予測</a:t>
            </a:r>
            <a:r>
              <a:rPr lang="en-US" altLang="ja-JP" sz="1400" dirty="0">
                <a:latin typeface="Arial Narrow" panose="020B0606020202030204" pitchFamily="34" charset="0"/>
              </a:rPr>
              <a:t>)</a:t>
            </a:r>
            <a:endParaRPr lang="ja-JP" altLang="en-US" sz="1400" dirty="0">
              <a:latin typeface="Arial Narrow" panose="020B0606020202030204" pitchFamily="34" charset="0"/>
            </a:endParaRPr>
          </a:p>
        </p:txBody>
      </p:sp>
      <p:sp>
        <p:nvSpPr>
          <p:cNvPr id="58" name="Rectangle 13">
            <a:extLst>
              <a:ext uri="{FF2B5EF4-FFF2-40B4-BE49-F238E27FC236}">
                <a16:creationId xmlns:a16="http://schemas.microsoft.com/office/drawing/2014/main" id="{6F3553EC-3B3D-4454-92A6-5F570F10C904}"/>
              </a:ext>
            </a:extLst>
          </p:cNvPr>
          <p:cNvSpPr>
            <a:spLocks noChangeArrowheads="1"/>
          </p:cNvSpPr>
          <p:nvPr/>
        </p:nvSpPr>
        <p:spPr bwMode="auto">
          <a:xfrm>
            <a:off x="3665973" y="2798993"/>
            <a:ext cx="720725" cy="360362"/>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tx1">
                    <a:lumMod val="75000"/>
                    <a:lumOff val="25000"/>
                  </a:schemeClr>
                </a:solidFill>
                <a:latin typeface="+mn-ea"/>
                <a:ea typeface="+mn-ea"/>
              </a:rPr>
              <a:t>PC</a:t>
            </a:r>
            <a:endParaRPr lang="ja-JP" altLang="en-US" b="1" dirty="0">
              <a:solidFill>
                <a:schemeClr val="tx1">
                  <a:lumMod val="75000"/>
                  <a:lumOff val="25000"/>
                </a:schemeClr>
              </a:solidFill>
              <a:latin typeface="+mn-ea"/>
              <a:ea typeface="+mn-ea"/>
            </a:endParaRPr>
          </a:p>
        </p:txBody>
      </p:sp>
      <p:cxnSp>
        <p:nvCxnSpPr>
          <p:cNvPr id="75" name="直線矢印コネクタ 74">
            <a:extLst>
              <a:ext uri="{FF2B5EF4-FFF2-40B4-BE49-F238E27FC236}">
                <a16:creationId xmlns:a16="http://schemas.microsoft.com/office/drawing/2014/main" id="{52359309-6823-42AD-A91D-F3B7B4D5954B}"/>
              </a:ext>
            </a:extLst>
          </p:cNvPr>
          <p:cNvCxnSpPr>
            <a:cxnSpLocks/>
            <a:endCxn id="76" idx="1"/>
          </p:cNvCxnSpPr>
          <p:nvPr/>
        </p:nvCxnSpPr>
        <p:spPr bwMode="auto">
          <a:xfrm>
            <a:off x="4385981" y="2978995"/>
            <a:ext cx="450005" cy="0"/>
          </a:xfrm>
          <a:prstGeom prst="straightConnector1">
            <a:avLst/>
          </a:prstGeom>
          <a:ln>
            <a:solidFill>
              <a:schemeClr val="accent1"/>
            </a:solidFill>
            <a:headEnd type="none" w="sm" len="sm"/>
            <a:tailEnd type="triangle" w="lg" len="lg"/>
          </a:ln>
        </p:spPr>
        <p:style>
          <a:lnRef idx="2">
            <a:schemeClr val="accent4"/>
          </a:lnRef>
          <a:fillRef idx="0">
            <a:schemeClr val="accent4"/>
          </a:fillRef>
          <a:effectRef idx="1">
            <a:schemeClr val="accent4"/>
          </a:effectRef>
          <a:fontRef idx="minor">
            <a:schemeClr val="tx1"/>
          </a:fontRef>
        </p:style>
      </p:cxnSp>
      <p:sp>
        <p:nvSpPr>
          <p:cNvPr id="78" name="Freeform 10">
            <a:extLst>
              <a:ext uri="{FF2B5EF4-FFF2-40B4-BE49-F238E27FC236}">
                <a16:creationId xmlns:a16="http://schemas.microsoft.com/office/drawing/2014/main" id="{594994CD-2E8A-4F58-A850-5DAC43A07B36}"/>
              </a:ext>
            </a:extLst>
          </p:cNvPr>
          <p:cNvSpPr>
            <a:spLocks/>
          </p:cNvSpPr>
          <p:nvPr/>
        </p:nvSpPr>
        <p:spPr bwMode="auto">
          <a:xfrm rot="16200000" flipV="1">
            <a:off x="2540961" y="1853983"/>
            <a:ext cx="1530017" cy="72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accent1"/>
            </a:solidFill>
            <a:headEnd type="triangle" w="lg" len="lg"/>
            <a:tailEnd type="none" w="med" len="med"/>
          </a:ln>
        </p:spPr>
        <p:style>
          <a:lnRef idx="2">
            <a:schemeClr val="accent4"/>
          </a:lnRef>
          <a:fillRef idx="0">
            <a:schemeClr val="accent4"/>
          </a:fillRef>
          <a:effectRef idx="1">
            <a:schemeClr val="accent4"/>
          </a:effectRef>
          <a:fontRef idx="minor">
            <a:schemeClr val="tx1"/>
          </a:fontRef>
        </p:style>
        <p:txBody>
          <a:bodyPr/>
          <a:lstStyle/>
          <a:p>
            <a:endParaRPr lang="ja-JP" altLang="en-US">
              <a:latin typeface="+mn-ea"/>
              <a:cs typeface="Times New Roman" pitchFamily="18" charset="0"/>
            </a:endParaRPr>
          </a:p>
        </p:txBody>
      </p:sp>
      <p:sp>
        <p:nvSpPr>
          <p:cNvPr id="79"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3395970" y="1718981"/>
            <a:ext cx="1170013" cy="720008"/>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ja-JP" altLang="en-US" sz="1600" dirty="0">
                <a:latin typeface="+mn-ea"/>
                <a:ea typeface="+mn-ea"/>
              </a:rPr>
              <a:t>分岐予測器</a:t>
            </a:r>
          </a:p>
        </p:txBody>
      </p:sp>
      <p:sp>
        <p:nvSpPr>
          <p:cNvPr id="80" name="Freeform 10">
            <a:extLst>
              <a:ext uri="{FF2B5EF4-FFF2-40B4-BE49-F238E27FC236}">
                <a16:creationId xmlns:a16="http://schemas.microsoft.com/office/drawing/2014/main" id="{594994CD-2E8A-4F58-A850-5DAC43A07B36}"/>
              </a:ext>
            </a:extLst>
          </p:cNvPr>
          <p:cNvSpPr>
            <a:spLocks/>
          </p:cNvSpPr>
          <p:nvPr/>
        </p:nvSpPr>
        <p:spPr bwMode="auto">
          <a:xfrm rot="5400000" flipV="1">
            <a:off x="3350968" y="1043974"/>
            <a:ext cx="270005" cy="1080012"/>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accent1"/>
            </a:solidFill>
            <a:headEnd type="none" w="lg" len="lg"/>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a:latin typeface="+mn-ea"/>
              <a:cs typeface="Times New Roman" pitchFamily="18" charset="0"/>
            </a:endParaRPr>
          </a:p>
        </p:txBody>
      </p:sp>
      <p:sp>
        <p:nvSpPr>
          <p:cNvPr id="82" name="Rectangle 133">
            <a:extLst>
              <a:ext uri="{FF2B5EF4-FFF2-40B4-BE49-F238E27FC236}">
                <a16:creationId xmlns:a16="http://schemas.microsoft.com/office/drawing/2014/main" id="{0031F1DA-9455-4239-A0EE-58244DDFC3AE}"/>
              </a:ext>
            </a:extLst>
          </p:cNvPr>
          <p:cNvSpPr>
            <a:spLocks noChangeArrowheads="1"/>
          </p:cNvSpPr>
          <p:nvPr/>
        </p:nvSpPr>
        <p:spPr bwMode="auto">
          <a:xfrm>
            <a:off x="4025977" y="1268976"/>
            <a:ext cx="1260014" cy="450005"/>
          </a:xfrm>
          <a:prstGeom prst="rect">
            <a:avLst/>
          </a:prstGeom>
          <a:noFill/>
          <a:ln w="12700">
            <a:noFill/>
            <a:miter lim="800000"/>
            <a:headEnd/>
            <a:tailEnd/>
          </a:ln>
          <a:effectLst/>
        </p:spPr>
        <p:txBody>
          <a:bodyPr wrap="none" lIns="93600" tIns="46800" rIns="93600" bIns="46800" anchor="t"/>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ja-JP" altLang="en-US" dirty="0">
                <a:solidFill>
                  <a:schemeClr val="tx1">
                    <a:lumMod val="75000"/>
                    <a:lumOff val="25000"/>
                  </a:schemeClr>
                </a:solidFill>
                <a:latin typeface="+mn-ea"/>
                <a:ea typeface="+mn-ea"/>
              </a:rPr>
              <a:t>次 </a:t>
            </a:r>
            <a:r>
              <a:rPr lang="en-US" altLang="ja-JP" dirty="0">
                <a:solidFill>
                  <a:schemeClr val="tx1">
                    <a:lumMod val="75000"/>
                    <a:lumOff val="25000"/>
                  </a:schemeClr>
                </a:solidFill>
                <a:latin typeface="+mn-ea"/>
                <a:ea typeface="+mn-ea"/>
              </a:rPr>
              <a:t>PC</a:t>
            </a:r>
            <a:r>
              <a:rPr lang="ja-JP" altLang="en-US" dirty="0" err="1">
                <a:solidFill>
                  <a:schemeClr val="tx1">
                    <a:lumMod val="75000"/>
                    <a:lumOff val="25000"/>
                  </a:schemeClr>
                </a:solidFill>
                <a:latin typeface="+mn-ea"/>
                <a:ea typeface="+mn-ea"/>
              </a:rPr>
              <a:t>，</a:t>
            </a:r>
            <a:r>
              <a:rPr lang="ja-JP" altLang="en-US" dirty="0">
                <a:solidFill>
                  <a:schemeClr val="tx1">
                    <a:lumMod val="75000"/>
                    <a:lumOff val="25000"/>
                  </a:schemeClr>
                </a:solidFill>
                <a:latin typeface="+mn-ea"/>
                <a:ea typeface="+mn-ea"/>
              </a:rPr>
              <a:t>方向</a:t>
            </a:r>
            <a:r>
              <a:rPr lang="en-US" altLang="ja-JP" dirty="0">
                <a:solidFill>
                  <a:schemeClr val="tx1">
                    <a:lumMod val="75000"/>
                    <a:lumOff val="25000"/>
                  </a:schemeClr>
                </a:solidFill>
                <a:latin typeface="+mn-ea"/>
                <a:ea typeface="+mn-ea"/>
              </a:rPr>
              <a:t> (</a:t>
            </a:r>
            <a:r>
              <a:rPr lang="ja-JP" altLang="en-US" dirty="0">
                <a:solidFill>
                  <a:schemeClr val="tx1">
                    <a:lumMod val="75000"/>
                    <a:lumOff val="25000"/>
                  </a:schemeClr>
                </a:solidFill>
                <a:latin typeface="+mn-ea"/>
                <a:ea typeface="+mn-ea"/>
              </a:rPr>
              <a:t>予測</a:t>
            </a:r>
            <a:r>
              <a:rPr lang="en-US" altLang="ja-JP" dirty="0">
                <a:solidFill>
                  <a:schemeClr val="tx1">
                    <a:lumMod val="75000"/>
                    <a:lumOff val="25000"/>
                  </a:schemeClr>
                </a:solidFill>
                <a:latin typeface="+mn-ea"/>
                <a:ea typeface="+mn-ea"/>
              </a:rPr>
              <a:t>)</a:t>
            </a:r>
          </a:p>
        </p:txBody>
      </p:sp>
      <p:sp>
        <p:nvSpPr>
          <p:cNvPr id="76" name="Rectangle 154">
            <a:extLst>
              <a:ext uri="{FF2B5EF4-FFF2-40B4-BE49-F238E27FC236}">
                <a16:creationId xmlns:a16="http://schemas.microsoft.com/office/drawing/2014/main" id="{EF0F034C-6D3F-40F6-80E6-9DF5AF60C5C8}"/>
              </a:ext>
            </a:extLst>
          </p:cNvPr>
          <p:cNvSpPr>
            <a:spLocks noChangeArrowheads="1"/>
          </p:cNvSpPr>
          <p:nvPr/>
        </p:nvSpPr>
        <p:spPr bwMode="auto">
          <a:xfrm>
            <a:off x="4835986" y="2618991"/>
            <a:ext cx="1170013" cy="720008"/>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ja-JP" altLang="en-US" sz="1600" dirty="0">
                <a:latin typeface="+mn-ea"/>
              </a:rPr>
              <a:t>命令</a:t>
            </a:r>
            <a:endParaRPr lang="en-US" altLang="ja-JP" sz="1600" dirty="0">
              <a:latin typeface="+mn-ea"/>
            </a:endParaRPr>
          </a:p>
          <a:p>
            <a:pPr algn="ctr"/>
            <a:r>
              <a:rPr lang="ja-JP" altLang="en-US" sz="1600" dirty="0">
                <a:latin typeface="+mn-ea"/>
              </a:rPr>
              <a:t>キャッシュ</a:t>
            </a:r>
          </a:p>
        </p:txBody>
      </p:sp>
      <p:cxnSp>
        <p:nvCxnSpPr>
          <p:cNvPr id="81" name="直線矢印コネクタ 80">
            <a:extLst>
              <a:ext uri="{FF2B5EF4-FFF2-40B4-BE49-F238E27FC236}">
                <a16:creationId xmlns:a16="http://schemas.microsoft.com/office/drawing/2014/main" id="{52359309-6823-42AD-A91D-F3B7B4D5954B}"/>
              </a:ext>
            </a:extLst>
          </p:cNvPr>
          <p:cNvCxnSpPr>
            <a:cxnSpLocks/>
          </p:cNvCxnSpPr>
          <p:nvPr/>
        </p:nvCxnSpPr>
        <p:spPr bwMode="auto">
          <a:xfrm>
            <a:off x="6005998" y="2978995"/>
            <a:ext cx="270004" cy="0"/>
          </a:xfrm>
          <a:prstGeom prst="straightConnector1">
            <a:avLst/>
          </a:prstGeom>
          <a:ln>
            <a:headEnd type="none" w="sm" len="sm"/>
            <a:tailEnd type="triangle" w="lg" len="lg"/>
          </a:ln>
        </p:spPr>
        <p:style>
          <a:lnRef idx="2">
            <a:schemeClr val="accent3"/>
          </a:lnRef>
          <a:fillRef idx="0">
            <a:schemeClr val="accent3"/>
          </a:fillRef>
          <a:effectRef idx="1">
            <a:schemeClr val="accent3"/>
          </a:effectRef>
          <a:fontRef idx="minor">
            <a:schemeClr val="tx1"/>
          </a:fontRef>
        </p:style>
      </p:cxnSp>
      <p:sp>
        <p:nvSpPr>
          <p:cNvPr id="83" name="Rectangle 133">
            <a:extLst>
              <a:ext uri="{FF2B5EF4-FFF2-40B4-BE49-F238E27FC236}">
                <a16:creationId xmlns:a16="http://schemas.microsoft.com/office/drawing/2014/main" id="{0031F1DA-9455-4239-A0EE-58244DDFC3AE}"/>
              </a:ext>
            </a:extLst>
          </p:cNvPr>
          <p:cNvSpPr>
            <a:spLocks noChangeArrowheads="1"/>
          </p:cNvSpPr>
          <p:nvPr/>
        </p:nvSpPr>
        <p:spPr bwMode="auto">
          <a:xfrm>
            <a:off x="6276002" y="2798993"/>
            <a:ext cx="1260014" cy="360004"/>
          </a:xfrm>
          <a:prstGeom prst="rect">
            <a:avLst/>
          </a:prstGeom>
          <a:noFill/>
          <a:ln w="12700">
            <a:noFill/>
            <a:miter lim="800000"/>
            <a:headEnd/>
            <a:tailEnd/>
          </a:ln>
          <a:effectLst/>
        </p:spPr>
        <p:txBody>
          <a:bodyPr wrap="none" lIns="93600" tIns="46800" rIns="93600" bIns="46800" anchor="t"/>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ja-JP" altLang="en-US" dirty="0">
                <a:solidFill>
                  <a:schemeClr val="tx1">
                    <a:lumMod val="75000"/>
                    <a:lumOff val="25000"/>
                  </a:schemeClr>
                </a:solidFill>
                <a:latin typeface="+mn-ea"/>
                <a:ea typeface="+mn-ea"/>
              </a:rPr>
              <a:t>命令</a:t>
            </a:r>
            <a:endParaRPr lang="en-US" altLang="ja-JP" dirty="0">
              <a:solidFill>
                <a:schemeClr val="tx1">
                  <a:lumMod val="75000"/>
                  <a:lumOff val="25000"/>
                </a:schemeClr>
              </a:solidFill>
              <a:latin typeface="+mn-ea"/>
              <a:ea typeface="+mn-ea"/>
            </a:endParaRPr>
          </a:p>
        </p:txBody>
      </p:sp>
      <p:sp>
        <p:nvSpPr>
          <p:cNvPr id="10" name="角丸四角形吹き出し 9"/>
          <p:cNvSpPr/>
          <p:nvPr/>
        </p:nvSpPr>
        <p:spPr bwMode="auto">
          <a:xfrm>
            <a:off x="2585961" y="5229022"/>
            <a:ext cx="2970033" cy="900009"/>
          </a:xfrm>
          <a:prstGeom prst="wedgeRoundRectCallout">
            <a:avLst>
              <a:gd name="adj1" fmla="val -11221"/>
              <a:gd name="adj2" fmla="val -74193"/>
              <a:gd name="adj3" fmla="val 16667"/>
            </a:avLst>
          </a:prstGeom>
          <a:ln>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75000"/>
                    <a:lumOff val="25000"/>
                  </a:schemeClr>
                </a:solidFill>
                <a:latin typeface="+mn-ea"/>
              </a:rPr>
              <a:t>予測した </a:t>
            </a:r>
            <a:r>
              <a:rPr lang="en-US" altLang="ja-JP" dirty="0">
                <a:solidFill>
                  <a:schemeClr val="tx1">
                    <a:lumMod val="75000"/>
                    <a:lumOff val="25000"/>
                  </a:schemeClr>
                </a:solidFill>
                <a:latin typeface="+mn-ea"/>
              </a:rPr>
              <a:t>PC </a:t>
            </a:r>
            <a:r>
              <a:rPr lang="ja-JP" altLang="en-US" dirty="0">
                <a:solidFill>
                  <a:schemeClr val="tx1">
                    <a:lumMod val="75000"/>
                    <a:lumOff val="25000"/>
                  </a:schemeClr>
                </a:solidFill>
                <a:latin typeface="+mn-ea"/>
              </a:rPr>
              <a:t>も</a:t>
            </a:r>
            <a:endParaRPr lang="en-US" altLang="ja-JP" dirty="0">
              <a:solidFill>
                <a:schemeClr val="tx1">
                  <a:lumMod val="75000"/>
                  <a:lumOff val="25000"/>
                </a:schemeClr>
              </a:solidFill>
              <a:latin typeface="+mn-ea"/>
            </a:endParaRPr>
          </a:p>
          <a:p>
            <a:r>
              <a:rPr lang="ja-JP" altLang="en-US" dirty="0">
                <a:solidFill>
                  <a:schemeClr val="tx1">
                    <a:lumMod val="75000"/>
                    <a:lumOff val="25000"/>
                  </a:schemeClr>
                </a:solidFill>
                <a:latin typeface="+mn-ea"/>
              </a:rPr>
              <a:t>入れておくから検証</a:t>
            </a:r>
            <a:r>
              <a:rPr lang="ja-JP" altLang="en-US" dirty="0" err="1">
                <a:solidFill>
                  <a:schemeClr val="tx1">
                    <a:lumMod val="75000"/>
                    <a:lumOff val="25000"/>
                  </a:schemeClr>
                </a:solidFill>
                <a:latin typeface="+mn-ea"/>
              </a:rPr>
              <a:t>よろ</a:t>
            </a:r>
            <a:endParaRPr lang="ja-JP" altLang="en-US" dirty="0">
              <a:solidFill>
                <a:schemeClr val="tx1">
                  <a:lumMod val="75000"/>
                  <a:lumOff val="25000"/>
                </a:schemeClr>
              </a:solidFill>
              <a:latin typeface="+mn-ea"/>
            </a:endParaRPr>
          </a:p>
        </p:txBody>
      </p:sp>
      <p:sp>
        <p:nvSpPr>
          <p:cNvPr id="85" name="角丸四角形吹き出し 84"/>
          <p:cNvSpPr/>
          <p:nvPr/>
        </p:nvSpPr>
        <p:spPr bwMode="auto">
          <a:xfrm>
            <a:off x="6816008" y="5229022"/>
            <a:ext cx="2520028" cy="900009"/>
          </a:xfrm>
          <a:prstGeom prst="wedgeRoundRectCallout">
            <a:avLst>
              <a:gd name="adj1" fmla="val -13109"/>
              <a:gd name="adj2" fmla="val -76024"/>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75000"/>
                    <a:lumOff val="25000"/>
                  </a:schemeClr>
                </a:solidFill>
                <a:latin typeface="+mn-ea"/>
              </a:rPr>
              <a:t>検証はまかせろー</a:t>
            </a:r>
            <a:br>
              <a:rPr lang="en-US" altLang="ja-JP" dirty="0">
                <a:solidFill>
                  <a:schemeClr val="tx1">
                    <a:lumMod val="75000"/>
                    <a:lumOff val="25000"/>
                  </a:schemeClr>
                </a:solidFill>
                <a:latin typeface="+mn-ea"/>
              </a:rPr>
            </a:br>
            <a:endParaRPr lang="ja-JP" altLang="en-US" dirty="0">
              <a:solidFill>
                <a:schemeClr val="tx1">
                  <a:lumMod val="75000"/>
                  <a:lumOff val="25000"/>
                </a:schemeClr>
              </a:solidFill>
              <a:latin typeface="+mn-ea"/>
            </a:endParaRPr>
          </a:p>
        </p:txBody>
      </p:sp>
      <p:cxnSp>
        <p:nvCxnSpPr>
          <p:cNvPr id="14" name="直線矢印コネクタ 13">
            <a:extLst>
              <a:ext uri="{FF2B5EF4-FFF2-40B4-BE49-F238E27FC236}">
                <a16:creationId xmlns:a16="http://schemas.microsoft.com/office/drawing/2014/main" id="{6D202505-1792-6E90-11ED-A921003D2488}"/>
              </a:ext>
            </a:extLst>
          </p:cNvPr>
          <p:cNvCxnSpPr>
            <a:cxnSpLocks/>
          </p:cNvCxnSpPr>
          <p:nvPr/>
        </p:nvCxnSpPr>
        <p:spPr bwMode="auto">
          <a:xfrm flipV="1">
            <a:off x="4025977" y="2438989"/>
            <a:ext cx="0" cy="360004"/>
          </a:xfrm>
          <a:prstGeom prst="straightConnector1">
            <a:avLst/>
          </a:prstGeom>
          <a:ln>
            <a:solidFill>
              <a:schemeClr val="accent1"/>
            </a:solidFill>
            <a:headEnd type="none" w="sm" len="sm"/>
            <a:tailEnd type="triangle" w="lg" len="lg"/>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35184652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グループ化 33"/>
          <p:cNvGrpSpPr/>
          <p:nvPr/>
        </p:nvGrpSpPr>
        <p:grpSpPr>
          <a:xfrm>
            <a:off x="3215968" y="4329010"/>
            <a:ext cx="1562400" cy="576064"/>
            <a:chOff x="971600" y="5445224"/>
            <a:chExt cx="7200800" cy="576064"/>
          </a:xfrm>
        </p:grpSpPr>
        <p:sp>
          <p:nvSpPr>
            <p:cNvPr id="35" name="平行四辺形 3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7" name="平行四辺形 36"/>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38" name="グループ化 37"/>
          <p:cNvGrpSpPr/>
          <p:nvPr/>
        </p:nvGrpSpPr>
        <p:grpSpPr>
          <a:xfrm>
            <a:off x="4656128" y="4329010"/>
            <a:ext cx="1562400" cy="576064"/>
            <a:chOff x="971600" y="5445224"/>
            <a:chExt cx="7200800" cy="576064"/>
          </a:xfrm>
        </p:grpSpPr>
        <p:sp>
          <p:nvSpPr>
            <p:cNvPr id="50" name="平行四辺形 49"/>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1" name="平行四辺形 50"/>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2" name="グループ化 51"/>
          <p:cNvGrpSpPr/>
          <p:nvPr/>
        </p:nvGrpSpPr>
        <p:grpSpPr>
          <a:xfrm>
            <a:off x="6096288" y="4329010"/>
            <a:ext cx="1562400" cy="576064"/>
            <a:chOff x="971600" y="5445224"/>
            <a:chExt cx="7200800" cy="576064"/>
          </a:xfrm>
        </p:grpSpPr>
        <p:sp>
          <p:nvSpPr>
            <p:cNvPr id="53" name="平行四辺形 52"/>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4" name="平行四辺形 5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6" name="グループ化 55"/>
          <p:cNvGrpSpPr/>
          <p:nvPr/>
        </p:nvGrpSpPr>
        <p:grpSpPr>
          <a:xfrm>
            <a:off x="7536448" y="4329010"/>
            <a:ext cx="1584176" cy="576064"/>
            <a:chOff x="971600" y="5445224"/>
            <a:chExt cx="7200800" cy="576064"/>
          </a:xfrm>
        </p:grpSpPr>
        <p:sp>
          <p:nvSpPr>
            <p:cNvPr id="62" name="平行四辺形 61"/>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4" name="平行四辺形 6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 name="正方形/長方形 2"/>
          <p:cNvSpPr/>
          <p:nvPr/>
        </p:nvSpPr>
        <p:spPr>
          <a:xfrm>
            <a:off x="3177808" y="3464467"/>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正方形/長方形 35"/>
          <p:cNvSpPr/>
          <p:nvPr/>
        </p:nvSpPr>
        <p:spPr>
          <a:xfrm>
            <a:off x="4617968" y="3464467"/>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p:cNvSpPr/>
          <p:nvPr/>
        </p:nvSpPr>
        <p:spPr>
          <a:xfrm>
            <a:off x="6060015" y="3483051"/>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p:cNvSpPr/>
          <p:nvPr/>
        </p:nvSpPr>
        <p:spPr>
          <a:xfrm>
            <a:off x="7500175" y="3483051"/>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p:cNvSpPr>
            <a:spLocks noGrp="1"/>
          </p:cNvSpPr>
          <p:nvPr>
            <p:ph type="title"/>
          </p:nvPr>
        </p:nvSpPr>
        <p:spPr/>
        <p:txBody>
          <a:bodyPr/>
          <a:lstStyle/>
          <a:p>
            <a:r>
              <a:rPr lang="ja-JP" altLang="en-US" dirty="0"/>
              <a:t>パイプラインとしての動作（２）</a:t>
            </a:r>
            <a:br>
              <a:rPr lang="en-US" altLang="ja-JP" dirty="0"/>
            </a:br>
            <a:r>
              <a:rPr lang="ja-JP" altLang="en-US" dirty="0"/>
              <a:t>予測ミス判明時に予測器や </a:t>
            </a:r>
            <a:r>
              <a:rPr lang="en-US" altLang="ja-JP" dirty="0"/>
              <a:t>PC </a:t>
            </a:r>
            <a:r>
              <a:rPr lang="ja-JP" altLang="en-US" dirty="0"/>
              <a:t>を学習</a:t>
            </a:r>
            <a:endParaRPr lang="en-US" altLang="ja-JP" dirty="0"/>
          </a:p>
        </p:txBody>
      </p:sp>
      <p:sp>
        <p:nvSpPr>
          <p:cNvPr id="24" name="角丸四角形 23"/>
          <p:cNvSpPr/>
          <p:nvPr/>
        </p:nvSpPr>
        <p:spPr bwMode="auto">
          <a:xfrm>
            <a:off x="7716019" y="4149008"/>
            <a:ext cx="1170013" cy="540006"/>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sz="1400" dirty="0">
                <a:latin typeface="Arial Narrow" panose="020B0606020202030204" pitchFamily="34" charset="0"/>
              </a:rPr>
              <a:t>命令</a:t>
            </a:r>
            <a:r>
              <a:rPr lang="en-US" altLang="ja-JP" sz="1400" dirty="0">
                <a:latin typeface="Arial Narrow" panose="020B0606020202030204" pitchFamily="34" charset="0"/>
              </a:rPr>
              <a:t>, PC</a:t>
            </a:r>
          </a:p>
          <a:p>
            <a:pPr algn="ctr"/>
            <a:r>
              <a:rPr lang="ja-JP" altLang="en-US" sz="1400" dirty="0">
                <a:latin typeface="Arial Narrow" panose="020B0606020202030204" pitchFamily="34" charset="0"/>
              </a:rPr>
              <a:t>次</a:t>
            </a:r>
            <a:r>
              <a:rPr lang="en-US" altLang="ja-JP" sz="1400" dirty="0">
                <a:latin typeface="Arial Narrow" panose="020B0606020202030204" pitchFamily="34" charset="0"/>
              </a:rPr>
              <a:t>PC (</a:t>
            </a:r>
            <a:r>
              <a:rPr lang="ja-JP" altLang="en-US" sz="1400" dirty="0">
                <a:latin typeface="Arial Narrow" panose="020B0606020202030204" pitchFamily="34" charset="0"/>
              </a:rPr>
              <a:t>予測</a:t>
            </a:r>
            <a:r>
              <a:rPr lang="en-US" altLang="ja-JP" sz="1400" dirty="0">
                <a:latin typeface="Arial Narrow" panose="020B0606020202030204" pitchFamily="34" charset="0"/>
              </a:rPr>
              <a:t>)</a:t>
            </a:r>
            <a:endParaRPr lang="ja-JP" altLang="en-US" sz="1400" dirty="0">
              <a:latin typeface="Arial Narrow" panose="020B0606020202030204" pitchFamily="34" charset="0"/>
            </a:endParaRPr>
          </a:p>
        </p:txBody>
      </p:sp>
      <p:sp>
        <p:nvSpPr>
          <p:cNvPr id="83" name="Rectangle 133">
            <a:extLst>
              <a:ext uri="{FF2B5EF4-FFF2-40B4-BE49-F238E27FC236}">
                <a16:creationId xmlns:a16="http://schemas.microsoft.com/office/drawing/2014/main" id="{0031F1DA-9455-4239-A0EE-58244DDFC3AE}"/>
              </a:ext>
            </a:extLst>
          </p:cNvPr>
          <p:cNvSpPr>
            <a:spLocks noChangeArrowheads="1"/>
          </p:cNvSpPr>
          <p:nvPr/>
        </p:nvSpPr>
        <p:spPr bwMode="auto">
          <a:xfrm>
            <a:off x="7896020" y="2258987"/>
            <a:ext cx="1260014" cy="360004"/>
          </a:xfrm>
          <a:prstGeom prst="rect">
            <a:avLst/>
          </a:prstGeom>
          <a:noFill/>
          <a:ln w="12700">
            <a:noFill/>
            <a:miter lim="800000"/>
            <a:headEnd/>
            <a:tailEnd/>
          </a:ln>
          <a:effectLst/>
        </p:spPr>
        <p:txBody>
          <a:bodyPr wrap="none" lIns="93600" tIns="46800" rIns="93600" bIns="46800" anchor="t"/>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ja-JP" altLang="en-US" dirty="0">
                <a:solidFill>
                  <a:schemeClr val="tx1">
                    <a:lumMod val="75000"/>
                    <a:lumOff val="25000"/>
                  </a:schemeClr>
                </a:solidFill>
                <a:latin typeface="+mn-ea"/>
                <a:ea typeface="+mn-ea"/>
              </a:rPr>
              <a:t>正しい</a:t>
            </a:r>
            <a:endParaRPr lang="en-US" altLang="ja-JP" dirty="0">
              <a:solidFill>
                <a:schemeClr val="tx1">
                  <a:lumMod val="75000"/>
                  <a:lumOff val="25000"/>
                </a:schemeClr>
              </a:solidFill>
              <a:latin typeface="+mn-ea"/>
              <a:ea typeface="+mn-ea"/>
            </a:endParaRPr>
          </a:p>
          <a:p>
            <a:pPr eaLnBrk="0" hangingPunct="0"/>
            <a:r>
              <a:rPr lang="ja-JP" altLang="en-US" dirty="0">
                <a:solidFill>
                  <a:schemeClr val="tx1">
                    <a:lumMod val="75000"/>
                    <a:lumOff val="25000"/>
                  </a:schemeClr>
                </a:solidFill>
                <a:latin typeface="+mn-ea"/>
                <a:ea typeface="+mn-ea"/>
              </a:rPr>
              <a:t>分岐方向</a:t>
            </a:r>
            <a:endParaRPr lang="en-US" altLang="ja-JP" dirty="0">
              <a:solidFill>
                <a:schemeClr val="tx1">
                  <a:lumMod val="75000"/>
                  <a:lumOff val="25000"/>
                </a:schemeClr>
              </a:solidFill>
              <a:latin typeface="+mn-ea"/>
              <a:ea typeface="+mn-ea"/>
            </a:endParaRPr>
          </a:p>
          <a:p>
            <a:pPr eaLnBrk="0" hangingPunct="0"/>
            <a:r>
              <a:rPr lang="ja-JP" altLang="en-US" dirty="0">
                <a:solidFill>
                  <a:schemeClr val="tx1">
                    <a:lumMod val="75000"/>
                    <a:lumOff val="25000"/>
                  </a:schemeClr>
                </a:solidFill>
                <a:latin typeface="+mn-ea"/>
                <a:ea typeface="+mn-ea"/>
              </a:rPr>
              <a:t>分岐先ターゲット</a:t>
            </a:r>
            <a:endParaRPr lang="en-US" altLang="ja-JP" dirty="0">
              <a:solidFill>
                <a:schemeClr val="tx1">
                  <a:lumMod val="75000"/>
                  <a:lumOff val="25000"/>
                </a:schemeClr>
              </a:solidFill>
              <a:latin typeface="+mn-ea"/>
              <a:ea typeface="+mn-ea"/>
            </a:endParaRPr>
          </a:p>
        </p:txBody>
      </p:sp>
      <p:sp>
        <p:nvSpPr>
          <p:cNvPr id="10" name="角丸四角形吹き出し 9"/>
          <p:cNvSpPr/>
          <p:nvPr/>
        </p:nvSpPr>
        <p:spPr bwMode="auto">
          <a:xfrm>
            <a:off x="2585961" y="5229021"/>
            <a:ext cx="2970033" cy="1170012"/>
          </a:xfrm>
          <a:prstGeom prst="wedgeRoundRectCallout">
            <a:avLst>
              <a:gd name="adj1" fmla="val -11221"/>
              <a:gd name="adj2" fmla="val -74193"/>
              <a:gd name="adj3" fmla="val 16667"/>
            </a:avLst>
          </a:prstGeom>
          <a:ln>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75000"/>
                    <a:lumOff val="25000"/>
                  </a:schemeClr>
                </a:solidFill>
                <a:latin typeface="+mn-ea"/>
              </a:rPr>
              <a:t>テヘペロで</a:t>
            </a:r>
            <a:r>
              <a:rPr lang="ja-JP" altLang="en-US" dirty="0" err="1">
                <a:solidFill>
                  <a:schemeClr val="tx1">
                    <a:lumMod val="75000"/>
                    <a:lumOff val="25000"/>
                  </a:schemeClr>
                </a:solidFill>
                <a:latin typeface="+mn-ea"/>
              </a:rPr>
              <a:t>やんす</a:t>
            </a:r>
            <a:endParaRPr lang="ja-JP" altLang="en-US" dirty="0">
              <a:solidFill>
                <a:schemeClr val="tx1">
                  <a:lumMod val="75000"/>
                  <a:lumOff val="25000"/>
                </a:schemeClr>
              </a:solidFill>
              <a:latin typeface="+mn-ea"/>
            </a:endParaRPr>
          </a:p>
        </p:txBody>
      </p:sp>
      <p:sp>
        <p:nvSpPr>
          <p:cNvPr id="85" name="角丸四角形吹き出し 84"/>
          <p:cNvSpPr/>
          <p:nvPr/>
        </p:nvSpPr>
        <p:spPr bwMode="auto">
          <a:xfrm>
            <a:off x="6816008" y="5229021"/>
            <a:ext cx="3150035" cy="1170012"/>
          </a:xfrm>
          <a:prstGeom prst="wedgeRoundRectCallout">
            <a:avLst>
              <a:gd name="adj1" fmla="val -13109"/>
              <a:gd name="adj2" fmla="val -76024"/>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75000"/>
                    <a:lumOff val="25000"/>
                  </a:schemeClr>
                </a:solidFill>
                <a:latin typeface="+mn-ea"/>
              </a:rPr>
              <a:t>まちがってる</a:t>
            </a:r>
            <a:r>
              <a:rPr lang="ja-JP" altLang="en-US" dirty="0" err="1">
                <a:solidFill>
                  <a:schemeClr val="tx1">
                    <a:lumMod val="75000"/>
                    <a:lumOff val="25000"/>
                  </a:schemeClr>
                </a:solidFill>
                <a:latin typeface="+mn-ea"/>
              </a:rPr>
              <a:t>じゃん</a:t>
            </a:r>
            <a:r>
              <a:rPr lang="en-US" altLang="ja-JP" dirty="0">
                <a:solidFill>
                  <a:schemeClr val="tx1">
                    <a:lumMod val="75000"/>
                    <a:lumOff val="25000"/>
                  </a:schemeClr>
                </a:solidFill>
                <a:latin typeface="+mn-ea"/>
              </a:rPr>
              <a:t>…</a:t>
            </a:r>
          </a:p>
          <a:p>
            <a:r>
              <a:rPr lang="en-US" altLang="ja-JP" dirty="0">
                <a:solidFill>
                  <a:schemeClr val="tx1">
                    <a:lumMod val="75000"/>
                    <a:lumOff val="25000"/>
                  </a:schemeClr>
                </a:solidFill>
                <a:latin typeface="+mn-ea"/>
              </a:rPr>
              <a:t>PC</a:t>
            </a:r>
            <a:r>
              <a:rPr lang="ja-JP" altLang="en-US" dirty="0" err="1">
                <a:solidFill>
                  <a:schemeClr val="tx1">
                    <a:lumMod val="75000"/>
                    <a:lumOff val="25000"/>
                  </a:schemeClr>
                </a:solidFill>
                <a:latin typeface="+mn-ea"/>
              </a:rPr>
              <a:t>，</a:t>
            </a:r>
            <a:r>
              <a:rPr lang="en-US" altLang="ja-JP" dirty="0">
                <a:solidFill>
                  <a:schemeClr val="tx1">
                    <a:lumMod val="75000"/>
                    <a:lumOff val="25000"/>
                  </a:schemeClr>
                </a:solidFill>
                <a:latin typeface="+mn-ea"/>
              </a:rPr>
              <a:t>BTB</a:t>
            </a:r>
            <a:r>
              <a:rPr lang="ja-JP" altLang="en-US" dirty="0" err="1">
                <a:solidFill>
                  <a:schemeClr val="tx1">
                    <a:lumMod val="75000"/>
                    <a:lumOff val="25000"/>
                  </a:schemeClr>
                </a:solidFill>
                <a:latin typeface="+mn-ea"/>
              </a:rPr>
              <a:t>，</a:t>
            </a:r>
            <a:r>
              <a:rPr lang="ja-JP" altLang="en-US" dirty="0">
                <a:solidFill>
                  <a:schemeClr val="tx1">
                    <a:lumMod val="75000"/>
                    <a:lumOff val="25000"/>
                  </a:schemeClr>
                </a:solidFill>
                <a:latin typeface="+mn-ea"/>
              </a:rPr>
              <a:t>方向予測器を</a:t>
            </a:r>
            <a:endParaRPr lang="en-US" altLang="ja-JP" dirty="0">
              <a:solidFill>
                <a:schemeClr val="tx1">
                  <a:lumMod val="75000"/>
                  <a:lumOff val="25000"/>
                </a:schemeClr>
              </a:solidFill>
              <a:latin typeface="+mn-ea"/>
            </a:endParaRPr>
          </a:p>
          <a:p>
            <a:r>
              <a:rPr lang="ja-JP" altLang="en-US" dirty="0">
                <a:solidFill>
                  <a:schemeClr val="tx1">
                    <a:lumMod val="75000"/>
                    <a:lumOff val="25000"/>
                  </a:schemeClr>
                </a:solidFill>
                <a:latin typeface="+mn-ea"/>
              </a:rPr>
              <a:t>更新しとくよ</a:t>
            </a:r>
          </a:p>
        </p:txBody>
      </p:sp>
      <p:sp>
        <p:nvSpPr>
          <p:cNvPr id="39" name="角丸四角形 38"/>
          <p:cNvSpPr/>
          <p:nvPr/>
        </p:nvSpPr>
        <p:spPr bwMode="auto">
          <a:xfrm>
            <a:off x="6276003" y="4149008"/>
            <a:ext cx="1170013" cy="540006"/>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lang="ja-JP" altLang="en-US" sz="1400" dirty="0">
              <a:latin typeface="Arial Narrow" panose="020B0606020202030204" pitchFamily="34" charset="0"/>
            </a:endParaRPr>
          </a:p>
        </p:txBody>
      </p:sp>
      <p:sp>
        <p:nvSpPr>
          <p:cNvPr id="40" name="角丸四角形 39"/>
          <p:cNvSpPr/>
          <p:nvPr/>
        </p:nvSpPr>
        <p:spPr bwMode="auto">
          <a:xfrm>
            <a:off x="4835987" y="4149008"/>
            <a:ext cx="1170013" cy="540006"/>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lang="ja-JP" altLang="en-US" sz="1400" dirty="0">
              <a:latin typeface="Arial Narrow" panose="020B0606020202030204" pitchFamily="34" charset="0"/>
            </a:endParaRPr>
          </a:p>
        </p:txBody>
      </p:sp>
      <p:sp>
        <p:nvSpPr>
          <p:cNvPr id="41" name="角丸四角形 40"/>
          <p:cNvSpPr/>
          <p:nvPr/>
        </p:nvSpPr>
        <p:spPr bwMode="auto">
          <a:xfrm>
            <a:off x="3485972" y="4149008"/>
            <a:ext cx="1170013" cy="540006"/>
          </a:xfrm>
          <a:prstGeom prst="roundRect">
            <a:avLst/>
          </a:prstGeom>
          <a:solidFill>
            <a:schemeClr val="tx1">
              <a:lumMod val="50000"/>
              <a:lumOff val="50000"/>
            </a:schemeClr>
          </a:solidFill>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lang="ja-JP" altLang="en-US" sz="1400" dirty="0">
              <a:latin typeface="Arial Narrow" panose="020B0606020202030204" pitchFamily="34" charset="0"/>
            </a:endParaRPr>
          </a:p>
        </p:txBody>
      </p:sp>
      <p:sp>
        <p:nvSpPr>
          <p:cNvPr id="42" name="Freeform 10">
            <a:extLst>
              <a:ext uri="{FF2B5EF4-FFF2-40B4-BE49-F238E27FC236}">
                <a16:creationId xmlns:a16="http://schemas.microsoft.com/office/drawing/2014/main" id="{594994CD-2E8A-4F58-A850-5DAC43A07B36}"/>
              </a:ext>
            </a:extLst>
          </p:cNvPr>
          <p:cNvSpPr>
            <a:spLocks/>
          </p:cNvSpPr>
          <p:nvPr/>
        </p:nvSpPr>
        <p:spPr bwMode="auto">
          <a:xfrm rot="5400000" flipV="1">
            <a:off x="5555993" y="1088974"/>
            <a:ext cx="1350018" cy="3330039"/>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accent2"/>
            </a:solidFill>
            <a:headEnd type="triangle" w="lg" len="lg"/>
            <a:tailEnd type="none" w="med" len="med"/>
          </a:ln>
        </p:spPr>
        <p:style>
          <a:lnRef idx="2">
            <a:schemeClr val="accent4"/>
          </a:lnRef>
          <a:fillRef idx="0">
            <a:schemeClr val="accent4"/>
          </a:fillRef>
          <a:effectRef idx="1">
            <a:schemeClr val="accent4"/>
          </a:effectRef>
          <a:fontRef idx="minor">
            <a:schemeClr val="tx1"/>
          </a:fontRef>
        </p:style>
        <p:txBody>
          <a:bodyPr/>
          <a:lstStyle/>
          <a:p>
            <a:endParaRPr lang="ja-JP" altLang="en-US">
              <a:latin typeface="+mn-ea"/>
              <a:cs typeface="Times New Roman" pitchFamily="18" charset="0"/>
            </a:endParaRPr>
          </a:p>
        </p:txBody>
      </p:sp>
      <p:sp>
        <p:nvSpPr>
          <p:cNvPr id="4" name="Rectangle 13">
            <a:extLst>
              <a:ext uri="{FF2B5EF4-FFF2-40B4-BE49-F238E27FC236}">
                <a16:creationId xmlns:a16="http://schemas.microsoft.com/office/drawing/2014/main" id="{0EF5748B-EE35-6B77-A9C9-98FAFA92B579}"/>
              </a:ext>
            </a:extLst>
          </p:cNvPr>
          <p:cNvSpPr>
            <a:spLocks noChangeArrowheads="1"/>
          </p:cNvSpPr>
          <p:nvPr/>
        </p:nvSpPr>
        <p:spPr bwMode="auto">
          <a:xfrm>
            <a:off x="3665973" y="2798993"/>
            <a:ext cx="720725" cy="360362"/>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tx1">
                    <a:lumMod val="75000"/>
                    <a:lumOff val="25000"/>
                  </a:schemeClr>
                </a:solidFill>
                <a:latin typeface="+mn-ea"/>
                <a:ea typeface="+mn-ea"/>
              </a:rPr>
              <a:t>PC</a:t>
            </a:r>
            <a:endParaRPr lang="ja-JP" altLang="en-US" b="1" dirty="0">
              <a:solidFill>
                <a:schemeClr val="tx1">
                  <a:lumMod val="75000"/>
                  <a:lumOff val="25000"/>
                </a:schemeClr>
              </a:solidFill>
              <a:latin typeface="+mn-ea"/>
              <a:ea typeface="+mn-ea"/>
            </a:endParaRPr>
          </a:p>
        </p:txBody>
      </p:sp>
      <p:sp>
        <p:nvSpPr>
          <p:cNvPr id="6" name="Freeform 10">
            <a:extLst>
              <a:ext uri="{FF2B5EF4-FFF2-40B4-BE49-F238E27FC236}">
                <a16:creationId xmlns:a16="http://schemas.microsoft.com/office/drawing/2014/main" id="{E8D0EACA-9959-1B75-A895-140B6433D20B}"/>
              </a:ext>
            </a:extLst>
          </p:cNvPr>
          <p:cNvSpPr>
            <a:spLocks/>
          </p:cNvSpPr>
          <p:nvPr/>
        </p:nvSpPr>
        <p:spPr bwMode="auto">
          <a:xfrm rot="16200000" flipV="1">
            <a:off x="2540961" y="1853983"/>
            <a:ext cx="1530017" cy="72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accent1"/>
            </a:solidFill>
            <a:headEnd type="triangle" w="lg" len="lg"/>
            <a:tailEnd type="none" w="med" len="med"/>
          </a:ln>
        </p:spPr>
        <p:style>
          <a:lnRef idx="2">
            <a:schemeClr val="accent4"/>
          </a:lnRef>
          <a:fillRef idx="0">
            <a:schemeClr val="accent4"/>
          </a:fillRef>
          <a:effectRef idx="1">
            <a:schemeClr val="accent4"/>
          </a:effectRef>
          <a:fontRef idx="minor">
            <a:schemeClr val="tx1"/>
          </a:fontRef>
        </p:style>
        <p:txBody>
          <a:bodyPr/>
          <a:lstStyle/>
          <a:p>
            <a:endParaRPr lang="ja-JP" altLang="en-US">
              <a:latin typeface="+mn-ea"/>
              <a:cs typeface="Times New Roman" pitchFamily="18" charset="0"/>
            </a:endParaRPr>
          </a:p>
        </p:txBody>
      </p:sp>
      <p:sp>
        <p:nvSpPr>
          <p:cNvPr id="7" name="Rectangle 154">
            <a:extLst>
              <a:ext uri="{FF2B5EF4-FFF2-40B4-BE49-F238E27FC236}">
                <a16:creationId xmlns:a16="http://schemas.microsoft.com/office/drawing/2014/main" id="{AEC6749F-DC5D-AB08-802C-605F792A8A4C}"/>
              </a:ext>
            </a:extLst>
          </p:cNvPr>
          <p:cNvSpPr>
            <a:spLocks noChangeArrowheads="1"/>
          </p:cNvSpPr>
          <p:nvPr/>
        </p:nvSpPr>
        <p:spPr bwMode="auto">
          <a:xfrm>
            <a:off x="3395970" y="1718981"/>
            <a:ext cx="1170013" cy="720008"/>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ja-JP" altLang="en-US" sz="1600" dirty="0">
                <a:latin typeface="+mn-ea"/>
                <a:ea typeface="+mn-ea"/>
              </a:rPr>
              <a:t>分岐予測器</a:t>
            </a:r>
          </a:p>
        </p:txBody>
      </p:sp>
      <p:sp>
        <p:nvSpPr>
          <p:cNvPr id="8" name="Freeform 10">
            <a:extLst>
              <a:ext uri="{FF2B5EF4-FFF2-40B4-BE49-F238E27FC236}">
                <a16:creationId xmlns:a16="http://schemas.microsoft.com/office/drawing/2014/main" id="{779C17BC-DA0D-DCA3-2276-BD81104D2016}"/>
              </a:ext>
            </a:extLst>
          </p:cNvPr>
          <p:cNvSpPr>
            <a:spLocks/>
          </p:cNvSpPr>
          <p:nvPr/>
        </p:nvSpPr>
        <p:spPr bwMode="auto">
          <a:xfrm rot="5400000" flipV="1">
            <a:off x="3350968" y="1043974"/>
            <a:ext cx="270005" cy="1080012"/>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accent1"/>
            </a:solidFill>
            <a:headEnd type="none" w="lg" len="lg"/>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a:latin typeface="+mn-ea"/>
              <a:cs typeface="Times New Roman" pitchFamily="18" charset="0"/>
            </a:endParaRPr>
          </a:p>
        </p:txBody>
      </p:sp>
      <p:sp>
        <p:nvSpPr>
          <p:cNvPr id="9" name="Rectangle 133">
            <a:extLst>
              <a:ext uri="{FF2B5EF4-FFF2-40B4-BE49-F238E27FC236}">
                <a16:creationId xmlns:a16="http://schemas.microsoft.com/office/drawing/2014/main" id="{F69D5AC8-6CED-8542-E428-0AE34747C2C9}"/>
              </a:ext>
            </a:extLst>
          </p:cNvPr>
          <p:cNvSpPr>
            <a:spLocks noChangeArrowheads="1"/>
          </p:cNvSpPr>
          <p:nvPr/>
        </p:nvSpPr>
        <p:spPr bwMode="auto">
          <a:xfrm>
            <a:off x="4025977" y="1268976"/>
            <a:ext cx="1260014" cy="450005"/>
          </a:xfrm>
          <a:prstGeom prst="rect">
            <a:avLst/>
          </a:prstGeom>
          <a:noFill/>
          <a:ln w="12700">
            <a:noFill/>
            <a:miter lim="800000"/>
            <a:headEnd/>
            <a:tailEnd/>
          </a:ln>
          <a:effectLst/>
        </p:spPr>
        <p:txBody>
          <a:bodyPr wrap="none" lIns="93600" tIns="46800" rIns="93600" bIns="46800" anchor="t"/>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ja-JP" altLang="en-US" dirty="0">
                <a:solidFill>
                  <a:schemeClr val="tx1">
                    <a:lumMod val="75000"/>
                    <a:lumOff val="25000"/>
                  </a:schemeClr>
                </a:solidFill>
                <a:latin typeface="+mn-ea"/>
                <a:ea typeface="+mn-ea"/>
              </a:rPr>
              <a:t>次 </a:t>
            </a:r>
            <a:r>
              <a:rPr lang="en-US" altLang="ja-JP" dirty="0">
                <a:solidFill>
                  <a:schemeClr val="tx1">
                    <a:lumMod val="75000"/>
                    <a:lumOff val="25000"/>
                  </a:schemeClr>
                </a:solidFill>
                <a:latin typeface="+mn-ea"/>
                <a:ea typeface="+mn-ea"/>
              </a:rPr>
              <a:t>PC</a:t>
            </a:r>
            <a:r>
              <a:rPr lang="ja-JP" altLang="en-US" dirty="0" err="1">
                <a:solidFill>
                  <a:schemeClr val="tx1">
                    <a:lumMod val="75000"/>
                    <a:lumOff val="25000"/>
                  </a:schemeClr>
                </a:solidFill>
                <a:latin typeface="+mn-ea"/>
                <a:ea typeface="+mn-ea"/>
              </a:rPr>
              <a:t>，</a:t>
            </a:r>
            <a:r>
              <a:rPr lang="ja-JP" altLang="en-US" dirty="0">
                <a:solidFill>
                  <a:schemeClr val="tx1">
                    <a:lumMod val="75000"/>
                    <a:lumOff val="25000"/>
                  </a:schemeClr>
                </a:solidFill>
                <a:latin typeface="+mn-ea"/>
                <a:ea typeface="+mn-ea"/>
              </a:rPr>
              <a:t>方向</a:t>
            </a:r>
            <a:r>
              <a:rPr lang="en-US" altLang="ja-JP" dirty="0">
                <a:solidFill>
                  <a:schemeClr val="tx1">
                    <a:lumMod val="75000"/>
                    <a:lumOff val="25000"/>
                  </a:schemeClr>
                </a:solidFill>
                <a:latin typeface="+mn-ea"/>
                <a:ea typeface="+mn-ea"/>
              </a:rPr>
              <a:t> (</a:t>
            </a:r>
            <a:r>
              <a:rPr lang="ja-JP" altLang="en-US" dirty="0">
                <a:solidFill>
                  <a:schemeClr val="tx1">
                    <a:lumMod val="75000"/>
                    <a:lumOff val="25000"/>
                  </a:schemeClr>
                </a:solidFill>
                <a:latin typeface="+mn-ea"/>
                <a:ea typeface="+mn-ea"/>
              </a:rPr>
              <a:t>予測</a:t>
            </a:r>
            <a:r>
              <a:rPr lang="en-US" altLang="ja-JP" dirty="0">
                <a:solidFill>
                  <a:schemeClr val="tx1">
                    <a:lumMod val="75000"/>
                    <a:lumOff val="25000"/>
                  </a:schemeClr>
                </a:solidFill>
                <a:latin typeface="+mn-ea"/>
                <a:ea typeface="+mn-ea"/>
              </a:rPr>
              <a:t>)</a:t>
            </a:r>
          </a:p>
        </p:txBody>
      </p:sp>
      <p:cxnSp>
        <p:nvCxnSpPr>
          <p:cNvPr id="14" name="直線矢印コネクタ 13">
            <a:extLst>
              <a:ext uri="{FF2B5EF4-FFF2-40B4-BE49-F238E27FC236}">
                <a16:creationId xmlns:a16="http://schemas.microsoft.com/office/drawing/2014/main" id="{2E21741D-47BE-9D03-F8A4-BF43B5683E2E}"/>
              </a:ext>
            </a:extLst>
          </p:cNvPr>
          <p:cNvCxnSpPr>
            <a:cxnSpLocks/>
          </p:cNvCxnSpPr>
          <p:nvPr/>
        </p:nvCxnSpPr>
        <p:spPr bwMode="auto">
          <a:xfrm flipV="1">
            <a:off x="4025977" y="2438989"/>
            <a:ext cx="0" cy="360004"/>
          </a:xfrm>
          <a:prstGeom prst="straightConnector1">
            <a:avLst/>
          </a:prstGeom>
          <a:ln>
            <a:solidFill>
              <a:schemeClr val="accent1"/>
            </a:solidFill>
            <a:headEnd type="none" w="sm" len="sm"/>
            <a:tailEnd type="triangle" w="lg" len="lg"/>
          </a:ln>
        </p:spPr>
        <p:style>
          <a:lnRef idx="2">
            <a:schemeClr val="accent4"/>
          </a:lnRef>
          <a:fillRef idx="0">
            <a:schemeClr val="accent4"/>
          </a:fillRef>
          <a:effectRef idx="1">
            <a:schemeClr val="accent4"/>
          </a:effectRef>
          <a:fontRef idx="minor">
            <a:schemeClr val="tx1"/>
          </a:fontRef>
        </p:style>
      </p:cxnSp>
      <p:sp>
        <p:nvSpPr>
          <p:cNvPr id="15" name="Freeform 10">
            <a:extLst>
              <a:ext uri="{FF2B5EF4-FFF2-40B4-BE49-F238E27FC236}">
                <a16:creationId xmlns:a16="http://schemas.microsoft.com/office/drawing/2014/main" id="{2780412E-8BA4-A6F9-2F8C-E87DE36177F3}"/>
              </a:ext>
            </a:extLst>
          </p:cNvPr>
          <p:cNvSpPr>
            <a:spLocks/>
          </p:cNvSpPr>
          <p:nvPr/>
        </p:nvSpPr>
        <p:spPr bwMode="auto">
          <a:xfrm rot="5400000" flipV="1">
            <a:off x="5915999" y="1448980"/>
            <a:ext cx="450005" cy="3510040"/>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accent2"/>
            </a:solidFill>
            <a:headEnd type="triangle" w="lg" len="lg"/>
            <a:tailEnd type="none" w="med" len="med"/>
          </a:ln>
        </p:spPr>
        <p:style>
          <a:lnRef idx="2">
            <a:schemeClr val="accent4"/>
          </a:lnRef>
          <a:fillRef idx="0">
            <a:schemeClr val="accent4"/>
          </a:fillRef>
          <a:effectRef idx="1">
            <a:schemeClr val="accent4"/>
          </a:effectRef>
          <a:fontRef idx="minor">
            <a:schemeClr val="tx1"/>
          </a:fontRef>
        </p:style>
        <p:txBody>
          <a:bodyPr/>
          <a:lstStyle/>
          <a:p>
            <a:endParaRPr lang="ja-JP" altLang="en-US">
              <a:latin typeface="+mn-ea"/>
              <a:cs typeface="Times New Roman" pitchFamily="18" charset="0"/>
            </a:endParaRPr>
          </a:p>
        </p:txBody>
      </p:sp>
    </p:spTree>
    <p:extLst>
      <p:ext uri="{BB962C8B-B14F-4D97-AF65-F5344CB8AC3E}">
        <p14:creationId xmlns:p14="http://schemas.microsoft.com/office/powerpoint/2010/main" val="6415049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98D269F-2403-65F8-000B-5A9844A86388}"/>
              </a:ext>
            </a:extLst>
          </p:cNvPr>
          <p:cNvSpPr>
            <a:spLocks noGrp="1"/>
          </p:cNvSpPr>
          <p:nvPr>
            <p:ph type="title"/>
          </p:nvPr>
        </p:nvSpPr>
        <p:spPr/>
        <p:txBody>
          <a:bodyPr/>
          <a:lstStyle/>
          <a:p>
            <a:r>
              <a:rPr lang="ja-JP" altLang="en-US" dirty="0"/>
              <a:t>分岐予測器を含む命令フェッチパイプラインの課題</a:t>
            </a:r>
            <a:endParaRPr kumimoji="1" lang="ja-JP" altLang="en-US" dirty="0"/>
          </a:p>
        </p:txBody>
      </p:sp>
      <p:sp>
        <p:nvSpPr>
          <p:cNvPr id="3" name="テキスト プレースホルダー 2">
            <a:extLst>
              <a:ext uri="{FF2B5EF4-FFF2-40B4-BE49-F238E27FC236}">
                <a16:creationId xmlns:a16="http://schemas.microsoft.com/office/drawing/2014/main" id="{B5D6510E-C716-F283-6EDB-14942E31B2A6}"/>
              </a:ext>
            </a:extLst>
          </p:cNvPr>
          <p:cNvSpPr>
            <a:spLocks noGrp="1"/>
          </p:cNvSpPr>
          <p:nvPr>
            <p:ph type="body" sz="quarter" idx="10"/>
          </p:nvPr>
        </p:nvSpPr>
        <p:spPr>
          <a:xfrm>
            <a:off x="4295981" y="998973"/>
            <a:ext cx="7560084" cy="5309753"/>
          </a:xfrm>
        </p:spPr>
        <p:txBody>
          <a:bodyPr/>
          <a:lstStyle/>
          <a:p>
            <a:r>
              <a:rPr kumimoji="1" lang="ja-JP" altLang="en-US" dirty="0"/>
              <a:t>課題：</a:t>
            </a:r>
            <a:endParaRPr kumimoji="1" lang="en-US" altLang="ja-JP" dirty="0"/>
          </a:p>
          <a:p>
            <a:pPr marL="817200" lvl="1" indent="-457200">
              <a:buFont typeface="+mj-lt"/>
              <a:buAutoNum type="arabicPeriod"/>
            </a:pPr>
            <a:r>
              <a:rPr lang="ja-JP" altLang="en-US" dirty="0"/>
              <a:t>分岐予測器は１サイクル以内に次の予測を返さないといけない</a:t>
            </a:r>
            <a:endParaRPr lang="en-US" altLang="ja-JP" dirty="0"/>
          </a:p>
          <a:p>
            <a:pPr lvl="2"/>
            <a:r>
              <a:rPr lang="ja-JP" altLang="en-US" dirty="0"/>
              <a:t>分岐予測器は </a:t>
            </a:r>
            <a:r>
              <a:rPr lang="en-US" altLang="ja-JP" dirty="0"/>
              <a:t>PC </a:t>
            </a:r>
            <a:r>
              <a:rPr lang="ja-JP" altLang="en-US" dirty="0"/>
              <a:t>を入力に次の </a:t>
            </a:r>
            <a:r>
              <a:rPr lang="en-US" altLang="ja-JP" dirty="0"/>
              <a:t>PC </a:t>
            </a:r>
            <a:r>
              <a:rPr lang="ja-JP" altLang="en-US" dirty="0"/>
              <a:t>を予測する</a:t>
            </a:r>
            <a:endParaRPr lang="en-US" altLang="ja-JP" dirty="0"/>
          </a:p>
          <a:p>
            <a:pPr lvl="3"/>
            <a:r>
              <a:rPr lang="ja-JP" altLang="en-US" dirty="0"/>
              <a:t>自分自身の出力に依存している</a:t>
            </a:r>
            <a:endParaRPr lang="en-US" altLang="ja-JP" dirty="0"/>
          </a:p>
          <a:p>
            <a:pPr lvl="2"/>
            <a:r>
              <a:rPr kumimoji="1" lang="ja-JP" altLang="en-US" dirty="0"/>
              <a:t>２サイクルかける </a:t>
            </a:r>
            <a:r>
              <a:rPr kumimoji="1" lang="en-US" altLang="ja-JP" dirty="0"/>
              <a:t>= </a:t>
            </a:r>
            <a:r>
              <a:rPr kumimoji="1" lang="ja-JP" altLang="en-US" dirty="0"/>
              <a:t>パイプラインにバブルが入る</a:t>
            </a:r>
            <a:endParaRPr kumimoji="1" lang="en-US" altLang="ja-JP" dirty="0"/>
          </a:p>
          <a:p>
            <a:pPr marL="817200" lvl="1" indent="-457200">
              <a:buFont typeface="+mj-lt"/>
              <a:buAutoNum type="arabicPeriod"/>
            </a:pPr>
            <a:r>
              <a:rPr kumimoji="1" lang="ja-JP" altLang="en-US" dirty="0"/>
              <a:t>命令キャッシュがミスすると分岐予測器もとまる</a:t>
            </a:r>
            <a:endParaRPr kumimoji="1" lang="en-US" altLang="ja-JP" dirty="0"/>
          </a:p>
          <a:p>
            <a:pPr lvl="2"/>
            <a:r>
              <a:rPr kumimoji="1" lang="ja-JP" altLang="en-US" dirty="0"/>
              <a:t>予測</a:t>
            </a:r>
            <a:r>
              <a:rPr lang="ja-JP" altLang="en-US" dirty="0"/>
              <a:t>器はキャッシュの上流にあるため</a:t>
            </a:r>
            <a:endParaRPr kumimoji="1" lang="en-US" altLang="ja-JP" dirty="0"/>
          </a:p>
          <a:p>
            <a:r>
              <a:rPr lang="ja-JP" altLang="en-US" dirty="0"/>
              <a:t>提案：</a:t>
            </a:r>
            <a:endParaRPr lang="en-US" altLang="ja-JP" dirty="0"/>
          </a:p>
          <a:p>
            <a:pPr marL="817200" lvl="1" indent="-457200">
              <a:buFont typeface="+mj-lt"/>
              <a:buAutoNum type="arabicPeriod"/>
            </a:pPr>
            <a:r>
              <a:rPr lang="en-US" altLang="ja-JP" dirty="0"/>
              <a:t>Ahead Pipelining</a:t>
            </a:r>
            <a:endParaRPr lang="ja-JP" altLang="en-US" dirty="0"/>
          </a:p>
          <a:p>
            <a:pPr marL="817200" lvl="1" indent="-457200">
              <a:buFont typeface="+mj-lt"/>
              <a:buAutoNum type="arabicPeriod"/>
            </a:pPr>
            <a:r>
              <a:rPr kumimoji="1" lang="en-US" altLang="ja-JP" dirty="0"/>
              <a:t>Decoupled </a:t>
            </a:r>
            <a:r>
              <a:rPr lang="en-US" altLang="ja-JP" dirty="0"/>
              <a:t>Frontend</a:t>
            </a:r>
          </a:p>
        </p:txBody>
      </p:sp>
      <p:grpSp>
        <p:nvGrpSpPr>
          <p:cNvPr id="14" name="グループ化 13">
            <a:extLst>
              <a:ext uri="{FF2B5EF4-FFF2-40B4-BE49-F238E27FC236}">
                <a16:creationId xmlns:a16="http://schemas.microsoft.com/office/drawing/2014/main" id="{09090781-5A3A-4D0F-FC40-3B88C03EA68E}"/>
              </a:ext>
            </a:extLst>
          </p:cNvPr>
          <p:cNvGrpSpPr/>
          <p:nvPr/>
        </p:nvGrpSpPr>
        <p:grpSpPr>
          <a:xfrm>
            <a:off x="875942" y="4509011"/>
            <a:ext cx="1562400" cy="576064"/>
            <a:chOff x="971600" y="5445224"/>
            <a:chExt cx="7200800" cy="576064"/>
          </a:xfrm>
        </p:grpSpPr>
        <p:sp>
          <p:nvSpPr>
            <p:cNvPr id="15" name="平行四辺形 14">
              <a:extLst>
                <a:ext uri="{FF2B5EF4-FFF2-40B4-BE49-F238E27FC236}">
                  <a16:creationId xmlns:a16="http://schemas.microsoft.com/office/drawing/2014/main" id="{8E5F607E-B84F-E47D-852A-E60E3127B241}"/>
                </a:ext>
              </a:extLst>
            </p:cNvPr>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6" name="平行四辺形 15">
              <a:extLst>
                <a:ext uri="{FF2B5EF4-FFF2-40B4-BE49-F238E27FC236}">
                  <a16:creationId xmlns:a16="http://schemas.microsoft.com/office/drawing/2014/main" id="{15EDDDE0-14F3-202E-725C-3944DD42EC9B}"/>
                </a:ext>
              </a:extLst>
            </p:cNvPr>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7" name="グループ化 16">
            <a:extLst>
              <a:ext uri="{FF2B5EF4-FFF2-40B4-BE49-F238E27FC236}">
                <a16:creationId xmlns:a16="http://schemas.microsoft.com/office/drawing/2014/main" id="{67947161-ED46-1F9F-0E22-C26B3F65570A}"/>
              </a:ext>
            </a:extLst>
          </p:cNvPr>
          <p:cNvGrpSpPr/>
          <p:nvPr/>
        </p:nvGrpSpPr>
        <p:grpSpPr>
          <a:xfrm>
            <a:off x="2316102" y="4509011"/>
            <a:ext cx="1562400" cy="576064"/>
            <a:chOff x="971600" y="5445224"/>
            <a:chExt cx="7200800" cy="576064"/>
          </a:xfrm>
        </p:grpSpPr>
        <p:sp>
          <p:nvSpPr>
            <p:cNvPr id="18" name="平行四辺形 17">
              <a:extLst>
                <a:ext uri="{FF2B5EF4-FFF2-40B4-BE49-F238E27FC236}">
                  <a16:creationId xmlns:a16="http://schemas.microsoft.com/office/drawing/2014/main" id="{39323028-C9D3-7985-1382-858A1BA08044}"/>
                </a:ext>
              </a:extLst>
            </p:cNvPr>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9" name="平行四辺形 18">
              <a:extLst>
                <a:ext uri="{FF2B5EF4-FFF2-40B4-BE49-F238E27FC236}">
                  <a16:creationId xmlns:a16="http://schemas.microsoft.com/office/drawing/2014/main" id="{C087DF03-330C-C90D-00B6-739A7DE18D31}"/>
                </a:ext>
              </a:extLst>
            </p:cNvPr>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26" name="正方形/長方形 25">
            <a:extLst>
              <a:ext uri="{FF2B5EF4-FFF2-40B4-BE49-F238E27FC236}">
                <a16:creationId xmlns:a16="http://schemas.microsoft.com/office/drawing/2014/main" id="{2A1BCDFA-38B4-51B2-9AED-5DC15C0E2A5E}"/>
              </a:ext>
            </a:extLst>
          </p:cNvPr>
          <p:cNvSpPr/>
          <p:nvPr/>
        </p:nvSpPr>
        <p:spPr>
          <a:xfrm>
            <a:off x="837782" y="3644468"/>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7" name="正方形/長方形 26">
            <a:extLst>
              <a:ext uri="{FF2B5EF4-FFF2-40B4-BE49-F238E27FC236}">
                <a16:creationId xmlns:a16="http://schemas.microsoft.com/office/drawing/2014/main" id="{D1CA7C8A-8491-FE46-7FE7-6859845078FA}"/>
              </a:ext>
            </a:extLst>
          </p:cNvPr>
          <p:cNvSpPr/>
          <p:nvPr/>
        </p:nvSpPr>
        <p:spPr>
          <a:xfrm>
            <a:off x="2277942" y="3644468"/>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0" name="角丸四角形 23">
            <a:extLst>
              <a:ext uri="{FF2B5EF4-FFF2-40B4-BE49-F238E27FC236}">
                <a16:creationId xmlns:a16="http://schemas.microsoft.com/office/drawing/2014/main" id="{0999CB35-F9C2-52E5-B07A-84478342C2C9}"/>
              </a:ext>
            </a:extLst>
          </p:cNvPr>
          <p:cNvSpPr/>
          <p:nvPr/>
        </p:nvSpPr>
        <p:spPr bwMode="auto">
          <a:xfrm>
            <a:off x="1145945" y="4329009"/>
            <a:ext cx="1170013" cy="540006"/>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sz="1400" dirty="0">
                <a:latin typeface="Arial Narrow" panose="020B0606020202030204" pitchFamily="34" charset="0"/>
              </a:rPr>
              <a:t>PC</a:t>
            </a:r>
          </a:p>
          <a:p>
            <a:pPr algn="ctr"/>
            <a:r>
              <a:rPr lang="ja-JP" altLang="en-US" sz="1400" dirty="0">
                <a:latin typeface="Arial Narrow" panose="020B0606020202030204" pitchFamily="34" charset="0"/>
              </a:rPr>
              <a:t>次</a:t>
            </a:r>
            <a:r>
              <a:rPr lang="en-US" altLang="ja-JP" sz="1400" dirty="0">
                <a:latin typeface="Arial Narrow" panose="020B0606020202030204" pitchFamily="34" charset="0"/>
              </a:rPr>
              <a:t>PC (</a:t>
            </a:r>
            <a:r>
              <a:rPr lang="ja-JP" altLang="en-US" sz="1400" dirty="0">
                <a:latin typeface="Arial Narrow" panose="020B0606020202030204" pitchFamily="34" charset="0"/>
              </a:rPr>
              <a:t>予測</a:t>
            </a:r>
            <a:r>
              <a:rPr lang="en-US" altLang="ja-JP" sz="1400" dirty="0">
                <a:latin typeface="Arial Narrow" panose="020B0606020202030204" pitchFamily="34" charset="0"/>
              </a:rPr>
              <a:t>)</a:t>
            </a:r>
            <a:endParaRPr lang="ja-JP" altLang="en-US" sz="1400" dirty="0">
              <a:latin typeface="Arial Narrow" panose="020B0606020202030204" pitchFamily="34" charset="0"/>
            </a:endParaRPr>
          </a:p>
        </p:txBody>
      </p:sp>
      <p:sp>
        <p:nvSpPr>
          <p:cNvPr id="31" name="Rectangle 13">
            <a:extLst>
              <a:ext uri="{FF2B5EF4-FFF2-40B4-BE49-F238E27FC236}">
                <a16:creationId xmlns:a16="http://schemas.microsoft.com/office/drawing/2014/main" id="{06CE58C0-C5AE-755F-16A9-DF4EF4548B12}"/>
              </a:ext>
            </a:extLst>
          </p:cNvPr>
          <p:cNvSpPr>
            <a:spLocks noChangeArrowheads="1"/>
          </p:cNvSpPr>
          <p:nvPr/>
        </p:nvSpPr>
        <p:spPr bwMode="auto">
          <a:xfrm>
            <a:off x="1325947" y="3068996"/>
            <a:ext cx="720725" cy="360362"/>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tx1">
                    <a:lumMod val="75000"/>
                    <a:lumOff val="25000"/>
                  </a:schemeClr>
                </a:solidFill>
                <a:latin typeface="+mn-ea"/>
                <a:ea typeface="+mn-ea"/>
              </a:rPr>
              <a:t>PC</a:t>
            </a:r>
            <a:endParaRPr lang="ja-JP" altLang="en-US" b="1" dirty="0">
              <a:solidFill>
                <a:schemeClr val="tx1">
                  <a:lumMod val="75000"/>
                  <a:lumOff val="25000"/>
                </a:schemeClr>
              </a:solidFill>
              <a:latin typeface="+mn-ea"/>
              <a:ea typeface="+mn-ea"/>
            </a:endParaRPr>
          </a:p>
        </p:txBody>
      </p:sp>
      <p:cxnSp>
        <p:nvCxnSpPr>
          <p:cNvPr id="32" name="直線矢印コネクタ 31">
            <a:extLst>
              <a:ext uri="{FF2B5EF4-FFF2-40B4-BE49-F238E27FC236}">
                <a16:creationId xmlns:a16="http://schemas.microsoft.com/office/drawing/2014/main" id="{25FDC891-561C-5FB9-DA9C-60F6393778CF}"/>
              </a:ext>
            </a:extLst>
          </p:cNvPr>
          <p:cNvCxnSpPr>
            <a:cxnSpLocks/>
            <a:endCxn id="37" idx="1"/>
          </p:cNvCxnSpPr>
          <p:nvPr/>
        </p:nvCxnSpPr>
        <p:spPr bwMode="auto">
          <a:xfrm>
            <a:off x="2045955" y="3248998"/>
            <a:ext cx="450005" cy="0"/>
          </a:xfrm>
          <a:prstGeom prst="straightConnector1">
            <a:avLst/>
          </a:prstGeom>
          <a:ln>
            <a:solidFill>
              <a:schemeClr val="accent1"/>
            </a:solidFill>
            <a:headEnd type="none" w="sm" len="sm"/>
            <a:tailEnd type="triangle" w="lg" len="lg"/>
          </a:ln>
        </p:spPr>
        <p:style>
          <a:lnRef idx="2">
            <a:schemeClr val="accent4"/>
          </a:lnRef>
          <a:fillRef idx="0">
            <a:schemeClr val="accent4"/>
          </a:fillRef>
          <a:effectRef idx="1">
            <a:schemeClr val="accent4"/>
          </a:effectRef>
          <a:fontRef idx="minor">
            <a:schemeClr val="tx1"/>
          </a:fontRef>
        </p:style>
      </p:cxnSp>
      <p:sp>
        <p:nvSpPr>
          <p:cNvPr id="33" name="Freeform 10">
            <a:extLst>
              <a:ext uri="{FF2B5EF4-FFF2-40B4-BE49-F238E27FC236}">
                <a16:creationId xmlns:a16="http://schemas.microsoft.com/office/drawing/2014/main" id="{9843668C-8541-D147-449A-4CF3D5856D0C}"/>
              </a:ext>
            </a:extLst>
          </p:cNvPr>
          <p:cNvSpPr>
            <a:spLocks/>
          </p:cNvSpPr>
          <p:nvPr/>
        </p:nvSpPr>
        <p:spPr bwMode="auto">
          <a:xfrm rot="16200000" flipV="1">
            <a:off x="200935" y="2123986"/>
            <a:ext cx="1530017" cy="72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accent1"/>
            </a:solidFill>
            <a:headEnd type="triangle" w="lg" len="lg"/>
            <a:tailEnd type="none" w="med" len="med"/>
          </a:ln>
        </p:spPr>
        <p:style>
          <a:lnRef idx="2">
            <a:schemeClr val="accent4"/>
          </a:lnRef>
          <a:fillRef idx="0">
            <a:schemeClr val="accent4"/>
          </a:fillRef>
          <a:effectRef idx="1">
            <a:schemeClr val="accent4"/>
          </a:effectRef>
          <a:fontRef idx="minor">
            <a:schemeClr val="tx1"/>
          </a:fontRef>
        </p:style>
        <p:txBody>
          <a:bodyPr/>
          <a:lstStyle/>
          <a:p>
            <a:endParaRPr lang="ja-JP" altLang="en-US">
              <a:latin typeface="+mn-ea"/>
              <a:cs typeface="Times New Roman" pitchFamily="18" charset="0"/>
            </a:endParaRPr>
          </a:p>
        </p:txBody>
      </p:sp>
      <p:sp>
        <p:nvSpPr>
          <p:cNvPr id="34" name="Rectangle 154">
            <a:extLst>
              <a:ext uri="{FF2B5EF4-FFF2-40B4-BE49-F238E27FC236}">
                <a16:creationId xmlns:a16="http://schemas.microsoft.com/office/drawing/2014/main" id="{86D34002-3950-70EA-1FF0-D93FF60ECA3A}"/>
              </a:ext>
            </a:extLst>
          </p:cNvPr>
          <p:cNvSpPr>
            <a:spLocks noChangeArrowheads="1"/>
          </p:cNvSpPr>
          <p:nvPr/>
        </p:nvSpPr>
        <p:spPr bwMode="auto">
          <a:xfrm>
            <a:off x="1055944" y="1988984"/>
            <a:ext cx="1170013" cy="720008"/>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ja-JP" altLang="en-US" sz="1600" dirty="0">
                <a:latin typeface="+mn-ea"/>
                <a:ea typeface="+mn-ea"/>
              </a:rPr>
              <a:t>分岐予測器</a:t>
            </a:r>
          </a:p>
        </p:txBody>
      </p:sp>
      <p:sp>
        <p:nvSpPr>
          <p:cNvPr id="35" name="Freeform 10">
            <a:extLst>
              <a:ext uri="{FF2B5EF4-FFF2-40B4-BE49-F238E27FC236}">
                <a16:creationId xmlns:a16="http://schemas.microsoft.com/office/drawing/2014/main" id="{86C0B6B7-E0DD-18A2-3A3E-47B657998FEB}"/>
              </a:ext>
            </a:extLst>
          </p:cNvPr>
          <p:cNvSpPr>
            <a:spLocks/>
          </p:cNvSpPr>
          <p:nvPr/>
        </p:nvSpPr>
        <p:spPr bwMode="auto">
          <a:xfrm rot="5400000" flipV="1">
            <a:off x="1010942" y="1313977"/>
            <a:ext cx="270005" cy="1080012"/>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accent1"/>
            </a:solidFill>
            <a:headEnd type="none" w="lg" len="lg"/>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a:latin typeface="+mn-ea"/>
              <a:cs typeface="Times New Roman" pitchFamily="18" charset="0"/>
            </a:endParaRPr>
          </a:p>
        </p:txBody>
      </p:sp>
      <p:sp>
        <p:nvSpPr>
          <p:cNvPr id="36" name="Rectangle 133">
            <a:extLst>
              <a:ext uri="{FF2B5EF4-FFF2-40B4-BE49-F238E27FC236}">
                <a16:creationId xmlns:a16="http://schemas.microsoft.com/office/drawing/2014/main" id="{8FE4CCC4-79CF-0EE3-3628-B7B4B19F06BE}"/>
              </a:ext>
            </a:extLst>
          </p:cNvPr>
          <p:cNvSpPr>
            <a:spLocks noChangeArrowheads="1"/>
          </p:cNvSpPr>
          <p:nvPr/>
        </p:nvSpPr>
        <p:spPr bwMode="auto">
          <a:xfrm>
            <a:off x="1685951" y="1538979"/>
            <a:ext cx="1260014" cy="450005"/>
          </a:xfrm>
          <a:prstGeom prst="rect">
            <a:avLst/>
          </a:prstGeom>
          <a:noFill/>
          <a:ln w="12700">
            <a:noFill/>
            <a:miter lim="800000"/>
            <a:headEnd/>
            <a:tailEnd/>
          </a:ln>
          <a:effectLst/>
        </p:spPr>
        <p:txBody>
          <a:bodyPr wrap="none" lIns="93600" tIns="46800" rIns="93600" bIns="46800" anchor="t"/>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ja-JP" altLang="en-US" dirty="0">
                <a:solidFill>
                  <a:schemeClr val="tx1">
                    <a:lumMod val="75000"/>
                    <a:lumOff val="25000"/>
                  </a:schemeClr>
                </a:solidFill>
                <a:latin typeface="+mn-ea"/>
                <a:ea typeface="+mn-ea"/>
              </a:rPr>
              <a:t>次 </a:t>
            </a:r>
            <a:r>
              <a:rPr lang="en-US" altLang="ja-JP" dirty="0">
                <a:solidFill>
                  <a:schemeClr val="tx1">
                    <a:lumMod val="75000"/>
                    <a:lumOff val="25000"/>
                  </a:schemeClr>
                </a:solidFill>
                <a:latin typeface="+mn-ea"/>
                <a:ea typeface="+mn-ea"/>
              </a:rPr>
              <a:t>PC</a:t>
            </a:r>
            <a:r>
              <a:rPr lang="ja-JP" altLang="en-US" dirty="0" err="1">
                <a:solidFill>
                  <a:schemeClr val="tx1">
                    <a:lumMod val="75000"/>
                    <a:lumOff val="25000"/>
                  </a:schemeClr>
                </a:solidFill>
                <a:latin typeface="+mn-ea"/>
                <a:ea typeface="+mn-ea"/>
              </a:rPr>
              <a:t>，</a:t>
            </a:r>
            <a:r>
              <a:rPr lang="ja-JP" altLang="en-US" dirty="0">
                <a:solidFill>
                  <a:schemeClr val="tx1">
                    <a:lumMod val="75000"/>
                    <a:lumOff val="25000"/>
                  </a:schemeClr>
                </a:solidFill>
                <a:latin typeface="+mn-ea"/>
                <a:ea typeface="+mn-ea"/>
              </a:rPr>
              <a:t>方向</a:t>
            </a:r>
            <a:r>
              <a:rPr lang="en-US" altLang="ja-JP" dirty="0">
                <a:solidFill>
                  <a:schemeClr val="tx1">
                    <a:lumMod val="75000"/>
                    <a:lumOff val="25000"/>
                  </a:schemeClr>
                </a:solidFill>
                <a:latin typeface="+mn-ea"/>
                <a:ea typeface="+mn-ea"/>
              </a:rPr>
              <a:t> (</a:t>
            </a:r>
            <a:r>
              <a:rPr lang="ja-JP" altLang="en-US" dirty="0">
                <a:solidFill>
                  <a:schemeClr val="tx1">
                    <a:lumMod val="75000"/>
                    <a:lumOff val="25000"/>
                  </a:schemeClr>
                </a:solidFill>
                <a:latin typeface="+mn-ea"/>
                <a:ea typeface="+mn-ea"/>
              </a:rPr>
              <a:t>予測</a:t>
            </a:r>
            <a:r>
              <a:rPr lang="en-US" altLang="ja-JP" dirty="0">
                <a:solidFill>
                  <a:schemeClr val="tx1">
                    <a:lumMod val="75000"/>
                    <a:lumOff val="25000"/>
                  </a:schemeClr>
                </a:solidFill>
                <a:latin typeface="+mn-ea"/>
                <a:ea typeface="+mn-ea"/>
              </a:rPr>
              <a:t>)</a:t>
            </a:r>
          </a:p>
        </p:txBody>
      </p:sp>
      <p:sp>
        <p:nvSpPr>
          <p:cNvPr id="37" name="Rectangle 154">
            <a:extLst>
              <a:ext uri="{FF2B5EF4-FFF2-40B4-BE49-F238E27FC236}">
                <a16:creationId xmlns:a16="http://schemas.microsoft.com/office/drawing/2014/main" id="{A9155484-0A0E-C1CD-B629-80DF02065302}"/>
              </a:ext>
            </a:extLst>
          </p:cNvPr>
          <p:cNvSpPr>
            <a:spLocks noChangeArrowheads="1"/>
          </p:cNvSpPr>
          <p:nvPr/>
        </p:nvSpPr>
        <p:spPr bwMode="auto">
          <a:xfrm>
            <a:off x="2495960" y="2888994"/>
            <a:ext cx="1170013" cy="720008"/>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ja-JP" altLang="en-US" sz="1600" dirty="0">
                <a:latin typeface="+mn-ea"/>
              </a:rPr>
              <a:t>命令</a:t>
            </a:r>
            <a:endParaRPr lang="en-US" altLang="ja-JP" sz="1600" dirty="0">
              <a:latin typeface="+mn-ea"/>
            </a:endParaRPr>
          </a:p>
          <a:p>
            <a:pPr algn="ctr"/>
            <a:r>
              <a:rPr lang="ja-JP" altLang="en-US" sz="1600" dirty="0">
                <a:latin typeface="+mn-ea"/>
              </a:rPr>
              <a:t>キャッシュ</a:t>
            </a:r>
          </a:p>
        </p:txBody>
      </p:sp>
      <p:cxnSp>
        <p:nvCxnSpPr>
          <p:cNvPr id="38" name="直線矢印コネクタ 37">
            <a:extLst>
              <a:ext uri="{FF2B5EF4-FFF2-40B4-BE49-F238E27FC236}">
                <a16:creationId xmlns:a16="http://schemas.microsoft.com/office/drawing/2014/main" id="{648F9BCE-7C9D-312B-5ED8-C6983AD5C5C1}"/>
              </a:ext>
            </a:extLst>
          </p:cNvPr>
          <p:cNvCxnSpPr>
            <a:cxnSpLocks/>
          </p:cNvCxnSpPr>
          <p:nvPr/>
        </p:nvCxnSpPr>
        <p:spPr bwMode="auto">
          <a:xfrm>
            <a:off x="3665972" y="3248998"/>
            <a:ext cx="270004" cy="0"/>
          </a:xfrm>
          <a:prstGeom prst="straightConnector1">
            <a:avLst/>
          </a:prstGeom>
          <a:ln>
            <a:headEnd type="none" w="sm" len="sm"/>
            <a:tailEnd type="triangle" w="lg" len="lg"/>
          </a:ln>
        </p:spPr>
        <p:style>
          <a:lnRef idx="2">
            <a:schemeClr val="accent3"/>
          </a:lnRef>
          <a:fillRef idx="0">
            <a:schemeClr val="accent3"/>
          </a:fillRef>
          <a:effectRef idx="1">
            <a:schemeClr val="accent3"/>
          </a:effectRef>
          <a:fontRef idx="minor">
            <a:schemeClr val="tx1"/>
          </a:fontRef>
        </p:style>
      </p:cxnSp>
      <p:cxnSp>
        <p:nvCxnSpPr>
          <p:cNvPr id="40" name="直線矢印コネクタ 39">
            <a:extLst>
              <a:ext uri="{FF2B5EF4-FFF2-40B4-BE49-F238E27FC236}">
                <a16:creationId xmlns:a16="http://schemas.microsoft.com/office/drawing/2014/main" id="{DF11CEF5-5C6E-AA53-15EE-C10D653E66EF}"/>
              </a:ext>
            </a:extLst>
          </p:cNvPr>
          <p:cNvCxnSpPr>
            <a:cxnSpLocks/>
          </p:cNvCxnSpPr>
          <p:nvPr/>
        </p:nvCxnSpPr>
        <p:spPr bwMode="auto">
          <a:xfrm flipV="1">
            <a:off x="1685951" y="2708992"/>
            <a:ext cx="0" cy="360004"/>
          </a:xfrm>
          <a:prstGeom prst="straightConnector1">
            <a:avLst/>
          </a:prstGeom>
          <a:ln>
            <a:solidFill>
              <a:schemeClr val="accent1"/>
            </a:solidFill>
            <a:headEnd type="none" w="sm" len="sm"/>
            <a:tailEnd type="triangle" w="lg" len="lg"/>
          </a:ln>
        </p:spPr>
        <p:style>
          <a:lnRef idx="2">
            <a:schemeClr val="accent4"/>
          </a:lnRef>
          <a:fillRef idx="0">
            <a:schemeClr val="accent4"/>
          </a:fillRef>
          <a:effectRef idx="1">
            <a:schemeClr val="accent4"/>
          </a:effectRef>
          <a:fontRef idx="minor">
            <a:schemeClr val="tx1"/>
          </a:fontRef>
        </p:style>
      </p:cxnSp>
      <p:sp>
        <p:nvSpPr>
          <p:cNvPr id="41" name="角丸四角形 23">
            <a:extLst>
              <a:ext uri="{FF2B5EF4-FFF2-40B4-BE49-F238E27FC236}">
                <a16:creationId xmlns:a16="http://schemas.microsoft.com/office/drawing/2014/main" id="{30E0F6DC-1710-6749-E2A5-CF2A463C2159}"/>
              </a:ext>
            </a:extLst>
          </p:cNvPr>
          <p:cNvSpPr/>
          <p:nvPr/>
        </p:nvSpPr>
        <p:spPr bwMode="auto">
          <a:xfrm>
            <a:off x="2495960" y="4329010"/>
            <a:ext cx="1170013" cy="540006"/>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sz="1400" dirty="0">
                <a:latin typeface="Arial Narrow" panose="020B0606020202030204" pitchFamily="34" charset="0"/>
              </a:rPr>
              <a:t>命令</a:t>
            </a:r>
          </a:p>
        </p:txBody>
      </p:sp>
    </p:spTree>
    <p:extLst>
      <p:ext uri="{BB962C8B-B14F-4D97-AF65-F5344CB8AC3E}">
        <p14:creationId xmlns:p14="http://schemas.microsoft.com/office/powerpoint/2010/main" val="31755823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Rectangle 69">
            <a:extLst>
              <a:ext uri="{FF2B5EF4-FFF2-40B4-BE49-F238E27FC236}">
                <a16:creationId xmlns:a16="http://schemas.microsoft.com/office/drawing/2014/main" id="{EBF0D233-2538-6CAE-8F8A-70BC0E26C203}"/>
              </a:ext>
            </a:extLst>
          </p:cNvPr>
          <p:cNvSpPr>
            <a:spLocks noChangeArrowheads="1"/>
          </p:cNvSpPr>
          <p:nvPr/>
        </p:nvSpPr>
        <p:spPr bwMode="auto">
          <a:xfrm>
            <a:off x="1775951" y="4149008"/>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latin typeface="+mn-lt"/>
                <a:ea typeface="+mn-ea"/>
              </a:rPr>
              <a:t>P</a:t>
            </a:r>
          </a:p>
        </p:txBody>
      </p:sp>
      <p:sp>
        <p:nvSpPr>
          <p:cNvPr id="65" name="Rectangle 70">
            <a:extLst>
              <a:ext uri="{FF2B5EF4-FFF2-40B4-BE49-F238E27FC236}">
                <a16:creationId xmlns:a16="http://schemas.microsoft.com/office/drawing/2014/main" id="{014903FE-26FA-2836-5FC2-1DD149A9F039}"/>
              </a:ext>
            </a:extLst>
          </p:cNvPr>
          <p:cNvSpPr>
            <a:spLocks noChangeArrowheads="1"/>
          </p:cNvSpPr>
          <p:nvPr/>
        </p:nvSpPr>
        <p:spPr bwMode="auto">
          <a:xfrm>
            <a:off x="2225954" y="4149008"/>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latin typeface="+mn-lt"/>
                <a:ea typeface="+mn-ea"/>
              </a:rPr>
              <a:t>F</a:t>
            </a:r>
          </a:p>
        </p:txBody>
      </p:sp>
      <p:sp>
        <p:nvSpPr>
          <p:cNvPr id="66" name="Rectangle 71">
            <a:extLst>
              <a:ext uri="{FF2B5EF4-FFF2-40B4-BE49-F238E27FC236}">
                <a16:creationId xmlns:a16="http://schemas.microsoft.com/office/drawing/2014/main" id="{9969F08D-1578-9622-58F4-F3901E1C4D02}"/>
              </a:ext>
            </a:extLst>
          </p:cNvPr>
          <p:cNvSpPr>
            <a:spLocks noChangeArrowheads="1"/>
          </p:cNvSpPr>
          <p:nvPr/>
        </p:nvSpPr>
        <p:spPr bwMode="auto">
          <a:xfrm>
            <a:off x="2675960" y="4149008"/>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dirty="0">
              <a:latin typeface="+mn-lt"/>
              <a:ea typeface="+mn-ea"/>
            </a:endParaRPr>
          </a:p>
        </p:txBody>
      </p:sp>
      <p:sp>
        <p:nvSpPr>
          <p:cNvPr id="67" name="Rectangle 72">
            <a:extLst>
              <a:ext uri="{FF2B5EF4-FFF2-40B4-BE49-F238E27FC236}">
                <a16:creationId xmlns:a16="http://schemas.microsoft.com/office/drawing/2014/main" id="{47C6B2C7-79D7-2F99-ECB4-635348F5162D}"/>
              </a:ext>
            </a:extLst>
          </p:cNvPr>
          <p:cNvSpPr>
            <a:spLocks noChangeArrowheads="1"/>
          </p:cNvSpPr>
          <p:nvPr/>
        </p:nvSpPr>
        <p:spPr bwMode="auto">
          <a:xfrm>
            <a:off x="3125965" y="4149008"/>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dirty="0">
              <a:latin typeface="+mn-lt"/>
              <a:ea typeface="+mn-ea"/>
            </a:endParaRPr>
          </a:p>
        </p:txBody>
      </p:sp>
      <p:sp>
        <p:nvSpPr>
          <p:cNvPr id="68" name="Rectangle 73">
            <a:extLst>
              <a:ext uri="{FF2B5EF4-FFF2-40B4-BE49-F238E27FC236}">
                <a16:creationId xmlns:a16="http://schemas.microsoft.com/office/drawing/2014/main" id="{95FA8940-45A7-F6FE-F81D-846E32333DD5}"/>
              </a:ext>
            </a:extLst>
          </p:cNvPr>
          <p:cNvSpPr>
            <a:spLocks noChangeArrowheads="1"/>
          </p:cNvSpPr>
          <p:nvPr/>
        </p:nvSpPr>
        <p:spPr bwMode="auto">
          <a:xfrm>
            <a:off x="3575970" y="4149008"/>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dirty="0">
              <a:latin typeface="+mn-lt"/>
              <a:ea typeface="+mn-ea"/>
            </a:endParaRPr>
          </a:p>
        </p:txBody>
      </p:sp>
      <p:sp>
        <p:nvSpPr>
          <p:cNvPr id="69" name="Rectangle 69">
            <a:extLst>
              <a:ext uri="{FF2B5EF4-FFF2-40B4-BE49-F238E27FC236}">
                <a16:creationId xmlns:a16="http://schemas.microsoft.com/office/drawing/2014/main" id="{E61F7BC2-4F5B-B2D9-6D82-BEFA2DCFB10B}"/>
              </a:ext>
            </a:extLst>
          </p:cNvPr>
          <p:cNvSpPr>
            <a:spLocks noChangeArrowheads="1"/>
          </p:cNvSpPr>
          <p:nvPr/>
        </p:nvSpPr>
        <p:spPr bwMode="auto">
          <a:xfrm>
            <a:off x="2225958" y="4599013"/>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latin typeface="+mn-lt"/>
                <a:ea typeface="+mn-ea"/>
              </a:rPr>
              <a:t>P</a:t>
            </a:r>
          </a:p>
        </p:txBody>
      </p:sp>
      <p:sp>
        <p:nvSpPr>
          <p:cNvPr id="70" name="Rectangle 70">
            <a:extLst>
              <a:ext uri="{FF2B5EF4-FFF2-40B4-BE49-F238E27FC236}">
                <a16:creationId xmlns:a16="http://schemas.microsoft.com/office/drawing/2014/main" id="{25E473C6-1281-9783-70D3-BC8D4086ACDD}"/>
              </a:ext>
            </a:extLst>
          </p:cNvPr>
          <p:cNvSpPr>
            <a:spLocks noChangeArrowheads="1"/>
          </p:cNvSpPr>
          <p:nvPr/>
        </p:nvSpPr>
        <p:spPr bwMode="auto">
          <a:xfrm>
            <a:off x="2675961" y="4599013"/>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latin typeface="+mn-lt"/>
                <a:ea typeface="+mn-ea"/>
              </a:rPr>
              <a:t>F</a:t>
            </a:r>
          </a:p>
        </p:txBody>
      </p:sp>
      <p:sp>
        <p:nvSpPr>
          <p:cNvPr id="71" name="Rectangle 71">
            <a:extLst>
              <a:ext uri="{FF2B5EF4-FFF2-40B4-BE49-F238E27FC236}">
                <a16:creationId xmlns:a16="http://schemas.microsoft.com/office/drawing/2014/main" id="{19FAF771-8385-F3F7-2FFD-0E6A9E12C820}"/>
              </a:ext>
            </a:extLst>
          </p:cNvPr>
          <p:cNvSpPr>
            <a:spLocks noChangeArrowheads="1"/>
          </p:cNvSpPr>
          <p:nvPr/>
        </p:nvSpPr>
        <p:spPr bwMode="auto">
          <a:xfrm>
            <a:off x="3125967" y="4599013"/>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dirty="0">
              <a:latin typeface="+mn-lt"/>
              <a:ea typeface="+mn-ea"/>
            </a:endParaRPr>
          </a:p>
        </p:txBody>
      </p:sp>
      <p:sp>
        <p:nvSpPr>
          <p:cNvPr id="72" name="Rectangle 72">
            <a:extLst>
              <a:ext uri="{FF2B5EF4-FFF2-40B4-BE49-F238E27FC236}">
                <a16:creationId xmlns:a16="http://schemas.microsoft.com/office/drawing/2014/main" id="{62A24A5E-FE33-6128-D015-4043785DFFFC}"/>
              </a:ext>
            </a:extLst>
          </p:cNvPr>
          <p:cNvSpPr>
            <a:spLocks noChangeArrowheads="1"/>
          </p:cNvSpPr>
          <p:nvPr/>
        </p:nvSpPr>
        <p:spPr bwMode="auto">
          <a:xfrm>
            <a:off x="3575972" y="4599013"/>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dirty="0">
              <a:latin typeface="+mn-lt"/>
              <a:ea typeface="+mn-ea"/>
            </a:endParaRPr>
          </a:p>
        </p:txBody>
      </p:sp>
      <p:sp>
        <p:nvSpPr>
          <p:cNvPr id="73" name="Rectangle 73">
            <a:extLst>
              <a:ext uri="{FF2B5EF4-FFF2-40B4-BE49-F238E27FC236}">
                <a16:creationId xmlns:a16="http://schemas.microsoft.com/office/drawing/2014/main" id="{50AC70E5-2535-C881-0F6C-C6BAA95F6D57}"/>
              </a:ext>
            </a:extLst>
          </p:cNvPr>
          <p:cNvSpPr>
            <a:spLocks noChangeArrowheads="1"/>
          </p:cNvSpPr>
          <p:nvPr/>
        </p:nvSpPr>
        <p:spPr bwMode="auto">
          <a:xfrm>
            <a:off x="4025977" y="4599013"/>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dirty="0">
              <a:latin typeface="+mn-lt"/>
              <a:ea typeface="+mn-ea"/>
            </a:endParaRPr>
          </a:p>
        </p:txBody>
      </p:sp>
      <p:sp>
        <p:nvSpPr>
          <p:cNvPr id="74" name="Rectangle 69">
            <a:extLst>
              <a:ext uri="{FF2B5EF4-FFF2-40B4-BE49-F238E27FC236}">
                <a16:creationId xmlns:a16="http://schemas.microsoft.com/office/drawing/2014/main" id="{4AD4687D-6629-128C-B9AB-161C8A4AF2E9}"/>
              </a:ext>
            </a:extLst>
          </p:cNvPr>
          <p:cNvSpPr>
            <a:spLocks noChangeArrowheads="1"/>
          </p:cNvSpPr>
          <p:nvPr/>
        </p:nvSpPr>
        <p:spPr bwMode="auto">
          <a:xfrm>
            <a:off x="2675962" y="5049018"/>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a:latin typeface="+mn-lt"/>
                <a:ea typeface="+mn-ea"/>
              </a:rPr>
              <a:t>P</a:t>
            </a:r>
            <a:endParaRPr lang="en-US" altLang="ja-JP" dirty="0">
              <a:latin typeface="+mn-lt"/>
              <a:ea typeface="+mn-ea"/>
            </a:endParaRPr>
          </a:p>
        </p:txBody>
      </p:sp>
      <p:sp>
        <p:nvSpPr>
          <p:cNvPr id="75" name="Rectangle 70">
            <a:extLst>
              <a:ext uri="{FF2B5EF4-FFF2-40B4-BE49-F238E27FC236}">
                <a16:creationId xmlns:a16="http://schemas.microsoft.com/office/drawing/2014/main" id="{96280B42-4461-2DC2-81BE-04C26B9C2051}"/>
              </a:ext>
            </a:extLst>
          </p:cNvPr>
          <p:cNvSpPr>
            <a:spLocks noChangeArrowheads="1"/>
          </p:cNvSpPr>
          <p:nvPr/>
        </p:nvSpPr>
        <p:spPr bwMode="auto">
          <a:xfrm>
            <a:off x="3125965" y="5049018"/>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latin typeface="+mn-lt"/>
                <a:ea typeface="+mn-ea"/>
              </a:rPr>
              <a:t>F</a:t>
            </a:r>
          </a:p>
        </p:txBody>
      </p:sp>
      <p:sp>
        <p:nvSpPr>
          <p:cNvPr id="76" name="Rectangle 71">
            <a:extLst>
              <a:ext uri="{FF2B5EF4-FFF2-40B4-BE49-F238E27FC236}">
                <a16:creationId xmlns:a16="http://schemas.microsoft.com/office/drawing/2014/main" id="{B1E0DA2C-4579-8A2C-4769-8E7E2EDC845E}"/>
              </a:ext>
            </a:extLst>
          </p:cNvPr>
          <p:cNvSpPr>
            <a:spLocks noChangeArrowheads="1"/>
          </p:cNvSpPr>
          <p:nvPr/>
        </p:nvSpPr>
        <p:spPr bwMode="auto">
          <a:xfrm>
            <a:off x="3575971" y="5049018"/>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dirty="0">
              <a:latin typeface="+mn-lt"/>
              <a:ea typeface="+mn-ea"/>
            </a:endParaRPr>
          </a:p>
        </p:txBody>
      </p:sp>
      <p:sp>
        <p:nvSpPr>
          <p:cNvPr id="77" name="Rectangle 72">
            <a:extLst>
              <a:ext uri="{FF2B5EF4-FFF2-40B4-BE49-F238E27FC236}">
                <a16:creationId xmlns:a16="http://schemas.microsoft.com/office/drawing/2014/main" id="{F7E89DBA-D2A3-64AC-0F63-F83582BCF16A}"/>
              </a:ext>
            </a:extLst>
          </p:cNvPr>
          <p:cNvSpPr>
            <a:spLocks noChangeArrowheads="1"/>
          </p:cNvSpPr>
          <p:nvPr/>
        </p:nvSpPr>
        <p:spPr bwMode="auto">
          <a:xfrm>
            <a:off x="4025976" y="5049018"/>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dirty="0">
              <a:latin typeface="+mn-lt"/>
              <a:ea typeface="+mn-ea"/>
            </a:endParaRPr>
          </a:p>
        </p:txBody>
      </p:sp>
      <p:sp>
        <p:nvSpPr>
          <p:cNvPr id="78" name="Rectangle 73">
            <a:extLst>
              <a:ext uri="{FF2B5EF4-FFF2-40B4-BE49-F238E27FC236}">
                <a16:creationId xmlns:a16="http://schemas.microsoft.com/office/drawing/2014/main" id="{04732B76-844C-8223-A157-C7E60F1BDD71}"/>
              </a:ext>
            </a:extLst>
          </p:cNvPr>
          <p:cNvSpPr>
            <a:spLocks noChangeArrowheads="1"/>
          </p:cNvSpPr>
          <p:nvPr/>
        </p:nvSpPr>
        <p:spPr bwMode="auto">
          <a:xfrm>
            <a:off x="4475981" y="5049018"/>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dirty="0">
              <a:latin typeface="+mn-lt"/>
              <a:ea typeface="+mn-ea"/>
            </a:endParaRPr>
          </a:p>
        </p:txBody>
      </p:sp>
      <p:sp>
        <p:nvSpPr>
          <p:cNvPr id="81" name="Rectangle 69">
            <a:extLst>
              <a:ext uri="{FF2B5EF4-FFF2-40B4-BE49-F238E27FC236}">
                <a16:creationId xmlns:a16="http://schemas.microsoft.com/office/drawing/2014/main" id="{C75E0563-88C7-A6C2-2745-332AD4B8843B}"/>
              </a:ext>
            </a:extLst>
          </p:cNvPr>
          <p:cNvSpPr>
            <a:spLocks noChangeArrowheads="1"/>
          </p:cNvSpPr>
          <p:nvPr/>
        </p:nvSpPr>
        <p:spPr bwMode="auto">
          <a:xfrm>
            <a:off x="3125967" y="5499023"/>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latin typeface="+mn-lt"/>
                <a:ea typeface="+mn-ea"/>
              </a:rPr>
              <a:t>P</a:t>
            </a:r>
          </a:p>
        </p:txBody>
      </p:sp>
      <p:sp>
        <p:nvSpPr>
          <p:cNvPr id="82" name="Rectangle 70">
            <a:extLst>
              <a:ext uri="{FF2B5EF4-FFF2-40B4-BE49-F238E27FC236}">
                <a16:creationId xmlns:a16="http://schemas.microsoft.com/office/drawing/2014/main" id="{4C223F9F-A460-19C5-5E39-E54F875D4B65}"/>
              </a:ext>
            </a:extLst>
          </p:cNvPr>
          <p:cNvSpPr>
            <a:spLocks noChangeArrowheads="1"/>
          </p:cNvSpPr>
          <p:nvPr/>
        </p:nvSpPr>
        <p:spPr bwMode="auto">
          <a:xfrm>
            <a:off x="3575970" y="5499023"/>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latin typeface="+mn-lt"/>
                <a:ea typeface="+mn-ea"/>
              </a:rPr>
              <a:t>F</a:t>
            </a:r>
          </a:p>
        </p:txBody>
      </p:sp>
      <p:sp>
        <p:nvSpPr>
          <p:cNvPr id="83" name="Rectangle 71">
            <a:extLst>
              <a:ext uri="{FF2B5EF4-FFF2-40B4-BE49-F238E27FC236}">
                <a16:creationId xmlns:a16="http://schemas.microsoft.com/office/drawing/2014/main" id="{606A329F-0E24-DFA6-88A9-8BF2BD5FEAF5}"/>
              </a:ext>
            </a:extLst>
          </p:cNvPr>
          <p:cNvSpPr>
            <a:spLocks noChangeArrowheads="1"/>
          </p:cNvSpPr>
          <p:nvPr/>
        </p:nvSpPr>
        <p:spPr bwMode="auto">
          <a:xfrm>
            <a:off x="4025976" y="5499023"/>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dirty="0">
              <a:latin typeface="+mn-lt"/>
              <a:ea typeface="+mn-ea"/>
            </a:endParaRPr>
          </a:p>
        </p:txBody>
      </p:sp>
      <p:sp>
        <p:nvSpPr>
          <p:cNvPr id="84" name="Rectangle 72">
            <a:extLst>
              <a:ext uri="{FF2B5EF4-FFF2-40B4-BE49-F238E27FC236}">
                <a16:creationId xmlns:a16="http://schemas.microsoft.com/office/drawing/2014/main" id="{FE5287AC-008E-1D7A-0BB8-364C47C00114}"/>
              </a:ext>
            </a:extLst>
          </p:cNvPr>
          <p:cNvSpPr>
            <a:spLocks noChangeArrowheads="1"/>
          </p:cNvSpPr>
          <p:nvPr/>
        </p:nvSpPr>
        <p:spPr bwMode="auto">
          <a:xfrm>
            <a:off x="4475981" y="5499023"/>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dirty="0">
              <a:latin typeface="+mn-lt"/>
              <a:ea typeface="+mn-ea"/>
            </a:endParaRPr>
          </a:p>
        </p:txBody>
      </p:sp>
      <p:sp>
        <p:nvSpPr>
          <p:cNvPr id="85" name="Rectangle 73">
            <a:extLst>
              <a:ext uri="{FF2B5EF4-FFF2-40B4-BE49-F238E27FC236}">
                <a16:creationId xmlns:a16="http://schemas.microsoft.com/office/drawing/2014/main" id="{DC1C6FA3-61B3-9C0F-6786-A7FF5B3C553C}"/>
              </a:ext>
            </a:extLst>
          </p:cNvPr>
          <p:cNvSpPr>
            <a:spLocks noChangeArrowheads="1"/>
          </p:cNvSpPr>
          <p:nvPr/>
        </p:nvSpPr>
        <p:spPr bwMode="auto">
          <a:xfrm>
            <a:off x="4925986" y="5499023"/>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dirty="0">
              <a:latin typeface="+mn-lt"/>
              <a:ea typeface="+mn-ea"/>
            </a:endParaRPr>
          </a:p>
        </p:txBody>
      </p:sp>
      <p:sp>
        <p:nvSpPr>
          <p:cNvPr id="2" name="タイトル 1">
            <a:extLst>
              <a:ext uri="{FF2B5EF4-FFF2-40B4-BE49-F238E27FC236}">
                <a16:creationId xmlns:a16="http://schemas.microsoft.com/office/drawing/2014/main" id="{65F26B46-D35C-6FAE-475A-497BCDD9D88D}"/>
              </a:ext>
            </a:extLst>
          </p:cNvPr>
          <p:cNvSpPr>
            <a:spLocks noGrp="1"/>
          </p:cNvSpPr>
          <p:nvPr>
            <p:ph type="title"/>
          </p:nvPr>
        </p:nvSpPr>
        <p:spPr/>
        <p:txBody>
          <a:bodyPr/>
          <a:lstStyle/>
          <a:p>
            <a:r>
              <a:rPr lang="en-US" altLang="ja-JP" dirty="0"/>
              <a:t>Ahead Pipelining</a:t>
            </a:r>
            <a:endParaRPr kumimoji="1" lang="ja-JP" altLang="en-US" dirty="0"/>
          </a:p>
        </p:txBody>
      </p:sp>
      <p:sp>
        <p:nvSpPr>
          <p:cNvPr id="3" name="テキスト プレースホルダー 2">
            <a:extLst>
              <a:ext uri="{FF2B5EF4-FFF2-40B4-BE49-F238E27FC236}">
                <a16:creationId xmlns:a16="http://schemas.microsoft.com/office/drawing/2014/main" id="{7A27C7F5-53E8-6406-401E-ED6AABDE3EEA}"/>
              </a:ext>
            </a:extLst>
          </p:cNvPr>
          <p:cNvSpPr>
            <a:spLocks noGrp="1"/>
          </p:cNvSpPr>
          <p:nvPr>
            <p:ph type="body" sz="quarter" idx="10"/>
          </p:nvPr>
        </p:nvSpPr>
        <p:spPr>
          <a:xfrm>
            <a:off x="1775952" y="1088975"/>
            <a:ext cx="8730097" cy="720008"/>
          </a:xfrm>
        </p:spPr>
        <p:txBody>
          <a:bodyPr/>
          <a:lstStyle/>
          <a:p>
            <a:r>
              <a:rPr kumimoji="1" lang="ja-JP" altLang="en-US" dirty="0"/>
              <a:t>１サイクル前の </a:t>
            </a:r>
            <a:r>
              <a:rPr kumimoji="1" lang="en-US" altLang="ja-JP" dirty="0"/>
              <a:t>PC </a:t>
            </a:r>
            <a:r>
              <a:rPr kumimoji="1" lang="ja-JP" altLang="en-US" dirty="0"/>
              <a:t>を使って，今の次の </a:t>
            </a:r>
            <a:r>
              <a:rPr kumimoji="1" lang="en-US" altLang="ja-JP" dirty="0"/>
              <a:t>PC </a:t>
            </a:r>
            <a:r>
              <a:rPr kumimoji="1" lang="ja-JP" altLang="en-US" dirty="0"/>
              <a:t>を予測する</a:t>
            </a:r>
          </a:p>
        </p:txBody>
      </p:sp>
      <p:sp>
        <p:nvSpPr>
          <p:cNvPr id="4" name="正方形/長方形 3">
            <a:extLst>
              <a:ext uri="{FF2B5EF4-FFF2-40B4-BE49-F238E27FC236}">
                <a16:creationId xmlns:a16="http://schemas.microsoft.com/office/drawing/2014/main" id="{3E374C45-A948-15F2-4D09-C8B87F59A490}"/>
              </a:ext>
            </a:extLst>
          </p:cNvPr>
          <p:cNvSpPr/>
          <p:nvPr/>
        </p:nvSpPr>
        <p:spPr>
          <a:xfrm>
            <a:off x="1145946" y="1988984"/>
            <a:ext cx="450005" cy="369332"/>
          </a:xfrm>
          <a:prstGeom prst="rect">
            <a:avLst/>
          </a:prstGeom>
        </p:spPr>
        <p:txBody>
          <a:bodyPr wrap="square">
            <a:spAutoFit/>
          </a:bodyPr>
          <a:lstStyle/>
          <a:p>
            <a:pPr algn="ctr"/>
            <a:r>
              <a:rPr lang="en-US" altLang="ja-JP" dirty="0">
                <a:solidFill>
                  <a:schemeClr val="tx1">
                    <a:lumMod val="65000"/>
                    <a:lumOff val="35000"/>
                  </a:schemeClr>
                </a:solidFill>
                <a:latin typeface="Consolas" panose="020B0609020204030204" pitchFamily="49" charset="0"/>
              </a:rPr>
              <a:t>i0</a:t>
            </a:r>
            <a:endParaRPr lang="ja-JP" altLang="en-US" dirty="0">
              <a:solidFill>
                <a:schemeClr val="tx1">
                  <a:lumMod val="65000"/>
                  <a:lumOff val="35000"/>
                </a:schemeClr>
              </a:solidFill>
              <a:latin typeface="Consolas" panose="020B0609020204030204" pitchFamily="49" charset="0"/>
            </a:endParaRPr>
          </a:p>
        </p:txBody>
      </p:sp>
      <p:sp>
        <p:nvSpPr>
          <p:cNvPr id="5" name="正方形/長方形 4">
            <a:extLst>
              <a:ext uri="{FF2B5EF4-FFF2-40B4-BE49-F238E27FC236}">
                <a16:creationId xmlns:a16="http://schemas.microsoft.com/office/drawing/2014/main" id="{A1BECA7A-82AA-454C-D27B-A063B89CC395}"/>
              </a:ext>
            </a:extLst>
          </p:cNvPr>
          <p:cNvSpPr/>
          <p:nvPr/>
        </p:nvSpPr>
        <p:spPr>
          <a:xfrm>
            <a:off x="1145946" y="2438989"/>
            <a:ext cx="450005" cy="369332"/>
          </a:xfrm>
          <a:prstGeom prst="rect">
            <a:avLst/>
          </a:prstGeom>
        </p:spPr>
        <p:txBody>
          <a:bodyPr wrap="square">
            <a:spAutoFit/>
          </a:bodyPr>
          <a:lstStyle/>
          <a:p>
            <a:pPr algn="ctr"/>
            <a:r>
              <a:rPr lang="en-US" altLang="ja-JP" dirty="0">
                <a:solidFill>
                  <a:schemeClr val="tx1">
                    <a:lumMod val="65000"/>
                    <a:lumOff val="35000"/>
                  </a:schemeClr>
                </a:solidFill>
                <a:latin typeface="Consolas" panose="020B0609020204030204" pitchFamily="49" charset="0"/>
              </a:rPr>
              <a:t>i1</a:t>
            </a:r>
            <a:endParaRPr lang="ja-JP" altLang="en-US" dirty="0">
              <a:solidFill>
                <a:schemeClr val="tx1">
                  <a:lumMod val="65000"/>
                  <a:lumOff val="35000"/>
                </a:schemeClr>
              </a:solidFill>
              <a:latin typeface="Consolas" panose="020B0609020204030204" pitchFamily="49" charset="0"/>
            </a:endParaRPr>
          </a:p>
        </p:txBody>
      </p:sp>
      <p:sp>
        <p:nvSpPr>
          <p:cNvPr id="6" name="正方形/長方形 5">
            <a:extLst>
              <a:ext uri="{FF2B5EF4-FFF2-40B4-BE49-F238E27FC236}">
                <a16:creationId xmlns:a16="http://schemas.microsoft.com/office/drawing/2014/main" id="{14301AD2-6C50-5FEE-86FB-192E466B2A2F}"/>
              </a:ext>
            </a:extLst>
          </p:cNvPr>
          <p:cNvSpPr/>
          <p:nvPr/>
        </p:nvSpPr>
        <p:spPr>
          <a:xfrm>
            <a:off x="1145946" y="2888994"/>
            <a:ext cx="450005" cy="369332"/>
          </a:xfrm>
          <a:prstGeom prst="rect">
            <a:avLst/>
          </a:prstGeom>
        </p:spPr>
        <p:txBody>
          <a:bodyPr wrap="square">
            <a:spAutoFit/>
          </a:bodyPr>
          <a:lstStyle/>
          <a:p>
            <a:pPr algn="ctr"/>
            <a:r>
              <a:rPr lang="en-US" altLang="ja-JP" dirty="0">
                <a:solidFill>
                  <a:schemeClr val="tx1">
                    <a:lumMod val="65000"/>
                    <a:lumOff val="35000"/>
                  </a:schemeClr>
                </a:solidFill>
                <a:latin typeface="Consolas" panose="020B0609020204030204" pitchFamily="49" charset="0"/>
              </a:rPr>
              <a:t>i2</a:t>
            </a:r>
            <a:endParaRPr lang="ja-JP" altLang="en-US" dirty="0">
              <a:solidFill>
                <a:schemeClr val="tx1">
                  <a:lumMod val="65000"/>
                  <a:lumOff val="35000"/>
                </a:schemeClr>
              </a:solidFill>
              <a:latin typeface="Consolas" panose="020B0609020204030204" pitchFamily="49" charset="0"/>
            </a:endParaRPr>
          </a:p>
        </p:txBody>
      </p:sp>
      <p:sp>
        <p:nvSpPr>
          <p:cNvPr id="7" name="Rectangle 69">
            <a:extLst>
              <a:ext uri="{FF2B5EF4-FFF2-40B4-BE49-F238E27FC236}">
                <a16:creationId xmlns:a16="http://schemas.microsoft.com/office/drawing/2014/main" id="{3CC73719-5E76-06B8-9963-49D96A438E64}"/>
              </a:ext>
            </a:extLst>
          </p:cNvPr>
          <p:cNvSpPr>
            <a:spLocks noChangeArrowheads="1"/>
          </p:cNvSpPr>
          <p:nvPr/>
        </p:nvSpPr>
        <p:spPr bwMode="auto">
          <a:xfrm>
            <a:off x="1775953" y="1988984"/>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latin typeface="+mn-lt"/>
                <a:ea typeface="+mn-ea"/>
              </a:rPr>
              <a:t>P</a:t>
            </a:r>
          </a:p>
        </p:txBody>
      </p:sp>
      <p:sp>
        <p:nvSpPr>
          <p:cNvPr id="8" name="Rectangle 70">
            <a:extLst>
              <a:ext uri="{FF2B5EF4-FFF2-40B4-BE49-F238E27FC236}">
                <a16:creationId xmlns:a16="http://schemas.microsoft.com/office/drawing/2014/main" id="{8C9B0EBE-4659-D5AB-BC94-F624DD4998BC}"/>
              </a:ext>
            </a:extLst>
          </p:cNvPr>
          <p:cNvSpPr>
            <a:spLocks noChangeArrowheads="1"/>
          </p:cNvSpPr>
          <p:nvPr/>
        </p:nvSpPr>
        <p:spPr bwMode="auto">
          <a:xfrm>
            <a:off x="2225956" y="1988984"/>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latin typeface="+mn-lt"/>
                <a:ea typeface="+mn-ea"/>
              </a:rPr>
              <a:t>F</a:t>
            </a:r>
          </a:p>
        </p:txBody>
      </p:sp>
      <p:sp>
        <p:nvSpPr>
          <p:cNvPr id="9" name="Rectangle 71">
            <a:extLst>
              <a:ext uri="{FF2B5EF4-FFF2-40B4-BE49-F238E27FC236}">
                <a16:creationId xmlns:a16="http://schemas.microsoft.com/office/drawing/2014/main" id="{4D28C745-6AF7-1787-57AF-F0CC2DC833D6}"/>
              </a:ext>
            </a:extLst>
          </p:cNvPr>
          <p:cNvSpPr>
            <a:spLocks noChangeArrowheads="1"/>
          </p:cNvSpPr>
          <p:nvPr/>
        </p:nvSpPr>
        <p:spPr bwMode="auto">
          <a:xfrm>
            <a:off x="2675962" y="1988984"/>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dirty="0">
              <a:latin typeface="+mn-lt"/>
              <a:ea typeface="+mn-ea"/>
            </a:endParaRPr>
          </a:p>
        </p:txBody>
      </p:sp>
      <p:sp>
        <p:nvSpPr>
          <p:cNvPr id="10" name="Rectangle 72">
            <a:extLst>
              <a:ext uri="{FF2B5EF4-FFF2-40B4-BE49-F238E27FC236}">
                <a16:creationId xmlns:a16="http://schemas.microsoft.com/office/drawing/2014/main" id="{A9FA95DB-5613-C5B4-358B-C4A28C7CAA7C}"/>
              </a:ext>
            </a:extLst>
          </p:cNvPr>
          <p:cNvSpPr>
            <a:spLocks noChangeArrowheads="1"/>
          </p:cNvSpPr>
          <p:nvPr/>
        </p:nvSpPr>
        <p:spPr bwMode="auto">
          <a:xfrm>
            <a:off x="3125967" y="1988984"/>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dirty="0">
              <a:latin typeface="+mn-lt"/>
              <a:ea typeface="+mn-ea"/>
            </a:endParaRPr>
          </a:p>
        </p:txBody>
      </p:sp>
      <p:sp>
        <p:nvSpPr>
          <p:cNvPr id="11" name="Rectangle 73">
            <a:extLst>
              <a:ext uri="{FF2B5EF4-FFF2-40B4-BE49-F238E27FC236}">
                <a16:creationId xmlns:a16="http://schemas.microsoft.com/office/drawing/2014/main" id="{7F3360C8-07BE-50BD-1B2C-60F6E1D3BCD3}"/>
              </a:ext>
            </a:extLst>
          </p:cNvPr>
          <p:cNvSpPr>
            <a:spLocks noChangeArrowheads="1"/>
          </p:cNvSpPr>
          <p:nvPr/>
        </p:nvSpPr>
        <p:spPr bwMode="auto">
          <a:xfrm>
            <a:off x="3575972" y="1988984"/>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dirty="0">
              <a:latin typeface="+mn-lt"/>
              <a:ea typeface="+mn-ea"/>
            </a:endParaRPr>
          </a:p>
        </p:txBody>
      </p:sp>
      <p:sp>
        <p:nvSpPr>
          <p:cNvPr id="12" name="Rectangle 69">
            <a:extLst>
              <a:ext uri="{FF2B5EF4-FFF2-40B4-BE49-F238E27FC236}">
                <a16:creationId xmlns:a16="http://schemas.microsoft.com/office/drawing/2014/main" id="{4978999C-BCD9-77DB-E5B6-3066F69403A0}"/>
              </a:ext>
            </a:extLst>
          </p:cNvPr>
          <p:cNvSpPr>
            <a:spLocks noChangeArrowheads="1"/>
          </p:cNvSpPr>
          <p:nvPr/>
        </p:nvSpPr>
        <p:spPr bwMode="auto">
          <a:xfrm>
            <a:off x="2225960" y="2438989"/>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latin typeface="+mn-lt"/>
                <a:ea typeface="+mn-ea"/>
              </a:rPr>
              <a:t>P</a:t>
            </a:r>
          </a:p>
        </p:txBody>
      </p:sp>
      <p:sp>
        <p:nvSpPr>
          <p:cNvPr id="13" name="Rectangle 70">
            <a:extLst>
              <a:ext uri="{FF2B5EF4-FFF2-40B4-BE49-F238E27FC236}">
                <a16:creationId xmlns:a16="http://schemas.microsoft.com/office/drawing/2014/main" id="{96EA2995-4C0B-1874-1F2D-3D34018F7139}"/>
              </a:ext>
            </a:extLst>
          </p:cNvPr>
          <p:cNvSpPr>
            <a:spLocks noChangeArrowheads="1"/>
          </p:cNvSpPr>
          <p:nvPr/>
        </p:nvSpPr>
        <p:spPr bwMode="auto">
          <a:xfrm>
            <a:off x="2675963" y="2438989"/>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latin typeface="+mn-lt"/>
                <a:ea typeface="+mn-ea"/>
              </a:rPr>
              <a:t>F</a:t>
            </a:r>
          </a:p>
        </p:txBody>
      </p:sp>
      <p:sp>
        <p:nvSpPr>
          <p:cNvPr id="14" name="Rectangle 71">
            <a:extLst>
              <a:ext uri="{FF2B5EF4-FFF2-40B4-BE49-F238E27FC236}">
                <a16:creationId xmlns:a16="http://schemas.microsoft.com/office/drawing/2014/main" id="{B28D3ED1-73FB-762E-6F81-A15D12FE88BE}"/>
              </a:ext>
            </a:extLst>
          </p:cNvPr>
          <p:cNvSpPr>
            <a:spLocks noChangeArrowheads="1"/>
          </p:cNvSpPr>
          <p:nvPr/>
        </p:nvSpPr>
        <p:spPr bwMode="auto">
          <a:xfrm>
            <a:off x="3125969" y="2438989"/>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dirty="0">
              <a:latin typeface="+mn-lt"/>
              <a:ea typeface="+mn-ea"/>
            </a:endParaRPr>
          </a:p>
        </p:txBody>
      </p:sp>
      <p:sp>
        <p:nvSpPr>
          <p:cNvPr id="15" name="Rectangle 72">
            <a:extLst>
              <a:ext uri="{FF2B5EF4-FFF2-40B4-BE49-F238E27FC236}">
                <a16:creationId xmlns:a16="http://schemas.microsoft.com/office/drawing/2014/main" id="{DA812F4E-65A6-FCF4-5C34-C38761F1B25C}"/>
              </a:ext>
            </a:extLst>
          </p:cNvPr>
          <p:cNvSpPr>
            <a:spLocks noChangeArrowheads="1"/>
          </p:cNvSpPr>
          <p:nvPr/>
        </p:nvSpPr>
        <p:spPr bwMode="auto">
          <a:xfrm>
            <a:off x="3575974" y="2438989"/>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dirty="0">
              <a:latin typeface="+mn-lt"/>
              <a:ea typeface="+mn-ea"/>
            </a:endParaRPr>
          </a:p>
        </p:txBody>
      </p:sp>
      <p:sp>
        <p:nvSpPr>
          <p:cNvPr id="16" name="Rectangle 73">
            <a:extLst>
              <a:ext uri="{FF2B5EF4-FFF2-40B4-BE49-F238E27FC236}">
                <a16:creationId xmlns:a16="http://schemas.microsoft.com/office/drawing/2014/main" id="{77521C79-7F3D-0935-40EA-0A928D537043}"/>
              </a:ext>
            </a:extLst>
          </p:cNvPr>
          <p:cNvSpPr>
            <a:spLocks noChangeArrowheads="1"/>
          </p:cNvSpPr>
          <p:nvPr/>
        </p:nvSpPr>
        <p:spPr bwMode="auto">
          <a:xfrm>
            <a:off x="4025979" y="2438989"/>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dirty="0">
              <a:latin typeface="+mn-lt"/>
              <a:ea typeface="+mn-ea"/>
            </a:endParaRPr>
          </a:p>
        </p:txBody>
      </p:sp>
      <p:sp>
        <p:nvSpPr>
          <p:cNvPr id="17" name="Rectangle 69">
            <a:extLst>
              <a:ext uri="{FF2B5EF4-FFF2-40B4-BE49-F238E27FC236}">
                <a16:creationId xmlns:a16="http://schemas.microsoft.com/office/drawing/2014/main" id="{6F6DE0BD-D4DA-882F-7FFC-E498A000C477}"/>
              </a:ext>
            </a:extLst>
          </p:cNvPr>
          <p:cNvSpPr>
            <a:spLocks noChangeArrowheads="1"/>
          </p:cNvSpPr>
          <p:nvPr/>
        </p:nvSpPr>
        <p:spPr bwMode="auto">
          <a:xfrm>
            <a:off x="2675964" y="2888994"/>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a:latin typeface="+mn-lt"/>
                <a:ea typeface="+mn-ea"/>
              </a:rPr>
              <a:t>P</a:t>
            </a:r>
            <a:endParaRPr lang="en-US" altLang="ja-JP" dirty="0">
              <a:latin typeface="+mn-lt"/>
              <a:ea typeface="+mn-ea"/>
            </a:endParaRPr>
          </a:p>
        </p:txBody>
      </p:sp>
      <p:sp>
        <p:nvSpPr>
          <p:cNvPr id="18" name="Rectangle 70">
            <a:extLst>
              <a:ext uri="{FF2B5EF4-FFF2-40B4-BE49-F238E27FC236}">
                <a16:creationId xmlns:a16="http://schemas.microsoft.com/office/drawing/2014/main" id="{1F2D8940-6BEC-909F-9261-1325A929A60E}"/>
              </a:ext>
            </a:extLst>
          </p:cNvPr>
          <p:cNvSpPr>
            <a:spLocks noChangeArrowheads="1"/>
          </p:cNvSpPr>
          <p:nvPr/>
        </p:nvSpPr>
        <p:spPr bwMode="auto">
          <a:xfrm>
            <a:off x="3125967" y="2888994"/>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latin typeface="+mn-lt"/>
                <a:ea typeface="+mn-ea"/>
              </a:rPr>
              <a:t>F</a:t>
            </a:r>
          </a:p>
        </p:txBody>
      </p:sp>
      <p:sp>
        <p:nvSpPr>
          <p:cNvPr id="19" name="Rectangle 71">
            <a:extLst>
              <a:ext uri="{FF2B5EF4-FFF2-40B4-BE49-F238E27FC236}">
                <a16:creationId xmlns:a16="http://schemas.microsoft.com/office/drawing/2014/main" id="{E2853E22-0975-F55A-20CD-AF0D5FEE8FE7}"/>
              </a:ext>
            </a:extLst>
          </p:cNvPr>
          <p:cNvSpPr>
            <a:spLocks noChangeArrowheads="1"/>
          </p:cNvSpPr>
          <p:nvPr/>
        </p:nvSpPr>
        <p:spPr bwMode="auto">
          <a:xfrm>
            <a:off x="3575973" y="2888994"/>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dirty="0">
              <a:latin typeface="+mn-lt"/>
              <a:ea typeface="+mn-ea"/>
            </a:endParaRPr>
          </a:p>
        </p:txBody>
      </p:sp>
      <p:sp>
        <p:nvSpPr>
          <p:cNvPr id="20" name="Rectangle 72">
            <a:extLst>
              <a:ext uri="{FF2B5EF4-FFF2-40B4-BE49-F238E27FC236}">
                <a16:creationId xmlns:a16="http://schemas.microsoft.com/office/drawing/2014/main" id="{90FA3501-02DF-A6E2-E113-3A38B643D2CC}"/>
              </a:ext>
            </a:extLst>
          </p:cNvPr>
          <p:cNvSpPr>
            <a:spLocks noChangeArrowheads="1"/>
          </p:cNvSpPr>
          <p:nvPr/>
        </p:nvSpPr>
        <p:spPr bwMode="auto">
          <a:xfrm>
            <a:off x="4025978" y="2888994"/>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dirty="0">
              <a:latin typeface="+mn-lt"/>
              <a:ea typeface="+mn-ea"/>
            </a:endParaRPr>
          </a:p>
        </p:txBody>
      </p:sp>
      <p:sp>
        <p:nvSpPr>
          <p:cNvPr id="21" name="Rectangle 73">
            <a:extLst>
              <a:ext uri="{FF2B5EF4-FFF2-40B4-BE49-F238E27FC236}">
                <a16:creationId xmlns:a16="http://schemas.microsoft.com/office/drawing/2014/main" id="{F60AAD7E-8257-431A-8D33-6ABA282CC448}"/>
              </a:ext>
            </a:extLst>
          </p:cNvPr>
          <p:cNvSpPr>
            <a:spLocks noChangeArrowheads="1"/>
          </p:cNvSpPr>
          <p:nvPr/>
        </p:nvSpPr>
        <p:spPr bwMode="auto">
          <a:xfrm>
            <a:off x="4475983" y="2888994"/>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dirty="0">
              <a:latin typeface="+mn-lt"/>
              <a:ea typeface="+mn-ea"/>
            </a:endParaRPr>
          </a:p>
        </p:txBody>
      </p:sp>
      <p:cxnSp>
        <p:nvCxnSpPr>
          <p:cNvPr id="23" name="直線矢印コネクタ 22">
            <a:extLst>
              <a:ext uri="{FF2B5EF4-FFF2-40B4-BE49-F238E27FC236}">
                <a16:creationId xmlns:a16="http://schemas.microsoft.com/office/drawing/2014/main" id="{E1461EA9-3A61-FFC4-8C20-11EE47862B02}"/>
              </a:ext>
            </a:extLst>
          </p:cNvPr>
          <p:cNvCxnSpPr/>
          <p:nvPr/>
        </p:nvCxnSpPr>
        <p:spPr bwMode="auto">
          <a:xfrm>
            <a:off x="2135957" y="2258987"/>
            <a:ext cx="270003" cy="270003"/>
          </a:xfrm>
          <a:prstGeom prst="straightConnector1">
            <a:avLst/>
          </a:prstGeom>
          <a:ln>
            <a:headEnd type="none" w="med" len="med"/>
            <a:tailEnd type="triangle"/>
          </a:ln>
        </p:spPr>
        <p:style>
          <a:lnRef idx="2">
            <a:schemeClr val="accent6"/>
          </a:lnRef>
          <a:fillRef idx="0">
            <a:schemeClr val="accent6"/>
          </a:fillRef>
          <a:effectRef idx="1">
            <a:schemeClr val="accent6"/>
          </a:effectRef>
          <a:fontRef idx="minor">
            <a:schemeClr val="tx1"/>
          </a:fontRef>
        </p:style>
      </p:cxnSp>
      <p:cxnSp>
        <p:nvCxnSpPr>
          <p:cNvPr id="24" name="直線矢印コネクタ 23">
            <a:extLst>
              <a:ext uri="{FF2B5EF4-FFF2-40B4-BE49-F238E27FC236}">
                <a16:creationId xmlns:a16="http://schemas.microsoft.com/office/drawing/2014/main" id="{5EAC8278-E795-972A-C6E8-0FD698AEB55D}"/>
              </a:ext>
            </a:extLst>
          </p:cNvPr>
          <p:cNvCxnSpPr/>
          <p:nvPr/>
        </p:nvCxnSpPr>
        <p:spPr bwMode="auto">
          <a:xfrm>
            <a:off x="2585962" y="2708992"/>
            <a:ext cx="270003" cy="270003"/>
          </a:xfrm>
          <a:prstGeom prst="straightConnector1">
            <a:avLst/>
          </a:prstGeom>
          <a:ln>
            <a:headEnd type="none" w="med" len="med"/>
            <a:tailEnd type="triangle"/>
          </a:ln>
        </p:spPr>
        <p:style>
          <a:lnRef idx="2">
            <a:schemeClr val="accent6"/>
          </a:lnRef>
          <a:fillRef idx="0">
            <a:schemeClr val="accent6"/>
          </a:fillRef>
          <a:effectRef idx="1">
            <a:schemeClr val="accent6"/>
          </a:effectRef>
          <a:fontRef idx="minor">
            <a:schemeClr val="tx1"/>
          </a:fontRef>
        </p:style>
      </p:cxnSp>
      <p:sp>
        <p:nvSpPr>
          <p:cNvPr id="25" name="正方形/長方形 24">
            <a:extLst>
              <a:ext uri="{FF2B5EF4-FFF2-40B4-BE49-F238E27FC236}">
                <a16:creationId xmlns:a16="http://schemas.microsoft.com/office/drawing/2014/main" id="{39536296-3D05-57A9-8808-E386F564CC71}"/>
              </a:ext>
            </a:extLst>
          </p:cNvPr>
          <p:cNvSpPr/>
          <p:nvPr/>
        </p:nvSpPr>
        <p:spPr>
          <a:xfrm>
            <a:off x="1145946" y="4149008"/>
            <a:ext cx="450005" cy="369332"/>
          </a:xfrm>
          <a:prstGeom prst="rect">
            <a:avLst/>
          </a:prstGeom>
        </p:spPr>
        <p:txBody>
          <a:bodyPr wrap="square">
            <a:spAutoFit/>
          </a:bodyPr>
          <a:lstStyle/>
          <a:p>
            <a:pPr algn="ctr"/>
            <a:r>
              <a:rPr lang="en-US" altLang="ja-JP" dirty="0">
                <a:solidFill>
                  <a:schemeClr val="tx1">
                    <a:lumMod val="65000"/>
                    <a:lumOff val="35000"/>
                  </a:schemeClr>
                </a:solidFill>
                <a:latin typeface="Consolas" panose="020B0609020204030204" pitchFamily="49" charset="0"/>
              </a:rPr>
              <a:t>i0</a:t>
            </a:r>
            <a:endParaRPr lang="ja-JP" altLang="en-US" dirty="0">
              <a:solidFill>
                <a:schemeClr val="tx1">
                  <a:lumMod val="65000"/>
                  <a:lumOff val="35000"/>
                </a:schemeClr>
              </a:solidFill>
              <a:latin typeface="Consolas" panose="020B0609020204030204" pitchFamily="49" charset="0"/>
            </a:endParaRPr>
          </a:p>
        </p:txBody>
      </p:sp>
      <p:sp>
        <p:nvSpPr>
          <p:cNvPr id="26" name="正方形/長方形 25">
            <a:extLst>
              <a:ext uri="{FF2B5EF4-FFF2-40B4-BE49-F238E27FC236}">
                <a16:creationId xmlns:a16="http://schemas.microsoft.com/office/drawing/2014/main" id="{0DD91B72-FD0B-14E1-1E7F-06ACD807C93C}"/>
              </a:ext>
            </a:extLst>
          </p:cNvPr>
          <p:cNvSpPr/>
          <p:nvPr/>
        </p:nvSpPr>
        <p:spPr>
          <a:xfrm>
            <a:off x="1145946" y="4599013"/>
            <a:ext cx="450005" cy="369332"/>
          </a:xfrm>
          <a:prstGeom prst="rect">
            <a:avLst/>
          </a:prstGeom>
        </p:spPr>
        <p:txBody>
          <a:bodyPr wrap="square">
            <a:spAutoFit/>
          </a:bodyPr>
          <a:lstStyle/>
          <a:p>
            <a:pPr algn="ctr"/>
            <a:r>
              <a:rPr lang="en-US" altLang="ja-JP" dirty="0">
                <a:solidFill>
                  <a:schemeClr val="tx1">
                    <a:lumMod val="65000"/>
                    <a:lumOff val="35000"/>
                  </a:schemeClr>
                </a:solidFill>
                <a:latin typeface="Consolas" panose="020B0609020204030204" pitchFamily="49" charset="0"/>
              </a:rPr>
              <a:t>i1</a:t>
            </a:r>
            <a:endParaRPr lang="ja-JP" altLang="en-US" dirty="0">
              <a:solidFill>
                <a:schemeClr val="tx1">
                  <a:lumMod val="65000"/>
                  <a:lumOff val="35000"/>
                </a:schemeClr>
              </a:solidFill>
              <a:latin typeface="Consolas" panose="020B0609020204030204" pitchFamily="49" charset="0"/>
            </a:endParaRPr>
          </a:p>
        </p:txBody>
      </p:sp>
      <p:sp>
        <p:nvSpPr>
          <p:cNvPr id="27" name="正方形/長方形 26">
            <a:extLst>
              <a:ext uri="{FF2B5EF4-FFF2-40B4-BE49-F238E27FC236}">
                <a16:creationId xmlns:a16="http://schemas.microsoft.com/office/drawing/2014/main" id="{C77BA0F8-31AD-5ADA-65B6-F38C294ACAD2}"/>
              </a:ext>
            </a:extLst>
          </p:cNvPr>
          <p:cNvSpPr/>
          <p:nvPr/>
        </p:nvSpPr>
        <p:spPr>
          <a:xfrm>
            <a:off x="1145946" y="5049018"/>
            <a:ext cx="450005" cy="369332"/>
          </a:xfrm>
          <a:prstGeom prst="rect">
            <a:avLst/>
          </a:prstGeom>
        </p:spPr>
        <p:txBody>
          <a:bodyPr wrap="square">
            <a:spAutoFit/>
          </a:bodyPr>
          <a:lstStyle/>
          <a:p>
            <a:pPr algn="ctr"/>
            <a:r>
              <a:rPr lang="en-US" altLang="ja-JP" dirty="0">
                <a:solidFill>
                  <a:schemeClr val="tx1">
                    <a:lumMod val="65000"/>
                    <a:lumOff val="35000"/>
                  </a:schemeClr>
                </a:solidFill>
                <a:latin typeface="Consolas" panose="020B0609020204030204" pitchFamily="49" charset="0"/>
              </a:rPr>
              <a:t>i2</a:t>
            </a:r>
            <a:endParaRPr lang="ja-JP" altLang="en-US" dirty="0">
              <a:solidFill>
                <a:schemeClr val="tx1">
                  <a:lumMod val="65000"/>
                  <a:lumOff val="35000"/>
                </a:schemeClr>
              </a:solidFill>
              <a:latin typeface="Consolas" panose="020B0609020204030204" pitchFamily="49" charset="0"/>
            </a:endParaRPr>
          </a:p>
        </p:txBody>
      </p:sp>
      <p:cxnSp>
        <p:nvCxnSpPr>
          <p:cNvPr id="43" name="直線矢印コネクタ 42">
            <a:extLst>
              <a:ext uri="{FF2B5EF4-FFF2-40B4-BE49-F238E27FC236}">
                <a16:creationId xmlns:a16="http://schemas.microsoft.com/office/drawing/2014/main" id="{F5F34839-A933-6577-C9CB-0204AA75CE9A}"/>
              </a:ext>
            </a:extLst>
          </p:cNvPr>
          <p:cNvCxnSpPr>
            <a:cxnSpLocks/>
          </p:cNvCxnSpPr>
          <p:nvPr/>
        </p:nvCxnSpPr>
        <p:spPr bwMode="auto">
          <a:xfrm>
            <a:off x="2135957" y="4419011"/>
            <a:ext cx="720008" cy="720008"/>
          </a:xfrm>
          <a:prstGeom prst="straightConnector1">
            <a:avLst/>
          </a:prstGeom>
          <a:ln>
            <a:headEnd type="none" w="med" len="med"/>
            <a:tailEnd type="triangle"/>
          </a:ln>
        </p:spPr>
        <p:style>
          <a:lnRef idx="2">
            <a:schemeClr val="accent6"/>
          </a:lnRef>
          <a:fillRef idx="0">
            <a:schemeClr val="accent6"/>
          </a:fillRef>
          <a:effectRef idx="1">
            <a:schemeClr val="accent6"/>
          </a:effectRef>
          <a:fontRef idx="minor">
            <a:schemeClr val="tx1"/>
          </a:fontRef>
        </p:style>
      </p:cxnSp>
      <p:sp>
        <p:nvSpPr>
          <p:cNvPr id="45" name="Rectangle 69">
            <a:extLst>
              <a:ext uri="{FF2B5EF4-FFF2-40B4-BE49-F238E27FC236}">
                <a16:creationId xmlns:a16="http://schemas.microsoft.com/office/drawing/2014/main" id="{B3FBFB97-4B0D-770F-3A5A-A608EC218D08}"/>
              </a:ext>
            </a:extLst>
          </p:cNvPr>
          <p:cNvSpPr>
            <a:spLocks noChangeArrowheads="1"/>
          </p:cNvSpPr>
          <p:nvPr/>
        </p:nvSpPr>
        <p:spPr bwMode="auto">
          <a:xfrm>
            <a:off x="3125969" y="3338999"/>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latin typeface="+mn-lt"/>
                <a:ea typeface="+mn-ea"/>
              </a:rPr>
              <a:t>P</a:t>
            </a:r>
          </a:p>
        </p:txBody>
      </p:sp>
      <p:sp>
        <p:nvSpPr>
          <p:cNvPr id="46" name="Rectangle 70">
            <a:extLst>
              <a:ext uri="{FF2B5EF4-FFF2-40B4-BE49-F238E27FC236}">
                <a16:creationId xmlns:a16="http://schemas.microsoft.com/office/drawing/2014/main" id="{96117F44-4501-4D99-A814-A74ED257BE5D}"/>
              </a:ext>
            </a:extLst>
          </p:cNvPr>
          <p:cNvSpPr>
            <a:spLocks noChangeArrowheads="1"/>
          </p:cNvSpPr>
          <p:nvPr/>
        </p:nvSpPr>
        <p:spPr bwMode="auto">
          <a:xfrm>
            <a:off x="3575972" y="3338999"/>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latin typeface="+mn-lt"/>
                <a:ea typeface="+mn-ea"/>
              </a:rPr>
              <a:t>F</a:t>
            </a:r>
          </a:p>
        </p:txBody>
      </p:sp>
      <p:sp>
        <p:nvSpPr>
          <p:cNvPr id="47" name="Rectangle 71">
            <a:extLst>
              <a:ext uri="{FF2B5EF4-FFF2-40B4-BE49-F238E27FC236}">
                <a16:creationId xmlns:a16="http://schemas.microsoft.com/office/drawing/2014/main" id="{87448045-4D1F-36A5-2F35-5C895F7D33D2}"/>
              </a:ext>
            </a:extLst>
          </p:cNvPr>
          <p:cNvSpPr>
            <a:spLocks noChangeArrowheads="1"/>
          </p:cNvSpPr>
          <p:nvPr/>
        </p:nvSpPr>
        <p:spPr bwMode="auto">
          <a:xfrm>
            <a:off x="4025978" y="3338999"/>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dirty="0">
              <a:latin typeface="+mn-lt"/>
              <a:ea typeface="+mn-ea"/>
            </a:endParaRPr>
          </a:p>
        </p:txBody>
      </p:sp>
      <p:sp>
        <p:nvSpPr>
          <p:cNvPr id="48" name="Rectangle 72">
            <a:extLst>
              <a:ext uri="{FF2B5EF4-FFF2-40B4-BE49-F238E27FC236}">
                <a16:creationId xmlns:a16="http://schemas.microsoft.com/office/drawing/2014/main" id="{E691F38F-D106-42DB-C836-C674E075C86D}"/>
              </a:ext>
            </a:extLst>
          </p:cNvPr>
          <p:cNvSpPr>
            <a:spLocks noChangeArrowheads="1"/>
          </p:cNvSpPr>
          <p:nvPr/>
        </p:nvSpPr>
        <p:spPr bwMode="auto">
          <a:xfrm>
            <a:off x="4475983" y="3338999"/>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dirty="0">
              <a:latin typeface="+mn-lt"/>
              <a:ea typeface="+mn-ea"/>
            </a:endParaRPr>
          </a:p>
        </p:txBody>
      </p:sp>
      <p:sp>
        <p:nvSpPr>
          <p:cNvPr id="49" name="Rectangle 73">
            <a:extLst>
              <a:ext uri="{FF2B5EF4-FFF2-40B4-BE49-F238E27FC236}">
                <a16:creationId xmlns:a16="http://schemas.microsoft.com/office/drawing/2014/main" id="{FD4E9868-981E-F8D5-2BF7-6A32C7C637A5}"/>
              </a:ext>
            </a:extLst>
          </p:cNvPr>
          <p:cNvSpPr>
            <a:spLocks noChangeArrowheads="1"/>
          </p:cNvSpPr>
          <p:nvPr/>
        </p:nvSpPr>
        <p:spPr bwMode="auto">
          <a:xfrm>
            <a:off x="4925988" y="3338999"/>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dirty="0">
              <a:latin typeface="+mn-lt"/>
              <a:ea typeface="+mn-ea"/>
            </a:endParaRPr>
          </a:p>
        </p:txBody>
      </p:sp>
      <p:cxnSp>
        <p:nvCxnSpPr>
          <p:cNvPr id="50" name="直線矢印コネクタ 49">
            <a:extLst>
              <a:ext uri="{FF2B5EF4-FFF2-40B4-BE49-F238E27FC236}">
                <a16:creationId xmlns:a16="http://schemas.microsoft.com/office/drawing/2014/main" id="{1CE75BAA-5B29-3A8E-0832-90145F3082A9}"/>
              </a:ext>
            </a:extLst>
          </p:cNvPr>
          <p:cNvCxnSpPr/>
          <p:nvPr/>
        </p:nvCxnSpPr>
        <p:spPr bwMode="auto">
          <a:xfrm>
            <a:off x="3035967" y="3158997"/>
            <a:ext cx="270003" cy="270003"/>
          </a:xfrm>
          <a:prstGeom prst="straightConnector1">
            <a:avLst/>
          </a:prstGeom>
          <a:ln>
            <a:headEnd type="none" w="med" len="med"/>
            <a:tailEnd type="triangle"/>
          </a:ln>
        </p:spPr>
        <p:style>
          <a:lnRef idx="2">
            <a:schemeClr val="accent6"/>
          </a:lnRef>
          <a:fillRef idx="0">
            <a:schemeClr val="accent6"/>
          </a:fillRef>
          <a:effectRef idx="1">
            <a:schemeClr val="accent6"/>
          </a:effectRef>
          <a:fontRef idx="minor">
            <a:schemeClr val="tx1"/>
          </a:fontRef>
        </p:style>
      </p:cxnSp>
      <p:sp>
        <p:nvSpPr>
          <p:cNvPr id="51" name="正方形/長方形 50">
            <a:extLst>
              <a:ext uri="{FF2B5EF4-FFF2-40B4-BE49-F238E27FC236}">
                <a16:creationId xmlns:a16="http://schemas.microsoft.com/office/drawing/2014/main" id="{B848075F-49EE-00EC-B190-ED39AF3840AF}"/>
              </a:ext>
            </a:extLst>
          </p:cNvPr>
          <p:cNvSpPr/>
          <p:nvPr/>
        </p:nvSpPr>
        <p:spPr>
          <a:xfrm>
            <a:off x="1145946" y="3338999"/>
            <a:ext cx="450005" cy="369332"/>
          </a:xfrm>
          <a:prstGeom prst="rect">
            <a:avLst/>
          </a:prstGeom>
        </p:spPr>
        <p:txBody>
          <a:bodyPr wrap="square">
            <a:spAutoFit/>
          </a:bodyPr>
          <a:lstStyle/>
          <a:p>
            <a:pPr algn="ctr"/>
            <a:r>
              <a:rPr lang="en-US" altLang="ja-JP" dirty="0">
                <a:solidFill>
                  <a:schemeClr val="tx1">
                    <a:lumMod val="65000"/>
                    <a:lumOff val="35000"/>
                  </a:schemeClr>
                </a:solidFill>
                <a:latin typeface="Consolas" panose="020B0609020204030204" pitchFamily="49" charset="0"/>
              </a:rPr>
              <a:t>i3</a:t>
            </a:r>
            <a:endParaRPr lang="ja-JP" altLang="en-US" dirty="0">
              <a:solidFill>
                <a:schemeClr val="tx1">
                  <a:lumMod val="65000"/>
                  <a:lumOff val="35000"/>
                </a:schemeClr>
              </a:solidFill>
              <a:latin typeface="Consolas" panose="020B0609020204030204" pitchFamily="49" charset="0"/>
            </a:endParaRPr>
          </a:p>
        </p:txBody>
      </p:sp>
      <p:cxnSp>
        <p:nvCxnSpPr>
          <p:cNvPr id="57" name="直線矢印コネクタ 56">
            <a:extLst>
              <a:ext uri="{FF2B5EF4-FFF2-40B4-BE49-F238E27FC236}">
                <a16:creationId xmlns:a16="http://schemas.microsoft.com/office/drawing/2014/main" id="{753FB8AA-A179-7104-9015-0EBA1960E61B}"/>
              </a:ext>
            </a:extLst>
          </p:cNvPr>
          <p:cNvCxnSpPr>
            <a:cxnSpLocks/>
          </p:cNvCxnSpPr>
          <p:nvPr/>
        </p:nvCxnSpPr>
        <p:spPr bwMode="auto">
          <a:xfrm>
            <a:off x="2405960" y="4869016"/>
            <a:ext cx="810009" cy="810009"/>
          </a:xfrm>
          <a:prstGeom prst="straightConnector1">
            <a:avLst/>
          </a:prstGeom>
          <a:ln>
            <a:headEnd type="none" w="med" len="med"/>
            <a:tailEnd type="triangle"/>
          </a:ln>
        </p:spPr>
        <p:style>
          <a:lnRef idx="2">
            <a:schemeClr val="accent6"/>
          </a:lnRef>
          <a:fillRef idx="0">
            <a:schemeClr val="accent6"/>
          </a:fillRef>
          <a:effectRef idx="1">
            <a:schemeClr val="accent6"/>
          </a:effectRef>
          <a:fontRef idx="minor">
            <a:schemeClr val="tx1"/>
          </a:fontRef>
        </p:style>
      </p:cxnSp>
      <p:sp>
        <p:nvSpPr>
          <p:cNvPr id="61" name="正方形/長方形 60">
            <a:extLst>
              <a:ext uri="{FF2B5EF4-FFF2-40B4-BE49-F238E27FC236}">
                <a16:creationId xmlns:a16="http://schemas.microsoft.com/office/drawing/2014/main" id="{CF481737-024B-3A27-0D54-F1AFE4C173EA}"/>
              </a:ext>
            </a:extLst>
          </p:cNvPr>
          <p:cNvSpPr/>
          <p:nvPr/>
        </p:nvSpPr>
        <p:spPr>
          <a:xfrm>
            <a:off x="1145946" y="5499023"/>
            <a:ext cx="450005" cy="369332"/>
          </a:xfrm>
          <a:prstGeom prst="rect">
            <a:avLst/>
          </a:prstGeom>
        </p:spPr>
        <p:txBody>
          <a:bodyPr wrap="square">
            <a:spAutoFit/>
          </a:bodyPr>
          <a:lstStyle/>
          <a:p>
            <a:pPr algn="ctr"/>
            <a:r>
              <a:rPr lang="en-US" altLang="ja-JP" dirty="0">
                <a:solidFill>
                  <a:schemeClr val="tx1">
                    <a:lumMod val="65000"/>
                    <a:lumOff val="35000"/>
                  </a:schemeClr>
                </a:solidFill>
                <a:latin typeface="Consolas" panose="020B0609020204030204" pitchFamily="49" charset="0"/>
              </a:rPr>
              <a:t>i3</a:t>
            </a:r>
            <a:endParaRPr lang="ja-JP" altLang="en-US" dirty="0">
              <a:solidFill>
                <a:schemeClr val="tx1">
                  <a:lumMod val="65000"/>
                  <a:lumOff val="35000"/>
                </a:schemeClr>
              </a:solidFill>
              <a:latin typeface="Consolas" panose="020B0609020204030204" pitchFamily="49" charset="0"/>
            </a:endParaRPr>
          </a:p>
        </p:txBody>
      </p:sp>
      <p:sp>
        <p:nvSpPr>
          <p:cNvPr id="63" name="テキスト プレースホルダー 2">
            <a:extLst>
              <a:ext uri="{FF2B5EF4-FFF2-40B4-BE49-F238E27FC236}">
                <a16:creationId xmlns:a16="http://schemas.microsoft.com/office/drawing/2014/main" id="{2E57A355-896C-FA22-42CC-BDD3002DC28E}"/>
              </a:ext>
            </a:extLst>
          </p:cNvPr>
          <p:cNvSpPr txBox="1">
            <a:spLocks/>
          </p:cNvSpPr>
          <p:nvPr/>
        </p:nvSpPr>
        <p:spPr bwMode="auto">
          <a:xfrm>
            <a:off x="5555993" y="1898983"/>
            <a:ext cx="6030067" cy="396004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5">
                  <a:lumMod val="60000"/>
                  <a:lumOff val="40000"/>
                </a:schemeClr>
              </a:buClr>
              <a:buSzPct val="90000"/>
              <a:buFont typeface="Wingdings" panose="05000000000000000000" pitchFamily="2" charset="2"/>
              <a:buChar char="l"/>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5">
                  <a:lumMod val="60000"/>
                  <a:lumOff val="40000"/>
                </a:schemeClr>
              </a:buClr>
              <a:buSzPct val="70000"/>
              <a:buFont typeface="Segoe UI" panose="020B0502040204020203" pitchFamily="34" charset="0"/>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7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chemeClr val="accent5">
                  <a:lumMod val="60000"/>
                  <a:lumOff val="40000"/>
                </a:schemeClr>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r>
              <a:rPr lang="ja-JP" altLang="en-US" kern="0" dirty="0">
                <a:solidFill>
                  <a:schemeClr val="tx1">
                    <a:lumMod val="85000"/>
                    <a:lumOff val="15000"/>
                  </a:schemeClr>
                </a:solidFill>
              </a:rPr>
              <a:t>通常の予測パイプライン</a:t>
            </a:r>
            <a:endParaRPr lang="en-US" altLang="ja-JP" kern="0" dirty="0">
              <a:solidFill>
                <a:schemeClr val="tx1">
                  <a:lumMod val="85000"/>
                  <a:lumOff val="15000"/>
                </a:schemeClr>
              </a:solidFill>
            </a:endParaRPr>
          </a:p>
          <a:p>
            <a:pPr lvl="1"/>
            <a:r>
              <a:rPr lang="ja-JP" altLang="en-US" kern="0" dirty="0">
                <a:solidFill>
                  <a:schemeClr val="tx1">
                    <a:lumMod val="85000"/>
                    <a:lumOff val="15000"/>
                  </a:schemeClr>
                </a:solidFill>
              </a:rPr>
              <a:t>１サイクル前の命令の </a:t>
            </a:r>
            <a:r>
              <a:rPr lang="en-US" altLang="ja-JP" kern="0" dirty="0">
                <a:solidFill>
                  <a:schemeClr val="tx1">
                    <a:lumMod val="85000"/>
                    <a:lumOff val="15000"/>
                  </a:schemeClr>
                </a:solidFill>
              </a:rPr>
              <a:t>PC </a:t>
            </a:r>
            <a:r>
              <a:rPr lang="ja-JP" altLang="en-US" kern="0" dirty="0">
                <a:solidFill>
                  <a:schemeClr val="tx1">
                    <a:lumMod val="85000"/>
                    <a:lumOff val="15000"/>
                  </a:schemeClr>
                </a:solidFill>
              </a:rPr>
              <a:t>から</a:t>
            </a:r>
            <a:br>
              <a:rPr lang="en-US" altLang="ja-JP" kern="0" dirty="0">
                <a:solidFill>
                  <a:schemeClr val="tx1">
                    <a:lumMod val="85000"/>
                    <a:lumOff val="15000"/>
                  </a:schemeClr>
                </a:solidFill>
              </a:rPr>
            </a:br>
            <a:r>
              <a:rPr lang="ja-JP" altLang="en-US" kern="0" dirty="0">
                <a:solidFill>
                  <a:schemeClr val="tx1">
                    <a:lumMod val="85000"/>
                    <a:lumOff val="15000"/>
                  </a:schemeClr>
                </a:solidFill>
              </a:rPr>
              <a:t>次の命令の </a:t>
            </a:r>
            <a:r>
              <a:rPr lang="en-US" altLang="ja-JP" kern="0" dirty="0">
                <a:solidFill>
                  <a:schemeClr val="tx1">
                    <a:lumMod val="85000"/>
                    <a:lumOff val="15000"/>
                  </a:schemeClr>
                </a:solidFill>
              </a:rPr>
              <a:t>PC </a:t>
            </a:r>
            <a:r>
              <a:rPr lang="ja-JP" altLang="en-US" kern="0" dirty="0">
                <a:solidFill>
                  <a:schemeClr val="tx1">
                    <a:lumMod val="85000"/>
                    <a:lumOff val="15000"/>
                  </a:schemeClr>
                </a:solidFill>
              </a:rPr>
              <a:t>を予測</a:t>
            </a:r>
            <a:endParaRPr lang="en-US" altLang="ja-JP" kern="0" dirty="0">
              <a:solidFill>
                <a:schemeClr val="tx1">
                  <a:lumMod val="85000"/>
                  <a:lumOff val="15000"/>
                </a:schemeClr>
              </a:solidFill>
            </a:endParaRPr>
          </a:p>
          <a:p>
            <a:pPr lvl="1"/>
            <a:r>
              <a:rPr lang="en-US" altLang="ja-JP" dirty="0">
                <a:solidFill>
                  <a:schemeClr val="tx1">
                    <a:lumMod val="85000"/>
                    <a:lumOff val="15000"/>
                  </a:schemeClr>
                </a:solidFill>
                <a:latin typeface="Consolas" panose="020B0609020204030204" pitchFamily="49" charset="0"/>
              </a:rPr>
              <a:t>i0</a:t>
            </a:r>
            <a:r>
              <a:rPr lang="en-US" altLang="ja-JP" kern="0" dirty="0">
                <a:solidFill>
                  <a:schemeClr val="tx1">
                    <a:lumMod val="85000"/>
                    <a:lumOff val="15000"/>
                  </a:schemeClr>
                </a:solidFill>
              </a:rPr>
              <a:t> </a:t>
            </a:r>
            <a:r>
              <a:rPr lang="ja-JP" altLang="en-US" kern="0" dirty="0">
                <a:solidFill>
                  <a:schemeClr val="tx1">
                    <a:lumMod val="85000"/>
                    <a:lumOff val="15000"/>
                  </a:schemeClr>
                </a:solidFill>
              </a:rPr>
              <a:t>→ </a:t>
            </a:r>
            <a:r>
              <a:rPr lang="en-US" altLang="ja-JP" dirty="0">
                <a:solidFill>
                  <a:schemeClr val="tx1">
                    <a:lumMod val="85000"/>
                    <a:lumOff val="15000"/>
                  </a:schemeClr>
                </a:solidFill>
                <a:latin typeface="Consolas" panose="020B0609020204030204" pitchFamily="49" charset="0"/>
              </a:rPr>
              <a:t>i1, i1</a:t>
            </a:r>
            <a:r>
              <a:rPr lang="ja-JP" altLang="en-US" kern="0" dirty="0">
                <a:solidFill>
                  <a:schemeClr val="tx1">
                    <a:lumMod val="85000"/>
                    <a:lumOff val="15000"/>
                  </a:schemeClr>
                </a:solidFill>
              </a:rPr>
              <a:t> → </a:t>
            </a:r>
            <a:r>
              <a:rPr lang="en-US" altLang="ja-JP" dirty="0">
                <a:solidFill>
                  <a:schemeClr val="tx1">
                    <a:lumMod val="85000"/>
                    <a:lumOff val="15000"/>
                  </a:schemeClr>
                </a:solidFill>
                <a:latin typeface="Consolas" panose="020B0609020204030204" pitchFamily="49" charset="0"/>
              </a:rPr>
              <a:t>i2</a:t>
            </a:r>
            <a:br>
              <a:rPr lang="en-US" altLang="ja-JP" dirty="0">
                <a:solidFill>
                  <a:schemeClr val="tx1">
                    <a:lumMod val="85000"/>
                    <a:lumOff val="15000"/>
                  </a:schemeClr>
                </a:solidFill>
                <a:latin typeface="Consolas" panose="020B0609020204030204" pitchFamily="49" charset="0"/>
              </a:rPr>
            </a:br>
            <a:endParaRPr lang="en-US" altLang="ja-JP" dirty="0">
              <a:solidFill>
                <a:schemeClr val="tx1">
                  <a:lumMod val="85000"/>
                  <a:lumOff val="15000"/>
                </a:schemeClr>
              </a:solidFill>
              <a:latin typeface="Consolas" panose="020B0609020204030204" pitchFamily="49" charset="0"/>
            </a:endParaRPr>
          </a:p>
          <a:p>
            <a:r>
              <a:rPr lang="en-US" altLang="ja-JP" kern="0" dirty="0">
                <a:solidFill>
                  <a:schemeClr val="tx1">
                    <a:lumMod val="85000"/>
                    <a:lumOff val="15000"/>
                  </a:schemeClr>
                </a:solidFill>
              </a:rPr>
              <a:t>Ahead Pipelining</a:t>
            </a:r>
          </a:p>
          <a:p>
            <a:pPr lvl="1"/>
            <a:r>
              <a:rPr lang="ja-JP" altLang="en-US" kern="0" dirty="0">
                <a:solidFill>
                  <a:schemeClr val="tx1">
                    <a:lumMod val="85000"/>
                    <a:lumOff val="15000"/>
                  </a:schemeClr>
                </a:solidFill>
              </a:rPr>
              <a:t>２サイクル前の命令の </a:t>
            </a:r>
            <a:r>
              <a:rPr lang="en-US" altLang="ja-JP" kern="0" dirty="0">
                <a:solidFill>
                  <a:schemeClr val="tx1">
                    <a:lumMod val="85000"/>
                    <a:lumOff val="15000"/>
                  </a:schemeClr>
                </a:solidFill>
              </a:rPr>
              <a:t>PC </a:t>
            </a:r>
            <a:r>
              <a:rPr lang="ja-JP" altLang="en-US" kern="0" dirty="0">
                <a:solidFill>
                  <a:schemeClr val="tx1">
                    <a:lumMod val="85000"/>
                    <a:lumOff val="15000"/>
                  </a:schemeClr>
                </a:solidFill>
              </a:rPr>
              <a:t>から</a:t>
            </a:r>
            <a:br>
              <a:rPr lang="en-US" altLang="ja-JP" kern="0" dirty="0">
                <a:solidFill>
                  <a:schemeClr val="tx1">
                    <a:lumMod val="85000"/>
                    <a:lumOff val="15000"/>
                  </a:schemeClr>
                </a:solidFill>
              </a:rPr>
            </a:br>
            <a:r>
              <a:rPr lang="ja-JP" altLang="en-US" kern="0" dirty="0">
                <a:solidFill>
                  <a:schemeClr val="tx1">
                    <a:lumMod val="85000"/>
                    <a:lumOff val="15000"/>
                  </a:schemeClr>
                </a:solidFill>
              </a:rPr>
              <a:t>次の命令の </a:t>
            </a:r>
            <a:r>
              <a:rPr lang="en-US" altLang="ja-JP" kern="0" dirty="0">
                <a:solidFill>
                  <a:schemeClr val="tx1">
                    <a:lumMod val="85000"/>
                    <a:lumOff val="15000"/>
                  </a:schemeClr>
                </a:solidFill>
              </a:rPr>
              <a:t>PC </a:t>
            </a:r>
            <a:r>
              <a:rPr lang="ja-JP" altLang="en-US" kern="0" dirty="0">
                <a:solidFill>
                  <a:schemeClr val="tx1">
                    <a:lumMod val="85000"/>
                    <a:lumOff val="15000"/>
                  </a:schemeClr>
                </a:solidFill>
              </a:rPr>
              <a:t>を予測</a:t>
            </a:r>
            <a:endParaRPr lang="en-US" altLang="ja-JP" kern="0" dirty="0">
              <a:solidFill>
                <a:schemeClr val="tx1">
                  <a:lumMod val="85000"/>
                  <a:lumOff val="15000"/>
                </a:schemeClr>
              </a:solidFill>
            </a:endParaRPr>
          </a:p>
          <a:p>
            <a:pPr lvl="1"/>
            <a:r>
              <a:rPr lang="en-US" altLang="ja-JP" dirty="0">
                <a:solidFill>
                  <a:schemeClr val="tx1">
                    <a:lumMod val="85000"/>
                    <a:lumOff val="15000"/>
                  </a:schemeClr>
                </a:solidFill>
                <a:latin typeface="Consolas" panose="020B0609020204030204" pitchFamily="49" charset="0"/>
              </a:rPr>
              <a:t>i0</a:t>
            </a:r>
            <a:r>
              <a:rPr lang="en-US" altLang="ja-JP" kern="0" dirty="0">
                <a:solidFill>
                  <a:schemeClr val="tx1">
                    <a:lumMod val="85000"/>
                    <a:lumOff val="15000"/>
                  </a:schemeClr>
                </a:solidFill>
              </a:rPr>
              <a:t> </a:t>
            </a:r>
            <a:r>
              <a:rPr lang="ja-JP" altLang="en-US" kern="0" dirty="0">
                <a:solidFill>
                  <a:schemeClr val="tx1">
                    <a:lumMod val="85000"/>
                    <a:lumOff val="15000"/>
                  </a:schemeClr>
                </a:solidFill>
              </a:rPr>
              <a:t>→ </a:t>
            </a:r>
            <a:r>
              <a:rPr lang="en-US" altLang="ja-JP" dirty="0">
                <a:solidFill>
                  <a:schemeClr val="tx1">
                    <a:lumMod val="85000"/>
                    <a:lumOff val="15000"/>
                  </a:schemeClr>
                </a:solidFill>
                <a:latin typeface="Consolas" panose="020B0609020204030204" pitchFamily="49" charset="0"/>
              </a:rPr>
              <a:t>i2, i1</a:t>
            </a:r>
            <a:r>
              <a:rPr lang="ja-JP" altLang="en-US" kern="0" dirty="0">
                <a:solidFill>
                  <a:schemeClr val="tx1">
                    <a:lumMod val="85000"/>
                    <a:lumOff val="15000"/>
                  </a:schemeClr>
                </a:solidFill>
              </a:rPr>
              <a:t> → </a:t>
            </a:r>
            <a:r>
              <a:rPr lang="en-US" altLang="ja-JP" dirty="0">
                <a:solidFill>
                  <a:schemeClr val="tx1">
                    <a:lumMod val="85000"/>
                    <a:lumOff val="15000"/>
                  </a:schemeClr>
                </a:solidFill>
                <a:latin typeface="Consolas" panose="020B0609020204030204" pitchFamily="49" charset="0"/>
              </a:rPr>
              <a:t>i3</a:t>
            </a:r>
          </a:p>
          <a:p>
            <a:pPr lvl="2"/>
            <a:r>
              <a:rPr lang="ja-JP" altLang="en-US" kern="0" dirty="0">
                <a:solidFill>
                  <a:schemeClr val="tx1">
                    <a:lumMod val="85000"/>
                    <a:lumOff val="15000"/>
                  </a:schemeClr>
                </a:solidFill>
                <a:latin typeface="Consolas" panose="020B0609020204030204" pitchFamily="49" charset="0"/>
              </a:rPr>
              <a:t>交互にインタリーブされている</a:t>
            </a:r>
            <a:endParaRPr lang="ja-JP" altLang="en-US" kern="0" dirty="0">
              <a:solidFill>
                <a:schemeClr val="tx1">
                  <a:lumMod val="85000"/>
                  <a:lumOff val="15000"/>
                </a:schemeClr>
              </a:solidFill>
            </a:endParaRPr>
          </a:p>
        </p:txBody>
      </p:sp>
    </p:spTree>
    <p:extLst>
      <p:ext uri="{BB962C8B-B14F-4D97-AF65-F5344CB8AC3E}">
        <p14:creationId xmlns:p14="http://schemas.microsoft.com/office/powerpoint/2010/main" val="37414291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B4BEF75-7A9D-0833-1AEE-6DB2D0AF5BAC}"/>
              </a:ext>
            </a:extLst>
          </p:cNvPr>
          <p:cNvSpPr>
            <a:spLocks noGrp="1"/>
          </p:cNvSpPr>
          <p:nvPr>
            <p:ph type="title"/>
          </p:nvPr>
        </p:nvSpPr>
        <p:spPr/>
        <p:txBody>
          <a:bodyPr/>
          <a:lstStyle/>
          <a:p>
            <a:r>
              <a:rPr lang="en-US" altLang="ja-JP" dirty="0"/>
              <a:t>Ahead Pipelining </a:t>
            </a:r>
            <a:r>
              <a:rPr lang="ja-JP" altLang="en-US" dirty="0"/>
              <a:t>の効果</a:t>
            </a:r>
            <a:endParaRPr kumimoji="1" lang="ja-JP" altLang="en-US" dirty="0"/>
          </a:p>
        </p:txBody>
      </p:sp>
      <p:sp>
        <p:nvSpPr>
          <p:cNvPr id="3" name="テキスト プレースホルダー 2">
            <a:extLst>
              <a:ext uri="{FF2B5EF4-FFF2-40B4-BE49-F238E27FC236}">
                <a16:creationId xmlns:a16="http://schemas.microsoft.com/office/drawing/2014/main" id="{7D49F627-D6C8-094B-6181-73B5A2A56BC7}"/>
              </a:ext>
            </a:extLst>
          </p:cNvPr>
          <p:cNvSpPr>
            <a:spLocks noGrp="1"/>
          </p:cNvSpPr>
          <p:nvPr>
            <p:ph type="body" sz="quarter" idx="10"/>
          </p:nvPr>
        </p:nvSpPr>
        <p:spPr/>
        <p:txBody>
          <a:bodyPr/>
          <a:lstStyle/>
          <a:p>
            <a:r>
              <a:rPr kumimoji="1" lang="ja-JP" altLang="en-US" dirty="0"/>
              <a:t>利点：</a:t>
            </a:r>
            <a:endParaRPr kumimoji="1" lang="en-US" altLang="ja-JP" dirty="0"/>
          </a:p>
          <a:p>
            <a:pPr lvl="1"/>
            <a:r>
              <a:rPr lang="ja-JP" altLang="en-US" dirty="0"/>
              <a:t>予測を複数サイクルかけて実施可能になる</a:t>
            </a:r>
            <a:endParaRPr lang="en-US" altLang="ja-JP" dirty="0"/>
          </a:p>
          <a:p>
            <a:pPr lvl="1"/>
            <a:r>
              <a:rPr kumimoji="1" lang="ja-JP" altLang="en-US" dirty="0"/>
              <a:t>大きな予測器が使用可能になる</a:t>
            </a:r>
            <a:endParaRPr kumimoji="1" lang="en-US" altLang="ja-JP" dirty="0"/>
          </a:p>
          <a:p>
            <a:pPr lvl="2"/>
            <a:r>
              <a:rPr lang="ja-JP" altLang="en-US" dirty="0"/>
              <a:t>方向予測器にも </a:t>
            </a:r>
            <a:r>
              <a:rPr lang="en-US" altLang="ja-JP" dirty="0"/>
              <a:t>BTB </a:t>
            </a:r>
            <a:r>
              <a:rPr lang="ja-JP" altLang="en-US" dirty="0"/>
              <a:t>にも使える</a:t>
            </a:r>
            <a:endParaRPr kumimoji="1" lang="en-US" altLang="ja-JP" dirty="0"/>
          </a:p>
          <a:p>
            <a:r>
              <a:rPr kumimoji="1" lang="ja-JP" altLang="en-US" dirty="0"/>
              <a:t>問題：</a:t>
            </a:r>
            <a:endParaRPr kumimoji="1" lang="en-US" altLang="ja-JP" dirty="0"/>
          </a:p>
          <a:p>
            <a:pPr lvl="1"/>
            <a:r>
              <a:rPr lang="ja-JP" altLang="en-US" dirty="0"/>
              <a:t>予測精度が下がる</a:t>
            </a:r>
            <a:endParaRPr kumimoji="1" lang="ja-JP" altLang="en-US" dirty="0"/>
          </a:p>
        </p:txBody>
      </p:sp>
    </p:spTree>
    <p:extLst>
      <p:ext uri="{BB962C8B-B14F-4D97-AF65-F5344CB8AC3E}">
        <p14:creationId xmlns:p14="http://schemas.microsoft.com/office/powerpoint/2010/main" val="20675080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FB38F1B-EA9F-B6B0-F815-FBD07D16D980}"/>
              </a:ext>
            </a:extLst>
          </p:cNvPr>
          <p:cNvSpPr>
            <a:spLocks noGrp="1"/>
          </p:cNvSpPr>
          <p:nvPr>
            <p:ph type="title"/>
          </p:nvPr>
        </p:nvSpPr>
        <p:spPr/>
        <p:txBody>
          <a:bodyPr/>
          <a:lstStyle/>
          <a:p>
            <a:r>
              <a:rPr lang="en-US" altLang="ja-JP" dirty="0"/>
              <a:t>Ahead Pipelining </a:t>
            </a:r>
            <a:r>
              <a:rPr lang="ja-JP" altLang="en-US" dirty="0"/>
              <a:t>の課題</a:t>
            </a:r>
            <a:endParaRPr kumimoji="1" lang="ja-JP" altLang="en-US" dirty="0"/>
          </a:p>
        </p:txBody>
      </p:sp>
      <p:sp>
        <p:nvSpPr>
          <p:cNvPr id="3" name="テキスト プレースホルダー 2">
            <a:extLst>
              <a:ext uri="{FF2B5EF4-FFF2-40B4-BE49-F238E27FC236}">
                <a16:creationId xmlns:a16="http://schemas.microsoft.com/office/drawing/2014/main" id="{4D1BC6A9-7D0B-A97D-CED7-7EAF7E5292F0}"/>
              </a:ext>
            </a:extLst>
          </p:cNvPr>
          <p:cNvSpPr>
            <a:spLocks noGrp="1"/>
          </p:cNvSpPr>
          <p:nvPr>
            <p:ph type="body" sz="quarter" idx="10"/>
          </p:nvPr>
        </p:nvSpPr>
        <p:spPr>
          <a:xfrm>
            <a:off x="5375992" y="1088974"/>
            <a:ext cx="6120068" cy="5219751"/>
          </a:xfrm>
        </p:spPr>
        <p:txBody>
          <a:bodyPr/>
          <a:lstStyle/>
          <a:p>
            <a:r>
              <a:rPr kumimoji="1" lang="ja-JP" altLang="en-US" dirty="0"/>
              <a:t>通常のパイプライン：</a:t>
            </a:r>
            <a:endParaRPr kumimoji="1" lang="en-US" altLang="ja-JP" dirty="0"/>
          </a:p>
          <a:p>
            <a:pPr lvl="1"/>
            <a:r>
              <a:rPr lang="en-US" altLang="ja-JP" dirty="0"/>
              <a:t>E </a:t>
            </a:r>
            <a:r>
              <a:rPr lang="ja-JP" altLang="en-US" dirty="0"/>
              <a:t>に来た時に </a:t>
            </a:r>
            <a:r>
              <a:rPr lang="en-US" altLang="ja-JP" dirty="0"/>
              <a:t>F or G </a:t>
            </a:r>
            <a:r>
              <a:rPr lang="ja-JP" altLang="en-US" dirty="0"/>
              <a:t>を予測</a:t>
            </a:r>
            <a:endParaRPr lang="en-US" altLang="ja-JP" dirty="0"/>
          </a:p>
          <a:p>
            <a:r>
              <a:rPr kumimoji="1" lang="en-US" altLang="ja-JP" dirty="0"/>
              <a:t>Ahead Pipelining </a:t>
            </a:r>
            <a:r>
              <a:rPr kumimoji="1" lang="ja-JP" altLang="en-US" dirty="0"/>
              <a:t>した場合：</a:t>
            </a:r>
            <a:endParaRPr kumimoji="1" lang="en-US" altLang="ja-JP" dirty="0"/>
          </a:p>
          <a:p>
            <a:pPr lvl="1"/>
            <a:r>
              <a:rPr lang="en-US" altLang="ja-JP" dirty="0">
                <a:solidFill>
                  <a:schemeClr val="accent5"/>
                </a:solidFill>
              </a:rPr>
              <a:t>A </a:t>
            </a:r>
            <a:r>
              <a:rPr lang="ja-JP" altLang="en-US" dirty="0">
                <a:solidFill>
                  <a:schemeClr val="accent5"/>
                </a:solidFill>
              </a:rPr>
              <a:t>に来た時に，</a:t>
            </a:r>
            <a:r>
              <a:rPr lang="en-US" altLang="ja-JP" dirty="0"/>
              <a:t>E </a:t>
            </a:r>
            <a:r>
              <a:rPr lang="ja-JP" altLang="en-US" dirty="0"/>
              <a:t>が </a:t>
            </a:r>
            <a:r>
              <a:rPr lang="en-US" altLang="ja-JP" dirty="0"/>
              <a:t>F or G </a:t>
            </a:r>
            <a:r>
              <a:rPr lang="ja-JP" altLang="en-US" dirty="0"/>
              <a:t>を予測</a:t>
            </a:r>
            <a:endParaRPr lang="en-US" altLang="ja-JP" dirty="0"/>
          </a:p>
          <a:p>
            <a:pPr lvl="1"/>
            <a:r>
              <a:rPr lang="ja-JP" altLang="en-US" dirty="0"/>
              <a:t>問題：より遠い未来の予測になる</a:t>
            </a:r>
            <a:endParaRPr lang="en-US" altLang="ja-JP" dirty="0"/>
          </a:p>
          <a:p>
            <a:pPr lvl="2"/>
            <a:r>
              <a:rPr kumimoji="1" lang="en-US" altLang="ja-JP" dirty="0"/>
              <a:t>B </a:t>
            </a:r>
            <a:r>
              <a:rPr kumimoji="1" lang="ja-JP" altLang="en-US" dirty="0"/>
              <a:t>にいったのか </a:t>
            </a:r>
            <a:r>
              <a:rPr kumimoji="1" lang="en-US" altLang="ja-JP" dirty="0"/>
              <a:t>C </a:t>
            </a:r>
            <a:r>
              <a:rPr kumimoji="1" lang="ja-JP" altLang="en-US" dirty="0"/>
              <a:t>にいったのかの情報が</a:t>
            </a:r>
            <a:br>
              <a:rPr kumimoji="1" lang="en-US" altLang="ja-JP" dirty="0"/>
            </a:br>
            <a:r>
              <a:rPr kumimoji="1" lang="ja-JP" altLang="en-US" dirty="0"/>
              <a:t>使えない</a:t>
            </a:r>
            <a:endParaRPr kumimoji="1" lang="en-US" altLang="ja-JP" dirty="0"/>
          </a:p>
          <a:p>
            <a:pPr lvl="2"/>
            <a:r>
              <a:rPr lang="en-US" altLang="ja-JP" dirty="0"/>
              <a:t>C </a:t>
            </a:r>
            <a:r>
              <a:rPr lang="ja-JP" altLang="en-US" dirty="0"/>
              <a:t>が分岐だった場合，</a:t>
            </a:r>
            <a:br>
              <a:rPr lang="en-US" altLang="ja-JP" dirty="0"/>
            </a:br>
            <a:r>
              <a:rPr lang="en-US" altLang="ja-JP" dirty="0"/>
              <a:t>E </a:t>
            </a:r>
            <a:r>
              <a:rPr lang="ja-JP" altLang="en-US" dirty="0"/>
              <a:t>ではない可能性すらある</a:t>
            </a:r>
            <a:endParaRPr kumimoji="1" lang="ja-JP" altLang="en-US" dirty="0"/>
          </a:p>
        </p:txBody>
      </p:sp>
      <p:sp>
        <p:nvSpPr>
          <p:cNvPr id="4" name="円/楕円 12">
            <a:extLst>
              <a:ext uri="{FF2B5EF4-FFF2-40B4-BE49-F238E27FC236}">
                <a16:creationId xmlns:a16="http://schemas.microsoft.com/office/drawing/2014/main" id="{25CCD2BE-7837-8DC6-0FF7-1113B9843D73}"/>
              </a:ext>
            </a:extLst>
          </p:cNvPr>
          <p:cNvSpPr/>
          <p:nvPr/>
        </p:nvSpPr>
        <p:spPr bwMode="auto">
          <a:xfrm>
            <a:off x="4295980" y="2078985"/>
            <a:ext cx="720008" cy="540006"/>
          </a:xfrm>
          <a:prstGeom prst="ellipse">
            <a:avLst/>
          </a:prstGeom>
          <a:ln>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C</a:t>
            </a:r>
            <a:endParaRPr lang="ja-JP" altLang="en-US" dirty="0">
              <a:solidFill>
                <a:schemeClr val="tx1">
                  <a:lumMod val="75000"/>
                  <a:lumOff val="25000"/>
                </a:schemeClr>
              </a:solidFill>
              <a:latin typeface="+mn-ea"/>
            </a:endParaRPr>
          </a:p>
        </p:txBody>
      </p:sp>
      <p:cxnSp>
        <p:nvCxnSpPr>
          <p:cNvPr id="5" name="直線矢印コネクタ 4">
            <a:extLst>
              <a:ext uri="{FF2B5EF4-FFF2-40B4-BE49-F238E27FC236}">
                <a16:creationId xmlns:a16="http://schemas.microsoft.com/office/drawing/2014/main" id="{4B199B14-FA60-BDBD-7A05-F3BDDBDDEA07}"/>
              </a:ext>
            </a:extLst>
          </p:cNvPr>
          <p:cNvCxnSpPr>
            <a:cxnSpLocks/>
            <a:stCxn id="4" idx="3"/>
            <a:endCxn id="14" idx="7"/>
          </p:cNvCxnSpPr>
          <p:nvPr/>
        </p:nvCxnSpPr>
        <p:spPr bwMode="auto">
          <a:xfrm flipH="1">
            <a:off x="3830533" y="2539909"/>
            <a:ext cx="570890" cy="338166"/>
          </a:xfrm>
          <a:prstGeom prst="straightConnector1">
            <a:avLst/>
          </a:prstGeom>
          <a:ln>
            <a:headEnd type="none" w="med" len="med"/>
            <a:tailEnd type="triangle"/>
          </a:ln>
        </p:spPr>
        <p:style>
          <a:lnRef idx="2">
            <a:schemeClr val="dk1"/>
          </a:lnRef>
          <a:fillRef idx="0">
            <a:schemeClr val="dk1"/>
          </a:fillRef>
          <a:effectRef idx="1">
            <a:schemeClr val="dk1"/>
          </a:effectRef>
          <a:fontRef idx="minor">
            <a:schemeClr val="tx1"/>
          </a:fontRef>
        </p:style>
      </p:cxnSp>
      <p:sp>
        <p:nvSpPr>
          <p:cNvPr id="6" name="円/楕円 44">
            <a:extLst>
              <a:ext uri="{FF2B5EF4-FFF2-40B4-BE49-F238E27FC236}">
                <a16:creationId xmlns:a16="http://schemas.microsoft.com/office/drawing/2014/main" id="{082C48F9-0AD7-BD3A-1FA1-3FA63F03D21C}"/>
              </a:ext>
            </a:extLst>
          </p:cNvPr>
          <p:cNvSpPr/>
          <p:nvPr/>
        </p:nvSpPr>
        <p:spPr bwMode="auto">
          <a:xfrm>
            <a:off x="2135956" y="2081551"/>
            <a:ext cx="720008" cy="537440"/>
          </a:xfrm>
          <a:prstGeom prst="ellips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B</a:t>
            </a:r>
            <a:endParaRPr lang="ja-JP" altLang="en-US" dirty="0">
              <a:solidFill>
                <a:schemeClr val="tx1">
                  <a:lumMod val="75000"/>
                  <a:lumOff val="25000"/>
                </a:schemeClr>
              </a:solidFill>
              <a:latin typeface="+mn-ea"/>
            </a:endParaRPr>
          </a:p>
        </p:txBody>
      </p:sp>
      <p:cxnSp>
        <p:nvCxnSpPr>
          <p:cNvPr id="7" name="直線矢印コネクタ 6">
            <a:extLst>
              <a:ext uri="{FF2B5EF4-FFF2-40B4-BE49-F238E27FC236}">
                <a16:creationId xmlns:a16="http://schemas.microsoft.com/office/drawing/2014/main" id="{118F0EC3-85E1-E921-57F6-86C4E0204121}"/>
              </a:ext>
            </a:extLst>
          </p:cNvPr>
          <p:cNvCxnSpPr>
            <a:cxnSpLocks/>
            <a:stCxn id="6" idx="5"/>
            <a:endCxn id="14" idx="1"/>
          </p:cNvCxnSpPr>
          <p:nvPr/>
        </p:nvCxnSpPr>
        <p:spPr bwMode="auto">
          <a:xfrm>
            <a:off x="2750521" y="2540285"/>
            <a:ext cx="570890" cy="337790"/>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cxnSp>
        <p:nvCxnSpPr>
          <p:cNvPr id="8" name="直線矢印コネクタ 7">
            <a:extLst>
              <a:ext uri="{FF2B5EF4-FFF2-40B4-BE49-F238E27FC236}">
                <a16:creationId xmlns:a16="http://schemas.microsoft.com/office/drawing/2014/main" id="{6DC8AA30-96C6-34B0-32CB-759EE3E570A5}"/>
              </a:ext>
            </a:extLst>
          </p:cNvPr>
          <p:cNvCxnSpPr>
            <a:cxnSpLocks/>
            <a:endCxn id="4" idx="1"/>
          </p:cNvCxnSpPr>
          <p:nvPr/>
        </p:nvCxnSpPr>
        <p:spPr bwMode="auto">
          <a:xfrm>
            <a:off x="3845975" y="1808983"/>
            <a:ext cx="555448" cy="349085"/>
          </a:xfrm>
          <a:prstGeom prst="straightConnector1">
            <a:avLst/>
          </a:prstGeom>
          <a:ln>
            <a:headEnd type="none" w="med" len="med"/>
            <a:tailEnd type="triangle"/>
          </a:ln>
        </p:spPr>
        <p:style>
          <a:lnRef idx="2">
            <a:schemeClr val="dk1"/>
          </a:lnRef>
          <a:fillRef idx="0">
            <a:schemeClr val="dk1"/>
          </a:fillRef>
          <a:effectRef idx="1">
            <a:schemeClr val="dk1"/>
          </a:effectRef>
          <a:fontRef idx="minor">
            <a:schemeClr val="tx1"/>
          </a:fontRef>
        </p:style>
      </p:cxnSp>
      <p:cxnSp>
        <p:nvCxnSpPr>
          <p:cNvPr id="9" name="直線矢印コネクタ 8">
            <a:extLst>
              <a:ext uri="{FF2B5EF4-FFF2-40B4-BE49-F238E27FC236}">
                <a16:creationId xmlns:a16="http://schemas.microsoft.com/office/drawing/2014/main" id="{77357CE6-E769-D2AE-D5BF-1DA0D67732C8}"/>
              </a:ext>
            </a:extLst>
          </p:cNvPr>
          <p:cNvCxnSpPr>
            <a:cxnSpLocks/>
            <a:stCxn id="13" idx="3"/>
            <a:endCxn id="6" idx="7"/>
          </p:cNvCxnSpPr>
          <p:nvPr/>
        </p:nvCxnSpPr>
        <p:spPr bwMode="auto">
          <a:xfrm flipH="1">
            <a:off x="2750521" y="1819901"/>
            <a:ext cx="570890" cy="340356"/>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sp>
        <p:nvSpPr>
          <p:cNvPr id="10" name="Rectangle 133">
            <a:extLst>
              <a:ext uri="{FF2B5EF4-FFF2-40B4-BE49-F238E27FC236}">
                <a16:creationId xmlns:a16="http://schemas.microsoft.com/office/drawing/2014/main" id="{C0A9B985-F495-A479-BF6B-F78939657A19}"/>
              </a:ext>
            </a:extLst>
          </p:cNvPr>
          <p:cNvSpPr>
            <a:spLocks noChangeArrowheads="1"/>
          </p:cNvSpPr>
          <p:nvPr/>
        </p:nvSpPr>
        <p:spPr bwMode="auto">
          <a:xfrm>
            <a:off x="2765964" y="1628981"/>
            <a:ext cx="719803"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en-US" altLang="ja-JP" sz="1400" dirty="0">
                <a:solidFill>
                  <a:schemeClr val="tx1">
                    <a:lumMod val="75000"/>
                    <a:lumOff val="25000"/>
                  </a:schemeClr>
                </a:solidFill>
                <a:latin typeface="+mn-ea"/>
                <a:ea typeface="+mn-ea"/>
              </a:rPr>
              <a:t>0</a:t>
            </a:r>
          </a:p>
        </p:txBody>
      </p:sp>
      <p:sp>
        <p:nvSpPr>
          <p:cNvPr id="11" name="Rectangle 133">
            <a:extLst>
              <a:ext uri="{FF2B5EF4-FFF2-40B4-BE49-F238E27FC236}">
                <a16:creationId xmlns:a16="http://schemas.microsoft.com/office/drawing/2014/main" id="{C2862771-7722-2B57-A2CB-B2A4595E9BA9}"/>
              </a:ext>
            </a:extLst>
          </p:cNvPr>
          <p:cNvSpPr>
            <a:spLocks noChangeArrowheads="1"/>
          </p:cNvSpPr>
          <p:nvPr/>
        </p:nvSpPr>
        <p:spPr bwMode="auto">
          <a:xfrm>
            <a:off x="4025978" y="1628981"/>
            <a:ext cx="719803"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en-US" altLang="ja-JP" sz="1400" dirty="0">
                <a:solidFill>
                  <a:schemeClr val="tx1">
                    <a:lumMod val="75000"/>
                    <a:lumOff val="25000"/>
                  </a:schemeClr>
                </a:solidFill>
                <a:latin typeface="+mn-ea"/>
                <a:ea typeface="+mn-ea"/>
              </a:rPr>
              <a:t>1</a:t>
            </a:r>
          </a:p>
        </p:txBody>
      </p:sp>
      <p:sp>
        <p:nvSpPr>
          <p:cNvPr id="12" name="Rectangle 133">
            <a:extLst>
              <a:ext uri="{FF2B5EF4-FFF2-40B4-BE49-F238E27FC236}">
                <a16:creationId xmlns:a16="http://schemas.microsoft.com/office/drawing/2014/main" id="{17E26C82-6E92-5A8A-64A6-978644847D3E}"/>
              </a:ext>
            </a:extLst>
          </p:cNvPr>
          <p:cNvSpPr>
            <a:spLocks noChangeArrowheads="1"/>
          </p:cNvSpPr>
          <p:nvPr/>
        </p:nvSpPr>
        <p:spPr bwMode="auto">
          <a:xfrm>
            <a:off x="1775953" y="4601580"/>
            <a:ext cx="719803"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en-US" altLang="ja-JP" sz="1800" dirty="0">
                <a:solidFill>
                  <a:schemeClr val="tx1">
                    <a:lumMod val="75000"/>
                    <a:lumOff val="25000"/>
                  </a:schemeClr>
                </a:solidFill>
                <a:latin typeface="+mn-ea"/>
                <a:ea typeface="+mn-ea"/>
              </a:rPr>
              <a:t>A</a:t>
            </a:r>
            <a:r>
              <a:rPr lang="ja-JP" altLang="en-US" sz="1800" dirty="0">
                <a:solidFill>
                  <a:schemeClr val="tx1">
                    <a:lumMod val="75000"/>
                    <a:lumOff val="25000"/>
                  </a:schemeClr>
                </a:solidFill>
                <a:latin typeface="+mn-ea"/>
                <a:ea typeface="+mn-ea"/>
              </a:rPr>
              <a:t>→</a:t>
            </a:r>
            <a:r>
              <a:rPr lang="en-US" altLang="ja-JP" sz="1800" dirty="0">
                <a:solidFill>
                  <a:schemeClr val="tx1">
                    <a:lumMod val="75000"/>
                    <a:lumOff val="25000"/>
                  </a:schemeClr>
                </a:solidFill>
                <a:latin typeface="+mn-ea"/>
                <a:ea typeface="+mn-ea"/>
              </a:rPr>
              <a:t>B</a:t>
            </a:r>
            <a:r>
              <a:rPr lang="ja-JP" altLang="en-US" sz="1800" dirty="0">
                <a:solidFill>
                  <a:schemeClr val="tx1">
                    <a:lumMod val="75000"/>
                    <a:lumOff val="25000"/>
                  </a:schemeClr>
                </a:solidFill>
                <a:latin typeface="+mn-ea"/>
                <a:ea typeface="+mn-ea"/>
              </a:rPr>
              <a:t>→</a:t>
            </a:r>
            <a:r>
              <a:rPr lang="en-US" altLang="ja-JP" sz="1800" dirty="0">
                <a:solidFill>
                  <a:schemeClr val="tx1">
                    <a:lumMod val="75000"/>
                    <a:lumOff val="25000"/>
                  </a:schemeClr>
                </a:solidFill>
                <a:latin typeface="+mn-ea"/>
                <a:ea typeface="+mn-ea"/>
              </a:rPr>
              <a:t>D</a:t>
            </a:r>
            <a:r>
              <a:rPr lang="ja-JP" altLang="en-US" sz="1800" dirty="0">
                <a:solidFill>
                  <a:schemeClr val="tx1">
                    <a:lumMod val="75000"/>
                    <a:lumOff val="25000"/>
                  </a:schemeClr>
                </a:solidFill>
                <a:latin typeface="+mn-ea"/>
                <a:ea typeface="+mn-ea"/>
              </a:rPr>
              <a:t>→</a:t>
            </a:r>
            <a:endParaRPr lang="en-US" altLang="ja-JP" sz="1800" dirty="0">
              <a:solidFill>
                <a:schemeClr val="tx1">
                  <a:lumMod val="75000"/>
                  <a:lumOff val="25000"/>
                </a:schemeClr>
              </a:solidFill>
              <a:latin typeface="+mn-ea"/>
              <a:ea typeface="+mn-ea"/>
            </a:endParaRPr>
          </a:p>
          <a:p>
            <a:pPr eaLnBrk="0" hangingPunct="0"/>
            <a:r>
              <a:rPr lang="en-US" altLang="ja-JP" sz="1800" dirty="0">
                <a:solidFill>
                  <a:schemeClr val="tx1">
                    <a:lumMod val="75000"/>
                    <a:lumOff val="25000"/>
                  </a:schemeClr>
                </a:solidFill>
                <a:latin typeface="+mn-ea"/>
                <a:ea typeface="+mn-ea"/>
              </a:rPr>
              <a:t>E</a:t>
            </a:r>
            <a:r>
              <a:rPr lang="ja-JP" altLang="en-US" sz="1800" dirty="0">
                <a:solidFill>
                  <a:schemeClr val="tx1">
                    <a:lumMod val="75000"/>
                    <a:lumOff val="25000"/>
                  </a:schemeClr>
                </a:solidFill>
                <a:latin typeface="+mn-ea"/>
                <a:ea typeface="+mn-ea"/>
              </a:rPr>
              <a:t>→</a:t>
            </a:r>
            <a:r>
              <a:rPr lang="en-US" altLang="ja-JP" sz="1800" dirty="0">
                <a:solidFill>
                  <a:schemeClr val="tx1">
                    <a:lumMod val="75000"/>
                    <a:lumOff val="25000"/>
                  </a:schemeClr>
                </a:solidFill>
                <a:latin typeface="+mn-ea"/>
                <a:ea typeface="+mn-ea"/>
              </a:rPr>
              <a:t>G </a:t>
            </a:r>
            <a:r>
              <a:rPr lang="ja-JP" altLang="en-US" sz="1800" dirty="0">
                <a:solidFill>
                  <a:schemeClr val="tx1">
                    <a:lumMod val="75000"/>
                    <a:lumOff val="25000"/>
                  </a:schemeClr>
                </a:solidFill>
                <a:latin typeface="+mn-ea"/>
                <a:ea typeface="+mn-ea"/>
              </a:rPr>
              <a:t>と</a:t>
            </a:r>
            <a:endParaRPr lang="en-US" altLang="ja-JP" sz="1800" dirty="0">
              <a:solidFill>
                <a:schemeClr val="tx1">
                  <a:lumMod val="75000"/>
                  <a:lumOff val="25000"/>
                </a:schemeClr>
              </a:solidFill>
              <a:latin typeface="+mn-ea"/>
              <a:ea typeface="+mn-ea"/>
            </a:endParaRPr>
          </a:p>
          <a:p>
            <a:pPr eaLnBrk="0" hangingPunct="0"/>
            <a:r>
              <a:rPr lang="ja-JP" altLang="en-US" sz="1800" dirty="0">
                <a:solidFill>
                  <a:schemeClr val="tx1">
                    <a:lumMod val="75000"/>
                    <a:lumOff val="25000"/>
                  </a:schemeClr>
                </a:solidFill>
                <a:latin typeface="+mn-ea"/>
                <a:ea typeface="+mn-ea"/>
              </a:rPr>
              <a:t>来た時は左に</a:t>
            </a:r>
            <a:endParaRPr lang="en-US" altLang="ja-JP" sz="1800" dirty="0">
              <a:solidFill>
                <a:schemeClr val="tx1">
                  <a:lumMod val="75000"/>
                  <a:lumOff val="25000"/>
                </a:schemeClr>
              </a:solidFill>
              <a:latin typeface="+mn-ea"/>
              <a:ea typeface="+mn-ea"/>
            </a:endParaRPr>
          </a:p>
        </p:txBody>
      </p:sp>
      <p:sp>
        <p:nvSpPr>
          <p:cNvPr id="13" name="円/楕円 47">
            <a:extLst>
              <a:ext uri="{FF2B5EF4-FFF2-40B4-BE49-F238E27FC236}">
                <a16:creationId xmlns:a16="http://schemas.microsoft.com/office/drawing/2014/main" id="{7F61A03A-D707-FF3A-3C9B-31810E6D4ED0}"/>
              </a:ext>
            </a:extLst>
          </p:cNvPr>
          <p:cNvSpPr/>
          <p:nvPr/>
        </p:nvSpPr>
        <p:spPr bwMode="auto">
          <a:xfrm>
            <a:off x="3215968" y="1358977"/>
            <a:ext cx="720008" cy="540006"/>
          </a:xfrm>
          <a:prstGeom prst="ellips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a:t>
            </a:r>
          </a:p>
        </p:txBody>
      </p:sp>
      <p:sp>
        <p:nvSpPr>
          <p:cNvPr id="14" name="円/楕円 70">
            <a:extLst>
              <a:ext uri="{FF2B5EF4-FFF2-40B4-BE49-F238E27FC236}">
                <a16:creationId xmlns:a16="http://schemas.microsoft.com/office/drawing/2014/main" id="{221002E7-2E46-4C93-A3ED-4C31A20D6FD0}"/>
              </a:ext>
            </a:extLst>
          </p:cNvPr>
          <p:cNvSpPr/>
          <p:nvPr/>
        </p:nvSpPr>
        <p:spPr bwMode="auto">
          <a:xfrm>
            <a:off x="3215968" y="2798993"/>
            <a:ext cx="720008" cy="540006"/>
          </a:xfrm>
          <a:prstGeom prst="ellips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D</a:t>
            </a:r>
            <a:endParaRPr lang="ja-JP" altLang="en-US" dirty="0">
              <a:solidFill>
                <a:schemeClr val="tx1">
                  <a:lumMod val="75000"/>
                  <a:lumOff val="25000"/>
                </a:schemeClr>
              </a:solidFill>
              <a:latin typeface="+mn-ea"/>
            </a:endParaRPr>
          </a:p>
        </p:txBody>
      </p:sp>
      <p:sp>
        <p:nvSpPr>
          <p:cNvPr id="15" name="円/楕円 12">
            <a:extLst>
              <a:ext uri="{FF2B5EF4-FFF2-40B4-BE49-F238E27FC236}">
                <a16:creationId xmlns:a16="http://schemas.microsoft.com/office/drawing/2014/main" id="{DDB5C2A8-4524-DB99-B82D-8627AFCBC289}"/>
              </a:ext>
            </a:extLst>
          </p:cNvPr>
          <p:cNvSpPr/>
          <p:nvPr/>
        </p:nvSpPr>
        <p:spPr bwMode="auto">
          <a:xfrm>
            <a:off x="4295980" y="4509012"/>
            <a:ext cx="720008" cy="540006"/>
          </a:xfrm>
          <a:prstGeom prst="ellipse">
            <a:avLst/>
          </a:prstGeom>
          <a:ln>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F</a:t>
            </a:r>
            <a:endParaRPr lang="ja-JP" altLang="en-US" dirty="0">
              <a:solidFill>
                <a:schemeClr val="tx1">
                  <a:lumMod val="75000"/>
                  <a:lumOff val="25000"/>
                </a:schemeClr>
              </a:solidFill>
              <a:latin typeface="+mn-ea"/>
            </a:endParaRPr>
          </a:p>
        </p:txBody>
      </p:sp>
      <p:cxnSp>
        <p:nvCxnSpPr>
          <p:cNvPr id="16" name="直線矢印コネクタ 15">
            <a:extLst>
              <a:ext uri="{FF2B5EF4-FFF2-40B4-BE49-F238E27FC236}">
                <a16:creationId xmlns:a16="http://schemas.microsoft.com/office/drawing/2014/main" id="{27BEF0CD-D845-4DEB-7ADF-DCFA15626DE4}"/>
              </a:ext>
            </a:extLst>
          </p:cNvPr>
          <p:cNvCxnSpPr>
            <a:cxnSpLocks/>
            <a:stCxn id="15" idx="3"/>
            <a:endCxn id="21" idx="7"/>
          </p:cNvCxnSpPr>
          <p:nvPr/>
        </p:nvCxnSpPr>
        <p:spPr bwMode="auto">
          <a:xfrm flipH="1">
            <a:off x="3830533" y="4969936"/>
            <a:ext cx="570890" cy="338166"/>
          </a:xfrm>
          <a:prstGeom prst="straightConnector1">
            <a:avLst/>
          </a:prstGeom>
          <a:ln>
            <a:headEnd type="none" w="med" len="med"/>
            <a:tailEnd type="triangle"/>
          </a:ln>
        </p:spPr>
        <p:style>
          <a:lnRef idx="2">
            <a:schemeClr val="dk1"/>
          </a:lnRef>
          <a:fillRef idx="0">
            <a:schemeClr val="dk1"/>
          </a:fillRef>
          <a:effectRef idx="1">
            <a:schemeClr val="dk1"/>
          </a:effectRef>
          <a:fontRef idx="minor">
            <a:schemeClr val="tx1"/>
          </a:fontRef>
        </p:style>
      </p:cxnSp>
      <p:cxnSp>
        <p:nvCxnSpPr>
          <p:cNvPr id="17" name="直線矢印コネクタ 16">
            <a:extLst>
              <a:ext uri="{FF2B5EF4-FFF2-40B4-BE49-F238E27FC236}">
                <a16:creationId xmlns:a16="http://schemas.microsoft.com/office/drawing/2014/main" id="{45364009-8CDB-A6B1-51D0-DAC633D9AB1F}"/>
              </a:ext>
            </a:extLst>
          </p:cNvPr>
          <p:cNvCxnSpPr>
            <a:cxnSpLocks/>
            <a:endCxn id="15" idx="1"/>
          </p:cNvCxnSpPr>
          <p:nvPr/>
        </p:nvCxnSpPr>
        <p:spPr bwMode="auto">
          <a:xfrm>
            <a:off x="3845975" y="4239010"/>
            <a:ext cx="555448" cy="349085"/>
          </a:xfrm>
          <a:prstGeom prst="straightConnector1">
            <a:avLst/>
          </a:prstGeom>
          <a:ln>
            <a:headEnd type="none" w="med" len="med"/>
            <a:tailEnd type="triangle"/>
          </a:ln>
        </p:spPr>
        <p:style>
          <a:lnRef idx="2">
            <a:schemeClr val="dk1"/>
          </a:lnRef>
          <a:fillRef idx="0">
            <a:schemeClr val="dk1"/>
          </a:fillRef>
          <a:effectRef idx="1">
            <a:schemeClr val="dk1"/>
          </a:effectRef>
          <a:fontRef idx="minor">
            <a:schemeClr val="tx1"/>
          </a:fontRef>
        </p:style>
      </p:cxnSp>
      <p:cxnSp>
        <p:nvCxnSpPr>
          <p:cNvPr id="18" name="直線矢印コネクタ 17">
            <a:extLst>
              <a:ext uri="{FF2B5EF4-FFF2-40B4-BE49-F238E27FC236}">
                <a16:creationId xmlns:a16="http://schemas.microsoft.com/office/drawing/2014/main" id="{E524C06C-6901-A96B-C757-59A0AB4BA8AE}"/>
              </a:ext>
            </a:extLst>
          </p:cNvPr>
          <p:cNvCxnSpPr>
            <a:cxnSpLocks/>
            <a:stCxn id="20" idx="4"/>
            <a:endCxn id="21" idx="0"/>
          </p:cNvCxnSpPr>
          <p:nvPr/>
        </p:nvCxnSpPr>
        <p:spPr bwMode="auto">
          <a:xfrm>
            <a:off x="3575972" y="4329010"/>
            <a:ext cx="0" cy="900010"/>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sp>
        <p:nvSpPr>
          <p:cNvPr id="19" name="Rectangle 133">
            <a:extLst>
              <a:ext uri="{FF2B5EF4-FFF2-40B4-BE49-F238E27FC236}">
                <a16:creationId xmlns:a16="http://schemas.microsoft.com/office/drawing/2014/main" id="{2B4525CF-352B-6A7F-E962-8A5872FF99AF}"/>
              </a:ext>
            </a:extLst>
          </p:cNvPr>
          <p:cNvSpPr>
            <a:spLocks noChangeArrowheads="1"/>
          </p:cNvSpPr>
          <p:nvPr/>
        </p:nvSpPr>
        <p:spPr bwMode="auto">
          <a:xfrm>
            <a:off x="4025978" y="4059008"/>
            <a:ext cx="719803"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en-US" altLang="ja-JP" sz="1400" dirty="0">
                <a:solidFill>
                  <a:schemeClr val="tx1">
                    <a:lumMod val="75000"/>
                    <a:lumOff val="25000"/>
                  </a:schemeClr>
                </a:solidFill>
                <a:latin typeface="+mn-ea"/>
                <a:ea typeface="+mn-ea"/>
              </a:rPr>
              <a:t>1</a:t>
            </a:r>
          </a:p>
        </p:txBody>
      </p:sp>
      <p:sp>
        <p:nvSpPr>
          <p:cNvPr id="20" name="円/楕円 47">
            <a:extLst>
              <a:ext uri="{FF2B5EF4-FFF2-40B4-BE49-F238E27FC236}">
                <a16:creationId xmlns:a16="http://schemas.microsoft.com/office/drawing/2014/main" id="{D0A1C7FD-3A10-6E49-F335-A048BE4CE700}"/>
              </a:ext>
            </a:extLst>
          </p:cNvPr>
          <p:cNvSpPr/>
          <p:nvPr/>
        </p:nvSpPr>
        <p:spPr bwMode="auto">
          <a:xfrm>
            <a:off x="3215968" y="3789004"/>
            <a:ext cx="720008" cy="540006"/>
          </a:xfrm>
          <a:prstGeom prst="ellips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E</a:t>
            </a:r>
          </a:p>
        </p:txBody>
      </p:sp>
      <p:sp>
        <p:nvSpPr>
          <p:cNvPr id="21" name="円/楕円 70">
            <a:extLst>
              <a:ext uri="{FF2B5EF4-FFF2-40B4-BE49-F238E27FC236}">
                <a16:creationId xmlns:a16="http://schemas.microsoft.com/office/drawing/2014/main" id="{469BC4E3-007F-06F0-47DE-14C22B7D3812}"/>
              </a:ext>
            </a:extLst>
          </p:cNvPr>
          <p:cNvSpPr/>
          <p:nvPr/>
        </p:nvSpPr>
        <p:spPr bwMode="auto">
          <a:xfrm>
            <a:off x="3215968" y="5229020"/>
            <a:ext cx="720008" cy="540006"/>
          </a:xfrm>
          <a:prstGeom prst="ellipse">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G</a:t>
            </a:r>
            <a:endParaRPr lang="ja-JP" altLang="en-US" dirty="0">
              <a:solidFill>
                <a:schemeClr val="tx1">
                  <a:lumMod val="75000"/>
                  <a:lumOff val="25000"/>
                </a:schemeClr>
              </a:solidFill>
              <a:latin typeface="+mn-ea"/>
            </a:endParaRPr>
          </a:p>
        </p:txBody>
      </p:sp>
      <p:cxnSp>
        <p:nvCxnSpPr>
          <p:cNvPr id="22" name="直線矢印コネクタ 21">
            <a:extLst>
              <a:ext uri="{FF2B5EF4-FFF2-40B4-BE49-F238E27FC236}">
                <a16:creationId xmlns:a16="http://schemas.microsoft.com/office/drawing/2014/main" id="{204DD04F-988A-0218-32F1-AAC21F89C54A}"/>
              </a:ext>
            </a:extLst>
          </p:cNvPr>
          <p:cNvCxnSpPr>
            <a:cxnSpLocks/>
            <a:endCxn id="20" idx="0"/>
          </p:cNvCxnSpPr>
          <p:nvPr/>
        </p:nvCxnSpPr>
        <p:spPr bwMode="auto">
          <a:xfrm>
            <a:off x="3575972" y="3339000"/>
            <a:ext cx="0" cy="450005"/>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cxnSp>
        <p:nvCxnSpPr>
          <p:cNvPr id="23" name="直線矢印コネクタ 22">
            <a:extLst>
              <a:ext uri="{FF2B5EF4-FFF2-40B4-BE49-F238E27FC236}">
                <a16:creationId xmlns:a16="http://schemas.microsoft.com/office/drawing/2014/main" id="{0CECDB4F-9E64-575A-62A8-118520056201}"/>
              </a:ext>
            </a:extLst>
          </p:cNvPr>
          <p:cNvCxnSpPr>
            <a:cxnSpLocks/>
          </p:cNvCxnSpPr>
          <p:nvPr/>
        </p:nvCxnSpPr>
        <p:spPr bwMode="auto">
          <a:xfrm>
            <a:off x="3845975" y="5679026"/>
            <a:ext cx="555448" cy="349085"/>
          </a:xfrm>
          <a:prstGeom prst="straightConnector1">
            <a:avLst/>
          </a:prstGeom>
          <a:ln>
            <a:headEnd type="none" w="med" len="med"/>
            <a:tailEnd type="triangle"/>
          </a:ln>
        </p:spPr>
        <p:style>
          <a:lnRef idx="2">
            <a:schemeClr val="dk1"/>
          </a:lnRef>
          <a:fillRef idx="0">
            <a:schemeClr val="dk1"/>
          </a:fillRef>
          <a:effectRef idx="1">
            <a:schemeClr val="dk1"/>
          </a:effectRef>
          <a:fontRef idx="minor">
            <a:schemeClr val="tx1"/>
          </a:fontRef>
        </p:style>
      </p:cxnSp>
      <p:cxnSp>
        <p:nvCxnSpPr>
          <p:cNvPr id="24" name="直線矢印コネクタ 23">
            <a:extLst>
              <a:ext uri="{FF2B5EF4-FFF2-40B4-BE49-F238E27FC236}">
                <a16:creationId xmlns:a16="http://schemas.microsoft.com/office/drawing/2014/main" id="{BBDF5FAC-4874-90D4-92C8-C523ADFE5D13}"/>
              </a:ext>
            </a:extLst>
          </p:cNvPr>
          <p:cNvCxnSpPr>
            <a:cxnSpLocks/>
          </p:cNvCxnSpPr>
          <p:nvPr/>
        </p:nvCxnSpPr>
        <p:spPr bwMode="auto">
          <a:xfrm flipH="1">
            <a:off x="2750521" y="5689944"/>
            <a:ext cx="570890" cy="340356"/>
          </a:xfrm>
          <a:prstGeom prst="straightConnector1">
            <a:avLst/>
          </a:prstGeom>
          <a:ln>
            <a:headEnd type="none" w="med" len="med"/>
            <a:tailEnd type="triangle"/>
          </a:ln>
        </p:spPr>
        <p:style>
          <a:lnRef idx="2">
            <a:schemeClr val="accent6"/>
          </a:lnRef>
          <a:fillRef idx="0">
            <a:schemeClr val="accent6"/>
          </a:fillRef>
          <a:effectRef idx="1">
            <a:schemeClr val="accent6"/>
          </a:effectRef>
          <a:fontRef idx="minor">
            <a:schemeClr val="tx1"/>
          </a:fontRef>
        </p:style>
      </p:cxnSp>
      <p:sp>
        <p:nvSpPr>
          <p:cNvPr id="25" name="Rectangle 133">
            <a:extLst>
              <a:ext uri="{FF2B5EF4-FFF2-40B4-BE49-F238E27FC236}">
                <a16:creationId xmlns:a16="http://schemas.microsoft.com/office/drawing/2014/main" id="{AEE4C8A4-C025-350D-E345-13DD8421938D}"/>
              </a:ext>
            </a:extLst>
          </p:cNvPr>
          <p:cNvSpPr>
            <a:spLocks noChangeArrowheads="1"/>
          </p:cNvSpPr>
          <p:nvPr/>
        </p:nvSpPr>
        <p:spPr bwMode="auto">
          <a:xfrm>
            <a:off x="3215969" y="4329011"/>
            <a:ext cx="719803"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en-US" altLang="ja-JP" sz="1400" dirty="0">
                <a:solidFill>
                  <a:schemeClr val="tx1">
                    <a:lumMod val="75000"/>
                    <a:lumOff val="25000"/>
                  </a:schemeClr>
                </a:solidFill>
                <a:latin typeface="+mn-ea"/>
                <a:ea typeface="+mn-ea"/>
              </a:rPr>
              <a:t>0</a:t>
            </a:r>
          </a:p>
        </p:txBody>
      </p:sp>
    </p:spTree>
    <p:extLst>
      <p:ext uri="{BB962C8B-B14F-4D97-AF65-F5344CB8AC3E}">
        <p14:creationId xmlns:p14="http://schemas.microsoft.com/office/powerpoint/2010/main" val="241568024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69">
            <a:extLst>
              <a:ext uri="{FF2B5EF4-FFF2-40B4-BE49-F238E27FC236}">
                <a16:creationId xmlns:a16="http://schemas.microsoft.com/office/drawing/2014/main" id="{D267B445-3317-A65E-EF2B-0EC39C509065}"/>
              </a:ext>
            </a:extLst>
          </p:cNvPr>
          <p:cNvSpPr>
            <a:spLocks noChangeArrowheads="1"/>
          </p:cNvSpPr>
          <p:nvPr/>
        </p:nvSpPr>
        <p:spPr bwMode="auto">
          <a:xfrm>
            <a:off x="4835987" y="5769026"/>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latin typeface="+mn-lt"/>
                <a:ea typeface="+mn-ea"/>
              </a:rPr>
              <a:t>P</a:t>
            </a:r>
          </a:p>
        </p:txBody>
      </p:sp>
      <p:sp>
        <p:nvSpPr>
          <p:cNvPr id="31" name="Rectangle 70">
            <a:extLst>
              <a:ext uri="{FF2B5EF4-FFF2-40B4-BE49-F238E27FC236}">
                <a16:creationId xmlns:a16="http://schemas.microsoft.com/office/drawing/2014/main" id="{82A4B70C-527E-26F1-1DCD-241DB5CEA512}"/>
              </a:ext>
            </a:extLst>
          </p:cNvPr>
          <p:cNvSpPr>
            <a:spLocks noChangeArrowheads="1"/>
          </p:cNvSpPr>
          <p:nvPr/>
        </p:nvSpPr>
        <p:spPr bwMode="auto">
          <a:xfrm>
            <a:off x="5285990" y="5769026"/>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latin typeface="+mn-lt"/>
                <a:ea typeface="+mn-ea"/>
              </a:rPr>
              <a:t>F</a:t>
            </a:r>
          </a:p>
        </p:txBody>
      </p:sp>
      <p:sp>
        <p:nvSpPr>
          <p:cNvPr id="32" name="Rectangle 71">
            <a:extLst>
              <a:ext uri="{FF2B5EF4-FFF2-40B4-BE49-F238E27FC236}">
                <a16:creationId xmlns:a16="http://schemas.microsoft.com/office/drawing/2014/main" id="{9457C175-008E-1920-8ED7-CDDB27E5D507}"/>
              </a:ext>
            </a:extLst>
          </p:cNvPr>
          <p:cNvSpPr>
            <a:spLocks noChangeArrowheads="1"/>
          </p:cNvSpPr>
          <p:nvPr/>
        </p:nvSpPr>
        <p:spPr bwMode="auto">
          <a:xfrm>
            <a:off x="5735996" y="5769026"/>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dirty="0">
              <a:latin typeface="+mn-lt"/>
              <a:ea typeface="+mn-ea"/>
            </a:endParaRPr>
          </a:p>
        </p:txBody>
      </p:sp>
      <p:sp>
        <p:nvSpPr>
          <p:cNvPr id="33" name="Rectangle 72">
            <a:extLst>
              <a:ext uri="{FF2B5EF4-FFF2-40B4-BE49-F238E27FC236}">
                <a16:creationId xmlns:a16="http://schemas.microsoft.com/office/drawing/2014/main" id="{99F6CE88-3251-4167-BC51-FFD21CA524B5}"/>
              </a:ext>
            </a:extLst>
          </p:cNvPr>
          <p:cNvSpPr>
            <a:spLocks noChangeArrowheads="1"/>
          </p:cNvSpPr>
          <p:nvPr/>
        </p:nvSpPr>
        <p:spPr bwMode="auto">
          <a:xfrm>
            <a:off x="6186000" y="5769026"/>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dirty="0">
              <a:latin typeface="+mn-lt"/>
              <a:ea typeface="+mn-ea"/>
            </a:endParaRPr>
          </a:p>
        </p:txBody>
      </p:sp>
      <p:sp>
        <p:nvSpPr>
          <p:cNvPr id="34" name="Rectangle 73">
            <a:extLst>
              <a:ext uri="{FF2B5EF4-FFF2-40B4-BE49-F238E27FC236}">
                <a16:creationId xmlns:a16="http://schemas.microsoft.com/office/drawing/2014/main" id="{AFC8592C-A25A-9BCF-4A9F-F5D1D97E1489}"/>
              </a:ext>
            </a:extLst>
          </p:cNvPr>
          <p:cNvSpPr>
            <a:spLocks noChangeArrowheads="1"/>
          </p:cNvSpPr>
          <p:nvPr/>
        </p:nvSpPr>
        <p:spPr bwMode="auto">
          <a:xfrm>
            <a:off x="6636006" y="5769026"/>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dirty="0">
              <a:latin typeface="+mn-lt"/>
              <a:ea typeface="+mn-ea"/>
            </a:endParaRPr>
          </a:p>
        </p:txBody>
      </p:sp>
      <p:sp>
        <p:nvSpPr>
          <p:cNvPr id="25" name="Rectangle 69">
            <a:extLst>
              <a:ext uri="{FF2B5EF4-FFF2-40B4-BE49-F238E27FC236}">
                <a16:creationId xmlns:a16="http://schemas.microsoft.com/office/drawing/2014/main" id="{D0224A78-AD7E-32E2-A629-52408D78AB6B}"/>
              </a:ext>
            </a:extLst>
          </p:cNvPr>
          <p:cNvSpPr>
            <a:spLocks noChangeArrowheads="1"/>
          </p:cNvSpPr>
          <p:nvPr/>
        </p:nvSpPr>
        <p:spPr bwMode="auto">
          <a:xfrm>
            <a:off x="4385982" y="5319021"/>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latin typeface="+mn-lt"/>
                <a:ea typeface="+mn-ea"/>
              </a:rPr>
              <a:t>P</a:t>
            </a:r>
          </a:p>
        </p:txBody>
      </p:sp>
      <p:sp>
        <p:nvSpPr>
          <p:cNvPr id="26" name="Rectangle 70">
            <a:extLst>
              <a:ext uri="{FF2B5EF4-FFF2-40B4-BE49-F238E27FC236}">
                <a16:creationId xmlns:a16="http://schemas.microsoft.com/office/drawing/2014/main" id="{FC94EABF-AC4B-0D37-DA63-729305F0FE2A}"/>
              </a:ext>
            </a:extLst>
          </p:cNvPr>
          <p:cNvSpPr>
            <a:spLocks noChangeArrowheads="1"/>
          </p:cNvSpPr>
          <p:nvPr/>
        </p:nvSpPr>
        <p:spPr bwMode="auto">
          <a:xfrm>
            <a:off x="4835985" y="5319021"/>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latin typeface="+mn-lt"/>
                <a:ea typeface="+mn-ea"/>
              </a:rPr>
              <a:t>F</a:t>
            </a:r>
          </a:p>
        </p:txBody>
      </p:sp>
      <p:sp>
        <p:nvSpPr>
          <p:cNvPr id="27" name="Rectangle 71">
            <a:extLst>
              <a:ext uri="{FF2B5EF4-FFF2-40B4-BE49-F238E27FC236}">
                <a16:creationId xmlns:a16="http://schemas.microsoft.com/office/drawing/2014/main" id="{ACEA89F9-9282-6B1E-EB1E-B5656A636CC0}"/>
              </a:ext>
            </a:extLst>
          </p:cNvPr>
          <p:cNvSpPr>
            <a:spLocks noChangeArrowheads="1"/>
          </p:cNvSpPr>
          <p:nvPr/>
        </p:nvSpPr>
        <p:spPr bwMode="auto">
          <a:xfrm>
            <a:off x="5285991" y="5319021"/>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dirty="0">
              <a:latin typeface="+mn-lt"/>
              <a:ea typeface="+mn-ea"/>
            </a:endParaRPr>
          </a:p>
        </p:txBody>
      </p:sp>
      <p:sp>
        <p:nvSpPr>
          <p:cNvPr id="28" name="Rectangle 72">
            <a:extLst>
              <a:ext uri="{FF2B5EF4-FFF2-40B4-BE49-F238E27FC236}">
                <a16:creationId xmlns:a16="http://schemas.microsoft.com/office/drawing/2014/main" id="{0DC02097-C6C8-4ED1-02CB-95333AAEC930}"/>
              </a:ext>
            </a:extLst>
          </p:cNvPr>
          <p:cNvSpPr>
            <a:spLocks noChangeArrowheads="1"/>
          </p:cNvSpPr>
          <p:nvPr/>
        </p:nvSpPr>
        <p:spPr bwMode="auto">
          <a:xfrm>
            <a:off x="5735995" y="5319021"/>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dirty="0">
              <a:latin typeface="+mn-lt"/>
              <a:ea typeface="+mn-ea"/>
            </a:endParaRPr>
          </a:p>
        </p:txBody>
      </p:sp>
      <p:sp>
        <p:nvSpPr>
          <p:cNvPr id="29" name="Rectangle 73">
            <a:extLst>
              <a:ext uri="{FF2B5EF4-FFF2-40B4-BE49-F238E27FC236}">
                <a16:creationId xmlns:a16="http://schemas.microsoft.com/office/drawing/2014/main" id="{232AFA09-C5EE-464C-082E-FE254F77AFA2}"/>
              </a:ext>
            </a:extLst>
          </p:cNvPr>
          <p:cNvSpPr>
            <a:spLocks noChangeArrowheads="1"/>
          </p:cNvSpPr>
          <p:nvPr/>
        </p:nvSpPr>
        <p:spPr bwMode="auto">
          <a:xfrm>
            <a:off x="6186001" y="5319021"/>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dirty="0">
              <a:latin typeface="+mn-lt"/>
              <a:ea typeface="+mn-ea"/>
            </a:endParaRPr>
          </a:p>
        </p:txBody>
      </p:sp>
      <p:sp>
        <p:nvSpPr>
          <p:cNvPr id="2" name="タイトル 1">
            <a:extLst>
              <a:ext uri="{FF2B5EF4-FFF2-40B4-BE49-F238E27FC236}">
                <a16:creationId xmlns:a16="http://schemas.microsoft.com/office/drawing/2014/main" id="{7D009D6B-B8CD-DE03-3139-C66F9773511E}"/>
              </a:ext>
            </a:extLst>
          </p:cNvPr>
          <p:cNvSpPr>
            <a:spLocks noGrp="1"/>
          </p:cNvSpPr>
          <p:nvPr>
            <p:ph type="title"/>
          </p:nvPr>
        </p:nvSpPr>
        <p:spPr/>
        <p:txBody>
          <a:bodyPr/>
          <a:lstStyle/>
          <a:p>
            <a:r>
              <a:rPr kumimoji="1" lang="en-US" altLang="ja-JP" dirty="0"/>
              <a:t>Ahead Pipelining </a:t>
            </a:r>
            <a:r>
              <a:rPr kumimoji="1" lang="ja-JP" altLang="en-US" dirty="0"/>
              <a:t>の課題の緩和方法</a:t>
            </a:r>
          </a:p>
        </p:txBody>
      </p:sp>
      <p:sp>
        <p:nvSpPr>
          <p:cNvPr id="3" name="テキスト プレースホルダー 2">
            <a:extLst>
              <a:ext uri="{FF2B5EF4-FFF2-40B4-BE49-F238E27FC236}">
                <a16:creationId xmlns:a16="http://schemas.microsoft.com/office/drawing/2014/main" id="{B2F6A1FB-C0D8-307C-0C4C-786952E74F06}"/>
              </a:ext>
            </a:extLst>
          </p:cNvPr>
          <p:cNvSpPr>
            <a:spLocks noGrp="1"/>
          </p:cNvSpPr>
          <p:nvPr>
            <p:ph type="body" sz="quarter" idx="10"/>
          </p:nvPr>
        </p:nvSpPr>
        <p:spPr>
          <a:xfrm>
            <a:off x="1595950" y="1898983"/>
            <a:ext cx="8730097" cy="1980022"/>
          </a:xfrm>
        </p:spPr>
        <p:txBody>
          <a:bodyPr/>
          <a:lstStyle/>
          <a:p>
            <a:r>
              <a:rPr kumimoji="1" lang="ja-JP" altLang="en-US" dirty="0"/>
              <a:t>直近の情報もあわせて使う</a:t>
            </a:r>
            <a:endParaRPr kumimoji="1" lang="en-US" altLang="ja-JP" dirty="0"/>
          </a:p>
          <a:p>
            <a:pPr lvl="1"/>
            <a:r>
              <a:rPr lang="ja-JP" altLang="en-US" dirty="0"/>
              <a:t>たとえば </a:t>
            </a:r>
            <a:r>
              <a:rPr lang="en-US" altLang="ja-JP" dirty="0"/>
              <a:t>BTB </a:t>
            </a:r>
            <a:r>
              <a:rPr lang="ja-JP" altLang="en-US" dirty="0"/>
              <a:t>で </a:t>
            </a:r>
            <a:r>
              <a:rPr lang="en-US" altLang="ja-JP" dirty="0"/>
              <a:t>i2 </a:t>
            </a:r>
            <a:r>
              <a:rPr lang="ja-JP" altLang="en-US" dirty="0"/>
              <a:t>の予測を行う際に，</a:t>
            </a:r>
            <a:endParaRPr kumimoji="1" lang="en-US" altLang="ja-JP" dirty="0"/>
          </a:p>
          <a:p>
            <a:pPr lvl="2"/>
            <a:r>
              <a:rPr lang="ja-JP" altLang="en-US" dirty="0"/>
              <a:t>テーブルの読み出しに使う</a:t>
            </a:r>
            <a:r>
              <a:rPr lang="ja-JP" altLang="en-US" dirty="0">
                <a:solidFill>
                  <a:schemeClr val="accent5"/>
                </a:solidFill>
              </a:rPr>
              <a:t>インデクスは </a:t>
            </a:r>
            <a:r>
              <a:rPr lang="en-US" altLang="ja-JP" dirty="0">
                <a:solidFill>
                  <a:schemeClr val="accent5"/>
                </a:solidFill>
              </a:rPr>
              <a:t>PC (i0)</a:t>
            </a:r>
          </a:p>
          <a:p>
            <a:pPr lvl="2"/>
            <a:r>
              <a:rPr kumimoji="1" lang="ja-JP" altLang="en-US" dirty="0"/>
              <a:t>読み出した</a:t>
            </a:r>
            <a:r>
              <a:rPr kumimoji="1" lang="ja-JP" altLang="en-US" dirty="0">
                <a:solidFill>
                  <a:schemeClr val="accent6"/>
                </a:solidFill>
              </a:rPr>
              <a:t>タグの比較は </a:t>
            </a:r>
            <a:r>
              <a:rPr kumimoji="1" lang="en-US" altLang="ja-JP" dirty="0">
                <a:solidFill>
                  <a:schemeClr val="accent6"/>
                </a:solidFill>
              </a:rPr>
              <a:t>PC (i1)</a:t>
            </a:r>
            <a:r>
              <a:rPr kumimoji="1" lang="en-US" altLang="ja-JP" dirty="0"/>
              <a:t> </a:t>
            </a:r>
            <a:r>
              <a:rPr kumimoji="1" lang="ja-JP" altLang="en-US" dirty="0"/>
              <a:t>で行う</a:t>
            </a:r>
            <a:endParaRPr kumimoji="1" lang="en-US" altLang="ja-JP" dirty="0"/>
          </a:p>
          <a:p>
            <a:pPr lvl="1"/>
            <a:r>
              <a:rPr lang="en-US" altLang="ja-JP" dirty="0"/>
              <a:t>TAGE </a:t>
            </a:r>
            <a:r>
              <a:rPr lang="ja-JP" altLang="en-US" dirty="0"/>
              <a:t>であれば，履歴で同様のことをする</a:t>
            </a:r>
            <a:endParaRPr kumimoji="1" lang="en-US" altLang="ja-JP" dirty="0"/>
          </a:p>
          <a:p>
            <a:r>
              <a:rPr kumimoji="1" lang="ja-JP" altLang="en-US" dirty="0"/>
              <a:t>意味合い：</a:t>
            </a:r>
            <a:endParaRPr kumimoji="1" lang="en-US" altLang="ja-JP" dirty="0"/>
          </a:p>
          <a:p>
            <a:pPr lvl="1"/>
            <a:r>
              <a:rPr kumimoji="1" lang="ja-JP" altLang="en-US" dirty="0"/>
              <a:t>将来到達しうる場所の情報を，</a:t>
            </a:r>
            <a:r>
              <a:rPr kumimoji="1" lang="ja-JP" altLang="en-US" dirty="0">
                <a:solidFill>
                  <a:schemeClr val="accent5"/>
                </a:solidFill>
              </a:rPr>
              <a:t>時間をかけて</a:t>
            </a:r>
            <a:r>
              <a:rPr kumimoji="1" lang="ja-JP" altLang="en-US" dirty="0"/>
              <a:t>複数読み出しておく</a:t>
            </a:r>
            <a:endParaRPr kumimoji="1" lang="en-US" altLang="ja-JP" dirty="0"/>
          </a:p>
          <a:p>
            <a:pPr lvl="1"/>
            <a:r>
              <a:rPr kumimoji="1" lang="ja-JP" altLang="en-US" dirty="0"/>
              <a:t>その中から，直近の情報を使って</a:t>
            </a:r>
            <a:r>
              <a:rPr kumimoji="1" lang="ja-JP" altLang="en-US" dirty="0">
                <a:solidFill>
                  <a:schemeClr val="accent6"/>
                </a:solidFill>
              </a:rPr>
              <a:t>短時間で選択</a:t>
            </a:r>
          </a:p>
        </p:txBody>
      </p:sp>
      <p:sp>
        <p:nvSpPr>
          <p:cNvPr id="4" name="正方形/長方形 3">
            <a:extLst>
              <a:ext uri="{FF2B5EF4-FFF2-40B4-BE49-F238E27FC236}">
                <a16:creationId xmlns:a16="http://schemas.microsoft.com/office/drawing/2014/main" id="{34450801-ECF8-8A41-BF32-0A2D70C10EF5}"/>
              </a:ext>
            </a:extLst>
          </p:cNvPr>
          <p:cNvSpPr/>
          <p:nvPr/>
        </p:nvSpPr>
        <p:spPr>
          <a:xfrm>
            <a:off x="3305971" y="4869016"/>
            <a:ext cx="450005" cy="369332"/>
          </a:xfrm>
          <a:prstGeom prst="rect">
            <a:avLst/>
          </a:prstGeom>
        </p:spPr>
        <p:txBody>
          <a:bodyPr wrap="square">
            <a:spAutoFit/>
          </a:bodyPr>
          <a:lstStyle/>
          <a:p>
            <a:pPr algn="ctr"/>
            <a:r>
              <a:rPr lang="en-US" altLang="ja-JP" dirty="0">
                <a:solidFill>
                  <a:schemeClr val="tx1">
                    <a:lumMod val="65000"/>
                    <a:lumOff val="35000"/>
                  </a:schemeClr>
                </a:solidFill>
                <a:latin typeface="Consolas" panose="020B0609020204030204" pitchFamily="49" charset="0"/>
              </a:rPr>
              <a:t>i0</a:t>
            </a:r>
            <a:endParaRPr lang="ja-JP" altLang="en-US" dirty="0">
              <a:solidFill>
                <a:schemeClr val="tx1">
                  <a:lumMod val="65000"/>
                  <a:lumOff val="35000"/>
                </a:schemeClr>
              </a:solidFill>
              <a:latin typeface="Consolas" panose="020B0609020204030204" pitchFamily="49" charset="0"/>
            </a:endParaRPr>
          </a:p>
        </p:txBody>
      </p:sp>
      <p:sp>
        <p:nvSpPr>
          <p:cNvPr id="5" name="正方形/長方形 4">
            <a:extLst>
              <a:ext uri="{FF2B5EF4-FFF2-40B4-BE49-F238E27FC236}">
                <a16:creationId xmlns:a16="http://schemas.microsoft.com/office/drawing/2014/main" id="{D21B7AD7-F8D4-6A01-EDCE-328F0202958F}"/>
              </a:ext>
            </a:extLst>
          </p:cNvPr>
          <p:cNvSpPr/>
          <p:nvPr/>
        </p:nvSpPr>
        <p:spPr>
          <a:xfrm>
            <a:off x="3305971" y="5319021"/>
            <a:ext cx="450005" cy="369332"/>
          </a:xfrm>
          <a:prstGeom prst="rect">
            <a:avLst/>
          </a:prstGeom>
        </p:spPr>
        <p:txBody>
          <a:bodyPr wrap="square">
            <a:spAutoFit/>
          </a:bodyPr>
          <a:lstStyle/>
          <a:p>
            <a:pPr algn="ctr"/>
            <a:r>
              <a:rPr lang="en-US" altLang="ja-JP" dirty="0">
                <a:solidFill>
                  <a:schemeClr val="tx1">
                    <a:lumMod val="65000"/>
                    <a:lumOff val="35000"/>
                  </a:schemeClr>
                </a:solidFill>
                <a:latin typeface="Consolas" panose="020B0609020204030204" pitchFamily="49" charset="0"/>
              </a:rPr>
              <a:t>i1</a:t>
            </a:r>
            <a:endParaRPr lang="ja-JP" altLang="en-US" dirty="0">
              <a:solidFill>
                <a:schemeClr val="tx1">
                  <a:lumMod val="65000"/>
                  <a:lumOff val="35000"/>
                </a:schemeClr>
              </a:solidFill>
              <a:latin typeface="Consolas" panose="020B0609020204030204" pitchFamily="49" charset="0"/>
            </a:endParaRPr>
          </a:p>
        </p:txBody>
      </p:sp>
      <p:sp>
        <p:nvSpPr>
          <p:cNvPr id="6" name="正方形/長方形 5">
            <a:extLst>
              <a:ext uri="{FF2B5EF4-FFF2-40B4-BE49-F238E27FC236}">
                <a16:creationId xmlns:a16="http://schemas.microsoft.com/office/drawing/2014/main" id="{F609AB30-20CB-3AFA-CED6-EB0EE6FA6C57}"/>
              </a:ext>
            </a:extLst>
          </p:cNvPr>
          <p:cNvSpPr/>
          <p:nvPr/>
        </p:nvSpPr>
        <p:spPr>
          <a:xfrm>
            <a:off x="3305971" y="5769026"/>
            <a:ext cx="450005" cy="369332"/>
          </a:xfrm>
          <a:prstGeom prst="rect">
            <a:avLst/>
          </a:prstGeom>
        </p:spPr>
        <p:txBody>
          <a:bodyPr wrap="square">
            <a:spAutoFit/>
          </a:bodyPr>
          <a:lstStyle/>
          <a:p>
            <a:pPr algn="ctr"/>
            <a:r>
              <a:rPr lang="en-US" altLang="ja-JP" dirty="0">
                <a:solidFill>
                  <a:schemeClr val="tx1">
                    <a:lumMod val="65000"/>
                    <a:lumOff val="35000"/>
                  </a:schemeClr>
                </a:solidFill>
                <a:latin typeface="Consolas" panose="020B0609020204030204" pitchFamily="49" charset="0"/>
              </a:rPr>
              <a:t>i2</a:t>
            </a:r>
            <a:endParaRPr lang="ja-JP" altLang="en-US" dirty="0">
              <a:solidFill>
                <a:schemeClr val="tx1">
                  <a:lumMod val="65000"/>
                  <a:lumOff val="35000"/>
                </a:schemeClr>
              </a:solidFill>
              <a:latin typeface="Consolas" panose="020B0609020204030204" pitchFamily="49" charset="0"/>
            </a:endParaRPr>
          </a:p>
        </p:txBody>
      </p:sp>
      <p:sp>
        <p:nvSpPr>
          <p:cNvPr id="7" name="Rectangle 69">
            <a:extLst>
              <a:ext uri="{FF2B5EF4-FFF2-40B4-BE49-F238E27FC236}">
                <a16:creationId xmlns:a16="http://schemas.microsoft.com/office/drawing/2014/main" id="{99FB822A-658E-8086-B3CF-9E1DF5D55A38}"/>
              </a:ext>
            </a:extLst>
          </p:cNvPr>
          <p:cNvSpPr>
            <a:spLocks noChangeArrowheads="1"/>
          </p:cNvSpPr>
          <p:nvPr/>
        </p:nvSpPr>
        <p:spPr bwMode="auto">
          <a:xfrm>
            <a:off x="3935978" y="4869016"/>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latin typeface="+mn-lt"/>
                <a:ea typeface="+mn-ea"/>
              </a:rPr>
              <a:t>P</a:t>
            </a:r>
          </a:p>
        </p:txBody>
      </p:sp>
      <p:sp>
        <p:nvSpPr>
          <p:cNvPr id="8" name="Rectangle 70">
            <a:extLst>
              <a:ext uri="{FF2B5EF4-FFF2-40B4-BE49-F238E27FC236}">
                <a16:creationId xmlns:a16="http://schemas.microsoft.com/office/drawing/2014/main" id="{F0DD16DE-F9C0-8A32-BB27-32D7B93D11F4}"/>
              </a:ext>
            </a:extLst>
          </p:cNvPr>
          <p:cNvSpPr>
            <a:spLocks noChangeArrowheads="1"/>
          </p:cNvSpPr>
          <p:nvPr/>
        </p:nvSpPr>
        <p:spPr bwMode="auto">
          <a:xfrm>
            <a:off x="4385981" y="4869016"/>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latin typeface="+mn-lt"/>
                <a:ea typeface="+mn-ea"/>
              </a:rPr>
              <a:t>F</a:t>
            </a:r>
          </a:p>
        </p:txBody>
      </p:sp>
      <p:sp>
        <p:nvSpPr>
          <p:cNvPr id="9" name="Rectangle 71">
            <a:extLst>
              <a:ext uri="{FF2B5EF4-FFF2-40B4-BE49-F238E27FC236}">
                <a16:creationId xmlns:a16="http://schemas.microsoft.com/office/drawing/2014/main" id="{10A7C56C-252F-B413-D99A-C7FBC987FBCE}"/>
              </a:ext>
            </a:extLst>
          </p:cNvPr>
          <p:cNvSpPr>
            <a:spLocks noChangeArrowheads="1"/>
          </p:cNvSpPr>
          <p:nvPr/>
        </p:nvSpPr>
        <p:spPr bwMode="auto">
          <a:xfrm>
            <a:off x="4835987" y="4869016"/>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dirty="0">
              <a:latin typeface="+mn-lt"/>
              <a:ea typeface="+mn-ea"/>
            </a:endParaRPr>
          </a:p>
        </p:txBody>
      </p:sp>
      <p:sp>
        <p:nvSpPr>
          <p:cNvPr id="10" name="Rectangle 72">
            <a:extLst>
              <a:ext uri="{FF2B5EF4-FFF2-40B4-BE49-F238E27FC236}">
                <a16:creationId xmlns:a16="http://schemas.microsoft.com/office/drawing/2014/main" id="{EB5C8C81-A2CA-61F1-0C75-B53C29B7B7D7}"/>
              </a:ext>
            </a:extLst>
          </p:cNvPr>
          <p:cNvSpPr>
            <a:spLocks noChangeArrowheads="1"/>
          </p:cNvSpPr>
          <p:nvPr/>
        </p:nvSpPr>
        <p:spPr bwMode="auto">
          <a:xfrm>
            <a:off x="5285991" y="4869016"/>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dirty="0">
              <a:latin typeface="+mn-lt"/>
              <a:ea typeface="+mn-ea"/>
            </a:endParaRPr>
          </a:p>
        </p:txBody>
      </p:sp>
      <p:sp>
        <p:nvSpPr>
          <p:cNvPr id="11" name="Rectangle 73">
            <a:extLst>
              <a:ext uri="{FF2B5EF4-FFF2-40B4-BE49-F238E27FC236}">
                <a16:creationId xmlns:a16="http://schemas.microsoft.com/office/drawing/2014/main" id="{F776424D-473F-AF3F-DA8F-E69D6F8B1157}"/>
              </a:ext>
            </a:extLst>
          </p:cNvPr>
          <p:cNvSpPr>
            <a:spLocks noChangeArrowheads="1"/>
          </p:cNvSpPr>
          <p:nvPr/>
        </p:nvSpPr>
        <p:spPr bwMode="auto">
          <a:xfrm>
            <a:off x="5735997" y="4869016"/>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dirty="0">
              <a:latin typeface="+mn-lt"/>
              <a:ea typeface="+mn-ea"/>
            </a:endParaRPr>
          </a:p>
        </p:txBody>
      </p:sp>
      <p:cxnSp>
        <p:nvCxnSpPr>
          <p:cNvPr id="22" name="直線矢印コネクタ 21">
            <a:extLst>
              <a:ext uri="{FF2B5EF4-FFF2-40B4-BE49-F238E27FC236}">
                <a16:creationId xmlns:a16="http://schemas.microsoft.com/office/drawing/2014/main" id="{42E871FA-D3E7-4779-5146-4E8249639DC2}"/>
              </a:ext>
            </a:extLst>
          </p:cNvPr>
          <p:cNvCxnSpPr>
            <a:cxnSpLocks/>
          </p:cNvCxnSpPr>
          <p:nvPr/>
        </p:nvCxnSpPr>
        <p:spPr bwMode="auto">
          <a:xfrm>
            <a:off x="4205980" y="5139019"/>
            <a:ext cx="720008" cy="720008"/>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cxnSp>
        <p:nvCxnSpPr>
          <p:cNvPr id="23" name="直線矢印コネクタ 22">
            <a:extLst>
              <a:ext uri="{FF2B5EF4-FFF2-40B4-BE49-F238E27FC236}">
                <a16:creationId xmlns:a16="http://schemas.microsoft.com/office/drawing/2014/main" id="{CB2D8EBA-C269-5C8C-1BC4-78B5E7E37D6C}"/>
              </a:ext>
            </a:extLst>
          </p:cNvPr>
          <p:cNvCxnSpPr/>
          <p:nvPr/>
        </p:nvCxnSpPr>
        <p:spPr bwMode="auto">
          <a:xfrm>
            <a:off x="4745985" y="5589024"/>
            <a:ext cx="270003" cy="270003"/>
          </a:xfrm>
          <a:prstGeom prst="straightConnector1">
            <a:avLst/>
          </a:prstGeom>
          <a:ln>
            <a:headEnd type="none" w="med" len="med"/>
            <a:tailEnd type="triangle"/>
          </a:ln>
        </p:spPr>
        <p:style>
          <a:lnRef idx="2">
            <a:schemeClr val="accent6"/>
          </a:lnRef>
          <a:fillRef idx="0">
            <a:schemeClr val="accent6"/>
          </a:fillRef>
          <a:effectRef idx="1">
            <a:schemeClr val="accent6"/>
          </a:effectRef>
          <a:fontRef idx="minor">
            <a:schemeClr val="tx1"/>
          </a:fontRef>
        </p:style>
      </p:cxnSp>
    </p:spTree>
    <p:extLst>
      <p:ext uri="{BB962C8B-B14F-4D97-AF65-F5344CB8AC3E}">
        <p14:creationId xmlns:p14="http://schemas.microsoft.com/office/powerpoint/2010/main" val="2114826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BEEADE3-B9C8-A089-93D2-F438953D407D}"/>
              </a:ext>
            </a:extLst>
          </p:cNvPr>
          <p:cNvSpPr>
            <a:spLocks noGrp="1"/>
          </p:cNvSpPr>
          <p:nvPr>
            <p:ph type="title"/>
          </p:nvPr>
        </p:nvSpPr>
        <p:spPr/>
        <p:txBody>
          <a:bodyPr/>
          <a:lstStyle/>
          <a:p>
            <a:r>
              <a:rPr lang="en-US" altLang="ja-JP" dirty="0"/>
              <a:t>Decoupled frontend</a:t>
            </a:r>
            <a:r>
              <a:rPr lang="ja-JP" altLang="en-US" dirty="0"/>
              <a:t>（右側）</a:t>
            </a:r>
            <a:endParaRPr kumimoji="1" lang="ja-JP" altLang="en-US" dirty="0"/>
          </a:p>
        </p:txBody>
      </p:sp>
      <p:sp>
        <p:nvSpPr>
          <p:cNvPr id="3" name="テキスト プレースホルダー 2">
            <a:extLst>
              <a:ext uri="{FF2B5EF4-FFF2-40B4-BE49-F238E27FC236}">
                <a16:creationId xmlns:a16="http://schemas.microsoft.com/office/drawing/2014/main" id="{84D1D827-D558-1FD7-0C6D-DA9DD2C05A59}"/>
              </a:ext>
            </a:extLst>
          </p:cNvPr>
          <p:cNvSpPr>
            <a:spLocks noGrp="1"/>
          </p:cNvSpPr>
          <p:nvPr>
            <p:ph type="body" sz="quarter" idx="10"/>
          </p:nvPr>
        </p:nvSpPr>
        <p:spPr>
          <a:xfrm>
            <a:off x="1145945" y="5589024"/>
            <a:ext cx="10170113" cy="360004"/>
          </a:xfrm>
        </p:spPr>
        <p:txBody>
          <a:bodyPr/>
          <a:lstStyle/>
          <a:p>
            <a:r>
              <a:rPr lang="ja-JP" altLang="en-US" dirty="0"/>
              <a:t>分岐予測器と命令キャッシュは非同期に動く</a:t>
            </a:r>
            <a:endParaRPr lang="en-US" altLang="ja-JP" dirty="0"/>
          </a:p>
          <a:p>
            <a:pPr lvl="1"/>
            <a:r>
              <a:rPr lang="ja-JP" altLang="en-US" dirty="0"/>
              <a:t>分岐予測器はヒットミスに関係なく常にアドレスを生成し，キューイング</a:t>
            </a:r>
            <a:endParaRPr lang="en-US" altLang="ja-JP" dirty="0"/>
          </a:p>
          <a:p>
            <a:pPr lvl="1"/>
            <a:r>
              <a:rPr lang="ja-JP" altLang="en-US" dirty="0"/>
              <a:t>タグアクセスをしてヒットミス確認をし，ミスなら </a:t>
            </a:r>
            <a:r>
              <a:rPr lang="en-US" altLang="ja-JP" dirty="0"/>
              <a:t>L2 </a:t>
            </a:r>
            <a:r>
              <a:rPr lang="ja-JP" altLang="en-US" dirty="0"/>
              <a:t>にリクエスト</a:t>
            </a:r>
            <a:endParaRPr lang="en-US" altLang="ja-JP" dirty="0"/>
          </a:p>
          <a:p>
            <a:pPr lvl="2"/>
            <a:r>
              <a:rPr lang="en-US" altLang="ja-JP" dirty="0"/>
              <a:t>L2 </a:t>
            </a:r>
            <a:r>
              <a:rPr lang="ja-JP" altLang="en-US" dirty="0"/>
              <a:t>から届くのを待たずに後続の処理を続行</a:t>
            </a:r>
          </a:p>
          <a:p>
            <a:pPr lvl="1"/>
            <a:r>
              <a:rPr lang="ja-JP" altLang="en-US" dirty="0"/>
              <a:t>命令の読み出しは </a:t>
            </a:r>
            <a:r>
              <a:rPr lang="en-US" altLang="ja-JP" dirty="0"/>
              <a:t>in-order </a:t>
            </a:r>
            <a:r>
              <a:rPr lang="ja-JP" altLang="en-US" dirty="0"/>
              <a:t>にバッファないしはキャッシュから行う</a:t>
            </a:r>
            <a:endParaRPr kumimoji="1" lang="ja-JP" altLang="en-US" dirty="0"/>
          </a:p>
        </p:txBody>
      </p:sp>
      <p:grpSp>
        <p:nvGrpSpPr>
          <p:cNvPr id="4" name="グループ化 3">
            <a:extLst>
              <a:ext uri="{FF2B5EF4-FFF2-40B4-BE49-F238E27FC236}">
                <a16:creationId xmlns:a16="http://schemas.microsoft.com/office/drawing/2014/main" id="{66B34445-B597-D25E-A440-EAAC14CE1F85}"/>
              </a:ext>
            </a:extLst>
          </p:cNvPr>
          <p:cNvGrpSpPr/>
          <p:nvPr/>
        </p:nvGrpSpPr>
        <p:grpSpPr>
          <a:xfrm>
            <a:off x="1145945" y="3969005"/>
            <a:ext cx="1562400" cy="576064"/>
            <a:chOff x="971600" y="5445224"/>
            <a:chExt cx="7200800" cy="576064"/>
          </a:xfrm>
        </p:grpSpPr>
        <p:sp>
          <p:nvSpPr>
            <p:cNvPr id="5" name="平行四辺形 4">
              <a:extLst>
                <a:ext uri="{FF2B5EF4-FFF2-40B4-BE49-F238E27FC236}">
                  <a16:creationId xmlns:a16="http://schemas.microsoft.com/office/drawing/2014/main" id="{F4A8FEF7-05D9-79F6-E5AC-A32D9F70B526}"/>
                </a:ext>
              </a:extLst>
            </p:cNvPr>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 name="平行四辺形 5">
              <a:extLst>
                <a:ext uri="{FF2B5EF4-FFF2-40B4-BE49-F238E27FC236}">
                  <a16:creationId xmlns:a16="http://schemas.microsoft.com/office/drawing/2014/main" id="{4D58695B-1A8B-937C-0292-154EB39450A6}"/>
                </a:ext>
              </a:extLst>
            </p:cNvPr>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 name="グループ化 6">
            <a:extLst>
              <a:ext uri="{FF2B5EF4-FFF2-40B4-BE49-F238E27FC236}">
                <a16:creationId xmlns:a16="http://schemas.microsoft.com/office/drawing/2014/main" id="{7A851870-58BC-F44B-7E35-D3B5C69BE98C}"/>
              </a:ext>
            </a:extLst>
          </p:cNvPr>
          <p:cNvGrpSpPr/>
          <p:nvPr/>
        </p:nvGrpSpPr>
        <p:grpSpPr>
          <a:xfrm>
            <a:off x="2586105" y="3969005"/>
            <a:ext cx="1562400" cy="576064"/>
            <a:chOff x="971600" y="5445224"/>
            <a:chExt cx="7200800" cy="576064"/>
          </a:xfrm>
        </p:grpSpPr>
        <p:sp>
          <p:nvSpPr>
            <p:cNvPr id="8" name="平行四辺形 7">
              <a:extLst>
                <a:ext uri="{FF2B5EF4-FFF2-40B4-BE49-F238E27FC236}">
                  <a16:creationId xmlns:a16="http://schemas.microsoft.com/office/drawing/2014/main" id="{FE44ADA7-CEF7-FFE1-C3C1-8810A92B93BD}"/>
                </a:ext>
              </a:extLst>
            </p:cNvPr>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 name="平行四辺形 8">
              <a:extLst>
                <a:ext uri="{FF2B5EF4-FFF2-40B4-BE49-F238E27FC236}">
                  <a16:creationId xmlns:a16="http://schemas.microsoft.com/office/drawing/2014/main" id="{0A18CC00-8656-F321-F6FB-35928AA301CD}"/>
                </a:ext>
              </a:extLst>
            </p:cNvPr>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0" name="正方形/長方形 9">
            <a:extLst>
              <a:ext uri="{FF2B5EF4-FFF2-40B4-BE49-F238E27FC236}">
                <a16:creationId xmlns:a16="http://schemas.microsoft.com/office/drawing/2014/main" id="{3DD54DF7-6D66-6433-E268-3260803CEA7C}"/>
              </a:ext>
            </a:extLst>
          </p:cNvPr>
          <p:cNvSpPr/>
          <p:nvPr/>
        </p:nvSpPr>
        <p:spPr>
          <a:xfrm>
            <a:off x="1107785" y="3104462"/>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1" name="正方形/長方形 10">
            <a:extLst>
              <a:ext uri="{FF2B5EF4-FFF2-40B4-BE49-F238E27FC236}">
                <a16:creationId xmlns:a16="http://schemas.microsoft.com/office/drawing/2014/main" id="{0B719605-0E13-34DB-0C5F-F9364C704413}"/>
              </a:ext>
            </a:extLst>
          </p:cNvPr>
          <p:cNvSpPr/>
          <p:nvPr/>
        </p:nvSpPr>
        <p:spPr>
          <a:xfrm>
            <a:off x="2547945" y="3104462"/>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2" name="角丸四角形 23">
            <a:extLst>
              <a:ext uri="{FF2B5EF4-FFF2-40B4-BE49-F238E27FC236}">
                <a16:creationId xmlns:a16="http://schemas.microsoft.com/office/drawing/2014/main" id="{3C6FA6E3-E469-F905-4B4B-1077F908A231}"/>
              </a:ext>
            </a:extLst>
          </p:cNvPr>
          <p:cNvSpPr/>
          <p:nvPr/>
        </p:nvSpPr>
        <p:spPr bwMode="auto">
          <a:xfrm>
            <a:off x="1415948" y="3789003"/>
            <a:ext cx="1170013" cy="540006"/>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sz="1400" dirty="0">
                <a:latin typeface="Arial Narrow" panose="020B0606020202030204" pitchFamily="34" charset="0"/>
              </a:rPr>
              <a:t>PC</a:t>
            </a:r>
          </a:p>
          <a:p>
            <a:pPr algn="ctr"/>
            <a:r>
              <a:rPr lang="ja-JP" altLang="en-US" sz="1400" dirty="0">
                <a:latin typeface="Arial Narrow" panose="020B0606020202030204" pitchFamily="34" charset="0"/>
              </a:rPr>
              <a:t>次</a:t>
            </a:r>
            <a:r>
              <a:rPr lang="en-US" altLang="ja-JP" sz="1400" dirty="0">
                <a:latin typeface="Arial Narrow" panose="020B0606020202030204" pitchFamily="34" charset="0"/>
              </a:rPr>
              <a:t>PC (</a:t>
            </a:r>
            <a:r>
              <a:rPr lang="ja-JP" altLang="en-US" sz="1400" dirty="0">
                <a:latin typeface="Arial Narrow" panose="020B0606020202030204" pitchFamily="34" charset="0"/>
              </a:rPr>
              <a:t>予測</a:t>
            </a:r>
            <a:r>
              <a:rPr lang="en-US" altLang="ja-JP" sz="1400" dirty="0">
                <a:latin typeface="Arial Narrow" panose="020B0606020202030204" pitchFamily="34" charset="0"/>
              </a:rPr>
              <a:t>)</a:t>
            </a:r>
            <a:endParaRPr lang="ja-JP" altLang="en-US" sz="1400" dirty="0">
              <a:latin typeface="Arial Narrow" panose="020B0606020202030204" pitchFamily="34" charset="0"/>
            </a:endParaRPr>
          </a:p>
        </p:txBody>
      </p:sp>
      <p:sp>
        <p:nvSpPr>
          <p:cNvPr id="13" name="Rectangle 13">
            <a:extLst>
              <a:ext uri="{FF2B5EF4-FFF2-40B4-BE49-F238E27FC236}">
                <a16:creationId xmlns:a16="http://schemas.microsoft.com/office/drawing/2014/main" id="{0326BB3E-A868-3C43-288F-36709C89F343}"/>
              </a:ext>
            </a:extLst>
          </p:cNvPr>
          <p:cNvSpPr>
            <a:spLocks noChangeArrowheads="1"/>
          </p:cNvSpPr>
          <p:nvPr/>
        </p:nvSpPr>
        <p:spPr bwMode="auto">
          <a:xfrm>
            <a:off x="1595950" y="2528990"/>
            <a:ext cx="720725" cy="360362"/>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tx1">
                    <a:lumMod val="75000"/>
                    <a:lumOff val="25000"/>
                  </a:schemeClr>
                </a:solidFill>
                <a:latin typeface="+mn-ea"/>
                <a:ea typeface="+mn-ea"/>
              </a:rPr>
              <a:t>PC</a:t>
            </a:r>
            <a:endParaRPr lang="ja-JP" altLang="en-US" b="1" dirty="0">
              <a:solidFill>
                <a:schemeClr val="tx1">
                  <a:lumMod val="75000"/>
                  <a:lumOff val="25000"/>
                </a:schemeClr>
              </a:solidFill>
              <a:latin typeface="+mn-ea"/>
              <a:ea typeface="+mn-ea"/>
            </a:endParaRPr>
          </a:p>
        </p:txBody>
      </p:sp>
      <p:cxnSp>
        <p:nvCxnSpPr>
          <p:cNvPr id="14" name="直線矢印コネクタ 13">
            <a:extLst>
              <a:ext uri="{FF2B5EF4-FFF2-40B4-BE49-F238E27FC236}">
                <a16:creationId xmlns:a16="http://schemas.microsoft.com/office/drawing/2014/main" id="{32AD5A6E-2974-0B62-5FBB-D0ECF1DF51CA}"/>
              </a:ext>
            </a:extLst>
          </p:cNvPr>
          <p:cNvCxnSpPr>
            <a:cxnSpLocks/>
            <a:endCxn id="19" idx="1"/>
          </p:cNvCxnSpPr>
          <p:nvPr/>
        </p:nvCxnSpPr>
        <p:spPr bwMode="auto">
          <a:xfrm>
            <a:off x="2315958" y="2708992"/>
            <a:ext cx="450005" cy="0"/>
          </a:xfrm>
          <a:prstGeom prst="straightConnector1">
            <a:avLst/>
          </a:prstGeom>
          <a:ln>
            <a:solidFill>
              <a:schemeClr val="accent1"/>
            </a:solidFill>
            <a:headEnd type="none" w="sm" len="sm"/>
            <a:tailEnd type="triangle" w="lg" len="lg"/>
          </a:ln>
        </p:spPr>
        <p:style>
          <a:lnRef idx="2">
            <a:schemeClr val="accent4"/>
          </a:lnRef>
          <a:fillRef idx="0">
            <a:schemeClr val="accent4"/>
          </a:fillRef>
          <a:effectRef idx="1">
            <a:schemeClr val="accent4"/>
          </a:effectRef>
          <a:fontRef idx="minor">
            <a:schemeClr val="tx1"/>
          </a:fontRef>
        </p:style>
      </p:cxnSp>
      <p:sp>
        <p:nvSpPr>
          <p:cNvPr id="15" name="Freeform 10">
            <a:extLst>
              <a:ext uri="{FF2B5EF4-FFF2-40B4-BE49-F238E27FC236}">
                <a16:creationId xmlns:a16="http://schemas.microsoft.com/office/drawing/2014/main" id="{28C9A91E-3AAD-CE75-AA92-18A2FA81F843}"/>
              </a:ext>
            </a:extLst>
          </p:cNvPr>
          <p:cNvSpPr>
            <a:spLocks/>
          </p:cNvSpPr>
          <p:nvPr/>
        </p:nvSpPr>
        <p:spPr bwMode="auto">
          <a:xfrm rot="16200000" flipV="1">
            <a:off x="470938" y="1583980"/>
            <a:ext cx="1530017" cy="72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accent1"/>
            </a:solidFill>
            <a:headEnd type="triangle" w="lg" len="lg"/>
            <a:tailEnd type="none" w="med" len="med"/>
          </a:ln>
        </p:spPr>
        <p:style>
          <a:lnRef idx="2">
            <a:schemeClr val="accent4"/>
          </a:lnRef>
          <a:fillRef idx="0">
            <a:schemeClr val="accent4"/>
          </a:fillRef>
          <a:effectRef idx="1">
            <a:schemeClr val="accent4"/>
          </a:effectRef>
          <a:fontRef idx="minor">
            <a:schemeClr val="tx1"/>
          </a:fontRef>
        </p:style>
        <p:txBody>
          <a:bodyPr/>
          <a:lstStyle/>
          <a:p>
            <a:endParaRPr lang="ja-JP" altLang="en-US">
              <a:latin typeface="+mn-ea"/>
              <a:cs typeface="Times New Roman" pitchFamily="18" charset="0"/>
            </a:endParaRPr>
          </a:p>
        </p:txBody>
      </p:sp>
      <p:sp>
        <p:nvSpPr>
          <p:cNvPr id="16" name="Rectangle 154">
            <a:extLst>
              <a:ext uri="{FF2B5EF4-FFF2-40B4-BE49-F238E27FC236}">
                <a16:creationId xmlns:a16="http://schemas.microsoft.com/office/drawing/2014/main" id="{58CD6E66-656B-FFB6-ED2B-6104B12291E7}"/>
              </a:ext>
            </a:extLst>
          </p:cNvPr>
          <p:cNvSpPr>
            <a:spLocks noChangeArrowheads="1"/>
          </p:cNvSpPr>
          <p:nvPr/>
        </p:nvSpPr>
        <p:spPr bwMode="auto">
          <a:xfrm>
            <a:off x="1325947" y="1448978"/>
            <a:ext cx="1170013" cy="720008"/>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ja-JP" altLang="en-US" sz="1600" dirty="0">
                <a:latin typeface="+mn-ea"/>
                <a:ea typeface="+mn-ea"/>
              </a:rPr>
              <a:t>分岐予測器</a:t>
            </a:r>
          </a:p>
        </p:txBody>
      </p:sp>
      <p:sp>
        <p:nvSpPr>
          <p:cNvPr id="17" name="Freeform 10">
            <a:extLst>
              <a:ext uri="{FF2B5EF4-FFF2-40B4-BE49-F238E27FC236}">
                <a16:creationId xmlns:a16="http://schemas.microsoft.com/office/drawing/2014/main" id="{931FC9E9-4E27-5B73-C61B-8E332888D041}"/>
              </a:ext>
            </a:extLst>
          </p:cNvPr>
          <p:cNvSpPr>
            <a:spLocks/>
          </p:cNvSpPr>
          <p:nvPr/>
        </p:nvSpPr>
        <p:spPr bwMode="auto">
          <a:xfrm rot="5400000" flipV="1">
            <a:off x="1280945" y="773971"/>
            <a:ext cx="270005" cy="1080012"/>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accent1"/>
            </a:solidFill>
            <a:headEnd type="none" w="lg" len="lg"/>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a:latin typeface="+mn-ea"/>
              <a:cs typeface="Times New Roman" pitchFamily="18" charset="0"/>
            </a:endParaRPr>
          </a:p>
        </p:txBody>
      </p:sp>
      <p:sp>
        <p:nvSpPr>
          <p:cNvPr id="19" name="Rectangle 154">
            <a:extLst>
              <a:ext uri="{FF2B5EF4-FFF2-40B4-BE49-F238E27FC236}">
                <a16:creationId xmlns:a16="http://schemas.microsoft.com/office/drawing/2014/main" id="{C0AA258C-8A17-CBFB-02FF-A7B2F67C191A}"/>
              </a:ext>
            </a:extLst>
          </p:cNvPr>
          <p:cNvSpPr>
            <a:spLocks noChangeArrowheads="1"/>
          </p:cNvSpPr>
          <p:nvPr/>
        </p:nvSpPr>
        <p:spPr bwMode="auto">
          <a:xfrm>
            <a:off x="2765963" y="2348988"/>
            <a:ext cx="1170013" cy="720008"/>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ja-JP" altLang="en-US" sz="1600" dirty="0">
                <a:latin typeface="+mn-ea"/>
              </a:rPr>
              <a:t>命令</a:t>
            </a:r>
            <a:endParaRPr lang="en-US" altLang="ja-JP" sz="1600" dirty="0">
              <a:latin typeface="+mn-ea"/>
            </a:endParaRPr>
          </a:p>
          <a:p>
            <a:pPr algn="ctr"/>
            <a:r>
              <a:rPr lang="ja-JP" altLang="en-US" sz="1600" dirty="0">
                <a:latin typeface="+mn-ea"/>
              </a:rPr>
              <a:t>キャッシュ</a:t>
            </a:r>
          </a:p>
        </p:txBody>
      </p:sp>
      <p:cxnSp>
        <p:nvCxnSpPr>
          <p:cNvPr id="20" name="直線矢印コネクタ 19">
            <a:extLst>
              <a:ext uri="{FF2B5EF4-FFF2-40B4-BE49-F238E27FC236}">
                <a16:creationId xmlns:a16="http://schemas.microsoft.com/office/drawing/2014/main" id="{9C6BA6A4-8888-7A25-309E-3C0E78D0A0A4}"/>
              </a:ext>
            </a:extLst>
          </p:cNvPr>
          <p:cNvCxnSpPr>
            <a:cxnSpLocks/>
          </p:cNvCxnSpPr>
          <p:nvPr/>
        </p:nvCxnSpPr>
        <p:spPr bwMode="auto">
          <a:xfrm>
            <a:off x="3935975" y="2708992"/>
            <a:ext cx="270004" cy="0"/>
          </a:xfrm>
          <a:prstGeom prst="straightConnector1">
            <a:avLst/>
          </a:prstGeom>
          <a:ln>
            <a:headEnd type="none" w="sm" len="sm"/>
            <a:tailEnd type="triangle" w="lg" len="lg"/>
          </a:ln>
        </p:spPr>
        <p:style>
          <a:lnRef idx="2">
            <a:schemeClr val="accent3"/>
          </a:lnRef>
          <a:fillRef idx="0">
            <a:schemeClr val="accent3"/>
          </a:fillRef>
          <a:effectRef idx="1">
            <a:schemeClr val="accent3"/>
          </a:effectRef>
          <a:fontRef idx="minor">
            <a:schemeClr val="tx1"/>
          </a:fontRef>
        </p:style>
      </p:cxnSp>
      <p:cxnSp>
        <p:nvCxnSpPr>
          <p:cNvPr id="21" name="直線矢印コネクタ 20">
            <a:extLst>
              <a:ext uri="{FF2B5EF4-FFF2-40B4-BE49-F238E27FC236}">
                <a16:creationId xmlns:a16="http://schemas.microsoft.com/office/drawing/2014/main" id="{715C9F43-BE2E-1C84-11F5-79E0B975E113}"/>
              </a:ext>
            </a:extLst>
          </p:cNvPr>
          <p:cNvCxnSpPr>
            <a:cxnSpLocks/>
          </p:cNvCxnSpPr>
          <p:nvPr/>
        </p:nvCxnSpPr>
        <p:spPr bwMode="auto">
          <a:xfrm flipV="1">
            <a:off x="1955954" y="2168986"/>
            <a:ext cx="0" cy="360004"/>
          </a:xfrm>
          <a:prstGeom prst="straightConnector1">
            <a:avLst/>
          </a:prstGeom>
          <a:ln>
            <a:solidFill>
              <a:schemeClr val="accent1"/>
            </a:solidFill>
            <a:headEnd type="none" w="sm" len="sm"/>
            <a:tailEnd type="triangle" w="lg" len="lg"/>
          </a:ln>
        </p:spPr>
        <p:style>
          <a:lnRef idx="2">
            <a:schemeClr val="accent4"/>
          </a:lnRef>
          <a:fillRef idx="0">
            <a:schemeClr val="accent4"/>
          </a:fillRef>
          <a:effectRef idx="1">
            <a:schemeClr val="accent4"/>
          </a:effectRef>
          <a:fontRef idx="minor">
            <a:schemeClr val="tx1"/>
          </a:fontRef>
        </p:style>
      </p:cxnSp>
      <p:sp>
        <p:nvSpPr>
          <p:cNvPr id="22" name="角丸四角形 23">
            <a:extLst>
              <a:ext uri="{FF2B5EF4-FFF2-40B4-BE49-F238E27FC236}">
                <a16:creationId xmlns:a16="http://schemas.microsoft.com/office/drawing/2014/main" id="{364469F9-8288-1CB6-E2E8-AB8A266A3463}"/>
              </a:ext>
            </a:extLst>
          </p:cNvPr>
          <p:cNvSpPr/>
          <p:nvPr/>
        </p:nvSpPr>
        <p:spPr bwMode="auto">
          <a:xfrm>
            <a:off x="2765963" y="3789004"/>
            <a:ext cx="1170013" cy="540006"/>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sz="1400" dirty="0">
                <a:latin typeface="Arial Narrow" panose="020B0606020202030204" pitchFamily="34" charset="0"/>
              </a:rPr>
              <a:t>命令</a:t>
            </a:r>
          </a:p>
        </p:txBody>
      </p:sp>
      <p:grpSp>
        <p:nvGrpSpPr>
          <p:cNvPr id="23" name="グループ化 22">
            <a:extLst>
              <a:ext uri="{FF2B5EF4-FFF2-40B4-BE49-F238E27FC236}">
                <a16:creationId xmlns:a16="http://schemas.microsoft.com/office/drawing/2014/main" id="{9BE323C2-A74F-CF61-5650-15139CABFFD9}"/>
              </a:ext>
            </a:extLst>
          </p:cNvPr>
          <p:cNvGrpSpPr/>
          <p:nvPr/>
        </p:nvGrpSpPr>
        <p:grpSpPr>
          <a:xfrm>
            <a:off x="5915998" y="3969005"/>
            <a:ext cx="1562400" cy="576064"/>
            <a:chOff x="971600" y="5445224"/>
            <a:chExt cx="7200800" cy="576064"/>
          </a:xfrm>
        </p:grpSpPr>
        <p:sp>
          <p:nvSpPr>
            <p:cNvPr id="24" name="平行四辺形 23">
              <a:extLst>
                <a:ext uri="{FF2B5EF4-FFF2-40B4-BE49-F238E27FC236}">
                  <a16:creationId xmlns:a16="http://schemas.microsoft.com/office/drawing/2014/main" id="{6441BA41-C895-2FFF-803E-DE7D4451EEB9}"/>
                </a:ext>
              </a:extLst>
            </p:cNvPr>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5" name="平行四辺形 24">
              <a:extLst>
                <a:ext uri="{FF2B5EF4-FFF2-40B4-BE49-F238E27FC236}">
                  <a16:creationId xmlns:a16="http://schemas.microsoft.com/office/drawing/2014/main" id="{49CFE9D3-E2B4-ED58-1C62-631030FF9375}"/>
                </a:ext>
              </a:extLst>
            </p:cNvPr>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6" name="グループ化 25">
            <a:extLst>
              <a:ext uri="{FF2B5EF4-FFF2-40B4-BE49-F238E27FC236}">
                <a16:creationId xmlns:a16="http://schemas.microsoft.com/office/drawing/2014/main" id="{BE4FF883-4DF1-7A12-63C3-76AE3434D0A8}"/>
              </a:ext>
            </a:extLst>
          </p:cNvPr>
          <p:cNvGrpSpPr/>
          <p:nvPr/>
        </p:nvGrpSpPr>
        <p:grpSpPr>
          <a:xfrm>
            <a:off x="9156034" y="4059007"/>
            <a:ext cx="1562400" cy="576064"/>
            <a:chOff x="971600" y="5445224"/>
            <a:chExt cx="7200800" cy="576064"/>
          </a:xfrm>
        </p:grpSpPr>
        <p:sp>
          <p:nvSpPr>
            <p:cNvPr id="27" name="平行四辺形 26">
              <a:extLst>
                <a:ext uri="{FF2B5EF4-FFF2-40B4-BE49-F238E27FC236}">
                  <a16:creationId xmlns:a16="http://schemas.microsoft.com/office/drawing/2014/main" id="{D20E37C3-06B6-A0DC-0054-DF8E3F8102AD}"/>
                </a:ext>
              </a:extLst>
            </p:cNvPr>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8" name="平行四辺形 27">
              <a:extLst>
                <a:ext uri="{FF2B5EF4-FFF2-40B4-BE49-F238E27FC236}">
                  <a16:creationId xmlns:a16="http://schemas.microsoft.com/office/drawing/2014/main" id="{CD33E3B3-A8B6-335E-0028-6761D71069CE}"/>
                </a:ext>
              </a:extLst>
            </p:cNvPr>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29" name="正方形/長方形 28">
            <a:extLst>
              <a:ext uri="{FF2B5EF4-FFF2-40B4-BE49-F238E27FC236}">
                <a16:creationId xmlns:a16="http://schemas.microsoft.com/office/drawing/2014/main" id="{63CF1209-7366-27A0-1871-A983AB58D326}"/>
              </a:ext>
            </a:extLst>
          </p:cNvPr>
          <p:cNvSpPr/>
          <p:nvPr/>
        </p:nvSpPr>
        <p:spPr>
          <a:xfrm>
            <a:off x="5877838" y="3104462"/>
            <a:ext cx="1568177"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0" name="正方形/長方形 29">
            <a:extLst>
              <a:ext uri="{FF2B5EF4-FFF2-40B4-BE49-F238E27FC236}">
                <a16:creationId xmlns:a16="http://schemas.microsoft.com/office/drawing/2014/main" id="{ABCAB938-0523-432A-D36F-F459268463D7}"/>
              </a:ext>
            </a:extLst>
          </p:cNvPr>
          <p:cNvSpPr/>
          <p:nvPr/>
        </p:nvSpPr>
        <p:spPr>
          <a:xfrm>
            <a:off x="9117874" y="3194464"/>
            <a:ext cx="1838180"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ﾔﾔｺｼｲ</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1" name="角丸四角形 23">
            <a:extLst>
              <a:ext uri="{FF2B5EF4-FFF2-40B4-BE49-F238E27FC236}">
                <a16:creationId xmlns:a16="http://schemas.microsoft.com/office/drawing/2014/main" id="{A673BAB4-3919-9D48-FBAA-7DE40FB68E8E}"/>
              </a:ext>
            </a:extLst>
          </p:cNvPr>
          <p:cNvSpPr/>
          <p:nvPr/>
        </p:nvSpPr>
        <p:spPr bwMode="auto">
          <a:xfrm>
            <a:off x="6186001" y="3789003"/>
            <a:ext cx="1170013" cy="540006"/>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sz="1400" dirty="0">
                <a:latin typeface="Arial Narrow" panose="020B0606020202030204" pitchFamily="34" charset="0"/>
              </a:rPr>
              <a:t>PC</a:t>
            </a:r>
          </a:p>
          <a:p>
            <a:pPr algn="ctr"/>
            <a:r>
              <a:rPr lang="ja-JP" altLang="en-US" sz="1400" dirty="0">
                <a:latin typeface="Arial Narrow" panose="020B0606020202030204" pitchFamily="34" charset="0"/>
              </a:rPr>
              <a:t>次</a:t>
            </a:r>
            <a:r>
              <a:rPr lang="en-US" altLang="ja-JP" sz="1400" dirty="0">
                <a:latin typeface="Arial Narrow" panose="020B0606020202030204" pitchFamily="34" charset="0"/>
              </a:rPr>
              <a:t>PC (</a:t>
            </a:r>
            <a:r>
              <a:rPr lang="ja-JP" altLang="en-US" sz="1400" dirty="0">
                <a:latin typeface="Arial Narrow" panose="020B0606020202030204" pitchFamily="34" charset="0"/>
              </a:rPr>
              <a:t>予測</a:t>
            </a:r>
            <a:r>
              <a:rPr lang="en-US" altLang="ja-JP" sz="1400" dirty="0">
                <a:latin typeface="Arial Narrow" panose="020B0606020202030204" pitchFamily="34" charset="0"/>
              </a:rPr>
              <a:t>)</a:t>
            </a:r>
            <a:endParaRPr lang="ja-JP" altLang="en-US" sz="1400" dirty="0">
              <a:latin typeface="Arial Narrow" panose="020B0606020202030204" pitchFamily="34" charset="0"/>
            </a:endParaRPr>
          </a:p>
        </p:txBody>
      </p:sp>
      <p:sp>
        <p:nvSpPr>
          <p:cNvPr id="32" name="Rectangle 13">
            <a:extLst>
              <a:ext uri="{FF2B5EF4-FFF2-40B4-BE49-F238E27FC236}">
                <a16:creationId xmlns:a16="http://schemas.microsoft.com/office/drawing/2014/main" id="{AC4074CD-8986-ECE0-E15C-C75640B8F86B}"/>
              </a:ext>
            </a:extLst>
          </p:cNvPr>
          <p:cNvSpPr>
            <a:spLocks noChangeArrowheads="1"/>
          </p:cNvSpPr>
          <p:nvPr/>
        </p:nvSpPr>
        <p:spPr bwMode="auto">
          <a:xfrm>
            <a:off x="6366003" y="2528990"/>
            <a:ext cx="720725" cy="360362"/>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tx1">
                    <a:lumMod val="75000"/>
                    <a:lumOff val="25000"/>
                  </a:schemeClr>
                </a:solidFill>
                <a:latin typeface="+mn-ea"/>
                <a:ea typeface="+mn-ea"/>
              </a:rPr>
              <a:t>PC</a:t>
            </a:r>
            <a:endParaRPr lang="ja-JP" altLang="en-US" b="1" dirty="0">
              <a:solidFill>
                <a:schemeClr val="tx1">
                  <a:lumMod val="75000"/>
                  <a:lumOff val="25000"/>
                </a:schemeClr>
              </a:solidFill>
              <a:latin typeface="+mn-ea"/>
              <a:ea typeface="+mn-ea"/>
            </a:endParaRPr>
          </a:p>
        </p:txBody>
      </p:sp>
      <p:cxnSp>
        <p:nvCxnSpPr>
          <p:cNvPr id="33" name="直線矢印コネクタ 32">
            <a:extLst>
              <a:ext uri="{FF2B5EF4-FFF2-40B4-BE49-F238E27FC236}">
                <a16:creationId xmlns:a16="http://schemas.microsoft.com/office/drawing/2014/main" id="{001ED416-D65E-3C55-F0B0-9EABC2569638}"/>
              </a:ext>
            </a:extLst>
          </p:cNvPr>
          <p:cNvCxnSpPr>
            <a:cxnSpLocks/>
            <a:endCxn id="38" idx="1"/>
          </p:cNvCxnSpPr>
          <p:nvPr/>
        </p:nvCxnSpPr>
        <p:spPr bwMode="auto">
          <a:xfrm>
            <a:off x="8886031" y="2708992"/>
            <a:ext cx="450005" cy="0"/>
          </a:xfrm>
          <a:prstGeom prst="straightConnector1">
            <a:avLst/>
          </a:prstGeom>
          <a:ln>
            <a:headEnd type="none" w="sm" len="sm"/>
            <a:tailEnd type="triangle" w="lg" len="lg"/>
          </a:ln>
        </p:spPr>
        <p:style>
          <a:lnRef idx="2">
            <a:schemeClr val="accent5"/>
          </a:lnRef>
          <a:fillRef idx="0">
            <a:schemeClr val="accent5"/>
          </a:fillRef>
          <a:effectRef idx="1">
            <a:schemeClr val="accent5"/>
          </a:effectRef>
          <a:fontRef idx="minor">
            <a:schemeClr val="tx1"/>
          </a:fontRef>
        </p:style>
      </p:cxnSp>
      <p:sp>
        <p:nvSpPr>
          <p:cNvPr id="34" name="Freeform 10">
            <a:extLst>
              <a:ext uri="{FF2B5EF4-FFF2-40B4-BE49-F238E27FC236}">
                <a16:creationId xmlns:a16="http://schemas.microsoft.com/office/drawing/2014/main" id="{95C85166-462D-9EBE-EFBC-9CF18097DD12}"/>
              </a:ext>
            </a:extLst>
          </p:cNvPr>
          <p:cNvSpPr>
            <a:spLocks/>
          </p:cNvSpPr>
          <p:nvPr/>
        </p:nvSpPr>
        <p:spPr bwMode="auto">
          <a:xfrm rot="16200000" flipV="1">
            <a:off x="5240991" y="1583980"/>
            <a:ext cx="1530017" cy="72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accent1"/>
            </a:solidFill>
            <a:headEnd type="triangle" w="lg" len="lg"/>
            <a:tailEnd type="none" w="med" len="med"/>
          </a:ln>
        </p:spPr>
        <p:style>
          <a:lnRef idx="2">
            <a:schemeClr val="accent4"/>
          </a:lnRef>
          <a:fillRef idx="0">
            <a:schemeClr val="accent4"/>
          </a:fillRef>
          <a:effectRef idx="1">
            <a:schemeClr val="accent4"/>
          </a:effectRef>
          <a:fontRef idx="minor">
            <a:schemeClr val="tx1"/>
          </a:fontRef>
        </p:style>
        <p:txBody>
          <a:bodyPr/>
          <a:lstStyle/>
          <a:p>
            <a:endParaRPr lang="ja-JP" altLang="en-US">
              <a:latin typeface="+mn-ea"/>
              <a:cs typeface="Times New Roman" pitchFamily="18" charset="0"/>
            </a:endParaRPr>
          </a:p>
        </p:txBody>
      </p:sp>
      <p:sp>
        <p:nvSpPr>
          <p:cNvPr id="35" name="Rectangle 154">
            <a:extLst>
              <a:ext uri="{FF2B5EF4-FFF2-40B4-BE49-F238E27FC236}">
                <a16:creationId xmlns:a16="http://schemas.microsoft.com/office/drawing/2014/main" id="{4DA62994-A882-D4A3-BC0D-3D6820D8131C}"/>
              </a:ext>
            </a:extLst>
          </p:cNvPr>
          <p:cNvSpPr>
            <a:spLocks noChangeArrowheads="1"/>
          </p:cNvSpPr>
          <p:nvPr/>
        </p:nvSpPr>
        <p:spPr bwMode="auto">
          <a:xfrm>
            <a:off x="6096000" y="1448978"/>
            <a:ext cx="1170013" cy="720008"/>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r>
              <a:rPr lang="ja-JP" altLang="en-US" sz="1600" dirty="0">
                <a:latin typeface="+mn-ea"/>
                <a:ea typeface="+mn-ea"/>
              </a:rPr>
              <a:t>分岐予測器</a:t>
            </a:r>
          </a:p>
        </p:txBody>
      </p:sp>
      <p:sp>
        <p:nvSpPr>
          <p:cNvPr id="36" name="Freeform 10">
            <a:extLst>
              <a:ext uri="{FF2B5EF4-FFF2-40B4-BE49-F238E27FC236}">
                <a16:creationId xmlns:a16="http://schemas.microsoft.com/office/drawing/2014/main" id="{792817F2-E07B-1BE8-485F-804FF292003A}"/>
              </a:ext>
            </a:extLst>
          </p:cNvPr>
          <p:cNvSpPr>
            <a:spLocks/>
          </p:cNvSpPr>
          <p:nvPr/>
        </p:nvSpPr>
        <p:spPr bwMode="auto">
          <a:xfrm rot="5400000" flipV="1">
            <a:off x="6050998" y="773971"/>
            <a:ext cx="270005" cy="1080012"/>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solidFill>
              <a:schemeClr val="accent1"/>
            </a:solidFill>
            <a:headEnd type="none" w="lg" len="lg"/>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a:latin typeface="+mn-ea"/>
              <a:cs typeface="Times New Roman" pitchFamily="18" charset="0"/>
            </a:endParaRPr>
          </a:p>
        </p:txBody>
      </p:sp>
      <p:sp>
        <p:nvSpPr>
          <p:cNvPr id="37" name="Rectangle 133">
            <a:extLst>
              <a:ext uri="{FF2B5EF4-FFF2-40B4-BE49-F238E27FC236}">
                <a16:creationId xmlns:a16="http://schemas.microsoft.com/office/drawing/2014/main" id="{AE4718CF-5A7D-BFA9-EAAC-275397AC6DD5}"/>
              </a:ext>
            </a:extLst>
          </p:cNvPr>
          <p:cNvSpPr>
            <a:spLocks noChangeArrowheads="1"/>
          </p:cNvSpPr>
          <p:nvPr/>
        </p:nvSpPr>
        <p:spPr bwMode="auto">
          <a:xfrm>
            <a:off x="7446015" y="1178975"/>
            <a:ext cx="2880032" cy="450005"/>
          </a:xfrm>
          <a:prstGeom prst="rect">
            <a:avLst/>
          </a:prstGeom>
          <a:noFill/>
          <a:ln w="12700">
            <a:noFill/>
            <a:miter lim="800000"/>
            <a:headEnd/>
            <a:tailEnd/>
          </a:ln>
          <a:effectLst/>
        </p:spPr>
        <p:txBody>
          <a:bodyPr wrap="none" lIns="93600" tIns="46800" rIns="93600" bIns="46800" anchor="t"/>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en-US" altLang="ja-JP" dirty="0">
                <a:solidFill>
                  <a:schemeClr val="tx1">
                    <a:lumMod val="75000"/>
                    <a:lumOff val="25000"/>
                  </a:schemeClr>
                </a:solidFill>
                <a:latin typeface="+mn-ea"/>
                <a:ea typeface="+mn-ea"/>
              </a:rPr>
              <a:t>FTQ </a:t>
            </a:r>
            <a:r>
              <a:rPr lang="ja-JP" altLang="en-US" dirty="0">
                <a:solidFill>
                  <a:schemeClr val="tx1">
                    <a:lumMod val="75000"/>
                    <a:lumOff val="25000"/>
                  </a:schemeClr>
                </a:solidFill>
                <a:latin typeface="+mn-ea"/>
                <a:ea typeface="+mn-ea"/>
              </a:rPr>
              <a:t>で分離されている</a:t>
            </a:r>
            <a:endParaRPr lang="en-US" altLang="ja-JP" dirty="0">
              <a:solidFill>
                <a:schemeClr val="tx1">
                  <a:lumMod val="75000"/>
                  <a:lumOff val="25000"/>
                </a:schemeClr>
              </a:solidFill>
              <a:latin typeface="+mn-ea"/>
              <a:ea typeface="+mn-ea"/>
            </a:endParaRPr>
          </a:p>
        </p:txBody>
      </p:sp>
      <p:sp>
        <p:nvSpPr>
          <p:cNvPr id="38" name="Rectangle 154">
            <a:extLst>
              <a:ext uri="{FF2B5EF4-FFF2-40B4-BE49-F238E27FC236}">
                <a16:creationId xmlns:a16="http://schemas.microsoft.com/office/drawing/2014/main" id="{8BA7A01B-881B-C209-278F-10CB7F5846DB}"/>
              </a:ext>
            </a:extLst>
          </p:cNvPr>
          <p:cNvSpPr>
            <a:spLocks noChangeArrowheads="1"/>
          </p:cNvSpPr>
          <p:nvPr/>
        </p:nvSpPr>
        <p:spPr bwMode="auto">
          <a:xfrm>
            <a:off x="9336036" y="2348988"/>
            <a:ext cx="1170013" cy="720008"/>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ja-JP" altLang="en-US" sz="1600" dirty="0">
                <a:latin typeface="+mn-ea"/>
              </a:rPr>
              <a:t>命令</a:t>
            </a:r>
            <a:endParaRPr lang="en-US" altLang="ja-JP" sz="1600" dirty="0">
              <a:latin typeface="+mn-ea"/>
            </a:endParaRPr>
          </a:p>
          <a:p>
            <a:pPr algn="ctr"/>
            <a:r>
              <a:rPr lang="ja-JP" altLang="en-US" sz="1600" dirty="0">
                <a:latin typeface="+mn-ea"/>
              </a:rPr>
              <a:t>キャッシュ</a:t>
            </a:r>
            <a:endParaRPr lang="en-US" altLang="ja-JP" sz="1600" dirty="0">
              <a:latin typeface="+mn-ea"/>
            </a:endParaRPr>
          </a:p>
          <a:p>
            <a:pPr algn="ctr"/>
            <a:r>
              <a:rPr lang="ja-JP" altLang="en-US" sz="1600" dirty="0">
                <a:latin typeface="+mn-ea"/>
              </a:rPr>
              <a:t>データ</a:t>
            </a:r>
          </a:p>
        </p:txBody>
      </p:sp>
      <p:cxnSp>
        <p:nvCxnSpPr>
          <p:cNvPr id="39" name="直線矢印コネクタ 38">
            <a:extLst>
              <a:ext uri="{FF2B5EF4-FFF2-40B4-BE49-F238E27FC236}">
                <a16:creationId xmlns:a16="http://schemas.microsoft.com/office/drawing/2014/main" id="{8C3C404D-9D03-D7F6-88A7-F7264C50C5A3}"/>
              </a:ext>
            </a:extLst>
          </p:cNvPr>
          <p:cNvCxnSpPr>
            <a:cxnSpLocks/>
          </p:cNvCxnSpPr>
          <p:nvPr/>
        </p:nvCxnSpPr>
        <p:spPr bwMode="auto">
          <a:xfrm>
            <a:off x="10506048" y="2708992"/>
            <a:ext cx="270004" cy="0"/>
          </a:xfrm>
          <a:prstGeom prst="straightConnector1">
            <a:avLst/>
          </a:prstGeom>
          <a:ln>
            <a:headEnd type="none" w="sm" len="sm"/>
            <a:tailEnd type="triangle" w="lg" len="lg"/>
          </a:ln>
        </p:spPr>
        <p:style>
          <a:lnRef idx="2">
            <a:schemeClr val="accent3"/>
          </a:lnRef>
          <a:fillRef idx="0">
            <a:schemeClr val="accent3"/>
          </a:fillRef>
          <a:effectRef idx="1">
            <a:schemeClr val="accent3"/>
          </a:effectRef>
          <a:fontRef idx="minor">
            <a:schemeClr val="tx1"/>
          </a:fontRef>
        </p:style>
      </p:cxnSp>
      <p:cxnSp>
        <p:nvCxnSpPr>
          <p:cNvPr id="40" name="直線矢印コネクタ 39">
            <a:extLst>
              <a:ext uri="{FF2B5EF4-FFF2-40B4-BE49-F238E27FC236}">
                <a16:creationId xmlns:a16="http://schemas.microsoft.com/office/drawing/2014/main" id="{788AA4AD-272E-B29A-6A3D-1B918E1463D2}"/>
              </a:ext>
            </a:extLst>
          </p:cNvPr>
          <p:cNvCxnSpPr>
            <a:cxnSpLocks/>
          </p:cNvCxnSpPr>
          <p:nvPr/>
        </p:nvCxnSpPr>
        <p:spPr bwMode="auto">
          <a:xfrm flipV="1">
            <a:off x="6726007" y="2168986"/>
            <a:ext cx="0" cy="360004"/>
          </a:xfrm>
          <a:prstGeom prst="straightConnector1">
            <a:avLst/>
          </a:prstGeom>
          <a:ln>
            <a:solidFill>
              <a:schemeClr val="accent1"/>
            </a:solidFill>
            <a:headEnd type="none" w="sm" len="sm"/>
            <a:tailEnd type="triangle" w="lg" len="lg"/>
          </a:ln>
        </p:spPr>
        <p:style>
          <a:lnRef idx="2">
            <a:schemeClr val="accent4"/>
          </a:lnRef>
          <a:fillRef idx="0">
            <a:schemeClr val="accent4"/>
          </a:fillRef>
          <a:effectRef idx="1">
            <a:schemeClr val="accent4"/>
          </a:effectRef>
          <a:fontRef idx="minor">
            <a:schemeClr val="tx1"/>
          </a:fontRef>
        </p:style>
      </p:cxnSp>
      <p:sp>
        <p:nvSpPr>
          <p:cNvPr id="41" name="角丸四角形 23">
            <a:extLst>
              <a:ext uri="{FF2B5EF4-FFF2-40B4-BE49-F238E27FC236}">
                <a16:creationId xmlns:a16="http://schemas.microsoft.com/office/drawing/2014/main" id="{99D4CBA2-6985-5272-4DF3-902BE97C3201}"/>
              </a:ext>
            </a:extLst>
          </p:cNvPr>
          <p:cNvSpPr/>
          <p:nvPr/>
        </p:nvSpPr>
        <p:spPr bwMode="auto">
          <a:xfrm>
            <a:off x="9335892" y="3879006"/>
            <a:ext cx="1170013" cy="540006"/>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sz="1400" dirty="0">
                <a:latin typeface="Arial Narrow" panose="020B0606020202030204" pitchFamily="34" charset="0"/>
              </a:rPr>
              <a:t>命令</a:t>
            </a:r>
          </a:p>
        </p:txBody>
      </p:sp>
      <p:cxnSp>
        <p:nvCxnSpPr>
          <p:cNvPr id="42" name="直線矢印コネクタ 41">
            <a:extLst>
              <a:ext uri="{FF2B5EF4-FFF2-40B4-BE49-F238E27FC236}">
                <a16:creationId xmlns:a16="http://schemas.microsoft.com/office/drawing/2014/main" id="{0B4CEEB7-28C0-0C5F-E7C7-08F2EC71C90F}"/>
              </a:ext>
            </a:extLst>
          </p:cNvPr>
          <p:cNvCxnSpPr>
            <a:cxnSpLocks/>
            <a:endCxn id="43" idx="1"/>
          </p:cNvCxnSpPr>
          <p:nvPr/>
        </p:nvCxnSpPr>
        <p:spPr bwMode="auto">
          <a:xfrm>
            <a:off x="7086011" y="2708992"/>
            <a:ext cx="630007" cy="0"/>
          </a:xfrm>
          <a:prstGeom prst="straightConnector1">
            <a:avLst/>
          </a:prstGeom>
          <a:ln>
            <a:solidFill>
              <a:schemeClr val="accent1"/>
            </a:solidFill>
            <a:headEnd type="none" w="sm" len="sm"/>
            <a:tailEnd type="triangle" w="lg" len="lg"/>
          </a:ln>
        </p:spPr>
        <p:style>
          <a:lnRef idx="2">
            <a:schemeClr val="accent4"/>
          </a:lnRef>
          <a:fillRef idx="0">
            <a:schemeClr val="accent4"/>
          </a:fillRef>
          <a:effectRef idx="1">
            <a:schemeClr val="accent4"/>
          </a:effectRef>
          <a:fontRef idx="minor">
            <a:schemeClr val="tx1"/>
          </a:fontRef>
        </p:style>
      </p:cxnSp>
      <p:sp>
        <p:nvSpPr>
          <p:cNvPr id="43" name="Rectangle 154">
            <a:extLst>
              <a:ext uri="{FF2B5EF4-FFF2-40B4-BE49-F238E27FC236}">
                <a16:creationId xmlns:a16="http://schemas.microsoft.com/office/drawing/2014/main" id="{654D5964-62D2-6C19-DBBC-8A2EABED1499}"/>
              </a:ext>
            </a:extLst>
          </p:cNvPr>
          <p:cNvSpPr>
            <a:spLocks noChangeArrowheads="1"/>
          </p:cNvSpPr>
          <p:nvPr/>
        </p:nvSpPr>
        <p:spPr bwMode="auto">
          <a:xfrm>
            <a:off x="7716018" y="2348988"/>
            <a:ext cx="1170013" cy="720008"/>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ea typeface="+mn-ea"/>
              </a:rPr>
              <a:t>Fetch Target </a:t>
            </a:r>
          </a:p>
          <a:p>
            <a:pPr algn="ctr"/>
            <a:r>
              <a:rPr lang="en-US" altLang="ja-JP" sz="1600" dirty="0">
                <a:latin typeface="+mn-ea"/>
                <a:ea typeface="+mn-ea"/>
              </a:rPr>
              <a:t>Queue (FTQ)</a:t>
            </a:r>
            <a:endParaRPr lang="ja-JP" altLang="en-US" sz="1600" dirty="0">
              <a:latin typeface="+mn-ea"/>
              <a:ea typeface="+mn-ea"/>
            </a:endParaRPr>
          </a:p>
        </p:txBody>
      </p:sp>
      <p:sp>
        <p:nvSpPr>
          <p:cNvPr id="44" name="Rectangle 154">
            <a:extLst>
              <a:ext uri="{FF2B5EF4-FFF2-40B4-BE49-F238E27FC236}">
                <a16:creationId xmlns:a16="http://schemas.microsoft.com/office/drawing/2014/main" id="{11C05B66-C48C-37CA-DF35-FD206D3BDC20}"/>
              </a:ext>
            </a:extLst>
          </p:cNvPr>
          <p:cNvSpPr>
            <a:spLocks noChangeArrowheads="1"/>
          </p:cNvSpPr>
          <p:nvPr/>
        </p:nvSpPr>
        <p:spPr bwMode="auto">
          <a:xfrm>
            <a:off x="7716018" y="3338999"/>
            <a:ext cx="1170013" cy="720008"/>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ja-JP" altLang="en-US" sz="1600" dirty="0">
                <a:latin typeface="+mn-ea"/>
              </a:rPr>
              <a:t>命令</a:t>
            </a:r>
            <a:endParaRPr lang="en-US" altLang="ja-JP" sz="1600" dirty="0">
              <a:latin typeface="+mn-ea"/>
            </a:endParaRPr>
          </a:p>
          <a:p>
            <a:pPr algn="ctr"/>
            <a:r>
              <a:rPr lang="ja-JP" altLang="en-US" sz="1600" dirty="0">
                <a:latin typeface="+mn-ea"/>
              </a:rPr>
              <a:t>キャッシュ</a:t>
            </a:r>
            <a:endParaRPr lang="en-US" altLang="ja-JP" sz="1600" dirty="0">
              <a:latin typeface="+mn-ea"/>
            </a:endParaRPr>
          </a:p>
          <a:p>
            <a:pPr algn="ctr"/>
            <a:r>
              <a:rPr lang="ja-JP" altLang="en-US" sz="1600" dirty="0">
                <a:latin typeface="+mn-ea"/>
              </a:rPr>
              <a:t>タグ</a:t>
            </a:r>
          </a:p>
        </p:txBody>
      </p:sp>
      <p:sp>
        <p:nvSpPr>
          <p:cNvPr id="46" name="Rectangle 154">
            <a:extLst>
              <a:ext uri="{FF2B5EF4-FFF2-40B4-BE49-F238E27FC236}">
                <a16:creationId xmlns:a16="http://schemas.microsoft.com/office/drawing/2014/main" id="{4E81C2D1-9708-2EE2-2F45-4B6123313231}"/>
              </a:ext>
            </a:extLst>
          </p:cNvPr>
          <p:cNvSpPr>
            <a:spLocks noChangeArrowheads="1"/>
          </p:cNvSpPr>
          <p:nvPr/>
        </p:nvSpPr>
        <p:spPr bwMode="auto">
          <a:xfrm>
            <a:off x="7716018" y="4329010"/>
            <a:ext cx="1170013" cy="720008"/>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sz="1600" dirty="0">
                <a:latin typeface="+mn-ea"/>
              </a:rPr>
              <a:t>L2</a:t>
            </a:r>
            <a:br>
              <a:rPr lang="en-US" altLang="ja-JP" sz="1600" dirty="0">
                <a:latin typeface="+mn-ea"/>
              </a:rPr>
            </a:br>
            <a:r>
              <a:rPr lang="ja-JP" altLang="en-US" sz="1600" dirty="0">
                <a:latin typeface="+mn-ea"/>
              </a:rPr>
              <a:t>キャッシュ</a:t>
            </a:r>
          </a:p>
        </p:txBody>
      </p:sp>
      <p:cxnSp>
        <p:nvCxnSpPr>
          <p:cNvPr id="47" name="直線矢印コネクタ 46">
            <a:extLst>
              <a:ext uri="{FF2B5EF4-FFF2-40B4-BE49-F238E27FC236}">
                <a16:creationId xmlns:a16="http://schemas.microsoft.com/office/drawing/2014/main" id="{DB3D1BD8-88AA-5720-E1E5-90A1BB79C8A0}"/>
              </a:ext>
            </a:extLst>
          </p:cNvPr>
          <p:cNvCxnSpPr>
            <a:cxnSpLocks/>
            <a:stCxn id="43" idx="2"/>
            <a:endCxn id="44" idx="0"/>
          </p:cNvCxnSpPr>
          <p:nvPr/>
        </p:nvCxnSpPr>
        <p:spPr bwMode="auto">
          <a:xfrm>
            <a:off x="8301025" y="3068996"/>
            <a:ext cx="0" cy="270003"/>
          </a:xfrm>
          <a:prstGeom prst="straightConnector1">
            <a:avLst/>
          </a:prstGeom>
          <a:ln>
            <a:headEnd type="none" w="sm" len="sm"/>
            <a:tailEnd type="triangle" w="lg" len="lg"/>
          </a:ln>
        </p:spPr>
        <p:style>
          <a:lnRef idx="2">
            <a:schemeClr val="accent5"/>
          </a:lnRef>
          <a:fillRef idx="0">
            <a:schemeClr val="accent5"/>
          </a:fillRef>
          <a:effectRef idx="1">
            <a:schemeClr val="accent5"/>
          </a:effectRef>
          <a:fontRef idx="minor">
            <a:schemeClr val="tx1"/>
          </a:fontRef>
        </p:style>
      </p:cxnSp>
      <p:cxnSp>
        <p:nvCxnSpPr>
          <p:cNvPr id="50" name="直線矢印コネクタ 49">
            <a:extLst>
              <a:ext uri="{FF2B5EF4-FFF2-40B4-BE49-F238E27FC236}">
                <a16:creationId xmlns:a16="http://schemas.microsoft.com/office/drawing/2014/main" id="{B11F9D89-316F-4849-15F9-61916973C6D6}"/>
              </a:ext>
            </a:extLst>
          </p:cNvPr>
          <p:cNvCxnSpPr>
            <a:cxnSpLocks/>
          </p:cNvCxnSpPr>
          <p:nvPr/>
        </p:nvCxnSpPr>
        <p:spPr bwMode="auto">
          <a:xfrm>
            <a:off x="8346025" y="4059007"/>
            <a:ext cx="0" cy="270003"/>
          </a:xfrm>
          <a:prstGeom prst="straightConnector1">
            <a:avLst/>
          </a:prstGeom>
          <a:ln>
            <a:headEnd type="none" w="sm" len="sm"/>
            <a:tailEnd type="triangle" w="lg" len="lg"/>
          </a:ln>
        </p:spPr>
        <p:style>
          <a:lnRef idx="2">
            <a:schemeClr val="accent5"/>
          </a:lnRef>
          <a:fillRef idx="0">
            <a:schemeClr val="accent5"/>
          </a:fillRef>
          <a:effectRef idx="1">
            <a:schemeClr val="accent5"/>
          </a:effectRef>
          <a:fontRef idx="minor">
            <a:schemeClr val="tx1"/>
          </a:fontRef>
        </p:style>
      </p:cxnSp>
      <p:sp>
        <p:nvSpPr>
          <p:cNvPr id="51" name="正方形/長方形 50">
            <a:extLst>
              <a:ext uri="{FF2B5EF4-FFF2-40B4-BE49-F238E27FC236}">
                <a16:creationId xmlns:a16="http://schemas.microsoft.com/office/drawing/2014/main" id="{687290E1-377D-78AD-BB7A-01505CA1EB2B}"/>
              </a:ext>
            </a:extLst>
          </p:cNvPr>
          <p:cNvSpPr/>
          <p:nvPr/>
        </p:nvSpPr>
        <p:spPr>
          <a:xfrm>
            <a:off x="7896021" y="1538979"/>
            <a:ext cx="1260014" cy="738664"/>
          </a:xfrm>
          <a:prstGeom prst="rect">
            <a:avLst/>
          </a:prstGeom>
        </p:spPr>
        <p:txBody>
          <a:bodyPr wrap="square">
            <a:spAutoFit/>
          </a:bodyPr>
          <a:lstStyle/>
          <a:p>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w</a:t>
            </a:r>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 ミﾟ</a:t>
            </a:r>
            <a:r>
              <a:rPr lang="az-Cyrl-AZ" altLang="ja-JP"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az-Cyrl-AZ"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彡 ｷｭｰ</a:t>
            </a:r>
            <a:br>
              <a:rPr lang="en-US" altLang="ja-JP"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br>
            <a:r>
              <a:rPr lang="ja-JP" altLang="en-US" sz="1400" b="1" dirty="0">
                <a:solidFill>
                  <a:schemeClr val="accent5"/>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Tree>
    <p:extLst>
      <p:ext uri="{BB962C8B-B14F-4D97-AF65-F5344CB8AC3E}">
        <p14:creationId xmlns:p14="http://schemas.microsoft.com/office/powerpoint/2010/main" val="15987461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E4A890A-7977-546E-2E41-BB37F63489D3}"/>
              </a:ext>
            </a:extLst>
          </p:cNvPr>
          <p:cNvSpPr>
            <a:spLocks noGrp="1"/>
          </p:cNvSpPr>
          <p:nvPr>
            <p:ph type="title"/>
          </p:nvPr>
        </p:nvSpPr>
        <p:spPr/>
        <p:txBody>
          <a:bodyPr/>
          <a:lstStyle/>
          <a:p>
            <a:r>
              <a:rPr lang="en-US" altLang="ja-JP" dirty="0"/>
              <a:t>Decoupled frontend </a:t>
            </a:r>
            <a:r>
              <a:rPr lang="ja-JP" altLang="en-US" dirty="0"/>
              <a:t>の効果</a:t>
            </a:r>
            <a:endParaRPr kumimoji="1" lang="ja-JP" altLang="en-US" dirty="0"/>
          </a:p>
        </p:txBody>
      </p:sp>
      <p:sp>
        <p:nvSpPr>
          <p:cNvPr id="3" name="テキスト プレースホルダー 2">
            <a:extLst>
              <a:ext uri="{FF2B5EF4-FFF2-40B4-BE49-F238E27FC236}">
                <a16:creationId xmlns:a16="http://schemas.microsoft.com/office/drawing/2014/main" id="{ECA5AD53-98A6-5321-3813-B0BB58EE778A}"/>
              </a:ext>
            </a:extLst>
          </p:cNvPr>
          <p:cNvSpPr>
            <a:spLocks noGrp="1"/>
          </p:cNvSpPr>
          <p:nvPr>
            <p:ph type="body" sz="quarter" idx="10"/>
          </p:nvPr>
        </p:nvSpPr>
        <p:spPr>
          <a:xfrm>
            <a:off x="6636006" y="1358977"/>
            <a:ext cx="5040056" cy="4859747"/>
          </a:xfrm>
        </p:spPr>
        <p:txBody>
          <a:bodyPr anchor="t"/>
          <a:lstStyle/>
          <a:p>
            <a:r>
              <a:rPr lang="ja-JP" altLang="en-US" dirty="0"/>
              <a:t>通常のパイプライン：</a:t>
            </a:r>
            <a:r>
              <a:rPr lang="en-US" altLang="ja-JP" dirty="0"/>
              <a:t>L2 </a:t>
            </a:r>
            <a:r>
              <a:rPr lang="ja-JP" altLang="en-US" dirty="0"/>
              <a:t>が来るたびにバブルが入り全体がとまる</a:t>
            </a:r>
            <a:br>
              <a:rPr lang="en-US" altLang="ja-JP" dirty="0"/>
            </a:br>
            <a:br>
              <a:rPr lang="en-US" altLang="ja-JP" dirty="0"/>
            </a:br>
            <a:endParaRPr lang="en-US" altLang="ja-JP" dirty="0"/>
          </a:p>
          <a:p>
            <a:endParaRPr lang="en-US" altLang="ja-JP" dirty="0"/>
          </a:p>
          <a:p>
            <a:r>
              <a:rPr lang="en-US" altLang="ja-JP" dirty="0"/>
              <a:t>Decoupled frontend</a:t>
            </a:r>
          </a:p>
          <a:p>
            <a:pPr lvl="1"/>
            <a:r>
              <a:rPr lang="ja-JP" altLang="en-US" dirty="0"/>
              <a:t>予測（</a:t>
            </a:r>
            <a:r>
              <a:rPr kumimoji="1" lang="en-US" altLang="ja-JP" dirty="0"/>
              <a:t>P</a:t>
            </a:r>
            <a:r>
              <a:rPr lang="ja-JP" altLang="en-US" dirty="0"/>
              <a:t>）は常に動き続ける</a:t>
            </a:r>
            <a:endParaRPr lang="en-US" altLang="ja-JP" dirty="0"/>
          </a:p>
          <a:p>
            <a:pPr lvl="1"/>
            <a:r>
              <a:rPr kumimoji="1" lang="en-US" altLang="ja-JP" dirty="0"/>
              <a:t>L</a:t>
            </a:r>
            <a:r>
              <a:rPr lang="en-US" altLang="ja-JP" dirty="0"/>
              <a:t>2 </a:t>
            </a:r>
            <a:r>
              <a:rPr lang="ja-JP" altLang="en-US" dirty="0"/>
              <a:t>のキックを即座に開始でき，</a:t>
            </a:r>
            <a:br>
              <a:rPr lang="en-US" altLang="ja-JP" dirty="0"/>
            </a:br>
            <a:r>
              <a:rPr lang="en-US" altLang="ja-JP" dirty="0"/>
              <a:t>L2 </a:t>
            </a:r>
            <a:r>
              <a:rPr lang="ja-JP" altLang="en-US" dirty="0"/>
              <a:t>アクセスをオーバーラップできる</a:t>
            </a:r>
            <a:endParaRPr kumimoji="1" lang="ja-JP" altLang="en-US" dirty="0"/>
          </a:p>
        </p:txBody>
      </p:sp>
      <p:sp>
        <p:nvSpPr>
          <p:cNvPr id="85" name="Rectangle 69">
            <a:extLst>
              <a:ext uri="{FF2B5EF4-FFF2-40B4-BE49-F238E27FC236}">
                <a16:creationId xmlns:a16="http://schemas.microsoft.com/office/drawing/2014/main" id="{EC262E18-31A4-825F-3DA1-E60F83B27BCA}"/>
              </a:ext>
            </a:extLst>
          </p:cNvPr>
          <p:cNvSpPr>
            <a:spLocks noChangeArrowheads="1"/>
          </p:cNvSpPr>
          <p:nvPr/>
        </p:nvSpPr>
        <p:spPr bwMode="auto">
          <a:xfrm>
            <a:off x="605939" y="1448978"/>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latin typeface="+mn-lt"/>
                <a:ea typeface="+mn-ea"/>
              </a:rPr>
              <a:t>P</a:t>
            </a:r>
          </a:p>
        </p:txBody>
      </p:sp>
      <p:sp>
        <p:nvSpPr>
          <p:cNvPr id="86" name="Rectangle 70">
            <a:extLst>
              <a:ext uri="{FF2B5EF4-FFF2-40B4-BE49-F238E27FC236}">
                <a16:creationId xmlns:a16="http://schemas.microsoft.com/office/drawing/2014/main" id="{ED4BE3CF-ED9D-17FD-A27C-5B9FC85ACA16}"/>
              </a:ext>
            </a:extLst>
          </p:cNvPr>
          <p:cNvSpPr>
            <a:spLocks noChangeArrowheads="1"/>
          </p:cNvSpPr>
          <p:nvPr/>
        </p:nvSpPr>
        <p:spPr bwMode="auto">
          <a:xfrm>
            <a:off x="1055942" y="1448978"/>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latin typeface="+mn-lt"/>
                <a:ea typeface="+mn-ea"/>
              </a:rPr>
              <a:t>F</a:t>
            </a:r>
          </a:p>
        </p:txBody>
      </p:sp>
      <p:sp>
        <p:nvSpPr>
          <p:cNvPr id="87" name="Rectangle 71">
            <a:extLst>
              <a:ext uri="{FF2B5EF4-FFF2-40B4-BE49-F238E27FC236}">
                <a16:creationId xmlns:a16="http://schemas.microsoft.com/office/drawing/2014/main" id="{09DB7063-0A32-1C37-121C-656B0CA2EBD2}"/>
              </a:ext>
            </a:extLst>
          </p:cNvPr>
          <p:cNvSpPr>
            <a:spLocks noChangeArrowheads="1"/>
          </p:cNvSpPr>
          <p:nvPr/>
        </p:nvSpPr>
        <p:spPr bwMode="auto">
          <a:xfrm>
            <a:off x="1505948" y="1448978"/>
            <a:ext cx="450005" cy="360000"/>
          </a:xfrm>
          <a:prstGeom prst="rect">
            <a:avLst/>
          </a:prstGeom>
          <a:ln>
            <a:headEnd/>
            <a:tailEnd type="none" w="med" len="lg"/>
          </a:ln>
          <a:effectLst/>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dirty="0">
                <a:latin typeface="+mn-lt"/>
                <a:ea typeface="+mn-ea"/>
              </a:rPr>
              <a:t>L2</a:t>
            </a:r>
          </a:p>
        </p:txBody>
      </p:sp>
      <p:sp>
        <p:nvSpPr>
          <p:cNvPr id="88" name="Rectangle 72">
            <a:extLst>
              <a:ext uri="{FF2B5EF4-FFF2-40B4-BE49-F238E27FC236}">
                <a16:creationId xmlns:a16="http://schemas.microsoft.com/office/drawing/2014/main" id="{4620F2A5-9363-AB82-6294-1FE5D7BC3DF7}"/>
              </a:ext>
            </a:extLst>
          </p:cNvPr>
          <p:cNvSpPr>
            <a:spLocks noChangeArrowheads="1"/>
          </p:cNvSpPr>
          <p:nvPr/>
        </p:nvSpPr>
        <p:spPr bwMode="auto">
          <a:xfrm>
            <a:off x="1955952" y="1448978"/>
            <a:ext cx="450005" cy="360000"/>
          </a:xfrm>
          <a:prstGeom prst="rect">
            <a:avLst/>
          </a:prstGeom>
          <a:ln>
            <a:headEnd/>
            <a:tailEnd type="none" w="med" len="lg"/>
          </a:ln>
          <a:effectLst/>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dirty="0">
                <a:latin typeface="+mn-lt"/>
                <a:ea typeface="+mn-ea"/>
              </a:rPr>
              <a:t>L2</a:t>
            </a:r>
          </a:p>
        </p:txBody>
      </p:sp>
      <p:sp>
        <p:nvSpPr>
          <p:cNvPr id="89" name="Rectangle 73">
            <a:extLst>
              <a:ext uri="{FF2B5EF4-FFF2-40B4-BE49-F238E27FC236}">
                <a16:creationId xmlns:a16="http://schemas.microsoft.com/office/drawing/2014/main" id="{4ED50489-44FB-CC51-696F-0D4D6BA71792}"/>
              </a:ext>
            </a:extLst>
          </p:cNvPr>
          <p:cNvSpPr>
            <a:spLocks noChangeArrowheads="1"/>
          </p:cNvSpPr>
          <p:nvPr/>
        </p:nvSpPr>
        <p:spPr bwMode="auto">
          <a:xfrm>
            <a:off x="2855964" y="1448978"/>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dirty="0">
              <a:latin typeface="+mn-lt"/>
              <a:ea typeface="+mn-ea"/>
            </a:endParaRPr>
          </a:p>
        </p:txBody>
      </p:sp>
      <p:sp>
        <p:nvSpPr>
          <p:cNvPr id="90" name="Rectangle 69">
            <a:extLst>
              <a:ext uri="{FF2B5EF4-FFF2-40B4-BE49-F238E27FC236}">
                <a16:creationId xmlns:a16="http://schemas.microsoft.com/office/drawing/2014/main" id="{CFA6B8E7-6DBD-894C-3207-D6D53C7DA08D}"/>
              </a:ext>
            </a:extLst>
          </p:cNvPr>
          <p:cNvSpPr>
            <a:spLocks noChangeArrowheads="1"/>
          </p:cNvSpPr>
          <p:nvPr/>
        </p:nvSpPr>
        <p:spPr bwMode="auto">
          <a:xfrm>
            <a:off x="1055946" y="1898983"/>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latin typeface="+mn-lt"/>
                <a:ea typeface="+mn-ea"/>
              </a:rPr>
              <a:t>P</a:t>
            </a:r>
          </a:p>
        </p:txBody>
      </p:sp>
      <p:sp>
        <p:nvSpPr>
          <p:cNvPr id="91" name="Rectangle 70">
            <a:extLst>
              <a:ext uri="{FF2B5EF4-FFF2-40B4-BE49-F238E27FC236}">
                <a16:creationId xmlns:a16="http://schemas.microsoft.com/office/drawing/2014/main" id="{FC5520D1-06B8-74B1-2FC3-B9DA071A25D9}"/>
              </a:ext>
            </a:extLst>
          </p:cNvPr>
          <p:cNvSpPr>
            <a:spLocks noChangeArrowheads="1"/>
          </p:cNvSpPr>
          <p:nvPr/>
        </p:nvSpPr>
        <p:spPr bwMode="auto">
          <a:xfrm>
            <a:off x="2855965" y="1898983"/>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latin typeface="+mn-lt"/>
                <a:ea typeface="+mn-ea"/>
              </a:rPr>
              <a:t>F</a:t>
            </a:r>
          </a:p>
        </p:txBody>
      </p:sp>
      <p:sp>
        <p:nvSpPr>
          <p:cNvPr id="92" name="Rectangle 71">
            <a:extLst>
              <a:ext uri="{FF2B5EF4-FFF2-40B4-BE49-F238E27FC236}">
                <a16:creationId xmlns:a16="http://schemas.microsoft.com/office/drawing/2014/main" id="{1A8E4816-3F3C-3319-6114-C6F3DE0E40E3}"/>
              </a:ext>
            </a:extLst>
          </p:cNvPr>
          <p:cNvSpPr>
            <a:spLocks noChangeArrowheads="1"/>
          </p:cNvSpPr>
          <p:nvPr/>
        </p:nvSpPr>
        <p:spPr bwMode="auto">
          <a:xfrm>
            <a:off x="3305971" y="1898983"/>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dirty="0">
              <a:latin typeface="+mn-lt"/>
              <a:ea typeface="+mn-ea"/>
            </a:endParaRPr>
          </a:p>
        </p:txBody>
      </p:sp>
      <p:sp>
        <p:nvSpPr>
          <p:cNvPr id="93" name="Rectangle 72">
            <a:extLst>
              <a:ext uri="{FF2B5EF4-FFF2-40B4-BE49-F238E27FC236}">
                <a16:creationId xmlns:a16="http://schemas.microsoft.com/office/drawing/2014/main" id="{5430C925-24C1-1D45-1C8D-C31E1834ADE2}"/>
              </a:ext>
            </a:extLst>
          </p:cNvPr>
          <p:cNvSpPr>
            <a:spLocks noChangeArrowheads="1"/>
          </p:cNvSpPr>
          <p:nvPr/>
        </p:nvSpPr>
        <p:spPr bwMode="auto">
          <a:xfrm>
            <a:off x="3755975" y="1898983"/>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dirty="0">
              <a:latin typeface="+mn-lt"/>
              <a:ea typeface="+mn-ea"/>
            </a:endParaRPr>
          </a:p>
        </p:txBody>
      </p:sp>
      <p:sp>
        <p:nvSpPr>
          <p:cNvPr id="94" name="Rectangle 73">
            <a:extLst>
              <a:ext uri="{FF2B5EF4-FFF2-40B4-BE49-F238E27FC236}">
                <a16:creationId xmlns:a16="http://schemas.microsoft.com/office/drawing/2014/main" id="{42A312A8-0605-512B-452F-BA533954DFB4}"/>
              </a:ext>
            </a:extLst>
          </p:cNvPr>
          <p:cNvSpPr>
            <a:spLocks noChangeArrowheads="1"/>
          </p:cNvSpPr>
          <p:nvPr/>
        </p:nvSpPr>
        <p:spPr bwMode="auto">
          <a:xfrm>
            <a:off x="4205981" y="1898983"/>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dirty="0">
              <a:latin typeface="+mn-lt"/>
              <a:ea typeface="+mn-ea"/>
            </a:endParaRPr>
          </a:p>
        </p:txBody>
      </p:sp>
      <p:sp>
        <p:nvSpPr>
          <p:cNvPr id="95" name="Rectangle 69">
            <a:extLst>
              <a:ext uri="{FF2B5EF4-FFF2-40B4-BE49-F238E27FC236}">
                <a16:creationId xmlns:a16="http://schemas.microsoft.com/office/drawing/2014/main" id="{1175FBD2-CF99-6050-1BB8-ADEE0429C8F5}"/>
              </a:ext>
            </a:extLst>
          </p:cNvPr>
          <p:cNvSpPr>
            <a:spLocks noChangeArrowheads="1"/>
          </p:cNvSpPr>
          <p:nvPr/>
        </p:nvSpPr>
        <p:spPr bwMode="auto">
          <a:xfrm>
            <a:off x="2855967" y="2348988"/>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latin typeface="+mn-lt"/>
                <a:ea typeface="+mn-ea"/>
              </a:rPr>
              <a:t>P</a:t>
            </a:r>
          </a:p>
        </p:txBody>
      </p:sp>
      <p:sp>
        <p:nvSpPr>
          <p:cNvPr id="96" name="Rectangle 70">
            <a:extLst>
              <a:ext uri="{FF2B5EF4-FFF2-40B4-BE49-F238E27FC236}">
                <a16:creationId xmlns:a16="http://schemas.microsoft.com/office/drawing/2014/main" id="{C546F5C6-975D-9C83-A9C9-5FCD6A97D265}"/>
              </a:ext>
            </a:extLst>
          </p:cNvPr>
          <p:cNvSpPr>
            <a:spLocks noChangeArrowheads="1"/>
          </p:cNvSpPr>
          <p:nvPr/>
        </p:nvSpPr>
        <p:spPr bwMode="auto">
          <a:xfrm>
            <a:off x="3305970" y="2348988"/>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latin typeface="+mn-lt"/>
                <a:ea typeface="+mn-ea"/>
              </a:rPr>
              <a:t>F</a:t>
            </a:r>
          </a:p>
        </p:txBody>
      </p:sp>
      <p:sp>
        <p:nvSpPr>
          <p:cNvPr id="97" name="Rectangle 71">
            <a:extLst>
              <a:ext uri="{FF2B5EF4-FFF2-40B4-BE49-F238E27FC236}">
                <a16:creationId xmlns:a16="http://schemas.microsoft.com/office/drawing/2014/main" id="{B68DE835-E60A-71A7-8A0B-F36329F42879}"/>
              </a:ext>
            </a:extLst>
          </p:cNvPr>
          <p:cNvSpPr>
            <a:spLocks noChangeArrowheads="1"/>
          </p:cNvSpPr>
          <p:nvPr/>
        </p:nvSpPr>
        <p:spPr bwMode="auto">
          <a:xfrm>
            <a:off x="3755976" y="2348988"/>
            <a:ext cx="450005" cy="360000"/>
          </a:xfrm>
          <a:prstGeom prst="rect">
            <a:avLst/>
          </a:prstGeom>
          <a:ln>
            <a:headEnd/>
            <a:tailEnd type="none" w="med" len="lg"/>
          </a:ln>
          <a:effectLst/>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dirty="0">
                <a:latin typeface="+mn-lt"/>
                <a:ea typeface="+mn-ea"/>
              </a:rPr>
              <a:t>L2</a:t>
            </a:r>
          </a:p>
        </p:txBody>
      </p:sp>
      <p:sp>
        <p:nvSpPr>
          <p:cNvPr id="98" name="Rectangle 72">
            <a:extLst>
              <a:ext uri="{FF2B5EF4-FFF2-40B4-BE49-F238E27FC236}">
                <a16:creationId xmlns:a16="http://schemas.microsoft.com/office/drawing/2014/main" id="{752C8D3D-FA24-35AE-2D61-616EB2FAE7EB}"/>
              </a:ext>
            </a:extLst>
          </p:cNvPr>
          <p:cNvSpPr>
            <a:spLocks noChangeArrowheads="1"/>
          </p:cNvSpPr>
          <p:nvPr/>
        </p:nvSpPr>
        <p:spPr bwMode="auto">
          <a:xfrm>
            <a:off x="4205980" y="2348988"/>
            <a:ext cx="450005" cy="360000"/>
          </a:xfrm>
          <a:prstGeom prst="rect">
            <a:avLst/>
          </a:prstGeom>
          <a:ln>
            <a:headEnd/>
            <a:tailEnd type="none" w="med" len="lg"/>
          </a:ln>
          <a:effectLst/>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dirty="0">
                <a:latin typeface="+mn-lt"/>
                <a:ea typeface="+mn-ea"/>
              </a:rPr>
              <a:t>L2</a:t>
            </a:r>
          </a:p>
        </p:txBody>
      </p:sp>
      <p:sp>
        <p:nvSpPr>
          <p:cNvPr id="99" name="Rectangle 73">
            <a:extLst>
              <a:ext uri="{FF2B5EF4-FFF2-40B4-BE49-F238E27FC236}">
                <a16:creationId xmlns:a16="http://schemas.microsoft.com/office/drawing/2014/main" id="{E8EB2F70-F871-88E7-7ABA-606D80824E15}"/>
              </a:ext>
            </a:extLst>
          </p:cNvPr>
          <p:cNvSpPr>
            <a:spLocks noChangeArrowheads="1"/>
          </p:cNvSpPr>
          <p:nvPr/>
        </p:nvSpPr>
        <p:spPr bwMode="auto">
          <a:xfrm>
            <a:off x="5105989" y="2348988"/>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dirty="0">
              <a:latin typeface="+mn-lt"/>
              <a:ea typeface="+mn-ea"/>
            </a:endParaRPr>
          </a:p>
        </p:txBody>
      </p:sp>
      <p:sp>
        <p:nvSpPr>
          <p:cNvPr id="100" name="Rectangle 69">
            <a:extLst>
              <a:ext uri="{FF2B5EF4-FFF2-40B4-BE49-F238E27FC236}">
                <a16:creationId xmlns:a16="http://schemas.microsoft.com/office/drawing/2014/main" id="{DBA05DC2-E975-BC23-6B9B-7F66D2327F15}"/>
              </a:ext>
            </a:extLst>
          </p:cNvPr>
          <p:cNvSpPr>
            <a:spLocks noChangeArrowheads="1"/>
          </p:cNvSpPr>
          <p:nvPr/>
        </p:nvSpPr>
        <p:spPr bwMode="auto">
          <a:xfrm>
            <a:off x="3305974" y="2798993"/>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latin typeface="+mn-lt"/>
                <a:ea typeface="+mn-ea"/>
              </a:rPr>
              <a:t>P</a:t>
            </a:r>
          </a:p>
        </p:txBody>
      </p:sp>
      <p:sp>
        <p:nvSpPr>
          <p:cNvPr id="101" name="Rectangle 70">
            <a:extLst>
              <a:ext uri="{FF2B5EF4-FFF2-40B4-BE49-F238E27FC236}">
                <a16:creationId xmlns:a16="http://schemas.microsoft.com/office/drawing/2014/main" id="{7C877E85-D921-30DD-A818-4B5518420170}"/>
              </a:ext>
            </a:extLst>
          </p:cNvPr>
          <p:cNvSpPr>
            <a:spLocks noChangeArrowheads="1"/>
          </p:cNvSpPr>
          <p:nvPr/>
        </p:nvSpPr>
        <p:spPr bwMode="auto">
          <a:xfrm>
            <a:off x="5105990" y="2798993"/>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latin typeface="+mn-lt"/>
                <a:ea typeface="+mn-ea"/>
              </a:rPr>
              <a:t>F</a:t>
            </a:r>
          </a:p>
        </p:txBody>
      </p:sp>
      <p:sp>
        <p:nvSpPr>
          <p:cNvPr id="102" name="Rectangle 71">
            <a:extLst>
              <a:ext uri="{FF2B5EF4-FFF2-40B4-BE49-F238E27FC236}">
                <a16:creationId xmlns:a16="http://schemas.microsoft.com/office/drawing/2014/main" id="{DE824E60-31A0-BF07-64FB-B1ADD5C27776}"/>
              </a:ext>
            </a:extLst>
          </p:cNvPr>
          <p:cNvSpPr>
            <a:spLocks noChangeArrowheads="1"/>
          </p:cNvSpPr>
          <p:nvPr/>
        </p:nvSpPr>
        <p:spPr bwMode="auto">
          <a:xfrm>
            <a:off x="5555996" y="2798993"/>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dirty="0">
              <a:latin typeface="+mn-lt"/>
              <a:ea typeface="+mn-ea"/>
            </a:endParaRPr>
          </a:p>
        </p:txBody>
      </p:sp>
      <p:sp>
        <p:nvSpPr>
          <p:cNvPr id="103" name="Rectangle 72">
            <a:extLst>
              <a:ext uri="{FF2B5EF4-FFF2-40B4-BE49-F238E27FC236}">
                <a16:creationId xmlns:a16="http://schemas.microsoft.com/office/drawing/2014/main" id="{58B94B6E-E548-D05F-22CE-CDCB297A3CF6}"/>
              </a:ext>
            </a:extLst>
          </p:cNvPr>
          <p:cNvSpPr>
            <a:spLocks noChangeArrowheads="1"/>
          </p:cNvSpPr>
          <p:nvPr/>
        </p:nvSpPr>
        <p:spPr bwMode="auto">
          <a:xfrm>
            <a:off x="6006000" y="2798993"/>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dirty="0">
              <a:latin typeface="+mn-lt"/>
              <a:ea typeface="+mn-ea"/>
            </a:endParaRPr>
          </a:p>
        </p:txBody>
      </p:sp>
      <p:sp>
        <p:nvSpPr>
          <p:cNvPr id="104" name="Rectangle 73">
            <a:extLst>
              <a:ext uri="{FF2B5EF4-FFF2-40B4-BE49-F238E27FC236}">
                <a16:creationId xmlns:a16="http://schemas.microsoft.com/office/drawing/2014/main" id="{00E97F37-2DFC-E436-98A4-F231705E01AF}"/>
              </a:ext>
            </a:extLst>
          </p:cNvPr>
          <p:cNvSpPr>
            <a:spLocks noChangeArrowheads="1"/>
          </p:cNvSpPr>
          <p:nvPr/>
        </p:nvSpPr>
        <p:spPr bwMode="auto">
          <a:xfrm>
            <a:off x="6456006" y="2798993"/>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dirty="0">
              <a:latin typeface="+mn-lt"/>
              <a:ea typeface="+mn-ea"/>
            </a:endParaRPr>
          </a:p>
        </p:txBody>
      </p:sp>
      <p:sp>
        <p:nvSpPr>
          <p:cNvPr id="106" name="Rectangle 70">
            <a:extLst>
              <a:ext uri="{FF2B5EF4-FFF2-40B4-BE49-F238E27FC236}">
                <a16:creationId xmlns:a16="http://schemas.microsoft.com/office/drawing/2014/main" id="{10B0E4DC-A436-5B43-EF66-65E71CC2EAF9}"/>
              </a:ext>
            </a:extLst>
          </p:cNvPr>
          <p:cNvSpPr>
            <a:spLocks noChangeArrowheads="1"/>
          </p:cNvSpPr>
          <p:nvPr/>
        </p:nvSpPr>
        <p:spPr bwMode="auto">
          <a:xfrm>
            <a:off x="2855964" y="3969006"/>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latin typeface="+mn-lt"/>
                <a:ea typeface="+mn-ea"/>
              </a:rPr>
              <a:t>F</a:t>
            </a:r>
          </a:p>
        </p:txBody>
      </p:sp>
      <p:sp>
        <p:nvSpPr>
          <p:cNvPr id="107" name="Rectangle 71">
            <a:extLst>
              <a:ext uri="{FF2B5EF4-FFF2-40B4-BE49-F238E27FC236}">
                <a16:creationId xmlns:a16="http://schemas.microsoft.com/office/drawing/2014/main" id="{F6422605-8417-94BF-E977-F204BD526976}"/>
              </a:ext>
            </a:extLst>
          </p:cNvPr>
          <p:cNvSpPr>
            <a:spLocks noChangeArrowheads="1"/>
          </p:cNvSpPr>
          <p:nvPr/>
        </p:nvSpPr>
        <p:spPr bwMode="auto">
          <a:xfrm>
            <a:off x="1505949" y="3969006"/>
            <a:ext cx="450005" cy="360000"/>
          </a:xfrm>
          <a:prstGeom prst="rect">
            <a:avLst/>
          </a:prstGeom>
          <a:ln>
            <a:headEnd/>
            <a:tailEnd type="none" w="med" len="lg"/>
          </a:ln>
          <a:effectLst/>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dirty="0">
                <a:latin typeface="+mn-lt"/>
                <a:ea typeface="+mn-ea"/>
              </a:rPr>
              <a:t>L2</a:t>
            </a:r>
          </a:p>
        </p:txBody>
      </p:sp>
      <p:sp>
        <p:nvSpPr>
          <p:cNvPr id="108" name="Rectangle 72">
            <a:extLst>
              <a:ext uri="{FF2B5EF4-FFF2-40B4-BE49-F238E27FC236}">
                <a16:creationId xmlns:a16="http://schemas.microsoft.com/office/drawing/2014/main" id="{242FDCFE-4D9C-6A2C-3CA4-44058BB19CDD}"/>
              </a:ext>
            </a:extLst>
          </p:cNvPr>
          <p:cNvSpPr>
            <a:spLocks noChangeArrowheads="1"/>
          </p:cNvSpPr>
          <p:nvPr/>
        </p:nvSpPr>
        <p:spPr bwMode="auto">
          <a:xfrm>
            <a:off x="1955954" y="3969006"/>
            <a:ext cx="450005" cy="360000"/>
          </a:xfrm>
          <a:prstGeom prst="rect">
            <a:avLst/>
          </a:prstGeom>
          <a:ln>
            <a:headEnd/>
            <a:tailEnd type="none" w="med" len="lg"/>
          </a:ln>
          <a:effectLst/>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dirty="0">
                <a:latin typeface="+mn-lt"/>
                <a:ea typeface="+mn-ea"/>
              </a:rPr>
              <a:t>L2</a:t>
            </a:r>
          </a:p>
        </p:txBody>
      </p:sp>
      <p:sp>
        <p:nvSpPr>
          <p:cNvPr id="109" name="Rectangle 73">
            <a:extLst>
              <a:ext uri="{FF2B5EF4-FFF2-40B4-BE49-F238E27FC236}">
                <a16:creationId xmlns:a16="http://schemas.microsoft.com/office/drawing/2014/main" id="{CDEE67C9-76F1-EA55-BBE5-6A7C53DF0557}"/>
              </a:ext>
            </a:extLst>
          </p:cNvPr>
          <p:cNvSpPr>
            <a:spLocks noChangeArrowheads="1"/>
          </p:cNvSpPr>
          <p:nvPr/>
        </p:nvSpPr>
        <p:spPr bwMode="auto">
          <a:xfrm>
            <a:off x="3305970" y="3969006"/>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dirty="0">
              <a:latin typeface="+mn-lt"/>
              <a:ea typeface="+mn-ea"/>
            </a:endParaRPr>
          </a:p>
        </p:txBody>
      </p:sp>
      <p:sp>
        <p:nvSpPr>
          <p:cNvPr id="111" name="Rectangle 70">
            <a:extLst>
              <a:ext uri="{FF2B5EF4-FFF2-40B4-BE49-F238E27FC236}">
                <a16:creationId xmlns:a16="http://schemas.microsoft.com/office/drawing/2014/main" id="{763D7715-A076-4625-E463-056B432620CC}"/>
              </a:ext>
            </a:extLst>
          </p:cNvPr>
          <p:cNvSpPr>
            <a:spLocks noChangeArrowheads="1"/>
          </p:cNvSpPr>
          <p:nvPr/>
        </p:nvSpPr>
        <p:spPr bwMode="auto">
          <a:xfrm>
            <a:off x="3305971" y="4419011"/>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latin typeface="+mn-lt"/>
                <a:ea typeface="+mn-ea"/>
              </a:rPr>
              <a:t>F</a:t>
            </a:r>
          </a:p>
        </p:txBody>
      </p:sp>
      <p:sp>
        <p:nvSpPr>
          <p:cNvPr id="112" name="Rectangle 71">
            <a:extLst>
              <a:ext uri="{FF2B5EF4-FFF2-40B4-BE49-F238E27FC236}">
                <a16:creationId xmlns:a16="http://schemas.microsoft.com/office/drawing/2014/main" id="{6DF71AD4-D387-5C35-850D-613EFE4C6662}"/>
              </a:ext>
            </a:extLst>
          </p:cNvPr>
          <p:cNvSpPr>
            <a:spLocks noChangeArrowheads="1"/>
          </p:cNvSpPr>
          <p:nvPr/>
        </p:nvSpPr>
        <p:spPr bwMode="auto">
          <a:xfrm>
            <a:off x="3755977" y="4419011"/>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dirty="0">
              <a:latin typeface="+mn-lt"/>
              <a:ea typeface="+mn-ea"/>
            </a:endParaRPr>
          </a:p>
        </p:txBody>
      </p:sp>
      <p:sp>
        <p:nvSpPr>
          <p:cNvPr id="113" name="Rectangle 72">
            <a:extLst>
              <a:ext uri="{FF2B5EF4-FFF2-40B4-BE49-F238E27FC236}">
                <a16:creationId xmlns:a16="http://schemas.microsoft.com/office/drawing/2014/main" id="{88E84492-59C2-F95D-1F1D-46AC6504EEDF}"/>
              </a:ext>
            </a:extLst>
          </p:cNvPr>
          <p:cNvSpPr>
            <a:spLocks noChangeArrowheads="1"/>
          </p:cNvSpPr>
          <p:nvPr/>
        </p:nvSpPr>
        <p:spPr bwMode="auto">
          <a:xfrm>
            <a:off x="4205981" y="4419011"/>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dirty="0">
              <a:latin typeface="+mn-lt"/>
              <a:ea typeface="+mn-ea"/>
            </a:endParaRPr>
          </a:p>
        </p:txBody>
      </p:sp>
      <p:sp>
        <p:nvSpPr>
          <p:cNvPr id="114" name="Rectangle 73">
            <a:extLst>
              <a:ext uri="{FF2B5EF4-FFF2-40B4-BE49-F238E27FC236}">
                <a16:creationId xmlns:a16="http://schemas.microsoft.com/office/drawing/2014/main" id="{5517783A-E585-2919-BD0C-60FE54AB05AE}"/>
              </a:ext>
            </a:extLst>
          </p:cNvPr>
          <p:cNvSpPr>
            <a:spLocks noChangeArrowheads="1"/>
          </p:cNvSpPr>
          <p:nvPr/>
        </p:nvSpPr>
        <p:spPr bwMode="auto">
          <a:xfrm>
            <a:off x="4655987" y="4419011"/>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dirty="0">
              <a:latin typeface="+mn-lt"/>
              <a:ea typeface="+mn-ea"/>
            </a:endParaRPr>
          </a:p>
        </p:txBody>
      </p:sp>
      <p:sp>
        <p:nvSpPr>
          <p:cNvPr id="116" name="Rectangle 70">
            <a:extLst>
              <a:ext uri="{FF2B5EF4-FFF2-40B4-BE49-F238E27FC236}">
                <a16:creationId xmlns:a16="http://schemas.microsoft.com/office/drawing/2014/main" id="{B5D2BB8A-E106-B995-8E0F-DD81733BD3D2}"/>
              </a:ext>
            </a:extLst>
          </p:cNvPr>
          <p:cNvSpPr>
            <a:spLocks noChangeArrowheads="1"/>
          </p:cNvSpPr>
          <p:nvPr/>
        </p:nvSpPr>
        <p:spPr bwMode="auto">
          <a:xfrm>
            <a:off x="3755974" y="4869016"/>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latin typeface="+mn-lt"/>
                <a:ea typeface="+mn-ea"/>
              </a:rPr>
              <a:t>F</a:t>
            </a:r>
          </a:p>
        </p:txBody>
      </p:sp>
      <p:sp>
        <p:nvSpPr>
          <p:cNvPr id="121" name="Rectangle 70">
            <a:extLst>
              <a:ext uri="{FF2B5EF4-FFF2-40B4-BE49-F238E27FC236}">
                <a16:creationId xmlns:a16="http://schemas.microsoft.com/office/drawing/2014/main" id="{3507721B-94FC-6F43-359A-13057BC7EBCF}"/>
              </a:ext>
            </a:extLst>
          </p:cNvPr>
          <p:cNvSpPr>
            <a:spLocks noChangeArrowheads="1"/>
          </p:cNvSpPr>
          <p:nvPr/>
        </p:nvSpPr>
        <p:spPr bwMode="auto">
          <a:xfrm>
            <a:off x="4205977" y="5319021"/>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latin typeface="+mn-lt"/>
                <a:ea typeface="+mn-ea"/>
              </a:rPr>
              <a:t>F</a:t>
            </a:r>
          </a:p>
        </p:txBody>
      </p:sp>
      <p:sp>
        <p:nvSpPr>
          <p:cNvPr id="122" name="Rectangle 71">
            <a:extLst>
              <a:ext uri="{FF2B5EF4-FFF2-40B4-BE49-F238E27FC236}">
                <a16:creationId xmlns:a16="http://schemas.microsoft.com/office/drawing/2014/main" id="{5A57E19D-058C-38C6-B8AC-099DFE0C4238}"/>
              </a:ext>
            </a:extLst>
          </p:cNvPr>
          <p:cNvSpPr>
            <a:spLocks noChangeArrowheads="1"/>
          </p:cNvSpPr>
          <p:nvPr/>
        </p:nvSpPr>
        <p:spPr bwMode="auto">
          <a:xfrm>
            <a:off x="4655983" y="5319021"/>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dirty="0">
              <a:latin typeface="+mn-lt"/>
              <a:ea typeface="+mn-ea"/>
            </a:endParaRPr>
          </a:p>
        </p:txBody>
      </p:sp>
      <p:sp>
        <p:nvSpPr>
          <p:cNvPr id="123" name="Rectangle 72">
            <a:extLst>
              <a:ext uri="{FF2B5EF4-FFF2-40B4-BE49-F238E27FC236}">
                <a16:creationId xmlns:a16="http://schemas.microsoft.com/office/drawing/2014/main" id="{FC2058EF-F2AA-0663-1961-D1C98803EA1D}"/>
              </a:ext>
            </a:extLst>
          </p:cNvPr>
          <p:cNvSpPr>
            <a:spLocks noChangeArrowheads="1"/>
          </p:cNvSpPr>
          <p:nvPr/>
        </p:nvSpPr>
        <p:spPr bwMode="auto">
          <a:xfrm>
            <a:off x="5105987" y="5319021"/>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dirty="0">
              <a:latin typeface="+mn-lt"/>
              <a:ea typeface="+mn-ea"/>
            </a:endParaRPr>
          </a:p>
        </p:txBody>
      </p:sp>
      <p:sp>
        <p:nvSpPr>
          <p:cNvPr id="124" name="Rectangle 73">
            <a:extLst>
              <a:ext uri="{FF2B5EF4-FFF2-40B4-BE49-F238E27FC236}">
                <a16:creationId xmlns:a16="http://schemas.microsoft.com/office/drawing/2014/main" id="{16A4ACD3-ADEE-21C0-986C-25B24F2A7D73}"/>
              </a:ext>
            </a:extLst>
          </p:cNvPr>
          <p:cNvSpPr>
            <a:spLocks noChangeArrowheads="1"/>
          </p:cNvSpPr>
          <p:nvPr/>
        </p:nvSpPr>
        <p:spPr bwMode="auto">
          <a:xfrm>
            <a:off x="5555993" y="5319021"/>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dirty="0">
              <a:latin typeface="+mn-lt"/>
              <a:ea typeface="+mn-ea"/>
            </a:endParaRPr>
          </a:p>
        </p:txBody>
      </p:sp>
      <p:sp>
        <p:nvSpPr>
          <p:cNvPr id="125" name="Rectangle 69">
            <a:extLst>
              <a:ext uri="{FF2B5EF4-FFF2-40B4-BE49-F238E27FC236}">
                <a16:creationId xmlns:a16="http://schemas.microsoft.com/office/drawing/2014/main" id="{A9D48ED0-D47F-7B58-0671-3E65A6513E6F}"/>
              </a:ext>
            </a:extLst>
          </p:cNvPr>
          <p:cNvSpPr>
            <a:spLocks noChangeArrowheads="1"/>
          </p:cNvSpPr>
          <p:nvPr/>
        </p:nvSpPr>
        <p:spPr bwMode="auto">
          <a:xfrm>
            <a:off x="1055944" y="3969006"/>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latin typeface="+mn-lt"/>
                <a:ea typeface="+mn-ea"/>
              </a:rPr>
              <a:t>Q</a:t>
            </a:r>
          </a:p>
        </p:txBody>
      </p:sp>
      <p:sp>
        <p:nvSpPr>
          <p:cNvPr id="126" name="Rectangle 69">
            <a:extLst>
              <a:ext uri="{FF2B5EF4-FFF2-40B4-BE49-F238E27FC236}">
                <a16:creationId xmlns:a16="http://schemas.microsoft.com/office/drawing/2014/main" id="{2272571C-F43B-9693-5E12-217C56FF782B}"/>
              </a:ext>
            </a:extLst>
          </p:cNvPr>
          <p:cNvSpPr>
            <a:spLocks noChangeArrowheads="1"/>
          </p:cNvSpPr>
          <p:nvPr/>
        </p:nvSpPr>
        <p:spPr bwMode="auto">
          <a:xfrm>
            <a:off x="1505949" y="4419011"/>
            <a:ext cx="1800020"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latin typeface="+mn-lt"/>
                <a:ea typeface="+mn-ea"/>
              </a:rPr>
              <a:t>Q</a:t>
            </a:r>
          </a:p>
        </p:txBody>
      </p:sp>
      <p:sp>
        <p:nvSpPr>
          <p:cNvPr id="127" name="Rectangle 69">
            <a:extLst>
              <a:ext uri="{FF2B5EF4-FFF2-40B4-BE49-F238E27FC236}">
                <a16:creationId xmlns:a16="http://schemas.microsoft.com/office/drawing/2014/main" id="{3F71A811-7A45-67A1-BFD5-30948B65B815}"/>
              </a:ext>
            </a:extLst>
          </p:cNvPr>
          <p:cNvSpPr>
            <a:spLocks noChangeArrowheads="1"/>
          </p:cNvSpPr>
          <p:nvPr/>
        </p:nvSpPr>
        <p:spPr bwMode="auto">
          <a:xfrm>
            <a:off x="1955954" y="4869016"/>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latin typeface="+mn-lt"/>
                <a:ea typeface="+mn-ea"/>
              </a:rPr>
              <a:t>Q</a:t>
            </a:r>
          </a:p>
        </p:txBody>
      </p:sp>
      <p:sp>
        <p:nvSpPr>
          <p:cNvPr id="128" name="Rectangle 71">
            <a:extLst>
              <a:ext uri="{FF2B5EF4-FFF2-40B4-BE49-F238E27FC236}">
                <a16:creationId xmlns:a16="http://schemas.microsoft.com/office/drawing/2014/main" id="{FBAC454C-4DB6-736A-0FA9-14882D77FCDB}"/>
              </a:ext>
            </a:extLst>
          </p:cNvPr>
          <p:cNvSpPr>
            <a:spLocks noChangeArrowheads="1"/>
          </p:cNvSpPr>
          <p:nvPr/>
        </p:nvSpPr>
        <p:spPr bwMode="auto">
          <a:xfrm>
            <a:off x="2405960" y="4869016"/>
            <a:ext cx="450005" cy="360000"/>
          </a:xfrm>
          <a:prstGeom prst="rect">
            <a:avLst/>
          </a:prstGeom>
          <a:ln>
            <a:headEnd/>
            <a:tailEnd type="none" w="med" len="lg"/>
          </a:ln>
          <a:effectLst/>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dirty="0">
                <a:latin typeface="+mn-lt"/>
                <a:ea typeface="+mn-ea"/>
              </a:rPr>
              <a:t>L2</a:t>
            </a:r>
          </a:p>
        </p:txBody>
      </p:sp>
      <p:sp>
        <p:nvSpPr>
          <p:cNvPr id="129" name="Rectangle 72">
            <a:extLst>
              <a:ext uri="{FF2B5EF4-FFF2-40B4-BE49-F238E27FC236}">
                <a16:creationId xmlns:a16="http://schemas.microsoft.com/office/drawing/2014/main" id="{25C42E30-32A4-6478-9424-3CEE8644771B}"/>
              </a:ext>
            </a:extLst>
          </p:cNvPr>
          <p:cNvSpPr>
            <a:spLocks noChangeArrowheads="1"/>
          </p:cNvSpPr>
          <p:nvPr/>
        </p:nvSpPr>
        <p:spPr bwMode="auto">
          <a:xfrm>
            <a:off x="2855964" y="4869016"/>
            <a:ext cx="450005" cy="360000"/>
          </a:xfrm>
          <a:prstGeom prst="rect">
            <a:avLst/>
          </a:prstGeom>
          <a:ln>
            <a:headEnd/>
            <a:tailEnd type="none" w="med" len="lg"/>
          </a:ln>
          <a:effectLst/>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dirty="0">
                <a:latin typeface="+mn-lt"/>
                <a:ea typeface="+mn-ea"/>
              </a:rPr>
              <a:t>L2</a:t>
            </a:r>
          </a:p>
        </p:txBody>
      </p:sp>
      <p:sp>
        <p:nvSpPr>
          <p:cNvPr id="130" name="Rectangle 72">
            <a:extLst>
              <a:ext uri="{FF2B5EF4-FFF2-40B4-BE49-F238E27FC236}">
                <a16:creationId xmlns:a16="http://schemas.microsoft.com/office/drawing/2014/main" id="{844E0480-67C9-084A-E3FF-7835F54119DB}"/>
              </a:ext>
            </a:extLst>
          </p:cNvPr>
          <p:cNvSpPr>
            <a:spLocks noChangeArrowheads="1"/>
          </p:cNvSpPr>
          <p:nvPr/>
        </p:nvSpPr>
        <p:spPr bwMode="auto">
          <a:xfrm>
            <a:off x="3755973" y="3969006"/>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dirty="0">
              <a:latin typeface="+mn-lt"/>
              <a:ea typeface="+mn-ea"/>
            </a:endParaRPr>
          </a:p>
        </p:txBody>
      </p:sp>
      <p:sp>
        <p:nvSpPr>
          <p:cNvPr id="131" name="Rectangle 73">
            <a:extLst>
              <a:ext uri="{FF2B5EF4-FFF2-40B4-BE49-F238E27FC236}">
                <a16:creationId xmlns:a16="http://schemas.microsoft.com/office/drawing/2014/main" id="{791C7737-13B6-6069-EC02-A6F7C8E8A493}"/>
              </a:ext>
            </a:extLst>
          </p:cNvPr>
          <p:cNvSpPr>
            <a:spLocks noChangeArrowheads="1"/>
          </p:cNvSpPr>
          <p:nvPr/>
        </p:nvSpPr>
        <p:spPr bwMode="auto">
          <a:xfrm>
            <a:off x="4205979" y="3969006"/>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dirty="0">
              <a:latin typeface="+mn-lt"/>
              <a:ea typeface="+mn-ea"/>
            </a:endParaRPr>
          </a:p>
        </p:txBody>
      </p:sp>
      <p:sp>
        <p:nvSpPr>
          <p:cNvPr id="132" name="Rectangle 69">
            <a:extLst>
              <a:ext uri="{FF2B5EF4-FFF2-40B4-BE49-F238E27FC236}">
                <a16:creationId xmlns:a16="http://schemas.microsoft.com/office/drawing/2014/main" id="{7BD9BD25-0902-FEDD-EA45-05A5981807A0}"/>
              </a:ext>
            </a:extLst>
          </p:cNvPr>
          <p:cNvSpPr>
            <a:spLocks noChangeArrowheads="1"/>
          </p:cNvSpPr>
          <p:nvPr/>
        </p:nvSpPr>
        <p:spPr bwMode="auto">
          <a:xfrm>
            <a:off x="2405959" y="5319021"/>
            <a:ext cx="1800020"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latin typeface="+mn-lt"/>
                <a:ea typeface="+mn-ea"/>
              </a:rPr>
              <a:t>Q</a:t>
            </a:r>
          </a:p>
        </p:txBody>
      </p:sp>
      <p:sp>
        <p:nvSpPr>
          <p:cNvPr id="133" name="Rectangle 71">
            <a:extLst>
              <a:ext uri="{FF2B5EF4-FFF2-40B4-BE49-F238E27FC236}">
                <a16:creationId xmlns:a16="http://schemas.microsoft.com/office/drawing/2014/main" id="{22434C05-38EF-92C0-41C8-B89B5FC84746}"/>
              </a:ext>
            </a:extLst>
          </p:cNvPr>
          <p:cNvSpPr>
            <a:spLocks noChangeArrowheads="1"/>
          </p:cNvSpPr>
          <p:nvPr/>
        </p:nvSpPr>
        <p:spPr bwMode="auto">
          <a:xfrm>
            <a:off x="4205977" y="4869016"/>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dirty="0">
              <a:latin typeface="+mn-lt"/>
              <a:ea typeface="+mn-ea"/>
            </a:endParaRPr>
          </a:p>
        </p:txBody>
      </p:sp>
      <p:sp>
        <p:nvSpPr>
          <p:cNvPr id="134" name="Rectangle 72">
            <a:extLst>
              <a:ext uri="{FF2B5EF4-FFF2-40B4-BE49-F238E27FC236}">
                <a16:creationId xmlns:a16="http://schemas.microsoft.com/office/drawing/2014/main" id="{1E767811-89ED-E4C5-A347-38C1EAE51039}"/>
              </a:ext>
            </a:extLst>
          </p:cNvPr>
          <p:cNvSpPr>
            <a:spLocks noChangeArrowheads="1"/>
          </p:cNvSpPr>
          <p:nvPr/>
        </p:nvSpPr>
        <p:spPr bwMode="auto">
          <a:xfrm>
            <a:off x="4655981" y="4869016"/>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dirty="0">
              <a:latin typeface="+mn-lt"/>
              <a:ea typeface="+mn-ea"/>
            </a:endParaRPr>
          </a:p>
        </p:txBody>
      </p:sp>
      <p:sp>
        <p:nvSpPr>
          <p:cNvPr id="135" name="Rectangle 73">
            <a:extLst>
              <a:ext uri="{FF2B5EF4-FFF2-40B4-BE49-F238E27FC236}">
                <a16:creationId xmlns:a16="http://schemas.microsoft.com/office/drawing/2014/main" id="{02DFC941-2522-27A8-39A8-B4343061C6A8}"/>
              </a:ext>
            </a:extLst>
          </p:cNvPr>
          <p:cNvSpPr>
            <a:spLocks noChangeArrowheads="1"/>
          </p:cNvSpPr>
          <p:nvPr/>
        </p:nvSpPr>
        <p:spPr bwMode="auto">
          <a:xfrm>
            <a:off x="5105987" y="4869016"/>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dirty="0">
              <a:latin typeface="+mn-lt"/>
              <a:ea typeface="+mn-ea"/>
            </a:endParaRPr>
          </a:p>
        </p:txBody>
      </p:sp>
      <p:sp>
        <p:nvSpPr>
          <p:cNvPr id="136" name="Rectangle 72">
            <a:extLst>
              <a:ext uri="{FF2B5EF4-FFF2-40B4-BE49-F238E27FC236}">
                <a16:creationId xmlns:a16="http://schemas.microsoft.com/office/drawing/2014/main" id="{89BEC424-F490-CD45-1886-76F0613D63FE}"/>
              </a:ext>
            </a:extLst>
          </p:cNvPr>
          <p:cNvSpPr>
            <a:spLocks noChangeArrowheads="1"/>
          </p:cNvSpPr>
          <p:nvPr/>
        </p:nvSpPr>
        <p:spPr bwMode="auto">
          <a:xfrm>
            <a:off x="2405959" y="1448978"/>
            <a:ext cx="450005" cy="360000"/>
          </a:xfrm>
          <a:prstGeom prst="rect">
            <a:avLst/>
          </a:prstGeom>
          <a:ln>
            <a:headEnd/>
            <a:tailEnd type="none" w="med" len="lg"/>
          </a:ln>
          <a:effectLst/>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dirty="0">
                <a:latin typeface="+mn-lt"/>
                <a:ea typeface="+mn-ea"/>
              </a:rPr>
              <a:t>L2</a:t>
            </a:r>
          </a:p>
        </p:txBody>
      </p:sp>
      <p:sp>
        <p:nvSpPr>
          <p:cNvPr id="137" name="Rectangle 72">
            <a:extLst>
              <a:ext uri="{FF2B5EF4-FFF2-40B4-BE49-F238E27FC236}">
                <a16:creationId xmlns:a16="http://schemas.microsoft.com/office/drawing/2014/main" id="{104B517F-3531-C5B0-E9E4-8241DF9715E8}"/>
              </a:ext>
            </a:extLst>
          </p:cNvPr>
          <p:cNvSpPr>
            <a:spLocks noChangeArrowheads="1"/>
          </p:cNvSpPr>
          <p:nvPr/>
        </p:nvSpPr>
        <p:spPr bwMode="auto">
          <a:xfrm>
            <a:off x="4655984" y="2348988"/>
            <a:ext cx="450005" cy="360000"/>
          </a:xfrm>
          <a:prstGeom prst="rect">
            <a:avLst/>
          </a:prstGeom>
          <a:ln>
            <a:headEnd/>
            <a:tailEnd type="none" w="med" len="lg"/>
          </a:ln>
          <a:effectLst/>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dirty="0">
                <a:latin typeface="+mn-lt"/>
                <a:ea typeface="+mn-ea"/>
              </a:rPr>
              <a:t>L2</a:t>
            </a:r>
          </a:p>
        </p:txBody>
      </p:sp>
      <p:sp>
        <p:nvSpPr>
          <p:cNvPr id="138" name="Rectangle 72">
            <a:extLst>
              <a:ext uri="{FF2B5EF4-FFF2-40B4-BE49-F238E27FC236}">
                <a16:creationId xmlns:a16="http://schemas.microsoft.com/office/drawing/2014/main" id="{EDF44FD7-33E3-7336-32F7-591550E5B144}"/>
              </a:ext>
            </a:extLst>
          </p:cNvPr>
          <p:cNvSpPr>
            <a:spLocks noChangeArrowheads="1"/>
          </p:cNvSpPr>
          <p:nvPr/>
        </p:nvSpPr>
        <p:spPr bwMode="auto">
          <a:xfrm>
            <a:off x="2405959" y="3969006"/>
            <a:ext cx="450005" cy="360000"/>
          </a:xfrm>
          <a:prstGeom prst="rect">
            <a:avLst/>
          </a:prstGeom>
          <a:ln>
            <a:headEnd/>
            <a:tailEnd type="none" w="med" len="lg"/>
          </a:ln>
          <a:effectLst/>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dirty="0">
                <a:latin typeface="+mn-lt"/>
                <a:ea typeface="+mn-ea"/>
              </a:rPr>
              <a:t>L2</a:t>
            </a:r>
          </a:p>
        </p:txBody>
      </p:sp>
      <p:sp>
        <p:nvSpPr>
          <p:cNvPr id="139" name="Rectangle 72">
            <a:extLst>
              <a:ext uri="{FF2B5EF4-FFF2-40B4-BE49-F238E27FC236}">
                <a16:creationId xmlns:a16="http://schemas.microsoft.com/office/drawing/2014/main" id="{C3313919-028F-92EF-35E8-850D7145A860}"/>
              </a:ext>
            </a:extLst>
          </p:cNvPr>
          <p:cNvSpPr>
            <a:spLocks noChangeArrowheads="1"/>
          </p:cNvSpPr>
          <p:nvPr/>
        </p:nvSpPr>
        <p:spPr bwMode="auto">
          <a:xfrm>
            <a:off x="3305969" y="4869016"/>
            <a:ext cx="450005" cy="360000"/>
          </a:xfrm>
          <a:prstGeom prst="rect">
            <a:avLst/>
          </a:prstGeom>
          <a:ln>
            <a:headEnd/>
            <a:tailEnd type="none" w="med" len="lg"/>
          </a:ln>
          <a:effectLst/>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dirty="0">
                <a:latin typeface="+mn-lt"/>
                <a:ea typeface="+mn-ea"/>
              </a:rPr>
              <a:t>L2</a:t>
            </a:r>
          </a:p>
        </p:txBody>
      </p:sp>
      <p:sp>
        <p:nvSpPr>
          <p:cNvPr id="140" name="Rectangle 73">
            <a:extLst>
              <a:ext uri="{FF2B5EF4-FFF2-40B4-BE49-F238E27FC236}">
                <a16:creationId xmlns:a16="http://schemas.microsoft.com/office/drawing/2014/main" id="{97A7B4EB-A4BA-BFD5-F087-681A85A97D24}"/>
              </a:ext>
            </a:extLst>
          </p:cNvPr>
          <p:cNvSpPr>
            <a:spLocks noChangeArrowheads="1"/>
          </p:cNvSpPr>
          <p:nvPr/>
        </p:nvSpPr>
        <p:spPr bwMode="auto">
          <a:xfrm>
            <a:off x="1505949" y="1898983"/>
            <a:ext cx="450004" cy="360000"/>
          </a:xfrm>
          <a:prstGeom prst="rect">
            <a:avLst/>
          </a:prstGeom>
          <a:ln>
            <a:headEnd/>
            <a:tailEnd type="none" w="med" len="lg"/>
          </a:ln>
          <a:effectLst/>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endParaRPr lang="en-US" altLang="ja-JP" dirty="0">
              <a:latin typeface="+mn-lt"/>
              <a:ea typeface="+mn-ea"/>
            </a:endParaRPr>
          </a:p>
        </p:txBody>
      </p:sp>
      <p:sp>
        <p:nvSpPr>
          <p:cNvPr id="141" name="Rectangle 73">
            <a:extLst>
              <a:ext uri="{FF2B5EF4-FFF2-40B4-BE49-F238E27FC236}">
                <a16:creationId xmlns:a16="http://schemas.microsoft.com/office/drawing/2014/main" id="{8B5B5FC7-43D7-E22B-3091-5484155714DB}"/>
              </a:ext>
            </a:extLst>
          </p:cNvPr>
          <p:cNvSpPr>
            <a:spLocks noChangeArrowheads="1"/>
          </p:cNvSpPr>
          <p:nvPr/>
        </p:nvSpPr>
        <p:spPr bwMode="auto">
          <a:xfrm>
            <a:off x="1955954" y="1898983"/>
            <a:ext cx="450004" cy="360000"/>
          </a:xfrm>
          <a:prstGeom prst="rect">
            <a:avLst/>
          </a:prstGeom>
          <a:ln>
            <a:headEnd/>
            <a:tailEnd type="none" w="med" len="lg"/>
          </a:ln>
          <a:effectLst/>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endParaRPr lang="en-US" altLang="ja-JP" dirty="0">
              <a:latin typeface="+mn-lt"/>
              <a:ea typeface="+mn-ea"/>
            </a:endParaRPr>
          </a:p>
        </p:txBody>
      </p:sp>
      <p:sp>
        <p:nvSpPr>
          <p:cNvPr id="142" name="Rectangle 73">
            <a:extLst>
              <a:ext uri="{FF2B5EF4-FFF2-40B4-BE49-F238E27FC236}">
                <a16:creationId xmlns:a16="http://schemas.microsoft.com/office/drawing/2014/main" id="{19ABD2C2-5629-9322-9856-BEDEF04E4E4A}"/>
              </a:ext>
            </a:extLst>
          </p:cNvPr>
          <p:cNvSpPr>
            <a:spLocks noChangeArrowheads="1"/>
          </p:cNvSpPr>
          <p:nvPr/>
        </p:nvSpPr>
        <p:spPr bwMode="auto">
          <a:xfrm>
            <a:off x="2405959" y="1898983"/>
            <a:ext cx="450004" cy="360000"/>
          </a:xfrm>
          <a:prstGeom prst="rect">
            <a:avLst/>
          </a:prstGeom>
          <a:ln>
            <a:headEnd/>
            <a:tailEnd type="none" w="med" len="lg"/>
          </a:ln>
          <a:effectLst/>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endParaRPr lang="en-US" altLang="ja-JP" dirty="0">
              <a:latin typeface="+mn-lt"/>
              <a:ea typeface="+mn-ea"/>
            </a:endParaRPr>
          </a:p>
        </p:txBody>
      </p:sp>
      <p:sp>
        <p:nvSpPr>
          <p:cNvPr id="143" name="Rectangle 73">
            <a:extLst>
              <a:ext uri="{FF2B5EF4-FFF2-40B4-BE49-F238E27FC236}">
                <a16:creationId xmlns:a16="http://schemas.microsoft.com/office/drawing/2014/main" id="{F9413CB1-C85C-4D23-23CE-AA067AF3FE82}"/>
              </a:ext>
            </a:extLst>
          </p:cNvPr>
          <p:cNvSpPr>
            <a:spLocks noChangeArrowheads="1"/>
          </p:cNvSpPr>
          <p:nvPr/>
        </p:nvSpPr>
        <p:spPr bwMode="auto">
          <a:xfrm>
            <a:off x="3755974" y="2798993"/>
            <a:ext cx="450004" cy="360000"/>
          </a:xfrm>
          <a:prstGeom prst="rect">
            <a:avLst/>
          </a:prstGeom>
          <a:ln>
            <a:headEnd/>
            <a:tailEnd type="none" w="med" len="lg"/>
          </a:ln>
          <a:effectLst/>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endParaRPr lang="en-US" altLang="ja-JP" dirty="0">
              <a:latin typeface="+mn-lt"/>
              <a:ea typeface="+mn-ea"/>
            </a:endParaRPr>
          </a:p>
        </p:txBody>
      </p:sp>
      <p:sp>
        <p:nvSpPr>
          <p:cNvPr id="144" name="Rectangle 73">
            <a:extLst>
              <a:ext uri="{FF2B5EF4-FFF2-40B4-BE49-F238E27FC236}">
                <a16:creationId xmlns:a16="http://schemas.microsoft.com/office/drawing/2014/main" id="{7362BAB1-BCD3-3170-1F02-A2C14B46E9A2}"/>
              </a:ext>
            </a:extLst>
          </p:cNvPr>
          <p:cNvSpPr>
            <a:spLocks noChangeArrowheads="1"/>
          </p:cNvSpPr>
          <p:nvPr/>
        </p:nvSpPr>
        <p:spPr bwMode="auto">
          <a:xfrm>
            <a:off x="4205979" y="2798993"/>
            <a:ext cx="450004" cy="360000"/>
          </a:xfrm>
          <a:prstGeom prst="rect">
            <a:avLst/>
          </a:prstGeom>
          <a:ln>
            <a:headEnd/>
            <a:tailEnd type="none" w="med" len="lg"/>
          </a:ln>
          <a:effectLst/>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endParaRPr lang="en-US" altLang="ja-JP" dirty="0">
              <a:latin typeface="+mn-lt"/>
              <a:ea typeface="+mn-ea"/>
            </a:endParaRPr>
          </a:p>
        </p:txBody>
      </p:sp>
      <p:sp>
        <p:nvSpPr>
          <p:cNvPr id="145" name="Rectangle 73">
            <a:extLst>
              <a:ext uri="{FF2B5EF4-FFF2-40B4-BE49-F238E27FC236}">
                <a16:creationId xmlns:a16="http://schemas.microsoft.com/office/drawing/2014/main" id="{6EA2DA98-E30A-B220-D0C8-0F317D1F2733}"/>
              </a:ext>
            </a:extLst>
          </p:cNvPr>
          <p:cNvSpPr>
            <a:spLocks noChangeArrowheads="1"/>
          </p:cNvSpPr>
          <p:nvPr/>
        </p:nvSpPr>
        <p:spPr bwMode="auto">
          <a:xfrm>
            <a:off x="4655984" y="2798993"/>
            <a:ext cx="450004" cy="360000"/>
          </a:xfrm>
          <a:prstGeom prst="rect">
            <a:avLst/>
          </a:prstGeom>
          <a:ln>
            <a:headEnd/>
            <a:tailEnd type="none" w="med" len="lg"/>
          </a:ln>
          <a:effectLst/>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endParaRPr lang="en-US" altLang="ja-JP" dirty="0">
              <a:latin typeface="+mn-lt"/>
              <a:ea typeface="+mn-ea"/>
            </a:endParaRPr>
          </a:p>
        </p:txBody>
      </p:sp>
      <p:sp>
        <p:nvSpPr>
          <p:cNvPr id="105" name="Rectangle 69">
            <a:extLst>
              <a:ext uri="{FF2B5EF4-FFF2-40B4-BE49-F238E27FC236}">
                <a16:creationId xmlns:a16="http://schemas.microsoft.com/office/drawing/2014/main" id="{20446AF6-D54B-8A9D-1584-CDD0CE5743CF}"/>
              </a:ext>
            </a:extLst>
          </p:cNvPr>
          <p:cNvSpPr>
            <a:spLocks noChangeArrowheads="1"/>
          </p:cNvSpPr>
          <p:nvPr/>
        </p:nvSpPr>
        <p:spPr bwMode="auto">
          <a:xfrm>
            <a:off x="605939" y="3969006"/>
            <a:ext cx="450004" cy="360000"/>
          </a:xfrm>
          <a:prstGeom prst="rect">
            <a:avLst/>
          </a:prstGeom>
          <a:ln w="31750">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latin typeface="+mn-lt"/>
                <a:ea typeface="+mn-ea"/>
              </a:rPr>
              <a:t>P</a:t>
            </a:r>
          </a:p>
        </p:txBody>
      </p:sp>
      <p:sp>
        <p:nvSpPr>
          <p:cNvPr id="110" name="Rectangle 69">
            <a:extLst>
              <a:ext uri="{FF2B5EF4-FFF2-40B4-BE49-F238E27FC236}">
                <a16:creationId xmlns:a16="http://schemas.microsoft.com/office/drawing/2014/main" id="{E5A92D6E-3114-15F8-0A68-0FE2C7B0859D}"/>
              </a:ext>
            </a:extLst>
          </p:cNvPr>
          <p:cNvSpPr>
            <a:spLocks noChangeArrowheads="1"/>
          </p:cNvSpPr>
          <p:nvPr/>
        </p:nvSpPr>
        <p:spPr bwMode="auto">
          <a:xfrm>
            <a:off x="1055944" y="4419011"/>
            <a:ext cx="450004" cy="360000"/>
          </a:xfrm>
          <a:prstGeom prst="rect">
            <a:avLst/>
          </a:prstGeom>
          <a:ln w="31750">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latin typeface="+mn-lt"/>
                <a:ea typeface="+mn-ea"/>
              </a:rPr>
              <a:t>P</a:t>
            </a:r>
          </a:p>
        </p:txBody>
      </p:sp>
      <p:sp>
        <p:nvSpPr>
          <p:cNvPr id="115" name="Rectangle 69">
            <a:extLst>
              <a:ext uri="{FF2B5EF4-FFF2-40B4-BE49-F238E27FC236}">
                <a16:creationId xmlns:a16="http://schemas.microsoft.com/office/drawing/2014/main" id="{2062C052-0A5E-3AC8-A2D9-D5F4BF3A1776}"/>
              </a:ext>
            </a:extLst>
          </p:cNvPr>
          <p:cNvSpPr>
            <a:spLocks noChangeArrowheads="1"/>
          </p:cNvSpPr>
          <p:nvPr/>
        </p:nvSpPr>
        <p:spPr bwMode="auto">
          <a:xfrm>
            <a:off x="1505949" y="4869016"/>
            <a:ext cx="450004" cy="360000"/>
          </a:xfrm>
          <a:prstGeom prst="rect">
            <a:avLst/>
          </a:prstGeom>
          <a:ln w="31750">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latin typeface="+mn-lt"/>
                <a:ea typeface="+mn-ea"/>
              </a:rPr>
              <a:t>P</a:t>
            </a:r>
          </a:p>
        </p:txBody>
      </p:sp>
      <p:sp>
        <p:nvSpPr>
          <p:cNvPr id="120" name="Rectangle 69">
            <a:extLst>
              <a:ext uri="{FF2B5EF4-FFF2-40B4-BE49-F238E27FC236}">
                <a16:creationId xmlns:a16="http://schemas.microsoft.com/office/drawing/2014/main" id="{33393CDF-52F8-D411-31F9-C9B477035734}"/>
              </a:ext>
            </a:extLst>
          </p:cNvPr>
          <p:cNvSpPr>
            <a:spLocks noChangeArrowheads="1"/>
          </p:cNvSpPr>
          <p:nvPr/>
        </p:nvSpPr>
        <p:spPr bwMode="auto">
          <a:xfrm>
            <a:off x="1955954" y="5319021"/>
            <a:ext cx="450004" cy="360000"/>
          </a:xfrm>
          <a:prstGeom prst="rect">
            <a:avLst/>
          </a:prstGeom>
          <a:ln w="31750">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latin typeface="+mn-lt"/>
                <a:ea typeface="+mn-ea"/>
              </a:rPr>
              <a:t>P</a:t>
            </a:r>
          </a:p>
        </p:txBody>
      </p:sp>
    </p:spTree>
    <p:extLst>
      <p:ext uri="{BB962C8B-B14F-4D97-AF65-F5344CB8AC3E}">
        <p14:creationId xmlns:p14="http://schemas.microsoft.com/office/powerpoint/2010/main" val="19346876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2B282050-3A91-E4CF-3EE1-220EB498A391}"/>
              </a:ext>
            </a:extLst>
          </p:cNvPr>
          <p:cNvSpPr>
            <a:spLocks noGrp="1"/>
          </p:cNvSpPr>
          <p:nvPr>
            <p:ph type="title"/>
          </p:nvPr>
        </p:nvSpPr>
        <p:spPr/>
        <p:txBody>
          <a:bodyPr/>
          <a:lstStyle/>
          <a:p>
            <a:r>
              <a:rPr lang="ja-JP" altLang="en-US" dirty="0"/>
              <a:t>まとめ</a:t>
            </a:r>
          </a:p>
        </p:txBody>
      </p:sp>
    </p:spTree>
    <p:extLst>
      <p:ext uri="{BB962C8B-B14F-4D97-AF65-F5344CB8AC3E}">
        <p14:creationId xmlns:p14="http://schemas.microsoft.com/office/powerpoint/2010/main" val="99386240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98DE325-6230-4B47-BB30-469004CB7AB6}"/>
              </a:ext>
            </a:extLst>
          </p:cNvPr>
          <p:cNvSpPr>
            <a:spLocks noGrp="1"/>
          </p:cNvSpPr>
          <p:nvPr>
            <p:ph type="title"/>
          </p:nvPr>
        </p:nvSpPr>
        <p:spPr/>
        <p:txBody>
          <a:bodyPr/>
          <a:lstStyle/>
          <a:p>
            <a:r>
              <a:rPr lang="ja-JP" altLang="en-US" dirty="0"/>
              <a:t>分岐予測のまとめ</a:t>
            </a:r>
            <a:endParaRPr kumimoji="1" lang="ja-JP" altLang="en-US" dirty="0"/>
          </a:p>
        </p:txBody>
      </p:sp>
      <p:sp>
        <p:nvSpPr>
          <p:cNvPr id="3" name="テキスト プレースホルダー 2">
            <a:extLst>
              <a:ext uri="{FF2B5EF4-FFF2-40B4-BE49-F238E27FC236}">
                <a16:creationId xmlns:a16="http://schemas.microsoft.com/office/drawing/2014/main" id="{E182FA63-E17F-453D-93D3-CA252694982A}"/>
              </a:ext>
            </a:extLst>
          </p:cNvPr>
          <p:cNvSpPr>
            <a:spLocks noGrp="1"/>
          </p:cNvSpPr>
          <p:nvPr>
            <p:ph type="body" sz="quarter" idx="10"/>
          </p:nvPr>
        </p:nvSpPr>
        <p:spPr/>
        <p:txBody>
          <a:bodyPr/>
          <a:lstStyle/>
          <a:p>
            <a:pPr marL="457200" indent="-457200">
              <a:buFont typeface="+mj-lt"/>
              <a:buAutoNum type="arabicPeriod"/>
            </a:pPr>
            <a:r>
              <a:rPr lang="ja-JP" altLang="en-US" dirty="0"/>
              <a:t>予測精度と性能の簡単な見積もり</a:t>
            </a:r>
            <a:endParaRPr lang="en-US" altLang="ja-JP" dirty="0"/>
          </a:p>
          <a:p>
            <a:pPr marL="457200" indent="-457200">
              <a:buFont typeface="+mj-lt"/>
              <a:buAutoNum type="arabicPeriod"/>
            </a:pPr>
            <a:r>
              <a:rPr lang="ja-JP" altLang="en-US" dirty="0"/>
              <a:t>間接分岐予測器</a:t>
            </a:r>
            <a:endParaRPr lang="en-US" altLang="ja-JP" dirty="0"/>
          </a:p>
          <a:p>
            <a:pPr marL="457200" indent="-457200">
              <a:buFont typeface="+mj-lt"/>
              <a:buAutoNum type="arabicPeriod"/>
            </a:pPr>
            <a:r>
              <a:rPr lang="ja-JP" altLang="en-US" dirty="0"/>
              <a:t>高度な方向予測器</a:t>
            </a:r>
            <a:endParaRPr lang="en-US" altLang="ja-JP" dirty="0"/>
          </a:p>
          <a:p>
            <a:pPr marL="457200" indent="-457200">
              <a:buFont typeface="+mj-lt"/>
              <a:buAutoNum type="arabicPeriod"/>
            </a:pPr>
            <a:r>
              <a:rPr lang="ja-JP" altLang="en-US" dirty="0"/>
              <a:t>フェッチパイプライン</a:t>
            </a:r>
          </a:p>
        </p:txBody>
      </p:sp>
    </p:spTree>
    <p:extLst>
      <p:ext uri="{BB962C8B-B14F-4D97-AF65-F5344CB8AC3E}">
        <p14:creationId xmlns:p14="http://schemas.microsoft.com/office/powerpoint/2010/main" val="20717815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98DE325-6230-4B47-BB30-469004CB7AB6}"/>
              </a:ext>
            </a:extLst>
          </p:cNvPr>
          <p:cNvSpPr>
            <a:spLocks noGrp="1"/>
          </p:cNvSpPr>
          <p:nvPr>
            <p:ph type="title"/>
          </p:nvPr>
        </p:nvSpPr>
        <p:spPr/>
        <p:txBody>
          <a:bodyPr/>
          <a:lstStyle/>
          <a:p>
            <a:r>
              <a:rPr lang="ja-JP" altLang="en-US" dirty="0"/>
              <a:t>分岐予測のまとめ</a:t>
            </a:r>
            <a:endParaRPr kumimoji="1" lang="ja-JP" altLang="en-US" dirty="0"/>
          </a:p>
        </p:txBody>
      </p:sp>
      <p:sp>
        <p:nvSpPr>
          <p:cNvPr id="3" name="テキスト プレースホルダー 2">
            <a:extLst>
              <a:ext uri="{FF2B5EF4-FFF2-40B4-BE49-F238E27FC236}">
                <a16:creationId xmlns:a16="http://schemas.microsoft.com/office/drawing/2014/main" id="{E182FA63-E17F-453D-93D3-CA252694982A}"/>
              </a:ext>
            </a:extLst>
          </p:cNvPr>
          <p:cNvSpPr>
            <a:spLocks noGrp="1"/>
          </p:cNvSpPr>
          <p:nvPr>
            <p:ph type="body" sz="quarter" idx="10"/>
          </p:nvPr>
        </p:nvSpPr>
        <p:spPr/>
        <p:txBody>
          <a:bodyPr/>
          <a:lstStyle/>
          <a:p>
            <a:r>
              <a:rPr kumimoji="1" lang="ja-JP" altLang="en-US" dirty="0"/>
              <a:t>「付録</a:t>
            </a:r>
            <a:r>
              <a:rPr kumimoji="1" lang="en-US" altLang="ja-JP" dirty="0"/>
              <a:t>1:</a:t>
            </a:r>
            <a:r>
              <a:rPr kumimoji="1" lang="ja-JP" altLang="en-US" dirty="0"/>
              <a:t>分岐予測の詳細 」（</a:t>
            </a:r>
            <a:r>
              <a:rPr kumimoji="1" lang="en-US" altLang="ja-JP" dirty="0"/>
              <a:t>github </a:t>
            </a:r>
            <a:r>
              <a:rPr kumimoji="1" lang="ja-JP" altLang="en-US" dirty="0"/>
              <a:t>上にある）の内容：</a:t>
            </a:r>
            <a:endParaRPr kumimoji="1" lang="en-US" altLang="ja-JP" dirty="0"/>
          </a:p>
          <a:p>
            <a:pPr lvl="1"/>
            <a:r>
              <a:rPr lang="ja-JP" altLang="en-US" dirty="0"/>
              <a:t>パーセプトロン予測器や </a:t>
            </a:r>
            <a:r>
              <a:rPr lang="en-US" altLang="ja-JP" dirty="0"/>
              <a:t>TAGE </a:t>
            </a:r>
            <a:r>
              <a:rPr lang="ja-JP" altLang="en-US" dirty="0"/>
              <a:t>予測器の詳細</a:t>
            </a:r>
            <a:endParaRPr lang="en-US" altLang="ja-JP" dirty="0"/>
          </a:p>
          <a:p>
            <a:pPr lvl="2"/>
            <a:r>
              <a:rPr lang="en-US" altLang="ja-JP" dirty="0"/>
              <a:t>Piece-wise </a:t>
            </a:r>
            <a:r>
              <a:rPr lang="ja-JP" altLang="en-US" dirty="0"/>
              <a:t>パーセプトロン，</a:t>
            </a:r>
            <a:r>
              <a:rPr kumimoji="1" lang="en-US" altLang="ja-JP" dirty="0"/>
              <a:t>O-GEHL</a:t>
            </a:r>
          </a:p>
          <a:p>
            <a:pPr lvl="2"/>
            <a:r>
              <a:rPr lang="en-US" altLang="ja-JP" dirty="0"/>
              <a:t>BATAGE</a:t>
            </a:r>
            <a:r>
              <a:rPr lang="ja-JP" altLang="en-US" dirty="0"/>
              <a:t>（</a:t>
            </a:r>
            <a:r>
              <a:rPr lang="en-US" altLang="ja-JP" dirty="0"/>
              <a:t>Bayesian TAGE</a:t>
            </a:r>
            <a:r>
              <a:rPr lang="ja-JP" altLang="en-US" dirty="0"/>
              <a:t>）</a:t>
            </a:r>
            <a:endParaRPr lang="en-US" altLang="ja-JP" dirty="0"/>
          </a:p>
          <a:p>
            <a:pPr lvl="1"/>
            <a:r>
              <a:rPr lang="ja-JP" altLang="en-US" dirty="0"/>
              <a:t>予測ミスからの回復の実装方法</a:t>
            </a:r>
            <a:endParaRPr lang="en-US" altLang="ja-JP" dirty="0"/>
          </a:p>
          <a:p>
            <a:pPr lvl="1"/>
            <a:r>
              <a:rPr kumimoji="1" lang="ja-JP" altLang="en-US" dirty="0"/>
              <a:t>複数命令を同時にフェッチする場合のやりかた</a:t>
            </a:r>
            <a:endParaRPr kumimoji="1" lang="en-US" altLang="ja-JP" dirty="0"/>
          </a:p>
          <a:p>
            <a:r>
              <a:rPr lang="ja-JP" altLang="en-US" dirty="0"/>
              <a:t>（正直，今見返すと情報が古かったり浅かったりするので更新予定</a:t>
            </a:r>
            <a:endParaRPr kumimoji="1" lang="en-US" altLang="ja-JP" dirty="0"/>
          </a:p>
        </p:txBody>
      </p:sp>
    </p:spTree>
    <p:extLst>
      <p:ext uri="{BB962C8B-B14F-4D97-AF65-F5344CB8AC3E}">
        <p14:creationId xmlns:p14="http://schemas.microsoft.com/office/powerpoint/2010/main" val="25762588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出欠と感想</a:t>
            </a:r>
            <a:endParaRPr kumimoji="1" lang="ja-JP" altLang="en-US" dirty="0"/>
          </a:p>
        </p:txBody>
      </p:sp>
      <p:sp>
        <p:nvSpPr>
          <p:cNvPr id="3" name="テキスト プレースホルダー 2"/>
          <p:cNvSpPr>
            <a:spLocks noGrp="1"/>
          </p:cNvSpPr>
          <p:nvPr>
            <p:ph type="body" sz="quarter" idx="10"/>
          </p:nvPr>
        </p:nvSpPr>
        <p:spPr>
          <a:xfrm>
            <a:off x="1865953" y="1088977"/>
            <a:ext cx="8532044" cy="5219751"/>
          </a:xfrm>
        </p:spPr>
        <p:txBody>
          <a:bodyPr/>
          <a:lstStyle/>
          <a:p>
            <a:r>
              <a:rPr lang="ja-JP" altLang="en-US" dirty="0"/>
              <a:t>本日の講義でよくわかったところ，わからなかったところ，</a:t>
            </a:r>
            <a:br>
              <a:rPr lang="en-US" altLang="ja-JP" dirty="0"/>
            </a:br>
            <a:r>
              <a:rPr lang="ja-JP" altLang="en-US" dirty="0"/>
              <a:t>質問，感想などを </a:t>
            </a:r>
            <a:r>
              <a:rPr lang="en-US" altLang="ja-JP" dirty="0"/>
              <a:t>UTOL </a:t>
            </a:r>
            <a:r>
              <a:rPr lang="ja-JP" altLang="en-US" dirty="0"/>
              <a:t>の出席欄に書いてください</a:t>
            </a:r>
            <a:endParaRPr lang="en-US" altLang="ja-JP" dirty="0"/>
          </a:p>
          <a:p>
            <a:pPr lvl="1"/>
            <a:r>
              <a:rPr lang="en-US" altLang="ja-JP" dirty="0"/>
              <a:t>LMS </a:t>
            </a:r>
            <a:r>
              <a:rPr lang="ja-JP" altLang="en-US" dirty="0"/>
              <a:t>の出席を設定するので，そこにお願いします</a:t>
            </a:r>
            <a:endParaRPr lang="en-US" altLang="ja-JP" dirty="0"/>
          </a:p>
          <a:p>
            <a:pPr lvl="1"/>
            <a:r>
              <a:rPr lang="ja-JP" altLang="en-US" dirty="0"/>
              <a:t>パスワード ：</a:t>
            </a:r>
            <a:r>
              <a:rPr lang="en-US" altLang="ja-JP" dirty="0"/>
              <a:t>arc</a:t>
            </a:r>
          </a:p>
          <a:p>
            <a:r>
              <a:rPr lang="ja-JP" altLang="en-US" dirty="0"/>
              <a:t>意見や内容へのリクエストもあったら書いてください</a:t>
            </a:r>
            <a:endParaRPr lang="en-US" altLang="ja-JP" dirty="0"/>
          </a:p>
          <a:p>
            <a:r>
              <a:rPr lang="en-US" altLang="ja-JP" dirty="0">
                <a:solidFill>
                  <a:schemeClr val="accent5"/>
                </a:solidFill>
              </a:rPr>
              <a:t>UTOL </a:t>
            </a:r>
            <a:r>
              <a:rPr lang="ja-JP" altLang="en-US" dirty="0">
                <a:solidFill>
                  <a:schemeClr val="accent5"/>
                </a:solidFill>
              </a:rPr>
              <a:t>の出席の締め切りは来週の講義開始までに設定してあります</a:t>
            </a:r>
            <a:endParaRPr lang="en-US" altLang="ja-JP" dirty="0">
              <a:solidFill>
                <a:schemeClr val="accent5"/>
              </a:solidFill>
            </a:endParaRPr>
          </a:p>
          <a:p>
            <a:pPr lvl="1"/>
            <a:r>
              <a:rPr lang="ja-JP" altLang="en-US" dirty="0"/>
              <a:t>仕様上「遅刻」表示になりますが，特に減点等しません</a:t>
            </a:r>
            <a:endParaRPr lang="en-US" altLang="ja-JP" dirty="0"/>
          </a:p>
          <a:p>
            <a:pPr lvl="1"/>
            <a:r>
              <a:rPr lang="ja-JP" altLang="en-US" dirty="0"/>
              <a:t>来週の講義開始までは感想や質問などを受け付けます</a:t>
            </a:r>
          </a:p>
        </p:txBody>
      </p:sp>
    </p:spTree>
    <p:extLst>
      <p:ext uri="{BB962C8B-B14F-4D97-AF65-F5344CB8AC3E}">
        <p14:creationId xmlns:p14="http://schemas.microsoft.com/office/powerpoint/2010/main" val="32254742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9D92FC6-C481-4334-E992-204B439ABF09}"/>
              </a:ext>
            </a:extLst>
          </p:cNvPr>
          <p:cNvSpPr>
            <a:spLocks noGrp="1"/>
          </p:cNvSpPr>
          <p:nvPr>
            <p:ph type="title"/>
          </p:nvPr>
        </p:nvSpPr>
        <p:spPr/>
        <p:txBody>
          <a:bodyPr/>
          <a:lstStyle/>
          <a:p>
            <a:r>
              <a:rPr lang="ja-JP" altLang="en-US" dirty="0"/>
              <a:t>出席</a:t>
            </a:r>
            <a:endParaRPr kumimoji="1" lang="ja-JP" altLang="en-US" dirty="0"/>
          </a:p>
        </p:txBody>
      </p:sp>
      <p:sp>
        <p:nvSpPr>
          <p:cNvPr id="3" name="テキスト プレースホルダー 2">
            <a:extLst>
              <a:ext uri="{FF2B5EF4-FFF2-40B4-BE49-F238E27FC236}">
                <a16:creationId xmlns:a16="http://schemas.microsoft.com/office/drawing/2014/main" id="{BA87AF6B-357A-C55C-6782-832EA49BA99E}"/>
              </a:ext>
            </a:extLst>
          </p:cNvPr>
          <p:cNvSpPr>
            <a:spLocks noGrp="1"/>
          </p:cNvSpPr>
          <p:nvPr>
            <p:ph type="body" sz="quarter" idx="10"/>
          </p:nvPr>
        </p:nvSpPr>
        <p:spPr>
          <a:xfrm>
            <a:off x="1775952" y="1088974"/>
            <a:ext cx="9180102" cy="5219751"/>
          </a:xfrm>
        </p:spPr>
        <p:txBody>
          <a:bodyPr/>
          <a:lstStyle/>
          <a:p>
            <a:r>
              <a:rPr lang="ja-JP" altLang="en-US" dirty="0">
                <a:solidFill>
                  <a:schemeClr val="accent6"/>
                </a:solidFill>
              </a:rPr>
              <a:t>以下のスプレッドシートの自分の席のところに学籍番号を書いてください</a:t>
            </a:r>
            <a:endParaRPr kumimoji="1" lang="en-US" altLang="ja-JP" dirty="0">
              <a:hlinkClick r:id="" action="ppaction://noaction"/>
            </a:endParaRPr>
          </a:p>
          <a:p>
            <a:pPr lvl="1"/>
            <a:r>
              <a:rPr lang="en-US" altLang="ja-JP" dirty="0">
                <a:hlinkClick r:id="rId2"/>
              </a:rPr>
              <a:t>https://docs.google.com/spreadsheets/d/1Sufjhmcvn4_wInaJ3sAv3Qf47gH4Q1Ku_dlsfGvo3B4/edit?usp=drive_link</a:t>
            </a:r>
            <a:endParaRPr lang="en-US" altLang="ja-JP" dirty="0"/>
          </a:p>
          <a:p>
            <a:pPr lvl="1"/>
            <a:r>
              <a:rPr lang="ja-JP" altLang="en-US" dirty="0"/>
              <a:t>学生側から見た場合の配置で（画面上が教団側），席の対応する行と列のところに書いてください</a:t>
            </a:r>
            <a:endParaRPr lang="en-US" altLang="ja-JP" dirty="0"/>
          </a:p>
          <a:p>
            <a:endParaRPr kumimoji="1" lang="ja-JP" altLang="en-US" dirty="0"/>
          </a:p>
        </p:txBody>
      </p:sp>
    </p:spTree>
    <p:extLst>
      <p:ext uri="{BB962C8B-B14F-4D97-AF65-F5344CB8AC3E}">
        <p14:creationId xmlns:p14="http://schemas.microsoft.com/office/powerpoint/2010/main" val="36423834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F64343-0BEE-A90B-380F-4F45E92BED93}"/>
              </a:ext>
            </a:extLst>
          </p:cNvPr>
          <p:cNvSpPr>
            <a:spLocks noGrp="1"/>
          </p:cNvSpPr>
          <p:nvPr>
            <p:ph type="title"/>
          </p:nvPr>
        </p:nvSpPr>
        <p:spPr/>
        <p:txBody>
          <a:bodyPr/>
          <a:lstStyle/>
          <a:p>
            <a:r>
              <a:rPr lang="ja-JP" altLang="en-US" dirty="0"/>
              <a:t>付録</a:t>
            </a:r>
            <a:endParaRPr kumimoji="1" lang="ja-JP" altLang="en-US" dirty="0"/>
          </a:p>
        </p:txBody>
      </p:sp>
      <p:sp>
        <p:nvSpPr>
          <p:cNvPr id="3" name="テキスト プレースホルダー 2">
            <a:extLst>
              <a:ext uri="{FF2B5EF4-FFF2-40B4-BE49-F238E27FC236}">
                <a16:creationId xmlns:a16="http://schemas.microsoft.com/office/drawing/2014/main" id="{535D1FD3-580E-3BE0-4B56-7B7E03F758E8}"/>
              </a:ext>
            </a:extLst>
          </p:cNvPr>
          <p:cNvSpPr>
            <a:spLocks noGrp="1"/>
          </p:cNvSpPr>
          <p:nvPr>
            <p:ph type="body" sz="quarter" idx="10"/>
          </p:nvPr>
        </p:nvSpPr>
        <p:spPr/>
        <p:txBody>
          <a:bodyPr/>
          <a:lstStyle/>
          <a:p>
            <a:r>
              <a:rPr kumimoji="1" lang="ja-JP" altLang="en-US" dirty="0"/>
              <a:t>古い資料にあったものを移動</a:t>
            </a:r>
          </a:p>
        </p:txBody>
      </p:sp>
    </p:spTree>
    <p:extLst>
      <p:ext uri="{BB962C8B-B14F-4D97-AF65-F5344CB8AC3E}">
        <p14:creationId xmlns:p14="http://schemas.microsoft.com/office/powerpoint/2010/main" val="17013285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6C34A05-9533-45B4-B387-BA5435160B37}"/>
              </a:ext>
            </a:extLst>
          </p:cNvPr>
          <p:cNvSpPr>
            <a:spLocks noGrp="1"/>
          </p:cNvSpPr>
          <p:nvPr>
            <p:ph type="title"/>
          </p:nvPr>
        </p:nvSpPr>
        <p:spPr/>
        <p:txBody>
          <a:bodyPr/>
          <a:lstStyle/>
          <a:p>
            <a:r>
              <a:rPr kumimoji="1" lang="ja-JP" altLang="en-US" dirty="0"/>
              <a:t>ローカル・グローバル・ハイブリッド予測器</a:t>
            </a:r>
          </a:p>
        </p:txBody>
      </p:sp>
      <p:sp>
        <p:nvSpPr>
          <p:cNvPr id="3" name="テキスト プレースホルダー 2">
            <a:extLst>
              <a:ext uri="{FF2B5EF4-FFF2-40B4-BE49-F238E27FC236}">
                <a16:creationId xmlns:a16="http://schemas.microsoft.com/office/drawing/2014/main" id="{2329696D-0A9D-4FF3-87DC-D66AEDB7A5C9}"/>
              </a:ext>
            </a:extLst>
          </p:cNvPr>
          <p:cNvSpPr>
            <a:spLocks noGrp="1"/>
          </p:cNvSpPr>
          <p:nvPr>
            <p:ph type="body" sz="quarter" idx="10"/>
          </p:nvPr>
        </p:nvSpPr>
        <p:spPr/>
        <p:txBody>
          <a:bodyPr/>
          <a:lstStyle/>
          <a:p>
            <a:r>
              <a:rPr kumimoji="1" lang="ja-JP" altLang="en-US" dirty="0"/>
              <a:t>ローカル予測器とグローバル予測器のそれぞれが得意な分岐がある</a:t>
            </a:r>
            <a:endParaRPr kumimoji="1" lang="en-US" altLang="ja-JP" dirty="0"/>
          </a:p>
          <a:p>
            <a:pPr lvl="1"/>
            <a:r>
              <a:rPr lang="ja-JP" altLang="en-US" dirty="0"/>
              <a:t>基本的にはグローバルの方が強い</a:t>
            </a:r>
            <a:endParaRPr lang="en-US" altLang="ja-JP" dirty="0"/>
          </a:p>
          <a:p>
            <a:pPr lvl="2"/>
            <a:r>
              <a:rPr lang="ja-JP" altLang="en-US" dirty="0"/>
              <a:t>グローバル予測機はローカルなパータンもうまく予測できる</a:t>
            </a:r>
            <a:endParaRPr lang="en-US" altLang="ja-JP" dirty="0"/>
          </a:p>
          <a:p>
            <a:pPr lvl="1"/>
            <a:r>
              <a:rPr lang="ja-JP" altLang="en-US" dirty="0"/>
              <a:t>ローカルが得意な分岐の例：間隔が長い場合</a:t>
            </a:r>
            <a:endParaRPr kumimoji="1" lang="en-US" altLang="ja-JP" dirty="0"/>
          </a:p>
          <a:p>
            <a:pPr lvl="2"/>
            <a:r>
              <a:rPr kumimoji="1" lang="ja-JP" altLang="en-US" dirty="0"/>
              <a:t>ある関数内の </a:t>
            </a:r>
            <a:r>
              <a:rPr kumimoji="1" lang="en-US" altLang="ja-JP" dirty="0"/>
              <a:t>if </a:t>
            </a:r>
            <a:r>
              <a:rPr kumimoji="1" lang="ja-JP" altLang="en-US" dirty="0"/>
              <a:t>文は成立と不成立を</a:t>
            </a:r>
            <a:r>
              <a:rPr lang="ja-JP" altLang="en-US" dirty="0"/>
              <a:t>交互に繰り返す</a:t>
            </a:r>
            <a:endParaRPr lang="en-US" altLang="ja-JP" dirty="0"/>
          </a:p>
          <a:p>
            <a:pPr lvl="2"/>
            <a:r>
              <a:rPr kumimoji="1" lang="ja-JP" altLang="en-US" dirty="0"/>
              <a:t>その関数はかなり時間をあけて呼ばれる</a:t>
            </a:r>
            <a:endParaRPr kumimoji="1" lang="en-US" altLang="ja-JP" dirty="0"/>
          </a:p>
          <a:p>
            <a:pPr lvl="2"/>
            <a:r>
              <a:rPr kumimoji="1" lang="ja-JP" altLang="en-US" dirty="0"/>
              <a:t>グローバル予測器では相当長い履歴が必要</a:t>
            </a:r>
            <a:endParaRPr kumimoji="1" lang="en-US" altLang="ja-JP" dirty="0"/>
          </a:p>
          <a:p>
            <a:r>
              <a:rPr lang="ja-JP" altLang="en-US" dirty="0"/>
              <a:t>アプローチ</a:t>
            </a:r>
            <a:endParaRPr lang="en-US" altLang="ja-JP" dirty="0"/>
          </a:p>
          <a:p>
            <a:pPr lvl="1"/>
            <a:r>
              <a:rPr lang="ja-JP" altLang="en-US" dirty="0"/>
              <a:t>ローカル予測器とグローバル予測器を両方積んで，使い分ける</a:t>
            </a:r>
            <a:endParaRPr kumimoji="1" lang="en-US" altLang="ja-JP" dirty="0"/>
          </a:p>
        </p:txBody>
      </p:sp>
    </p:spTree>
    <p:extLst>
      <p:ext uri="{BB962C8B-B14F-4D97-AF65-F5344CB8AC3E}">
        <p14:creationId xmlns:p14="http://schemas.microsoft.com/office/powerpoint/2010/main" val="22304909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6C34A05-9533-45B4-B387-BA5435160B37}"/>
              </a:ext>
            </a:extLst>
          </p:cNvPr>
          <p:cNvSpPr>
            <a:spLocks noGrp="1"/>
          </p:cNvSpPr>
          <p:nvPr>
            <p:ph type="title"/>
          </p:nvPr>
        </p:nvSpPr>
        <p:spPr/>
        <p:txBody>
          <a:bodyPr/>
          <a:lstStyle/>
          <a:p>
            <a:r>
              <a:rPr kumimoji="1" lang="ja-JP" altLang="en-US" dirty="0"/>
              <a:t>ローカル・グローバル・ハイブリッド予測器</a:t>
            </a:r>
          </a:p>
        </p:txBody>
      </p:sp>
      <p:sp>
        <p:nvSpPr>
          <p:cNvPr id="3" name="テキスト プレースホルダー 2">
            <a:extLst>
              <a:ext uri="{FF2B5EF4-FFF2-40B4-BE49-F238E27FC236}">
                <a16:creationId xmlns:a16="http://schemas.microsoft.com/office/drawing/2014/main" id="{2329696D-0A9D-4FF3-87DC-D66AEDB7A5C9}"/>
              </a:ext>
            </a:extLst>
          </p:cNvPr>
          <p:cNvSpPr>
            <a:spLocks noGrp="1"/>
          </p:cNvSpPr>
          <p:nvPr>
            <p:ph type="body" sz="quarter" idx="10"/>
          </p:nvPr>
        </p:nvSpPr>
        <p:spPr/>
        <p:txBody>
          <a:bodyPr/>
          <a:lstStyle/>
          <a:p>
            <a:r>
              <a:rPr kumimoji="1" lang="ja-JP" altLang="en-US" dirty="0"/>
              <a:t>要素</a:t>
            </a:r>
            <a:endParaRPr kumimoji="1" lang="en-US" altLang="ja-JP" dirty="0"/>
          </a:p>
          <a:p>
            <a:pPr marL="817200" lvl="1" indent="-457200">
              <a:buFont typeface="+mj-lt"/>
              <a:buAutoNum type="arabicPeriod"/>
            </a:pPr>
            <a:r>
              <a:rPr kumimoji="1" lang="ja-JP" altLang="en-US" dirty="0"/>
              <a:t>ローカル予測器</a:t>
            </a:r>
            <a:endParaRPr kumimoji="1" lang="en-US" altLang="ja-JP" dirty="0"/>
          </a:p>
          <a:p>
            <a:pPr marL="817200" lvl="1" indent="-457200">
              <a:buFont typeface="+mj-lt"/>
              <a:buAutoNum type="arabicPeriod"/>
            </a:pPr>
            <a:r>
              <a:rPr lang="ja-JP" altLang="en-US" dirty="0"/>
              <a:t>グローバル予測器</a:t>
            </a:r>
            <a:endParaRPr lang="en-US" altLang="ja-JP" dirty="0"/>
          </a:p>
          <a:p>
            <a:pPr marL="817200" lvl="1" indent="-457200">
              <a:buFont typeface="+mj-lt"/>
              <a:buAutoNum type="arabicPeriod"/>
            </a:pPr>
            <a:r>
              <a:rPr kumimoji="1" lang="ja-JP" altLang="en-US" dirty="0"/>
              <a:t>セレクタ</a:t>
            </a:r>
            <a:endParaRPr kumimoji="1" lang="en-US" altLang="ja-JP" dirty="0"/>
          </a:p>
          <a:p>
            <a:pPr lvl="2"/>
            <a:r>
              <a:rPr kumimoji="1" lang="en-US" altLang="ja-JP" dirty="0"/>
              <a:t>PC </a:t>
            </a:r>
            <a:r>
              <a:rPr kumimoji="1" lang="ja-JP" altLang="en-US" dirty="0"/>
              <a:t>をインデクスとしてアクセスされるカウンタのテーブル</a:t>
            </a:r>
            <a:endParaRPr kumimoji="1" lang="en-US" altLang="ja-JP" dirty="0"/>
          </a:p>
          <a:p>
            <a:r>
              <a:rPr lang="ja-JP" altLang="en-US" dirty="0"/>
              <a:t>学習の動作</a:t>
            </a:r>
            <a:endParaRPr lang="en-US" altLang="ja-JP" dirty="0"/>
          </a:p>
          <a:p>
            <a:pPr lvl="1"/>
            <a:r>
              <a:rPr lang="en-US" altLang="ja-JP" dirty="0"/>
              <a:t>1. </a:t>
            </a:r>
            <a:r>
              <a:rPr kumimoji="1" lang="ja-JP" altLang="en-US" dirty="0"/>
              <a:t>ローカル予測</a:t>
            </a:r>
            <a:r>
              <a:rPr lang="ja-JP" altLang="en-US" dirty="0"/>
              <a:t>器</a:t>
            </a:r>
            <a:r>
              <a:rPr kumimoji="1" lang="ja-JP" altLang="en-US" dirty="0"/>
              <a:t>と </a:t>
            </a:r>
            <a:r>
              <a:rPr lang="en-US" altLang="ja-JP" dirty="0"/>
              <a:t>2. </a:t>
            </a:r>
            <a:r>
              <a:rPr kumimoji="1" lang="ja-JP" altLang="en-US" dirty="0"/>
              <a:t>グローバル予測器で並列に予測</a:t>
            </a:r>
            <a:endParaRPr kumimoji="1" lang="en-US" altLang="ja-JP" dirty="0"/>
          </a:p>
          <a:p>
            <a:pPr lvl="1"/>
            <a:r>
              <a:rPr lang="ja-JP" altLang="en-US" dirty="0"/>
              <a:t>セレクタの更新</a:t>
            </a:r>
            <a:endParaRPr kumimoji="1" lang="en-US" altLang="ja-JP" dirty="0"/>
          </a:p>
          <a:p>
            <a:pPr lvl="2"/>
            <a:r>
              <a:rPr kumimoji="1" lang="en-US" altLang="ja-JP" dirty="0"/>
              <a:t>1. </a:t>
            </a:r>
            <a:r>
              <a:rPr kumimoji="1" lang="ja-JP" altLang="en-US" dirty="0"/>
              <a:t>が当たってたらセレクタの対応エントリをデクリメント</a:t>
            </a:r>
            <a:endParaRPr kumimoji="1" lang="en-US" altLang="ja-JP" dirty="0"/>
          </a:p>
          <a:p>
            <a:pPr lvl="2"/>
            <a:r>
              <a:rPr lang="en-US" altLang="ja-JP" dirty="0"/>
              <a:t>2. </a:t>
            </a:r>
            <a:r>
              <a:rPr lang="ja-JP" altLang="en-US" dirty="0"/>
              <a:t>が当たってたらセレクタの対応エントリをインクリメント</a:t>
            </a:r>
            <a:endParaRPr kumimoji="1" lang="en-US" altLang="ja-JP" dirty="0"/>
          </a:p>
          <a:p>
            <a:r>
              <a:rPr kumimoji="1" lang="ja-JP" altLang="en-US" dirty="0"/>
              <a:t>予測時の動作</a:t>
            </a:r>
            <a:endParaRPr kumimoji="1" lang="en-US" altLang="ja-JP" dirty="0"/>
          </a:p>
          <a:p>
            <a:pPr lvl="1"/>
            <a:r>
              <a:rPr kumimoji="1" lang="ja-JP" altLang="en-US" dirty="0"/>
              <a:t>セレクタの対応エントリと閾値を比較してどっちを使うか決定</a:t>
            </a:r>
            <a:endParaRPr kumimoji="1" lang="en-US" altLang="ja-JP" dirty="0"/>
          </a:p>
        </p:txBody>
      </p:sp>
    </p:spTree>
    <p:extLst>
      <p:ext uri="{BB962C8B-B14F-4D97-AF65-F5344CB8AC3E}">
        <p14:creationId xmlns:p14="http://schemas.microsoft.com/office/powerpoint/2010/main" val="19802095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6C34A05-9533-45B4-B387-BA5435160B37}"/>
              </a:ext>
            </a:extLst>
          </p:cNvPr>
          <p:cNvSpPr>
            <a:spLocks noGrp="1"/>
          </p:cNvSpPr>
          <p:nvPr>
            <p:ph type="title"/>
          </p:nvPr>
        </p:nvSpPr>
        <p:spPr/>
        <p:txBody>
          <a:bodyPr/>
          <a:lstStyle/>
          <a:p>
            <a:r>
              <a:rPr kumimoji="1" lang="ja-JP" altLang="en-US" dirty="0"/>
              <a:t>ローカル・グローバル・ハイブリッド予測器</a:t>
            </a:r>
          </a:p>
        </p:txBody>
      </p:sp>
      <p:sp>
        <p:nvSpPr>
          <p:cNvPr id="3" name="テキスト プレースホルダー 2">
            <a:extLst>
              <a:ext uri="{FF2B5EF4-FFF2-40B4-BE49-F238E27FC236}">
                <a16:creationId xmlns:a16="http://schemas.microsoft.com/office/drawing/2014/main" id="{2329696D-0A9D-4FF3-87DC-D66AEDB7A5C9}"/>
              </a:ext>
            </a:extLst>
          </p:cNvPr>
          <p:cNvSpPr>
            <a:spLocks noGrp="1"/>
          </p:cNvSpPr>
          <p:nvPr>
            <p:ph type="body" sz="quarter" idx="10"/>
          </p:nvPr>
        </p:nvSpPr>
        <p:spPr/>
        <p:txBody>
          <a:bodyPr/>
          <a:lstStyle/>
          <a:p>
            <a:r>
              <a:rPr kumimoji="1" lang="ja-JP" altLang="en-US" dirty="0"/>
              <a:t>問題点：</a:t>
            </a:r>
            <a:r>
              <a:rPr lang="ja-JP" altLang="en-US" dirty="0"/>
              <a:t>容量効率が悪い</a:t>
            </a:r>
            <a:endParaRPr lang="en-US" altLang="ja-JP" dirty="0"/>
          </a:p>
          <a:p>
            <a:pPr lvl="1"/>
            <a:r>
              <a:rPr kumimoji="1" lang="ja-JP" altLang="en-US" dirty="0"/>
              <a:t>ローカルとグローバルが二重に存在</a:t>
            </a:r>
            <a:endParaRPr kumimoji="1" lang="en-US" altLang="ja-JP" dirty="0"/>
          </a:p>
          <a:p>
            <a:pPr lvl="1"/>
            <a:r>
              <a:rPr kumimoji="1" lang="ja-JP" altLang="en-US" dirty="0"/>
              <a:t>セレクタが追加される</a:t>
            </a:r>
            <a:endParaRPr kumimoji="1" lang="en-US" altLang="ja-JP" dirty="0"/>
          </a:p>
          <a:p>
            <a:r>
              <a:rPr lang="ja-JP" altLang="en-US" dirty="0"/>
              <a:t>それほど予測精度は改善しない</a:t>
            </a:r>
            <a:endParaRPr lang="en-US" altLang="ja-JP" dirty="0"/>
          </a:p>
          <a:p>
            <a:pPr lvl="1"/>
            <a:r>
              <a:rPr lang="ja-JP" altLang="en-US" dirty="0"/>
              <a:t>しかし機構が割と単純なので結構いろんな </a:t>
            </a:r>
            <a:r>
              <a:rPr lang="en-US" altLang="ja-JP" dirty="0"/>
              <a:t>CPU </a:t>
            </a:r>
            <a:r>
              <a:rPr lang="ja-JP" altLang="en-US" dirty="0"/>
              <a:t>に乗っていた</a:t>
            </a:r>
            <a:endParaRPr kumimoji="1" lang="en-US" altLang="ja-JP" dirty="0"/>
          </a:p>
        </p:txBody>
      </p:sp>
    </p:spTree>
    <p:extLst>
      <p:ext uri="{BB962C8B-B14F-4D97-AF65-F5344CB8AC3E}">
        <p14:creationId xmlns:p14="http://schemas.microsoft.com/office/powerpoint/2010/main" val="12290122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988A4B3A-4024-A3A0-DDBA-074194D463B0}"/>
              </a:ext>
            </a:extLst>
          </p:cNvPr>
          <p:cNvSpPr>
            <a:spLocks noGrp="1"/>
          </p:cNvSpPr>
          <p:nvPr>
            <p:ph type="title"/>
          </p:nvPr>
        </p:nvSpPr>
        <p:spPr/>
        <p:txBody>
          <a:bodyPr/>
          <a:lstStyle/>
          <a:p>
            <a:r>
              <a:rPr lang="ja-JP" altLang="en-US" dirty="0"/>
              <a:t>質問や感想</a:t>
            </a:r>
          </a:p>
        </p:txBody>
      </p:sp>
    </p:spTree>
    <p:extLst>
      <p:ext uri="{BB962C8B-B14F-4D97-AF65-F5344CB8AC3E}">
        <p14:creationId xmlns:p14="http://schemas.microsoft.com/office/powerpoint/2010/main" val="259833015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633596F-3513-E0C8-95DF-798F084EACFF}"/>
              </a:ext>
            </a:extLst>
          </p:cNvPr>
          <p:cNvSpPr>
            <a:spLocks noGrp="1"/>
          </p:cNvSpPr>
          <p:nvPr>
            <p:ph type="title"/>
          </p:nvPr>
        </p:nvSpPr>
        <p:spPr/>
        <p:txBody>
          <a:bodyPr/>
          <a:lstStyle/>
          <a:p>
            <a:r>
              <a:rPr kumimoji="1" lang="ja-JP" altLang="en-US" dirty="0"/>
              <a:t>質問と感想</a:t>
            </a:r>
          </a:p>
        </p:txBody>
      </p:sp>
      <p:sp>
        <p:nvSpPr>
          <p:cNvPr id="3" name="テキスト プレースホルダー 2">
            <a:extLst>
              <a:ext uri="{FF2B5EF4-FFF2-40B4-BE49-F238E27FC236}">
                <a16:creationId xmlns:a16="http://schemas.microsoft.com/office/drawing/2014/main" id="{E5F93859-6A8A-A1C7-6495-6145B85421EA}"/>
              </a:ext>
            </a:extLst>
          </p:cNvPr>
          <p:cNvSpPr>
            <a:spLocks noGrp="1"/>
          </p:cNvSpPr>
          <p:nvPr>
            <p:ph type="body" sz="quarter" idx="10"/>
          </p:nvPr>
        </p:nvSpPr>
        <p:spPr/>
        <p:txBody>
          <a:bodyPr/>
          <a:lstStyle/>
          <a:p>
            <a:r>
              <a:rPr lang="en-US" altLang="ja-JP" dirty="0"/>
              <a:t>3</a:t>
            </a:r>
            <a:r>
              <a:rPr lang="ja-JP" altLang="en-US" dirty="0"/>
              <a:t>ビット以上に増やすと逆に「過去の学習に引っ張られすぎて、本当に全体の傾向が変わったときの適応が遅れる（精度が落ちる）」という指摘が非常に興味深かったです。計算機の設計でありながら、どこか「過去の成功体験に執着しすぎると変化に対応できない」という人間の心理や柔軟性のバランスに通ずるものがあったかもしれません（？）。</a:t>
            </a:r>
          </a:p>
          <a:p>
            <a:endParaRPr kumimoji="1" lang="ja-JP" altLang="en-US" dirty="0"/>
          </a:p>
        </p:txBody>
      </p:sp>
    </p:spTree>
    <p:extLst>
      <p:ext uri="{BB962C8B-B14F-4D97-AF65-F5344CB8AC3E}">
        <p14:creationId xmlns:p14="http://schemas.microsoft.com/office/powerpoint/2010/main" val="23154723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BFBE2-46E9-109B-8CA2-59ECE7AE890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F027D4E-4DCE-C738-B852-3B1E3ABB0F30}"/>
              </a:ext>
            </a:extLst>
          </p:cNvPr>
          <p:cNvSpPr>
            <a:spLocks noGrp="1"/>
          </p:cNvSpPr>
          <p:nvPr>
            <p:ph type="title"/>
          </p:nvPr>
        </p:nvSpPr>
        <p:spPr/>
        <p:txBody>
          <a:bodyPr/>
          <a:lstStyle/>
          <a:p>
            <a:r>
              <a:rPr kumimoji="1" lang="ja-JP" altLang="en-US" dirty="0"/>
              <a:t>質問と感想</a:t>
            </a:r>
          </a:p>
        </p:txBody>
      </p:sp>
      <p:sp>
        <p:nvSpPr>
          <p:cNvPr id="3" name="テキスト プレースホルダー 2">
            <a:extLst>
              <a:ext uri="{FF2B5EF4-FFF2-40B4-BE49-F238E27FC236}">
                <a16:creationId xmlns:a16="http://schemas.microsoft.com/office/drawing/2014/main" id="{F3030616-5508-C78A-9BF2-A9694B4CC955}"/>
              </a:ext>
            </a:extLst>
          </p:cNvPr>
          <p:cNvSpPr>
            <a:spLocks noGrp="1"/>
          </p:cNvSpPr>
          <p:nvPr>
            <p:ph type="body" sz="quarter" idx="10"/>
          </p:nvPr>
        </p:nvSpPr>
        <p:spPr/>
        <p:txBody>
          <a:bodyPr/>
          <a:lstStyle/>
          <a:p>
            <a:r>
              <a:rPr lang="ja-JP" altLang="en-US" dirty="0"/>
              <a:t>分岐予測は実装をしたことがないのですが，プログラムの分岐には</a:t>
            </a:r>
            <a:r>
              <a:rPr lang="en-US" altLang="ja-JP" dirty="0"/>
              <a:t>for</a:t>
            </a:r>
            <a:r>
              <a:rPr lang="ja-JP" altLang="en-US" dirty="0"/>
              <a:t>文も多く，単純なカウンタでも十分に予測が可能であるということがわかりました．ハードウェア側では性能の関係であまり大掛かりなことは出来ないと思うのですが，ソフトウェア側に記述の工夫で，分岐予測が成功しやすくなるようなものが存在するのかが気になりました．</a:t>
            </a:r>
            <a:endParaRPr lang="en-US" altLang="ja-JP" dirty="0"/>
          </a:p>
          <a:p>
            <a:r>
              <a:rPr lang="ja-JP" altLang="en-US" dirty="0"/>
              <a:t>最近は分岐の性能予測が上がっているために問題にならないと思うが、</a:t>
            </a:r>
            <a:r>
              <a:rPr lang="en-US" altLang="ja-JP" dirty="0"/>
              <a:t>CPU</a:t>
            </a:r>
            <a:r>
              <a:rPr lang="ja-JP" altLang="en-US" dirty="0"/>
              <a:t>の性能コンテスト見たいなレベルまで行くと、分期予測の際に基本的に成立するようなコードを書く方が分岐予測の精度も結果っ的に上がるのではないかと思った。</a:t>
            </a:r>
          </a:p>
          <a:p>
            <a:pPr lvl="1"/>
            <a:endParaRPr lang="en-US" altLang="ja-JP" dirty="0"/>
          </a:p>
          <a:p>
            <a:pPr lvl="1"/>
            <a:r>
              <a:rPr lang="ja-JP" altLang="en-US" dirty="0"/>
              <a:t>とにかく </a:t>
            </a:r>
            <a:r>
              <a:rPr lang="en-US" altLang="ja-JP" dirty="0"/>
              <a:t>PC </a:t>
            </a:r>
            <a:r>
              <a:rPr lang="ja-JP" altLang="en-US" dirty="0"/>
              <a:t>が直進する（分岐で飛ばない）ようにするのがよい</a:t>
            </a:r>
            <a:endParaRPr kumimoji="1" lang="ja-JP" altLang="en-US" dirty="0"/>
          </a:p>
        </p:txBody>
      </p:sp>
    </p:spTree>
    <p:extLst>
      <p:ext uri="{BB962C8B-B14F-4D97-AF65-F5344CB8AC3E}">
        <p14:creationId xmlns:p14="http://schemas.microsoft.com/office/powerpoint/2010/main" val="41981131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F21BF-CC68-4CFE-449A-25B26DD0A66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B73B2FD-7737-0984-5D26-88BF3EDD7CBB}"/>
              </a:ext>
            </a:extLst>
          </p:cNvPr>
          <p:cNvSpPr>
            <a:spLocks noGrp="1"/>
          </p:cNvSpPr>
          <p:nvPr>
            <p:ph type="title"/>
          </p:nvPr>
        </p:nvSpPr>
        <p:spPr/>
        <p:txBody>
          <a:bodyPr/>
          <a:lstStyle/>
          <a:p>
            <a:r>
              <a:rPr kumimoji="1" lang="ja-JP" altLang="en-US" dirty="0"/>
              <a:t>質問と感想</a:t>
            </a:r>
          </a:p>
        </p:txBody>
      </p:sp>
      <p:sp>
        <p:nvSpPr>
          <p:cNvPr id="3" name="テキスト プレースホルダー 2">
            <a:extLst>
              <a:ext uri="{FF2B5EF4-FFF2-40B4-BE49-F238E27FC236}">
                <a16:creationId xmlns:a16="http://schemas.microsoft.com/office/drawing/2014/main" id="{AF323587-CAF3-5B49-2085-49F680E8EC11}"/>
              </a:ext>
            </a:extLst>
          </p:cNvPr>
          <p:cNvSpPr>
            <a:spLocks noGrp="1"/>
          </p:cNvSpPr>
          <p:nvPr>
            <p:ph type="body" sz="quarter" idx="10"/>
          </p:nvPr>
        </p:nvSpPr>
        <p:spPr/>
        <p:txBody>
          <a:bodyPr/>
          <a:lstStyle/>
          <a:p>
            <a:r>
              <a:rPr lang="ja-JP" altLang="en-US" dirty="0"/>
              <a:t>自分は</a:t>
            </a:r>
            <a:r>
              <a:rPr lang="en-US" altLang="ja-JP" dirty="0"/>
              <a:t>HPC</a:t>
            </a:r>
            <a:r>
              <a:rPr lang="ja-JP" altLang="en-US" dirty="0"/>
              <a:t>の研究室にいてハードウェアのパイプラインとかまで深ぼったアーキテクチャまではそこまで意識しないが、これからは分岐予測に易しい分岐命令を書いてあげたいと思った。</a:t>
            </a:r>
            <a:endParaRPr kumimoji="1" lang="ja-JP" altLang="en-US" dirty="0"/>
          </a:p>
        </p:txBody>
      </p:sp>
    </p:spTree>
    <p:extLst>
      <p:ext uri="{BB962C8B-B14F-4D97-AF65-F5344CB8AC3E}">
        <p14:creationId xmlns:p14="http://schemas.microsoft.com/office/powerpoint/2010/main" val="17045308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32EBC-AD9E-92C4-D4F6-EA6CC09469E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F4314AA-9844-9409-6CC3-E3C8F6CB45E5}"/>
              </a:ext>
            </a:extLst>
          </p:cNvPr>
          <p:cNvSpPr>
            <a:spLocks noGrp="1"/>
          </p:cNvSpPr>
          <p:nvPr>
            <p:ph type="title"/>
          </p:nvPr>
        </p:nvSpPr>
        <p:spPr/>
        <p:txBody>
          <a:bodyPr/>
          <a:lstStyle/>
          <a:p>
            <a:r>
              <a:rPr kumimoji="1" lang="ja-JP" altLang="en-US" dirty="0"/>
              <a:t>質問と感想</a:t>
            </a:r>
          </a:p>
        </p:txBody>
      </p:sp>
      <p:sp>
        <p:nvSpPr>
          <p:cNvPr id="3" name="テキスト プレースホルダー 2">
            <a:extLst>
              <a:ext uri="{FF2B5EF4-FFF2-40B4-BE49-F238E27FC236}">
                <a16:creationId xmlns:a16="http://schemas.microsoft.com/office/drawing/2014/main" id="{30F250FC-0968-907D-9107-3820E7BBAC8D}"/>
              </a:ext>
            </a:extLst>
          </p:cNvPr>
          <p:cNvSpPr>
            <a:spLocks noGrp="1"/>
          </p:cNvSpPr>
          <p:nvPr>
            <p:ph type="body" sz="quarter" idx="10"/>
          </p:nvPr>
        </p:nvSpPr>
        <p:spPr/>
        <p:txBody>
          <a:bodyPr/>
          <a:lstStyle/>
          <a:p>
            <a:r>
              <a:rPr lang="ja-JP" altLang="en-US" dirty="0"/>
              <a:t>理論的なアルゴリズムの分野に比べて，ハード関連のアルゴリズムはより複雑というか経験則を利用したり現実上の課題を回避しなければならない制約があったりして，難しそうではありつつもその分アイデアや工夫の幅も広く感じる．</a:t>
            </a:r>
            <a:endParaRPr lang="en-US" altLang="ja-JP" dirty="0"/>
          </a:p>
          <a:p>
            <a:r>
              <a:rPr lang="ja-JP" altLang="en-US" dirty="0"/>
              <a:t>理想的な想定のもとだと棄却されるアルゴリズムでも制約のもとではむしろ最も実用的になるということだろうが，制約があるからこそ幅が広くなるというのは面白い．</a:t>
            </a:r>
            <a:endParaRPr kumimoji="1" lang="ja-JP" altLang="en-US" dirty="0"/>
          </a:p>
        </p:txBody>
      </p:sp>
    </p:spTree>
    <p:extLst>
      <p:ext uri="{BB962C8B-B14F-4D97-AF65-F5344CB8AC3E}">
        <p14:creationId xmlns:p14="http://schemas.microsoft.com/office/powerpoint/2010/main" val="2991405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F0888-3680-BEF1-F31A-A8E34AA254F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CBC54B9-502C-BB51-BE41-73B674EA8FF7}"/>
              </a:ext>
            </a:extLst>
          </p:cNvPr>
          <p:cNvSpPr>
            <a:spLocks noGrp="1"/>
          </p:cNvSpPr>
          <p:nvPr>
            <p:ph type="title"/>
          </p:nvPr>
        </p:nvSpPr>
        <p:spPr/>
        <p:txBody>
          <a:bodyPr/>
          <a:lstStyle/>
          <a:p>
            <a:r>
              <a:rPr kumimoji="1" lang="ja-JP" altLang="en-US" dirty="0"/>
              <a:t>質問と感想</a:t>
            </a:r>
          </a:p>
        </p:txBody>
      </p:sp>
      <p:sp>
        <p:nvSpPr>
          <p:cNvPr id="3" name="テキスト プレースホルダー 2">
            <a:extLst>
              <a:ext uri="{FF2B5EF4-FFF2-40B4-BE49-F238E27FC236}">
                <a16:creationId xmlns:a16="http://schemas.microsoft.com/office/drawing/2014/main" id="{A93F1EF9-B37F-39A2-BAD7-4A7AC622DA81}"/>
              </a:ext>
            </a:extLst>
          </p:cNvPr>
          <p:cNvSpPr>
            <a:spLocks noGrp="1"/>
          </p:cNvSpPr>
          <p:nvPr>
            <p:ph type="body" sz="quarter" idx="10"/>
          </p:nvPr>
        </p:nvSpPr>
        <p:spPr/>
        <p:txBody>
          <a:bodyPr/>
          <a:lstStyle/>
          <a:p>
            <a:r>
              <a:rPr lang="en-US" altLang="ja-JP" dirty="0"/>
              <a:t>D-FF</a:t>
            </a:r>
            <a:r>
              <a:rPr lang="ja-JP" altLang="en-US" dirty="0"/>
              <a:t>自体の遅延の問題でパイプラインの高速化に限界があるというお話でしたが、パイプラインを用いるラッチを</a:t>
            </a:r>
            <a:r>
              <a:rPr lang="en-US" altLang="ja-JP" dirty="0"/>
              <a:t>D-FF</a:t>
            </a:r>
            <a:r>
              <a:rPr lang="ja-JP" altLang="en-US" dirty="0"/>
              <a:t>以外のラッチを用いたりした場合に多少改善したりすることができるのでしょうか？それとも</a:t>
            </a:r>
            <a:r>
              <a:rPr lang="en-US" altLang="ja-JP" dirty="0"/>
              <a:t>D-FF</a:t>
            </a:r>
            <a:r>
              <a:rPr lang="ja-JP" altLang="en-US" dirty="0"/>
              <a:t>が</a:t>
            </a:r>
            <a:r>
              <a:rPr lang="en-US" altLang="ja-JP" dirty="0"/>
              <a:t>1</a:t>
            </a:r>
            <a:r>
              <a:rPr lang="ja-JP" altLang="en-US" dirty="0"/>
              <a:t>番最良のラッチになるのでしょうか？</a:t>
            </a:r>
            <a:endParaRPr kumimoji="1" lang="ja-JP" altLang="en-US" dirty="0"/>
          </a:p>
        </p:txBody>
      </p:sp>
    </p:spTree>
    <p:extLst>
      <p:ext uri="{BB962C8B-B14F-4D97-AF65-F5344CB8AC3E}">
        <p14:creationId xmlns:p14="http://schemas.microsoft.com/office/powerpoint/2010/main" val="26226525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83357-86AD-7188-4426-D994BB94874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02D4D3F-5AAB-B0BB-CCB8-74F1EC257E63}"/>
              </a:ext>
            </a:extLst>
          </p:cNvPr>
          <p:cNvSpPr>
            <a:spLocks noGrp="1"/>
          </p:cNvSpPr>
          <p:nvPr>
            <p:ph type="title"/>
          </p:nvPr>
        </p:nvSpPr>
        <p:spPr/>
        <p:txBody>
          <a:bodyPr/>
          <a:lstStyle/>
          <a:p>
            <a:r>
              <a:rPr kumimoji="1" lang="ja-JP" altLang="en-US" dirty="0"/>
              <a:t>質問と感想</a:t>
            </a:r>
          </a:p>
        </p:txBody>
      </p:sp>
      <p:sp>
        <p:nvSpPr>
          <p:cNvPr id="3" name="テキスト プレースホルダー 2">
            <a:extLst>
              <a:ext uri="{FF2B5EF4-FFF2-40B4-BE49-F238E27FC236}">
                <a16:creationId xmlns:a16="http://schemas.microsoft.com/office/drawing/2014/main" id="{1BAD1798-D11E-22DC-301E-6372AD38B2B6}"/>
              </a:ext>
            </a:extLst>
          </p:cNvPr>
          <p:cNvSpPr>
            <a:spLocks noGrp="1"/>
          </p:cNvSpPr>
          <p:nvPr>
            <p:ph type="body" sz="quarter" idx="10"/>
          </p:nvPr>
        </p:nvSpPr>
        <p:spPr/>
        <p:txBody>
          <a:bodyPr/>
          <a:lstStyle/>
          <a:p>
            <a:r>
              <a:rPr lang="en-US" altLang="ja-JP" dirty="0"/>
              <a:t>JAGUAR</a:t>
            </a:r>
            <a:r>
              <a:rPr lang="ja-JP" altLang="en-US" dirty="0"/>
              <a:t>のパイプラインの図で</a:t>
            </a:r>
            <a:r>
              <a:rPr lang="en-US" altLang="ja-JP" dirty="0"/>
              <a:t>Fetch</a:t>
            </a:r>
            <a:r>
              <a:rPr lang="ja-JP" altLang="en-US" dirty="0"/>
              <a:t>が最大</a:t>
            </a:r>
            <a:r>
              <a:rPr lang="en-US" altLang="ja-JP" dirty="0"/>
              <a:t>5</a:t>
            </a:r>
            <a:r>
              <a:rPr lang="ja-JP" altLang="en-US" dirty="0"/>
              <a:t>段、</a:t>
            </a:r>
            <a:r>
              <a:rPr lang="en-US" altLang="ja-JP" dirty="0"/>
              <a:t>Dec</a:t>
            </a:r>
            <a:r>
              <a:rPr lang="ja-JP" altLang="en-US" dirty="0"/>
              <a:t>が</a:t>
            </a:r>
            <a:r>
              <a:rPr lang="en-US" altLang="ja-JP" dirty="0"/>
              <a:t>3</a:t>
            </a:r>
            <a:r>
              <a:rPr lang="ja-JP" altLang="en-US" dirty="0"/>
              <a:t>段あって、フロントエンドは複雑なんだなぁと思った</a:t>
            </a:r>
          </a:p>
          <a:p>
            <a:endParaRPr kumimoji="1" lang="ja-JP" altLang="en-US" dirty="0"/>
          </a:p>
        </p:txBody>
      </p:sp>
    </p:spTree>
    <p:extLst>
      <p:ext uri="{BB962C8B-B14F-4D97-AF65-F5344CB8AC3E}">
        <p14:creationId xmlns:p14="http://schemas.microsoft.com/office/powerpoint/2010/main" val="25350707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05E42-3DF6-A513-F368-D9BFC17442D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B56423D-839F-313A-9699-6A62238984EC}"/>
              </a:ext>
            </a:extLst>
          </p:cNvPr>
          <p:cNvSpPr>
            <a:spLocks noGrp="1"/>
          </p:cNvSpPr>
          <p:nvPr>
            <p:ph type="title"/>
          </p:nvPr>
        </p:nvSpPr>
        <p:spPr/>
        <p:txBody>
          <a:bodyPr/>
          <a:lstStyle/>
          <a:p>
            <a:r>
              <a:rPr kumimoji="1" lang="ja-JP" altLang="en-US" dirty="0"/>
              <a:t>質問と感想</a:t>
            </a:r>
          </a:p>
        </p:txBody>
      </p:sp>
      <p:sp>
        <p:nvSpPr>
          <p:cNvPr id="3" name="テキスト プレースホルダー 2">
            <a:extLst>
              <a:ext uri="{FF2B5EF4-FFF2-40B4-BE49-F238E27FC236}">
                <a16:creationId xmlns:a16="http://schemas.microsoft.com/office/drawing/2014/main" id="{37EEC1FF-0A44-CDB0-8678-6A25A51C5A68}"/>
              </a:ext>
            </a:extLst>
          </p:cNvPr>
          <p:cNvSpPr>
            <a:spLocks noGrp="1"/>
          </p:cNvSpPr>
          <p:nvPr>
            <p:ph type="body" sz="quarter" idx="10"/>
          </p:nvPr>
        </p:nvSpPr>
        <p:spPr/>
        <p:txBody>
          <a:bodyPr/>
          <a:lstStyle/>
          <a:p>
            <a:r>
              <a:rPr lang="ja-JP" altLang="en-US" dirty="0"/>
              <a:t>現代の高性能プロセッサのパイプライン段数が</a:t>
            </a:r>
            <a:r>
              <a:rPr lang="en-US" altLang="ja-JP" dirty="0"/>
              <a:t>15~20</a:t>
            </a:r>
            <a:r>
              <a:rPr lang="ja-JP" altLang="en-US" dirty="0"/>
              <a:t>段という話がありましたが、、今後もこのあたりの段数で維持される見込みなんでしょうか？半導体の微細化やアーキテクチャの複雑化などで、最適な段数も結構変わりそうだと思いました</a:t>
            </a:r>
            <a:endParaRPr kumimoji="1" lang="ja-JP" altLang="en-US" dirty="0"/>
          </a:p>
        </p:txBody>
      </p:sp>
    </p:spTree>
    <p:extLst>
      <p:ext uri="{BB962C8B-B14F-4D97-AF65-F5344CB8AC3E}">
        <p14:creationId xmlns:p14="http://schemas.microsoft.com/office/powerpoint/2010/main" val="28863917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0E734-93C7-1135-7CCF-7FBC72ADD9C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299E4DE-13F0-24A7-2367-4857F72A7ED6}"/>
              </a:ext>
            </a:extLst>
          </p:cNvPr>
          <p:cNvSpPr>
            <a:spLocks noGrp="1"/>
          </p:cNvSpPr>
          <p:nvPr>
            <p:ph type="title"/>
          </p:nvPr>
        </p:nvSpPr>
        <p:spPr/>
        <p:txBody>
          <a:bodyPr/>
          <a:lstStyle/>
          <a:p>
            <a:r>
              <a:rPr kumimoji="1" lang="ja-JP" altLang="en-US" dirty="0"/>
              <a:t>質問と感想</a:t>
            </a:r>
          </a:p>
        </p:txBody>
      </p:sp>
      <p:sp>
        <p:nvSpPr>
          <p:cNvPr id="3" name="テキスト プレースホルダー 2">
            <a:extLst>
              <a:ext uri="{FF2B5EF4-FFF2-40B4-BE49-F238E27FC236}">
                <a16:creationId xmlns:a16="http://schemas.microsoft.com/office/drawing/2014/main" id="{E1F4F5E0-9652-AD4F-A5C0-38960F66D83E}"/>
              </a:ext>
            </a:extLst>
          </p:cNvPr>
          <p:cNvSpPr>
            <a:spLocks noGrp="1"/>
          </p:cNvSpPr>
          <p:nvPr>
            <p:ph type="body" sz="quarter" idx="10"/>
          </p:nvPr>
        </p:nvSpPr>
        <p:spPr/>
        <p:txBody>
          <a:bodyPr/>
          <a:lstStyle/>
          <a:p>
            <a:r>
              <a:rPr lang="en-US" altLang="ja-JP" dirty="0"/>
              <a:t>compiler</a:t>
            </a:r>
            <a:r>
              <a:rPr lang="ja-JP" altLang="en-US" dirty="0"/>
              <a:t>にある</a:t>
            </a:r>
            <a:r>
              <a:rPr lang="en-US" altLang="ja-JP" dirty="0"/>
              <a:t>likely, unlikely flag</a:t>
            </a:r>
            <a:r>
              <a:rPr lang="ja-JP" altLang="en-US" dirty="0"/>
              <a:t>はコンパイラが分岐予測のヒントを与えるものと聞き</a:t>
            </a:r>
            <a:r>
              <a:rPr lang="en-US" altLang="ja-JP" dirty="0"/>
              <a:t>, </a:t>
            </a:r>
            <a:r>
              <a:rPr lang="ja-JP" altLang="en-US" dirty="0"/>
              <a:t>実際に</a:t>
            </a:r>
            <a:r>
              <a:rPr lang="en-US" altLang="ja-JP" dirty="0" err="1"/>
              <a:t>jemalloc</a:t>
            </a:r>
            <a:r>
              <a:rPr lang="ja-JP" altLang="en-US" dirty="0"/>
              <a:t>などのソースコードで見かけたのですが</a:t>
            </a:r>
            <a:r>
              <a:rPr lang="en-US" altLang="ja-JP" dirty="0"/>
              <a:t>, </a:t>
            </a:r>
            <a:r>
              <a:rPr lang="ja-JP" altLang="en-US" dirty="0"/>
              <a:t>これはスライド中にある通り今は書かないようなコードということでしょうか</a:t>
            </a:r>
            <a:r>
              <a:rPr lang="en-US" altLang="ja-JP" dirty="0"/>
              <a:t>?</a:t>
            </a:r>
            <a:endParaRPr kumimoji="1" lang="ja-JP" altLang="en-US" dirty="0"/>
          </a:p>
        </p:txBody>
      </p:sp>
    </p:spTree>
    <p:extLst>
      <p:ext uri="{BB962C8B-B14F-4D97-AF65-F5344CB8AC3E}">
        <p14:creationId xmlns:p14="http://schemas.microsoft.com/office/powerpoint/2010/main" val="22447458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48B6F-07FE-E23B-5603-E6371B7992F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03B9978-0748-15F4-2DC7-63EEFEF13C7F}"/>
              </a:ext>
            </a:extLst>
          </p:cNvPr>
          <p:cNvSpPr>
            <a:spLocks noGrp="1"/>
          </p:cNvSpPr>
          <p:nvPr>
            <p:ph type="title"/>
          </p:nvPr>
        </p:nvSpPr>
        <p:spPr/>
        <p:txBody>
          <a:bodyPr/>
          <a:lstStyle/>
          <a:p>
            <a:r>
              <a:rPr kumimoji="1" lang="ja-JP" altLang="en-US" dirty="0"/>
              <a:t>質問と感想</a:t>
            </a:r>
          </a:p>
        </p:txBody>
      </p:sp>
      <p:sp>
        <p:nvSpPr>
          <p:cNvPr id="3" name="テキスト プレースホルダー 2">
            <a:extLst>
              <a:ext uri="{FF2B5EF4-FFF2-40B4-BE49-F238E27FC236}">
                <a16:creationId xmlns:a16="http://schemas.microsoft.com/office/drawing/2014/main" id="{184C0F01-5E06-BDB0-9708-F14F7733BEAD}"/>
              </a:ext>
            </a:extLst>
          </p:cNvPr>
          <p:cNvSpPr>
            <a:spLocks noGrp="1"/>
          </p:cNvSpPr>
          <p:nvPr>
            <p:ph type="body" sz="quarter" idx="10"/>
          </p:nvPr>
        </p:nvSpPr>
        <p:spPr/>
        <p:txBody>
          <a:bodyPr/>
          <a:lstStyle/>
          <a:p>
            <a:r>
              <a:rPr lang="en-US" altLang="ja-JP" dirty="0"/>
              <a:t>n </a:t>
            </a:r>
            <a:r>
              <a:rPr lang="ja-JP" altLang="en-US" dirty="0"/>
              <a:t>ビットカウンタで、</a:t>
            </a:r>
            <a:r>
              <a:rPr lang="en-US" altLang="ja-JP" dirty="0"/>
              <a:t>n</a:t>
            </a:r>
            <a:r>
              <a:rPr lang="ja-JP" altLang="en-US" dirty="0"/>
              <a:t>を</a:t>
            </a:r>
            <a:r>
              <a:rPr lang="en-US" altLang="ja-JP" dirty="0"/>
              <a:t>3</a:t>
            </a:r>
            <a:r>
              <a:rPr lang="ja-JP" altLang="en-US" dirty="0"/>
              <a:t>以上にすると性能が上がらない理由がよくわかりません。説明の中では、成立</a:t>
            </a:r>
            <a:r>
              <a:rPr lang="en-US" altLang="ja-JP" dirty="0"/>
              <a:t>(or</a:t>
            </a:r>
            <a:r>
              <a:rPr lang="ja-JP" altLang="en-US" dirty="0"/>
              <a:t>不成立</a:t>
            </a:r>
            <a:r>
              <a:rPr lang="en-US" altLang="ja-JP" dirty="0"/>
              <a:t>)</a:t>
            </a:r>
            <a:r>
              <a:rPr lang="ja-JP" altLang="en-US" dirty="0"/>
              <a:t>と強く</a:t>
            </a:r>
            <a:r>
              <a:rPr lang="en-US" altLang="ja-JP" dirty="0"/>
              <a:t>(or</a:t>
            </a:r>
            <a:r>
              <a:rPr lang="ja-JP" altLang="en-US" dirty="0"/>
              <a:t>弱く</a:t>
            </a:r>
            <a:r>
              <a:rPr lang="en-US" altLang="ja-JP" dirty="0"/>
              <a:t>)</a:t>
            </a:r>
            <a:r>
              <a:rPr lang="ja-JP" altLang="en-US" dirty="0"/>
              <a:t>予測するのかで</a:t>
            </a:r>
            <a:r>
              <a:rPr lang="en-US" altLang="ja-JP" dirty="0"/>
              <a:t>4</a:t>
            </a:r>
            <a:r>
              <a:rPr lang="ja-JP" altLang="en-US" dirty="0"/>
              <a:t>パターンの状態遷移を考えていると思いますが、</a:t>
            </a:r>
            <a:r>
              <a:rPr lang="en-US" altLang="ja-JP" dirty="0"/>
              <a:t>2</a:t>
            </a:r>
            <a:r>
              <a:rPr lang="ja-JP" altLang="en-US" dirty="0"/>
              <a:t>次元平面的に予測、つまり</a:t>
            </a:r>
            <a:r>
              <a:rPr lang="en-US" altLang="ja-JP" dirty="0"/>
              <a:t>x</a:t>
            </a:r>
            <a:r>
              <a:rPr lang="ja-JP" altLang="en-US" dirty="0"/>
              <a:t>軸には事象</a:t>
            </a:r>
            <a:r>
              <a:rPr lang="en-US" altLang="ja-JP" dirty="0"/>
              <a:t>A</a:t>
            </a:r>
            <a:r>
              <a:rPr lang="ja-JP" altLang="en-US" dirty="0"/>
              <a:t>が成立するか否か、</a:t>
            </a:r>
            <a:r>
              <a:rPr lang="en-US" altLang="ja-JP" dirty="0"/>
              <a:t>y</a:t>
            </a:r>
            <a:r>
              <a:rPr lang="ja-JP" altLang="en-US" dirty="0"/>
              <a:t>軸に事象</a:t>
            </a:r>
            <a:r>
              <a:rPr lang="en-US" altLang="ja-JP" dirty="0"/>
              <a:t>B</a:t>
            </a:r>
            <a:r>
              <a:rPr lang="ja-JP" altLang="en-US" dirty="0"/>
              <a:t>が成立するか否かみたいな感じでの</a:t>
            </a:r>
            <a:r>
              <a:rPr lang="en-US" altLang="ja-JP" dirty="0"/>
              <a:t>2(</a:t>
            </a:r>
            <a:r>
              <a:rPr lang="ja-JP" altLang="en-US" dirty="0"/>
              <a:t>以上の</a:t>
            </a:r>
            <a:r>
              <a:rPr lang="en-US" altLang="ja-JP" dirty="0"/>
              <a:t>)</a:t>
            </a:r>
            <a:r>
              <a:rPr lang="ja-JP" altLang="en-US" dirty="0"/>
              <a:t>ビットカウンタを設定することは難しいのでしょうか？</a:t>
            </a:r>
          </a:p>
          <a:p>
            <a:endParaRPr kumimoji="1" lang="ja-JP" altLang="en-US" dirty="0"/>
          </a:p>
        </p:txBody>
      </p:sp>
    </p:spTree>
    <p:extLst>
      <p:ext uri="{BB962C8B-B14F-4D97-AF65-F5344CB8AC3E}">
        <p14:creationId xmlns:p14="http://schemas.microsoft.com/office/powerpoint/2010/main" val="3696931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AFC2C-67DE-2E84-B9A0-6772D521A46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D5EB0D1-7409-27F3-C80E-D97D54824B3E}"/>
              </a:ext>
            </a:extLst>
          </p:cNvPr>
          <p:cNvSpPr>
            <a:spLocks noGrp="1"/>
          </p:cNvSpPr>
          <p:nvPr>
            <p:ph type="title"/>
          </p:nvPr>
        </p:nvSpPr>
        <p:spPr/>
        <p:txBody>
          <a:bodyPr/>
          <a:lstStyle/>
          <a:p>
            <a:r>
              <a:rPr kumimoji="1" lang="ja-JP" altLang="en-US" dirty="0"/>
              <a:t>質問と感想</a:t>
            </a:r>
          </a:p>
        </p:txBody>
      </p:sp>
      <p:sp>
        <p:nvSpPr>
          <p:cNvPr id="3" name="テキスト プレースホルダー 2">
            <a:extLst>
              <a:ext uri="{FF2B5EF4-FFF2-40B4-BE49-F238E27FC236}">
                <a16:creationId xmlns:a16="http://schemas.microsoft.com/office/drawing/2014/main" id="{67EDF599-ED8D-B869-7FEA-FCF177FD165A}"/>
              </a:ext>
            </a:extLst>
          </p:cNvPr>
          <p:cNvSpPr>
            <a:spLocks noGrp="1"/>
          </p:cNvSpPr>
          <p:nvPr>
            <p:ph type="body" sz="quarter" idx="10"/>
          </p:nvPr>
        </p:nvSpPr>
        <p:spPr/>
        <p:txBody>
          <a:bodyPr/>
          <a:lstStyle/>
          <a:p>
            <a:r>
              <a:rPr lang="ja-JP" altLang="en-US" dirty="0"/>
              <a:t>パイプラインのステージ数が多くても</a:t>
            </a:r>
            <a:r>
              <a:rPr lang="en-US" altLang="ja-JP" dirty="0"/>
              <a:t>20</a:t>
            </a:r>
            <a:r>
              <a:rPr lang="ja-JP" altLang="en-US" dirty="0"/>
              <a:t>というのは、思ったより少なく感じました。一つ一つの要素は高度なのだと思うのですが、開発段階において各開発者が自分の担当領域に集中できるような抽象化をしているのでしょうか。</a:t>
            </a:r>
          </a:p>
          <a:p>
            <a:endParaRPr kumimoji="1" lang="ja-JP" altLang="en-US" dirty="0"/>
          </a:p>
        </p:txBody>
      </p:sp>
    </p:spTree>
    <p:extLst>
      <p:ext uri="{BB962C8B-B14F-4D97-AF65-F5344CB8AC3E}">
        <p14:creationId xmlns:p14="http://schemas.microsoft.com/office/powerpoint/2010/main" val="29974885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3D793-D76E-5B72-1B54-C8ACED656C5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E75D444-E5E9-3A14-0CA3-7ABEB8CC42E3}"/>
              </a:ext>
            </a:extLst>
          </p:cNvPr>
          <p:cNvSpPr>
            <a:spLocks noGrp="1"/>
          </p:cNvSpPr>
          <p:nvPr>
            <p:ph type="title"/>
          </p:nvPr>
        </p:nvSpPr>
        <p:spPr/>
        <p:txBody>
          <a:bodyPr/>
          <a:lstStyle/>
          <a:p>
            <a:r>
              <a:rPr kumimoji="1" lang="ja-JP" altLang="en-US" dirty="0"/>
              <a:t>質問と感想</a:t>
            </a:r>
          </a:p>
        </p:txBody>
      </p:sp>
      <p:sp>
        <p:nvSpPr>
          <p:cNvPr id="3" name="テキスト プレースホルダー 2">
            <a:extLst>
              <a:ext uri="{FF2B5EF4-FFF2-40B4-BE49-F238E27FC236}">
                <a16:creationId xmlns:a16="http://schemas.microsoft.com/office/drawing/2014/main" id="{BDAC8EA0-FAEE-BAF1-B408-CEE8853EACE0}"/>
              </a:ext>
            </a:extLst>
          </p:cNvPr>
          <p:cNvSpPr>
            <a:spLocks noGrp="1"/>
          </p:cNvSpPr>
          <p:nvPr>
            <p:ph type="body" sz="quarter" idx="10"/>
          </p:nvPr>
        </p:nvSpPr>
        <p:spPr/>
        <p:txBody>
          <a:bodyPr/>
          <a:lstStyle/>
          <a:p>
            <a:r>
              <a:rPr lang="ja-JP" altLang="en-US" dirty="0"/>
              <a:t>「どちらのホームに降りるか」という例は少し違う、という話をされていたかと思うので、他の正しい例を自分でも考えてみたのですが、日常生活では外すリスクを伴うものの方が圧倒的に多く、難しかったです。</a:t>
            </a:r>
            <a:endParaRPr kumimoji="1" lang="ja-JP" altLang="en-US" dirty="0"/>
          </a:p>
        </p:txBody>
      </p:sp>
    </p:spTree>
    <p:extLst>
      <p:ext uri="{BB962C8B-B14F-4D97-AF65-F5344CB8AC3E}">
        <p14:creationId xmlns:p14="http://schemas.microsoft.com/office/powerpoint/2010/main" val="30497411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E0195-3797-FA5A-2513-EA9A160BB2B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E4A5545-8F2D-8F00-A7A8-2AA898F6445D}"/>
              </a:ext>
            </a:extLst>
          </p:cNvPr>
          <p:cNvSpPr>
            <a:spLocks noGrp="1"/>
          </p:cNvSpPr>
          <p:nvPr>
            <p:ph type="title"/>
          </p:nvPr>
        </p:nvSpPr>
        <p:spPr/>
        <p:txBody>
          <a:bodyPr/>
          <a:lstStyle/>
          <a:p>
            <a:r>
              <a:rPr kumimoji="1" lang="ja-JP" altLang="en-US" dirty="0"/>
              <a:t>質問と感想</a:t>
            </a:r>
          </a:p>
        </p:txBody>
      </p:sp>
      <p:sp>
        <p:nvSpPr>
          <p:cNvPr id="3" name="テキスト プレースホルダー 2">
            <a:extLst>
              <a:ext uri="{FF2B5EF4-FFF2-40B4-BE49-F238E27FC236}">
                <a16:creationId xmlns:a16="http://schemas.microsoft.com/office/drawing/2014/main" id="{9D8945E0-5B30-A7C4-B3F9-4C6EC7026E38}"/>
              </a:ext>
            </a:extLst>
          </p:cNvPr>
          <p:cNvSpPr>
            <a:spLocks noGrp="1"/>
          </p:cNvSpPr>
          <p:nvPr>
            <p:ph type="body" sz="quarter" idx="10"/>
          </p:nvPr>
        </p:nvSpPr>
        <p:spPr/>
        <p:txBody>
          <a:bodyPr/>
          <a:lstStyle/>
          <a:p>
            <a:r>
              <a:rPr lang="en-US" altLang="ja-JP" dirty="0"/>
              <a:t>n</a:t>
            </a:r>
            <a:r>
              <a:rPr lang="ja-JP" altLang="en-US" dirty="0"/>
              <a:t>ビット・カウンタ予測器でカウンタのビット数が</a:t>
            </a:r>
            <a:r>
              <a:rPr lang="en-US" altLang="ja-JP" dirty="0"/>
              <a:t>2</a:t>
            </a:r>
            <a:r>
              <a:rPr lang="ja-JP" altLang="en-US" dirty="0"/>
              <a:t>ビットの場合が性能のピークっぽいのは何か理論的な話があるのですか？それとも経験則的な話なのでしょうか？</a:t>
            </a:r>
          </a:p>
          <a:p>
            <a:endParaRPr kumimoji="1" lang="ja-JP" altLang="en-US" dirty="0"/>
          </a:p>
        </p:txBody>
      </p:sp>
    </p:spTree>
    <p:extLst>
      <p:ext uri="{BB962C8B-B14F-4D97-AF65-F5344CB8AC3E}">
        <p14:creationId xmlns:p14="http://schemas.microsoft.com/office/powerpoint/2010/main" val="13578996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1C086-C2DB-F0E8-19E8-61941133A2E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7EE7F0C-8F57-7186-094C-8B96477C14EA}"/>
              </a:ext>
            </a:extLst>
          </p:cNvPr>
          <p:cNvSpPr>
            <a:spLocks noGrp="1"/>
          </p:cNvSpPr>
          <p:nvPr>
            <p:ph type="title"/>
          </p:nvPr>
        </p:nvSpPr>
        <p:spPr/>
        <p:txBody>
          <a:bodyPr/>
          <a:lstStyle/>
          <a:p>
            <a:r>
              <a:rPr kumimoji="1" lang="ja-JP" altLang="en-US" dirty="0"/>
              <a:t>質問と感想</a:t>
            </a:r>
          </a:p>
        </p:txBody>
      </p:sp>
      <p:sp>
        <p:nvSpPr>
          <p:cNvPr id="3" name="テキスト プレースホルダー 2">
            <a:extLst>
              <a:ext uri="{FF2B5EF4-FFF2-40B4-BE49-F238E27FC236}">
                <a16:creationId xmlns:a16="http://schemas.microsoft.com/office/drawing/2014/main" id="{0E792883-E098-DB9B-7BCA-2EB774795FAD}"/>
              </a:ext>
            </a:extLst>
          </p:cNvPr>
          <p:cNvSpPr>
            <a:spLocks noGrp="1"/>
          </p:cNvSpPr>
          <p:nvPr>
            <p:ph type="body" sz="quarter" idx="10"/>
          </p:nvPr>
        </p:nvSpPr>
        <p:spPr/>
        <p:txBody>
          <a:bodyPr/>
          <a:lstStyle/>
          <a:p>
            <a:r>
              <a:rPr lang="ja-JP" altLang="en-US" dirty="0"/>
              <a:t>命令に分岐のヒントを埋め込むことができるのであれば、コンパイラなどのソフトウェアに分岐予測を任せずに、プロセッサ側に行わせる意義は何だろうというと疑問に思った。</a:t>
            </a:r>
          </a:p>
          <a:p>
            <a:endParaRPr kumimoji="1" lang="ja-JP" altLang="en-US" dirty="0"/>
          </a:p>
        </p:txBody>
      </p:sp>
    </p:spTree>
    <p:extLst>
      <p:ext uri="{BB962C8B-B14F-4D97-AF65-F5344CB8AC3E}">
        <p14:creationId xmlns:p14="http://schemas.microsoft.com/office/powerpoint/2010/main" val="18474309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4FF83-0A62-87EB-27A8-37FD5F731EC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7A5D7BF-3097-FD3D-B128-0464A466296A}"/>
              </a:ext>
            </a:extLst>
          </p:cNvPr>
          <p:cNvSpPr>
            <a:spLocks noGrp="1"/>
          </p:cNvSpPr>
          <p:nvPr>
            <p:ph type="title"/>
          </p:nvPr>
        </p:nvSpPr>
        <p:spPr/>
        <p:txBody>
          <a:bodyPr/>
          <a:lstStyle/>
          <a:p>
            <a:r>
              <a:rPr kumimoji="1" lang="ja-JP" altLang="en-US" dirty="0"/>
              <a:t>質問と感想</a:t>
            </a:r>
          </a:p>
        </p:txBody>
      </p:sp>
      <p:sp>
        <p:nvSpPr>
          <p:cNvPr id="3" name="テキスト プレースホルダー 2">
            <a:extLst>
              <a:ext uri="{FF2B5EF4-FFF2-40B4-BE49-F238E27FC236}">
                <a16:creationId xmlns:a16="http://schemas.microsoft.com/office/drawing/2014/main" id="{A14BB80F-24E5-214F-B567-DAA11CD6A172}"/>
              </a:ext>
            </a:extLst>
          </p:cNvPr>
          <p:cNvSpPr>
            <a:spLocks noGrp="1"/>
          </p:cNvSpPr>
          <p:nvPr>
            <p:ph type="body" sz="quarter" idx="10"/>
          </p:nvPr>
        </p:nvSpPr>
        <p:spPr/>
        <p:txBody>
          <a:bodyPr/>
          <a:lstStyle/>
          <a:p>
            <a:r>
              <a:rPr lang="ja-JP" altLang="en-US" dirty="0"/>
              <a:t>分岐予測器は、他のパイプラインの処理と比較して結構リッチな処理を行っている印象があり、</a:t>
            </a:r>
            <a:r>
              <a:rPr lang="en-US" altLang="ja-JP" dirty="0"/>
              <a:t>cycle</a:t>
            </a:r>
            <a:r>
              <a:rPr lang="ja-JP" altLang="en-US" dirty="0"/>
              <a:t>数も大きそうな直感を抱きました。専用の回路になっているなどして、高速に処理しているのでしょうか？</a:t>
            </a:r>
          </a:p>
          <a:p>
            <a:endParaRPr kumimoji="1" lang="ja-JP" altLang="en-US" dirty="0"/>
          </a:p>
        </p:txBody>
      </p:sp>
    </p:spTree>
    <p:extLst>
      <p:ext uri="{BB962C8B-B14F-4D97-AF65-F5344CB8AC3E}">
        <p14:creationId xmlns:p14="http://schemas.microsoft.com/office/powerpoint/2010/main" val="9369491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3A975-186A-ED8F-8AD1-6FE53B5050C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9132294-E75F-5768-22B8-3A36C4DF481F}"/>
              </a:ext>
            </a:extLst>
          </p:cNvPr>
          <p:cNvSpPr>
            <a:spLocks noGrp="1"/>
          </p:cNvSpPr>
          <p:nvPr>
            <p:ph type="title"/>
          </p:nvPr>
        </p:nvSpPr>
        <p:spPr/>
        <p:txBody>
          <a:bodyPr/>
          <a:lstStyle/>
          <a:p>
            <a:r>
              <a:rPr kumimoji="1" lang="ja-JP" altLang="en-US" dirty="0"/>
              <a:t>質問と感想</a:t>
            </a:r>
          </a:p>
        </p:txBody>
      </p:sp>
      <p:sp>
        <p:nvSpPr>
          <p:cNvPr id="3" name="テキスト プレースホルダー 2">
            <a:extLst>
              <a:ext uri="{FF2B5EF4-FFF2-40B4-BE49-F238E27FC236}">
                <a16:creationId xmlns:a16="http://schemas.microsoft.com/office/drawing/2014/main" id="{8274FDB7-E848-F440-0EDE-D1E0F20CF571}"/>
              </a:ext>
            </a:extLst>
          </p:cNvPr>
          <p:cNvSpPr>
            <a:spLocks noGrp="1"/>
          </p:cNvSpPr>
          <p:nvPr>
            <p:ph type="body" sz="quarter" idx="10"/>
          </p:nvPr>
        </p:nvSpPr>
        <p:spPr/>
        <p:txBody>
          <a:bodyPr/>
          <a:lstStyle/>
          <a:p>
            <a:r>
              <a:rPr lang="ja-JP" altLang="en-US" dirty="0"/>
              <a:t>クロック信号が複数の</a:t>
            </a:r>
            <a:r>
              <a:rPr lang="en-US" altLang="ja-JP" dirty="0"/>
              <a:t>not</a:t>
            </a:r>
            <a:r>
              <a:rPr lang="ja-JP" altLang="en-US" dirty="0"/>
              <a:t>で生成されているという話を聞いて，実際の</a:t>
            </a:r>
            <a:r>
              <a:rPr lang="en-US" altLang="ja-JP" dirty="0"/>
              <a:t>CPU/FPGA</a:t>
            </a:r>
            <a:r>
              <a:rPr lang="ja-JP" altLang="en-US" dirty="0"/>
              <a:t>上でも</a:t>
            </a:r>
            <a:r>
              <a:rPr lang="en-US" altLang="ja-JP" dirty="0"/>
              <a:t>not</a:t>
            </a:r>
            <a:r>
              <a:rPr lang="ja-JP" altLang="en-US" dirty="0"/>
              <a:t>が置かれているのかが気になりました</a:t>
            </a:r>
            <a:r>
              <a:rPr lang="en-US" altLang="ja-JP" dirty="0"/>
              <a:t>. </a:t>
            </a:r>
            <a:r>
              <a:rPr lang="en-US" altLang="ja-JP" dirty="0" err="1"/>
              <a:t>clk</a:t>
            </a:r>
            <a:r>
              <a:rPr lang="ja-JP" altLang="en-US" dirty="0"/>
              <a:t>信号生成用の専用パーツが乗っているのか，それかそんなコストかからないし</a:t>
            </a:r>
            <a:r>
              <a:rPr lang="en-US" altLang="ja-JP" dirty="0"/>
              <a:t>LUT</a:t>
            </a:r>
            <a:r>
              <a:rPr lang="ja-JP" altLang="en-US" dirty="0"/>
              <a:t>やらに合成されるのか</a:t>
            </a:r>
            <a:r>
              <a:rPr lang="en-US" altLang="ja-JP" dirty="0"/>
              <a:t>……</a:t>
            </a:r>
          </a:p>
          <a:p>
            <a:endParaRPr kumimoji="1" lang="ja-JP" altLang="en-US" dirty="0"/>
          </a:p>
        </p:txBody>
      </p:sp>
    </p:spTree>
    <p:extLst>
      <p:ext uri="{BB962C8B-B14F-4D97-AF65-F5344CB8AC3E}">
        <p14:creationId xmlns:p14="http://schemas.microsoft.com/office/powerpoint/2010/main" val="10156848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9CA70-4B33-8140-D2F8-193AF92DE09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0CEDD2E-F5A2-DCDC-DFE1-4C81B0FC99A6}"/>
              </a:ext>
            </a:extLst>
          </p:cNvPr>
          <p:cNvSpPr>
            <a:spLocks noGrp="1"/>
          </p:cNvSpPr>
          <p:nvPr>
            <p:ph type="title"/>
          </p:nvPr>
        </p:nvSpPr>
        <p:spPr/>
        <p:txBody>
          <a:bodyPr/>
          <a:lstStyle/>
          <a:p>
            <a:r>
              <a:rPr kumimoji="1" lang="ja-JP" altLang="en-US" dirty="0"/>
              <a:t>質問と感想</a:t>
            </a:r>
          </a:p>
        </p:txBody>
      </p:sp>
      <p:sp>
        <p:nvSpPr>
          <p:cNvPr id="3" name="テキスト プレースホルダー 2">
            <a:extLst>
              <a:ext uri="{FF2B5EF4-FFF2-40B4-BE49-F238E27FC236}">
                <a16:creationId xmlns:a16="http://schemas.microsoft.com/office/drawing/2014/main" id="{1A2C8417-D1BE-F4A3-0AA9-D499247F933D}"/>
              </a:ext>
            </a:extLst>
          </p:cNvPr>
          <p:cNvSpPr>
            <a:spLocks noGrp="1"/>
          </p:cNvSpPr>
          <p:nvPr>
            <p:ph type="body" sz="quarter" idx="10"/>
          </p:nvPr>
        </p:nvSpPr>
        <p:spPr/>
        <p:txBody>
          <a:bodyPr/>
          <a:lstStyle/>
          <a:p>
            <a:r>
              <a:rPr lang="ja-JP" altLang="en-US" dirty="0"/>
              <a:t>前半では、周波数向上を妨げる要因に対する理解が深まったように思う。パイプラインレジスタ内部のゲート遅延で決まる上限についてまだ</a:t>
            </a:r>
            <a:r>
              <a:rPr lang="en-US" altLang="ja-JP" dirty="0"/>
              <a:t>10</a:t>
            </a:r>
            <a:r>
              <a:rPr lang="ja-JP" altLang="en-US" dirty="0"/>
              <a:t>倍程度の余裕があることを鑑みると、２回前の講義で紹介された考え方である「電圧の下限に到達→電力密度の増加を避けるために周波数を保持」の方がより差し迫った問題であることのイメージも湧いた。一方で、近年のアーキテクチャ分野における消費電力削減の研究・議論では、どの程度、動作周波数の向上が研究動機として念頭に置かれているのかが気になった。</a:t>
            </a:r>
          </a:p>
          <a:p>
            <a:endParaRPr kumimoji="1" lang="ja-JP" altLang="en-US" dirty="0"/>
          </a:p>
        </p:txBody>
      </p:sp>
    </p:spTree>
    <p:extLst>
      <p:ext uri="{BB962C8B-B14F-4D97-AF65-F5344CB8AC3E}">
        <p14:creationId xmlns:p14="http://schemas.microsoft.com/office/powerpoint/2010/main" val="986383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A20A5-8DDB-CEE5-6DBE-DCC81F2B3F9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28E3F93-6755-C965-A72D-90437B31EDFF}"/>
              </a:ext>
            </a:extLst>
          </p:cNvPr>
          <p:cNvSpPr>
            <a:spLocks noGrp="1"/>
          </p:cNvSpPr>
          <p:nvPr>
            <p:ph type="title"/>
          </p:nvPr>
        </p:nvSpPr>
        <p:spPr/>
        <p:txBody>
          <a:bodyPr/>
          <a:lstStyle/>
          <a:p>
            <a:r>
              <a:rPr kumimoji="1" lang="ja-JP" altLang="en-US" dirty="0"/>
              <a:t>質問と感想</a:t>
            </a:r>
          </a:p>
        </p:txBody>
      </p:sp>
      <p:sp>
        <p:nvSpPr>
          <p:cNvPr id="3" name="テキスト プレースホルダー 2">
            <a:extLst>
              <a:ext uri="{FF2B5EF4-FFF2-40B4-BE49-F238E27FC236}">
                <a16:creationId xmlns:a16="http://schemas.microsoft.com/office/drawing/2014/main" id="{93C99AB3-1858-E918-4053-C4998B1C59E6}"/>
              </a:ext>
            </a:extLst>
          </p:cNvPr>
          <p:cNvSpPr>
            <a:spLocks noGrp="1"/>
          </p:cNvSpPr>
          <p:nvPr>
            <p:ph type="body" sz="quarter" idx="10"/>
          </p:nvPr>
        </p:nvSpPr>
        <p:spPr/>
        <p:txBody>
          <a:bodyPr/>
          <a:lstStyle/>
          <a:p>
            <a:r>
              <a:rPr lang="ja-JP" altLang="en-US" dirty="0"/>
              <a:t>よく </a:t>
            </a:r>
            <a:r>
              <a:rPr lang="en-US" altLang="ja-JP" dirty="0"/>
              <a:t>MEM stage </a:t>
            </a:r>
            <a:r>
              <a:rPr lang="ja-JP" altLang="en-US" dirty="0"/>
              <a:t>がメモリアクセスするステージとして扱われますが、</a:t>
            </a:r>
            <a:r>
              <a:rPr lang="en-US" altLang="ja-JP" dirty="0"/>
              <a:t>fetch </a:t>
            </a:r>
            <a:r>
              <a:rPr lang="ja-JP" altLang="en-US" dirty="0"/>
              <a:t>もメモリアクセスなので、両者のパイプラインの分割数とかは大体類似しているものとして捉えていいのか、何かしら非対称性があるのかどうなんでしょうか。</a:t>
            </a:r>
          </a:p>
          <a:p>
            <a:endParaRPr kumimoji="1" lang="ja-JP" altLang="en-US" dirty="0"/>
          </a:p>
        </p:txBody>
      </p:sp>
    </p:spTree>
    <p:extLst>
      <p:ext uri="{BB962C8B-B14F-4D97-AF65-F5344CB8AC3E}">
        <p14:creationId xmlns:p14="http://schemas.microsoft.com/office/powerpoint/2010/main" val="21655782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D721E-70C3-09EF-6974-04DAC6C5230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84FA575-CA33-6573-0DB2-DF919DDA16A7}"/>
              </a:ext>
            </a:extLst>
          </p:cNvPr>
          <p:cNvSpPr>
            <a:spLocks noGrp="1"/>
          </p:cNvSpPr>
          <p:nvPr>
            <p:ph type="title"/>
          </p:nvPr>
        </p:nvSpPr>
        <p:spPr/>
        <p:txBody>
          <a:bodyPr/>
          <a:lstStyle/>
          <a:p>
            <a:r>
              <a:rPr kumimoji="1" lang="ja-JP" altLang="en-US" dirty="0"/>
              <a:t>質問と感想</a:t>
            </a:r>
          </a:p>
        </p:txBody>
      </p:sp>
      <p:sp>
        <p:nvSpPr>
          <p:cNvPr id="3" name="テキスト プレースホルダー 2">
            <a:extLst>
              <a:ext uri="{FF2B5EF4-FFF2-40B4-BE49-F238E27FC236}">
                <a16:creationId xmlns:a16="http://schemas.microsoft.com/office/drawing/2014/main" id="{A6851C14-DC00-9DCA-AD16-883BC481CA89}"/>
              </a:ext>
            </a:extLst>
          </p:cNvPr>
          <p:cNvSpPr>
            <a:spLocks noGrp="1"/>
          </p:cNvSpPr>
          <p:nvPr>
            <p:ph type="body" sz="quarter" idx="10"/>
          </p:nvPr>
        </p:nvSpPr>
        <p:spPr/>
        <p:txBody>
          <a:bodyPr/>
          <a:lstStyle/>
          <a:p>
            <a:r>
              <a:rPr lang="ja-JP" altLang="en-US" dirty="0"/>
              <a:t>予測分岐について初めて学習したが、とても難しいことをやっているのだと驚いた。</a:t>
            </a:r>
            <a:r>
              <a:rPr lang="en-US" altLang="ja-JP" dirty="0"/>
              <a:t>1</a:t>
            </a:r>
            <a:r>
              <a:rPr lang="ja-JP" altLang="en-US" dirty="0"/>
              <a:t>サイクル以内に</a:t>
            </a:r>
            <a:r>
              <a:rPr lang="en-US" altLang="ja-JP" dirty="0"/>
              <a:t>BTB</a:t>
            </a:r>
            <a:r>
              <a:rPr lang="ja-JP" altLang="en-US" dirty="0"/>
              <a:t>や</a:t>
            </a:r>
            <a:r>
              <a:rPr lang="en-US" altLang="ja-JP" dirty="0"/>
              <a:t>PHT</a:t>
            </a:r>
            <a:r>
              <a:rPr lang="ja-JP" altLang="en-US" dirty="0"/>
              <a:t>をひいてその値を取得するのが可能なことについて、そんなに高速に辞書を引けることを不思議に感じた。カイジネタが差し込まれていて面白かった。</a:t>
            </a:r>
          </a:p>
          <a:p>
            <a:endParaRPr kumimoji="1" lang="ja-JP" altLang="en-US" dirty="0"/>
          </a:p>
        </p:txBody>
      </p:sp>
    </p:spTree>
    <p:extLst>
      <p:ext uri="{BB962C8B-B14F-4D97-AF65-F5344CB8AC3E}">
        <p14:creationId xmlns:p14="http://schemas.microsoft.com/office/powerpoint/2010/main" val="37979657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1807C-571D-D766-E1E6-6DB4E29BFE0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D59EDA9-52CE-FD85-D533-FC058D445AC7}"/>
              </a:ext>
            </a:extLst>
          </p:cNvPr>
          <p:cNvSpPr>
            <a:spLocks noGrp="1"/>
          </p:cNvSpPr>
          <p:nvPr>
            <p:ph type="title"/>
          </p:nvPr>
        </p:nvSpPr>
        <p:spPr/>
        <p:txBody>
          <a:bodyPr/>
          <a:lstStyle/>
          <a:p>
            <a:r>
              <a:rPr kumimoji="1" lang="ja-JP" altLang="en-US" dirty="0"/>
              <a:t>質問と感想</a:t>
            </a:r>
          </a:p>
        </p:txBody>
      </p:sp>
      <p:sp>
        <p:nvSpPr>
          <p:cNvPr id="3" name="テキスト プレースホルダー 2">
            <a:extLst>
              <a:ext uri="{FF2B5EF4-FFF2-40B4-BE49-F238E27FC236}">
                <a16:creationId xmlns:a16="http://schemas.microsoft.com/office/drawing/2014/main" id="{BCA1DA1C-196F-7F1A-AB64-9563378AAC67}"/>
              </a:ext>
            </a:extLst>
          </p:cNvPr>
          <p:cNvSpPr>
            <a:spLocks noGrp="1"/>
          </p:cNvSpPr>
          <p:nvPr>
            <p:ph type="body" sz="quarter" idx="10"/>
          </p:nvPr>
        </p:nvSpPr>
        <p:spPr/>
        <p:txBody>
          <a:bodyPr/>
          <a:lstStyle/>
          <a:p>
            <a:r>
              <a:rPr lang="ja-JP" altLang="en-US" dirty="0"/>
              <a:t>ハードウェアのマルチスレッドと、ソフトウェアのマルチスレッドが違うというのは、私にとっては結構驚きでした。今までこの２つを混同して使っていた場面もあったので。</a:t>
            </a:r>
            <a:endParaRPr kumimoji="1" lang="ja-JP" altLang="en-US" dirty="0"/>
          </a:p>
        </p:txBody>
      </p:sp>
    </p:spTree>
    <p:extLst>
      <p:ext uri="{BB962C8B-B14F-4D97-AF65-F5344CB8AC3E}">
        <p14:creationId xmlns:p14="http://schemas.microsoft.com/office/powerpoint/2010/main" val="6503039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7B7B8-9E11-A369-ED97-E9B09CF031E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F3207CF-4E19-92B1-AB15-AAFB5D7CFD87}"/>
              </a:ext>
            </a:extLst>
          </p:cNvPr>
          <p:cNvSpPr>
            <a:spLocks noGrp="1"/>
          </p:cNvSpPr>
          <p:nvPr>
            <p:ph type="title"/>
          </p:nvPr>
        </p:nvSpPr>
        <p:spPr/>
        <p:txBody>
          <a:bodyPr/>
          <a:lstStyle/>
          <a:p>
            <a:r>
              <a:rPr kumimoji="1" lang="ja-JP" altLang="en-US" dirty="0"/>
              <a:t>質問と感想</a:t>
            </a:r>
          </a:p>
        </p:txBody>
      </p:sp>
      <p:sp>
        <p:nvSpPr>
          <p:cNvPr id="3" name="テキスト プレースホルダー 2">
            <a:extLst>
              <a:ext uri="{FF2B5EF4-FFF2-40B4-BE49-F238E27FC236}">
                <a16:creationId xmlns:a16="http://schemas.microsoft.com/office/drawing/2014/main" id="{DB894F4B-F2AE-4E93-F0A3-3EA6EDC387D0}"/>
              </a:ext>
            </a:extLst>
          </p:cNvPr>
          <p:cNvSpPr>
            <a:spLocks noGrp="1"/>
          </p:cNvSpPr>
          <p:nvPr>
            <p:ph type="body" sz="quarter" idx="10"/>
          </p:nvPr>
        </p:nvSpPr>
        <p:spPr/>
        <p:txBody>
          <a:bodyPr/>
          <a:lstStyle/>
          <a:p>
            <a:r>
              <a:rPr lang="en-US" altLang="ja-JP" dirty="0"/>
              <a:t>(GPU</a:t>
            </a:r>
            <a:r>
              <a:rPr lang="ja-JP" altLang="en-US" dirty="0"/>
              <a:t>回で話がありそうですが、</a:t>
            </a:r>
            <a:r>
              <a:rPr lang="en-US" altLang="ja-JP" dirty="0"/>
              <a:t>)GPU</a:t>
            </a:r>
            <a:r>
              <a:rPr lang="ja-JP" altLang="en-US" dirty="0"/>
              <a:t>にも簡単な条件分岐の仕組みは載ってたりするのか、あるいはその試み等はありますか</a:t>
            </a:r>
            <a:r>
              <a:rPr lang="en-US" altLang="ja-JP" dirty="0"/>
              <a:t>?</a:t>
            </a:r>
            <a:endParaRPr kumimoji="1" lang="ja-JP" altLang="en-US" dirty="0"/>
          </a:p>
        </p:txBody>
      </p:sp>
    </p:spTree>
    <p:extLst>
      <p:ext uri="{BB962C8B-B14F-4D97-AF65-F5344CB8AC3E}">
        <p14:creationId xmlns:p14="http://schemas.microsoft.com/office/powerpoint/2010/main" val="32316690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cerulean">
  <a:themeElements>
    <a:clrScheme name="ユーザー定義 3">
      <a:dk1>
        <a:sysClr val="windowText" lastClr="000000"/>
      </a:dk1>
      <a:lt1>
        <a:sysClr val="window" lastClr="FFFFFF"/>
      </a:lt1>
      <a:dk2>
        <a:srgbClr val="F4EB00"/>
      </a:dk2>
      <a:lt2>
        <a:srgbClr val="C4FF4A"/>
      </a:lt2>
      <a:accent1>
        <a:srgbClr val="5782B5"/>
      </a:accent1>
      <a:accent2>
        <a:srgbClr val="B65A58"/>
      </a:accent2>
      <a:accent3>
        <a:srgbClr val="81945C"/>
      </a:accent3>
      <a:accent4>
        <a:srgbClr val="5C6994"/>
      </a:accent4>
      <a:accent5>
        <a:srgbClr val="4E8EA2"/>
      </a:accent5>
      <a:accent6>
        <a:srgbClr val="C77D63"/>
      </a:accent6>
      <a:hlink>
        <a:srgbClr val="3A3AC6"/>
      </a:hlink>
      <a:folHlink>
        <a:srgbClr val="631D63"/>
      </a:folHlink>
    </a:clrScheme>
    <a:fontScheme name="メイリオ-SegoeUI">
      <a:majorFont>
        <a:latin typeface="Segoe UI"/>
        <a:ea typeface="メイリオ"/>
        <a:cs typeface=""/>
      </a:majorFont>
      <a:minorFont>
        <a:latin typeface="Segoe UI"/>
        <a:ea typeface="メイリオ"/>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a:tailEnd type="triangle" w="sm" len="med"/>
        </a:ln>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kumimoji="1" dirty="0" smtClean="0">
            <a:solidFill>
              <a:schemeClr val="tx1">
                <a:lumMod val="75000"/>
                <a:lumOff val="25000"/>
              </a:schemeClr>
            </a:solidFill>
            <a:latin typeface="+mn-ea"/>
          </a:defRPr>
        </a:defPPr>
      </a:lstStyle>
      <a:style>
        <a:lnRef idx="1">
          <a:schemeClr val="accent5"/>
        </a:lnRef>
        <a:fillRef idx="2">
          <a:schemeClr val="accent5"/>
        </a:fillRef>
        <a:effectRef idx="1">
          <a:schemeClr val="accent5"/>
        </a:effectRef>
        <a:fontRef idx="minor">
          <a:schemeClr val="dk1"/>
        </a:fontRef>
      </a: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0000" tIns="46800" rIns="90000" bIns="4680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ja-JP" altLang="en-US" sz="1800" b="0" i="0" u="none" strike="noStrike" cap="none" normalizeH="0" baseline="0" smtClean="0">
            <a:ln>
              <a:noFill/>
            </a:ln>
            <a:solidFill>
              <a:schemeClr val="tx1"/>
            </a:solidFill>
            <a:effectLst/>
            <a:latin typeface="Verdana" pitchFamily="34" charset="0"/>
            <a:ea typeface="HG丸ｺﾞｼｯｸM-PRO" pitchFamily="50" charset="-128"/>
          </a:defRPr>
        </a:defPPr>
      </a:lstStyle>
    </a:lnDef>
  </a:objectDefaults>
  <a:extraClrSchemeLst>
    <a:extraClrScheme>
      <a:clrScheme name="colorful water rev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lorful water rev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olorful water rev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olorful water rev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olorful water rev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olorful water rev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olorful water rev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colorful water rev 8">
        <a:dk1>
          <a:srgbClr val="000000"/>
        </a:dk1>
        <a:lt1>
          <a:srgbClr val="FFFFFF"/>
        </a:lt1>
        <a:dk2>
          <a:srgbClr val="000000"/>
        </a:dk2>
        <a:lt2>
          <a:srgbClr val="808080"/>
        </a:lt2>
        <a:accent1>
          <a:srgbClr val="9999FF"/>
        </a:accent1>
        <a:accent2>
          <a:srgbClr val="3333CC"/>
        </a:accent2>
        <a:accent3>
          <a:srgbClr val="FFFFFF"/>
        </a:accent3>
        <a:accent4>
          <a:srgbClr val="000000"/>
        </a:accent4>
        <a:accent5>
          <a:srgbClr val="CACAFF"/>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lorful water rev 9">
        <a:dk1>
          <a:srgbClr val="000000"/>
        </a:dk1>
        <a:lt1>
          <a:srgbClr val="FFFFFF"/>
        </a:lt1>
        <a:dk2>
          <a:srgbClr val="000000"/>
        </a:dk2>
        <a:lt2>
          <a:srgbClr val="808080"/>
        </a:lt2>
        <a:accent1>
          <a:srgbClr val="9999FF"/>
        </a:accent1>
        <a:accent2>
          <a:srgbClr val="FF0000"/>
        </a:accent2>
        <a:accent3>
          <a:srgbClr val="FFFFFF"/>
        </a:accent3>
        <a:accent4>
          <a:srgbClr val="000000"/>
        </a:accent4>
        <a:accent5>
          <a:srgbClr val="CACAFF"/>
        </a:accent5>
        <a:accent6>
          <a:srgbClr val="E70000"/>
        </a:accent6>
        <a:hlink>
          <a:srgbClr val="CCCCFF"/>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erulean" id="{B42443E9-F396-466A-92C3-7ED6F4EBC01F}" vid="{0CE6AD82-9598-49D5-BEEF-3DCDCFA8BEDD}"/>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aco-shioya-05</Template>
  <TotalTime>69847</TotalTime>
  <Words>8620</Words>
  <Application>Microsoft Office PowerPoint</Application>
  <PresentationFormat>ワイド画面</PresentationFormat>
  <Paragraphs>1319</Paragraphs>
  <Slides>126</Slides>
  <Notes>10</Notes>
  <HiddenSlides>0</HiddenSlides>
  <MMClips>0</MMClips>
  <ScaleCrop>false</ScaleCrop>
  <HeadingPairs>
    <vt:vector size="6" baseType="variant">
      <vt:variant>
        <vt:lpstr>使用されているフォント</vt:lpstr>
      </vt:variant>
      <vt:variant>
        <vt:i4>14</vt:i4>
      </vt:variant>
      <vt:variant>
        <vt:lpstr>テーマ</vt:lpstr>
      </vt:variant>
      <vt:variant>
        <vt:i4>1</vt:i4>
      </vt:variant>
      <vt:variant>
        <vt:lpstr>スライド タイトル</vt:lpstr>
      </vt:variant>
      <vt:variant>
        <vt:i4>126</vt:i4>
      </vt:variant>
    </vt:vector>
  </HeadingPairs>
  <TitlesOfParts>
    <vt:vector size="141" baseType="lpstr">
      <vt:lpstr>HG丸ｺﾞｼｯｸM-PRO</vt:lpstr>
      <vt:lpstr>MeiryoKe_PGothic</vt:lpstr>
      <vt:lpstr>ＭＳ Ｐゴシック</vt:lpstr>
      <vt:lpstr>メイリオ</vt:lpstr>
      <vt:lpstr>メイリオ</vt:lpstr>
      <vt:lpstr>游ゴシック</vt:lpstr>
      <vt:lpstr>Arial</vt:lpstr>
      <vt:lpstr>Arial Narrow</vt:lpstr>
      <vt:lpstr>Calibri</vt:lpstr>
      <vt:lpstr>Cambria Math</vt:lpstr>
      <vt:lpstr>Consolas</vt:lpstr>
      <vt:lpstr>Segoe UI</vt:lpstr>
      <vt:lpstr>Times New Roman</vt:lpstr>
      <vt:lpstr>Wingdings</vt:lpstr>
      <vt:lpstr>cerulean</vt:lpstr>
      <vt:lpstr>先進計算機構成論 06</vt:lpstr>
      <vt:lpstr>前回のおさらい：分岐予測器の基本（１）</vt:lpstr>
      <vt:lpstr>前回のおさらい：分岐予測器の基本（２）</vt:lpstr>
      <vt:lpstr>今日の内容</vt:lpstr>
      <vt:lpstr>予測精度と性能の簡単な見積もり</vt:lpstr>
      <vt:lpstr>分岐予測ミスによる実行サイクルの増加のモデル</vt:lpstr>
      <vt:lpstr>具体的な値を入れてみる</vt:lpstr>
      <vt:lpstr>この結果からわかること</vt:lpstr>
      <vt:lpstr>間接分岐予測</vt:lpstr>
      <vt:lpstr>間接分岐命令</vt:lpstr>
      <vt:lpstr>間接分岐命令の使いどころ</vt:lpstr>
      <vt:lpstr>間接分岐予測</vt:lpstr>
      <vt:lpstr>間接分岐一般の予測</vt:lpstr>
      <vt:lpstr>簡単なもの：BTB を使った間接分岐の予測</vt:lpstr>
      <vt:lpstr>もう少し凝ったもの</vt:lpstr>
      <vt:lpstr>間接分岐予測器の効果</vt:lpstr>
      <vt:lpstr>間接分岐予測</vt:lpstr>
      <vt:lpstr>関数からの return の予測</vt:lpstr>
      <vt:lpstr>Return Address Stack (RAS) を使った予測</vt:lpstr>
      <vt:lpstr>高度な方向予測器</vt:lpstr>
      <vt:lpstr>高度な分岐方向予測</vt:lpstr>
      <vt:lpstr>N ビット・カウンタ予測器の問題</vt:lpstr>
      <vt:lpstr>「履歴（history）」を用いた予測器</vt:lpstr>
      <vt:lpstr>履歴とエントリの対応</vt:lpstr>
      <vt:lpstr>PHT アクセス時のインデクスの生成は，履歴と PC  を混ぜる</vt:lpstr>
      <vt:lpstr>履歴を用いた予測器</vt:lpstr>
      <vt:lpstr>ローカル履歴予測器</vt:lpstr>
      <vt:lpstr>ローカル履歴表</vt:lpstr>
      <vt:lpstr>ローカル履歴予測器の動作例（１）</vt:lpstr>
      <vt:lpstr>ローカル履歴予測器の動作例（２）</vt:lpstr>
      <vt:lpstr>ローカル履歴予測器の動作例（３）</vt:lpstr>
      <vt:lpstr>ローカル履歴予測器の動作例（３）</vt:lpstr>
      <vt:lpstr>ローカル履歴予測器のメリット</vt:lpstr>
      <vt:lpstr>履歴を用いた予測器</vt:lpstr>
      <vt:lpstr>グローバル履歴予測器のモチベーション</vt:lpstr>
      <vt:lpstr>グローバル履歴予測器のイメージ</vt:lpstr>
      <vt:lpstr>ローカル履歴予測器とグローバル履歴予測器</vt:lpstr>
      <vt:lpstr>ローカル履歴予測器とグローバル履歴予測器</vt:lpstr>
      <vt:lpstr>グローバル履歴予測器</vt:lpstr>
      <vt:lpstr>グローバル予測器の利点</vt:lpstr>
      <vt:lpstr>履歴長と予測精度</vt:lpstr>
      <vt:lpstr>g-share 予測器</vt:lpstr>
      <vt:lpstr>g-share 予測器</vt:lpstr>
      <vt:lpstr>なぜ XOR 演算なのか？</vt:lpstr>
      <vt:lpstr>パーセプトロンと TAGE </vt:lpstr>
      <vt:lpstr>より高度な予測器</vt:lpstr>
      <vt:lpstr>予測器の精度</vt:lpstr>
      <vt:lpstr>高度な予測器</vt:lpstr>
      <vt:lpstr>履歴長と予測精度</vt:lpstr>
      <vt:lpstr>履歴長と予測精度</vt:lpstr>
      <vt:lpstr>パーセプトロン予測器</vt:lpstr>
      <vt:lpstr>パーセプトロン</vt:lpstr>
      <vt:lpstr>「010 なら 1 」を学習させた場合</vt:lpstr>
      <vt:lpstr>パーセプトロン予測器</vt:lpstr>
      <vt:lpstr>グローバル履歴をそのまま重みにかけるもの</vt:lpstr>
      <vt:lpstr>実際の学習の様子</vt:lpstr>
      <vt:lpstr>Liner perceptron 系</vt:lpstr>
      <vt:lpstr>Hashed perceptron</vt:lpstr>
      <vt:lpstr>Hashed perceptron</vt:lpstr>
      <vt:lpstr>Hashed perceptron の効果</vt:lpstr>
      <vt:lpstr>ハッシュ・パーセプトロンの効果の例</vt:lpstr>
      <vt:lpstr>AMD Zen では Hashed Perceptron を使ってる</vt:lpstr>
      <vt:lpstr>TAGE 予測器</vt:lpstr>
      <vt:lpstr>TAGE 予測器 図は A. Seznec and P. Michaud.: A case for (partially)-tagged geometric history length predictors より</vt:lpstr>
      <vt:lpstr>TAGE 予測器 図は A. Seznec and P. Michaud. A case for (partially)-tagged  geometric history length predictors より</vt:lpstr>
      <vt:lpstr>TAGE 予測器のメリット（１）</vt:lpstr>
      <vt:lpstr>TAGE 予測器のメリット（２）</vt:lpstr>
      <vt:lpstr>TAGE 予測器 と ハッシュパーセプトロン予測器</vt:lpstr>
      <vt:lpstr>予測器の精度 Pierre Michaud, An alternative TAGE-like conditional branch predictor, TACO 2018 より</vt:lpstr>
      <vt:lpstr>分岐予測のアルゴリズムの発展</vt:lpstr>
      <vt:lpstr>PowerPoint プレゼンテーション</vt:lpstr>
      <vt:lpstr>去年はうちが優勝</vt:lpstr>
      <vt:lpstr>RUNLTS 予測器 世界でもっとも強い分岐予測器の１つ（2026年5月現在）</vt:lpstr>
      <vt:lpstr>分岐命令の処理と制御ハザード</vt:lpstr>
      <vt:lpstr>RBias のやりかた</vt:lpstr>
      <vt:lpstr>ダイジェストの作り方と，RBias が効くコードの例</vt:lpstr>
      <vt:lpstr>相関を抽出する機構</vt:lpstr>
      <vt:lpstr>予測ミスしたパスからの相関の抽出</vt:lpstr>
      <vt:lpstr>興味がある人向け</vt:lpstr>
      <vt:lpstr>TAGE の詳細と参考</vt:lpstr>
      <vt:lpstr>予測器とフェッチパイプライン</vt:lpstr>
      <vt:lpstr>分岐予測器の全体構造</vt:lpstr>
      <vt:lpstr>分岐予測器の全体構造</vt:lpstr>
      <vt:lpstr>分岐予測器の動作（１） BTB による分岐ターゲットと分岐かどうかの予測</vt:lpstr>
      <vt:lpstr>分岐予測器の動作（２） 方向予測器による分岐方向の予測</vt:lpstr>
      <vt:lpstr>分岐予測器の動作（３） 次の PC の予測</vt:lpstr>
      <vt:lpstr>分岐予測の基本の補足</vt:lpstr>
      <vt:lpstr>パイプラインとしての動作（１） 予測結果の PC や方向をパイプラインに流す</vt:lpstr>
      <vt:lpstr>パイプラインとしての動作（２） 予測ミス判明時に予測器や PC を学習</vt:lpstr>
      <vt:lpstr>分岐予測器を含む命令フェッチパイプラインの課題</vt:lpstr>
      <vt:lpstr>Ahead Pipelining</vt:lpstr>
      <vt:lpstr>Ahead Pipelining の効果</vt:lpstr>
      <vt:lpstr>Ahead Pipelining の課題</vt:lpstr>
      <vt:lpstr>Ahead Pipelining の課題の緩和方法</vt:lpstr>
      <vt:lpstr>Decoupled frontend（右側）</vt:lpstr>
      <vt:lpstr>Decoupled frontend の効果</vt:lpstr>
      <vt:lpstr>まとめ</vt:lpstr>
      <vt:lpstr>分岐予測のまとめ</vt:lpstr>
      <vt:lpstr>分岐予測のまとめ</vt:lpstr>
      <vt:lpstr>出欠と感想</vt:lpstr>
      <vt:lpstr>出席</vt:lpstr>
      <vt:lpstr>付録</vt:lpstr>
      <vt:lpstr>ローカル・グローバル・ハイブリッド予測器</vt:lpstr>
      <vt:lpstr>ローカル・グローバル・ハイブリッド予測器</vt:lpstr>
      <vt:lpstr>ローカル・グローバル・ハイブリッド予測器</vt:lpstr>
      <vt:lpstr>質問や感想</vt:lpstr>
      <vt:lpstr>質問と感想</vt:lpstr>
      <vt:lpstr>質問と感想</vt:lpstr>
      <vt:lpstr>質問と感想</vt:lpstr>
      <vt:lpstr>質問と感想</vt:lpstr>
      <vt:lpstr>質問と感想</vt:lpstr>
      <vt:lpstr>質問と感想</vt:lpstr>
      <vt:lpstr>質問と感想</vt:lpstr>
      <vt:lpstr>質問と感想</vt:lpstr>
      <vt:lpstr>質問と感想</vt:lpstr>
      <vt:lpstr>質問と感想</vt:lpstr>
      <vt:lpstr>質問と感想</vt:lpstr>
      <vt:lpstr>質問と感想</vt:lpstr>
      <vt:lpstr>質問と感想</vt:lpstr>
      <vt:lpstr>質問と感想</vt:lpstr>
      <vt:lpstr>質問と感想</vt:lpstr>
      <vt:lpstr>質問と感想</vt:lpstr>
      <vt:lpstr>質問と感想</vt:lpstr>
      <vt:lpstr>質問と感想</vt:lpstr>
      <vt:lpstr>質問と感想</vt:lpstr>
      <vt:lpstr>質問と感想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shioya</dc:creator>
  <cp:lastModifiedBy>塩谷　亮太</cp:lastModifiedBy>
  <cp:revision>13578</cp:revision>
  <cp:lastPrinted>2014-12-10T13:40:48Z</cp:lastPrinted>
  <dcterms:created xsi:type="dcterms:W3CDTF">2014-11-17T10:53:59Z</dcterms:created>
  <dcterms:modified xsi:type="dcterms:W3CDTF">2026-06-15T05:51:08Z</dcterms:modified>
</cp:coreProperties>
</file>