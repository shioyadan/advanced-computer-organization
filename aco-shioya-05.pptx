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9" r:id="rId1"/>
  </p:sldMasterIdLst>
  <p:notesMasterIdLst>
    <p:notesMasterId r:id="rId110"/>
  </p:notesMasterIdLst>
  <p:sldIdLst>
    <p:sldId id="440" r:id="rId2"/>
    <p:sldId id="512" r:id="rId3"/>
    <p:sldId id="513" r:id="rId4"/>
    <p:sldId id="610" r:id="rId5"/>
    <p:sldId id="578" r:id="rId6"/>
    <p:sldId id="579" r:id="rId7"/>
    <p:sldId id="580" r:id="rId8"/>
    <p:sldId id="581" r:id="rId9"/>
    <p:sldId id="582" r:id="rId10"/>
    <p:sldId id="583" r:id="rId11"/>
    <p:sldId id="584" r:id="rId12"/>
    <p:sldId id="585" r:id="rId13"/>
    <p:sldId id="586" r:id="rId14"/>
    <p:sldId id="587" r:id="rId15"/>
    <p:sldId id="588" r:id="rId16"/>
    <p:sldId id="589" r:id="rId17"/>
    <p:sldId id="590" r:id="rId18"/>
    <p:sldId id="591" r:id="rId19"/>
    <p:sldId id="592" r:id="rId20"/>
    <p:sldId id="593" r:id="rId21"/>
    <p:sldId id="594" r:id="rId22"/>
    <p:sldId id="595" r:id="rId23"/>
    <p:sldId id="596" r:id="rId24"/>
    <p:sldId id="597" r:id="rId25"/>
    <p:sldId id="598" r:id="rId26"/>
    <p:sldId id="599" r:id="rId27"/>
    <p:sldId id="600" r:id="rId28"/>
    <p:sldId id="601" r:id="rId29"/>
    <p:sldId id="602" r:id="rId30"/>
    <p:sldId id="603" r:id="rId31"/>
    <p:sldId id="604" r:id="rId32"/>
    <p:sldId id="605" r:id="rId33"/>
    <p:sldId id="606" r:id="rId34"/>
    <p:sldId id="607" r:id="rId35"/>
    <p:sldId id="608" r:id="rId36"/>
    <p:sldId id="612" r:id="rId37"/>
    <p:sldId id="611" r:id="rId38"/>
    <p:sldId id="516" r:id="rId39"/>
    <p:sldId id="517" r:id="rId40"/>
    <p:sldId id="518" r:id="rId41"/>
    <p:sldId id="519" r:id="rId42"/>
    <p:sldId id="514" r:id="rId43"/>
    <p:sldId id="520" r:id="rId44"/>
    <p:sldId id="521" r:id="rId45"/>
    <p:sldId id="522" r:id="rId46"/>
    <p:sldId id="523" r:id="rId47"/>
    <p:sldId id="524" r:id="rId48"/>
    <p:sldId id="525" r:id="rId49"/>
    <p:sldId id="526" r:id="rId50"/>
    <p:sldId id="527" r:id="rId51"/>
    <p:sldId id="528" r:id="rId52"/>
    <p:sldId id="529" r:id="rId53"/>
    <p:sldId id="530" r:id="rId54"/>
    <p:sldId id="531" r:id="rId55"/>
    <p:sldId id="532" r:id="rId56"/>
    <p:sldId id="535" r:id="rId57"/>
    <p:sldId id="534" r:id="rId58"/>
    <p:sldId id="536" r:id="rId59"/>
    <p:sldId id="537" r:id="rId60"/>
    <p:sldId id="539" r:id="rId61"/>
    <p:sldId id="538" r:id="rId62"/>
    <p:sldId id="540" r:id="rId63"/>
    <p:sldId id="541" r:id="rId64"/>
    <p:sldId id="542" r:id="rId65"/>
    <p:sldId id="533" r:id="rId66"/>
    <p:sldId id="548" r:id="rId67"/>
    <p:sldId id="543" r:id="rId68"/>
    <p:sldId id="546" r:id="rId69"/>
    <p:sldId id="547" r:id="rId70"/>
    <p:sldId id="544" r:id="rId71"/>
    <p:sldId id="613" r:id="rId72"/>
    <p:sldId id="549" r:id="rId73"/>
    <p:sldId id="554" r:id="rId74"/>
    <p:sldId id="555" r:id="rId75"/>
    <p:sldId id="553" r:id="rId76"/>
    <p:sldId id="552" r:id="rId77"/>
    <p:sldId id="551" r:id="rId78"/>
    <p:sldId id="556" r:id="rId79"/>
    <p:sldId id="557" r:id="rId80"/>
    <p:sldId id="550" r:id="rId81"/>
    <p:sldId id="559" r:id="rId82"/>
    <p:sldId id="560" r:id="rId83"/>
    <p:sldId id="561" r:id="rId84"/>
    <p:sldId id="562" r:id="rId85"/>
    <p:sldId id="563" r:id="rId86"/>
    <p:sldId id="565" r:id="rId87"/>
    <p:sldId id="614" r:id="rId88"/>
    <p:sldId id="639" r:id="rId89"/>
    <p:sldId id="648" r:id="rId90"/>
    <p:sldId id="649" r:id="rId91"/>
    <p:sldId id="660" r:id="rId92"/>
    <p:sldId id="615" r:id="rId93"/>
    <p:sldId id="651" r:id="rId94"/>
    <p:sldId id="653" r:id="rId95"/>
    <p:sldId id="654" r:id="rId96"/>
    <p:sldId id="650" r:id="rId97"/>
    <p:sldId id="652" r:id="rId98"/>
    <p:sldId id="655" r:id="rId99"/>
    <p:sldId id="656" r:id="rId100"/>
    <p:sldId id="657" r:id="rId101"/>
    <p:sldId id="658" r:id="rId102"/>
    <p:sldId id="659" r:id="rId103"/>
    <p:sldId id="673" r:id="rId104"/>
    <p:sldId id="661" r:id="rId105"/>
    <p:sldId id="662" r:id="rId106"/>
    <p:sldId id="663" r:id="rId107"/>
    <p:sldId id="664" r:id="rId108"/>
    <p:sldId id="665" r:id="rId10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00" autoAdjust="0"/>
    <p:restoredTop sz="96862" autoAdjust="0"/>
  </p:normalViewPr>
  <p:slideViewPr>
    <p:cSldViewPr>
      <p:cViewPr varScale="1">
        <p:scale>
          <a:sx n="161" d="100"/>
          <a:sy n="161" d="100"/>
        </p:scale>
        <p:origin x="360" y="100"/>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2026/5/25</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a:t>
            </a:fld>
            <a:endParaRPr kumimoji="1" lang="ja-JP" altLang="en-US"/>
          </a:p>
        </p:txBody>
      </p:sp>
    </p:spTree>
    <p:extLst>
      <p:ext uri="{BB962C8B-B14F-4D97-AF65-F5344CB8AC3E}">
        <p14:creationId xmlns:p14="http://schemas.microsoft.com/office/powerpoint/2010/main" val="21816315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a:t>
            </a:fld>
            <a:endParaRPr kumimoji="1" lang="ja-JP" altLang="en-US"/>
          </a:p>
        </p:txBody>
      </p:sp>
    </p:spTree>
    <p:extLst>
      <p:ext uri="{BB962C8B-B14F-4D97-AF65-F5344CB8AC3E}">
        <p14:creationId xmlns:p14="http://schemas.microsoft.com/office/powerpoint/2010/main" val="39940038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19</a:t>
            </a:fld>
            <a:endParaRPr kumimoji="1" lang="ja-JP" altLang="en-US"/>
          </a:p>
        </p:txBody>
      </p:sp>
    </p:spTree>
    <p:extLst>
      <p:ext uri="{BB962C8B-B14F-4D97-AF65-F5344CB8AC3E}">
        <p14:creationId xmlns:p14="http://schemas.microsoft.com/office/powerpoint/2010/main" val="4363494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31</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33</a:t>
            </a:fld>
            <a:endParaRPr kumimoji="1" lang="ja-JP" altLang="en-US"/>
          </a:p>
        </p:txBody>
      </p:sp>
    </p:spTree>
    <p:extLst>
      <p:ext uri="{BB962C8B-B14F-4D97-AF65-F5344CB8AC3E}">
        <p14:creationId xmlns:p14="http://schemas.microsoft.com/office/powerpoint/2010/main" val="688850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34</a:t>
            </a:fld>
            <a:endParaRPr kumimoji="1" lang="ja-JP" altLang="en-US"/>
          </a:p>
        </p:txBody>
      </p:sp>
    </p:spTree>
    <p:extLst>
      <p:ext uri="{BB962C8B-B14F-4D97-AF65-F5344CB8AC3E}">
        <p14:creationId xmlns:p14="http://schemas.microsoft.com/office/powerpoint/2010/main" val="36767009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46</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9422122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47</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6503848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48</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8518063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49</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949822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50</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353816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63</a:t>
            </a:fld>
            <a:endParaRPr kumimoji="1" lang="ja-JP" altLang="en-US"/>
          </a:p>
        </p:txBody>
      </p:sp>
    </p:spTree>
    <p:extLst>
      <p:ext uri="{BB962C8B-B14F-4D97-AF65-F5344CB8AC3E}">
        <p14:creationId xmlns:p14="http://schemas.microsoft.com/office/powerpoint/2010/main" val="36329982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64</a:t>
            </a:fld>
            <a:endParaRPr kumimoji="1" lang="ja-JP" altLang="en-US"/>
          </a:p>
        </p:txBody>
      </p:sp>
    </p:spTree>
    <p:extLst>
      <p:ext uri="{BB962C8B-B14F-4D97-AF65-F5344CB8AC3E}">
        <p14:creationId xmlns:p14="http://schemas.microsoft.com/office/powerpoint/2010/main" val="29602460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77</a:t>
            </a:fld>
            <a:endParaRPr kumimoji="1" lang="ja-JP" altLang="en-US"/>
          </a:p>
        </p:txBody>
      </p:sp>
    </p:spTree>
    <p:extLst>
      <p:ext uri="{BB962C8B-B14F-4D97-AF65-F5344CB8AC3E}">
        <p14:creationId xmlns:p14="http://schemas.microsoft.com/office/powerpoint/2010/main" val="6666970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78</a:t>
            </a:fld>
            <a:endParaRPr kumimoji="1" lang="ja-JP" altLang="en-US"/>
          </a:p>
        </p:txBody>
      </p:sp>
    </p:spTree>
    <p:extLst>
      <p:ext uri="{BB962C8B-B14F-4D97-AF65-F5344CB8AC3E}">
        <p14:creationId xmlns:p14="http://schemas.microsoft.com/office/powerpoint/2010/main" val="17599191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774692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815941" y="1088974"/>
            <a:ext cx="11040123" cy="5219751"/>
          </a:xfrm>
        </p:spPr>
        <p:txBody>
          <a:bodyPr/>
          <a:lstStyle>
            <a:lvl2pPr>
              <a:buClr>
                <a:schemeClr val="accent4"/>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6349938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815941" y="1628981"/>
            <a:ext cx="9600107" cy="990011"/>
          </a:xfrm>
        </p:spPr>
        <p:txBody>
          <a:bodyPr anchor="b"/>
          <a:lstStyle>
            <a:lvl1pPr algn="l">
              <a:defRPr sz="3200" b="0"/>
            </a:lvl1pPr>
          </a:lstStyle>
          <a:p>
            <a:r>
              <a:rPr kumimoji="1" lang="ja-JP" altLang="en-US"/>
              <a:t>マスター タイトルの書式設定</a:t>
            </a:r>
            <a:endParaRPr kumimoji="1" lang="ja-JP" altLang="en-US" dirty="0"/>
          </a:p>
        </p:txBody>
      </p:sp>
      <p:cxnSp>
        <p:nvCxnSpPr>
          <p:cNvPr id="4" name="直線コネクタ 3"/>
          <p:cNvCxnSpPr/>
          <p:nvPr userDrawn="1"/>
        </p:nvCxnSpPr>
        <p:spPr bwMode="auto">
          <a:xfrm flipV="1">
            <a:off x="815941" y="2618992"/>
            <a:ext cx="8160091" cy="1"/>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175611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012413435"/>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815941" y="1088975"/>
            <a:ext cx="11040123"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135615592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3" r:id="rId3"/>
    <p:sldLayoutId id="2147483678" r:id="rId4"/>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w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0.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uops.info/table.html"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dirty="0"/>
              <a:t>先進計算機構成論 </a:t>
            </a:r>
            <a:r>
              <a:rPr lang="en-US" altLang="ja-JP" sz="2800" dirty="0"/>
              <a:t>05</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前回の内容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命令パイプライン</a:t>
            </a:r>
            <a:endParaRPr lang="en-US" altLang="ja-JP" dirty="0"/>
          </a:p>
          <a:p>
            <a:pPr marL="457200" indent="-457200">
              <a:buFont typeface="+mj-lt"/>
              <a:buAutoNum type="arabicPeriod"/>
            </a:pPr>
            <a:r>
              <a:rPr lang="ja-JP" altLang="en-US" dirty="0"/>
              <a:t>構造ハザード：ハード資源の不足に起因</a:t>
            </a:r>
            <a:endParaRPr lang="en-US" altLang="ja-JP" dirty="0"/>
          </a:p>
          <a:p>
            <a:pPr marL="457200" indent="-457200">
              <a:buFont typeface="+mj-lt"/>
              <a:buAutoNum type="arabicPeriod"/>
            </a:pPr>
            <a:r>
              <a:rPr lang="ja-JP" altLang="en-US" dirty="0"/>
              <a:t>構造ハザードの解決方法</a:t>
            </a:r>
            <a:endParaRPr lang="en-US" altLang="ja-JP" dirty="0"/>
          </a:p>
          <a:p>
            <a:pPr marL="817200" lvl="1" indent="-457200">
              <a:buFont typeface="+mj-lt"/>
              <a:buAutoNum type="arabicPeriod"/>
            </a:pPr>
            <a:r>
              <a:rPr lang="ja-JP" altLang="en-US" dirty="0"/>
              <a:t>ハードウェアの増強</a:t>
            </a:r>
            <a:endParaRPr lang="en-US" altLang="ja-JP" dirty="0"/>
          </a:p>
          <a:p>
            <a:pPr marL="817200" lvl="1" indent="-457200">
              <a:buFont typeface="+mj-lt"/>
              <a:buAutoNum type="arabicPeriod"/>
            </a:pPr>
            <a:r>
              <a:rPr lang="ja-JP" altLang="en-US" dirty="0"/>
              <a:t>時分割処理</a:t>
            </a:r>
            <a:endParaRPr lang="en-US" altLang="ja-JP" dirty="0"/>
          </a:p>
          <a:p>
            <a:pPr marL="817200" lvl="1" indent="-457200">
              <a:buFont typeface="+mj-lt"/>
              <a:buAutoNum type="arabicPeriod"/>
            </a:pPr>
            <a:r>
              <a:rPr lang="ja-JP" altLang="en-US" dirty="0"/>
              <a:t>マイクロ命令への変換</a:t>
            </a:r>
            <a:endParaRPr lang="en-US" altLang="ja-JP" dirty="0"/>
          </a:p>
        </p:txBody>
      </p:sp>
    </p:spTree>
    <p:extLst>
      <p:ext uri="{BB962C8B-B14F-4D97-AF65-F5344CB8AC3E}">
        <p14:creationId xmlns:p14="http://schemas.microsoft.com/office/powerpoint/2010/main" val="18516919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非構造ハザード</a:t>
            </a:r>
            <a:endParaRPr lang="en-US" altLang="ja-JP" dirty="0"/>
          </a:p>
          <a:p>
            <a:pPr marL="457200" indent="-457200">
              <a:buFont typeface="+mj-lt"/>
              <a:buAutoNum type="arabicPeriod"/>
            </a:pPr>
            <a:r>
              <a:rPr kumimoji="1" lang="ja-JP" altLang="en-US" dirty="0"/>
              <a:t>命令パイプラインと性能</a:t>
            </a:r>
            <a:endParaRPr kumimoji="1" lang="en-US" altLang="ja-JP" dirty="0"/>
          </a:p>
          <a:p>
            <a:pPr marL="457200" indent="-457200">
              <a:buFont typeface="+mj-lt"/>
              <a:buAutoNum type="arabicPeriod"/>
            </a:pPr>
            <a:r>
              <a:rPr kumimoji="1" lang="ja-JP" altLang="en-US" dirty="0"/>
              <a:t>分岐予測（前編）</a:t>
            </a:r>
            <a:endParaRPr kumimoji="1" lang="en-US" altLang="ja-JP" dirty="0"/>
          </a:p>
        </p:txBody>
      </p:sp>
    </p:spTree>
    <p:extLst>
      <p:ext uri="{BB962C8B-B14F-4D97-AF65-F5344CB8AC3E}">
        <p14:creationId xmlns:p14="http://schemas.microsoft.com/office/powerpoint/2010/main" val="4290881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F6C3DF1-F9EC-B285-2E83-D56AE7F0639E}"/>
              </a:ext>
            </a:extLst>
          </p:cNvPr>
          <p:cNvSpPr>
            <a:spLocks noGrp="1"/>
          </p:cNvSpPr>
          <p:nvPr>
            <p:ph type="title"/>
          </p:nvPr>
        </p:nvSpPr>
        <p:spPr/>
        <p:txBody>
          <a:bodyPr/>
          <a:lstStyle/>
          <a:p>
            <a:r>
              <a:rPr lang="ja-JP" altLang="en-US" b="1" dirty="0"/>
              <a:t>非構造ハザード</a:t>
            </a:r>
            <a:endParaRPr lang="ja-JP" altLang="en-US" dirty="0"/>
          </a:p>
        </p:txBody>
      </p:sp>
    </p:spTree>
    <p:extLst>
      <p:ext uri="{BB962C8B-B14F-4D97-AF65-F5344CB8AC3E}">
        <p14:creationId xmlns:p14="http://schemas.microsoft.com/office/powerpoint/2010/main" val="3254046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b="1" dirty="0"/>
              <a:t>非構造ハザード</a:t>
            </a:r>
            <a:endParaRPr kumimoji="1" lang="ja-JP" altLang="en-US" dirty="0"/>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構造ハザード：ハード資源の不足に起因（前回講義）</a:t>
            </a:r>
            <a:endParaRPr lang="en-US" altLang="ja-JP" dirty="0"/>
          </a:p>
          <a:p>
            <a:pPr marL="385200" indent="-457200">
              <a:buFont typeface="+mj-lt"/>
              <a:buAutoNum type="arabicPeriod"/>
            </a:pPr>
            <a:r>
              <a:rPr lang="ja-JP" altLang="en-US" b="1" dirty="0"/>
              <a:t>非構造ハザード：バックエッジに由来</a:t>
            </a:r>
            <a:endParaRPr lang="en-US" altLang="ja-JP" b="1"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33809306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バックエッジとは：逆方向（右から左）にいく信号</a:t>
            </a:r>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2495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91007" y="3834004"/>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978993"/>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2135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1595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3080968"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1595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3935976"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2495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3575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4475982" y="3969003"/>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4475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4655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2495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4475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4475982" y="1898984"/>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9876039" y="3429000"/>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9696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536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6096000" y="3789004"/>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6096000" y="4599013"/>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8256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6636005"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8076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8256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10056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3395971"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8076022" y="3248995"/>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9561041" y="2393989"/>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8796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3395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3395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3395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lang="ja-JP" altLang="en-US" sz="1600" dirty="0">
                <a:solidFill>
                  <a:schemeClr val="accent6"/>
                </a:solidFill>
                <a:latin typeface="メイリオ" panose="020B0604030504040204" pitchFamily="50" charset="-128"/>
                <a:ea typeface="メイリオ" panose="020B0604030504040204" pitchFamily="50" charset="-128"/>
              </a:rPr>
              <a:t>分岐結果の </a:t>
            </a:r>
            <a:r>
              <a:rPr lang="en-US" altLang="ja-JP" sz="1600" dirty="0">
                <a:solidFill>
                  <a:schemeClr val="accent6"/>
                </a:solidFill>
                <a:latin typeface="メイリオ" panose="020B0604030504040204" pitchFamily="50" charset="-128"/>
                <a:ea typeface="メイリオ" panose="020B0604030504040204" pitchFamily="50" charset="-128"/>
              </a:rPr>
              <a:t>PC </a:t>
            </a:r>
            <a:r>
              <a:rPr lang="ja-JP" altLang="en-US" sz="1600" dirty="0" err="1">
                <a:solidFill>
                  <a:schemeClr val="accent6"/>
                </a:solidFill>
                <a:latin typeface="メイリオ" panose="020B0604030504040204" pitchFamily="50" charset="-128"/>
                <a:ea typeface="メイリオ" panose="020B0604030504040204" pitchFamily="50" charset="-128"/>
              </a:rPr>
              <a:t>への</a:t>
            </a:r>
            <a:r>
              <a:rPr lang="ja-JP" altLang="en-US" sz="1600" dirty="0">
                <a:solidFill>
                  <a:schemeClr val="accent6"/>
                </a:solidFill>
                <a:latin typeface="メイリオ" panose="020B0604030504040204" pitchFamily="50" charset="-128"/>
                <a:ea typeface="メイリオ" panose="020B0604030504040204" pitchFamily="50" charset="-128"/>
              </a:rPr>
              <a:t>反映</a:t>
            </a:r>
            <a:endParaRPr lang="en-US" altLang="ja-JP" sz="1600" dirty="0">
              <a:solidFill>
                <a:schemeClr val="accent6"/>
              </a:solidFill>
              <a:latin typeface="メイリオ" panose="020B0604030504040204" pitchFamily="50" charset="-128"/>
              <a:ea typeface="メイリオ" panose="020B0604030504040204" pitchFamily="50" charset="-128"/>
            </a:endParaRPr>
          </a:p>
          <a:p>
            <a:r>
              <a:rPr lang="ja-JP" altLang="en-US" sz="1600" dirty="0">
                <a:solidFill>
                  <a:schemeClr val="accent6"/>
                </a:solidFill>
                <a:latin typeface="メイリオ" panose="020B0604030504040204" pitchFamily="50" charset="-128"/>
                <a:ea typeface="メイリオ" panose="020B0604030504040204" pitchFamily="50" charset="-128"/>
              </a:rPr>
              <a:t>制御ハザードの原因</a:t>
            </a:r>
          </a:p>
        </p:txBody>
      </p:sp>
      <p:sp>
        <p:nvSpPr>
          <p:cNvPr id="49" name="正方形/長方形 48"/>
          <p:cNvSpPr/>
          <p:nvPr/>
        </p:nvSpPr>
        <p:spPr bwMode="auto">
          <a:xfrm>
            <a:off x="4835986"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lang="ja-JP" altLang="en-US" sz="1600" dirty="0">
                <a:solidFill>
                  <a:schemeClr val="accent6"/>
                </a:solidFill>
                <a:latin typeface="メイリオ" panose="020B0604030504040204" pitchFamily="50" charset="-128"/>
                <a:ea typeface="メイリオ" panose="020B0604030504040204" pitchFamily="50" charset="-128"/>
              </a:rPr>
              <a:t>演算やロードの結果の書き込み</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データハザードの原因</a:t>
            </a:r>
          </a:p>
        </p:txBody>
      </p:sp>
    </p:spTree>
    <p:extLst>
      <p:ext uri="{BB962C8B-B14F-4D97-AF65-F5344CB8AC3E}">
        <p14:creationId xmlns:p14="http://schemas.microsoft.com/office/powerpoint/2010/main" val="4236209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idx="4294967295"/>
          </p:nvPr>
        </p:nvSpPr>
        <p:spPr>
          <a:xfrm>
            <a:off x="1775953" y="4689015"/>
            <a:ext cx="8730097" cy="1369161"/>
          </a:xfrm>
          <a:prstGeom prst="rect">
            <a:avLst/>
          </a:prstGeom>
        </p:spPr>
        <p:txBody>
          <a:bodyPr/>
          <a:lstStyle/>
          <a:p>
            <a:r>
              <a:rPr lang="ja-JP" altLang="en-US" dirty="0"/>
              <a:t>レジスタ・ファイルへのアクセス</a:t>
            </a:r>
            <a:endParaRPr lang="en-US" altLang="ja-JP" dirty="0"/>
          </a:p>
          <a:p>
            <a:pPr lvl="1"/>
            <a:r>
              <a:rPr lang="ja-JP" altLang="en-US" dirty="0"/>
              <a:t>演算の入力は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の人がレジスタ・ファイルから読み出す</a:t>
            </a:r>
            <a:endParaRPr lang="en-US" altLang="ja-JP" dirty="0"/>
          </a:p>
          <a:p>
            <a:pPr lvl="1"/>
            <a:r>
              <a:rPr lang="ja-JP" altLang="en-US" dirty="0"/>
              <a:t>演算の結果は</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の人がレジスタ・ファイルに書き込む</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ALU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8076022" y="1808982"/>
            <a:ext cx="1350015" cy="432646"/>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書きます！</a:t>
            </a:r>
          </a:p>
        </p:txBody>
      </p:sp>
      <p:sp>
        <p:nvSpPr>
          <p:cNvPr id="45" name="角丸四角形吹き出し 44"/>
          <p:cNvSpPr/>
          <p:nvPr/>
        </p:nvSpPr>
        <p:spPr bwMode="auto">
          <a:xfrm>
            <a:off x="5195990" y="1808982"/>
            <a:ext cx="1350015"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読みます！</a:t>
            </a:r>
          </a:p>
        </p:txBody>
      </p:sp>
    </p:spTree>
    <p:extLst>
      <p:ext uri="{BB962C8B-B14F-4D97-AF65-F5344CB8AC3E}">
        <p14:creationId xmlns:p14="http://schemas.microsoft.com/office/powerpoint/2010/main" val="6586131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idx="4294967295"/>
          </p:nvPr>
        </p:nvSpPr>
        <p:spPr>
          <a:xfrm>
            <a:off x="1775953" y="4869017"/>
            <a:ext cx="8730097" cy="1369161"/>
          </a:xfrm>
          <a:prstGeom prst="rect">
            <a:avLst/>
          </a:prstGeom>
        </p:spPr>
        <p:txBody>
          <a:bodyPr/>
          <a:lstStyle/>
          <a:p>
            <a:r>
              <a:rPr lang="ja-JP" altLang="en-US" dirty="0"/>
              <a:t>直前の命令の結果を使う命令が現れた場合：</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 </a:t>
            </a:r>
            <a:r>
              <a:rPr lang="en-US" altLang="ja-JP" b="1" dirty="0"/>
              <a:t>b</a:t>
            </a:r>
            <a:r>
              <a:rPr lang="en-US" altLang="ja-JP" dirty="0"/>
              <a:t>=a+1 </a:t>
            </a:r>
            <a:r>
              <a:rPr lang="ja-JP" altLang="en-US" dirty="0"/>
              <a:t>の結果を読もうとしても，</a:t>
            </a:r>
            <a:endParaRPr lang="en-US" altLang="ja-JP" dirty="0"/>
          </a:p>
          <a:p>
            <a:pPr lvl="1"/>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の人がまだ計算中でレジスタ・ファイルに </a:t>
            </a:r>
            <a:r>
              <a:rPr lang="en-US" altLang="ja-JP" dirty="0"/>
              <a:t>b </a:t>
            </a:r>
            <a:r>
              <a:rPr lang="ja-JP" altLang="en-US" dirty="0"/>
              <a:t>が書けていない</a:t>
            </a:r>
            <a:endParaRPr lang="en-US" altLang="ja-JP" dirty="0"/>
          </a:p>
          <a:p>
            <a:pPr lvl="1"/>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の人が計算結果をかけるのはさらに次のサイクル</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07" y="1808982"/>
            <a:ext cx="1260014" cy="432646"/>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計算中･･･</a:t>
            </a:r>
          </a:p>
        </p:txBody>
      </p:sp>
      <p:sp>
        <p:nvSpPr>
          <p:cNvPr id="45" name="角丸四角形吹き出し 44"/>
          <p:cNvSpPr/>
          <p:nvPr/>
        </p:nvSpPr>
        <p:spPr bwMode="auto">
          <a:xfrm>
            <a:off x="5195990" y="1808982"/>
            <a:ext cx="1260014"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ください</a:t>
            </a:r>
          </a:p>
        </p:txBody>
      </p:sp>
      <p:sp>
        <p:nvSpPr>
          <p:cNvPr id="46" name="角丸四角形 45"/>
          <p:cNvSpPr/>
          <p:nvPr/>
        </p:nvSpPr>
        <p:spPr bwMode="auto">
          <a:xfrm>
            <a:off x="6456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2"/>
            <a:ext cx="2160024"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まだ</a:t>
            </a:r>
            <a:r>
              <a:rPr lang="ja-JP" altLang="en-US" dirty="0" err="1">
                <a:solidFill>
                  <a:schemeClr val="tx1">
                    <a:lumMod val="65000"/>
                    <a:lumOff val="35000"/>
                  </a:schemeClr>
                </a:solidFill>
                <a:latin typeface="Arial Narrow" panose="020B0606020202030204" pitchFamily="34" charset="0"/>
              </a:rPr>
              <a:t>ｂ</a:t>
            </a:r>
            <a:r>
              <a:rPr lang="ja-JP" altLang="en-US" dirty="0">
                <a:solidFill>
                  <a:schemeClr val="tx1">
                    <a:lumMod val="65000"/>
                    <a:lumOff val="35000"/>
                  </a:schemeClr>
                </a:solidFill>
                <a:latin typeface="Arial Narrow" panose="020B0606020202030204" pitchFamily="34" charset="0"/>
              </a:rPr>
              <a:t>書けないよ</a:t>
            </a:r>
          </a:p>
        </p:txBody>
      </p:sp>
    </p:spTree>
    <p:extLst>
      <p:ext uri="{BB962C8B-B14F-4D97-AF65-F5344CB8AC3E}">
        <p14:creationId xmlns:p14="http://schemas.microsoft.com/office/powerpoint/2010/main" val="3884891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が終わるまで，その結果はレジスタに書き込まれない</a:t>
            </a:r>
            <a:endParaRPr kumimoji="1" lang="en-US" altLang="ja-JP" dirty="0"/>
          </a:p>
          <a:p>
            <a:pPr lvl="1"/>
            <a:r>
              <a:rPr lang="en-US" altLang="ja-JP" dirty="0"/>
              <a:t>I4 </a:t>
            </a:r>
            <a:r>
              <a:rPr lang="ja-JP" altLang="en-US" dirty="0"/>
              <a:t>までは，その値がレジスタから得られない</a:t>
            </a:r>
            <a:endParaRPr lang="en-US" altLang="ja-JP" dirty="0"/>
          </a:p>
          <a:p>
            <a:pPr lvl="1"/>
            <a:r>
              <a:rPr kumimoji="1" lang="en-US" altLang="ja-JP" dirty="0"/>
              <a:t>ID </a:t>
            </a:r>
            <a:r>
              <a:rPr kumimoji="1" lang="ja-JP" altLang="en-US" dirty="0"/>
              <a:t>ステージでレジスタを読むため</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p:nvPr/>
        </p:nvCxnSpPr>
        <p:spPr bwMode="auto">
          <a:xfrm>
            <a:off x="3935976" y="2888994"/>
            <a:ext cx="1440088" cy="0"/>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p:nvPr/>
        </p:nvCxnSpPr>
        <p:spPr bwMode="auto">
          <a:xfrm>
            <a:off x="3935977" y="3338999"/>
            <a:ext cx="1890093" cy="0"/>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endCxn id="28"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688837"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336145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dirty="0"/>
              <a:t>マルチスレッディング</a:t>
            </a:r>
          </a:p>
        </p:txBody>
      </p:sp>
    </p:spTree>
    <p:extLst>
      <p:ext uri="{BB962C8B-B14F-4D97-AF65-F5344CB8AC3E}">
        <p14:creationId xmlns:p14="http://schemas.microsoft.com/office/powerpoint/2010/main" val="231790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１．ストールさせる</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が終わるまで，後続の命令を遅らせる</a:t>
            </a:r>
            <a:endParaRPr kumimoji="1" lang="en-US" altLang="ja-JP" dirty="0"/>
          </a:p>
          <a:p>
            <a:pPr lvl="1"/>
            <a:r>
              <a:rPr lang="en-US" altLang="ja-JP" dirty="0"/>
              <a:t>I1 </a:t>
            </a:r>
            <a:r>
              <a:rPr lang="ja-JP" altLang="en-US" dirty="0"/>
              <a:t>の </a:t>
            </a:r>
            <a:r>
              <a:rPr lang="en-US" altLang="ja-JP" dirty="0"/>
              <a:t>ID </a:t>
            </a:r>
            <a:r>
              <a:rPr lang="ja-JP" altLang="en-US" dirty="0"/>
              <a:t>が，</a:t>
            </a:r>
            <a:r>
              <a:rPr lang="en-US" altLang="ja-JP" dirty="0"/>
              <a:t>I0 </a:t>
            </a:r>
            <a:r>
              <a:rPr lang="ja-JP" altLang="en-US" dirty="0"/>
              <a:t>の </a:t>
            </a:r>
            <a:r>
              <a:rPr lang="en-US" altLang="ja-JP" dirty="0"/>
              <a:t>WB </a:t>
            </a:r>
            <a:r>
              <a:rPr lang="ja-JP" altLang="en-US" dirty="0"/>
              <a:t>の右にくるまでストール</a:t>
            </a:r>
            <a:endParaRPr lang="en-US" altLang="ja-JP" dirty="0"/>
          </a:p>
          <a:p>
            <a:pPr lvl="1"/>
            <a:r>
              <a:rPr kumimoji="1" lang="en-US" altLang="ja-JP" dirty="0"/>
              <a:t>I1 </a:t>
            </a:r>
            <a:r>
              <a:rPr kumimoji="1" lang="ja-JP" altLang="en-US" dirty="0"/>
              <a:t>は </a:t>
            </a:r>
            <a:r>
              <a:rPr kumimoji="1" lang="en-US" altLang="ja-JP" dirty="0"/>
              <a:t>I0 </a:t>
            </a:r>
            <a:r>
              <a:rPr kumimoji="1" lang="ja-JP" altLang="en-US" dirty="0"/>
              <a:t>の結果を使える</a:t>
            </a:r>
            <a:endParaRPr kumimoji="1" lang="en-US" altLang="ja-JP" dirty="0"/>
          </a:p>
          <a:p>
            <a:r>
              <a:rPr kumimoji="1" lang="ja-JP" altLang="en-US" dirty="0"/>
              <a:t>欠点：プログラムの実行がとても遅くなる</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6816008" y="2258987"/>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726601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7716018"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816602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681600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726601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771601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816602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861602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726601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771601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816602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861602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906603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771601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816602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861602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906603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951603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a:endCxn id="16" idx="1"/>
          </p:cNvCxnSpPr>
          <p:nvPr/>
        </p:nvCxnSpPr>
        <p:spPr bwMode="auto">
          <a:xfrm flipV="1">
            <a:off x="3935976" y="2888992"/>
            <a:ext cx="2880032" cy="2"/>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a:endCxn id="23" idx="1"/>
          </p:cNvCxnSpPr>
          <p:nvPr/>
        </p:nvCxnSpPr>
        <p:spPr bwMode="auto">
          <a:xfrm flipV="1">
            <a:off x="3935977" y="3338997"/>
            <a:ext cx="3330037" cy="2"/>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stCxn id="43" idx="3"/>
            <a:endCxn id="28" idx="1"/>
          </p:cNvCxnSpPr>
          <p:nvPr/>
        </p:nvCxnSpPr>
        <p:spPr bwMode="auto">
          <a:xfrm flipV="1">
            <a:off x="3935976" y="3789002"/>
            <a:ext cx="3780042"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718573"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46" name="Rectangle 73"/>
          <p:cNvSpPr>
            <a:spLocks noChangeArrowheads="1"/>
          </p:cNvSpPr>
          <p:nvPr/>
        </p:nvSpPr>
        <p:spPr bwMode="auto">
          <a:xfrm>
            <a:off x="537599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7" name="Rectangle 73"/>
          <p:cNvSpPr>
            <a:spLocks noChangeArrowheads="1"/>
          </p:cNvSpPr>
          <p:nvPr/>
        </p:nvSpPr>
        <p:spPr bwMode="auto">
          <a:xfrm>
            <a:off x="5825997"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8" name="Rectangle 73"/>
          <p:cNvSpPr>
            <a:spLocks noChangeArrowheads="1"/>
          </p:cNvSpPr>
          <p:nvPr/>
        </p:nvSpPr>
        <p:spPr bwMode="auto">
          <a:xfrm>
            <a:off x="627600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Tree>
    <p:extLst>
      <p:ext uri="{BB962C8B-B14F-4D97-AF65-F5344CB8AC3E}">
        <p14:creationId xmlns:p14="http://schemas.microsoft.com/office/powerpoint/2010/main" val="1128223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遅延スロット（</a:t>
            </a:r>
            <a:r>
              <a:rPr lang="en-US" altLang="ja-JP" dirty="0"/>
              <a:t>=</a:t>
            </a:r>
            <a:r>
              <a:rPr lang="ja-JP" altLang="en-US" dirty="0"/>
              <a:t>ハードではなにもしない）</a:t>
            </a:r>
          </a:p>
        </p:txBody>
      </p:sp>
      <p:sp>
        <p:nvSpPr>
          <p:cNvPr id="3" name="テキスト プレースホルダー 2"/>
          <p:cNvSpPr>
            <a:spLocks noGrp="1"/>
          </p:cNvSpPr>
          <p:nvPr>
            <p:ph type="body" sz="quarter" idx="10"/>
          </p:nvPr>
        </p:nvSpPr>
        <p:spPr>
          <a:xfrm>
            <a:off x="2135956" y="4239010"/>
            <a:ext cx="8280092" cy="1799713"/>
          </a:xfrm>
        </p:spPr>
        <p:txBody>
          <a:bodyPr/>
          <a:lstStyle/>
          <a:p>
            <a:r>
              <a:rPr kumimoji="1" lang="ja-JP" altLang="en-US" dirty="0"/>
              <a:t>特になにも対策せず，</a:t>
            </a:r>
            <a:br>
              <a:rPr kumimoji="1" lang="en-US" altLang="ja-JP" dirty="0"/>
            </a:br>
            <a:r>
              <a:rPr kumimoji="1" lang="ja-JP" altLang="en-US" dirty="0">
                <a:solidFill>
                  <a:schemeClr val="accent5"/>
                </a:solidFill>
              </a:rPr>
              <a:t>「ある命令の結果は，数命令先まで見えない」と言う仕様にする</a:t>
            </a:r>
            <a:endParaRPr kumimoji="1" lang="en-US" altLang="ja-JP" dirty="0">
              <a:solidFill>
                <a:schemeClr val="accent5"/>
              </a:solidFill>
            </a:endParaRPr>
          </a:p>
          <a:p>
            <a:pPr lvl="1"/>
            <a:r>
              <a:rPr lang="ja-JP" altLang="en-US" dirty="0"/>
              <a:t>上の例だと </a:t>
            </a:r>
            <a:r>
              <a:rPr lang="en-US" altLang="ja-JP" dirty="0"/>
              <a:t>I1</a:t>
            </a:r>
            <a:r>
              <a:rPr lang="ja-JP" altLang="en-US" dirty="0" err="1"/>
              <a:t>，</a:t>
            </a:r>
            <a:r>
              <a:rPr lang="en-US" altLang="ja-JP" dirty="0"/>
              <a:t>I2</a:t>
            </a:r>
            <a:r>
              <a:rPr lang="ja-JP" altLang="en-US" dirty="0" err="1"/>
              <a:t>，</a:t>
            </a:r>
            <a:r>
              <a:rPr lang="en-US" altLang="ja-JP" dirty="0"/>
              <a:t>I3 </a:t>
            </a:r>
            <a:r>
              <a:rPr lang="ja-JP" altLang="en-US" dirty="0"/>
              <a:t>は，</a:t>
            </a:r>
            <a:r>
              <a:rPr lang="en-US" altLang="ja-JP" dirty="0"/>
              <a:t>I0 </a:t>
            </a:r>
            <a:r>
              <a:rPr lang="ja-JP" altLang="en-US" dirty="0"/>
              <a:t>の結果は見えない</a:t>
            </a:r>
            <a:endParaRPr lang="en-US" altLang="ja-JP" dirty="0"/>
          </a:p>
          <a:p>
            <a:pPr lvl="1"/>
            <a:r>
              <a:rPr lang="en-US" altLang="ja-JP" dirty="0"/>
              <a:t>I1</a:t>
            </a:r>
            <a:r>
              <a:rPr lang="ja-JP" altLang="en-US" dirty="0" err="1"/>
              <a:t>，</a:t>
            </a:r>
            <a:r>
              <a:rPr lang="en-US" altLang="ja-JP" dirty="0"/>
              <a:t>I2</a:t>
            </a:r>
            <a:r>
              <a:rPr lang="ja-JP" altLang="en-US" dirty="0" err="1"/>
              <a:t>，</a:t>
            </a:r>
            <a:r>
              <a:rPr lang="en-US" altLang="ja-JP" dirty="0"/>
              <a:t>I3 </a:t>
            </a:r>
            <a:r>
              <a:rPr lang="ja-JP" altLang="en-US" dirty="0"/>
              <a:t>には，</a:t>
            </a:r>
            <a:r>
              <a:rPr lang="en-US" altLang="ja-JP" dirty="0"/>
              <a:t>I0 </a:t>
            </a:r>
            <a:r>
              <a:rPr lang="ja-JP" altLang="en-US" dirty="0"/>
              <a:t>で </a:t>
            </a:r>
            <a:r>
              <a:rPr lang="en-US" altLang="ja-JP" dirty="0"/>
              <a:t>add </a:t>
            </a:r>
            <a:r>
              <a:rPr lang="ja-JP" altLang="en-US" dirty="0"/>
              <a:t>する前の値が見え続ける</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b="1" dirty="0">
                <a:solidFill>
                  <a:schemeClr val="accent6"/>
                </a:solidFill>
                <a:latin typeface="メイリオ" panose="020B0604030504040204" pitchFamily="50" charset="-128"/>
                <a:ea typeface="メイリオ" panose="020B0604030504040204" pitchFamily="50" charset="-128"/>
              </a:rPr>
              <a:t>x1</a:t>
            </a:r>
            <a:endParaRPr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add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sub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and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5685104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遅延スロット（</a:t>
            </a:r>
            <a:r>
              <a:rPr lang="en-US" altLang="ja-JP" dirty="0"/>
              <a:t>=</a:t>
            </a:r>
            <a:r>
              <a:rPr lang="ja-JP" altLang="en-US" dirty="0"/>
              <a:t>ハードではなにもしない）</a:t>
            </a:r>
            <a:endParaRPr kumimoji="1" lang="ja-JP" altLang="en-US" dirty="0"/>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ここに </a:t>
            </a:r>
            <a:r>
              <a:rPr lang="en-US" altLang="ja-JP" dirty="0"/>
              <a:t>I0 </a:t>
            </a:r>
            <a:r>
              <a:rPr lang="ja-JP" altLang="en-US" dirty="0"/>
              <a:t>の結果を使わない命令を入れれば，性能低下はない</a:t>
            </a:r>
            <a:endParaRPr lang="en-US" altLang="ja-JP" dirty="0"/>
          </a:p>
          <a:p>
            <a:pPr lvl="1"/>
            <a:r>
              <a:rPr lang="ja-JP" altLang="en-US" dirty="0"/>
              <a:t>この部分を「遅延スロット」と呼ぶ</a:t>
            </a:r>
            <a:endParaRPr lang="en-US" altLang="ja-JP" dirty="0"/>
          </a:p>
          <a:p>
            <a:pPr lvl="2"/>
            <a:r>
              <a:rPr lang="ja-JP" altLang="en-US" dirty="0"/>
              <a:t>この場合，遅延スロットが３命令分ある</a:t>
            </a:r>
            <a:endParaRPr lang="en-US" altLang="ja-JP" dirty="0"/>
          </a:p>
          <a:p>
            <a:pPr lvl="1"/>
            <a:r>
              <a:rPr lang="ja-JP" altLang="en-US" dirty="0"/>
              <a:t>遅延スロットへの命令挿入はコンパイラががんばる</a:t>
            </a:r>
            <a:endParaRPr lang="en-US" altLang="ja-JP" dirty="0"/>
          </a:p>
          <a:p>
            <a:pPr lvl="1"/>
            <a:r>
              <a:rPr lang="ja-JP" altLang="en-US" dirty="0"/>
              <a:t>人力でアセンブリ言語でがんばることもある</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b="1" dirty="0">
                <a:solidFill>
                  <a:schemeClr val="accent6"/>
                </a:solidFill>
                <a:latin typeface="メイリオ" panose="020B0604030504040204" pitchFamily="50" charset="-128"/>
                <a:ea typeface="メイリオ" panose="020B0604030504040204" pitchFamily="50" charset="-128"/>
              </a:rPr>
              <a:t>x1</a:t>
            </a:r>
            <a:endParaRPr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add </a:t>
            </a:r>
            <a:r>
              <a:rPr lang="en-US" altLang="ja-JP" sz="1600" b="1" dirty="0">
                <a:solidFill>
                  <a:schemeClr val="accent5"/>
                </a:solidFill>
                <a:latin typeface="メイリオ" panose="020B0604030504040204" pitchFamily="50" charset="-128"/>
                <a:ea typeface="メイリオ" panose="020B0604030504040204" pitchFamily="50" charset="-128"/>
              </a:rPr>
              <a:t>x4</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sub </a:t>
            </a:r>
            <a:r>
              <a:rPr lang="en-US" altLang="ja-JP" sz="1600" b="1" dirty="0">
                <a:solidFill>
                  <a:schemeClr val="accent5"/>
                </a:solidFill>
                <a:latin typeface="メイリオ" panose="020B0604030504040204" pitchFamily="50" charset="-128"/>
                <a:ea typeface="メイリオ" panose="020B0604030504040204" pitchFamily="50" charset="-128"/>
              </a:rPr>
              <a:t>x7</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and </a:t>
            </a:r>
            <a:r>
              <a:rPr lang="en-US" altLang="ja-JP" sz="1600" dirty="0">
                <a:solidFill>
                  <a:schemeClr val="accent5"/>
                </a:solidFill>
                <a:latin typeface="メイリオ" panose="020B0604030504040204" pitchFamily="50" charset="-128"/>
                <a:ea typeface="メイリオ" panose="020B0604030504040204" pitchFamily="50" charset="-128"/>
              </a:rPr>
              <a:t>x8</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542034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NOP </a:t>
            </a:r>
            <a:r>
              <a:rPr kumimoji="1" lang="ja-JP" altLang="en-US" dirty="0"/>
              <a:t>の挿入</a:t>
            </a:r>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もしそのような命令がない場合，</a:t>
            </a:r>
            <a:endParaRPr lang="en-US" altLang="ja-JP" dirty="0"/>
          </a:p>
          <a:p>
            <a:pPr lvl="1"/>
            <a:r>
              <a:rPr lang="en-US" altLang="ja-JP" dirty="0"/>
              <a:t>NOP</a:t>
            </a:r>
            <a:r>
              <a:rPr lang="ja-JP" altLang="en-US" dirty="0"/>
              <a:t>（</a:t>
            </a:r>
            <a:r>
              <a:rPr lang="en-US" altLang="ja-JP" dirty="0"/>
              <a:t>No Operation</a:t>
            </a:r>
            <a:r>
              <a:rPr lang="ja-JP" altLang="en-US" dirty="0"/>
              <a:t>）と呼ぶ何もしない命令をいれる</a:t>
            </a:r>
            <a:endParaRPr lang="en-US" altLang="ja-JP" dirty="0"/>
          </a:p>
          <a:p>
            <a:pPr lvl="1"/>
            <a:r>
              <a:rPr lang="ja-JP" altLang="en-US" dirty="0"/>
              <a:t>これもコンパイル時にいれておくる必要がある</a:t>
            </a:r>
            <a:endParaRPr lang="en-US" altLang="ja-JP" dirty="0"/>
          </a:p>
          <a:p>
            <a:r>
              <a:rPr lang="ja-JP" altLang="en-US" dirty="0"/>
              <a:t>上の例は，</a:t>
            </a:r>
            <a:r>
              <a:rPr lang="en-US" altLang="ja-JP" dirty="0"/>
              <a:t>x1 </a:t>
            </a:r>
            <a:r>
              <a:rPr lang="ja-JP" altLang="en-US" dirty="0"/>
              <a:t>に１を足した結果を使う以外の処理がなかった場合</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512897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遅延スロットの利点</a:t>
            </a:r>
          </a:p>
        </p:txBody>
      </p:sp>
      <p:sp>
        <p:nvSpPr>
          <p:cNvPr id="3" name="テキスト プレースホルダー 2"/>
          <p:cNvSpPr>
            <a:spLocks noGrp="1"/>
          </p:cNvSpPr>
          <p:nvPr>
            <p:ph type="body" sz="quarter" idx="10"/>
          </p:nvPr>
        </p:nvSpPr>
        <p:spPr/>
        <p:txBody>
          <a:bodyPr/>
          <a:lstStyle/>
          <a:p>
            <a:r>
              <a:rPr lang="ja-JP" altLang="en-US" dirty="0"/>
              <a:t>利点：</a:t>
            </a:r>
            <a:endParaRPr lang="en-US" altLang="ja-JP" dirty="0"/>
          </a:p>
          <a:p>
            <a:pPr lvl="1"/>
            <a:r>
              <a:rPr lang="ja-JP" altLang="en-US" dirty="0"/>
              <a:t>なにもしないので，ハードは最も単純</a:t>
            </a:r>
            <a:endParaRPr lang="en-US" altLang="ja-JP" dirty="0"/>
          </a:p>
          <a:p>
            <a:pPr lvl="1"/>
            <a:r>
              <a:rPr lang="ja-JP" altLang="en-US" dirty="0"/>
              <a:t>並列にできる命令があれば，性能も下がらない</a:t>
            </a:r>
            <a:endParaRPr lang="en-US" altLang="ja-JP" dirty="0"/>
          </a:p>
        </p:txBody>
      </p:sp>
    </p:spTree>
    <p:extLst>
      <p:ext uri="{BB962C8B-B14F-4D97-AF65-F5344CB8AC3E}">
        <p14:creationId xmlns:p14="http://schemas.microsoft.com/office/powerpoint/2010/main" val="2910713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a:t>
            </a:r>
          </a:p>
        </p:txBody>
      </p:sp>
      <p:sp>
        <p:nvSpPr>
          <p:cNvPr id="3" name="テキスト プレースホルダー 2"/>
          <p:cNvSpPr>
            <a:spLocks noGrp="1"/>
          </p:cNvSpPr>
          <p:nvPr>
            <p:ph type="body" sz="quarter" idx="10"/>
          </p:nvPr>
        </p:nvSpPr>
        <p:spPr>
          <a:xfrm>
            <a:off x="2135956" y="908972"/>
            <a:ext cx="8280092" cy="2610028"/>
          </a:xfrm>
        </p:spPr>
        <p:txBody>
          <a:bodyPr/>
          <a:lstStyle/>
          <a:p>
            <a:r>
              <a:rPr lang="ja-JP" altLang="en-US" dirty="0"/>
              <a:t>欠点：「仕様」なので，一度決めると変えられない</a:t>
            </a:r>
            <a:endParaRPr lang="en-US" altLang="ja-JP" dirty="0"/>
          </a:p>
          <a:p>
            <a:pPr lvl="1"/>
            <a:r>
              <a:rPr lang="ja-JP" altLang="en-US" dirty="0"/>
              <a:t>後からパイプラインの段数や構造を変えると互換性がなくなる</a:t>
            </a:r>
            <a:endParaRPr lang="en-US" altLang="ja-JP" dirty="0"/>
          </a:p>
          <a:p>
            <a:pPr lvl="2"/>
            <a:r>
              <a:rPr lang="ja-JP" altLang="en-US" dirty="0"/>
              <a:t>クロックをあげるために，段数を増やせない</a:t>
            </a:r>
            <a:endParaRPr lang="en-US" altLang="ja-JP" dirty="0"/>
          </a:p>
          <a:p>
            <a:pPr lvl="1"/>
            <a:r>
              <a:rPr lang="ja-JP" altLang="en-US" dirty="0"/>
              <a:t>複数の命令を同時処理しようとしたときにも互換性がなくなる</a:t>
            </a:r>
            <a:endParaRPr lang="en-US" altLang="ja-JP" dirty="0"/>
          </a:p>
          <a:p>
            <a:pPr lvl="1"/>
            <a:r>
              <a:rPr lang="en-US" altLang="ja-JP" dirty="0"/>
              <a:t>MIPS </a:t>
            </a:r>
            <a:r>
              <a:rPr lang="ja-JP" altLang="en-US" dirty="0"/>
              <a:t>では遅延スロットが１命令分，仕様として存在</a:t>
            </a:r>
            <a:endParaRPr lang="en-US" altLang="ja-JP" dirty="0"/>
          </a:p>
          <a:p>
            <a:pPr lvl="2"/>
            <a:r>
              <a:rPr lang="ja-JP" altLang="en-US" dirty="0"/>
              <a:t>互換性のためにこれを忠実に再現するため後年は逆に複雑化</a:t>
            </a:r>
            <a:endParaRPr lang="en-US" altLang="ja-JP" dirty="0"/>
          </a:p>
        </p:txBody>
      </p:sp>
      <p:sp>
        <p:nvSpPr>
          <p:cNvPr id="4" name="Rectangle 69"/>
          <p:cNvSpPr>
            <a:spLocks noChangeArrowheads="1"/>
          </p:cNvSpPr>
          <p:nvPr/>
        </p:nvSpPr>
        <p:spPr bwMode="auto">
          <a:xfrm>
            <a:off x="177595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 name="Rectangle 70"/>
          <p:cNvSpPr>
            <a:spLocks noChangeArrowheads="1"/>
          </p:cNvSpPr>
          <p:nvPr/>
        </p:nvSpPr>
        <p:spPr bwMode="auto">
          <a:xfrm>
            <a:off x="222595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 name="Rectangle 71"/>
          <p:cNvSpPr>
            <a:spLocks noChangeArrowheads="1"/>
          </p:cNvSpPr>
          <p:nvPr/>
        </p:nvSpPr>
        <p:spPr bwMode="auto">
          <a:xfrm>
            <a:off x="267596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7" name="Rectangle 72"/>
          <p:cNvSpPr>
            <a:spLocks noChangeArrowheads="1"/>
          </p:cNvSpPr>
          <p:nvPr/>
        </p:nvSpPr>
        <p:spPr bwMode="auto">
          <a:xfrm>
            <a:off x="312596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8" name="Rectangle 69"/>
          <p:cNvSpPr>
            <a:spLocks noChangeArrowheads="1"/>
          </p:cNvSpPr>
          <p:nvPr/>
        </p:nvSpPr>
        <p:spPr bwMode="auto">
          <a:xfrm>
            <a:off x="222595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9" name="Rectangle 70"/>
          <p:cNvSpPr>
            <a:spLocks noChangeArrowheads="1"/>
          </p:cNvSpPr>
          <p:nvPr/>
        </p:nvSpPr>
        <p:spPr bwMode="auto">
          <a:xfrm>
            <a:off x="267596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0" name="Rectangle 71"/>
          <p:cNvSpPr>
            <a:spLocks noChangeArrowheads="1"/>
          </p:cNvSpPr>
          <p:nvPr/>
        </p:nvSpPr>
        <p:spPr bwMode="auto">
          <a:xfrm>
            <a:off x="312596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1" name="Rectangle 72"/>
          <p:cNvSpPr>
            <a:spLocks noChangeArrowheads="1"/>
          </p:cNvSpPr>
          <p:nvPr/>
        </p:nvSpPr>
        <p:spPr bwMode="auto">
          <a:xfrm>
            <a:off x="357597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2" name="Rectangle 73"/>
          <p:cNvSpPr>
            <a:spLocks noChangeArrowheads="1"/>
          </p:cNvSpPr>
          <p:nvPr/>
        </p:nvSpPr>
        <p:spPr bwMode="auto">
          <a:xfrm>
            <a:off x="402597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3" name="Rectangle 69"/>
          <p:cNvSpPr>
            <a:spLocks noChangeArrowheads="1"/>
          </p:cNvSpPr>
          <p:nvPr/>
        </p:nvSpPr>
        <p:spPr bwMode="auto">
          <a:xfrm>
            <a:off x="267596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4" name="Rectangle 70"/>
          <p:cNvSpPr>
            <a:spLocks noChangeArrowheads="1"/>
          </p:cNvSpPr>
          <p:nvPr/>
        </p:nvSpPr>
        <p:spPr bwMode="auto">
          <a:xfrm>
            <a:off x="312596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5" name="Rectangle 71"/>
          <p:cNvSpPr>
            <a:spLocks noChangeArrowheads="1"/>
          </p:cNvSpPr>
          <p:nvPr/>
        </p:nvSpPr>
        <p:spPr bwMode="auto">
          <a:xfrm>
            <a:off x="357597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6" name="Rectangle 72"/>
          <p:cNvSpPr>
            <a:spLocks noChangeArrowheads="1"/>
          </p:cNvSpPr>
          <p:nvPr/>
        </p:nvSpPr>
        <p:spPr bwMode="auto">
          <a:xfrm>
            <a:off x="402597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7" name="Rectangle 73"/>
          <p:cNvSpPr>
            <a:spLocks noChangeArrowheads="1"/>
          </p:cNvSpPr>
          <p:nvPr/>
        </p:nvSpPr>
        <p:spPr bwMode="auto">
          <a:xfrm>
            <a:off x="447598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8" name="Rectangle 69"/>
          <p:cNvSpPr>
            <a:spLocks noChangeArrowheads="1"/>
          </p:cNvSpPr>
          <p:nvPr/>
        </p:nvSpPr>
        <p:spPr bwMode="auto">
          <a:xfrm>
            <a:off x="312596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9" name="Rectangle 70"/>
          <p:cNvSpPr>
            <a:spLocks noChangeArrowheads="1"/>
          </p:cNvSpPr>
          <p:nvPr/>
        </p:nvSpPr>
        <p:spPr bwMode="auto">
          <a:xfrm>
            <a:off x="357597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20" name="Rectangle 71"/>
          <p:cNvSpPr>
            <a:spLocks noChangeArrowheads="1"/>
          </p:cNvSpPr>
          <p:nvPr/>
        </p:nvSpPr>
        <p:spPr bwMode="auto">
          <a:xfrm>
            <a:off x="402597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21" name="Rectangle 72"/>
          <p:cNvSpPr>
            <a:spLocks noChangeArrowheads="1"/>
          </p:cNvSpPr>
          <p:nvPr/>
        </p:nvSpPr>
        <p:spPr bwMode="auto">
          <a:xfrm>
            <a:off x="447598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22" name="Rectangle 73"/>
          <p:cNvSpPr>
            <a:spLocks noChangeArrowheads="1"/>
          </p:cNvSpPr>
          <p:nvPr/>
        </p:nvSpPr>
        <p:spPr bwMode="auto">
          <a:xfrm>
            <a:off x="492598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23" name="Rectangle 73"/>
          <p:cNvSpPr>
            <a:spLocks noChangeArrowheads="1"/>
          </p:cNvSpPr>
          <p:nvPr/>
        </p:nvSpPr>
        <p:spPr bwMode="auto">
          <a:xfrm>
            <a:off x="357597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4" name="Rectangle 69"/>
          <p:cNvSpPr>
            <a:spLocks noChangeArrowheads="1"/>
          </p:cNvSpPr>
          <p:nvPr/>
        </p:nvSpPr>
        <p:spPr bwMode="auto">
          <a:xfrm>
            <a:off x="663600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5" name="Rectangle 70"/>
          <p:cNvSpPr>
            <a:spLocks noChangeArrowheads="1"/>
          </p:cNvSpPr>
          <p:nvPr/>
        </p:nvSpPr>
        <p:spPr bwMode="auto">
          <a:xfrm>
            <a:off x="708601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6" name="Rectangle 71"/>
          <p:cNvSpPr>
            <a:spLocks noChangeArrowheads="1"/>
          </p:cNvSpPr>
          <p:nvPr/>
        </p:nvSpPr>
        <p:spPr bwMode="auto">
          <a:xfrm>
            <a:off x="753601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7" name="Rectangle 72"/>
          <p:cNvSpPr>
            <a:spLocks noChangeArrowheads="1"/>
          </p:cNvSpPr>
          <p:nvPr/>
        </p:nvSpPr>
        <p:spPr bwMode="auto">
          <a:xfrm>
            <a:off x="798602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8" name="Rectangle 69"/>
          <p:cNvSpPr>
            <a:spLocks noChangeArrowheads="1"/>
          </p:cNvSpPr>
          <p:nvPr/>
        </p:nvSpPr>
        <p:spPr bwMode="auto">
          <a:xfrm>
            <a:off x="663600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708601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53601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98602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43602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3" name="Rectangle 69"/>
          <p:cNvSpPr>
            <a:spLocks noChangeArrowheads="1"/>
          </p:cNvSpPr>
          <p:nvPr/>
        </p:nvSpPr>
        <p:spPr bwMode="auto">
          <a:xfrm>
            <a:off x="708601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4" name="Rectangle 70"/>
          <p:cNvSpPr>
            <a:spLocks noChangeArrowheads="1"/>
          </p:cNvSpPr>
          <p:nvPr/>
        </p:nvSpPr>
        <p:spPr bwMode="auto">
          <a:xfrm>
            <a:off x="753601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5" name="Rectangle 71"/>
          <p:cNvSpPr>
            <a:spLocks noChangeArrowheads="1"/>
          </p:cNvSpPr>
          <p:nvPr/>
        </p:nvSpPr>
        <p:spPr bwMode="auto">
          <a:xfrm>
            <a:off x="798602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6" name="Rectangle 72"/>
          <p:cNvSpPr>
            <a:spLocks noChangeArrowheads="1"/>
          </p:cNvSpPr>
          <p:nvPr/>
        </p:nvSpPr>
        <p:spPr bwMode="auto">
          <a:xfrm>
            <a:off x="843602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7" name="Rectangle 73"/>
          <p:cNvSpPr>
            <a:spLocks noChangeArrowheads="1"/>
          </p:cNvSpPr>
          <p:nvPr/>
        </p:nvSpPr>
        <p:spPr bwMode="auto">
          <a:xfrm>
            <a:off x="888603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8" name="Rectangle 69"/>
          <p:cNvSpPr>
            <a:spLocks noChangeArrowheads="1"/>
          </p:cNvSpPr>
          <p:nvPr/>
        </p:nvSpPr>
        <p:spPr bwMode="auto">
          <a:xfrm>
            <a:off x="708601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9" name="Rectangle 70"/>
          <p:cNvSpPr>
            <a:spLocks noChangeArrowheads="1"/>
          </p:cNvSpPr>
          <p:nvPr/>
        </p:nvSpPr>
        <p:spPr bwMode="auto">
          <a:xfrm>
            <a:off x="753601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40" name="Rectangle 71"/>
          <p:cNvSpPr>
            <a:spLocks noChangeArrowheads="1"/>
          </p:cNvSpPr>
          <p:nvPr/>
        </p:nvSpPr>
        <p:spPr bwMode="auto">
          <a:xfrm>
            <a:off x="798602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41" name="Rectangle 72"/>
          <p:cNvSpPr>
            <a:spLocks noChangeArrowheads="1"/>
          </p:cNvSpPr>
          <p:nvPr/>
        </p:nvSpPr>
        <p:spPr bwMode="auto">
          <a:xfrm>
            <a:off x="843602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42" name="Rectangle 73"/>
          <p:cNvSpPr>
            <a:spLocks noChangeArrowheads="1"/>
          </p:cNvSpPr>
          <p:nvPr/>
        </p:nvSpPr>
        <p:spPr bwMode="auto">
          <a:xfrm>
            <a:off x="888603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43" name="Rectangle 73"/>
          <p:cNvSpPr>
            <a:spLocks noChangeArrowheads="1"/>
          </p:cNvSpPr>
          <p:nvPr/>
        </p:nvSpPr>
        <p:spPr bwMode="auto">
          <a:xfrm>
            <a:off x="843602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4" name="Rectangle 69"/>
          <p:cNvSpPr>
            <a:spLocks noChangeArrowheads="1"/>
          </p:cNvSpPr>
          <p:nvPr/>
        </p:nvSpPr>
        <p:spPr bwMode="auto">
          <a:xfrm>
            <a:off x="357597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02597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447598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492598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73"/>
          <p:cNvSpPr>
            <a:spLocks noChangeArrowheads="1"/>
          </p:cNvSpPr>
          <p:nvPr/>
        </p:nvSpPr>
        <p:spPr bwMode="auto">
          <a:xfrm>
            <a:off x="537599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9" name="Rectangle 69"/>
          <p:cNvSpPr>
            <a:spLocks noChangeArrowheads="1"/>
          </p:cNvSpPr>
          <p:nvPr/>
        </p:nvSpPr>
        <p:spPr bwMode="auto">
          <a:xfrm>
            <a:off x="753601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0" name="Rectangle 70"/>
          <p:cNvSpPr>
            <a:spLocks noChangeArrowheads="1"/>
          </p:cNvSpPr>
          <p:nvPr/>
        </p:nvSpPr>
        <p:spPr bwMode="auto">
          <a:xfrm>
            <a:off x="798602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1" name="Rectangle 71"/>
          <p:cNvSpPr>
            <a:spLocks noChangeArrowheads="1"/>
          </p:cNvSpPr>
          <p:nvPr/>
        </p:nvSpPr>
        <p:spPr bwMode="auto">
          <a:xfrm>
            <a:off x="843602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2" name="Rectangle 72"/>
          <p:cNvSpPr>
            <a:spLocks noChangeArrowheads="1"/>
          </p:cNvSpPr>
          <p:nvPr/>
        </p:nvSpPr>
        <p:spPr bwMode="auto">
          <a:xfrm>
            <a:off x="888603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3" name="Rectangle 73"/>
          <p:cNvSpPr>
            <a:spLocks noChangeArrowheads="1"/>
          </p:cNvSpPr>
          <p:nvPr/>
        </p:nvSpPr>
        <p:spPr bwMode="auto">
          <a:xfrm>
            <a:off x="933603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4" name="Rectangle 69"/>
          <p:cNvSpPr>
            <a:spLocks noChangeArrowheads="1"/>
          </p:cNvSpPr>
          <p:nvPr/>
        </p:nvSpPr>
        <p:spPr bwMode="auto">
          <a:xfrm>
            <a:off x="753601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5" name="Rectangle 70"/>
          <p:cNvSpPr>
            <a:spLocks noChangeArrowheads="1"/>
          </p:cNvSpPr>
          <p:nvPr/>
        </p:nvSpPr>
        <p:spPr bwMode="auto">
          <a:xfrm>
            <a:off x="798602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6" name="Rectangle 71"/>
          <p:cNvSpPr>
            <a:spLocks noChangeArrowheads="1"/>
          </p:cNvSpPr>
          <p:nvPr/>
        </p:nvSpPr>
        <p:spPr bwMode="auto">
          <a:xfrm>
            <a:off x="843602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7" name="Rectangle 72"/>
          <p:cNvSpPr>
            <a:spLocks noChangeArrowheads="1"/>
          </p:cNvSpPr>
          <p:nvPr/>
        </p:nvSpPr>
        <p:spPr bwMode="auto">
          <a:xfrm>
            <a:off x="888603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8" name="Rectangle 73"/>
          <p:cNvSpPr>
            <a:spLocks noChangeArrowheads="1"/>
          </p:cNvSpPr>
          <p:nvPr/>
        </p:nvSpPr>
        <p:spPr bwMode="auto">
          <a:xfrm>
            <a:off x="933603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9" name="正方形/長方形 58"/>
          <p:cNvSpPr/>
          <p:nvPr/>
        </p:nvSpPr>
        <p:spPr bwMode="auto">
          <a:xfrm>
            <a:off x="6005999"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２命令同時処理すると，遅延スロットが増える</a:t>
            </a:r>
          </a:p>
        </p:txBody>
      </p:sp>
    </p:spTree>
    <p:extLst>
      <p:ext uri="{BB962C8B-B14F-4D97-AF65-F5344CB8AC3E}">
        <p14:creationId xmlns:p14="http://schemas.microsoft.com/office/powerpoint/2010/main" val="29313710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遅延スロットの欠点２</a:t>
            </a:r>
          </a:p>
        </p:txBody>
      </p:sp>
      <p:sp>
        <p:nvSpPr>
          <p:cNvPr id="3" name="テキスト プレースホルダー 2"/>
          <p:cNvSpPr>
            <a:spLocks noGrp="1"/>
          </p:cNvSpPr>
          <p:nvPr>
            <p:ph type="body" sz="quarter" idx="10"/>
          </p:nvPr>
        </p:nvSpPr>
        <p:spPr>
          <a:xfrm>
            <a:off x="2135956" y="4959017"/>
            <a:ext cx="8280092" cy="1349708"/>
          </a:xfrm>
        </p:spPr>
        <p:txBody>
          <a:bodyPr/>
          <a:lstStyle/>
          <a:p>
            <a:r>
              <a:rPr lang="ja-JP" altLang="en-US" dirty="0"/>
              <a:t>欠点２：並列してできる命令が常にあるとは限らない</a:t>
            </a:r>
            <a:endParaRPr lang="en-US" altLang="ja-JP" dirty="0"/>
          </a:p>
          <a:p>
            <a:pPr lvl="1"/>
            <a:r>
              <a:rPr lang="en-US" altLang="ja-JP" dirty="0"/>
              <a:t>NOP </a:t>
            </a:r>
            <a:r>
              <a:rPr lang="ja-JP" altLang="en-US" dirty="0"/>
              <a:t>を入れるしかなくなる</a:t>
            </a:r>
            <a:endParaRPr lang="en-US" altLang="ja-JP" dirty="0"/>
          </a:p>
          <a:p>
            <a:pPr lvl="1"/>
            <a:r>
              <a:rPr lang="ja-JP" altLang="en-US" dirty="0"/>
              <a:t>実質ストールしてバブルを入れるのと同じになってしまう</a:t>
            </a:r>
            <a:endParaRPr lang="en-US" altLang="ja-JP" dirty="0"/>
          </a:p>
        </p:txBody>
      </p:sp>
      <p:cxnSp>
        <p:nvCxnSpPr>
          <p:cNvPr id="42" name="直線コネクタ 41"/>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43" name="直線コネクタ 42"/>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44"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9"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0"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1"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2"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3"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4"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5"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6"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7"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8" name="正方形/長方形 57"/>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59"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0"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1"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2"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3"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4"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5"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6"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7"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8"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69" name="直線コネクタ 68"/>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70" name="正方形/長方形 69"/>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71" name="正方形/長方形 70"/>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2" name="直線コネクタ 71"/>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73" name="正方形/長方形 72"/>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4" name="直線コネクタ 73"/>
          <p:cNvCxnSpPr>
            <a:endCxn id="64"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75" name="正方形/長方形 74"/>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6"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77" name="直線コネクタ 76"/>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cxnSp>
        <p:nvCxnSpPr>
          <p:cNvPr id="79" name="直線コネクタ 78"/>
          <p:cNvCxnSpPr/>
          <p:nvPr/>
        </p:nvCxnSpPr>
        <p:spPr bwMode="auto">
          <a:xfrm>
            <a:off x="3935976" y="3969006"/>
            <a:ext cx="720080" cy="0"/>
          </a:xfrm>
          <a:prstGeom prst="line">
            <a:avLst/>
          </a:prstGeom>
          <a:noFill/>
          <a:ln w="9525" cap="flat" cmpd="sng" algn="ctr">
            <a:solidFill>
              <a:schemeClr val="tx1"/>
            </a:solidFill>
            <a:prstDash val="dash"/>
            <a:round/>
            <a:headEnd type="none" w="med" len="med"/>
            <a:tailEnd type="none" w="med" len="med"/>
          </a:ln>
          <a:effectLst/>
        </p:spPr>
      </p:cxnSp>
      <p:sp>
        <p:nvSpPr>
          <p:cNvPr id="80" name="Rectangle 69"/>
          <p:cNvSpPr>
            <a:spLocks noChangeArrowheads="1"/>
          </p:cNvSpPr>
          <p:nvPr/>
        </p:nvSpPr>
        <p:spPr bwMode="auto">
          <a:xfrm>
            <a:off x="447598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81" name="Rectangle 70"/>
          <p:cNvSpPr>
            <a:spLocks noChangeArrowheads="1"/>
          </p:cNvSpPr>
          <p:nvPr/>
        </p:nvSpPr>
        <p:spPr bwMode="auto">
          <a:xfrm>
            <a:off x="492598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2" name="Rectangle 71"/>
          <p:cNvSpPr>
            <a:spLocks noChangeArrowheads="1"/>
          </p:cNvSpPr>
          <p:nvPr/>
        </p:nvSpPr>
        <p:spPr bwMode="auto">
          <a:xfrm>
            <a:off x="537599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83" name="Rectangle 72"/>
          <p:cNvSpPr>
            <a:spLocks noChangeArrowheads="1"/>
          </p:cNvSpPr>
          <p:nvPr/>
        </p:nvSpPr>
        <p:spPr bwMode="auto">
          <a:xfrm>
            <a:off x="582599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94" name="正方形/長方形 93"/>
          <p:cNvSpPr/>
          <p:nvPr/>
        </p:nvSpPr>
        <p:spPr bwMode="auto">
          <a:xfrm>
            <a:off x="2045955"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100" name="Rectangle 69"/>
          <p:cNvSpPr>
            <a:spLocks noChangeArrowheads="1"/>
          </p:cNvSpPr>
          <p:nvPr/>
        </p:nvSpPr>
        <p:spPr bwMode="auto">
          <a:xfrm>
            <a:off x="492598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1" name="Rectangle 70"/>
          <p:cNvSpPr>
            <a:spLocks noChangeArrowheads="1"/>
          </p:cNvSpPr>
          <p:nvPr/>
        </p:nvSpPr>
        <p:spPr bwMode="auto">
          <a:xfrm>
            <a:off x="672600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02" name="Rectangle 71"/>
          <p:cNvSpPr>
            <a:spLocks noChangeArrowheads="1"/>
          </p:cNvSpPr>
          <p:nvPr/>
        </p:nvSpPr>
        <p:spPr bwMode="auto">
          <a:xfrm>
            <a:off x="717601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03" name="Rectangle 72"/>
          <p:cNvSpPr>
            <a:spLocks noChangeArrowheads="1"/>
          </p:cNvSpPr>
          <p:nvPr/>
        </p:nvSpPr>
        <p:spPr bwMode="auto">
          <a:xfrm>
            <a:off x="762601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4" name="Rectangle 73"/>
          <p:cNvSpPr>
            <a:spLocks noChangeArrowheads="1"/>
          </p:cNvSpPr>
          <p:nvPr/>
        </p:nvSpPr>
        <p:spPr bwMode="auto">
          <a:xfrm>
            <a:off x="807602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0" name="直線コネクタ 109"/>
          <p:cNvCxnSpPr>
            <a:endCxn id="100" idx="1"/>
          </p:cNvCxnSpPr>
          <p:nvPr/>
        </p:nvCxnSpPr>
        <p:spPr bwMode="auto">
          <a:xfrm flipV="1">
            <a:off x="3935977" y="4419009"/>
            <a:ext cx="990011" cy="4"/>
          </a:xfrm>
          <a:prstGeom prst="line">
            <a:avLst/>
          </a:prstGeom>
          <a:noFill/>
          <a:ln w="9525" cap="flat" cmpd="sng" algn="ctr">
            <a:solidFill>
              <a:schemeClr val="tx1"/>
            </a:solidFill>
            <a:prstDash val="dash"/>
            <a:round/>
            <a:headEnd type="none" w="med" len="med"/>
            <a:tailEnd type="none" w="med" len="med"/>
          </a:ln>
          <a:effectLst/>
        </p:spPr>
      </p:cxnSp>
      <p:sp>
        <p:nvSpPr>
          <p:cNvPr id="111" name="正方形/長方形 110"/>
          <p:cNvSpPr/>
          <p:nvPr/>
        </p:nvSpPr>
        <p:spPr bwMode="auto">
          <a:xfrm>
            <a:off x="2045955" y="423900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12" name="Rectangle 73"/>
          <p:cNvSpPr>
            <a:spLocks noChangeArrowheads="1"/>
          </p:cNvSpPr>
          <p:nvPr/>
        </p:nvSpPr>
        <p:spPr bwMode="auto">
          <a:xfrm>
            <a:off x="627600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3" name="直線コネクタ 112"/>
          <p:cNvCxnSpPr/>
          <p:nvPr/>
        </p:nvCxnSpPr>
        <p:spPr bwMode="auto">
          <a:xfrm>
            <a:off x="6680611" y="3781570"/>
            <a:ext cx="1" cy="900010"/>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116" name="Rectangle 73"/>
          <p:cNvSpPr>
            <a:spLocks noChangeArrowheads="1"/>
          </p:cNvSpPr>
          <p:nvPr/>
        </p:nvSpPr>
        <p:spPr bwMode="auto">
          <a:xfrm>
            <a:off x="537599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7" name="Rectangle 73"/>
          <p:cNvSpPr>
            <a:spLocks noChangeArrowheads="1"/>
          </p:cNvSpPr>
          <p:nvPr/>
        </p:nvSpPr>
        <p:spPr bwMode="auto">
          <a:xfrm>
            <a:off x="5825997"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8" name="Rectangle 73"/>
          <p:cNvSpPr>
            <a:spLocks noChangeArrowheads="1"/>
          </p:cNvSpPr>
          <p:nvPr/>
        </p:nvSpPr>
        <p:spPr bwMode="auto">
          <a:xfrm>
            <a:off x="627600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cxnSp>
        <p:nvCxnSpPr>
          <p:cNvPr id="78" name="直線コネクタ 77">
            <a:extLst>
              <a:ext uri="{FF2B5EF4-FFF2-40B4-BE49-F238E27FC236}">
                <a16:creationId xmlns:a16="http://schemas.microsoft.com/office/drawing/2014/main" id="{330A5556-B0E2-DE34-FB0E-A68C1366273E}"/>
              </a:ext>
            </a:extLst>
          </p:cNvPr>
          <p:cNvCxnSpPr>
            <a:cxnSpLocks/>
          </p:cNvCxnSpPr>
          <p:nvPr/>
        </p:nvCxnSpPr>
        <p:spPr bwMode="auto">
          <a:xfrm>
            <a:off x="8496716" y="1178976"/>
            <a:ext cx="0" cy="3510039"/>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2734807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b="1" dirty="0"/>
              <a:t>フォワーディング</a:t>
            </a:r>
            <a:endParaRPr kumimoji="1" lang="en-US" altLang="ja-JP" b="1" dirty="0"/>
          </a:p>
          <a:p>
            <a:pPr marL="817200" lvl="1" indent="-457200">
              <a:buFont typeface="+mj-lt"/>
              <a:buAutoNum type="arabicPeriod"/>
            </a:pPr>
            <a:r>
              <a:rPr kumimoji="1" lang="ja-JP" altLang="en-US" dirty="0"/>
              <a:t>マルチスレッディング</a:t>
            </a:r>
          </a:p>
        </p:txBody>
      </p:sp>
    </p:spTree>
    <p:extLst>
      <p:ext uri="{BB962C8B-B14F-4D97-AF65-F5344CB8AC3E}">
        <p14:creationId xmlns:p14="http://schemas.microsoft.com/office/powerpoint/2010/main" val="35109665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87900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87900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87900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87900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301446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3014462"/>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3033046"/>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3033046"/>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a:xfrm>
            <a:off x="1865953" y="11181"/>
            <a:ext cx="8712046" cy="908972"/>
          </a:xfrm>
        </p:spPr>
        <p:txBody>
          <a:bodyPr/>
          <a:lstStyle/>
          <a:p>
            <a:r>
              <a:rPr lang="ja-JP" altLang="en-US" dirty="0"/>
              <a:t>フォワーディング</a:t>
            </a:r>
            <a:endParaRPr kumimoji="1" lang="ja-JP" altLang="en-US" dirty="0"/>
          </a:p>
        </p:txBody>
      </p:sp>
      <p:sp>
        <p:nvSpPr>
          <p:cNvPr id="58" name="コンテンツ プレースホルダー 57"/>
          <p:cNvSpPr>
            <a:spLocks noGrp="1"/>
          </p:cNvSpPr>
          <p:nvPr>
            <p:ph idx="4294967295"/>
          </p:nvPr>
        </p:nvSpPr>
        <p:spPr>
          <a:xfrm>
            <a:off x="1775953" y="5389877"/>
            <a:ext cx="8730097" cy="1009157"/>
          </a:xfrm>
          <a:prstGeom prst="rect">
            <a:avLst/>
          </a:prstGeom>
        </p:spPr>
        <p:txBody>
          <a:bodyPr/>
          <a:lstStyle/>
          <a:p>
            <a:r>
              <a:rPr lang="ja-JP" altLang="en-US" dirty="0"/>
              <a:t>フォワーディング（バイパスとも呼ぶ）</a:t>
            </a:r>
            <a:endParaRPr lang="en-US" altLang="ja-JP" dirty="0"/>
          </a:p>
          <a:p>
            <a:pPr lvl="1"/>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の人が，次のサイクルにも結果を使えるようレジスタに書くと同時に手元に結果をおいておく</a:t>
            </a:r>
            <a:endParaRPr lang="en-US" altLang="ja-JP" dirty="0"/>
          </a:p>
        </p:txBody>
      </p:sp>
      <p:cxnSp>
        <p:nvCxnSpPr>
          <p:cNvPr id="67" name="直線矢印コネクタ 66"/>
          <p:cNvCxnSpPr/>
          <p:nvPr/>
        </p:nvCxnSpPr>
        <p:spPr bwMode="auto">
          <a:xfrm>
            <a:off x="3125967" y="4689014"/>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2403057"/>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8981"/>
            <a:ext cx="1008112" cy="1152128"/>
            <a:chOff x="3563888" y="2708920"/>
            <a:chExt cx="1296144" cy="432048"/>
          </a:xfrm>
        </p:grpSpPr>
        <p:sp>
          <p:nvSpPr>
            <p:cNvPr id="33" name="Freeform 9"/>
            <p:cNvSpPr>
              <a:spLocks/>
            </p:cNvSpPr>
            <p:nvPr/>
          </p:nvSpPr>
          <p:spPr bwMode="auto">
            <a:xfrm>
              <a:off x="4211960" y="2708920"/>
              <a:ext cx="648072" cy="270003"/>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808983"/>
            <a:ext cx="720080" cy="918111"/>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254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3699003"/>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3158998"/>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a=a+1</a:t>
            </a:r>
          </a:p>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c=a+2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6" name="角丸四角形 45"/>
          <p:cNvSpPr/>
          <p:nvPr/>
        </p:nvSpPr>
        <p:spPr bwMode="auto">
          <a:xfrm>
            <a:off x="6456004"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7" name="角丸四角形 46"/>
          <p:cNvSpPr/>
          <p:nvPr/>
        </p:nvSpPr>
        <p:spPr bwMode="auto">
          <a:xfrm>
            <a:off x="5015988"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b=a-1</a:t>
            </a:r>
            <a:endParaRPr lang="ja-JP" altLang="en-US" dirty="0">
              <a:latin typeface="Arial Narrow" panose="020B0606020202030204" pitchFamily="34" charset="0"/>
            </a:endParaRPr>
          </a:p>
        </p:txBody>
      </p:sp>
      <p:sp>
        <p:nvSpPr>
          <p:cNvPr id="48" name="角丸四角形 47"/>
          <p:cNvSpPr/>
          <p:nvPr/>
        </p:nvSpPr>
        <p:spPr bwMode="auto">
          <a:xfrm>
            <a:off x="3575972"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c=a+2</a:t>
            </a:r>
            <a:endParaRPr lang="ja-JP" altLang="en-US" dirty="0">
              <a:latin typeface="Arial Narrow" panose="020B0606020202030204" pitchFamily="34" charset="0"/>
            </a:endParaRPr>
          </a:p>
        </p:txBody>
      </p:sp>
      <p:sp>
        <p:nvSpPr>
          <p:cNvPr id="57" name="Freeform 8"/>
          <p:cNvSpPr>
            <a:spLocks/>
          </p:cNvSpPr>
          <p:nvPr/>
        </p:nvSpPr>
        <p:spPr bwMode="auto">
          <a:xfrm rot="16200000">
            <a:off x="6285017" y="1709966"/>
            <a:ext cx="810009" cy="118804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non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0" name="Freeform 8"/>
          <p:cNvSpPr>
            <a:spLocks/>
          </p:cNvSpPr>
          <p:nvPr/>
        </p:nvSpPr>
        <p:spPr bwMode="auto">
          <a:xfrm rot="5400000">
            <a:off x="5969977" y="2025006"/>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3" name="Freeform 8"/>
          <p:cNvSpPr>
            <a:spLocks/>
          </p:cNvSpPr>
          <p:nvPr/>
        </p:nvSpPr>
        <p:spPr bwMode="auto">
          <a:xfrm rot="5400000">
            <a:off x="5969977" y="2475011"/>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5" name="角丸四角形吹き出し 64"/>
          <p:cNvSpPr/>
          <p:nvPr/>
        </p:nvSpPr>
        <p:spPr bwMode="auto">
          <a:xfrm>
            <a:off x="6546006" y="2888995"/>
            <a:ext cx="2970033" cy="342645"/>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直接後ろに渡せばいいのよ</a:t>
            </a:r>
          </a:p>
        </p:txBody>
      </p:sp>
    </p:spTree>
    <p:extLst>
      <p:ext uri="{BB962C8B-B14F-4D97-AF65-F5344CB8AC3E}">
        <p14:creationId xmlns:p14="http://schemas.microsoft.com/office/powerpoint/2010/main" val="37621518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フォワーディングの回路</a:t>
            </a:r>
            <a:endParaRPr kumimoji="1" lang="ja-JP" altLang="en-US" dirty="0"/>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演算器の結果を，フィードバック</a:t>
            </a:r>
            <a:endParaRPr kumimoji="1" lang="en-US" altLang="ja-JP" dirty="0"/>
          </a:p>
          <a:p>
            <a:pPr lvl="1"/>
            <a:r>
              <a:rPr kumimoji="1" lang="ja-JP" altLang="en-US" dirty="0"/>
              <a:t>レジスタ・ファイルからの読み出し結果と選択して入力に</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5" y="2708992"/>
            <a:ext cx="990011"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01006" y="3203998"/>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8" name="直線矢印コネクタ 17"/>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19" name="直線矢印コネクタ 18"/>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0" name="Freeform 10"/>
          <p:cNvSpPr>
            <a:spLocks/>
          </p:cNvSpPr>
          <p:nvPr/>
        </p:nvSpPr>
        <p:spPr bwMode="auto">
          <a:xfrm>
            <a:off x="4475982" y="1808983"/>
            <a:ext cx="180002"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2" name="直線矢印コネクタ 21"/>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矢印コネクタ 22"/>
          <p:cNvCxnSpPr/>
          <p:nvPr/>
        </p:nvCxnSpPr>
        <p:spPr bwMode="auto">
          <a:xfrm>
            <a:off x="7356014" y="3429000"/>
            <a:ext cx="720008" cy="0"/>
          </a:xfrm>
          <a:prstGeom prst="straightConnector1">
            <a:avLst/>
          </a:prstGeom>
          <a:noFill/>
          <a:ln w="9525" cap="flat" cmpd="sng" algn="ctr">
            <a:solidFill>
              <a:schemeClr val="tx1"/>
            </a:solidFill>
            <a:prstDash val="solid"/>
            <a:round/>
            <a:headEnd type="none" w="sm" len="sm"/>
            <a:tailEnd type="none"/>
          </a:ln>
          <a:effectLst/>
        </p:spPr>
      </p:cxnSp>
      <p:cxnSp>
        <p:nvCxnSpPr>
          <p:cNvPr id="24" name="直線矢印コネクタ 23"/>
          <p:cNvCxnSpPr/>
          <p:nvPr/>
        </p:nvCxnSpPr>
        <p:spPr bwMode="auto">
          <a:xfrm>
            <a:off x="6096001" y="3068996"/>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25" name="直線矢印コネクタ 24"/>
          <p:cNvCxnSpPr/>
          <p:nvPr/>
        </p:nvCxnSpPr>
        <p:spPr bwMode="auto">
          <a:xfrm>
            <a:off x="6096001" y="3879005"/>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26" name="正方形/長方形 25"/>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27"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31" name="直線矢印コネクタ 30"/>
          <p:cNvCxnSpPr/>
          <p:nvPr/>
        </p:nvCxnSpPr>
        <p:spPr bwMode="auto">
          <a:xfrm flipH="1">
            <a:off x="4475983" y="1808982"/>
            <a:ext cx="6030067" cy="0"/>
          </a:xfrm>
          <a:prstGeom prst="straightConnector1">
            <a:avLst/>
          </a:prstGeom>
          <a:noFill/>
          <a:ln w="9525" cap="flat" cmpd="sng" algn="ctr">
            <a:solidFill>
              <a:schemeClr val="tx1"/>
            </a:solidFill>
            <a:prstDash val="solid"/>
            <a:round/>
            <a:headEnd type="none" w="sm" len="sm"/>
            <a:tailEnd type="none"/>
          </a:ln>
          <a:effectLst/>
        </p:spPr>
      </p:cxnSp>
      <p:sp>
        <p:nvSpPr>
          <p:cNvPr id="3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3" name="Freeform 10"/>
          <p:cNvSpPr>
            <a:spLocks/>
          </p:cNvSpPr>
          <p:nvPr/>
        </p:nvSpPr>
        <p:spPr bwMode="auto">
          <a:xfrm rot="5400000" flipH="1" flipV="1">
            <a:off x="9876044" y="1988985"/>
            <a:ext cx="810009"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正方形/長方形 33"/>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40" name="グループ化 39"/>
          <p:cNvGrpSpPr/>
          <p:nvPr/>
        </p:nvGrpSpPr>
        <p:grpSpPr>
          <a:xfrm>
            <a:off x="4025977" y="3068996"/>
            <a:ext cx="360004" cy="720008"/>
            <a:chOff x="2411977" y="3068996"/>
            <a:chExt cx="360004" cy="720008"/>
          </a:xfrm>
        </p:grpSpPr>
        <p:sp>
          <p:nvSpPr>
            <p:cNvPr id="41" name="正方形/長方形 40"/>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2" name="二等辺三角形 41"/>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3" name="正方形/長方形 42"/>
          <p:cNvSpPr/>
          <p:nvPr/>
        </p:nvSpPr>
        <p:spPr bwMode="auto">
          <a:xfrm>
            <a:off x="6276002" y="2438989"/>
            <a:ext cx="270003"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4" name="二等辺三角形 43"/>
          <p:cNvSpPr/>
          <p:nvPr/>
        </p:nvSpPr>
        <p:spPr bwMode="auto">
          <a:xfrm>
            <a:off x="631317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p:cNvSpPr/>
          <p:nvPr/>
        </p:nvSpPr>
        <p:spPr bwMode="auto">
          <a:xfrm>
            <a:off x="7716018" y="2438989"/>
            <a:ext cx="270003"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6" name="二等辺三角形 45"/>
          <p:cNvSpPr/>
          <p:nvPr/>
        </p:nvSpPr>
        <p:spPr bwMode="auto">
          <a:xfrm>
            <a:off x="776062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Freeform 10"/>
          <p:cNvSpPr>
            <a:spLocks/>
          </p:cNvSpPr>
          <p:nvPr/>
        </p:nvSpPr>
        <p:spPr bwMode="auto">
          <a:xfrm flipH="1" flipV="1">
            <a:off x="5825997" y="2258986"/>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6096000" y="2888994"/>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55" name="直線矢印コネクタ 54"/>
          <p:cNvCxnSpPr/>
          <p:nvPr/>
        </p:nvCxnSpPr>
        <p:spPr bwMode="auto">
          <a:xfrm>
            <a:off x="6096000" y="3699003"/>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56" name="Freeform 10"/>
          <p:cNvSpPr>
            <a:spLocks/>
          </p:cNvSpPr>
          <p:nvPr/>
        </p:nvSpPr>
        <p:spPr bwMode="auto">
          <a:xfrm rot="10800000" flipH="1" flipV="1">
            <a:off x="5825998" y="2258988"/>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57" name="Freeform 10"/>
          <p:cNvSpPr>
            <a:spLocks/>
          </p:cNvSpPr>
          <p:nvPr/>
        </p:nvSpPr>
        <p:spPr bwMode="auto">
          <a:xfrm rot="10800000" flipH="1" flipV="1">
            <a:off x="5825998" y="2978995"/>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8" name="直線矢印コネクタ 57"/>
          <p:cNvCxnSpPr/>
          <p:nvPr/>
        </p:nvCxnSpPr>
        <p:spPr bwMode="auto">
          <a:xfrm>
            <a:off x="5645996" y="315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60" name="直線矢印コネクタ 59"/>
          <p:cNvCxnSpPr/>
          <p:nvPr/>
        </p:nvCxnSpPr>
        <p:spPr bwMode="auto">
          <a:xfrm>
            <a:off x="5645996" y="3969006"/>
            <a:ext cx="450005" cy="0"/>
          </a:xfrm>
          <a:prstGeom prst="straightConnector1">
            <a:avLst/>
          </a:prstGeom>
          <a:noFill/>
          <a:ln w="9525" cap="flat" cmpd="sng" algn="ctr">
            <a:solidFill>
              <a:schemeClr val="tx1"/>
            </a:solidFill>
            <a:prstDash val="solid"/>
            <a:round/>
            <a:headEnd type="none" w="sm" len="sm"/>
            <a:tailEnd type="triangle"/>
          </a:ln>
          <a:effectLst/>
        </p:spPr>
      </p:cxnSp>
    </p:spTree>
    <p:extLst>
      <p:ext uri="{BB962C8B-B14F-4D97-AF65-F5344CB8AC3E}">
        <p14:creationId xmlns:p14="http://schemas.microsoft.com/office/powerpoint/2010/main" val="11892200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フォワーディングの利点</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lvl="1"/>
            <a:r>
              <a:rPr kumimoji="1" lang="ja-JP" altLang="en-US" dirty="0"/>
              <a:t>依存関係がある命令が連続できてもパイプラインを動かし続けられる</a:t>
            </a:r>
            <a:endParaRPr kumimoji="1" lang="en-US" altLang="ja-JP" dirty="0"/>
          </a:p>
          <a:p>
            <a:pPr lvl="1"/>
            <a:r>
              <a:rPr lang="ja-JP" altLang="en-US" dirty="0"/>
              <a:t>バブルを発生させることがない</a:t>
            </a:r>
            <a:endParaRPr kumimoji="1" lang="ja-JP" altLang="en-US" dirty="0"/>
          </a:p>
        </p:txBody>
      </p:sp>
    </p:spTree>
    <p:extLst>
      <p:ext uri="{BB962C8B-B14F-4D97-AF65-F5344CB8AC3E}">
        <p14:creationId xmlns:p14="http://schemas.microsoft.com/office/powerpoint/2010/main" val="21686912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フォワーディングの問題</a:t>
            </a:r>
          </a:p>
        </p:txBody>
      </p:sp>
      <p:sp>
        <p:nvSpPr>
          <p:cNvPr id="3" name="テキスト プレースホルダー 2"/>
          <p:cNvSpPr>
            <a:spLocks noGrp="1"/>
          </p:cNvSpPr>
          <p:nvPr>
            <p:ph type="body" sz="quarter" idx="10"/>
          </p:nvPr>
        </p:nvSpPr>
        <p:spPr>
          <a:xfrm>
            <a:off x="1775952" y="2708993"/>
            <a:ext cx="8640096" cy="3690041"/>
          </a:xfrm>
        </p:spPr>
        <p:txBody>
          <a:bodyPr/>
          <a:lstStyle/>
          <a:p>
            <a:r>
              <a:rPr kumimoji="1" lang="ja-JP" altLang="en-US" dirty="0"/>
              <a:t>演算器とフォワーディングを含むステージは１サイクルで処理する必要がある</a:t>
            </a:r>
            <a:endParaRPr kumimoji="1" lang="en-US" altLang="ja-JP" dirty="0"/>
          </a:p>
          <a:p>
            <a:pPr lvl="1"/>
            <a:r>
              <a:rPr kumimoji="1" lang="ja-JP" altLang="en-US" dirty="0"/>
              <a:t>実行ステージを演算とフォワーディングに分割すると，</a:t>
            </a:r>
            <a:br>
              <a:rPr kumimoji="1" lang="en-US" altLang="ja-JP" dirty="0"/>
            </a:br>
            <a:r>
              <a:rPr kumimoji="1" lang="ja-JP" altLang="en-US" dirty="0"/>
              <a:t>バブルを入れてるのと同じになってしまう</a:t>
            </a:r>
            <a:endParaRPr kumimoji="1" lang="en-US" altLang="ja-JP" dirty="0"/>
          </a:p>
          <a:p>
            <a:pPr lvl="1"/>
            <a:r>
              <a:rPr kumimoji="1" lang="ja-JP" altLang="en-US" dirty="0"/>
              <a:t>なので，ここはパイプライン化したくない</a:t>
            </a:r>
            <a:endParaRPr kumimoji="1" lang="en-US" altLang="ja-JP" dirty="0"/>
          </a:p>
          <a:p>
            <a:r>
              <a:rPr kumimoji="1" lang="en-US" altLang="ja-JP" dirty="0"/>
              <a:t>CPU </a:t>
            </a:r>
            <a:r>
              <a:rPr kumimoji="1" lang="ja-JP" altLang="en-US" dirty="0"/>
              <a:t>全体のクリティカル・パスになりやすい</a:t>
            </a:r>
            <a:endParaRPr kumimoji="1" lang="en-US" altLang="ja-JP" dirty="0"/>
          </a:p>
          <a:p>
            <a:pPr lvl="1"/>
            <a:r>
              <a:rPr kumimoji="1" lang="ja-JP" altLang="en-US" dirty="0"/>
              <a:t>１サイクルに多くの回路を詰め込む必要があるため</a:t>
            </a:r>
            <a:endParaRPr lang="en-US" altLang="ja-JP" dirty="0"/>
          </a:p>
          <a:p>
            <a:pPr lvl="1"/>
            <a:r>
              <a:rPr kumimoji="1" lang="ja-JP" altLang="en-US" dirty="0"/>
              <a:t>クロック周波数がここで決まることが多い</a:t>
            </a:r>
            <a:endParaRPr kumimoji="1" lang="en-US" altLang="ja-JP" dirty="0"/>
          </a:p>
        </p:txBody>
      </p:sp>
      <p:sp>
        <p:nvSpPr>
          <p:cNvPr id="17" name="Rectangle 69"/>
          <p:cNvSpPr>
            <a:spLocks noChangeArrowheads="1"/>
          </p:cNvSpPr>
          <p:nvPr/>
        </p:nvSpPr>
        <p:spPr bwMode="auto">
          <a:xfrm>
            <a:off x="249596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294596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3395970"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20" name="Rectangle 72"/>
          <p:cNvSpPr>
            <a:spLocks noChangeArrowheads="1"/>
          </p:cNvSpPr>
          <p:nvPr/>
        </p:nvSpPr>
        <p:spPr bwMode="auto">
          <a:xfrm>
            <a:off x="384597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21" name="Rectangle 69"/>
          <p:cNvSpPr>
            <a:spLocks noChangeArrowheads="1"/>
          </p:cNvSpPr>
          <p:nvPr/>
        </p:nvSpPr>
        <p:spPr bwMode="auto">
          <a:xfrm>
            <a:off x="294596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339597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3845975"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429598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474598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73"/>
          <p:cNvSpPr>
            <a:spLocks noChangeArrowheads="1"/>
          </p:cNvSpPr>
          <p:nvPr/>
        </p:nvSpPr>
        <p:spPr bwMode="auto">
          <a:xfrm>
            <a:off x="429598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7" name="Rectangle 69"/>
          <p:cNvSpPr>
            <a:spLocks noChangeArrowheads="1"/>
          </p:cNvSpPr>
          <p:nvPr/>
        </p:nvSpPr>
        <p:spPr bwMode="auto">
          <a:xfrm>
            <a:off x="609600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8" name="Rectangle 70"/>
          <p:cNvSpPr>
            <a:spLocks noChangeArrowheads="1"/>
          </p:cNvSpPr>
          <p:nvPr/>
        </p:nvSpPr>
        <p:spPr bwMode="auto">
          <a:xfrm>
            <a:off x="654600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9" name="Rectangle 71"/>
          <p:cNvSpPr>
            <a:spLocks noChangeArrowheads="1"/>
          </p:cNvSpPr>
          <p:nvPr/>
        </p:nvSpPr>
        <p:spPr bwMode="auto">
          <a:xfrm>
            <a:off x="6996010"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30" name="Rectangle 72"/>
          <p:cNvSpPr>
            <a:spLocks noChangeArrowheads="1"/>
          </p:cNvSpPr>
          <p:nvPr/>
        </p:nvSpPr>
        <p:spPr bwMode="auto">
          <a:xfrm>
            <a:off x="789602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31" name="Rectangle 69"/>
          <p:cNvSpPr>
            <a:spLocks noChangeArrowheads="1"/>
          </p:cNvSpPr>
          <p:nvPr/>
        </p:nvSpPr>
        <p:spPr bwMode="auto">
          <a:xfrm>
            <a:off x="699601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2" name="Rectangle 70"/>
          <p:cNvSpPr>
            <a:spLocks noChangeArrowheads="1"/>
          </p:cNvSpPr>
          <p:nvPr/>
        </p:nvSpPr>
        <p:spPr bwMode="auto">
          <a:xfrm>
            <a:off x="744601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3" name="Rectangle 71"/>
          <p:cNvSpPr>
            <a:spLocks noChangeArrowheads="1"/>
          </p:cNvSpPr>
          <p:nvPr/>
        </p:nvSpPr>
        <p:spPr bwMode="auto">
          <a:xfrm>
            <a:off x="7446015"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dirty="0"/>
              <a:t>FWD</a:t>
            </a:r>
          </a:p>
        </p:txBody>
      </p:sp>
      <p:sp>
        <p:nvSpPr>
          <p:cNvPr id="34" name="Rectangle 72"/>
          <p:cNvSpPr>
            <a:spLocks noChangeArrowheads="1"/>
          </p:cNvSpPr>
          <p:nvPr/>
        </p:nvSpPr>
        <p:spPr bwMode="auto">
          <a:xfrm>
            <a:off x="879603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5" name="Rectangle 73"/>
          <p:cNvSpPr>
            <a:spLocks noChangeArrowheads="1"/>
          </p:cNvSpPr>
          <p:nvPr/>
        </p:nvSpPr>
        <p:spPr bwMode="auto">
          <a:xfrm>
            <a:off x="924603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6" name="Rectangle 73"/>
          <p:cNvSpPr>
            <a:spLocks noChangeArrowheads="1"/>
          </p:cNvSpPr>
          <p:nvPr/>
        </p:nvSpPr>
        <p:spPr bwMode="auto">
          <a:xfrm>
            <a:off x="834602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7" name="Rectangle 71"/>
          <p:cNvSpPr>
            <a:spLocks noChangeArrowheads="1"/>
          </p:cNvSpPr>
          <p:nvPr/>
        </p:nvSpPr>
        <p:spPr bwMode="auto">
          <a:xfrm>
            <a:off x="7896020"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38" name="Rectangle 71"/>
          <p:cNvSpPr>
            <a:spLocks noChangeArrowheads="1"/>
          </p:cNvSpPr>
          <p:nvPr/>
        </p:nvSpPr>
        <p:spPr bwMode="auto">
          <a:xfrm>
            <a:off x="8346025"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dirty="0"/>
              <a:t>FWD</a:t>
            </a:r>
          </a:p>
        </p:txBody>
      </p:sp>
    </p:spTree>
    <p:extLst>
      <p:ext uri="{BB962C8B-B14F-4D97-AF65-F5344CB8AC3E}">
        <p14:creationId xmlns:p14="http://schemas.microsoft.com/office/powerpoint/2010/main" val="966998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フォワーディングの問題</a:t>
            </a:r>
          </a:p>
        </p:txBody>
      </p:sp>
      <p:sp>
        <p:nvSpPr>
          <p:cNvPr id="3" name="テキスト プレースホルダー 2"/>
          <p:cNvSpPr>
            <a:spLocks noGrp="1"/>
          </p:cNvSpPr>
          <p:nvPr>
            <p:ph type="body" sz="quarter" idx="10"/>
          </p:nvPr>
        </p:nvSpPr>
        <p:spPr>
          <a:xfrm>
            <a:off x="2045955" y="3789005"/>
            <a:ext cx="8280092" cy="1619711"/>
          </a:xfrm>
        </p:spPr>
        <p:txBody>
          <a:bodyPr/>
          <a:lstStyle/>
          <a:p>
            <a:r>
              <a:rPr kumimoji="1" lang="ja-JP" altLang="en-US" dirty="0"/>
              <a:t>フォワーディングは，この演算器の部分の遅延を増やしてしまう</a:t>
            </a:r>
            <a:endParaRPr kumimoji="1" lang="en-US" altLang="ja-JP" dirty="0"/>
          </a:p>
          <a:p>
            <a:pPr lvl="1"/>
            <a:r>
              <a:rPr kumimoji="1" lang="ja-JP" altLang="en-US" dirty="0"/>
              <a:t>太線で描かれた，演算器の入力から始まるループが該当</a:t>
            </a:r>
            <a:endParaRPr kumimoji="1" lang="en-US" altLang="ja-JP" dirty="0"/>
          </a:p>
          <a:p>
            <a:pPr lvl="1"/>
            <a:r>
              <a:rPr kumimoji="1" lang="ja-JP" altLang="en-US" dirty="0"/>
              <a:t>クロック周波数の低下につながる</a:t>
            </a:r>
            <a:endParaRPr kumimoji="1" lang="en-US" altLang="ja-JP" dirty="0"/>
          </a:p>
        </p:txBody>
      </p:sp>
      <p:sp>
        <p:nvSpPr>
          <p:cNvPr id="4" name="フリーフォーム 3"/>
          <p:cNvSpPr>
            <a:spLocks noChangeArrowheads="1"/>
          </p:cNvSpPr>
          <p:nvPr/>
        </p:nvSpPr>
        <p:spPr bwMode="auto">
          <a:xfrm rot="-5400000">
            <a:off x="8121024"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5" name="直線矢印コネクタ 4"/>
          <p:cNvCxnSpPr/>
          <p:nvPr/>
        </p:nvCxnSpPr>
        <p:spPr bwMode="auto">
          <a:xfrm>
            <a:off x="7716019" y="2078987"/>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6" name="直線矢印コネクタ 5"/>
          <p:cNvCxnSpPr/>
          <p:nvPr/>
        </p:nvCxnSpPr>
        <p:spPr bwMode="auto">
          <a:xfrm>
            <a:off x="7716019" y="2888996"/>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7" name="正方形/長方形 6"/>
          <p:cNvSpPr/>
          <p:nvPr/>
        </p:nvSpPr>
        <p:spPr bwMode="auto">
          <a:xfrm>
            <a:off x="7896020"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8" name="二等辺三角形 7"/>
          <p:cNvSpPr/>
          <p:nvPr/>
        </p:nvSpPr>
        <p:spPr bwMode="auto">
          <a:xfrm>
            <a:off x="7940624"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Freeform 10"/>
          <p:cNvSpPr>
            <a:spLocks/>
          </p:cNvSpPr>
          <p:nvPr/>
        </p:nvSpPr>
        <p:spPr bwMode="auto">
          <a:xfrm flipH="1" flipV="1">
            <a:off x="7446015" y="1268977"/>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0" name="直線矢印コネクタ 9"/>
          <p:cNvCxnSpPr/>
          <p:nvPr/>
        </p:nvCxnSpPr>
        <p:spPr bwMode="auto">
          <a:xfrm>
            <a:off x="7716018" y="1898985"/>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11" name="直線矢印コネクタ 10"/>
          <p:cNvCxnSpPr/>
          <p:nvPr/>
        </p:nvCxnSpPr>
        <p:spPr bwMode="auto">
          <a:xfrm>
            <a:off x="7716018" y="2708994"/>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12" name="Freeform 10"/>
          <p:cNvSpPr>
            <a:spLocks/>
          </p:cNvSpPr>
          <p:nvPr/>
        </p:nvSpPr>
        <p:spPr bwMode="auto">
          <a:xfrm rot="10800000" flipH="1" flipV="1">
            <a:off x="7446016" y="1268979"/>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 name="Freeform 10"/>
          <p:cNvSpPr>
            <a:spLocks/>
          </p:cNvSpPr>
          <p:nvPr/>
        </p:nvSpPr>
        <p:spPr bwMode="auto">
          <a:xfrm rot="10800000" flipH="1" flipV="1">
            <a:off x="7446016" y="1988986"/>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4" name="直線矢印コネクタ 13"/>
          <p:cNvCxnSpPr/>
          <p:nvPr/>
        </p:nvCxnSpPr>
        <p:spPr bwMode="auto">
          <a:xfrm>
            <a:off x="7266014" y="2168988"/>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5" name="直線矢印コネクタ 14"/>
          <p:cNvCxnSpPr/>
          <p:nvPr/>
        </p:nvCxnSpPr>
        <p:spPr bwMode="auto">
          <a:xfrm>
            <a:off x="7266014" y="297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6" name="直線矢印コネクタ 15"/>
          <p:cNvCxnSpPr/>
          <p:nvPr/>
        </p:nvCxnSpPr>
        <p:spPr bwMode="auto">
          <a:xfrm>
            <a:off x="8976033" y="243899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39" name="フリーフォーム 38"/>
          <p:cNvSpPr>
            <a:spLocks noChangeArrowheads="1"/>
          </p:cNvSpPr>
          <p:nvPr/>
        </p:nvSpPr>
        <p:spPr bwMode="auto">
          <a:xfrm rot="-5400000">
            <a:off x="3890977"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40" name="直線矢印コネクタ 39"/>
          <p:cNvCxnSpPr/>
          <p:nvPr/>
        </p:nvCxnSpPr>
        <p:spPr bwMode="auto">
          <a:xfrm>
            <a:off x="3935976" y="2078985"/>
            <a:ext cx="360004" cy="2"/>
          </a:xfrm>
          <a:prstGeom prst="straightConnector1">
            <a:avLst/>
          </a:prstGeom>
          <a:noFill/>
          <a:ln w="31750" cap="flat" cmpd="sng" algn="ctr">
            <a:solidFill>
              <a:schemeClr val="accent5"/>
            </a:solidFill>
            <a:prstDash val="solid"/>
            <a:round/>
            <a:headEnd type="none" w="sm" len="sm"/>
            <a:tailEnd type="triangle"/>
          </a:ln>
          <a:effectLst/>
        </p:spPr>
      </p:cxnSp>
      <p:cxnSp>
        <p:nvCxnSpPr>
          <p:cNvPr id="41" name="直線矢印コネクタ 40"/>
          <p:cNvCxnSpPr/>
          <p:nvPr/>
        </p:nvCxnSpPr>
        <p:spPr bwMode="auto">
          <a:xfrm>
            <a:off x="3935976" y="2888994"/>
            <a:ext cx="360004" cy="2"/>
          </a:xfrm>
          <a:prstGeom prst="straightConnector1">
            <a:avLst/>
          </a:prstGeom>
          <a:noFill/>
          <a:ln w="31750" cap="flat" cmpd="sng" algn="ctr">
            <a:solidFill>
              <a:schemeClr val="accent5"/>
            </a:solidFill>
            <a:prstDash val="solid"/>
            <a:round/>
            <a:headEnd type="none" w="sm" len="sm"/>
            <a:tailEnd type="triangle"/>
          </a:ln>
          <a:effectLst/>
        </p:spPr>
      </p:cxnSp>
      <p:sp>
        <p:nvSpPr>
          <p:cNvPr id="42" name="正方形/長方形 41"/>
          <p:cNvSpPr/>
          <p:nvPr/>
        </p:nvSpPr>
        <p:spPr bwMode="auto">
          <a:xfrm>
            <a:off x="3665973"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3" name="二等辺三角形 42"/>
          <p:cNvSpPr/>
          <p:nvPr/>
        </p:nvSpPr>
        <p:spPr bwMode="auto">
          <a:xfrm>
            <a:off x="3710577"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9" name="直線矢印コネクタ 48"/>
          <p:cNvCxnSpPr/>
          <p:nvPr/>
        </p:nvCxnSpPr>
        <p:spPr bwMode="auto">
          <a:xfrm>
            <a:off x="3215969" y="2078985"/>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50" name="直線矢印コネクタ 49"/>
          <p:cNvCxnSpPr/>
          <p:nvPr/>
        </p:nvCxnSpPr>
        <p:spPr bwMode="auto">
          <a:xfrm>
            <a:off x="3215969" y="2888994"/>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54" name="正方形/長方形 53"/>
          <p:cNvSpPr/>
          <p:nvPr/>
        </p:nvSpPr>
        <p:spPr bwMode="auto">
          <a:xfrm>
            <a:off x="9426038"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5" name="正方形/長方形 54"/>
          <p:cNvSpPr/>
          <p:nvPr/>
        </p:nvSpPr>
        <p:spPr bwMode="auto">
          <a:xfrm>
            <a:off x="5105990"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56" name="直線矢印コネクタ 55"/>
          <p:cNvCxnSpPr/>
          <p:nvPr/>
        </p:nvCxnSpPr>
        <p:spPr bwMode="auto">
          <a:xfrm>
            <a:off x="4745985" y="2438989"/>
            <a:ext cx="360004" cy="2"/>
          </a:xfrm>
          <a:prstGeom prst="straightConnector1">
            <a:avLst/>
          </a:prstGeom>
          <a:noFill/>
          <a:ln w="31750" cap="flat" cmpd="sng" algn="ctr">
            <a:solidFill>
              <a:schemeClr val="accent5"/>
            </a:solidFill>
            <a:prstDash val="solid"/>
            <a:round/>
            <a:headEnd type="none" w="sm" len="sm"/>
            <a:tailEnd type="triangle"/>
          </a:ln>
          <a:effectLst/>
        </p:spPr>
      </p:cxnSp>
      <p:sp>
        <p:nvSpPr>
          <p:cNvPr id="27" name="正方形/長方形 26"/>
          <p:cNvSpPr/>
          <p:nvPr/>
        </p:nvSpPr>
        <p:spPr bwMode="auto">
          <a:xfrm>
            <a:off x="2225958" y="1808982"/>
            <a:ext cx="990011"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276003" y="1808982"/>
            <a:ext cx="990011"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82039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ロードについては，完全に解決はできない</a:t>
            </a:r>
          </a:p>
        </p:txBody>
      </p:sp>
      <p:sp>
        <p:nvSpPr>
          <p:cNvPr id="3" name="テキスト プレースホルダー 2"/>
          <p:cNvSpPr>
            <a:spLocks noGrp="1"/>
          </p:cNvSpPr>
          <p:nvPr>
            <p:ph type="body" sz="quarter" idx="10"/>
          </p:nvPr>
        </p:nvSpPr>
        <p:spPr>
          <a:xfrm>
            <a:off x="2135956" y="5139019"/>
            <a:ext cx="8280092" cy="629700"/>
          </a:xfrm>
        </p:spPr>
        <p:txBody>
          <a:bodyPr/>
          <a:lstStyle/>
          <a:p>
            <a:r>
              <a:rPr kumimoji="1" lang="ja-JP" altLang="en-US" dirty="0"/>
              <a:t>ロードではデータ・メモリを読むまでその値は取れない</a:t>
            </a:r>
            <a:endParaRPr kumimoji="1" lang="en-US" altLang="ja-JP" dirty="0"/>
          </a:p>
          <a:p>
            <a:pPr lvl="1"/>
            <a:r>
              <a:rPr kumimoji="1" lang="ja-JP" altLang="en-US" dirty="0"/>
              <a:t>次の命令は，</a:t>
            </a:r>
            <a:r>
              <a:rPr kumimoji="1" lang="en-US" altLang="ja-JP" dirty="0"/>
              <a:t>MEM </a:t>
            </a:r>
            <a:r>
              <a:rPr kumimoji="1" lang="ja-JP" altLang="en-US" dirty="0"/>
              <a:t>より後に </a:t>
            </a:r>
            <a:r>
              <a:rPr kumimoji="1" lang="en-US" altLang="ja-JP" dirty="0"/>
              <a:t>EX </a:t>
            </a:r>
            <a:r>
              <a:rPr kumimoji="1" lang="ja-JP" altLang="en-US" dirty="0"/>
              <a:t>がこないといけない</a:t>
            </a:r>
            <a:endParaRPr kumimoji="1" lang="en-US" altLang="ja-JP" dirty="0"/>
          </a:p>
          <a:p>
            <a:pPr lvl="2"/>
            <a:r>
              <a:rPr kumimoji="1" lang="en-US" altLang="ja-JP" dirty="0">
                <a:latin typeface="Consolas" panose="020B0609020204030204" pitchFamily="49" charset="0"/>
              </a:rPr>
              <a:t>I1</a:t>
            </a:r>
            <a:r>
              <a:rPr kumimoji="1" lang="en-US" altLang="ja-JP" dirty="0"/>
              <a:t> </a:t>
            </a:r>
            <a:r>
              <a:rPr kumimoji="1" lang="ja-JP" altLang="en-US" dirty="0"/>
              <a:t>は，</a:t>
            </a:r>
            <a:r>
              <a:rPr kumimoji="1" lang="en-US" altLang="ja-JP" dirty="0">
                <a:latin typeface="Consolas" panose="020B0609020204030204" pitchFamily="49" charset="0"/>
              </a:rPr>
              <a:t>I0</a:t>
            </a:r>
            <a:r>
              <a:rPr kumimoji="1" lang="en-US" altLang="ja-JP" dirty="0"/>
              <a:t> </a:t>
            </a:r>
            <a:r>
              <a:rPr kumimoji="1" lang="ja-JP" altLang="en-US" dirty="0"/>
              <a:t>のロード結果が見えない</a:t>
            </a:r>
            <a:endParaRPr kumimoji="1" lang="en-US" altLang="ja-JP" dirty="0"/>
          </a:p>
          <a:p>
            <a:pPr lvl="1"/>
            <a:r>
              <a:rPr kumimoji="1" lang="ja-JP" altLang="en-US" dirty="0"/>
              <a:t>この部分はストールや遅延スロットでなんとかすることがおおい</a:t>
            </a:r>
          </a:p>
        </p:txBody>
      </p:sp>
      <p:cxnSp>
        <p:nvCxnSpPr>
          <p:cNvPr id="4" name="直線コネクタ 3"/>
          <p:cNvCxnSpPr>
            <a:stCxn id="32" idx="3"/>
            <a:endCxn id="10" idx="1"/>
          </p:cNvCxnSpPr>
          <p:nvPr/>
        </p:nvCxnSpPr>
        <p:spPr bwMode="auto">
          <a:xfrm flipV="1">
            <a:off x="3935977" y="2438987"/>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a:stCxn id="33" idx="3"/>
            <a:endCxn id="15" idx="1"/>
          </p:cNvCxnSpPr>
          <p:nvPr/>
        </p:nvCxnSpPr>
        <p:spPr bwMode="auto">
          <a:xfrm flipV="1">
            <a:off x="3935976" y="2888992"/>
            <a:ext cx="1440016" cy="2"/>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a:stCxn id="35" idx="3"/>
            <a:endCxn id="21" idx="1"/>
          </p:cNvCxnSpPr>
          <p:nvPr/>
        </p:nvCxnSpPr>
        <p:spPr bwMode="auto">
          <a:xfrm flipV="1">
            <a:off x="3935977" y="3338997"/>
            <a:ext cx="1890021" cy="2"/>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stCxn id="37" idx="3"/>
            <a:endCxn id="26"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231398" y="171898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742263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b="1" dirty="0"/>
              <a:t>マルチスレッディング</a:t>
            </a:r>
          </a:p>
        </p:txBody>
      </p:sp>
    </p:spTree>
    <p:extLst>
      <p:ext uri="{BB962C8B-B14F-4D97-AF65-F5344CB8AC3E}">
        <p14:creationId xmlns:p14="http://schemas.microsoft.com/office/powerpoint/2010/main" val="1315535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マルチスレッディング（</a:t>
            </a:r>
            <a:r>
              <a:rPr kumimoji="1" lang="en-US" altLang="ja-JP" dirty="0"/>
              <a:t>MT: Multi threading</a:t>
            </a:r>
            <a:r>
              <a:rPr kumimoji="1" lang="ja-JP" altLang="en-US" dirty="0"/>
              <a:t>）</a:t>
            </a:r>
          </a:p>
        </p:txBody>
      </p:sp>
      <p:sp>
        <p:nvSpPr>
          <p:cNvPr id="3" name="テキスト プレースホルダー 2"/>
          <p:cNvSpPr>
            <a:spLocks noGrp="1"/>
          </p:cNvSpPr>
          <p:nvPr>
            <p:ph type="body" sz="quarter" idx="10"/>
          </p:nvPr>
        </p:nvSpPr>
        <p:spPr/>
        <p:txBody>
          <a:bodyPr/>
          <a:lstStyle/>
          <a:p>
            <a:r>
              <a:rPr kumimoji="1" lang="ja-JP" altLang="en-US" dirty="0"/>
              <a:t>広義のマルチスレッド：</a:t>
            </a:r>
            <a:endParaRPr kumimoji="1" lang="en-US" altLang="ja-JP" dirty="0"/>
          </a:p>
          <a:p>
            <a:pPr lvl="1"/>
            <a:r>
              <a:rPr kumimoji="1" lang="ja-JP" altLang="en-US" dirty="0"/>
              <a:t>コンテキスト（</a:t>
            </a:r>
            <a:r>
              <a:rPr kumimoji="1" lang="en-US" altLang="ja-JP" dirty="0"/>
              <a:t>PC </a:t>
            </a:r>
            <a:r>
              <a:rPr kumimoji="1" lang="ja-JP" altLang="en-US" dirty="0"/>
              <a:t>やレジスタ）を複数持つこと</a:t>
            </a:r>
            <a:endParaRPr kumimoji="1" lang="en-US" altLang="ja-JP" dirty="0"/>
          </a:p>
          <a:p>
            <a:r>
              <a:rPr lang="ja-JP" altLang="en-US" dirty="0"/>
              <a:t>ソフトウェアにおけるマルチスレッド</a:t>
            </a:r>
            <a:endParaRPr lang="en-US" altLang="ja-JP" dirty="0"/>
          </a:p>
          <a:p>
            <a:pPr lvl="1"/>
            <a:r>
              <a:rPr lang="en-US" altLang="ja-JP" dirty="0" err="1"/>
              <a:t>pthread</a:t>
            </a:r>
            <a:r>
              <a:rPr lang="en-US" altLang="ja-JP" dirty="0"/>
              <a:t> </a:t>
            </a:r>
            <a:r>
              <a:rPr lang="ja-JP" altLang="en-US" dirty="0"/>
              <a:t>とか</a:t>
            </a:r>
            <a:endParaRPr lang="en-US" altLang="ja-JP" dirty="0"/>
          </a:p>
          <a:p>
            <a:pPr lvl="1"/>
            <a:r>
              <a:rPr kumimoji="1" lang="ja-JP" altLang="en-US" dirty="0"/>
              <a:t>複数のコンテキストが並列して動作</a:t>
            </a:r>
            <a:endParaRPr kumimoji="1" lang="en-US" altLang="ja-JP" dirty="0"/>
          </a:p>
          <a:p>
            <a:r>
              <a:rPr kumimoji="1" lang="ja-JP" altLang="en-US" dirty="0"/>
              <a:t>ハードウェア</a:t>
            </a:r>
            <a:r>
              <a:rPr lang="ja-JP" altLang="en-US" dirty="0"/>
              <a:t>における</a:t>
            </a:r>
            <a:r>
              <a:rPr kumimoji="1" lang="ja-JP" altLang="en-US" dirty="0"/>
              <a:t>マルチスレッド</a:t>
            </a:r>
            <a:endParaRPr kumimoji="1" lang="en-US" altLang="ja-JP" dirty="0"/>
          </a:p>
          <a:p>
            <a:pPr lvl="1"/>
            <a:r>
              <a:rPr kumimoji="1" lang="ja-JP" altLang="en-US" dirty="0"/>
              <a:t>ひとつの </a:t>
            </a:r>
            <a:r>
              <a:rPr kumimoji="1" lang="en-US" altLang="ja-JP" dirty="0"/>
              <a:t>CPU </a:t>
            </a:r>
            <a:r>
              <a:rPr kumimoji="1" lang="ja-JP" altLang="en-US" dirty="0"/>
              <a:t>内に複数のコンテキストを複数持つ</a:t>
            </a:r>
            <a:endParaRPr kumimoji="1" lang="en-US" altLang="ja-JP" dirty="0"/>
          </a:p>
          <a:p>
            <a:pPr lvl="1"/>
            <a:r>
              <a:rPr kumimoji="1" lang="ja-JP" altLang="en-US" dirty="0"/>
              <a:t>次ページの方法は「細粒度マルチスレッディング」と呼ぶ</a:t>
            </a:r>
            <a:endParaRPr kumimoji="1" lang="en-US" altLang="ja-JP" dirty="0"/>
          </a:p>
          <a:p>
            <a:pPr lvl="2"/>
            <a:r>
              <a:rPr lang="ja-JP" altLang="en-US" dirty="0"/>
              <a:t>ハードウェアのマルチスレッドは，</a:t>
            </a:r>
            <a:r>
              <a:rPr kumimoji="1" lang="ja-JP" altLang="en-US" dirty="0"/>
              <a:t>他にもいろいろある</a:t>
            </a:r>
            <a:endParaRPr kumimoji="1" lang="en-US" altLang="ja-JP" dirty="0"/>
          </a:p>
          <a:p>
            <a:pPr lvl="2"/>
            <a:r>
              <a:rPr kumimoji="1" lang="ja-JP" altLang="en-US" dirty="0"/>
              <a:t>「粗粒度 </a:t>
            </a:r>
            <a:r>
              <a:rPr kumimoji="1" lang="en-US" altLang="ja-JP" dirty="0"/>
              <a:t>MT</a:t>
            </a:r>
            <a:r>
              <a:rPr kumimoji="1" lang="ja-JP" altLang="en-US" dirty="0"/>
              <a:t>」「同時 </a:t>
            </a:r>
            <a:r>
              <a:rPr kumimoji="1" lang="en-US" altLang="ja-JP" dirty="0"/>
              <a:t>MT</a:t>
            </a:r>
            <a:r>
              <a:rPr kumimoji="1" lang="ja-JP" altLang="en-US" dirty="0"/>
              <a:t>」など</a:t>
            </a:r>
          </a:p>
        </p:txBody>
      </p:sp>
    </p:spTree>
    <p:extLst>
      <p:ext uri="{BB962C8B-B14F-4D97-AF65-F5344CB8AC3E}">
        <p14:creationId xmlns:p14="http://schemas.microsoft.com/office/powerpoint/2010/main" val="29379661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マルチスレッディング</a:t>
            </a:r>
            <a:endParaRPr kumimoji="1" lang="ja-JP" altLang="en-US" dirty="0"/>
          </a:p>
        </p:txBody>
      </p:sp>
      <p:sp>
        <p:nvSpPr>
          <p:cNvPr id="3" name="テキスト プレースホルダー 2"/>
          <p:cNvSpPr>
            <a:spLocks noGrp="1"/>
          </p:cNvSpPr>
          <p:nvPr>
            <p:ph type="body" sz="quarter" idx="10"/>
          </p:nvPr>
        </p:nvSpPr>
        <p:spPr>
          <a:xfrm>
            <a:off x="2135956" y="4779015"/>
            <a:ext cx="8280092" cy="1529710"/>
          </a:xfrm>
        </p:spPr>
        <p:txBody>
          <a:bodyPr/>
          <a:lstStyle/>
          <a:p>
            <a:r>
              <a:rPr kumimoji="1" lang="en-US" altLang="ja-JP" dirty="0"/>
              <a:t>Th0 </a:t>
            </a:r>
            <a:r>
              <a:rPr kumimoji="1" lang="ja-JP" altLang="en-US" dirty="0"/>
              <a:t>から </a:t>
            </a:r>
            <a:r>
              <a:rPr kumimoji="1" lang="en-US" altLang="ja-JP" dirty="0"/>
              <a:t>Th3 </a:t>
            </a:r>
            <a:r>
              <a:rPr kumimoji="1" lang="ja-JP" altLang="en-US" dirty="0" err="1"/>
              <a:t>までの</a:t>
            </a:r>
            <a:r>
              <a:rPr kumimoji="1" lang="en-US" altLang="ja-JP" dirty="0"/>
              <a:t>4</a:t>
            </a:r>
            <a:r>
              <a:rPr kumimoji="1" lang="ja-JP" altLang="en-US" dirty="0" err="1"/>
              <a:t>つの</a:t>
            </a:r>
            <a:r>
              <a:rPr kumimoji="1" lang="ja-JP" altLang="en-US" dirty="0"/>
              <a:t>スレッドの命令を順に実行</a:t>
            </a:r>
            <a:endParaRPr kumimoji="1" lang="en-US" altLang="ja-JP" dirty="0"/>
          </a:p>
          <a:p>
            <a:pPr lvl="1"/>
            <a:r>
              <a:rPr kumimoji="1" lang="ja-JP" altLang="en-US" dirty="0"/>
              <a:t>各スレッドは独立しているので，お互いの結果を読むことはない</a:t>
            </a:r>
            <a:endParaRPr kumimoji="1" lang="en-US" altLang="ja-JP" dirty="0"/>
          </a:p>
          <a:p>
            <a:r>
              <a:rPr lang="en-US" altLang="ja-JP" dirty="0"/>
              <a:t>Th0 </a:t>
            </a:r>
            <a:r>
              <a:rPr lang="ja-JP" altLang="en-US" dirty="0"/>
              <a:t>に戻ってくる頃には，前回の </a:t>
            </a:r>
            <a:r>
              <a:rPr lang="en-US" altLang="ja-JP" dirty="0"/>
              <a:t>Th0 </a:t>
            </a:r>
            <a:r>
              <a:rPr lang="ja-JP" altLang="en-US" dirty="0"/>
              <a:t>の結果が書き込まれている</a:t>
            </a:r>
            <a:endParaRPr kumimoji="1" lang="ja-JP" altLang="en-US" dirty="0"/>
          </a:p>
        </p:txBody>
      </p:sp>
      <p:cxnSp>
        <p:nvCxnSpPr>
          <p:cNvPr id="4" name="直線コネクタ 3"/>
          <p:cNvCxnSpPr>
            <a:stCxn id="32" idx="3"/>
            <a:endCxn id="10" idx="1"/>
          </p:cNvCxnSpPr>
          <p:nvPr/>
        </p:nvCxnSpPr>
        <p:spPr bwMode="auto">
          <a:xfrm flipV="1">
            <a:off x="3935977" y="2438987"/>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a:stCxn id="33" idx="3"/>
            <a:endCxn id="15" idx="1"/>
          </p:cNvCxnSpPr>
          <p:nvPr/>
        </p:nvCxnSpPr>
        <p:spPr bwMode="auto">
          <a:xfrm flipV="1">
            <a:off x="3935976" y="2888992"/>
            <a:ext cx="1440016" cy="2"/>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a:stCxn id="35" idx="3"/>
            <a:endCxn id="21" idx="1"/>
          </p:cNvCxnSpPr>
          <p:nvPr/>
        </p:nvCxnSpPr>
        <p:spPr bwMode="auto">
          <a:xfrm flipV="1">
            <a:off x="3935977" y="3338997"/>
            <a:ext cx="1890021" cy="2"/>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stCxn id="37" idx="3"/>
            <a:endCxn id="26"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231398" y="171898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3739560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マルチスレッディングの利点と欠点</a:t>
            </a:r>
          </a:p>
        </p:txBody>
      </p:sp>
      <p:sp>
        <p:nvSpPr>
          <p:cNvPr id="3" name="テキスト プレースホルダー 2"/>
          <p:cNvSpPr>
            <a:spLocks noGrp="1"/>
          </p:cNvSpPr>
          <p:nvPr>
            <p:ph type="body" sz="quarter" idx="10"/>
          </p:nvPr>
        </p:nvSpPr>
        <p:spPr/>
        <p:txBody>
          <a:bodyPr/>
          <a:lstStyle/>
          <a:p>
            <a:endParaRPr kumimoji="1" lang="en-US" altLang="ja-JP" dirty="0"/>
          </a:p>
          <a:p>
            <a:r>
              <a:rPr kumimoji="1" lang="ja-JP" altLang="en-US" dirty="0"/>
              <a:t>利点：</a:t>
            </a:r>
            <a:endParaRPr kumimoji="1" lang="en-US" altLang="ja-JP" dirty="0"/>
          </a:p>
          <a:p>
            <a:pPr lvl="1"/>
            <a:r>
              <a:rPr kumimoji="1" lang="ja-JP" altLang="en-US" dirty="0"/>
              <a:t>他の方法のような問題がおきない</a:t>
            </a:r>
            <a:endParaRPr kumimoji="1" lang="en-US" altLang="ja-JP" dirty="0"/>
          </a:p>
          <a:p>
            <a:pPr lvl="2"/>
            <a:r>
              <a:rPr kumimoji="1" lang="ja-JP" altLang="en-US" dirty="0"/>
              <a:t>理想的にはバブルも発生せず，クロックも落ちない</a:t>
            </a:r>
            <a:endParaRPr kumimoji="1" lang="en-US" altLang="ja-JP" dirty="0"/>
          </a:p>
          <a:p>
            <a:pPr lvl="1"/>
            <a:r>
              <a:rPr kumimoji="1" lang="ja-JP" altLang="en-US" dirty="0"/>
              <a:t>演算器をパイプライン化しても性能に影響がない</a:t>
            </a:r>
            <a:endParaRPr kumimoji="1" lang="en-US" altLang="ja-JP" dirty="0"/>
          </a:p>
          <a:p>
            <a:pPr lvl="2"/>
            <a:r>
              <a:rPr kumimoji="1" lang="ja-JP" altLang="en-US" dirty="0"/>
              <a:t>他のスレッドを実行して時間をつぶしていればよい</a:t>
            </a:r>
            <a:endParaRPr kumimoji="1" lang="en-US" altLang="ja-JP" dirty="0"/>
          </a:p>
          <a:p>
            <a:r>
              <a:rPr kumimoji="1" lang="ja-JP" altLang="en-US" dirty="0"/>
              <a:t>欠点：</a:t>
            </a:r>
            <a:endParaRPr kumimoji="1" lang="en-US" altLang="ja-JP" dirty="0"/>
          </a:p>
          <a:p>
            <a:pPr marL="817200" lvl="1" indent="-457200">
              <a:buFont typeface="+mj-lt"/>
              <a:buAutoNum type="arabicPeriod"/>
            </a:pPr>
            <a:r>
              <a:rPr kumimoji="1" lang="ja-JP" altLang="en-US" dirty="0"/>
              <a:t>動かすスレッドがない場合は，止めておくしかない</a:t>
            </a:r>
            <a:endParaRPr kumimoji="1" lang="en-US" altLang="ja-JP" dirty="0"/>
          </a:p>
          <a:p>
            <a:pPr lvl="2"/>
            <a:r>
              <a:rPr lang="en-US" altLang="ja-JP" dirty="0"/>
              <a:t>GPU </a:t>
            </a:r>
            <a:r>
              <a:rPr lang="ja-JP" altLang="en-US" dirty="0"/>
              <a:t>等ではスレッドが大量にあるので，問題とならない</a:t>
            </a:r>
            <a:endParaRPr lang="en-US" altLang="ja-JP" dirty="0"/>
          </a:p>
          <a:p>
            <a:pPr lvl="2"/>
            <a:r>
              <a:rPr kumimoji="1" lang="en-US" altLang="ja-JP" dirty="0"/>
              <a:t>GPU </a:t>
            </a:r>
            <a:r>
              <a:rPr kumimoji="1" lang="ja-JP" altLang="en-US" dirty="0"/>
              <a:t>ではループの各周がスレッドになっているイメージ</a:t>
            </a:r>
            <a:endParaRPr kumimoji="1" lang="en-US" altLang="ja-JP" dirty="0"/>
          </a:p>
          <a:p>
            <a:pPr marL="817200" lvl="1" indent="-457200">
              <a:buFont typeface="+mj-lt"/>
              <a:buAutoNum type="arabicPeriod"/>
            </a:pPr>
            <a:r>
              <a:rPr lang="ja-JP" altLang="en-US" dirty="0"/>
              <a:t>スレッド数分のレジスタを持つ必要があるのでハードが大きい</a:t>
            </a:r>
            <a:endParaRPr lang="en-US" altLang="ja-JP" dirty="0"/>
          </a:p>
          <a:p>
            <a:pPr lvl="2"/>
            <a:endParaRPr kumimoji="1" lang="ja-JP" altLang="en-US" dirty="0"/>
          </a:p>
        </p:txBody>
      </p:sp>
    </p:spTree>
    <p:extLst>
      <p:ext uri="{BB962C8B-B14F-4D97-AF65-F5344CB8AC3E}">
        <p14:creationId xmlns:p14="http://schemas.microsoft.com/office/powerpoint/2010/main" val="45356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データ・ハザードのまとめ</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b="1" dirty="0"/>
              <a:t>マルチスレッディング</a:t>
            </a:r>
          </a:p>
        </p:txBody>
      </p:sp>
    </p:spTree>
    <p:extLst>
      <p:ext uri="{BB962C8B-B14F-4D97-AF65-F5344CB8AC3E}">
        <p14:creationId xmlns:p14="http://schemas.microsoft.com/office/powerpoint/2010/main" val="105080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制御ハザード</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a:t>
            </a:r>
            <a:endParaRPr lang="en-US" altLang="ja-JP" dirty="0"/>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b="1" dirty="0"/>
              <a:t>制御ハザード</a:t>
            </a:r>
            <a:endParaRPr lang="en-US" altLang="ja-JP" b="1" dirty="0"/>
          </a:p>
        </p:txBody>
      </p:sp>
    </p:spTree>
    <p:extLst>
      <p:ext uri="{BB962C8B-B14F-4D97-AF65-F5344CB8AC3E}">
        <p14:creationId xmlns:p14="http://schemas.microsoft.com/office/powerpoint/2010/main" val="4092251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制御ハザードの解消方法</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sz="1800" dirty="0"/>
              <a:t>解消方法</a:t>
            </a:r>
            <a:endParaRPr lang="en-US" altLang="ja-JP" sz="1800" dirty="0"/>
          </a:p>
          <a:p>
            <a:pPr marL="817200" lvl="1" indent="-457200">
              <a:buFont typeface="+mj-lt"/>
              <a:buAutoNum type="arabicPeriod"/>
            </a:pPr>
            <a:r>
              <a:rPr lang="ja-JP" altLang="en-US" sz="1800" dirty="0"/>
              <a:t>ストールさせる</a:t>
            </a:r>
            <a:endParaRPr lang="en-US" altLang="ja-JP" sz="1800" dirty="0"/>
          </a:p>
          <a:p>
            <a:pPr marL="817200" lvl="1" indent="-457200">
              <a:buFont typeface="+mj-lt"/>
              <a:buAutoNum type="arabicPeriod"/>
            </a:pPr>
            <a:r>
              <a:rPr lang="ja-JP" altLang="en-US" sz="1800" dirty="0"/>
              <a:t>遅延スロット（なにもしない）</a:t>
            </a:r>
            <a:endParaRPr lang="en-US" altLang="ja-JP" sz="1800" dirty="0"/>
          </a:p>
          <a:p>
            <a:pPr marL="817200" lvl="1" indent="-457200">
              <a:buFont typeface="+mj-lt"/>
              <a:buAutoNum type="arabicPeriod"/>
            </a:pPr>
            <a:r>
              <a:rPr lang="ja-JP" altLang="en-US" sz="1800" dirty="0"/>
              <a:t>マルチスレッディング</a:t>
            </a:r>
            <a:br>
              <a:rPr lang="en-US" altLang="ja-JP" sz="1800" dirty="0"/>
            </a:br>
            <a:endParaRPr lang="en-US" altLang="ja-JP" sz="1800" dirty="0"/>
          </a:p>
          <a:p>
            <a:pPr lvl="1"/>
            <a:r>
              <a:rPr lang="ja-JP" altLang="en-US" sz="1800" dirty="0"/>
              <a:t>上記３までは，基本的にデータ・ハザードと同様にして適用できる</a:t>
            </a:r>
            <a:endParaRPr lang="en-US" altLang="ja-JP" sz="1800" dirty="0"/>
          </a:p>
          <a:p>
            <a:pPr lvl="2"/>
            <a:r>
              <a:rPr lang="ja-JP" altLang="en-US" sz="1800" dirty="0"/>
              <a:t>ただしフォワーディングは制御ハザードでは意味的に無理</a:t>
            </a:r>
            <a:br>
              <a:rPr lang="en-US" altLang="ja-JP" sz="1800" dirty="0"/>
            </a:br>
            <a:endParaRPr lang="en-US" altLang="ja-JP" sz="1800" dirty="0"/>
          </a:p>
          <a:p>
            <a:pPr marL="817200" lvl="1" indent="-457200">
              <a:buFont typeface="+mj-lt"/>
              <a:buAutoNum type="arabicPeriod" startAt="4"/>
            </a:pPr>
            <a:r>
              <a:rPr lang="ja-JP" altLang="en-US" sz="1800" b="1" dirty="0"/>
              <a:t>分岐予測による投機実行</a:t>
            </a:r>
            <a:endParaRPr lang="ja-JP" altLang="en-US" sz="1800" dirty="0"/>
          </a:p>
        </p:txBody>
      </p:sp>
    </p:spTree>
    <p:extLst>
      <p:ext uri="{BB962C8B-B14F-4D97-AF65-F5344CB8AC3E}">
        <p14:creationId xmlns:p14="http://schemas.microsoft.com/office/powerpoint/2010/main" val="29972403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idx="4294967295"/>
          </p:nvPr>
        </p:nvSpPr>
        <p:spPr>
          <a:xfrm>
            <a:off x="1775953" y="4689015"/>
            <a:ext cx="8550095" cy="1369161"/>
          </a:xfrm>
          <a:prstGeom prst="rect">
            <a:avLst/>
          </a:prstGeom>
        </p:spPr>
        <p:txBody>
          <a:bodyPr/>
          <a:lstStyle/>
          <a:p>
            <a:r>
              <a:rPr lang="ja-JP" altLang="en-US" dirty="0"/>
              <a:t>動作</a:t>
            </a:r>
            <a:endParaRPr lang="en-US" altLang="ja-JP" dirty="0"/>
          </a:p>
          <a:p>
            <a:pPr lvl="1"/>
            <a:r>
              <a:rPr lang="ja-JP" altLang="en-US" dirty="0"/>
              <a:t>「</a:t>
            </a:r>
            <a:r>
              <a:rPr lang="en-US" altLang="ja-JP" dirty="0">
                <a:solidFill>
                  <a:schemeClr val="accent5"/>
                </a:solidFill>
              </a:rPr>
              <a:t>if a &gt; 0</a:t>
            </a:r>
            <a:r>
              <a:rPr lang="ja-JP" altLang="en-US" dirty="0"/>
              <a:t>」の結果を予測して，命令を取り込む</a:t>
            </a:r>
            <a:endParaRPr lang="en-US" altLang="ja-JP" dirty="0"/>
          </a:p>
          <a:p>
            <a:pPr lvl="2"/>
            <a:r>
              <a:rPr lang="ja-JP" altLang="en-US" dirty="0"/>
              <a:t>前回はこっちに行ったので，次もこっちに違いないとかで予測</a:t>
            </a:r>
            <a:endParaRPr lang="en-US" altLang="ja-JP" dirty="0"/>
          </a:p>
          <a:p>
            <a:pPr lvl="1"/>
            <a:r>
              <a:rPr lang="ja-JP" altLang="en-US" dirty="0"/>
              <a:t>あとから予測が正しいか確認する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575972" y="1358977"/>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err="1">
                <a:solidFill>
                  <a:schemeClr val="tx1">
                    <a:lumMod val="65000"/>
                    <a:lumOff val="35000"/>
                  </a:schemeClr>
                </a:solidFill>
                <a:latin typeface="Arial Narrow" panose="020B0606020202030204" pitchFamily="34" charset="0"/>
              </a:rPr>
              <a:t>わいの</a:t>
            </a:r>
            <a:r>
              <a:rPr lang="ja-JP" altLang="en-US" dirty="0">
                <a:solidFill>
                  <a:schemeClr val="tx1">
                    <a:lumMod val="65000"/>
                    <a:lumOff val="35000"/>
                  </a:schemeClr>
                </a:solidFill>
                <a:latin typeface="Arial Narrow" panose="020B0606020202030204" pitchFamily="34" charset="0"/>
              </a:rPr>
              <a:t>予想では </a:t>
            </a:r>
            <a:r>
              <a:rPr lang="en-US" altLang="ja-JP" dirty="0">
                <a:solidFill>
                  <a:schemeClr val="tx1">
                    <a:lumMod val="65000"/>
                    <a:lumOff val="35000"/>
                  </a:schemeClr>
                </a:solidFill>
                <a:latin typeface="Arial Narrow" panose="020B0606020202030204" pitchFamily="34" charset="0"/>
              </a:rPr>
              <a:t>else </a:t>
            </a:r>
            <a:r>
              <a:rPr lang="ja-JP" altLang="en-US" dirty="0">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ほんまかいな</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ｳｿｸｻｰ</a:t>
            </a:r>
          </a:p>
        </p:txBody>
      </p:sp>
      <p:sp>
        <p:nvSpPr>
          <p:cNvPr id="29" name="正方形/長方形 28"/>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ﾎﾝﾄｶﾅｰ</a:t>
            </a:r>
          </a:p>
        </p:txBody>
      </p:sp>
    </p:spTree>
    <p:extLst>
      <p:ext uri="{BB962C8B-B14F-4D97-AF65-F5344CB8AC3E}">
        <p14:creationId xmlns:p14="http://schemas.microsoft.com/office/powerpoint/2010/main" val="25273853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予測ペナルティ</a:t>
            </a:r>
            <a:endParaRPr kumimoji="1" lang="ja-JP" altLang="en-US" dirty="0"/>
          </a:p>
        </p:txBody>
      </p:sp>
      <p:sp>
        <p:nvSpPr>
          <p:cNvPr id="58" name="コンテンツ プレースホルダー 57"/>
          <p:cNvSpPr>
            <a:spLocks noGrp="1"/>
          </p:cNvSpPr>
          <p:nvPr>
            <p:ph idx="4294967295"/>
          </p:nvPr>
        </p:nvSpPr>
        <p:spPr>
          <a:xfrm>
            <a:off x="2225958" y="4869017"/>
            <a:ext cx="8190091" cy="1369161"/>
          </a:xfrm>
          <a:prstGeom prst="rect">
            <a:avLst/>
          </a:prstGeom>
        </p:spPr>
        <p:txBody>
          <a:bodyPr/>
          <a:lstStyle/>
          <a:p>
            <a:r>
              <a:rPr lang="ja-JP" altLang="en-US" dirty="0"/>
              <a:t>予測が間違っていた場合，以降の処理を</a:t>
            </a:r>
            <a:br>
              <a:rPr lang="en-US" altLang="ja-JP" dirty="0"/>
            </a:br>
            <a:r>
              <a:rPr lang="ja-JP" altLang="en-US" dirty="0"/>
              <a:t>取り消してやり直す</a:t>
            </a:r>
            <a:endParaRPr lang="en-US" altLang="ja-JP" dirty="0"/>
          </a:p>
          <a:p>
            <a:r>
              <a:rPr lang="ja-JP" altLang="en-US" dirty="0"/>
              <a:t>この図では，無駄になるのは</a:t>
            </a:r>
            <a:r>
              <a:rPr lang="en-US" altLang="ja-JP" dirty="0"/>
              <a:t>3</a:t>
            </a:r>
            <a:r>
              <a:rPr lang="ja-JP" altLang="en-US" dirty="0"/>
              <a:t>命令分</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6456004"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395970" y="1358977"/>
            <a:ext cx="2880032" cy="612648"/>
          </a:xfrm>
          <a:prstGeom prst="wedgeRoundRectCallout">
            <a:avLst>
              <a:gd name="adj1" fmla="val -38140"/>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Arial Narrow" panose="020B0606020202030204" pitchFamily="34" charset="0"/>
              </a:rPr>
              <a:t>a=a+1 </a:t>
            </a:r>
            <a:r>
              <a:rPr lang="ja-JP" altLang="en-US" dirty="0">
                <a:solidFill>
                  <a:schemeClr val="tx1">
                    <a:lumMod val="65000"/>
                    <a:lumOff val="35000"/>
                  </a:schemeClr>
                </a:solidFill>
                <a:latin typeface="Arial Narrow" panose="020B0606020202030204" pitchFamily="34" charset="0"/>
              </a:rPr>
              <a:t>からやりなおしや！</a:t>
            </a: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間違っとるが</a:t>
            </a:r>
            <a:r>
              <a:rPr lang="ja-JP" altLang="en-US" dirty="0" err="1">
                <a:solidFill>
                  <a:schemeClr val="tx1">
                    <a:lumMod val="65000"/>
                    <a:lumOff val="35000"/>
                  </a:schemeClr>
                </a:solidFill>
                <a:latin typeface="Arial Narrow" panose="020B0606020202030204" pitchFamily="34" charset="0"/>
              </a:rPr>
              <a:t>な</a:t>
            </a:r>
            <a:endParaRPr lang="ja-JP" altLang="en-US" dirty="0">
              <a:solidFill>
                <a:schemeClr val="tx1">
                  <a:lumMod val="65000"/>
                  <a:lumOff val="35000"/>
                </a:schemeClr>
              </a:solidFill>
              <a:latin typeface="Arial Narrow" panose="020B0606020202030204" pitchFamily="34" charset="0"/>
            </a:endParaRPr>
          </a:p>
        </p:txBody>
      </p:sp>
      <p:sp>
        <p:nvSpPr>
          <p:cNvPr id="28" name="角丸四角形 27"/>
          <p:cNvSpPr/>
          <p:nvPr/>
        </p:nvSpPr>
        <p:spPr bwMode="auto">
          <a:xfrm>
            <a:off x="5015988"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9" name="角丸四角形 28"/>
          <p:cNvSpPr/>
          <p:nvPr/>
        </p:nvSpPr>
        <p:spPr bwMode="auto">
          <a:xfrm>
            <a:off x="3575972"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正方形/長方形 29"/>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ﾓｳﾔﾀﾞ</a:t>
            </a:r>
          </a:p>
        </p:txBody>
      </p:sp>
      <p:sp>
        <p:nvSpPr>
          <p:cNvPr id="31" name="正方形/長方形 30"/>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ﾏｼﾞﾃﾞ</a:t>
            </a:r>
          </a:p>
        </p:txBody>
      </p:sp>
    </p:spTree>
    <p:extLst>
      <p:ext uri="{BB962C8B-B14F-4D97-AF65-F5344CB8AC3E}">
        <p14:creationId xmlns:p14="http://schemas.microsoft.com/office/powerpoint/2010/main" val="81201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grpId="0" nodeType="clickEffect">
                                  <p:stCondLst>
                                    <p:cond delay="0"/>
                                  </p:stCondLst>
                                  <p:childTnLst>
                                    <p:animEffect transition="out" filter="fade">
                                      <p:cBhvr>
                                        <p:cTn id="6" dur="1000"/>
                                        <p:tgtEl>
                                          <p:spTgt spid="24"/>
                                        </p:tgtEl>
                                      </p:cBhvr>
                                    </p:animEffect>
                                    <p:anim calcmode="lin" valueType="num">
                                      <p:cBhvr>
                                        <p:cTn id="7" dur="1000"/>
                                        <p:tgtEl>
                                          <p:spTgt spid="24"/>
                                        </p:tgtEl>
                                        <p:attrNameLst>
                                          <p:attrName>ppt_x</p:attrName>
                                        </p:attrNameLst>
                                      </p:cBhvr>
                                      <p:tavLst>
                                        <p:tav tm="0">
                                          <p:val>
                                            <p:strVal val="ppt_x"/>
                                          </p:val>
                                        </p:tav>
                                        <p:tav tm="100000">
                                          <p:val>
                                            <p:strVal val="ppt_x"/>
                                          </p:val>
                                        </p:tav>
                                      </p:tavLst>
                                    </p:anim>
                                    <p:anim calcmode="lin" valueType="num">
                                      <p:cBhvr>
                                        <p:cTn id="8" dur="1000"/>
                                        <p:tgtEl>
                                          <p:spTgt spid="24"/>
                                        </p:tgtEl>
                                        <p:attrNameLst>
                                          <p:attrName>ppt_y</p:attrName>
                                        </p:attrNameLst>
                                      </p:cBhvr>
                                      <p:tavLst>
                                        <p:tav tm="0">
                                          <p:val>
                                            <p:strVal val="ppt_y"/>
                                          </p:val>
                                        </p:tav>
                                        <p:tav tm="100000">
                                          <p:val>
                                            <p:strVal val="ppt_y+.1"/>
                                          </p:val>
                                        </p:tav>
                                      </p:tavLst>
                                    </p:anim>
                                    <p:set>
                                      <p:cBhvr>
                                        <p:cTn id="9" dur="1" fill="hold">
                                          <p:stCondLst>
                                            <p:cond delay="999"/>
                                          </p:stCondLst>
                                        </p:cTn>
                                        <p:tgtEl>
                                          <p:spTgt spid="24"/>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28"/>
                                        </p:tgtEl>
                                      </p:cBhvr>
                                    </p:animEffect>
                                    <p:anim calcmode="lin" valueType="num">
                                      <p:cBhvr>
                                        <p:cTn id="12" dur="1000"/>
                                        <p:tgtEl>
                                          <p:spTgt spid="28"/>
                                        </p:tgtEl>
                                        <p:attrNameLst>
                                          <p:attrName>ppt_x</p:attrName>
                                        </p:attrNameLst>
                                      </p:cBhvr>
                                      <p:tavLst>
                                        <p:tav tm="0">
                                          <p:val>
                                            <p:strVal val="ppt_x"/>
                                          </p:val>
                                        </p:tav>
                                        <p:tav tm="100000">
                                          <p:val>
                                            <p:strVal val="ppt_x"/>
                                          </p:val>
                                        </p:tav>
                                      </p:tavLst>
                                    </p:anim>
                                    <p:anim calcmode="lin" valueType="num">
                                      <p:cBhvr>
                                        <p:cTn id="13" dur="1000"/>
                                        <p:tgtEl>
                                          <p:spTgt spid="28"/>
                                        </p:tgtEl>
                                        <p:attrNameLst>
                                          <p:attrName>ppt_y</p:attrName>
                                        </p:attrNameLst>
                                      </p:cBhvr>
                                      <p:tavLst>
                                        <p:tav tm="0">
                                          <p:val>
                                            <p:strVal val="ppt_y"/>
                                          </p:val>
                                        </p:tav>
                                        <p:tav tm="100000">
                                          <p:val>
                                            <p:strVal val="ppt_y+.1"/>
                                          </p:val>
                                        </p:tav>
                                      </p:tavLst>
                                    </p:anim>
                                    <p:set>
                                      <p:cBhvr>
                                        <p:cTn id="14" dur="1" fill="hold">
                                          <p:stCondLst>
                                            <p:cond delay="999"/>
                                          </p:stCondLst>
                                        </p:cTn>
                                        <p:tgtEl>
                                          <p:spTgt spid="28"/>
                                        </p:tgtEl>
                                        <p:attrNameLst>
                                          <p:attrName>style.visibility</p:attrName>
                                        </p:attrNameLst>
                                      </p:cBhvr>
                                      <p:to>
                                        <p:strVal val="hidden"/>
                                      </p:to>
                                    </p:set>
                                  </p:childTnLst>
                                </p:cTn>
                              </p:par>
                              <p:par>
                                <p:cTn id="15" presetID="42" presetClass="exit" presetSubtype="0" fill="hold" grpId="0" nodeType="withEffect">
                                  <p:stCondLst>
                                    <p:cond delay="0"/>
                                  </p:stCondLst>
                                  <p:childTnLst>
                                    <p:animEffect transition="out" filter="fade">
                                      <p:cBhvr>
                                        <p:cTn id="16" dur="1000"/>
                                        <p:tgtEl>
                                          <p:spTgt spid="29"/>
                                        </p:tgtEl>
                                      </p:cBhvr>
                                    </p:animEffect>
                                    <p:anim calcmode="lin" valueType="num">
                                      <p:cBhvr>
                                        <p:cTn id="17" dur="1000"/>
                                        <p:tgtEl>
                                          <p:spTgt spid="29"/>
                                        </p:tgtEl>
                                        <p:attrNameLst>
                                          <p:attrName>ppt_x</p:attrName>
                                        </p:attrNameLst>
                                      </p:cBhvr>
                                      <p:tavLst>
                                        <p:tav tm="0">
                                          <p:val>
                                            <p:strVal val="ppt_x"/>
                                          </p:val>
                                        </p:tav>
                                        <p:tav tm="100000">
                                          <p:val>
                                            <p:strVal val="ppt_x"/>
                                          </p:val>
                                        </p:tav>
                                      </p:tavLst>
                                    </p:anim>
                                    <p:anim calcmode="lin" valueType="num">
                                      <p:cBhvr>
                                        <p:cTn id="18" dur="1000"/>
                                        <p:tgtEl>
                                          <p:spTgt spid="29"/>
                                        </p:tgtEl>
                                        <p:attrNameLst>
                                          <p:attrName>ppt_y</p:attrName>
                                        </p:attrNameLst>
                                      </p:cBhvr>
                                      <p:tavLst>
                                        <p:tav tm="0">
                                          <p:val>
                                            <p:strVal val="ppt_y"/>
                                          </p:val>
                                        </p:tav>
                                        <p:tav tm="100000">
                                          <p:val>
                                            <p:strVal val="ppt_y+.1"/>
                                          </p:val>
                                        </p:tav>
                                      </p:tavLst>
                                    </p:anim>
                                    <p:set>
                                      <p:cBhvr>
                                        <p:cTn id="19" dur="1" fill="hold">
                                          <p:stCondLst>
                                            <p:cond delay="9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8" grpId="0" animBg="1"/>
      <p:bldP spid="2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大規模な高性能プロセッサの場合</a:t>
            </a:r>
          </a:p>
        </p:txBody>
      </p:sp>
      <p:sp>
        <p:nvSpPr>
          <p:cNvPr id="3" name="テキスト プレースホルダー 2"/>
          <p:cNvSpPr>
            <a:spLocks noGrp="1"/>
          </p:cNvSpPr>
          <p:nvPr>
            <p:ph type="body" sz="quarter" idx="10"/>
          </p:nvPr>
        </p:nvSpPr>
        <p:spPr>
          <a:xfrm>
            <a:off x="2315959" y="5949336"/>
            <a:ext cx="8010089" cy="719701"/>
          </a:xfrm>
        </p:spPr>
        <p:txBody>
          <a:bodyPr/>
          <a:lstStyle/>
          <a:p>
            <a:r>
              <a:rPr kumimoji="1" lang="ja-JP" altLang="en-US" dirty="0"/>
              <a:t>取り消しは最悪</a:t>
            </a:r>
            <a:r>
              <a:rPr lang="ja-JP" altLang="en-US" dirty="0"/>
              <a:t>数十命令以上に</a:t>
            </a:r>
            <a:endParaRPr lang="en-US" altLang="ja-JP" dirty="0"/>
          </a:p>
          <a:p>
            <a:pPr lvl="1"/>
            <a:r>
              <a:rPr kumimoji="1" lang="en-US" altLang="ja-JP" dirty="0"/>
              <a:t>IBM POWER8 </a:t>
            </a:r>
            <a:r>
              <a:rPr kumimoji="1" lang="ja-JP" altLang="en-US" dirty="0"/>
              <a:t>だと，</a:t>
            </a:r>
            <a:r>
              <a:rPr kumimoji="1" lang="en-US" altLang="ja-JP" dirty="0"/>
              <a:t>8</a:t>
            </a:r>
            <a:r>
              <a:rPr kumimoji="1" lang="ja-JP" altLang="en-US" dirty="0"/>
              <a:t>命令同時 </a:t>
            </a:r>
            <a:r>
              <a:rPr kumimoji="1" lang="en-US" altLang="ja-JP" dirty="0"/>
              <a:t>× 10</a:t>
            </a:r>
            <a:r>
              <a:rPr kumimoji="1" lang="ja-JP" altLang="en-US" dirty="0"/>
              <a:t>数段 </a:t>
            </a:r>
            <a:endParaRPr lang="ja-JP" altLang="en-US" dirty="0"/>
          </a:p>
        </p:txBody>
      </p:sp>
      <p:grpSp>
        <p:nvGrpSpPr>
          <p:cNvPr id="4" name="グループ化 3"/>
          <p:cNvGrpSpPr/>
          <p:nvPr/>
        </p:nvGrpSpPr>
        <p:grpSpPr>
          <a:xfrm>
            <a:off x="3125968" y="1574446"/>
            <a:ext cx="630007" cy="360000"/>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2" name="グループ化 291"/>
          <p:cNvGrpSpPr/>
          <p:nvPr/>
        </p:nvGrpSpPr>
        <p:grpSpPr>
          <a:xfrm>
            <a:off x="3665974" y="1574446"/>
            <a:ext cx="630007" cy="360000"/>
            <a:chOff x="971600" y="5445224"/>
            <a:chExt cx="7200800" cy="576064"/>
          </a:xfrm>
        </p:grpSpPr>
        <p:sp>
          <p:nvSpPr>
            <p:cNvPr id="293" name="平行四辺形 2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4" name="平行四辺形 2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5" name="グループ化 294"/>
          <p:cNvGrpSpPr/>
          <p:nvPr/>
        </p:nvGrpSpPr>
        <p:grpSpPr>
          <a:xfrm>
            <a:off x="4205980" y="1574446"/>
            <a:ext cx="630007" cy="360000"/>
            <a:chOff x="971600" y="5445224"/>
            <a:chExt cx="7200800" cy="576064"/>
          </a:xfrm>
        </p:grpSpPr>
        <p:sp>
          <p:nvSpPr>
            <p:cNvPr id="296" name="平行四辺形 2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7" name="平行四辺形 2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8" name="グループ化 297"/>
          <p:cNvGrpSpPr/>
          <p:nvPr/>
        </p:nvGrpSpPr>
        <p:grpSpPr>
          <a:xfrm>
            <a:off x="4745986" y="1574446"/>
            <a:ext cx="630007" cy="360000"/>
            <a:chOff x="971600" y="5445224"/>
            <a:chExt cx="7200800" cy="576064"/>
          </a:xfrm>
        </p:grpSpPr>
        <p:sp>
          <p:nvSpPr>
            <p:cNvPr id="299" name="平行四辺形 2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0" name="平行四辺形 2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1" name="グループ化 300"/>
          <p:cNvGrpSpPr/>
          <p:nvPr/>
        </p:nvGrpSpPr>
        <p:grpSpPr>
          <a:xfrm>
            <a:off x="5285992" y="1574446"/>
            <a:ext cx="630007" cy="360000"/>
            <a:chOff x="971600" y="5445224"/>
            <a:chExt cx="7200800" cy="576064"/>
          </a:xfrm>
        </p:grpSpPr>
        <p:sp>
          <p:nvSpPr>
            <p:cNvPr id="302" name="平行四辺形 3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3" name="平行四辺形 3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4" name="グループ化 303"/>
          <p:cNvGrpSpPr/>
          <p:nvPr/>
        </p:nvGrpSpPr>
        <p:grpSpPr>
          <a:xfrm>
            <a:off x="5825998" y="1574446"/>
            <a:ext cx="630007" cy="360000"/>
            <a:chOff x="971600" y="5445224"/>
            <a:chExt cx="7200800" cy="576064"/>
          </a:xfrm>
        </p:grpSpPr>
        <p:sp>
          <p:nvSpPr>
            <p:cNvPr id="305" name="平行四辺形 3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6" name="平行四辺形 3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7" name="グループ化 306"/>
          <p:cNvGrpSpPr/>
          <p:nvPr/>
        </p:nvGrpSpPr>
        <p:grpSpPr>
          <a:xfrm>
            <a:off x="6366004" y="1574446"/>
            <a:ext cx="630007" cy="360000"/>
            <a:chOff x="971600" y="5445224"/>
            <a:chExt cx="7200800" cy="576064"/>
          </a:xfrm>
        </p:grpSpPr>
        <p:sp>
          <p:nvSpPr>
            <p:cNvPr id="308" name="平行四辺形 3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9" name="平行四辺形 3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0" name="グループ化 309"/>
          <p:cNvGrpSpPr/>
          <p:nvPr/>
        </p:nvGrpSpPr>
        <p:grpSpPr>
          <a:xfrm>
            <a:off x="6906010" y="1574446"/>
            <a:ext cx="630007" cy="360000"/>
            <a:chOff x="971600" y="5445224"/>
            <a:chExt cx="7200800" cy="576064"/>
          </a:xfrm>
        </p:grpSpPr>
        <p:sp>
          <p:nvSpPr>
            <p:cNvPr id="311" name="平行四辺形 3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2" name="平行四辺形 3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3" name="グループ化 312"/>
          <p:cNvGrpSpPr/>
          <p:nvPr/>
        </p:nvGrpSpPr>
        <p:grpSpPr>
          <a:xfrm>
            <a:off x="7446016" y="1574446"/>
            <a:ext cx="630007" cy="360000"/>
            <a:chOff x="971600" y="5445224"/>
            <a:chExt cx="7200800" cy="576064"/>
          </a:xfrm>
        </p:grpSpPr>
        <p:sp>
          <p:nvSpPr>
            <p:cNvPr id="314" name="平行四辺形 31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5" name="平行四辺形 31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6" name="グループ化 315"/>
          <p:cNvGrpSpPr/>
          <p:nvPr/>
        </p:nvGrpSpPr>
        <p:grpSpPr>
          <a:xfrm>
            <a:off x="7986022" y="1574446"/>
            <a:ext cx="630007" cy="360000"/>
            <a:chOff x="971600" y="5445224"/>
            <a:chExt cx="7200800" cy="576064"/>
          </a:xfrm>
        </p:grpSpPr>
        <p:sp>
          <p:nvSpPr>
            <p:cNvPr id="317" name="平行四辺形 31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8" name="平行四辺形 31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9" name="グループ化 318"/>
          <p:cNvGrpSpPr/>
          <p:nvPr/>
        </p:nvGrpSpPr>
        <p:grpSpPr>
          <a:xfrm>
            <a:off x="8526028" y="1574446"/>
            <a:ext cx="630007" cy="360000"/>
            <a:chOff x="971600" y="5445224"/>
            <a:chExt cx="7200800" cy="576064"/>
          </a:xfrm>
        </p:grpSpPr>
        <p:sp>
          <p:nvSpPr>
            <p:cNvPr id="320" name="平行四辺形 31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1" name="平行四辺形 32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22" name="グループ化 321"/>
          <p:cNvGrpSpPr/>
          <p:nvPr/>
        </p:nvGrpSpPr>
        <p:grpSpPr>
          <a:xfrm>
            <a:off x="9066034" y="1574446"/>
            <a:ext cx="630007" cy="360000"/>
            <a:chOff x="971600" y="5445224"/>
            <a:chExt cx="7200800" cy="576064"/>
          </a:xfrm>
        </p:grpSpPr>
        <p:sp>
          <p:nvSpPr>
            <p:cNvPr id="323" name="平行四辺形 32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4" name="平行四辺形 32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1" name="グループ化 360"/>
          <p:cNvGrpSpPr/>
          <p:nvPr/>
        </p:nvGrpSpPr>
        <p:grpSpPr>
          <a:xfrm>
            <a:off x="3125968" y="2114452"/>
            <a:ext cx="630007" cy="360000"/>
            <a:chOff x="971600" y="5445224"/>
            <a:chExt cx="7200800" cy="576064"/>
          </a:xfrm>
        </p:grpSpPr>
        <p:sp>
          <p:nvSpPr>
            <p:cNvPr id="362" name="平行四辺形 36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3" name="平行四辺形 36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4" name="グループ化 363"/>
          <p:cNvGrpSpPr/>
          <p:nvPr/>
        </p:nvGrpSpPr>
        <p:grpSpPr>
          <a:xfrm>
            <a:off x="3665974" y="2114452"/>
            <a:ext cx="630007" cy="360000"/>
            <a:chOff x="971600" y="5445224"/>
            <a:chExt cx="7200800" cy="576064"/>
          </a:xfrm>
        </p:grpSpPr>
        <p:sp>
          <p:nvSpPr>
            <p:cNvPr id="365" name="平行四辺形 36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6" name="平行四辺形 36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7" name="グループ化 366"/>
          <p:cNvGrpSpPr/>
          <p:nvPr/>
        </p:nvGrpSpPr>
        <p:grpSpPr>
          <a:xfrm>
            <a:off x="4205980" y="2114452"/>
            <a:ext cx="630007" cy="360000"/>
            <a:chOff x="971600" y="5445224"/>
            <a:chExt cx="7200800" cy="576064"/>
          </a:xfrm>
        </p:grpSpPr>
        <p:sp>
          <p:nvSpPr>
            <p:cNvPr id="368" name="平行四辺形 36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9" name="平行四辺形 36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0" name="グループ化 369"/>
          <p:cNvGrpSpPr/>
          <p:nvPr/>
        </p:nvGrpSpPr>
        <p:grpSpPr>
          <a:xfrm>
            <a:off x="4745986" y="2114452"/>
            <a:ext cx="630007" cy="360000"/>
            <a:chOff x="971600" y="5445224"/>
            <a:chExt cx="7200800" cy="576064"/>
          </a:xfrm>
        </p:grpSpPr>
        <p:sp>
          <p:nvSpPr>
            <p:cNvPr id="371" name="平行四辺形 37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2" name="平行四辺形 37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3" name="グループ化 372"/>
          <p:cNvGrpSpPr/>
          <p:nvPr/>
        </p:nvGrpSpPr>
        <p:grpSpPr>
          <a:xfrm>
            <a:off x="5285992" y="2114452"/>
            <a:ext cx="630007" cy="360000"/>
            <a:chOff x="971600" y="5445224"/>
            <a:chExt cx="7200800" cy="576064"/>
          </a:xfrm>
        </p:grpSpPr>
        <p:sp>
          <p:nvSpPr>
            <p:cNvPr id="374" name="平行四辺形 37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5" name="平行四辺形 37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6" name="グループ化 375"/>
          <p:cNvGrpSpPr/>
          <p:nvPr/>
        </p:nvGrpSpPr>
        <p:grpSpPr>
          <a:xfrm>
            <a:off x="5825998" y="2114452"/>
            <a:ext cx="630007" cy="360000"/>
            <a:chOff x="971600" y="5445224"/>
            <a:chExt cx="7200800" cy="576064"/>
          </a:xfrm>
        </p:grpSpPr>
        <p:sp>
          <p:nvSpPr>
            <p:cNvPr id="377" name="平行四辺形 37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8" name="平行四辺形 37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9" name="グループ化 378"/>
          <p:cNvGrpSpPr/>
          <p:nvPr/>
        </p:nvGrpSpPr>
        <p:grpSpPr>
          <a:xfrm>
            <a:off x="6366004" y="2114452"/>
            <a:ext cx="630007" cy="360000"/>
            <a:chOff x="971600" y="5445224"/>
            <a:chExt cx="7200800" cy="576064"/>
          </a:xfrm>
        </p:grpSpPr>
        <p:sp>
          <p:nvSpPr>
            <p:cNvPr id="380" name="平行四辺形 37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1" name="平行四辺形 38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2" name="グループ化 381"/>
          <p:cNvGrpSpPr/>
          <p:nvPr/>
        </p:nvGrpSpPr>
        <p:grpSpPr>
          <a:xfrm>
            <a:off x="6906010" y="2114452"/>
            <a:ext cx="630007" cy="360000"/>
            <a:chOff x="971600" y="5445224"/>
            <a:chExt cx="7200800" cy="576064"/>
          </a:xfrm>
        </p:grpSpPr>
        <p:sp>
          <p:nvSpPr>
            <p:cNvPr id="383" name="平行四辺形 3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4" name="平行四辺形 38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5" name="グループ化 384"/>
          <p:cNvGrpSpPr/>
          <p:nvPr/>
        </p:nvGrpSpPr>
        <p:grpSpPr>
          <a:xfrm>
            <a:off x="7446016" y="2114452"/>
            <a:ext cx="630007" cy="360000"/>
            <a:chOff x="971600" y="5445224"/>
            <a:chExt cx="7200800" cy="576064"/>
          </a:xfrm>
        </p:grpSpPr>
        <p:sp>
          <p:nvSpPr>
            <p:cNvPr id="386" name="平行四辺形 38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7" name="平行四辺形 38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8" name="グループ化 387"/>
          <p:cNvGrpSpPr/>
          <p:nvPr/>
        </p:nvGrpSpPr>
        <p:grpSpPr>
          <a:xfrm>
            <a:off x="7986022" y="2114452"/>
            <a:ext cx="630007" cy="360000"/>
            <a:chOff x="971600" y="5445224"/>
            <a:chExt cx="7200800" cy="576064"/>
          </a:xfrm>
        </p:grpSpPr>
        <p:sp>
          <p:nvSpPr>
            <p:cNvPr id="389" name="平行四辺形 38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0" name="平行四辺形 38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1" name="グループ化 390"/>
          <p:cNvGrpSpPr/>
          <p:nvPr/>
        </p:nvGrpSpPr>
        <p:grpSpPr>
          <a:xfrm>
            <a:off x="8526028" y="2114452"/>
            <a:ext cx="630007" cy="360000"/>
            <a:chOff x="971600" y="5445224"/>
            <a:chExt cx="7200800" cy="576064"/>
          </a:xfrm>
        </p:grpSpPr>
        <p:sp>
          <p:nvSpPr>
            <p:cNvPr id="392" name="平行四辺形 39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3" name="平行四辺形 39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4" name="グループ化 393"/>
          <p:cNvGrpSpPr/>
          <p:nvPr/>
        </p:nvGrpSpPr>
        <p:grpSpPr>
          <a:xfrm>
            <a:off x="9066034" y="2114452"/>
            <a:ext cx="630007" cy="360000"/>
            <a:chOff x="971600" y="5445224"/>
            <a:chExt cx="7200800" cy="576064"/>
          </a:xfrm>
        </p:grpSpPr>
        <p:sp>
          <p:nvSpPr>
            <p:cNvPr id="395" name="平行四辺形 39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6" name="平行四辺形 39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7" name="グループ化 396"/>
          <p:cNvGrpSpPr/>
          <p:nvPr/>
        </p:nvGrpSpPr>
        <p:grpSpPr>
          <a:xfrm>
            <a:off x="3125968" y="2654458"/>
            <a:ext cx="630007" cy="360000"/>
            <a:chOff x="971600" y="5445224"/>
            <a:chExt cx="7200800" cy="576064"/>
          </a:xfrm>
        </p:grpSpPr>
        <p:sp>
          <p:nvSpPr>
            <p:cNvPr id="398" name="平行四辺形 39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9" name="平行四辺形 39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0" name="グループ化 399"/>
          <p:cNvGrpSpPr/>
          <p:nvPr/>
        </p:nvGrpSpPr>
        <p:grpSpPr>
          <a:xfrm>
            <a:off x="3665974" y="2654458"/>
            <a:ext cx="630007" cy="360000"/>
            <a:chOff x="971600" y="5445224"/>
            <a:chExt cx="7200800" cy="576064"/>
          </a:xfrm>
        </p:grpSpPr>
        <p:sp>
          <p:nvSpPr>
            <p:cNvPr id="401" name="平行四辺形 4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2" name="平行四辺形 40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3" name="グループ化 402"/>
          <p:cNvGrpSpPr/>
          <p:nvPr/>
        </p:nvGrpSpPr>
        <p:grpSpPr>
          <a:xfrm>
            <a:off x="4205980" y="2654458"/>
            <a:ext cx="630007" cy="360000"/>
            <a:chOff x="971600" y="5445224"/>
            <a:chExt cx="7200800" cy="576064"/>
          </a:xfrm>
        </p:grpSpPr>
        <p:sp>
          <p:nvSpPr>
            <p:cNvPr id="404" name="平行四辺形 4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5" name="平行四辺形 40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6" name="グループ化 405"/>
          <p:cNvGrpSpPr/>
          <p:nvPr/>
        </p:nvGrpSpPr>
        <p:grpSpPr>
          <a:xfrm>
            <a:off x="4745986" y="2654458"/>
            <a:ext cx="630007" cy="360000"/>
            <a:chOff x="971600" y="5445224"/>
            <a:chExt cx="7200800" cy="576064"/>
          </a:xfrm>
        </p:grpSpPr>
        <p:sp>
          <p:nvSpPr>
            <p:cNvPr id="407" name="平行四辺形 40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8" name="平行四辺形 40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9" name="グループ化 408"/>
          <p:cNvGrpSpPr/>
          <p:nvPr/>
        </p:nvGrpSpPr>
        <p:grpSpPr>
          <a:xfrm>
            <a:off x="5285992" y="2654458"/>
            <a:ext cx="630007" cy="360000"/>
            <a:chOff x="971600" y="5445224"/>
            <a:chExt cx="7200800" cy="576064"/>
          </a:xfrm>
        </p:grpSpPr>
        <p:sp>
          <p:nvSpPr>
            <p:cNvPr id="410" name="平行四辺形 40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1" name="平行四辺形 41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2" name="グループ化 411"/>
          <p:cNvGrpSpPr/>
          <p:nvPr/>
        </p:nvGrpSpPr>
        <p:grpSpPr>
          <a:xfrm>
            <a:off x="5825998" y="2654458"/>
            <a:ext cx="630007" cy="360000"/>
            <a:chOff x="971600" y="5445224"/>
            <a:chExt cx="7200800" cy="576064"/>
          </a:xfrm>
        </p:grpSpPr>
        <p:sp>
          <p:nvSpPr>
            <p:cNvPr id="413" name="平行四辺形 41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4" name="平行四辺形 41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5" name="グループ化 414"/>
          <p:cNvGrpSpPr/>
          <p:nvPr/>
        </p:nvGrpSpPr>
        <p:grpSpPr>
          <a:xfrm>
            <a:off x="6366004" y="2654458"/>
            <a:ext cx="630007" cy="360000"/>
            <a:chOff x="971600" y="5445224"/>
            <a:chExt cx="7200800" cy="576064"/>
          </a:xfrm>
        </p:grpSpPr>
        <p:sp>
          <p:nvSpPr>
            <p:cNvPr id="416" name="平行四辺形 41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7" name="平行四辺形 41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8" name="グループ化 417"/>
          <p:cNvGrpSpPr/>
          <p:nvPr/>
        </p:nvGrpSpPr>
        <p:grpSpPr>
          <a:xfrm>
            <a:off x="6906010" y="2654458"/>
            <a:ext cx="630007" cy="360000"/>
            <a:chOff x="971600" y="5445224"/>
            <a:chExt cx="7200800" cy="576064"/>
          </a:xfrm>
        </p:grpSpPr>
        <p:sp>
          <p:nvSpPr>
            <p:cNvPr id="419" name="平行四辺形 41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0" name="平行四辺形 41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1" name="グループ化 420"/>
          <p:cNvGrpSpPr/>
          <p:nvPr/>
        </p:nvGrpSpPr>
        <p:grpSpPr>
          <a:xfrm>
            <a:off x="7446016" y="2654458"/>
            <a:ext cx="630007" cy="360000"/>
            <a:chOff x="971600" y="5445224"/>
            <a:chExt cx="7200800" cy="576064"/>
          </a:xfrm>
        </p:grpSpPr>
        <p:sp>
          <p:nvSpPr>
            <p:cNvPr id="422" name="平行四辺形 42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3" name="平行四辺形 42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4" name="グループ化 423"/>
          <p:cNvGrpSpPr/>
          <p:nvPr/>
        </p:nvGrpSpPr>
        <p:grpSpPr>
          <a:xfrm>
            <a:off x="7986022" y="2654458"/>
            <a:ext cx="630007" cy="360000"/>
            <a:chOff x="971600" y="5445224"/>
            <a:chExt cx="7200800" cy="576064"/>
          </a:xfrm>
        </p:grpSpPr>
        <p:sp>
          <p:nvSpPr>
            <p:cNvPr id="425" name="平行四辺形 42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6" name="平行四辺形 42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7" name="グループ化 426"/>
          <p:cNvGrpSpPr/>
          <p:nvPr/>
        </p:nvGrpSpPr>
        <p:grpSpPr>
          <a:xfrm>
            <a:off x="8526028" y="2654458"/>
            <a:ext cx="630007" cy="360000"/>
            <a:chOff x="971600" y="5445224"/>
            <a:chExt cx="7200800" cy="576064"/>
          </a:xfrm>
        </p:grpSpPr>
        <p:sp>
          <p:nvSpPr>
            <p:cNvPr id="428" name="平行四辺形 42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9" name="平行四辺形 42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0" name="グループ化 429"/>
          <p:cNvGrpSpPr/>
          <p:nvPr/>
        </p:nvGrpSpPr>
        <p:grpSpPr>
          <a:xfrm>
            <a:off x="9066034" y="2654458"/>
            <a:ext cx="630007" cy="360000"/>
            <a:chOff x="971600" y="5445224"/>
            <a:chExt cx="7200800" cy="576064"/>
          </a:xfrm>
        </p:grpSpPr>
        <p:sp>
          <p:nvSpPr>
            <p:cNvPr id="431" name="平行四辺形 43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2" name="平行四辺形 43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3" name="グループ化 432"/>
          <p:cNvGrpSpPr/>
          <p:nvPr/>
        </p:nvGrpSpPr>
        <p:grpSpPr>
          <a:xfrm>
            <a:off x="3125968" y="3194464"/>
            <a:ext cx="630007" cy="360000"/>
            <a:chOff x="971600" y="5445224"/>
            <a:chExt cx="7200800" cy="576064"/>
          </a:xfrm>
        </p:grpSpPr>
        <p:sp>
          <p:nvSpPr>
            <p:cNvPr id="434" name="平行四辺形 43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5" name="平行四辺形 43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6" name="グループ化 435"/>
          <p:cNvGrpSpPr/>
          <p:nvPr/>
        </p:nvGrpSpPr>
        <p:grpSpPr>
          <a:xfrm>
            <a:off x="3665974" y="3194464"/>
            <a:ext cx="630007" cy="360000"/>
            <a:chOff x="971600" y="5445224"/>
            <a:chExt cx="7200800" cy="576064"/>
          </a:xfrm>
        </p:grpSpPr>
        <p:sp>
          <p:nvSpPr>
            <p:cNvPr id="437" name="平行四辺形 43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8" name="平行四辺形 43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9" name="グループ化 438"/>
          <p:cNvGrpSpPr/>
          <p:nvPr/>
        </p:nvGrpSpPr>
        <p:grpSpPr>
          <a:xfrm>
            <a:off x="4205980" y="3194464"/>
            <a:ext cx="630007" cy="360000"/>
            <a:chOff x="971600" y="5445224"/>
            <a:chExt cx="7200800" cy="576064"/>
          </a:xfrm>
        </p:grpSpPr>
        <p:sp>
          <p:nvSpPr>
            <p:cNvPr id="440" name="平行四辺形 43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1" name="平行四辺形 44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2" name="グループ化 441"/>
          <p:cNvGrpSpPr/>
          <p:nvPr/>
        </p:nvGrpSpPr>
        <p:grpSpPr>
          <a:xfrm>
            <a:off x="4745986" y="3194464"/>
            <a:ext cx="630007" cy="360000"/>
            <a:chOff x="971600" y="5445224"/>
            <a:chExt cx="7200800" cy="576064"/>
          </a:xfrm>
        </p:grpSpPr>
        <p:sp>
          <p:nvSpPr>
            <p:cNvPr id="443" name="平行四辺形 44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4" name="平行四辺形 44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5" name="グループ化 444"/>
          <p:cNvGrpSpPr/>
          <p:nvPr/>
        </p:nvGrpSpPr>
        <p:grpSpPr>
          <a:xfrm>
            <a:off x="5285992" y="3194464"/>
            <a:ext cx="630007" cy="360000"/>
            <a:chOff x="971600" y="5445224"/>
            <a:chExt cx="7200800" cy="576064"/>
          </a:xfrm>
        </p:grpSpPr>
        <p:sp>
          <p:nvSpPr>
            <p:cNvPr id="446" name="平行四辺形 44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7" name="平行四辺形 44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8" name="グループ化 447"/>
          <p:cNvGrpSpPr/>
          <p:nvPr/>
        </p:nvGrpSpPr>
        <p:grpSpPr>
          <a:xfrm>
            <a:off x="5825998" y="3194464"/>
            <a:ext cx="630007" cy="360000"/>
            <a:chOff x="971600" y="5445224"/>
            <a:chExt cx="7200800" cy="576064"/>
          </a:xfrm>
        </p:grpSpPr>
        <p:sp>
          <p:nvSpPr>
            <p:cNvPr id="449" name="平行四辺形 44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0" name="平行四辺形 44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1" name="グループ化 450"/>
          <p:cNvGrpSpPr/>
          <p:nvPr/>
        </p:nvGrpSpPr>
        <p:grpSpPr>
          <a:xfrm>
            <a:off x="6366004" y="3194464"/>
            <a:ext cx="630007" cy="360000"/>
            <a:chOff x="971600" y="5445224"/>
            <a:chExt cx="7200800" cy="576064"/>
          </a:xfrm>
        </p:grpSpPr>
        <p:sp>
          <p:nvSpPr>
            <p:cNvPr id="452" name="平行四辺形 45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3" name="平行四辺形 45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4" name="グループ化 453"/>
          <p:cNvGrpSpPr/>
          <p:nvPr/>
        </p:nvGrpSpPr>
        <p:grpSpPr>
          <a:xfrm>
            <a:off x="6906010" y="3194464"/>
            <a:ext cx="630007" cy="360000"/>
            <a:chOff x="971600" y="5445224"/>
            <a:chExt cx="7200800" cy="576064"/>
          </a:xfrm>
        </p:grpSpPr>
        <p:sp>
          <p:nvSpPr>
            <p:cNvPr id="455" name="平行四辺形 45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6" name="平行四辺形 45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7" name="グループ化 456"/>
          <p:cNvGrpSpPr/>
          <p:nvPr/>
        </p:nvGrpSpPr>
        <p:grpSpPr>
          <a:xfrm>
            <a:off x="7446016" y="3194464"/>
            <a:ext cx="630007" cy="360000"/>
            <a:chOff x="971600" y="5445224"/>
            <a:chExt cx="7200800" cy="576064"/>
          </a:xfrm>
        </p:grpSpPr>
        <p:sp>
          <p:nvSpPr>
            <p:cNvPr id="458" name="平行四辺形 45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9" name="平行四辺形 45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0" name="グループ化 459"/>
          <p:cNvGrpSpPr/>
          <p:nvPr/>
        </p:nvGrpSpPr>
        <p:grpSpPr>
          <a:xfrm>
            <a:off x="7986022" y="3194464"/>
            <a:ext cx="630007" cy="360000"/>
            <a:chOff x="971600" y="5445224"/>
            <a:chExt cx="7200800" cy="576064"/>
          </a:xfrm>
        </p:grpSpPr>
        <p:sp>
          <p:nvSpPr>
            <p:cNvPr id="461" name="平行四辺形 46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2" name="平行四辺形 46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3" name="グループ化 462"/>
          <p:cNvGrpSpPr/>
          <p:nvPr/>
        </p:nvGrpSpPr>
        <p:grpSpPr>
          <a:xfrm>
            <a:off x="8526028" y="3194464"/>
            <a:ext cx="630007" cy="360000"/>
            <a:chOff x="971600" y="5445224"/>
            <a:chExt cx="7200800" cy="576064"/>
          </a:xfrm>
        </p:grpSpPr>
        <p:sp>
          <p:nvSpPr>
            <p:cNvPr id="464" name="平行四辺形 46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5" name="平行四辺形 46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6" name="グループ化 465"/>
          <p:cNvGrpSpPr/>
          <p:nvPr/>
        </p:nvGrpSpPr>
        <p:grpSpPr>
          <a:xfrm>
            <a:off x="9066034" y="3194464"/>
            <a:ext cx="630007" cy="360000"/>
            <a:chOff x="971600" y="5445224"/>
            <a:chExt cx="7200800" cy="576064"/>
          </a:xfrm>
        </p:grpSpPr>
        <p:sp>
          <p:nvSpPr>
            <p:cNvPr id="467" name="平行四辺形 46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8" name="平行四辺形 46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9" name="グループ化 468"/>
          <p:cNvGrpSpPr/>
          <p:nvPr/>
        </p:nvGrpSpPr>
        <p:grpSpPr>
          <a:xfrm>
            <a:off x="3125968" y="3699007"/>
            <a:ext cx="630007" cy="360000"/>
            <a:chOff x="971600" y="5445224"/>
            <a:chExt cx="7200800" cy="576064"/>
          </a:xfrm>
        </p:grpSpPr>
        <p:sp>
          <p:nvSpPr>
            <p:cNvPr id="470" name="平行四辺形 46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1" name="平行四辺形 47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2" name="グループ化 471"/>
          <p:cNvGrpSpPr/>
          <p:nvPr/>
        </p:nvGrpSpPr>
        <p:grpSpPr>
          <a:xfrm>
            <a:off x="3665974" y="3699007"/>
            <a:ext cx="630007" cy="360000"/>
            <a:chOff x="971600" y="5445224"/>
            <a:chExt cx="7200800" cy="576064"/>
          </a:xfrm>
        </p:grpSpPr>
        <p:sp>
          <p:nvSpPr>
            <p:cNvPr id="473" name="平行四辺形 47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4" name="平行四辺形 47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5" name="グループ化 474"/>
          <p:cNvGrpSpPr/>
          <p:nvPr/>
        </p:nvGrpSpPr>
        <p:grpSpPr>
          <a:xfrm>
            <a:off x="4205980" y="3699007"/>
            <a:ext cx="630007" cy="360000"/>
            <a:chOff x="971600" y="5445224"/>
            <a:chExt cx="7200800" cy="576064"/>
          </a:xfrm>
        </p:grpSpPr>
        <p:sp>
          <p:nvSpPr>
            <p:cNvPr id="476" name="平行四辺形 47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7" name="平行四辺形 47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8" name="グループ化 477"/>
          <p:cNvGrpSpPr/>
          <p:nvPr/>
        </p:nvGrpSpPr>
        <p:grpSpPr>
          <a:xfrm>
            <a:off x="4745986" y="3699007"/>
            <a:ext cx="630007" cy="360000"/>
            <a:chOff x="971600" y="5445224"/>
            <a:chExt cx="7200800" cy="576064"/>
          </a:xfrm>
        </p:grpSpPr>
        <p:sp>
          <p:nvSpPr>
            <p:cNvPr id="479" name="平行四辺形 47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0" name="平行四辺形 47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1" name="グループ化 480"/>
          <p:cNvGrpSpPr/>
          <p:nvPr/>
        </p:nvGrpSpPr>
        <p:grpSpPr>
          <a:xfrm>
            <a:off x="5285992" y="3699007"/>
            <a:ext cx="630007" cy="360000"/>
            <a:chOff x="971600" y="5445224"/>
            <a:chExt cx="7200800" cy="576064"/>
          </a:xfrm>
        </p:grpSpPr>
        <p:sp>
          <p:nvSpPr>
            <p:cNvPr id="482" name="平行四辺形 48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3" name="平行四辺形 48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4" name="グループ化 483"/>
          <p:cNvGrpSpPr/>
          <p:nvPr/>
        </p:nvGrpSpPr>
        <p:grpSpPr>
          <a:xfrm>
            <a:off x="5825998" y="3699007"/>
            <a:ext cx="630007" cy="360000"/>
            <a:chOff x="971600" y="5445224"/>
            <a:chExt cx="7200800" cy="576064"/>
          </a:xfrm>
        </p:grpSpPr>
        <p:sp>
          <p:nvSpPr>
            <p:cNvPr id="485" name="平行四辺形 48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6" name="平行四辺形 48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7" name="グループ化 486"/>
          <p:cNvGrpSpPr/>
          <p:nvPr/>
        </p:nvGrpSpPr>
        <p:grpSpPr>
          <a:xfrm>
            <a:off x="6366004" y="3699007"/>
            <a:ext cx="630007" cy="360000"/>
            <a:chOff x="971600" y="5445224"/>
            <a:chExt cx="7200800" cy="576064"/>
          </a:xfrm>
        </p:grpSpPr>
        <p:sp>
          <p:nvSpPr>
            <p:cNvPr id="488" name="平行四辺形 48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9" name="平行四辺形 48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0" name="グループ化 489"/>
          <p:cNvGrpSpPr/>
          <p:nvPr/>
        </p:nvGrpSpPr>
        <p:grpSpPr>
          <a:xfrm>
            <a:off x="6906010" y="3699007"/>
            <a:ext cx="630007" cy="360000"/>
            <a:chOff x="971600" y="5445224"/>
            <a:chExt cx="7200800" cy="576064"/>
          </a:xfrm>
        </p:grpSpPr>
        <p:sp>
          <p:nvSpPr>
            <p:cNvPr id="491" name="平行四辺形 49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2" name="平行四辺形 49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3" name="グループ化 492"/>
          <p:cNvGrpSpPr/>
          <p:nvPr/>
        </p:nvGrpSpPr>
        <p:grpSpPr>
          <a:xfrm>
            <a:off x="7446016" y="3699007"/>
            <a:ext cx="630007" cy="360000"/>
            <a:chOff x="971600" y="5445224"/>
            <a:chExt cx="7200800" cy="576064"/>
          </a:xfrm>
        </p:grpSpPr>
        <p:sp>
          <p:nvSpPr>
            <p:cNvPr id="494" name="平行四辺形 49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5" name="平行四辺形 49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6" name="グループ化 495"/>
          <p:cNvGrpSpPr/>
          <p:nvPr/>
        </p:nvGrpSpPr>
        <p:grpSpPr>
          <a:xfrm>
            <a:off x="7986022" y="3699007"/>
            <a:ext cx="630007" cy="360000"/>
            <a:chOff x="971600" y="5445224"/>
            <a:chExt cx="7200800" cy="576064"/>
          </a:xfrm>
        </p:grpSpPr>
        <p:sp>
          <p:nvSpPr>
            <p:cNvPr id="497" name="平行四辺形 49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8" name="平行四辺形 49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9" name="グループ化 498"/>
          <p:cNvGrpSpPr/>
          <p:nvPr/>
        </p:nvGrpSpPr>
        <p:grpSpPr>
          <a:xfrm>
            <a:off x="8526028" y="3699007"/>
            <a:ext cx="630007" cy="360000"/>
            <a:chOff x="971600" y="5445224"/>
            <a:chExt cx="7200800" cy="576064"/>
          </a:xfrm>
        </p:grpSpPr>
        <p:sp>
          <p:nvSpPr>
            <p:cNvPr id="500" name="平行四辺形 49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1" name="平行四辺形 50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2" name="グループ化 501"/>
          <p:cNvGrpSpPr/>
          <p:nvPr/>
        </p:nvGrpSpPr>
        <p:grpSpPr>
          <a:xfrm>
            <a:off x="9066034" y="3699007"/>
            <a:ext cx="630007" cy="360000"/>
            <a:chOff x="971600" y="5445224"/>
            <a:chExt cx="7200800" cy="576064"/>
          </a:xfrm>
        </p:grpSpPr>
        <p:sp>
          <p:nvSpPr>
            <p:cNvPr id="503" name="平行四辺形 50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4" name="平行四辺形 50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5" name="グループ化 504"/>
          <p:cNvGrpSpPr/>
          <p:nvPr/>
        </p:nvGrpSpPr>
        <p:grpSpPr>
          <a:xfrm>
            <a:off x="3125968" y="4239013"/>
            <a:ext cx="630007" cy="360000"/>
            <a:chOff x="971600" y="5445224"/>
            <a:chExt cx="7200800" cy="576064"/>
          </a:xfrm>
        </p:grpSpPr>
        <p:sp>
          <p:nvSpPr>
            <p:cNvPr id="506" name="平行四辺形 50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7" name="平行四辺形 50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8" name="グループ化 507"/>
          <p:cNvGrpSpPr/>
          <p:nvPr/>
        </p:nvGrpSpPr>
        <p:grpSpPr>
          <a:xfrm>
            <a:off x="3665974" y="4239013"/>
            <a:ext cx="630007" cy="360000"/>
            <a:chOff x="971600" y="5445224"/>
            <a:chExt cx="7200800" cy="576064"/>
          </a:xfrm>
        </p:grpSpPr>
        <p:sp>
          <p:nvSpPr>
            <p:cNvPr id="509" name="平行四辺形 5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0" name="平行四辺形 50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1" name="グループ化 510"/>
          <p:cNvGrpSpPr/>
          <p:nvPr/>
        </p:nvGrpSpPr>
        <p:grpSpPr>
          <a:xfrm>
            <a:off x="4205980" y="4239013"/>
            <a:ext cx="630007" cy="360000"/>
            <a:chOff x="971600" y="5445224"/>
            <a:chExt cx="7200800" cy="576064"/>
          </a:xfrm>
        </p:grpSpPr>
        <p:sp>
          <p:nvSpPr>
            <p:cNvPr id="512" name="平行四辺形 51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3" name="平行四辺形 51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4" name="グループ化 513"/>
          <p:cNvGrpSpPr/>
          <p:nvPr/>
        </p:nvGrpSpPr>
        <p:grpSpPr>
          <a:xfrm>
            <a:off x="4745986" y="4239013"/>
            <a:ext cx="630007" cy="360000"/>
            <a:chOff x="971600" y="5445224"/>
            <a:chExt cx="7200800" cy="576064"/>
          </a:xfrm>
        </p:grpSpPr>
        <p:sp>
          <p:nvSpPr>
            <p:cNvPr id="515" name="平行四辺形 51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6" name="平行四辺形 51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7" name="グループ化 516"/>
          <p:cNvGrpSpPr/>
          <p:nvPr/>
        </p:nvGrpSpPr>
        <p:grpSpPr>
          <a:xfrm>
            <a:off x="5285992" y="4239013"/>
            <a:ext cx="630007" cy="360000"/>
            <a:chOff x="971600" y="5445224"/>
            <a:chExt cx="7200800" cy="576064"/>
          </a:xfrm>
        </p:grpSpPr>
        <p:sp>
          <p:nvSpPr>
            <p:cNvPr id="518" name="平行四辺形 51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9" name="平行四辺形 51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0" name="グループ化 519"/>
          <p:cNvGrpSpPr/>
          <p:nvPr/>
        </p:nvGrpSpPr>
        <p:grpSpPr>
          <a:xfrm>
            <a:off x="5825998" y="4239013"/>
            <a:ext cx="630007" cy="360000"/>
            <a:chOff x="971600" y="5445224"/>
            <a:chExt cx="7200800" cy="576064"/>
          </a:xfrm>
        </p:grpSpPr>
        <p:sp>
          <p:nvSpPr>
            <p:cNvPr id="521" name="平行四辺形 5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2" name="平行四辺形 5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3" name="グループ化 522"/>
          <p:cNvGrpSpPr/>
          <p:nvPr/>
        </p:nvGrpSpPr>
        <p:grpSpPr>
          <a:xfrm>
            <a:off x="6366004" y="4239013"/>
            <a:ext cx="630007" cy="360000"/>
            <a:chOff x="971600" y="5445224"/>
            <a:chExt cx="7200800" cy="576064"/>
          </a:xfrm>
        </p:grpSpPr>
        <p:sp>
          <p:nvSpPr>
            <p:cNvPr id="524" name="平行四辺形 52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5" name="平行四辺形 52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6" name="グループ化 525"/>
          <p:cNvGrpSpPr/>
          <p:nvPr/>
        </p:nvGrpSpPr>
        <p:grpSpPr>
          <a:xfrm>
            <a:off x="6906010" y="4239013"/>
            <a:ext cx="630007" cy="360000"/>
            <a:chOff x="971600" y="5445224"/>
            <a:chExt cx="7200800" cy="576064"/>
          </a:xfrm>
        </p:grpSpPr>
        <p:sp>
          <p:nvSpPr>
            <p:cNvPr id="527" name="平行四辺形 52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8" name="平行四辺形 52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9" name="グループ化 528"/>
          <p:cNvGrpSpPr/>
          <p:nvPr/>
        </p:nvGrpSpPr>
        <p:grpSpPr>
          <a:xfrm>
            <a:off x="7446016" y="4239013"/>
            <a:ext cx="630007" cy="360000"/>
            <a:chOff x="971600" y="5445224"/>
            <a:chExt cx="7200800" cy="576064"/>
          </a:xfrm>
        </p:grpSpPr>
        <p:sp>
          <p:nvSpPr>
            <p:cNvPr id="530" name="平行四辺形 52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1" name="平行四辺形 53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2" name="グループ化 531"/>
          <p:cNvGrpSpPr/>
          <p:nvPr/>
        </p:nvGrpSpPr>
        <p:grpSpPr>
          <a:xfrm>
            <a:off x="7986022" y="4239013"/>
            <a:ext cx="630007" cy="360000"/>
            <a:chOff x="971600" y="5445224"/>
            <a:chExt cx="7200800" cy="576064"/>
          </a:xfrm>
        </p:grpSpPr>
        <p:sp>
          <p:nvSpPr>
            <p:cNvPr id="533" name="平行四辺形 53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4" name="平行四辺形 53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5" name="グループ化 534"/>
          <p:cNvGrpSpPr/>
          <p:nvPr/>
        </p:nvGrpSpPr>
        <p:grpSpPr>
          <a:xfrm>
            <a:off x="8526028" y="4239013"/>
            <a:ext cx="630007" cy="360000"/>
            <a:chOff x="971600" y="5445224"/>
            <a:chExt cx="7200800" cy="576064"/>
          </a:xfrm>
        </p:grpSpPr>
        <p:sp>
          <p:nvSpPr>
            <p:cNvPr id="536" name="平行四辺形 53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7" name="平行四辺形 5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8" name="グループ化 537"/>
          <p:cNvGrpSpPr/>
          <p:nvPr/>
        </p:nvGrpSpPr>
        <p:grpSpPr>
          <a:xfrm>
            <a:off x="9066034" y="4239013"/>
            <a:ext cx="630007" cy="360000"/>
            <a:chOff x="971600" y="5445224"/>
            <a:chExt cx="7200800" cy="576064"/>
          </a:xfrm>
        </p:grpSpPr>
        <p:sp>
          <p:nvSpPr>
            <p:cNvPr id="539" name="平行四辺形 53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0" name="平行四辺形 53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1" name="グループ化 540"/>
          <p:cNvGrpSpPr/>
          <p:nvPr/>
        </p:nvGrpSpPr>
        <p:grpSpPr>
          <a:xfrm>
            <a:off x="3125968" y="4779019"/>
            <a:ext cx="630007" cy="360000"/>
            <a:chOff x="971600" y="5445224"/>
            <a:chExt cx="7200800" cy="576064"/>
          </a:xfrm>
        </p:grpSpPr>
        <p:sp>
          <p:nvSpPr>
            <p:cNvPr id="542" name="平行四辺形 54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3" name="平行四辺形 54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4" name="グループ化 543"/>
          <p:cNvGrpSpPr/>
          <p:nvPr/>
        </p:nvGrpSpPr>
        <p:grpSpPr>
          <a:xfrm>
            <a:off x="3665974" y="4779019"/>
            <a:ext cx="630007" cy="360000"/>
            <a:chOff x="971600" y="5445224"/>
            <a:chExt cx="7200800" cy="576064"/>
          </a:xfrm>
        </p:grpSpPr>
        <p:sp>
          <p:nvSpPr>
            <p:cNvPr id="545" name="平行四辺形 54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6" name="平行四辺形 54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7" name="グループ化 546"/>
          <p:cNvGrpSpPr/>
          <p:nvPr/>
        </p:nvGrpSpPr>
        <p:grpSpPr>
          <a:xfrm>
            <a:off x="4205980" y="4779019"/>
            <a:ext cx="630007" cy="360000"/>
            <a:chOff x="971600" y="5445224"/>
            <a:chExt cx="7200800" cy="576064"/>
          </a:xfrm>
        </p:grpSpPr>
        <p:sp>
          <p:nvSpPr>
            <p:cNvPr id="548" name="平行四辺形 54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9" name="平行四辺形 54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0" name="グループ化 549"/>
          <p:cNvGrpSpPr/>
          <p:nvPr/>
        </p:nvGrpSpPr>
        <p:grpSpPr>
          <a:xfrm>
            <a:off x="4745986" y="4779019"/>
            <a:ext cx="630007" cy="360000"/>
            <a:chOff x="971600" y="5445224"/>
            <a:chExt cx="7200800" cy="576064"/>
          </a:xfrm>
        </p:grpSpPr>
        <p:sp>
          <p:nvSpPr>
            <p:cNvPr id="551" name="平行四辺形 55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2" name="平行四辺形 55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3" name="グループ化 552"/>
          <p:cNvGrpSpPr/>
          <p:nvPr/>
        </p:nvGrpSpPr>
        <p:grpSpPr>
          <a:xfrm>
            <a:off x="5285992" y="4779019"/>
            <a:ext cx="630007" cy="360000"/>
            <a:chOff x="971600" y="5445224"/>
            <a:chExt cx="7200800" cy="576064"/>
          </a:xfrm>
        </p:grpSpPr>
        <p:sp>
          <p:nvSpPr>
            <p:cNvPr id="554" name="平行四辺形 55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5" name="平行四辺形 55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6" name="グループ化 555"/>
          <p:cNvGrpSpPr/>
          <p:nvPr/>
        </p:nvGrpSpPr>
        <p:grpSpPr>
          <a:xfrm>
            <a:off x="5825998" y="4779019"/>
            <a:ext cx="630007" cy="360000"/>
            <a:chOff x="971600" y="5445224"/>
            <a:chExt cx="7200800" cy="576064"/>
          </a:xfrm>
        </p:grpSpPr>
        <p:sp>
          <p:nvSpPr>
            <p:cNvPr id="557" name="平行四辺形 55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8" name="平行四辺形 55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9" name="グループ化 558"/>
          <p:cNvGrpSpPr/>
          <p:nvPr/>
        </p:nvGrpSpPr>
        <p:grpSpPr>
          <a:xfrm>
            <a:off x="6366004" y="4779019"/>
            <a:ext cx="630007" cy="360000"/>
            <a:chOff x="971600" y="5445224"/>
            <a:chExt cx="7200800" cy="576064"/>
          </a:xfrm>
        </p:grpSpPr>
        <p:sp>
          <p:nvSpPr>
            <p:cNvPr id="560" name="平行四辺形 55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1" name="平行四辺形 56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2" name="グループ化 561"/>
          <p:cNvGrpSpPr/>
          <p:nvPr/>
        </p:nvGrpSpPr>
        <p:grpSpPr>
          <a:xfrm>
            <a:off x="6906010" y="4779019"/>
            <a:ext cx="630007" cy="360000"/>
            <a:chOff x="971600" y="5445224"/>
            <a:chExt cx="7200800" cy="576064"/>
          </a:xfrm>
        </p:grpSpPr>
        <p:sp>
          <p:nvSpPr>
            <p:cNvPr id="563" name="平行四辺形 56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4" name="平行四辺形 56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5" name="グループ化 564"/>
          <p:cNvGrpSpPr/>
          <p:nvPr/>
        </p:nvGrpSpPr>
        <p:grpSpPr>
          <a:xfrm>
            <a:off x="7446016" y="4779019"/>
            <a:ext cx="630007" cy="360000"/>
            <a:chOff x="971600" y="5445224"/>
            <a:chExt cx="7200800" cy="576064"/>
          </a:xfrm>
        </p:grpSpPr>
        <p:sp>
          <p:nvSpPr>
            <p:cNvPr id="566" name="平行四辺形 56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7" name="平行四辺形 56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8" name="グループ化 567"/>
          <p:cNvGrpSpPr/>
          <p:nvPr/>
        </p:nvGrpSpPr>
        <p:grpSpPr>
          <a:xfrm>
            <a:off x="7986022" y="4779019"/>
            <a:ext cx="630007" cy="360000"/>
            <a:chOff x="971600" y="5445224"/>
            <a:chExt cx="7200800" cy="576064"/>
          </a:xfrm>
        </p:grpSpPr>
        <p:sp>
          <p:nvSpPr>
            <p:cNvPr id="569" name="平行四辺形 56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0" name="平行四辺形 56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1" name="グループ化 570"/>
          <p:cNvGrpSpPr/>
          <p:nvPr/>
        </p:nvGrpSpPr>
        <p:grpSpPr>
          <a:xfrm>
            <a:off x="8526028" y="4779019"/>
            <a:ext cx="630007" cy="360000"/>
            <a:chOff x="971600" y="5445224"/>
            <a:chExt cx="7200800" cy="576064"/>
          </a:xfrm>
        </p:grpSpPr>
        <p:sp>
          <p:nvSpPr>
            <p:cNvPr id="572" name="平行四辺形 57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3" name="平行四辺形 57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4" name="グループ化 573"/>
          <p:cNvGrpSpPr/>
          <p:nvPr/>
        </p:nvGrpSpPr>
        <p:grpSpPr>
          <a:xfrm>
            <a:off x="9066034" y="4779019"/>
            <a:ext cx="630007" cy="360000"/>
            <a:chOff x="971600" y="5445224"/>
            <a:chExt cx="7200800" cy="576064"/>
          </a:xfrm>
        </p:grpSpPr>
        <p:sp>
          <p:nvSpPr>
            <p:cNvPr id="575" name="平行四辺形 57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6" name="平行四辺形 57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7" name="グループ化 576"/>
          <p:cNvGrpSpPr/>
          <p:nvPr/>
        </p:nvGrpSpPr>
        <p:grpSpPr>
          <a:xfrm>
            <a:off x="3125968" y="5319025"/>
            <a:ext cx="630007" cy="360000"/>
            <a:chOff x="971600" y="5445224"/>
            <a:chExt cx="7200800" cy="576064"/>
          </a:xfrm>
        </p:grpSpPr>
        <p:sp>
          <p:nvSpPr>
            <p:cNvPr id="578" name="平行四辺形 57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9" name="平行四辺形 57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0" name="グループ化 579"/>
          <p:cNvGrpSpPr/>
          <p:nvPr/>
        </p:nvGrpSpPr>
        <p:grpSpPr>
          <a:xfrm>
            <a:off x="3665974" y="5319025"/>
            <a:ext cx="630007" cy="360000"/>
            <a:chOff x="971600" y="5445224"/>
            <a:chExt cx="7200800" cy="576064"/>
          </a:xfrm>
        </p:grpSpPr>
        <p:sp>
          <p:nvSpPr>
            <p:cNvPr id="581" name="平行四辺形 58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2" name="平行四辺形 58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3" name="グループ化 582"/>
          <p:cNvGrpSpPr/>
          <p:nvPr/>
        </p:nvGrpSpPr>
        <p:grpSpPr>
          <a:xfrm>
            <a:off x="4205980" y="5319025"/>
            <a:ext cx="630007" cy="360000"/>
            <a:chOff x="971600" y="5445224"/>
            <a:chExt cx="7200800" cy="576064"/>
          </a:xfrm>
        </p:grpSpPr>
        <p:sp>
          <p:nvSpPr>
            <p:cNvPr id="584" name="平行四辺形 5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5" name="平行四辺形 58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6" name="グループ化 585"/>
          <p:cNvGrpSpPr/>
          <p:nvPr/>
        </p:nvGrpSpPr>
        <p:grpSpPr>
          <a:xfrm>
            <a:off x="4745986" y="5319025"/>
            <a:ext cx="630007" cy="360000"/>
            <a:chOff x="971600" y="5445224"/>
            <a:chExt cx="7200800" cy="576064"/>
          </a:xfrm>
        </p:grpSpPr>
        <p:sp>
          <p:nvSpPr>
            <p:cNvPr id="587" name="平行四辺形 58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8" name="平行四辺形 58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9" name="グループ化 588"/>
          <p:cNvGrpSpPr/>
          <p:nvPr/>
        </p:nvGrpSpPr>
        <p:grpSpPr>
          <a:xfrm>
            <a:off x="5285992" y="5319025"/>
            <a:ext cx="630007" cy="360000"/>
            <a:chOff x="971600" y="5445224"/>
            <a:chExt cx="7200800" cy="576064"/>
          </a:xfrm>
        </p:grpSpPr>
        <p:sp>
          <p:nvSpPr>
            <p:cNvPr id="590" name="平行四辺形 58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1" name="平行四辺形 59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2" name="グループ化 591"/>
          <p:cNvGrpSpPr/>
          <p:nvPr/>
        </p:nvGrpSpPr>
        <p:grpSpPr>
          <a:xfrm>
            <a:off x="5825998" y="5319025"/>
            <a:ext cx="630007" cy="360000"/>
            <a:chOff x="971600" y="5445224"/>
            <a:chExt cx="7200800" cy="576064"/>
          </a:xfrm>
        </p:grpSpPr>
        <p:sp>
          <p:nvSpPr>
            <p:cNvPr id="593" name="平行四辺形 5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4" name="平行四辺形 5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5" name="グループ化 594"/>
          <p:cNvGrpSpPr/>
          <p:nvPr/>
        </p:nvGrpSpPr>
        <p:grpSpPr>
          <a:xfrm>
            <a:off x="6366004" y="5319025"/>
            <a:ext cx="630007" cy="360000"/>
            <a:chOff x="971600" y="5445224"/>
            <a:chExt cx="7200800" cy="576064"/>
          </a:xfrm>
        </p:grpSpPr>
        <p:sp>
          <p:nvSpPr>
            <p:cNvPr id="596" name="平行四辺形 5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7" name="平行四辺形 5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8" name="グループ化 597"/>
          <p:cNvGrpSpPr/>
          <p:nvPr/>
        </p:nvGrpSpPr>
        <p:grpSpPr>
          <a:xfrm>
            <a:off x="6906010" y="5319025"/>
            <a:ext cx="630007" cy="360000"/>
            <a:chOff x="971600" y="5445224"/>
            <a:chExt cx="7200800" cy="576064"/>
          </a:xfrm>
        </p:grpSpPr>
        <p:sp>
          <p:nvSpPr>
            <p:cNvPr id="599" name="平行四辺形 5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0" name="平行四辺形 5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1" name="グループ化 600"/>
          <p:cNvGrpSpPr/>
          <p:nvPr/>
        </p:nvGrpSpPr>
        <p:grpSpPr>
          <a:xfrm>
            <a:off x="7446016" y="5319025"/>
            <a:ext cx="630007" cy="360000"/>
            <a:chOff x="971600" y="5445224"/>
            <a:chExt cx="7200800" cy="576064"/>
          </a:xfrm>
        </p:grpSpPr>
        <p:sp>
          <p:nvSpPr>
            <p:cNvPr id="602" name="平行四辺形 6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3" name="平行四辺形 6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4" name="グループ化 603"/>
          <p:cNvGrpSpPr/>
          <p:nvPr/>
        </p:nvGrpSpPr>
        <p:grpSpPr>
          <a:xfrm>
            <a:off x="7986022" y="5319025"/>
            <a:ext cx="630007" cy="360000"/>
            <a:chOff x="971600" y="5445224"/>
            <a:chExt cx="7200800" cy="576064"/>
          </a:xfrm>
        </p:grpSpPr>
        <p:sp>
          <p:nvSpPr>
            <p:cNvPr id="605" name="平行四辺形 6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6" name="平行四辺形 6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7" name="グループ化 606"/>
          <p:cNvGrpSpPr/>
          <p:nvPr/>
        </p:nvGrpSpPr>
        <p:grpSpPr>
          <a:xfrm>
            <a:off x="8526028" y="5319025"/>
            <a:ext cx="630007" cy="360000"/>
            <a:chOff x="971600" y="5445224"/>
            <a:chExt cx="7200800" cy="576064"/>
          </a:xfrm>
        </p:grpSpPr>
        <p:sp>
          <p:nvSpPr>
            <p:cNvPr id="608" name="平行四辺形 6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9" name="平行四辺形 6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10" name="グループ化 609"/>
          <p:cNvGrpSpPr/>
          <p:nvPr/>
        </p:nvGrpSpPr>
        <p:grpSpPr>
          <a:xfrm>
            <a:off x="9066034" y="5319025"/>
            <a:ext cx="630007" cy="360000"/>
            <a:chOff x="971600" y="5445224"/>
            <a:chExt cx="7200800" cy="576064"/>
          </a:xfrm>
        </p:grpSpPr>
        <p:sp>
          <p:nvSpPr>
            <p:cNvPr id="611" name="平行四辺形 6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12" name="平行四辺形 6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613" name="正方形/長方形 612"/>
          <p:cNvSpPr/>
          <p:nvPr/>
        </p:nvSpPr>
        <p:spPr>
          <a:xfrm>
            <a:off x="2855965" y="90897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4" name="角丸四角形吹き出し 613"/>
          <p:cNvSpPr/>
          <p:nvPr/>
        </p:nvSpPr>
        <p:spPr bwMode="auto">
          <a:xfrm>
            <a:off x="3845975" y="638969"/>
            <a:ext cx="2160024" cy="612648"/>
          </a:xfrm>
          <a:prstGeom prst="wedgeRoundRectCallout">
            <a:avLst>
              <a:gd name="adj1" fmla="val -67072"/>
              <a:gd name="adj2" fmla="val 49646"/>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どうしてこうなった</a:t>
            </a:r>
          </a:p>
        </p:txBody>
      </p:sp>
      <p:sp>
        <p:nvSpPr>
          <p:cNvPr id="615" name="正方形/長方形 614"/>
          <p:cNvSpPr/>
          <p:nvPr/>
        </p:nvSpPr>
        <p:spPr>
          <a:xfrm>
            <a:off x="9730010" y="495901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7" name="角丸四角形 616"/>
          <p:cNvSpPr/>
          <p:nvPr/>
        </p:nvSpPr>
        <p:spPr bwMode="auto">
          <a:xfrm>
            <a:off x="9156035" y="5229020"/>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t>
            </a:r>
            <a:endParaRPr lang="ja-JP" altLang="en-US" dirty="0">
              <a:latin typeface="Arial Narrow" panose="020B0606020202030204" pitchFamily="34" charset="0"/>
            </a:endParaRPr>
          </a:p>
        </p:txBody>
      </p:sp>
      <p:sp>
        <p:nvSpPr>
          <p:cNvPr id="618" name="角丸四角形 617"/>
          <p:cNvSpPr/>
          <p:nvPr/>
        </p:nvSpPr>
        <p:spPr bwMode="auto">
          <a:xfrm>
            <a:off x="9156035"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nvGrpSpPr>
          <p:cNvPr id="713" name="グループ化 712"/>
          <p:cNvGrpSpPr/>
          <p:nvPr/>
        </p:nvGrpSpPr>
        <p:grpSpPr>
          <a:xfrm>
            <a:off x="3215969" y="1429904"/>
            <a:ext cx="6390071" cy="4159121"/>
            <a:chOff x="1691968" y="1429903"/>
            <a:chExt cx="6390071" cy="4159121"/>
          </a:xfrm>
        </p:grpSpPr>
        <p:sp>
          <p:nvSpPr>
            <p:cNvPr id="619" name="角丸四角形 618"/>
            <p:cNvSpPr/>
            <p:nvPr/>
          </p:nvSpPr>
          <p:spPr bwMode="auto">
            <a:xfrm>
              <a:off x="7632034"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0" name="角丸四角形 619"/>
            <p:cNvSpPr/>
            <p:nvPr/>
          </p:nvSpPr>
          <p:spPr bwMode="auto">
            <a:xfrm>
              <a:off x="7632034"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1" name="角丸四角形 620"/>
            <p:cNvSpPr/>
            <p:nvPr/>
          </p:nvSpPr>
          <p:spPr bwMode="auto">
            <a:xfrm>
              <a:off x="7632034"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2" name="角丸四角形 621"/>
            <p:cNvSpPr/>
            <p:nvPr/>
          </p:nvSpPr>
          <p:spPr bwMode="auto">
            <a:xfrm>
              <a:off x="7632034"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3" name="角丸四角形 622"/>
            <p:cNvSpPr/>
            <p:nvPr/>
          </p:nvSpPr>
          <p:spPr bwMode="auto">
            <a:xfrm>
              <a:off x="7632034"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4" name="角丸四角形 623"/>
            <p:cNvSpPr/>
            <p:nvPr/>
          </p:nvSpPr>
          <p:spPr bwMode="auto">
            <a:xfrm>
              <a:off x="7632034"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5" name="角丸四角形 624"/>
            <p:cNvSpPr/>
            <p:nvPr/>
          </p:nvSpPr>
          <p:spPr bwMode="auto">
            <a:xfrm>
              <a:off x="7092028"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6" name="角丸四角形 625"/>
            <p:cNvSpPr/>
            <p:nvPr/>
          </p:nvSpPr>
          <p:spPr bwMode="auto">
            <a:xfrm>
              <a:off x="7092028"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7" name="角丸四角形 626"/>
            <p:cNvSpPr/>
            <p:nvPr/>
          </p:nvSpPr>
          <p:spPr bwMode="auto">
            <a:xfrm>
              <a:off x="7092028"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8" name="角丸四角形 627"/>
            <p:cNvSpPr/>
            <p:nvPr/>
          </p:nvSpPr>
          <p:spPr bwMode="auto">
            <a:xfrm>
              <a:off x="7092028"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9" name="角丸四角形 628"/>
            <p:cNvSpPr/>
            <p:nvPr/>
          </p:nvSpPr>
          <p:spPr bwMode="auto">
            <a:xfrm>
              <a:off x="7092028"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0" name="角丸四角形 629"/>
            <p:cNvSpPr/>
            <p:nvPr/>
          </p:nvSpPr>
          <p:spPr bwMode="auto">
            <a:xfrm>
              <a:off x="7092028"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1" name="角丸四角形 630"/>
            <p:cNvSpPr/>
            <p:nvPr/>
          </p:nvSpPr>
          <p:spPr bwMode="auto">
            <a:xfrm>
              <a:off x="7092028"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2" name="角丸四角形 631"/>
            <p:cNvSpPr/>
            <p:nvPr/>
          </p:nvSpPr>
          <p:spPr bwMode="auto">
            <a:xfrm>
              <a:off x="7092028"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3" name="角丸四角形 632"/>
            <p:cNvSpPr/>
            <p:nvPr/>
          </p:nvSpPr>
          <p:spPr bwMode="auto">
            <a:xfrm>
              <a:off x="6552022"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4" name="角丸四角形 633"/>
            <p:cNvSpPr/>
            <p:nvPr/>
          </p:nvSpPr>
          <p:spPr bwMode="auto">
            <a:xfrm>
              <a:off x="6552022"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5" name="角丸四角形 634"/>
            <p:cNvSpPr/>
            <p:nvPr/>
          </p:nvSpPr>
          <p:spPr bwMode="auto">
            <a:xfrm>
              <a:off x="6552022"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6" name="角丸四角形 635"/>
            <p:cNvSpPr/>
            <p:nvPr/>
          </p:nvSpPr>
          <p:spPr bwMode="auto">
            <a:xfrm>
              <a:off x="6552022"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7" name="角丸四角形 636"/>
            <p:cNvSpPr/>
            <p:nvPr/>
          </p:nvSpPr>
          <p:spPr bwMode="auto">
            <a:xfrm>
              <a:off x="6552022"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8" name="角丸四角形 637"/>
            <p:cNvSpPr/>
            <p:nvPr/>
          </p:nvSpPr>
          <p:spPr bwMode="auto">
            <a:xfrm>
              <a:off x="6552022"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9" name="角丸四角形 638"/>
            <p:cNvSpPr/>
            <p:nvPr/>
          </p:nvSpPr>
          <p:spPr bwMode="auto">
            <a:xfrm>
              <a:off x="6552022"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0" name="角丸四角形 639"/>
            <p:cNvSpPr/>
            <p:nvPr/>
          </p:nvSpPr>
          <p:spPr bwMode="auto">
            <a:xfrm>
              <a:off x="6552022"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1" name="角丸四角形 640"/>
            <p:cNvSpPr/>
            <p:nvPr/>
          </p:nvSpPr>
          <p:spPr bwMode="auto">
            <a:xfrm>
              <a:off x="6012016"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2" name="角丸四角形 641"/>
            <p:cNvSpPr/>
            <p:nvPr/>
          </p:nvSpPr>
          <p:spPr bwMode="auto">
            <a:xfrm>
              <a:off x="6012016"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3" name="角丸四角形 642"/>
            <p:cNvSpPr/>
            <p:nvPr/>
          </p:nvSpPr>
          <p:spPr bwMode="auto">
            <a:xfrm>
              <a:off x="6012016"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4" name="角丸四角形 643"/>
            <p:cNvSpPr/>
            <p:nvPr/>
          </p:nvSpPr>
          <p:spPr bwMode="auto">
            <a:xfrm>
              <a:off x="6012016"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5" name="角丸四角形 644"/>
            <p:cNvSpPr/>
            <p:nvPr/>
          </p:nvSpPr>
          <p:spPr bwMode="auto">
            <a:xfrm>
              <a:off x="6012016"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6" name="角丸四角形 645"/>
            <p:cNvSpPr/>
            <p:nvPr/>
          </p:nvSpPr>
          <p:spPr bwMode="auto">
            <a:xfrm>
              <a:off x="6012016"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7" name="角丸四角形 646"/>
            <p:cNvSpPr/>
            <p:nvPr/>
          </p:nvSpPr>
          <p:spPr bwMode="auto">
            <a:xfrm>
              <a:off x="6012016"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8" name="角丸四角形 647"/>
            <p:cNvSpPr/>
            <p:nvPr/>
          </p:nvSpPr>
          <p:spPr bwMode="auto">
            <a:xfrm>
              <a:off x="6012016"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9" name="角丸四角形 648"/>
            <p:cNvSpPr/>
            <p:nvPr/>
          </p:nvSpPr>
          <p:spPr bwMode="auto">
            <a:xfrm>
              <a:off x="5472010"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0" name="角丸四角形 649"/>
            <p:cNvSpPr/>
            <p:nvPr/>
          </p:nvSpPr>
          <p:spPr bwMode="auto">
            <a:xfrm>
              <a:off x="5472010"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1" name="角丸四角形 650"/>
            <p:cNvSpPr/>
            <p:nvPr/>
          </p:nvSpPr>
          <p:spPr bwMode="auto">
            <a:xfrm>
              <a:off x="5472010"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2" name="角丸四角形 651"/>
            <p:cNvSpPr/>
            <p:nvPr/>
          </p:nvSpPr>
          <p:spPr bwMode="auto">
            <a:xfrm>
              <a:off x="5472010"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3" name="角丸四角形 652"/>
            <p:cNvSpPr/>
            <p:nvPr/>
          </p:nvSpPr>
          <p:spPr bwMode="auto">
            <a:xfrm>
              <a:off x="5472010"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4" name="角丸四角形 653"/>
            <p:cNvSpPr/>
            <p:nvPr/>
          </p:nvSpPr>
          <p:spPr bwMode="auto">
            <a:xfrm>
              <a:off x="5472010"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5" name="角丸四角形 654"/>
            <p:cNvSpPr/>
            <p:nvPr/>
          </p:nvSpPr>
          <p:spPr bwMode="auto">
            <a:xfrm>
              <a:off x="5472010"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6" name="角丸四角形 655"/>
            <p:cNvSpPr/>
            <p:nvPr/>
          </p:nvSpPr>
          <p:spPr bwMode="auto">
            <a:xfrm>
              <a:off x="5472010"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7" name="角丸四角形 656"/>
            <p:cNvSpPr/>
            <p:nvPr/>
          </p:nvSpPr>
          <p:spPr bwMode="auto">
            <a:xfrm>
              <a:off x="493200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8" name="角丸四角形 657"/>
            <p:cNvSpPr/>
            <p:nvPr/>
          </p:nvSpPr>
          <p:spPr bwMode="auto">
            <a:xfrm>
              <a:off x="493200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9" name="角丸四角形 658"/>
            <p:cNvSpPr/>
            <p:nvPr/>
          </p:nvSpPr>
          <p:spPr bwMode="auto">
            <a:xfrm>
              <a:off x="493200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0" name="角丸四角形 659"/>
            <p:cNvSpPr/>
            <p:nvPr/>
          </p:nvSpPr>
          <p:spPr bwMode="auto">
            <a:xfrm>
              <a:off x="493200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1" name="角丸四角形 660"/>
            <p:cNvSpPr/>
            <p:nvPr/>
          </p:nvSpPr>
          <p:spPr bwMode="auto">
            <a:xfrm>
              <a:off x="493200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2" name="角丸四角形 661"/>
            <p:cNvSpPr/>
            <p:nvPr/>
          </p:nvSpPr>
          <p:spPr bwMode="auto">
            <a:xfrm>
              <a:off x="493200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3" name="角丸四角形 662"/>
            <p:cNvSpPr/>
            <p:nvPr/>
          </p:nvSpPr>
          <p:spPr bwMode="auto">
            <a:xfrm>
              <a:off x="493200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4" name="角丸四角形 663"/>
            <p:cNvSpPr/>
            <p:nvPr/>
          </p:nvSpPr>
          <p:spPr bwMode="auto">
            <a:xfrm>
              <a:off x="493200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5" name="角丸四角形 664"/>
            <p:cNvSpPr/>
            <p:nvPr/>
          </p:nvSpPr>
          <p:spPr bwMode="auto">
            <a:xfrm>
              <a:off x="439199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6" name="角丸四角形 665"/>
            <p:cNvSpPr/>
            <p:nvPr/>
          </p:nvSpPr>
          <p:spPr bwMode="auto">
            <a:xfrm>
              <a:off x="439199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7" name="角丸四角形 666"/>
            <p:cNvSpPr/>
            <p:nvPr/>
          </p:nvSpPr>
          <p:spPr bwMode="auto">
            <a:xfrm>
              <a:off x="439199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8" name="角丸四角形 667"/>
            <p:cNvSpPr/>
            <p:nvPr/>
          </p:nvSpPr>
          <p:spPr bwMode="auto">
            <a:xfrm>
              <a:off x="439199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9" name="角丸四角形 668"/>
            <p:cNvSpPr/>
            <p:nvPr/>
          </p:nvSpPr>
          <p:spPr bwMode="auto">
            <a:xfrm>
              <a:off x="439199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0" name="角丸四角形 669"/>
            <p:cNvSpPr/>
            <p:nvPr/>
          </p:nvSpPr>
          <p:spPr bwMode="auto">
            <a:xfrm>
              <a:off x="439199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1" name="角丸四角形 670"/>
            <p:cNvSpPr/>
            <p:nvPr/>
          </p:nvSpPr>
          <p:spPr bwMode="auto">
            <a:xfrm>
              <a:off x="439199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2" name="角丸四角形 671"/>
            <p:cNvSpPr/>
            <p:nvPr/>
          </p:nvSpPr>
          <p:spPr bwMode="auto">
            <a:xfrm>
              <a:off x="439199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3" name="角丸四角形 672"/>
            <p:cNvSpPr/>
            <p:nvPr/>
          </p:nvSpPr>
          <p:spPr bwMode="auto">
            <a:xfrm>
              <a:off x="3851992"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4" name="角丸四角形 673"/>
            <p:cNvSpPr/>
            <p:nvPr/>
          </p:nvSpPr>
          <p:spPr bwMode="auto">
            <a:xfrm>
              <a:off x="3851992"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5" name="角丸四角形 674"/>
            <p:cNvSpPr/>
            <p:nvPr/>
          </p:nvSpPr>
          <p:spPr bwMode="auto">
            <a:xfrm>
              <a:off x="3851992"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6" name="角丸四角形 675"/>
            <p:cNvSpPr/>
            <p:nvPr/>
          </p:nvSpPr>
          <p:spPr bwMode="auto">
            <a:xfrm>
              <a:off x="3851992"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7" name="角丸四角形 676"/>
            <p:cNvSpPr/>
            <p:nvPr/>
          </p:nvSpPr>
          <p:spPr bwMode="auto">
            <a:xfrm>
              <a:off x="3851992"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8" name="角丸四角形 677"/>
            <p:cNvSpPr/>
            <p:nvPr/>
          </p:nvSpPr>
          <p:spPr bwMode="auto">
            <a:xfrm>
              <a:off x="3851992"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9" name="角丸四角形 678"/>
            <p:cNvSpPr/>
            <p:nvPr/>
          </p:nvSpPr>
          <p:spPr bwMode="auto">
            <a:xfrm>
              <a:off x="3851992"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0" name="角丸四角形 679"/>
            <p:cNvSpPr/>
            <p:nvPr/>
          </p:nvSpPr>
          <p:spPr bwMode="auto">
            <a:xfrm>
              <a:off x="3851992"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1" name="角丸四角形 680"/>
            <p:cNvSpPr/>
            <p:nvPr/>
          </p:nvSpPr>
          <p:spPr bwMode="auto">
            <a:xfrm>
              <a:off x="3311986"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2" name="角丸四角形 681"/>
            <p:cNvSpPr/>
            <p:nvPr/>
          </p:nvSpPr>
          <p:spPr bwMode="auto">
            <a:xfrm>
              <a:off x="3311986"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3" name="角丸四角形 682"/>
            <p:cNvSpPr/>
            <p:nvPr/>
          </p:nvSpPr>
          <p:spPr bwMode="auto">
            <a:xfrm>
              <a:off x="3311986"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4" name="角丸四角形 683"/>
            <p:cNvSpPr/>
            <p:nvPr/>
          </p:nvSpPr>
          <p:spPr bwMode="auto">
            <a:xfrm>
              <a:off x="3311986"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5" name="角丸四角形 684"/>
            <p:cNvSpPr/>
            <p:nvPr/>
          </p:nvSpPr>
          <p:spPr bwMode="auto">
            <a:xfrm>
              <a:off x="3311986"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6" name="角丸四角形 685"/>
            <p:cNvSpPr/>
            <p:nvPr/>
          </p:nvSpPr>
          <p:spPr bwMode="auto">
            <a:xfrm>
              <a:off x="3311986"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7" name="角丸四角形 686"/>
            <p:cNvSpPr/>
            <p:nvPr/>
          </p:nvSpPr>
          <p:spPr bwMode="auto">
            <a:xfrm>
              <a:off x="3311986"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8" name="角丸四角形 687"/>
            <p:cNvSpPr/>
            <p:nvPr/>
          </p:nvSpPr>
          <p:spPr bwMode="auto">
            <a:xfrm>
              <a:off x="3311986"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9" name="角丸四角形 688"/>
            <p:cNvSpPr/>
            <p:nvPr/>
          </p:nvSpPr>
          <p:spPr bwMode="auto">
            <a:xfrm>
              <a:off x="2771980"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0" name="角丸四角形 689"/>
            <p:cNvSpPr/>
            <p:nvPr/>
          </p:nvSpPr>
          <p:spPr bwMode="auto">
            <a:xfrm>
              <a:off x="2771980"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1" name="角丸四角形 690"/>
            <p:cNvSpPr/>
            <p:nvPr/>
          </p:nvSpPr>
          <p:spPr bwMode="auto">
            <a:xfrm>
              <a:off x="2771980"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2" name="角丸四角形 691"/>
            <p:cNvSpPr/>
            <p:nvPr/>
          </p:nvSpPr>
          <p:spPr bwMode="auto">
            <a:xfrm>
              <a:off x="2771980"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3" name="角丸四角形 692"/>
            <p:cNvSpPr/>
            <p:nvPr/>
          </p:nvSpPr>
          <p:spPr bwMode="auto">
            <a:xfrm>
              <a:off x="2771980"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4" name="角丸四角形 693"/>
            <p:cNvSpPr/>
            <p:nvPr/>
          </p:nvSpPr>
          <p:spPr bwMode="auto">
            <a:xfrm>
              <a:off x="2771980"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5" name="角丸四角形 694"/>
            <p:cNvSpPr/>
            <p:nvPr/>
          </p:nvSpPr>
          <p:spPr bwMode="auto">
            <a:xfrm>
              <a:off x="2771980"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6" name="角丸四角形 695"/>
            <p:cNvSpPr/>
            <p:nvPr/>
          </p:nvSpPr>
          <p:spPr bwMode="auto">
            <a:xfrm>
              <a:off x="2771980"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7" name="角丸四角形 696"/>
            <p:cNvSpPr/>
            <p:nvPr/>
          </p:nvSpPr>
          <p:spPr bwMode="auto">
            <a:xfrm>
              <a:off x="223197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8" name="角丸四角形 697"/>
            <p:cNvSpPr/>
            <p:nvPr/>
          </p:nvSpPr>
          <p:spPr bwMode="auto">
            <a:xfrm>
              <a:off x="223197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9" name="角丸四角形 698"/>
            <p:cNvSpPr/>
            <p:nvPr/>
          </p:nvSpPr>
          <p:spPr bwMode="auto">
            <a:xfrm>
              <a:off x="223197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0" name="角丸四角形 699"/>
            <p:cNvSpPr/>
            <p:nvPr/>
          </p:nvSpPr>
          <p:spPr bwMode="auto">
            <a:xfrm>
              <a:off x="223197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1" name="角丸四角形 700"/>
            <p:cNvSpPr/>
            <p:nvPr/>
          </p:nvSpPr>
          <p:spPr bwMode="auto">
            <a:xfrm>
              <a:off x="223197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2" name="角丸四角形 701"/>
            <p:cNvSpPr/>
            <p:nvPr/>
          </p:nvSpPr>
          <p:spPr bwMode="auto">
            <a:xfrm>
              <a:off x="223197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3" name="角丸四角形 702"/>
            <p:cNvSpPr/>
            <p:nvPr/>
          </p:nvSpPr>
          <p:spPr bwMode="auto">
            <a:xfrm>
              <a:off x="223197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4" name="角丸四角形 703"/>
            <p:cNvSpPr/>
            <p:nvPr/>
          </p:nvSpPr>
          <p:spPr bwMode="auto">
            <a:xfrm>
              <a:off x="223197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5" name="角丸四角形 704"/>
            <p:cNvSpPr/>
            <p:nvPr/>
          </p:nvSpPr>
          <p:spPr bwMode="auto">
            <a:xfrm>
              <a:off x="169196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6" name="角丸四角形 705"/>
            <p:cNvSpPr/>
            <p:nvPr/>
          </p:nvSpPr>
          <p:spPr bwMode="auto">
            <a:xfrm>
              <a:off x="169196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7" name="角丸四角形 706"/>
            <p:cNvSpPr/>
            <p:nvPr/>
          </p:nvSpPr>
          <p:spPr bwMode="auto">
            <a:xfrm>
              <a:off x="169196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8" name="角丸四角形 707"/>
            <p:cNvSpPr/>
            <p:nvPr/>
          </p:nvSpPr>
          <p:spPr bwMode="auto">
            <a:xfrm>
              <a:off x="169196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9" name="角丸四角形 708"/>
            <p:cNvSpPr/>
            <p:nvPr/>
          </p:nvSpPr>
          <p:spPr bwMode="auto">
            <a:xfrm>
              <a:off x="169196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0" name="角丸四角形 709"/>
            <p:cNvSpPr/>
            <p:nvPr/>
          </p:nvSpPr>
          <p:spPr bwMode="auto">
            <a:xfrm>
              <a:off x="169196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1" name="角丸四角形 710"/>
            <p:cNvSpPr/>
            <p:nvPr/>
          </p:nvSpPr>
          <p:spPr bwMode="auto">
            <a:xfrm>
              <a:off x="169196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2" name="角丸四角形 711"/>
            <p:cNvSpPr/>
            <p:nvPr/>
          </p:nvSpPr>
          <p:spPr bwMode="auto">
            <a:xfrm>
              <a:off x="169196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sp>
        <p:nvSpPr>
          <p:cNvPr id="616" name="角丸四角形吹き出し 615"/>
          <p:cNvSpPr/>
          <p:nvPr/>
        </p:nvSpPr>
        <p:spPr bwMode="auto">
          <a:xfrm>
            <a:off x="7626018" y="4329010"/>
            <a:ext cx="2430027" cy="612648"/>
          </a:xfrm>
          <a:prstGeom prst="wedgeRoundRectCallout">
            <a:avLst>
              <a:gd name="adj1" fmla="val 39915"/>
              <a:gd name="adj2" fmla="val 10039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65000"/>
                    <a:lumOff val="35000"/>
                  </a:schemeClr>
                </a:solidFill>
                <a:latin typeface="Arial Narrow" panose="020B0606020202030204" pitchFamily="34" charset="0"/>
              </a:rPr>
              <a:t>やってしまいましたなぁ</a:t>
            </a:r>
          </a:p>
        </p:txBody>
      </p:sp>
    </p:spTree>
    <p:extLst>
      <p:ext uri="{BB962C8B-B14F-4D97-AF65-F5344CB8AC3E}">
        <p14:creationId xmlns:p14="http://schemas.microsoft.com/office/powerpoint/2010/main" val="36131817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nodeType="clickEffect">
                                  <p:stCondLst>
                                    <p:cond delay="0"/>
                                  </p:stCondLst>
                                  <p:childTnLst>
                                    <p:animEffect transition="out" filter="fade">
                                      <p:cBhvr>
                                        <p:cTn id="6" dur="1000"/>
                                        <p:tgtEl>
                                          <p:spTgt spid="713"/>
                                        </p:tgtEl>
                                      </p:cBhvr>
                                    </p:animEffect>
                                    <p:anim calcmode="lin" valueType="num">
                                      <p:cBhvr>
                                        <p:cTn id="7" dur="1000"/>
                                        <p:tgtEl>
                                          <p:spTgt spid="713"/>
                                        </p:tgtEl>
                                        <p:attrNameLst>
                                          <p:attrName>ppt_x</p:attrName>
                                        </p:attrNameLst>
                                      </p:cBhvr>
                                      <p:tavLst>
                                        <p:tav tm="0">
                                          <p:val>
                                            <p:strVal val="ppt_x"/>
                                          </p:val>
                                        </p:tav>
                                        <p:tav tm="100000">
                                          <p:val>
                                            <p:strVal val="ppt_x"/>
                                          </p:val>
                                        </p:tav>
                                      </p:tavLst>
                                    </p:anim>
                                    <p:anim calcmode="lin" valueType="num">
                                      <p:cBhvr>
                                        <p:cTn id="8" dur="1000"/>
                                        <p:tgtEl>
                                          <p:spTgt spid="713"/>
                                        </p:tgtEl>
                                        <p:attrNameLst>
                                          <p:attrName>ppt_y</p:attrName>
                                        </p:attrNameLst>
                                      </p:cBhvr>
                                      <p:tavLst>
                                        <p:tav tm="0">
                                          <p:val>
                                            <p:strVal val="ppt_y"/>
                                          </p:val>
                                        </p:tav>
                                        <p:tav tm="100000">
                                          <p:val>
                                            <p:strVal val="ppt_y+.1"/>
                                          </p:val>
                                        </p:tav>
                                      </p:tavLst>
                                    </p:anim>
                                    <p:set>
                                      <p:cBhvr>
                                        <p:cTn id="9" dur="1" fill="hold">
                                          <p:stCondLst>
                                            <p:cond delay="999"/>
                                          </p:stCondLst>
                                        </p:cTn>
                                        <p:tgtEl>
                                          <p:spTgt spid="7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F6C3DF1-F9EC-B285-2E83-D56AE7F0639E}"/>
              </a:ext>
            </a:extLst>
          </p:cNvPr>
          <p:cNvSpPr>
            <a:spLocks noGrp="1"/>
          </p:cNvSpPr>
          <p:nvPr>
            <p:ph type="title"/>
          </p:nvPr>
        </p:nvSpPr>
        <p:spPr/>
        <p:txBody>
          <a:bodyPr/>
          <a:lstStyle/>
          <a:p>
            <a:r>
              <a:rPr kumimoji="1" lang="ja-JP" altLang="en-US" b="1" dirty="0"/>
              <a:t>命令パイプラインと性能</a:t>
            </a:r>
            <a:endParaRPr kumimoji="1" lang="en-US" altLang="ja-JP" b="1" dirty="0"/>
          </a:p>
        </p:txBody>
      </p:sp>
    </p:spTree>
    <p:extLst>
      <p:ext uri="{BB962C8B-B14F-4D97-AF65-F5344CB8AC3E}">
        <p14:creationId xmlns:p14="http://schemas.microsoft.com/office/powerpoint/2010/main" val="26506335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非構造ハザード</a:t>
            </a:r>
            <a:endParaRPr lang="en-US" altLang="ja-JP" dirty="0"/>
          </a:p>
          <a:p>
            <a:pPr marL="457200" indent="-457200">
              <a:buFont typeface="+mj-lt"/>
              <a:buAutoNum type="arabicPeriod"/>
            </a:pPr>
            <a:r>
              <a:rPr kumimoji="1" lang="ja-JP" altLang="en-US" b="1" dirty="0"/>
              <a:t>命令パイプラインと性能</a:t>
            </a:r>
            <a:endParaRPr kumimoji="1" lang="en-US" altLang="ja-JP" b="1" dirty="0"/>
          </a:p>
          <a:p>
            <a:pPr marL="457200" indent="-457200">
              <a:buFont typeface="+mj-lt"/>
              <a:buAutoNum type="arabicPeriod"/>
            </a:pPr>
            <a:r>
              <a:rPr kumimoji="1" lang="ja-JP" altLang="en-US" dirty="0"/>
              <a:t>分岐予測（前編）</a:t>
            </a:r>
            <a:endParaRPr kumimoji="1" lang="en-US" altLang="ja-JP" dirty="0"/>
          </a:p>
        </p:txBody>
      </p:sp>
    </p:spTree>
    <p:extLst>
      <p:ext uri="{BB962C8B-B14F-4D97-AF65-F5344CB8AC3E}">
        <p14:creationId xmlns:p14="http://schemas.microsoft.com/office/powerpoint/2010/main" val="13556344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7" name="直線コネクタ 126"/>
          <p:cNvCxnSpPr/>
          <p:nvPr/>
        </p:nvCxnSpPr>
        <p:spPr bwMode="auto">
          <a:xfrm>
            <a:off x="2045955" y="216898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パイプライン化によるスループット向上</a:t>
            </a:r>
            <a:endParaRPr kumimoji="1" lang="ja-JP" altLang="en-US" dirty="0"/>
          </a:p>
        </p:txBody>
      </p:sp>
      <p:cxnSp>
        <p:nvCxnSpPr>
          <p:cNvPr id="96" name="直線矢印コネクタ 95"/>
          <p:cNvCxnSpPr/>
          <p:nvPr/>
        </p:nvCxnSpPr>
        <p:spPr bwMode="auto">
          <a:xfrm>
            <a:off x="2225958" y="1628980"/>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2135957" y="4599013"/>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2135957"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2027963" y="4166749"/>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671471" y="202482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2045956"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671471" y="2744834"/>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2045956" y="3519001"/>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671471" y="3374841"/>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2060435" y="4923175"/>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85951" y="4779015"/>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85951" y="5499023"/>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85951" y="612903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2135956" y="5679025"/>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2118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3" name="グループ化 12"/>
          <p:cNvGrpSpPr/>
          <p:nvPr/>
        </p:nvGrpSpPr>
        <p:grpSpPr>
          <a:xfrm>
            <a:off x="2765963" y="4779015"/>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49" name="グループ化 148"/>
          <p:cNvGrpSpPr/>
          <p:nvPr/>
        </p:nvGrpSpPr>
        <p:grpSpPr>
          <a:xfrm>
            <a:off x="3215968" y="5499027"/>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56" name="グループ化 155"/>
          <p:cNvGrpSpPr/>
          <p:nvPr/>
        </p:nvGrpSpPr>
        <p:grpSpPr>
          <a:xfrm>
            <a:off x="3665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62" name="グループ化 161"/>
          <p:cNvGrpSpPr/>
          <p:nvPr/>
        </p:nvGrpSpPr>
        <p:grpSpPr>
          <a:xfrm>
            <a:off x="2765963" y="1988984"/>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68" name="グループ化 167"/>
          <p:cNvGrpSpPr/>
          <p:nvPr/>
        </p:nvGrpSpPr>
        <p:grpSpPr>
          <a:xfrm>
            <a:off x="5015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219" name="グループ化 218"/>
          <p:cNvGrpSpPr/>
          <p:nvPr/>
        </p:nvGrpSpPr>
        <p:grpSpPr>
          <a:xfrm>
            <a:off x="7266013" y="3338999"/>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spTree>
    <p:extLst>
      <p:ext uri="{BB962C8B-B14F-4D97-AF65-F5344CB8AC3E}">
        <p14:creationId xmlns:p14="http://schemas.microsoft.com/office/powerpoint/2010/main" val="1668365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パイプライン化の意味</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パイプライン化の効果：</a:t>
            </a:r>
            <a:endParaRPr lang="en-US" altLang="ja-JP" dirty="0"/>
          </a:p>
          <a:p>
            <a:pPr lvl="1"/>
            <a:r>
              <a:rPr kumimoji="1" lang="ja-JP" altLang="en-US" dirty="0"/>
              <a:t>スループットの向上</a:t>
            </a:r>
            <a:endParaRPr kumimoji="1" lang="en-US" altLang="ja-JP" dirty="0"/>
          </a:p>
          <a:p>
            <a:pPr lvl="1"/>
            <a:r>
              <a:rPr kumimoji="1" lang="en-US" altLang="ja-JP" dirty="0"/>
              <a:t>= </a:t>
            </a:r>
            <a:r>
              <a:rPr kumimoji="1" lang="ja-JP" altLang="en-US" dirty="0"/>
              <a:t>単位時間あたりに処理できる命令の数の増加</a:t>
            </a:r>
            <a:endParaRPr kumimoji="1" lang="en-US" altLang="ja-JP" dirty="0"/>
          </a:p>
          <a:p>
            <a:pPr lvl="1"/>
            <a:r>
              <a:rPr kumimoji="1" lang="en-US" altLang="ja-JP" dirty="0"/>
              <a:t>= </a:t>
            </a:r>
            <a:r>
              <a:rPr kumimoji="1" lang="ja-JP" altLang="en-US" dirty="0">
                <a:solidFill>
                  <a:schemeClr val="accent5"/>
                </a:solidFill>
              </a:rPr>
              <a:t>動作クロック周波数の向上</a:t>
            </a:r>
            <a:endParaRPr kumimoji="1" lang="en-US" altLang="ja-JP" dirty="0">
              <a:solidFill>
                <a:schemeClr val="accent5"/>
              </a:solidFill>
            </a:endParaRPr>
          </a:p>
        </p:txBody>
      </p:sp>
    </p:spTree>
    <p:extLst>
      <p:ext uri="{BB962C8B-B14F-4D97-AF65-F5344CB8AC3E}">
        <p14:creationId xmlns:p14="http://schemas.microsoft.com/office/powerpoint/2010/main" val="29264407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2" name="直線コネクタ 181"/>
          <p:cNvCxnSpPr/>
          <p:nvPr/>
        </p:nvCxnSpPr>
        <p:spPr bwMode="auto">
          <a:xfrm flipV="1">
            <a:off x="3665973"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21" name="直線コネクタ 20"/>
          <p:cNvCxnSpPr/>
          <p:nvPr/>
        </p:nvCxnSpPr>
        <p:spPr bwMode="auto">
          <a:xfrm flipV="1">
            <a:off x="2765963" y="1358978"/>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78" name="直線コネクタ 177"/>
          <p:cNvCxnSpPr/>
          <p:nvPr/>
        </p:nvCxnSpPr>
        <p:spPr bwMode="auto">
          <a:xfrm flipH="1" flipV="1">
            <a:off x="5015989" y="1358978"/>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79" name="直線コネクタ 178"/>
          <p:cNvCxnSpPr/>
          <p:nvPr/>
        </p:nvCxnSpPr>
        <p:spPr bwMode="auto">
          <a:xfrm flipV="1">
            <a:off x="7266013" y="1358978"/>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0" name="直線コネクタ 179"/>
          <p:cNvCxnSpPr/>
          <p:nvPr/>
        </p:nvCxnSpPr>
        <p:spPr bwMode="auto">
          <a:xfrm flipV="1">
            <a:off x="2765963"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1" name="直線コネクタ 180"/>
          <p:cNvCxnSpPr/>
          <p:nvPr/>
        </p:nvCxnSpPr>
        <p:spPr bwMode="auto">
          <a:xfrm flipH="1" flipV="1">
            <a:off x="3215969" y="4239010"/>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27" name="直線コネクタ 126"/>
          <p:cNvCxnSpPr/>
          <p:nvPr/>
        </p:nvCxnSpPr>
        <p:spPr bwMode="auto">
          <a:xfrm>
            <a:off x="2045955" y="2403147"/>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パイプライン化によるクロック周期の短縮</a:t>
            </a:r>
            <a:br>
              <a:rPr lang="en-US" altLang="ja-JP" dirty="0"/>
            </a:br>
            <a:r>
              <a:rPr lang="ja-JP" altLang="en-US" sz="2000" dirty="0"/>
              <a:t>クロックの立ち上がりごとに，１命令が処理</a:t>
            </a:r>
            <a:endParaRPr kumimoji="1" lang="ja-JP" altLang="en-US" dirty="0"/>
          </a:p>
        </p:txBody>
      </p:sp>
      <p:cxnSp>
        <p:nvCxnSpPr>
          <p:cNvPr id="96" name="直線矢印コネクタ 95"/>
          <p:cNvCxnSpPr/>
          <p:nvPr/>
        </p:nvCxnSpPr>
        <p:spPr bwMode="auto">
          <a:xfrm>
            <a:off x="2135957" y="1268976"/>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2135957" y="4149008"/>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2045956" y="908972"/>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2027963" y="3716744"/>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671471" y="2258987"/>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2045956"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671471" y="2744834"/>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2045956" y="3338999"/>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671471" y="3194839"/>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2060435" y="5373180"/>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85951" y="522902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85951" y="5679025"/>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85951" y="612903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2135956" y="5859027"/>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2118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62" name="グループ化 161"/>
          <p:cNvGrpSpPr/>
          <p:nvPr/>
        </p:nvGrpSpPr>
        <p:grpSpPr>
          <a:xfrm>
            <a:off x="2765963" y="2223145"/>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68" name="グループ化 167"/>
          <p:cNvGrpSpPr/>
          <p:nvPr/>
        </p:nvGrpSpPr>
        <p:grpSpPr>
          <a:xfrm>
            <a:off x="5015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219" name="グループ化 218"/>
          <p:cNvGrpSpPr/>
          <p:nvPr/>
        </p:nvGrpSpPr>
        <p:grpSpPr>
          <a:xfrm>
            <a:off x="7266013" y="3158997"/>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cxnSp>
        <p:nvCxnSpPr>
          <p:cNvPr id="78" name="直線コネクタ 77"/>
          <p:cNvCxnSpPr/>
          <p:nvPr/>
        </p:nvCxnSpPr>
        <p:spPr bwMode="auto">
          <a:xfrm flipV="1">
            <a:off x="2765963"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79" name="直線コネクタ 78"/>
          <p:cNvCxnSpPr/>
          <p:nvPr/>
        </p:nvCxnSpPr>
        <p:spPr bwMode="auto">
          <a:xfrm flipH="1">
            <a:off x="2765965"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0" name="直線コネクタ 79"/>
          <p:cNvCxnSpPr/>
          <p:nvPr/>
        </p:nvCxnSpPr>
        <p:spPr bwMode="auto">
          <a:xfrm flipV="1">
            <a:off x="3845975"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1" name="直線コネクタ 80"/>
          <p:cNvCxnSpPr/>
          <p:nvPr/>
        </p:nvCxnSpPr>
        <p:spPr bwMode="auto">
          <a:xfrm flipH="1">
            <a:off x="3845976"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2" name="直線コネクタ 81"/>
          <p:cNvCxnSpPr/>
          <p:nvPr/>
        </p:nvCxnSpPr>
        <p:spPr bwMode="auto">
          <a:xfrm flipV="1">
            <a:off x="5015988"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3" name="直線コネクタ 82"/>
          <p:cNvCxnSpPr/>
          <p:nvPr/>
        </p:nvCxnSpPr>
        <p:spPr bwMode="auto">
          <a:xfrm flipH="1">
            <a:off x="5015990"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4" name="直線コネクタ 83"/>
          <p:cNvCxnSpPr/>
          <p:nvPr/>
        </p:nvCxnSpPr>
        <p:spPr bwMode="auto">
          <a:xfrm flipV="1">
            <a:off x="6096000"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5" name="直線コネクタ 84"/>
          <p:cNvCxnSpPr/>
          <p:nvPr/>
        </p:nvCxnSpPr>
        <p:spPr bwMode="auto">
          <a:xfrm flipH="1">
            <a:off x="6096001"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6" name="直線コネクタ 85"/>
          <p:cNvCxnSpPr/>
          <p:nvPr/>
        </p:nvCxnSpPr>
        <p:spPr bwMode="auto">
          <a:xfrm flipV="1">
            <a:off x="7266013"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7" name="直線コネクタ 86"/>
          <p:cNvCxnSpPr/>
          <p:nvPr/>
        </p:nvCxnSpPr>
        <p:spPr bwMode="auto">
          <a:xfrm flipH="1">
            <a:off x="7266015"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8" name="直線コネクタ 87"/>
          <p:cNvCxnSpPr/>
          <p:nvPr/>
        </p:nvCxnSpPr>
        <p:spPr bwMode="auto">
          <a:xfrm flipV="1">
            <a:off x="8346025"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9" name="直線コネクタ 88"/>
          <p:cNvCxnSpPr/>
          <p:nvPr/>
        </p:nvCxnSpPr>
        <p:spPr bwMode="auto">
          <a:xfrm flipH="1">
            <a:off x="8346026"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0" name="直線コネクタ 89"/>
          <p:cNvCxnSpPr/>
          <p:nvPr/>
        </p:nvCxnSpPr>
        <p:spPr bwMode="auto">
          <a:xfrm flipV="1">
            <a:off x="9516038"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1" name="直線コネクタ 90"/>
          <p:cNvCxnSpPr/>
          <p:nvPr/>
        </p:nvCxnSpPr>
        <p:spPr bwMode="auto">
          <a:xfrm flipV="1">
            <a:off x="276596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2" name="直線コネクタ 91"/>
          <p:cNvCxnSpPr/>
          <p:nvPr/>
        </p:nvCxnSpPr>
        <p:spPr bwMode="auto">
          <a:xfrm flipH="1">
            <a:off x="2765966"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4" name="直線コネクタ 93"/>
          <p:cNvCxnSpPr/>
          <p:nvPr/>
        </p:nvCxnSpPr>
        <p:spPr bwMode="auto">
          <a:xfrm flipH="1" flipV="1">
            <a:off x="2991001"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7" name="直線コネクタ 96"/>
          <p:cNvCxnSpPr/>
          <p:nvPr/>
        </p:nvCxnSpPr>
        <p:spPr bwMode="auto">
          <a:xfrm flipV="1">
            <a:off x="299100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8" name="直線コネクタ 107"/>
          <p:cNvCxnSpPr/>
          <p:nvPr/>
        </p:nvCxnSpPr>
        <p:spPr bwMode="auto">
          <a:xfrm flipV="1">
            <a:off x="321596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9" name="直線コネクタ 108"/>
          <p:cNvCxnSpPr/>
          <p:nvPr/>
        </p:nvCxnSpPr>
        <p:spPr bwMode="auto">
          <a:xfrm flipH="1">
            <a:off x="3215971"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0" name="直線コネクタ 109"/>
          <p:cNvCxnSpPr/>
          <p:nvPr/>
        </p:nvCxnSpPr>
        <p:spPr bwMode="auto">
          <a:xfrm flipH="1" flipV="1">
            <a:off x="3441006"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1" name="直線コネクタ 110"/>
          <p:cNvCxnSpPr/>
          <p:nvPr/>
        </p:nvCxnSpPr>
        <p:spPr bwMode="auto">
          <a:xfrm flipV="1">
            <a:off x="344100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2" name="直線コネクタ 111"/>
          <p:cNvCxnSpPr/>
          <p:nvPr/>
        </p:nvCxnSpPr>
        <p:spPr bwMode="auto">
          <a:xfrm flipV="1">
            <a:off x="366597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3" name="直線コネクタ 112"/>
          <p:cNvCxnSpPr/>
          <p:nvPr/>
        </p:nvCxnSpPr>
        <p:spPr bwMode="auto">
          <a:xfrm flipH="1">
            <a:off x="3665976"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4" name="直線コネクタ 113"/>
          <p:cNvCxnSpPr/>
          <p:nvPr/>
        </p:nvCxnSpPr>
        <p:spPr bwMode="auto">
          <a:xfrm flipH="1" flipV="1">
            <a:off x="3891011"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5" name="直線コネクタ 114"/>
          <p:cNvCxnSpPr/>
          <p:nvPr/>
        </p:nvCxnSpPr>
        <p:spPr bwMode="auto">
          <a:xfrm flipV="1">
            <a:off x="389101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6" name="直線コネクタ 115"/>
          <p:cNvCxnSpPr/>
          <p:nvPr/>
        </p:nvCxnSpPr>
        <p:spPr bwMode="auto">
          <a:xfrm flipV="1">
            <a:off x="411597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7" name="直線コネクタ 116"/>
          <p:cNvCxnSpPr/>
          <p:nvPr/>
        </p:nvCxnSpPr>
        <p:spPr bwMode="auto">
          <a:xfrm flipH="1">
            <a:off x="4115981"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8" name="直線コネクタ 117"/>
          <p:cNvCxnSpPr/>
          <p:nvPr/>
        </p:nvCxnSpPr>
        <p:spPr bwMode="auto">
          <a:xfrm flipH="1" flipV="1">
            <a:off x="4341016"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9" name="直線コネクタ 118"/>
          <p:cNvCxnSpPr/>
          <p:nvPr/>
        </p:nvCxnSpPr>
        <p:spPr bwMode="auto">
          <a:xfrm flipV="1">
            <a:off x="434101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0" name="直線コネクタ 119"/>
          <p:cNvCxnSpPr/>
          <p:nvPr/>
        </p:nvCxnSpPr>
        <p:spPr bwMode="auto">
          <a:xfrm flipV="1">
            <a:off x="456598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1" name="直線コネクタ 120"/>
          <p:cNvCxnSpPr/>
          <p:nvPr/>
        </p:nvCxnSpPr>
        <p:spPr bwMode="auto">
          <a:xfrm flipH="1">
            <a:off x="4565986"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2" name="直線コネクタ 121"/>
          <p:cNvCxnSpPr/>
          <p:nvPr/>
        </p:nvCxnSpPr>
        <p:spPr bwMode="auto">
          <a:xfrm flipH="1" flipV="1">
            <a:off x="4791021"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3" name="直線コネクタ 122"/>
          <p:cNvCxnSpPr/>
          <p:nvPr/>
        </p:nvCxnSpPr>
        <p:spPr bwMode="auto">
          <a:xfrm flipV="1">
            <a:off x="479102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4" name="直線コネクタ 123"/>
          <p:cNvCxnSpPr/>
          <p:nvPr/>
        </p:nvCxnSpPr>
        <p:spPr bwMode="auto">
          <a:xfrm flipV="1">
            <a:off x="501598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5" name="直線コネクタ 124"/>
          <p:cNvCxnSpPr/>
          <p:nvPr/>
        </p:nvCxnSpPr>
        <p:spPr bwMode="auto">
          <a:xfrm flipH="1">
            <a:off x="5015991"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6" name="直線コネクタ 125"/>
          <p:cNvCxnSpPr/>
          <p:nvPr/>
        </p:nvCxnSpPr>
        <p:spPr bwMode="auto">
          <a:xfrm flipH="1" flipV="1">
            <a:off x="5241026"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9" name="直線コネクタ 128"/>
          <p:cNvCxnSpPr/>
          <p:nvPr/>
        </p:nvCxnSpPr>
        <p:spPr bwMode="auto">
          <a:xfrm flipV="1">
            <a:off x="524102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30" name="直線コネクタ 129"/>
          <p:cNvCxnSpPr/>
          <p:nvPr/>
        </p:nvCxnSpPr>
        <p:spPr bwMode="auto">
          <a:xfrm flipV="1">
            <a:off x="546599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31" name="直線コネクタ 130"/>
          <p:cNvCxnSpPr/>
          <p:nvPr/>
        </p:nvCxnSpPr>
        <p:spPr bwMode="auto">
          <a:xfrm flipH="1">
            <a:off x="5465996"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2" name="直線コネクタ 171"/>
          <p:cNvCxnSpPr/>
          <p:nvPr/>
        </p:nvCxnSpPr>
        <p:spPr bwMode="auto">
          <a:xfrm flipH="1" flipV="1">
            <a:off x="5691031"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3" name="直線コネクタ 172"/>
          <p:cNvCxnSpPr/>
          <p:nvPr/>
        </p:nvCxnSpPr>
        <p:spPr bwMode="auto">
          <a:xfrm flipV="1">
            <a:off x="569103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4" name="直線コネクタ 173"/>
          <p:cNvCxnSpPr/>
          <p:nvPr/>
        </p:nvCxnSpPr>
        <p:spPr bwMode="auto">
          <a:xfrm flipV="1">
            <a:off x="591599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5" name="直線コネクタ 174"/>
          <p:cNvCxnSpPr/>
          <p:nvPr/>
        </p:nvCxnSpPr>
        <p:spPr bwMode="auto">
          <a:xfrm flipH="1">
            <a:off x="5916001" y="4419001"/>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6" name="直線コネクタ 175"/>
          <p:cNvCxnSpPr/>
          <p:nvPr/>
        </p:nvCxnSpPr>
        <p:spPr bwMode="auto">
          <a:xfrm flipH="1" flipV="1">
            <a:off x="6141036" y="4959001"/>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7" name="直線コネクタ 176"/>
          <p:cNvCxnSpPr/>
          <p:nvPr/>
        </p:nvCxnSpPr>
        <p:spPr bwMode="auto">
          <a:xfrm flipV="1">
            <a:off x="614103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83" name="直線コネクタ 182"/>
          <p:cNvCxnSpPr/>
          <p:nvPr/>
        </p:nvCxnSpPr>
        <p:spPr bwMode="auto">
          <a:xfrm flipV="1">
            <a:off x="5015988"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4" name="直線コネクタ 183"/>
          <p:cNvCxnSpPr/>
          <p:nvPr/>
        </p:nvCxnSpPr>
        <p:spPr bwMode="auto">
          <a:xfrm flipV="1">
            <a:off x="4115978"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5" name="直線コネクタ 184"/>
          <p:cNvCxnSpPr/>
          <p:nvPr/>
        </p:nvCxnSpPr>
        <p:spPr bwMode="auto">
          <a:xfrm flipH="1" flipV="1">
            <a:off x="4565984" y="4239010"/>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86" name="直線コネクタ 185"/>
          <p:cNvCxnSpPr/>
          <p:nvPr/>
        </p:nvCxnSpPr>
        <p:spPr bwMode="auto">
          <a:xfrm flipV="1">
            <a:off x="6366003"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7" name="直線コネクタ 186"/>
          <p:cNvCxnSpPr/>
          <p:nvPr/>
        </p:nvCxnSpPr>
        <p:spPr bwMode="auto">
          <a:xfrm flipV="1">
            <a:off x="5465993" y="4239010"/>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8" name="直線コネクタ 187"/>
          <p:cNvCxnSpPr/>
          <p:nvPr/>
        </p:nvCxnSpPr>
        <p:spPr bwMode="auto">
          <a:xfrm flipH="1" flipV="1">
            <a:off x="5915999" y="4239010"/>
            <a:ext cx="3771" cy="2250071"/>
          </a:xfrm>
          <a:prstGeom prst="line">
            <a:avLst/>
          </a:prstGeom>
          <a:noFill/>
          <a:ln w="9525" cap="flat" cmpd="sng" algn="ctr">
            <a:solidFill>
              <a:schemeClr val="tx1"/>
            </a:solidFill>
            <a:prstDash val="solid"/>
            <a:round/>
            <a:headEnd type="none" w="med" len="med"/>
            <a:tailEnd type="none" w="med" len="med"/>
          </a:ln>
          <a:effectLst/>
        </p:spPr>
      </p:cxnSp>
      <p:grpSp>
        <p:nvGrpSpPr>
          <p:cNvPr id="13" name="グループ化 12"/>
          <p:cNvGrpSpPr/>
          <p:nvPr/>
        </p:nvGrpSpPr>
        <p:grpSpPr>
          <a:xfrm>
            <a:off x="2765963" y="5229020"/>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49" name="グループ化 148"/>
          <p:cNvGrpSpPr/>
          <p:nvPr/>
        </p:nvGrpSpPr>
        <p:grpSpPr>
          <a:xfrm>
            <a:off x="3215968" y="5679029"/>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56" name="グループ化 155"/>
          <p:cNvGrpSpPr/>
          <p:nvPr/>
        </p:nvGrpSpPr>
        <p:grpSpPr>
          <a:xfrm>
            <a:off x="3665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spTree>
    <p:extLst>
      <p:ext uri="{BB962C8B-B14F-4D97-AF65-F5344CB8AC3E}">
        <p14:creationId xmlns:p14="http://schemas.microsoft.com/office/powerpoint/2010/main" val="28870227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グループ化 8"/>
          <p:cNvGrpSpPr/>
          <p:nvPr/>
        </p:nvGrpSpPr>
        <p:grpSpPr>
          <a:xfrm>
            <a:off x="4655984" y="2168986"/>
            <a:ext cx="2700030" cy="990011"/>
            <a:chOff x="3221985" y="3338999"/>
            <a:chExt cx="3510039" cy="1260014"/>
          </a:xfrm>
        </p:grpSpPr>
        <p:sp>
          <p:nvSpPr>
            <p:cNvPr id="29" name="Line 9"/>
            <p:cNvSpPr>
              <a:spLocks noChangeShapeType="1"/>
            </p:cNvSpPr>
            <p:nvPr/>
          </p:nvSpPr>
          <p:spPr bwMode="auto">
            <a:xfrm>
              <a:off x="3222113" y="3518387"/>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0"/>
            <p:cNvSpPr>
              <a:spLocks noChangeShapeType="1"/>
            </p:cNvSpPr>
            <p:nvPr/>
          </p:nvSpPr>
          <p:spPr bwMode="auto">
            <a:xfrm>
              <a:off x="3222113" y="387874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11"/>
            <p:cNvSpPr>
              <a:spLocks noChangeShapeType="1"/>
            </p:cNvSpPr>
            <p:nvPr/>
          </p:nvSpPr>
          <p:spPr bwMode="auto">
            <a:xfrm>
              <a:off x="4212713" y="369777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2" name="Line 12"/>
            <p:cNvSpPr>
              <a:spLocks noChangeShapeType="1"/>
            </p:cNvSpPr>
            <p:nvPr/>
          </p:nvSpPr>
          <p:spPr bwMode="auto">
            <a:xfrm flipV="1">
              <a:off x="4662129" y="3699003"/>
              <a:ext cx="89873" cy="973"/>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3"/>
            <p:cNvSpPr>
              <a:spLocks noChangeShapeType="1"/>
            </p:cNvSpPr>
            <p:nvPr/>
          </p:nvSpPr>
          <p:spPr bwMode="auto">
            <a:xfrm flipV="1">
              <a:off x="4482127" y="4059007"/>
              <a:ext cx="269875" cy="133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4"/>
            <p:cNvSpPr>
              <a:spLocks noChangeShapeType="1"/>
            </p:cNvSpPr>
            <p:nvPr/>
          </p:nvSpPr>
          <p:spPr bwMode="auto">
            <a:xfrm flipV="1">
              <a:off x="5382009" y="3879005"/>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5" name="Picture 7" descr="OR"/>
            <p:cNvPicPr>
              <a:picLocks noChangeAspect="1" noChangeArrowheads="1"/>
            </p:cNvPicPr>
            <p:nvPr/>
          </p:nvPicPr>
          <p:blipFill>
            <a:blip r:embed="rId2" cstate="print"/>
            <a:srcRect/>
            <a:stretch>
              <a:fillRect/>
            </a:stretch>
          </p:blipFill>
          <p:spPr bwMode="auto">
            <a:xfrm>
              <a:off x="4572000" y="3519001"/>
              <a:ext cx="1079500" cy="717550"/>
            </a:xfrm>
            <a:prstGeom prst="rect">
              <a:avLst/>
            </a:prstGeom>
            <a:noFill/>
          </p:spPr>
        </p:pic>
        <p:pic>
          <p:nvPicPr>
            <p:cNvPr id="36" name="Picture 6" descr="AND"/>
            <p:cNvPicPr>
              <a:picLocks noChangeAspect="1" noChangeArrowheads="1"/>
            </p:cNvPicPr>
            <p:nvPr/>
          </p:nvPicPr>
          <p:blipFill>
            <a:blip r:embed="rId3" cstate="print"/>
            <a:srcRect/>
            <a:stretch>
              <a:fillRect/>
            </a:stretch>
          </p:blipFill>
          <p:spPr bwMode="auto">
            <a:xfrm>
              <a:off x="3491988" y="3338999"/>
              <a:ext cx="1079500" cy="720725"/>
            </a:xfrm>
            <a:prstGeom prst="rect">
              <a:avLst/>
            </a:prstGeom>
            <a:noFill/>
          </p:spPr>
        </p:pic>
        <p:sp>
          <p:nvSpPr>
            <p:cNvPr id="37" name="Line 10"/>
            <p:cNvSpPr>
              <a:spLocks noChangeShapeType="1"/>
            </p:cNvSpPr>
            <p:nvPr/>
          </p:nvSpPr>
          <p:spPr bwMode="auto">
            <a:xfrm>
              <a:off x="5472138" y="423875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8" name="Picture 6" descr="AND"/>
            <p:cNvPicPr>
              <a:picLocks noChangeAspect="1" noChangeArrowheads="1"/>
            </p:cNvPicPr>
            <p:nvPr/>
          </p:nvPicPr>
          <p:blipFill>
            <a:blip r:embed="rId3" cstate="print"/>
            <a:srcRect/>
            <a:stretch>
              <a:fillRect/>
            </a:stretch>
          </p:blipFill>
          <p:spPr bwMode="auto">
            <a:xfrm>
              <a:off x="5652012" y="3699003"/>
              <a:ext cx="1079500" cy="720725"/>
            </a:xfrm>
            <a:prstGeom prst="rect">
              <a:avLst/>
            </a:prstGeom>
            <a:noFill/>
          </p:spPr>
        </p:pic>
        <p:sp>
          <p:nvSpPr>
            <p:cNvPr id="39" name="Line 13"/>
            <p:cNvSpPr>
              <a:spLocks noChangeShapeType="1"/>
            </p:cNvSpPr>
            <p:nvPr/>
          </p:nvSpPr>
          <p:spPr bwMode="auto">
            <a:xfrm flipV="1">
              <a:off x="4481999" y="4059007"/>
              <a:ext cx="231" cy="18000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0" name="Line 13"/>
            <p:cNvSpPr>
              <a:spLocks noChangeShapeType="1"/>
            </p:cNvSpPr>
            <p:nvPr/>
          </p:nvSpPr>
          <p:spPr bwMode="auto">
            <a:xfrm>
              <a:off x="3221986" y="4239009"/>
              <a:ext cx="126001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1" name="Line 13"/>
            <p:cNvSpPr>
              <a:spLocks noChangeShapeType="1"/>
            </p:cNvSpPr>
            <p:nvPr/>
          </p:nvSpPr>
          <p:spPr bwMode="auto">
            <a:xfrm>
              <a:off x="3221985" y="4599013"/>
              <a:ext cx="2250025"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2" name="Line 13"/>
            <p:cNvSpPr>
              <a:spLocks noChangeShapeType="1"/>
            </p:cNvSpPr>
            <p:nvPr/>
          </p:nvSpPr>
          <p:spPr bwMode="auto">
            <a:xfrm flipV="1">
              <a:off x="5472010" y="4239009"/>
              <a:ext cx="231" cy="360004"/>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3" name="Line 10"/>
            <p:cNvSpPr>
              <a:spLocks noChangeShapeType="1"/>
            </p:cNvSpPr>
            <p:nvPr/>
          </p:nvSpPr>
          <p:spPr bwMode="auto">
            <a:xfrm>
              <a:off x="6462021" y="4059007"/>
              <a:ext cx="27000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grpSp>
      <p:sp>
        <p:nvSpPr>
          <p:cNvPr id="2" name="タイトル 1"/>
          <p:cNvSpPr>
            <a:spLocks noGrp="1"/>
          </p:cNvSpPr>
          <p:nvPr>
            <p:ph type="title"/>
          </p:nvPr>
        </p:nvSpPr>
        <p:spPr/>
        <p:txBody>
          <a:bodyPr/>
          <a:lstStyle/>
          <a:p>
            <a:pPr marL="457200" indent="-457200"/>
            <a:r>
              <a:rPr kumimoji="1" lang="ja-JP" altLang="en-US" dirty="0"/>
              <a:t>ステージ内の信号の伝播を考える</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ja-JP" altLang="en-US" dirty="0"/>
              <a:t>パイプライン：ステージ：</a:t>
            </a:r>
            <a:endParaRPr kumimoji="1" lang="en-US" altLang="ja-JP" dirty="0"/>
          </a:p>
          <a:p>
            <a:pPr lvl="1"/>
            <a:r>
              <a:rPr kumimoji="1" lang="ja-JP" altLang="en-US" dirty="0"/>
              <a:t>複数のパイプライン・ラッチで挟まれてた，</a:t>
            </a:r>
            <a:endParaRPr kumimoji="1" lang="en-US" altLang="ja-JP" dirty="0"/>
          </a:p>
          <a:p>
            <a:pPr lvl="1"/>
            <a:r>
              <a:rPr kumimoji="1" lang="ja-JP" altLang="en-US" dirty="0"/>
              <a:t>組み合わせ回路（ゲート）</a:t>
            </a:r>
            <a:endParaRPr kumimoji="1" lang="en-US" altLang="ja-JP" dirty="0"/>
          </a:p>
          <a:p>
            <a:r>
              <a:rPr kumimoji="1" lang="ja-JP" altLang="en-US" dirty="0"/>
              <a:t>矢印の動き：</a:t>
            </a:r>
            <a:endParaRPr kumimoji="1" lang="en-US" altLang="ja-JP" dirty="0"/>
          </a:p>
          <a:p>
            <a:pPr lvl="1"/>
            <a:r>
              <a:rPr kumimoji="1" lang="ja-JP" altLang="en-US" dirty="0"/>
              <a:t>クロック開始時に，左のラッチからでた信号が</a:t>
            </a:r>
            <a:endParaRPr kumimoji="1" lang="en-US" altLang="ja-JP" dirty="0"/>
          </a:p>
          <a:p>
            <a:pPr lvl="1"/>
            <a:r>
              <a:rPr kumimoji="1" lang="ja-JP" altLang="en-US" dirty="0"/>
              <a:t>組み合わせ回路を通って，伝播していく様子</a:t>
            </a:r>
          </a:p>
        </p:txBody>
      </p:sp>
      <p:sp>
        <p:nvSpPr>
          <p:cNvPr id="4" name="右矢印 3"/>
          <p:cNvSpPr/>
          <p:nvPr/>
        </p:nvSpPr>
        <p:spPr bwMode="auto">
          <a:xfrm>
            <a:off x="1775952" y="225898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1685951" y="2168986"/>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8" name="グループ化 7"/>
          <p:cNvGrpSpPr/>
          <p:nvPr/>
        </p:nvGrpSpPr>
        <p:grpSpPr>
          <a:xfrm>
            <a:off x="4475982" y="198898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10" name="グループ化 9"/>
          <p:cNvGrpSpPr/>
          <p:nvPr/>
        </p:nvGrpSpPr>
        <p:grpSpPr>
          <a:xfrm>
            <a:off x="7356014" y="198898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35116953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4.44444E-6 L 0.3151 -4.44444E-6 " pathEditMode="relative" rAng="0" ptsTypes="AA">
                                      <p:cBhvr>
                                        <p:cTn id="6" dur="8000" fill="hold"/>
                                        <p:tgtEl>
                                          <p:spTgt spid="4"/>
                                        </p:tgtEl>
                                        <p:attrNameLst>
                                          <p:attrName>ppt_x</p:attrName>
                                          <p:attrName>ppt_y</p:attrName>
                                        </p:attrNameLst>
                                      </p:cBhvr>
                                      <p:rCtr x="15747"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marL="457200" indent="-457200"/>
            <a:r>
              <a:rPr kumimoji="1" lang="ja-JP" altLang="en-US" dirty="0"/>
              <a:t>２段にパイプライン化した場合</a:t>
            </a:r>
          </a:p>
        </p:txBody>
      </p:sp>
      <p:sp>
        <p:nvSpPr>
          <p:cNvPr id="3" name="テキスト プレースホルダー 2"/>
          <p:cNvSpPr>
            <a:spLocks noGrp="1"/>
          </p:cNvSpPr>
          <p:nvPr>
            <p:ph type="body" sz="quarter" idx="10"/>
          </p:nvPr>
        </p:nvSpPr>
        <p:spPr>
          <a:xfrm>
            <a:off x="2135956" y="4869017"/>
            <a:ext cx="8280092" cy="1439709"/>
          </a:xfrm>
        </p:spPr>
        <p:txBody>
          <a:bodyPr/>
          <a:lstStyle/>
          <a:p>
            <a:r>
              <a:rPr kumimoji="1" lang="ja-JP" altLang="en-US" dirty="0"/>
              <a:t>クロック周波数は２倍に：</a:t>
            </a:r>
            <a:endParaRPr kumimoji="1" lang="en-US" altLang="ja-JP" dirty="0"/>
          </a:p>
          <a:p>
            <a:pPr lvl="1"/>
            <a:r>
              <a:rPr lang="ja-JP" altLang="en-US" dirty="0"/>
              <a:t>各矢印の伸びる速度（信号が伝播する速度）自体は同じ</a:t>
            </a:r>
          </a:p>
          <a:p>
            <a:pPr lvl="1"/>
            <a:r>
              <a:rPr kumimoji="1" lang="ja-JP" altLang="en-US" dirty="0"/>
              <a:t>２段パイプラインでは，ラッチから２回信号が出ている</a:t>
            </a:r>
            <a:endParaRPr kumimoji="1" lang="en-US" altLang="ja-JP" dirty="0"/>
          </a:p>
        </p:txBody>
      </p:sp>
      <p:sp>
        <p:nvSpPr>
          <p:cNvPr id="4" name="右矢印 3"/>
          <p:cNvSpPr/>
          <p:nvPr/>
        </p:nvSpPr>
        <p:spPr bwMode="auto">
          <a:xfrm>
            <a:off x="1775952" y="126897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1685951" y="1178975"/>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右矢印 19"/>
          <p:cNvSpPr/>
          <p:nvPr/>
        </p:nvSpPr>
        <p:spPr bwMode="auto">
          <a:xfrm>
            <a:off x="4655984"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8" name="グループ化 7"/>
          <p:cNvGrpSpPr/>
          <p:nvPr/>
        </p:nvGrpSpPr>
        <p:grpSpPr>
          <a:xfrm>
            <a:off x="4475982" y="99897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10" name="グループ化 9"/>
          <p:cNvGrpSpPr/>
          <p:nvPr/>
        </p:nvGrpSpPr>
        <p:grpSpPr>
          <a:xfrm>
            <a:off x="7356014" y="99897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4" name="正方形/長方形 23"/>
          <p:cNvSpPr/>
          <p:nvPr/>
        </p:nvSpPr>
        <p:spPr bwMode="auto">
          <a:xfrm>
            <a:off x="4655984" y="2888995"/>
            <a:ext cx="1260014"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 name="右矢印 12"/>
          <p:cNvSpPr/>
          <p:nvPr/>
        </p:nvSpPr>
        <p:spPr bwMode="auto">
          <a:xfrm>
            <a:off x="3215968"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7" name="グループ化 16"/>
          <p:cNvGrpSpPr/>
          <p:nvPr/>
        </p:nvGrpSpPr>
        <p:grpSpPr>
          <a:xfrm>
            <a:off x="5915998" y="2708992"/>
            <a:ext cx="180002" cy="1440016"/>
            <a:chOff x="2051972" y="998973"/>
            <a:chExt cx="360004" cy="1350015"/>
          </a:xfrm>
        </p:grpSpPr>
        <p:sp>
          <p:nvSpPr>
            <p:cNvPr id="18" name="正方形/長方形 17"/>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9" name="二等辺三角形 18"/>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21" name="グループ化 20"/>
          <p:cNvGrpSpPr/>
          <p:nvPr/>
        </p:nvGrpSpPr>
        <p:grpSpPr>
          <a:xfrm>
            <a:off x="7356014" y="2708992"/>
            <a:ext cx="180002" cy="1440016"/>
            <a:chOff x="2051972" y="998973"/>
            <a:chExt cx="360004" cy="1350015"/>
          </a:xfrm>
        </p:grpSpPr>
        <p:sp>
          <p:nvSpPr>
            <p:cNvPr id="22" name="正方形/長方形 21"/>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3" name="二等辺三角形 22"/>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5" name="正方形/長方形 24"/>
          <p:cNvSpPr/>
          <p:nvPr/>
        </p:nvSpPr>
        <p:spPr bwMode="auto">
          <a:xfrm>
            <a:off x="3125968" y="2888995"/>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4" name="グループ化 13"/>
          <p:cNvGrpSpPr/>
          <p:nvPr/>
        </p:nvGrpSpPr>
        <p:grpSpPr>
          <a:xfrm>
            <a:off x="4475982" y="2708992"/>
            <a:ext cx="180002" cy="1440016"/>
            <a:chOff x="2051972" y="998973"/>
            <a:chExt cx="360004" cy="1350015"/>
          </a:xfrm>
        </p:grpSpPr>
        <p:sp>
          <p:nvSpPr>
            <p:cNvPr id="15" name="正方形/長方形 14"/>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6" name="二等辺三角形 15"/>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7" name="正方形/長方形 26"/>
          <p:cNvSpPr/>
          <p:nvPr/>
        </p:nvSpPr>
        <p:spPr bwMode="auto">
          <a:xfrm>
            <a:off x="2495960" y="99897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パイプライン化せず</a:t>
            </a:r>
          </a:p>
        </p:txBody>
      </p:sp>
      <p:sp>
        <p:nvSpPr>
          <p:cNvPr id="28" name="正方形/長方形 27"/>
          <p:cNvSpPr/>
          <p:nvPr/>
        </p:nvSpPr>
        <p:spPr bwMode="auto">
          <a:xfrm>
            <a:off x="2495960" y="270899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２段パイプライン</a:t>
            </a:r>
          </a:p>
        </p:txBody>
      </p:sp>
    </p:spTree>
    <p:extLst>
      <p:ext uri="{BB962C8B-B14F-4D97-AF65-F5344CB8AC3E}">
        <p14:creationId xmlns:p14="http://schemas.microsoft.com/office/powerpoint/2010/main" val="2811278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0 L 0.3151 0 " pathEditMode="relative" rAng="0" ptsTypes="AA">
                                      <p:cBhvr>
                                        <p:cTn id="6" dur="8000" fill="hold"/>
                                        <p:tgtEl>
                                          <p:spTgt spid="4"/>
                                        </p:tgtEl>
                                        <p:attrNameLst>
                                          <p:attrName>ppt_x</p:attrName>
                                          <p:attrName>ppt_y</p:attrName>
                                        </p:attrNameLst>
                                      </p:cBhvr>
                                      <p:rCtr x="15747" y="0"/>
                                    </p:animMotion>
                                  </p:childTnLst>
                                </p:cTn>
                              </p:par>
                              <p:par>
                                <p:cTn id="7" presetID="42" presetClass="path" presetSubtype="0" repeatCount="indefinite" fill="hold" grpId="0" nodeType="withEffect">
                                  <p:stCondLst>
                                    <p:cond delay="0"/>
                                  </p:stCondLst>
                                  <p:childTnLst>
                                    <p:animMotion origin="layout" path="M 4.72222E-6 4.44444E-6 L 0.15763 4.44444E-6 " pathEditMode="relative" rAng="0" ptsTypes="AA">
                                      <p:cBhvr>
                                        <p:cTn id="8" dur="4000" fill="hold"/>
                                        <p:tgtEl>
                                          <p:spTgt spid="13"/>
                                        </p:tgtEl>
                                        <p:attrNameLst>
                                          <p:attrName>ppt_x</p:attrName>
                                          <p:attrName>ppt_y</p:attrName>
                                        </p:attrNameLst>
                                      </p:cBhvr>
                                      <p:rCtr x="7882" y="0"/>
                                    </p:animMotion>
                                  </p:childTnLst>
                                </p:cTn>
                              </p:par>
                              <p:par>
                                <p:cTn id="9" presetID="42" presetClass="path" presetSubtype="0" repeatCount="indefinite" fill="hold" grpId="0" nodeType="withEffect">
                                  <p:stCondLst>
                                    <p:cond delay="0"/>
                                  </p:stCondLst>
                                  <p:childTnLst>
                                    <p:animMotion origin="layout" path="M -5.55556E-7 4.44444E-6 L 0.15764 4.44444E-6 " pathEditMode="relative" rAng="0" ptsTypes="AA">
                                      <p:cBhvr>
                                        <p:cTn id="10" dur="4000" fill="hold"/>
                                        <p:tgtEl>
                                          <p:spTgt spid="20"/>
                                        </p:tgtEl>
                                        <p:attrNameLst>
                                          <p:attrName>ppt_x</p:attrName>
                                          <p:attrName>ppt_y</p:attrName>
                                        </p:attrNameLst>
                                      </p:cBhvr>
                                      <p:rCtr x="7882"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animBg="1"/>
      <p:bldP spid="13"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marL="457200" indent="-457200"/>
            <a:r>
              <a:rPr kumimoji="1" lang="en-US" altLang="ja-JP" dirty="0"/>
              <a:t>4</a:t>
            </a:r>
            <a:r>
              <a:rPr kumimoji="1" lang="ja-JP" altLang="en-US" dirty="0"/>
              <a:t>段にパイプライン化した場合</a:t>
            </a:r>
          </a:p>
        </p:txBody>
      </p:sp>
      <p:sp>
        <p:nvSpPr>
          <p:cNvPr id="3" name="テキスト プレースホルダー 2"/>
          <p:cNvSpPr>
            <a:spLocks noGrp="1"/>
          </p:cNvSpPr>
          <p:nvPr>
            <p:ph type="body" sz="quarter" idx="10"/>
          </p:nvPr>
        </p:nvSpPr>
        <p:spPr>
          <a:xfrm>
            <a:off x="2135956" y="6039336"/>
            <a:ext cx="8280092" cy="449698"/>
          </a:xfrm>
        </p:spPr>
        <p:txBody>
          <a:bodyPr/>
          <a:lstStyle/>
          <a:p>
            <a:r>
              <a:rPr lang="ja-JP" altLang="en-US" dirty="0"/>
              <a:t>クロックが４倍に</a:t>
            </a:r>
            <a:endParaRPr lang="en-US" altLang="ja-JP" dirty="0"/>
          </a:p>
          <a:p>
            <a:pPr lvl="1"/>
            <a:r>
              <a:rPr lang="ja-JP" altLang="en-US" dirty="0"/>
              <a:t>４段パイプラインでは，ラッチから４回信号が出ている</a:t>
            </a:r>
            <a:endParaRPr lang="en-US" altLang="ja-JP" dirty="0"/>
          </a:p>
        </p:txBody>
      </p:sp>
      <p:sp>
        <p:nvSpPr>
          <p:cNvPr id="4" name="右矢印 3"/>
          <p:cNvSpPr/>
          <p:nvPr/>
        </p:nvSpPr>
        <p:spPr bwMode="auto">
          <a:xfrm>
            <a:off x="1775952" y="126897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1685951" y="1178975"/>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右矢印 19"/>
          <p:cNvSpPr/>
          <p:nvPr/>
        </p:nvSpPr>
        <p:spPr bwMode="auto">
          <a:xfrm>
            <a:off x="4655984"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8" name="グループ化 7"/>
          <p:cNvGrpSpPr/>
          <p:nvPr/>
        </p:nvGrpSpPr>
        <p:grpSpPr>
          <a:xfrm>
            <a:off x="4475982" y="99897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10" name="グループ化 9"/>
          <p:cNvGrpSpPr/>
          <p:nvPr/>
        </p:nvGrpSpPr>
        <p:grpSpPr>
          <a:xfrm>
            <a:off x="7356014" y="99897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4" name="正方形/長方形 23"/>
          <p:cNvSpPr/>
          <p:nvPr/>
        </p:nvSpPr>
        <p:spPr bwMode="auto">
          <a:xfrm>
            <a:off x="4655984" y="2888995"/>
            <a:ext cx="1260014"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 name="右矢印 12"/>
          <p:cNvSpPr/>
          <p:nvPr/>
        </p:nvSpPr>
        <p:spPr bwMode="auto">
          <a:xfrm>
            <a:off x="3215968"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7" name="グループ化 16"/>
          <p:cNvGrpSpPr/>
          <p:nvPr/>
        </p:nvGrpSpPr>
        <p:grpSpPr>
          <a:xfrm>
            <a:off x="5915998" y="2708992"/>
            <a:ext cx="180002" cy="1440016"/>
            <a:chOff x="2051972" y="998973"/>
            <a:chExt cx="360004" cy="1350015"/>
          </a:xfrm>
        </p:grpSpPr>
        <p:sp>
          <p:nvSpPr>
            <p:cNvPr id="18" name="正方形/長方形 17"/>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9" name="二等辺三角形 18"/>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21" name="グループ化 20"/>
          <p:cNvGrpSpPr/>
          <p:nvPr/>
        </p:nvGrpSpPr>
        <p:grpSpPr>
          <a:xfrm>
            <a:off x="7356014" y="2708992"/>
            <a:ext cx="180002" cy="1440016"/>
            <a:chOff x="2051972" y="998973"/>
            <a:chExt cx="360004" cy="1350015"/>
          </a:xfrm>
        </p:grpSpPr>
        <p:sp>
          <p:nvSpPr>
            <p:cNvPr id="22" name="正方形/長方形 21"/>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3" name="二等辺三角形 22"/>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5" name="正方形/長方形 24"/>
          <p:cNvSpPr/>
          <p:nvPr/>
        </p:nvSpPr>
        <p:spPr bwMode="auto">
          <a:xfrm>
            <a:off x="3125968" y="2888995"/>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4" name="グループ化 13"/>
          <p:cNvGrpSpPr/>
          <p:nvPr/>
        </p:nvGrpSpPr>
        <p:grpSpPr>
          <a:xfrm>
            <a:off x="4475982" y="2708992"/>
            <a:ext cx="180002" cy="1440016"/>
            <a:chOff x="2051972" y="998973"/>
            <a:chExt cx="360004" cy="1350015"/>
          </a:xfrm>
        </p:grpSpPr>
        <p:sp>
          <p:nvSpPr>
            <p:cNvPr id="15" name="正方形/長方形 14"/>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6" name="二等辺三角形 15"/>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27" name="正方形/長方形 26"/>
          <p:cNvSpPr/>
          <p:nvPr/>
        </p:nvSpPr>
        <p:spPr bwMode="auto">
          <a:xfrm>
            <a:off x="2495960" y="99897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パイプライン化せず</a:t>
            </a:r>
          </a:p>
        </p:txBody>
      </p:sp>
      <p:sp>
        <p:nvSpPr>
          <p:cNvPr id="28" name="正方形/長方形 27"/>
          <p:cNvSpPr/>
          <p:nvPr/>
        </p:nvSpPr>
        <p:spPr bwMode="auto">
          <a:xfrm>
            <a:off x="2495960" y="270899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２段パイプライン</a:t>
            </a:r>
          </a:p>
        </p:txBody>
      </p:sp>
      <p:sp>
        <p:nvSpPr>
          <p:cNvPr id="54" name="正方形/長方形 53"/>
          <p:cNvSpPr/>
          <p:nvPr/>
        </p:nvSpPr>
        <p:spPr bwMode="auto">
          <a:xfrm>
            <a:off x="6816008"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右矢印 44"/>
          <p:cNvSpPr/>
          <p:nvPr/>
        </p:nvSpPr>
        <p:spPr bwMode="auto">
          <a:xfrm>
            <a:off x="6096000"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正方形/長方形 52"/>
          <p:cNvSpPr/>
          <p:nvPr/>
        </p:nvSpPr>
        <p:spPr bwMode="auto">
          <a:xfrm>
            <a:off x="6096000"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右矢印 43"/>
          <p:cNvSpPr/>
          <p:nvPr/>
        </p:nvSpPr>
        <p:spPr bwMode="auto">
          <a:xfrm>
            <a:off x="5375992"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正方形/長方形 51"/>
          <p:cNvSpPr/>
          <p:nvPr/>
        </p:nvSpPr>
        <p:spPr bwMode="auto">
          <a:xfrm>
            <a:off x="5375992"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右矢印 42"/>
          <p:cNvSpPr/>
          <p:nvPr/>
        </p:nvSpPr>
        <p:spPr bwMode="auto">
          <a:xfrm>
            <a:off x="4655984"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0" name="正方形/長方形 29"/>
          <p:cNvSpPr/>
          <p:nvPr/>
        </p:nvSpPr>
        <p:spPr bwMode="auto">
          <a:xfrm>
            <a:off x="4655984" y="4509013"/>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1" name="右矢印 30"/>
          <p:cNvSpPr/>
          <p:nvPr/>
        </p:nvSpPr>
        <p:spPr bwMode="auto">
          <a:xfrm>
            <a:off x="3935976"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8" name="正方形/長方形 37"/>
          <p:cNvSpPr/>
          <p:nvPr/>
        </p:nvSpPr>
        <p:spPr bwMode="auto">
          <a:xfrm>
            <a:off x="3125968" y="4509013"/>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32" name="グループ化 31"/>
          <p:cNvGrpSpPr/>
          <p:nvPr/>
        </p:nvGrpSpPr>
        <p:grpSpPr>
          <a:xfrm>
            <a:off x="5915998" y="4329010"/>
            <a:ext cx="180002" cy="1440016"/>
            <a:chOff x="2051972" y="998973"/>
            <a:chExt cx="360004" cy="1350015"/>
          </a:xfrm>
        </p:grpSpPr>
        <p:sp>
          <p:nvSpPr>
            <p:cNvPr id="33" name="正方形/長方形 32"/>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34" name="二等辺三角形 33"/>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35" name="グループ化 34"/>
          <p:cNvGrpSpPr/>
          <p:nvPr/>
        </p:nvGrpSpPr>
        <p:grpSpPr>
          <a:xfrm>
            <a:off x="7356014" y="4329010"/>
            <a:ext cx="180002" cy="1440016"/>
            <a:chOff x="2051972" y="998973"/>
            <a:chExt cx="360004" cy="1350015"/>
          </a:xfrm>
        </p:grpSpPr>
        <p:sp>
          <p:nvSpPr>
            <p:cNvPr id="36" name="正方形/長方形 3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37" name="二等辺三角形 3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39" name="グループ化 38"/>
          <p:cNvGrpSpPr/>
          <p:nvPr/>
        </p:nvGrpSpPr>
        <p:grpSpPr>
          <a:xfrm>
            <a:off x="4475982" y="4329010"/>
            <a:ext cx="180002" cy="1440016"/>
            <a:chOff x="2051972" y="998973"/>
            <a:chExt cx="360004" cy="1350015"/>
          </a:xfrm>
        </p:grpSpPr>
        <p:sp>
          <p:nvSpPr>
            <p:cNvPr id="40" name="正方形/長方形 39"/>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1" name="二等辺三角形 40"/>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2" name="正方形/長方形 41"/>
          <p:cNvSpPr/>
          <p:nvPr/>
        </p:nvSpPr>
        <p:spPr bwMode="auto">
          <a:xfrm>
            <a:off x="2495960" y="4329010"/>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４段パイプライン</a:t>
            </a:r>
          </a:p>
        </p:txBody>
      </p:sp>
      <p:grpSp>
        <p:nvGrpSpPr>
          <p:cNvPr id="46" name="グループ化 45"/>
          <p:cNvGrpSpPr/>
          <p:nvPr/>
        </p:nvGrpSpPr>
        <p:grpSpPr>
          <a:xfrm>
            <a:off x="5195990" y="4329010"/>
            <a:ext cx="180002" cy="1440016"/>
            <a:chOff x="2051972" y="998973"/>
            <a:chExt cx="360004" cy="1350015"/>
          </a:xfrm>
        </p:grpSpPr>
        <p:sp>
          <p:nvSpPr>
            <p:cNvPr id="47" name="正方形/長方形 46"/>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8" name="二等辺三角形 47"/>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grpSp>
        <p:nvGrpSpPr>
          <p:cNvPr id="49" name="グループ化 48"/>
          <p:cNvGrpSpPr/>
          <p:nvPr/>
        </p:nvGrpSpPr>
        <p:grpSpPr>
          <a:xfrm>
            <a:off x="6636006" y="4329010"/>
            <a:ext cx="180002" cy="1440016"/>
            <a:chOff x="2051972" y="998973"/>
            <a:chExt cx="360004" cy="1350015"/>
          </a:xfrm>
        </p:grpSpPr>
        <p:sp>
          <p:nvSpPr>
            <p:cNvPr id="50" name="正方形/長方形 49"/>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1" name="二等辺三角形 50"/>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15713634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0 L 0.3151 0 " pathEditMode="relative" rAng="0" ptsTypes="AA">
                                      <p:cBhvr>
                                        <p:cTn id="6" dur="8000" fill="hold"/>
                                        <p:tgtEl>
                                          <p:spTgt spid="4"/>
                                        </p:tgtEl>
                                        <p:attrNameLst>
                                          <p:attrName>ppt_x</p:attrName>
                                          <p:attrName>ppt_y</p:attrName>
                                        </p:attrNameLst>
                                      </p:cBhvr>
                                      <p:rCtr x="15747" y="0"/>
                                    </p:animMotion>
                                  </p:childTnLst>
                                </p:cTn>
                              </p:par>
                              <p:par>
                                <p:cTn id="7" presetID="42" presetClass="path" presetSubtype="0" repeatCount="indefinite" fill="hold" grpId="0" nodeType="withEffect">
                                  <p:stCondLst>
                                    <p:cond delay="0"/>
                                  </p:stCondLst>
                                  <p:childTnLst>
                                    <p:animMotion origin="layout" path="M 4.72222E-6 4.44444E-6 L 0.15763 4.44444E-6 " pathEditMode="relative" rAng="0" ptsTypes="AA">
                                      <p:cBhvr>
                                        <p:cTn id="8" dur="4000" fill="hold"/>
                                        <p:tgtEl>
                                          <p:spTgt spid="13"/>
                                        </p:tgtEl>
                                        <p:attrNameLst>
                                          <p:attrName>ppt_x</p:attrName>
                                          <p:attrName>ppt_y</p:attrName>
                                        </p:attrNameLst>
                                      </p:cBhvr>
                                      <p:rCtr x="7882" y="0"/>
                                    </p:animMotion>
                                  </p:childTnLst>
                                </p:cTn>
                              </p:par>
                              <p:par>
                                <p:cTn id="9" presetID="42" presetClass="path" presetSubtype="0" repeatCount="indefinite" fill="hold" grpId="0" nodeType="withEffect">
                                  <p:stCondLst>
                                    <p:cond delay="0"/>
                                  </p:stCondLst>
                                  <p:childTnLst>
                                    <p:animMotion origin="layout" path="M -5.55556E-7 4.44444E-6 L 0.15764 4.44444E-6 " pathEditMode="relative" rAng="0" ptsTypes="AA">
                                      <p:cBhvr>
                                        <p:cTn id="10" dur="4000" fill="hold"/>
                                        <p:tgtEl>
                                          <p:spTgt spid="20"/>
                                        </p:tgtEl>
                                        <p:attrNameLst>
                                          <p:attrName>ppt_x</p:attrName>
                                          <p:attrName>ppt_y</p:attrName>
                                        </p:attrNameLst>
                                      </p:cBhvr>
                                      <p:rCtr x="7882" y="0"/>
                                    </p:animMotion>
                                  </p:childTnLst>
                                </p:cTn>
                              </p:par>
                              <p:par>
                                <p:cTn id="11" presetID="42" presetClass="path" presetSubtype="0" repeatCount="indefinite" fill="hold" grpId="0" nodeType="withEffect">
                                  <p:stCondLst>
                                    <p:cond delay="0"/>
                                  </p:stCondLst>
                                  <p:childTnLst>
                                    <p:animMotion origin="layout" path="M 5E-6 1.85185E-6 L 0.07882 1.85185E-6 " pathEditMode="relative" rAng="0" ptsTypes="AA">
                                      <p:cBhvr>
                                        <p:cTn id="12" dur="2000" fill="hold"/>
                                        <p:tgtEl>
                                          <p:spTgt spid="31"/>
                                        </p:tgtEl>
                                        <p:attrNameLst>
                                          <p:attrName>ppt_x</p:attrName>
                                          <p:attrName>ppt_y</p:attrName>
                                        </p:attrNameLst>
                                      </p:cBhvr>
                                      <p:rCtr x="3941" y="0"/>
                                    </p:animMotion>
                                  </p:childTnLst>
                                </p:cTn>
                              </p:par>
                              <p:par>
                                <p:cTn id="13" presetID="42" presetClass="path" presetSubtype="0" repeatCount="indefinite" fill="hold" grpId="0" nodeType="withEffect">
                                  <p:stCondLst>
                                    <p:cond delay="0"/>
                                  </p:stCondLst>
                                  <p:childTnLst>
                                    <p:animMotion origin="layout" path="M 5E-6 1.85185E-6 L 0.07882 1.85185E-6 " pathEditMode="relative" rAng="0" ptsTypes="AA">
                                      <p:cBhvr>
                                        <p:cTn id="14" dur="2000" fill="hold"/>
                                        <p:tgtEl>
                                          <p:spTgt spid="43"/>
                                        </p:tgtEl>
                                        <p:attrNameLst>
                                          <p:attrName>ppt_x</p:attrName>
                                          <p:attrName>ppt_y</p:attrName>
                                        </p:attrNameLst>
                                      </p:cBhvr>
                                      <p:rCtr x="3941" y="0"/>
                                    </p:animMotion>
                                  </p:childTnLst>
                                </p:cTn>
                              </p:par>
                              <p:par>
                                <p:cTn id="15" presetID="42" presetClass="path" presetSubtype="0" repeatCount="indefinite" fill="hold" grpId="0" nodeType="withEffect">
                                  <p:stCondLst>
                                    <p:cond delay="0"/>
                                  </p:stCondLst>
                                  <p:childTnLst>
                                    <p:animMotion origin="layout" path="M 5E-6 1.85185E-6 L 0.07882 1.85185E-6 " pathEditMode="relative" rAng="0" ptsTypes="AA">
                                      <p:cBhvr>
                                        <p:cTn id="16" dur="2000" fill="hold"/>
                                        <p:tgtEl>
                                          <p:spTgt spid="44"/>
                                        </p:tgtEl>
                                        <p:attrNameLst>
                                          <p:attrName>ppt_x</p:attrName>
                                          <p:attrName>ppt_y</p:attrName>
                                        </p:attrNameLst>
                                      </p:cBhvr>
                                      <p:rCtr x="3941" y="0"/>
                                    </p:animMotion>
                                  </p:childTnLst>
                                </p:cTn>
                              </p:par>
                              <p:par>
                                <p:cTn id="17" presetID="42" presetClass="path" presetSubtype="0" repeatCount="indefinite" fill="hold" grpId="0" nodeType="withEffect">
                                  <p:stCondLst>
                                    <p:cond delay="0"/>
                                  </p:stCondLst>
                                  <p:childTnLst>
                                    <p:animMotion origin="layout" path="M 5E-6 1.85185E-6 L 0.07882 1.85185E-6 " pathEditMode="relative" rAng="0" ptsTypes="AA">
                                      <p:cBhvr>
                                        <p:cTn id="18" dur="2000" fill="hold"/>
                                        <p:tgtEl>
                                          <p:spTgt spid="45"/>
                                        </p:tgtEl>
                                        <p:attrNameLst>
                                          <p:attrName>ppt_x</p:attrName>
                                          <p:attrName>ppt_y</p:attrName>
                                        </p:attrNameLst>
                                      </p:cBhvr>
                                      <p:rCtr x="3941"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animBg="1"/>
      <p:bldP spid="13" grpId="0" animBg="1"/>
      <p:bldP spid="45" grpId="0" animBg="1"/>
      <p:bldP spid="44" grpId="0" animBg="1"/>
      <p:bldP spid="43" grpId="0" animBg="1"/>
      <p:bldP spid="31"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パイプライン化の限界</a:t>
            </a:r>
          </a:p>
        </p:txBody>
      </p:sp>
      <p:sp>
        <p:nvSpPr>
          <p:cNvPr id="3" name="テキスト プレースホルダー 2"/>
          <p:cNvSpPr>
            <a:spLocks noGrp="1"/>
          </p:cNvSpPr>
          <p:nvPr>
            <p:ph type="body" sz="quarter" idx="10"/>
          </p:nvPr>
        </p:nvSpPr>
        <p:spPr>
          <a:xfrm>
            <a:off x="2135956" y="3699003"/>
            <a:ext cx="8280092" cy="2789724"/>
          </a:xfrm>
        </p:spPr>
        <p:txBody>
          <a:bodyPr/>
          <a:lstStyle/>
          <a:p>
            <a:r>
              <a:rPr lang="ja-JP" altLang="en-US" dirty="0"/>
              <a:t>パイプライン段数を増やしていけば，どこまでも速くなるのか？</a:t>
            </a:r>
            <a:endParaRPr lang="en-US" altLang="ja-JP" dirty="0"/>
          </a:p>
          <a:p>
            <a:pPr lvl="1"/>
            <a:r>
              <a:rPr kumimoji="1" lang="ja-JP" altLang="en-US" dirty="0"/>
              <a:t>ならない</a:t>
            </a:r>
            <a:endParaRPr kumimoji="1" lang="en-US" altLang="ja-JP" dirty="0"/>
          </a:p>
          <a:p>
            <a:r>
              <a:rPr kumimoji="1" lang="ja-JP" altLang="en-US" dirty="0"/>
              <a:t>理由：</a:t>
            </a:r>
            <a:endParaRPr kumimoji="1" lang="en-US" altLang="ja-JP" dirty="0"/>
          </a:p>
          <a:p>
            <a:pPr marL="817200" lvl="1" indent="-457200">
              <a:buFont typeface="+mj-lt"/>
              <a:buAutoNum type="arabicPeriod"/>
            </a:pPr>
            <a:r>
              <a:rPr lang="ja-JP" altLang="en-US" dirty="0"/>
              <a:t>回路的な理由による周波数向上の限界</a:t>
            </a:r>
            <a:endParaRPr kumimoji="1" lang="en-US" altLang="ja-JP" dirty="0"/>
          </a:p>
          <a:p>
            <a:pPr marL="817200" lvl="1" indent="-457200">
              <a:buFont typeface="+mj-lt"/>
              <a:buAutoNum type="arabicPeriod"/>
            </a:pPr>
            <a:r>
              <a:rPr kumimoji="1" lang="ja-JP" altLang="en-US" dirty="0"/>
              <a:t>アーキテクチャ的な理由による実効性能の限界</a:t>
            </a:r>
            <a:endParaRPr kumimoji="1" lang="en-US" altLang="ja-JP" dirty="0"/>
          </a:p>
        </p:txBody>
      </p:sp>
      <p:sp>
        <p:nvSpPr>
          <p:cNvPr id="4" name="正方形/長方形 3"/>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grpSp>
        <p:nvGrpSpPr>
          <p:cNvPr id="6" name="グループ化 5"/>
          <p:cNvGrpSpPr/>
          <p:nvPr/>
        </p:nvGrpSpPr>
        <p:grpSpPr>
          <a:xfrm>
            <a:off x="4475982" y="2582933"/>
            <a:ext cx="1562400" cy="576064"/>
            <a:chOff x="971600" y="5445224"/>
            <a:chExt cx="7200800" cy="576064"/>
          </a:xfrm>
        </p:grpSpPr>
        <p:sp>
          <p:nvSpPr>
            <p:cNvPr id="7" name="平行四辺形 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 name="平行四辺形 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915998" y="2582933"/>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2" name="グループ化 11"/>
          <p:cNvGrpSpPr/>
          <p:nvPr/>
        </p:nvGrpSpPr>
        <p:grpSpPr>
          <a:xfrm>
            <a:off x="7356014" y="2582933"/>
            <a:ext cx="1562400" cy="576064"/>
            <a:chOff x="971600" y="5445224"/>
            <a:chExt cx="7200800" cy="576064"/>
          </a:xfrm>
        </p:grpSpPr>
        <p:sp>
          <p:nvSpPr>
            <p:cNvPr id="13" name="平行四辺形 1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 name="平行四辺形 1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5" name="グループ化 14"/>
          <p:cNvGrpSpPr/>
          <p:nvPr/>
        </p:nvGrpSpPr>
        <p:grpSpPr>
          <a:xfrm>
            <a:off x="8796030" y="2582933"/>
            <a:ext cx="1584176" cy="576064"/>
            <a:chOff x="971600" y="5445224"/>
            <a:chExt cx="7200800" cy="576064"/>
          </a:xfrm>
        </p:grpSpPr>
        <p:sp>
          <p:nvSpPr>
            <p:cNvPr id="16" name="平行四辺形 15"/>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平行四辺形 16"/>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8" name="正方形/長方形 17"/>
          <p:cNvSpPr/>
          <p:nvPr/>
        </p:nvSpPr>
        <p:spPr>
          <a:xfrm>
            <a:off x="4925988" y="177292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6276003" y="177292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0" name="正方形/長方形 19"/>
          <p:cNvSpPr/>
          <p:nvPr/>
        </p:nvSpPr>
        <p:spPr>
          <a:xfrm>
            <a:off x="7806020" y="177292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1" name="正方形/長方形 20"/>
          <p:cNvSpPr/>
          <p:nvPr/>
        </p:nvSpPr>
        <p:spPr>
          <a:xfrm>
            <a:off x="9156035" y="177292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角丸四角形 21"/>
          <p:cNvSpPr/>
          <p:nvPr/>
        </p:nvSpPr>
        <p:spPr bwMode="auto">
          <a:xfrm>
            <a:off x="6366003"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4" name="角丸四角形 23"/>
          <p:cNvSpPr/>
          <p:nvPr/>
        </p:nvSpPr>
        <p:spPr bwMode="auto">
          <a:xfrm>
            <a:off x="7715730"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5" name="角丸四角形 24"/>
          <p:cNvSpPr/>
          <p:nvPr/>
        </p:nvSpPr>
        <p:spPr bwMode="auto">
          <a:xfrm>
            <a:off x="9065745"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3" name="角丸四角形 22"/>
          <p:cNvSpPr/>
          <p:nvPr/>
        </p:nvSpPr>
        <p:spPr bwMode="auto">
          <a:xfrm>
            <a:off x="4835986"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9" name="角丸四角形吹き出し 28"/>
          <p:cNvSpPr/>
          <p:nvPr/>
        </p:nvSpPr>
        <p:spPr bwMode="auto">
          <a:xfrm>
            <a:off x="2945965" y="1142918"/>
            <a:ext cx="252002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ひょっとして･･･ 無限に</a:t>
            </a:r>
            <a:endParaRPr lang="en-US" altLang="ja-JP" sz="1400" dirty="0">
              <a:solidFill>
                <a:schemeClr val="tx1">
                  <a:lumMod val="85000"/>
                  <a:lumOff val="15000"/>
                </a:schemeClr>
              </a:solidFill>
              <a:latin typeface="Arial Narrow" panose="020B0606020202030204" pitchFamily="34" charset="0"/>
            </a:endParaRPr>
          </a:p>
          <a:p>
            <a:r>
              <a:rPr lang="ja-JP" altLang="en-US" sz="1400" dirty="0">
                <a:solidFill>
                  <a:schemeClr val="tx1">
                    <a:lumMod val="85000"/>
                    <a:lumOff val="15000"/>
                  </a:schemeClr>
                </a:solidFill>
                <a:latin typeface="Arial Narrow" panose="020B0606020202030204" pitchFamily="34" charset="0"/>
              </a:rPr>
              <a:t>速くできるんじゃ</a:t>
            </a:r>
            <a:r>
              <a:rPr lang="ja-JP" altLang="en-US" sz="1400" dirty="0" err="1">
                <a:solidFill>
                  <a:schemeClr val="tx1">
                    <a:lumMod val="85000"/>
                    <a:lumOff val="15000"/>
                  </a:schemeClr>
                </a:solidFill>
                <a:latin typeface="Arial Narrow" panose="020B0606020202030204" pitchFamily="34" charset="0"/>
              </a:rPr>
              <a:t>ね</a:t>
            </a:r>
            <a:r>
              <a:rPr lang="ja-JP" altLang="en-US" sz="1400" dirty="0">
                <a:solidFill>
                  <a:schemeClr val="tx1">
                    <a:lumMod val="85000"/>
                    <a:lumOff val="15000"/>
                  </a:schemeClr>
                </a:solidFill>
                <a:latin typeface="Arial Narrow" panose="020B0606020202030204" pitchFamily="34" charset="0"/>
              </a:rPr>
              <a:t>！？</a:t>
            </a:r>
          </a:p>
        </p:txBody>
      </p:sp>
      <p:sp>
        <p:nvSpPr>
          <p:cNvPr id="31" name="正方形/長方形 30"/>
          <p:cNvSpPr/>
          <p:nvPr/>
        </p:nvSpPr>
        <p:spPr bwMode="auto">
          <a:xfrm>
            <a:off x="5555995"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solidFill>
              </a:rPr>
              <a:t>ｵｲﾔﾒﾛ</a:t>
            </a:r>
          </a:p>
        </p:txBody>
      </p:sp>
      <p:sp>
        <p:nvSpPr>
          <p:cNvPr id="32" name="正方形/長方形 31"/>
          <p:cNvSpPr/>
          <p:nvPr/>
        </p:nvSpPr>
        <p:spPr bwMode="auto">
          <a:xfrm>
            <a:off x="8346026"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ﾑﾘﾑﾘ</a:t>
            </a:r>
          </a:p>
        </p:txBody>
      </p:sp>
      <p:sp>
        <p:nvSpPr>
          <p:cNvPr id="33" name="正方形/長方形 32"/>
          <p:cNvSpPr/>
          <p:nvPr/>
        </p:nvSpPr>
        <p:spPr bwMode="auto">
          <a:xfrm>
            <a:off x="6906010" y="1718981"/>
            <a:ext cx="540006"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ﾔﾒﾃ</a:t>
            </a:r>
          </a:p>
        </p:txBody>
      </p:sp>
      <p:sp>
        <p:nvSpPr>
          <p:cNvPr id="34" name="正方形/長方形 33"/>
          <p:cNvSpPr/>
          <p:nvPr/>
        </p:nvSpPr>
        <p:spPr bwMode="auto">
          <a:xfrm>
            <a:off x="1865954" y="135897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lang="ja-JP" altLang="en-US" sz="1600" dirty="0">
              <a:solidFill>
                <a:schemeClr val="tx1">
                  <a:lumMod val="85000"/>
                  <a:lumOff val="15000"/>
                </a:schemeClr>
              </a:solidFill>
            </a:endParaRPr>
          </a:p>
        </p:txBody>
      </p:sp>
      <p:sp>
        <p:nvSpPr>
          <p:cNvPr id="35" name="正方形/長方形 34"/>
          <p:cNvSpPr/>
          <p:nvPr/>
        </p:nvSpPr>
        <p:spPr>
          <a:xfrm>
            <a:off x="2585962" y="1538979"/>
            <a:ext cx="502061" cy="369332"/>
          </a:xfrm>
          <a:prstGeom prst="rect">
            <a:avLst/>
          </a:prstGeom>
        </p:spPr>
        <p:txBody>
          <a:bodyPr wrap="none">
            <a:spAutoFit/>
          </a:bodyPr>
          <a:lstStyle/>
          <a:p>
            <a:r>
              <a:rPr lang="ja-JP" altLang="en-US" dirty="0">
                <a:solidFill>
                  <a:schemeClr val="tx1">
                    <a:lumMod val="85000"/>
                    <a:lumOff val="15000"/>
                  </a:schemeClr>
                </a:solidFill>
              </a:rPr>
              <a:t>💡</a:t>
            </a:r>
          </a:p>
        </p:txBody>
      </p:sp>
      <p:sp>
        <p:nvSpPr>
          <p:cNvPr id="36" name="正方形/長方形 35">
            <a:extLst>
              <a:ext uri="{FF2B5EF4-FFF2-40B4-BE49-F238E27FC236}">
                <a16:creationId xmlns:a16="http://schemas.microsoft.com/office/drawing/2014/main" id="{693CAF5A-4D0E-9371-5EB3-8B5A3678E18F}"/>
              </a:ext>
            </a:extLst>
          </p:cNvPr>
          <p:cNvSpPr/>
          <p:nvPr/>
        </p:nvSpPr>
        <p:spPr>
          <a:xfrm>
            <a:off x="1955954" y="1538980"/>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ﾋﾗﾒｲﾀ！</a:t>
            </a:r>
          </a:p>
        </p:txBody>
      </p:sp>
    </p:spTree>
    <p:extLst>
      <p:ext uri="{BB962C8B-B14F-4D97-AF65-F5344CB8AC3E}">
        <p14:creationId xmlns:p14="http://schemas.microsoft.com/office/powerpoint/2010/main" val="31238672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回路的な理由</a:t>
            </a:r>
          </a:p>
        </p:txBody>
      </p:sp>
      <p:sp>
        <p:nvSpPr>
          <p:cNvPr id="3" name="テキスト プレースホルダー 2"/>
          <p:cNvSpPr>
            <a:spLocks noGrp="1"/>
          </p:cNvSpPr>
          <p:nvPr>
            <p:ph type="body" sz="quarter" idx="10"/>
          </p:nvPr>
        </p:nvSpPr>
        <p:spPr/>
        <p:txBody>
          <a:bodyPr/>
          <a:lstStyle/>
          <a:p>
            <a:r>
              <a:rPr kumimoji="1" lang="ja-JP" altLang="en-US" dirty="0"/>
              <a:t>理由：</a:t>
            </a:r>
            <a:endParaRPr kumimoji="1" lang="en-US" altLang="ja-JP" dirty="0"/>
          </a:p>
          <a:p>
            <a:pPr marL="817200" lvl="1" indent="-457200">
              <a:buFont typeface="+mj-lt"/>
              <a:buAutoNum type="arabicPeriod"/>
            </a:pPr>
            <a:r>
              <a:rPr kumimoji="1" lang="en-US" altLang="ja-JP" dirty="0"/>
              <a:t>D-FF </a:t>
            </a:r>
            <a:r>
              <a:rPr kumimoji="1" lang="ja-JP" altLang="en-US" dirty="0"/>
              <a:t>自体の遅延のため</a:t>
            </a:r>
            <a:endParaRPr kumimoji="1" lang="en-US" altLang="ja-JP" dirty="0"/>
          </a:p>
          <a:p>
            <a:pPr marL="817200" lvl="1" indent="-457200">
              <a:buFont typeface="+mj-lt"/>
              <a:buAutoNum type="arabicPeriod"/>
            </a:pPr>
            <a:r>
              <a:rPr kumimoji="1" lang="ja-JP" altLang="en-US" dirty="0"/>
              <a:t>消費電力と熱のため</a:t>
            </a:r>
          </a:p>
        </p:txBody>
      </p:sp>
    </p:spTree>
    <p:extLst>
      <p:ext uri="{BB962C8B-B14F-4D97-AF65-F5344CB8AC3E}">
        <p14:creationId xmlns:p14="http://schemas.microsoft.com/office/powerpoint/2010/main" val="33138741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の回路</a:t>
            </a:r>
            <a:endParaRPr lang="en-US" altLang="ja-JP" dirty="0"/>
          </a:p>
        </p:txBody>
      </p:sp>
      <p:grpSp>
        <p:nvGrpSpPr>
          <p:cNvPr id="3" name="グループ化 2"/>
          <p:cNvGrpSpPr/>
          <p:nvPr/>
        </p:nvGrpSpPr>
        <p:grpSpPr>
          <a:xfrm>
            <a:off x="3395971" y="4779016"/>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3395971" y="2798993"/>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9786042"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2225957" y="4869017"/>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2855964" y="4419011"/>
            <a:ext cx="539750" cy="1439734"/>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8976032" y="4329010"/>
            <a:ext cx="539750" cy="1439735"/>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4" name="スライド番号プレースホルダー 3"/>
          <p:cNvSpPr>
            <a:spLocks noGrp="1"/>
          </p:cNvSpPr>
          <p:nvPr>
            <p:ph type="sldNum" sz="quarter" idx="4294967295"/>
          </p:nvPr>
        </p:nvSpPr>
        <p:spPr>
          <a:xfrm>
            <a:off x="10236552" y="6399396"/>
            <a:ext cx="360048" cy="360048"/>
          </a:xfrm>
          <a:prstGeom prst="rect">
            <a:avLst/>
          </a:prstGeom>
        </p:spPr>
        <p:txBody>
          <a:bodyPr/>
          <a:lstStyle/>
          <a:p>
            <a:fld id="{B99B8E25-FC55-4448-A609-32D724F2B374}" type="slidenum">
              <a:rPr lang="ja-JP" altLang="en-US" smtClean="0"/>
              <a:pPr/>
              <a:t>46</a:t>
            </a:fld>
            <a:endParaRPr lang="ja-JP" altLang="en-US"/>
          </a:p>
        </p:txBody>
      </p:sp>
      <p:sp>
        <p:nvSpPr>
          <p:cNvPr id="75" name="Rectangle 5"/>
          <p:cNvSpPr txBox="1">
            <a:spLocks noChangeArrowheads="1"/>
          </p:cNvSpPr>
          <p:nvPr/>
        </p:nvSpPr>
        <p:spPr>
          <a:xfrm>
            <a:off x="2225958" y="1628980"/>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構造：マルチプレクサが入った２つのインバータのループ</a:t>
            </a:r>
            <a:endParaRPr lang="en-US" altLang="ja-JP" kern="0" dirty="0"/>
          </a:p>
          <a:p>
            <a:pPr lvl="1"/>
            <a:r>
              <a:rPr lang="ja-JP" altLang="en-US" kern="0" dirty="0"/>
              <a:t>マルチプレクサを，切り替えスイッチとして説明</a:t>
            </a:r>
          </a:p>
          <a:p>
            <a:pPr lvl="1"/>
            <a:r>
              <a:rPr lang="ja-JP" altLang="en-US" kern="0" dirty="0"/>
              <a:t>クロックの立ち上がりのたびに，</a:t>
            </a:r>
            <a:r>
              <a:rPr lang="en-US" altLang="ja-JP" i="1" kern="0" dirty="0"/>
              <a:t>d</a:t>
            </a:r>
            <a:r>
              <a:rPr lang="ja-JP" altLang="en-US" kern="0" dirty="0"/>
              <a:t> の値がサンプリングされる</a:t>
            </a:r>
            <a:endParaRPr lang="en-US" altLang="ja-JP" kern="0" dirty="0"/>
          </a:p>
          <a:p>
            <a:pPr lvl="1"/>
            <a:r>
              <a:rPr lang="ja-JP" altLang="en-US" kern="0" dirty="0"/>
              <a:t>その値が次のサイクルの間 </a:t>
            </a:r>
            <a:r>
              <a:rPr lang="en-US" altLang="ja-JP" i="1" kern="0" dirty="0"/>
              <a:t>q</a:t>
            </a:r>
            <a:r>
              <a:rPr lang="ja-JP" altLang="en-US" kern="0" dirty="0"/>
              <a:t> から出力される</a:t>
            </a:r>
            <a:endParaRPr lang="en-US" altLang="ja-JP" kern="0" dirty="0"/>
          </a:p>
        </p:txBody>
      </p:sp>
      <p:sp>
        <p:nvSpPr>
          <p:cNvPr id="77" name="Rectangle 93"/>
          <p:cNvSpPr>
            <a:spLocks noChangeArrowheads="1"/>
          </p:cNvSpPr>
          <p:nvPr/>
        </p:nvSpPr>
        <p:spPr bwMode="auto">
          <a:xfrm>
            <a:off x="8886032" y="3879005"/>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1865954"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31424270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① クロック信号が </a:t>
            </a:r>
            <a:r>
              <a:rPr lang="en-US" altLang="ja-JP" dirty="0"/>
              <a:t>Low </a:t>
            </a:r>
            <a:r>
              <a:rPr lang="ja-JP" altLang="en-US" dirty="0"/>
              <a:t>にあるとき</a:t>
            </a:r>
            <a:endParaRPr lang="en-US" altLang="ja-JP" dirty="0"/>
          </a:p>
        </p:txBody>
      </p:sp>
      <p:sp>
        <p:nvSpPr>
          <p:cNvPr id="700478" name="Freeform 62"/>
          <p:cNvSpPr>
            <a:spLocks/>
          </p:cNvSpPr>
          <p:nvPr/>
        </p:nvSpPr>
        <p:spPr bwMode="auto">
          <a:xfrm>
            <a:off x="4295622" y="2708635"/>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6456210" y="2708635"/>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4655984" y="2348272"/>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4655984" y="3068997"/>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6816572" y="2348272"/>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6816572" y="3068997"/>
            <a:ext cx="717550" cy="720725"/>
          </a:xfrm>
          <a:prstGeom prst="rect">
            <a:avLst/>
          </a:prstGeom>
          <a:noFill/>
        </p:spPr>
      </p:pic>
      <p:sp>
        <p:nvSpPr>
          <p:cNvPr id="700484" name="Line 68"/>
          <p:cNvSpPr>
            <a:spLocks noChangeShapeType="1"/>
          </p:cNvSpPr>
          <p:nvPr/>
        </p:nvSpPr>
        <p:spPr bwMode="auto">
          <a:xfrm>
            <a:off x="5735485"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6365723" y="2978510"/>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6005360" y="3338872"/>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3576485"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4206723" y="2978510"/>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3846360" y="3338872"/>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7896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3216122" y="324997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8256435" y="324997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3846130" y="3338282"/>
            <a:ext cx="449493" cy="9107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4206723" y="3338872"/>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6366156" y="3068279"/>
            <a:ext cx="88464" cy="36108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6365723" y="3338872"/>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10236552" y="6399396"/>
            <a:ext cx="360048" cy="360048"/>
          </a:xfrm>
          <a:prstGeom prst="rect">
            <a:avLst/>
          </a:prstGeom>
        </p:spPr>
        <p:txBody>
          <a:bodyPr/>
          <a:lstStyle/>
          <a:p>
            <a:fld id="{B99B8E25-FC55-4448-A609-32D724F2B374}" type="slidenum">
              <a:rPr lang="ja-JP" altLang="en-US" smtClean="0"/>
              <a:pPr/>
              <a:t>47</a:t>
            </a:fld>
            <a:endParaRPr lang="ja-JP" altLang="en-US"/>
          </a:p>
        </p:txBody>
      </p:sp>
      <p:sp>
        <p:nvSpPr>
          <p:cNvPr id="75" name="Rectangle 5"/>
          <p:cNvSpPr txBox="1">
            <a:spLocks noChangeArrowheads="1"/>
          </p:cNvSpPr>
          <p:nvPr/>
        </p:nvSpPr>
        <p:spPr>
          <a:xfrm>
            <a:off x="2386782"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en-US" altLang="ja-JP" i="1" kern="0" dirty="0"/>
              <a:t>d</a:t>
            </a:r>
            <a:r>
              <a:rPr lang="en-US" altLang="ja-JP" kern="0" dirty="0"/>
              <a:t> </a:t>
            </a:r>
            <a:r>
              <a:rPr lang="ja-JP" altLang="en-US" kern="0" dirty="0"/>
              <a:t>の入力の変化に応じて，インバータの状態が随時切り替わる</a:t>
            </a:r>
            <a:endParaRPr lang="en-US" altLang="ja-JP" kern="0" dirty="0"/>
          </a:p>
          <a:p>
            <a:pPr lvl="1"/>
            <a:r>
              <a:rPr lang="ja-JP" altLang="en-US" kern="0" dirty="0"/>
              <a:t>右側のループとは遮断されている</a:t>
            </a:r>
            <a:endParaRPr lang="en-US" altLang="ja-JP" kern="0" dirty="0"/>
          </a:p>
          <a:p>
            <a:r>
              <a:rPr lang="ja-JP" altLang="en-US" kern="0" dirty="0"/>
              <a:t>右側のループ：</a:t>
            </a:r>
            <a:endParaRPr lang="en-US" altLang="ja-JP" kern="0" dirty="0"/>
          </a:p>
          <a:p>
            <a:pPr lvl="1"/>
            <a:r>
              <a:rPr lang="ja-JP" altLang="en-US" kern="0" dirty="0"/>
              <a:t>ループのインバータの状態（</a:t>
            </a:r>
            <a:r>
              <a:rPr lang="en-US" altLang="ja-JP" kern="0" dirty="0"/>
              <a:t>=</a:t>
            </a:r>
            <a:r>
              <a:rPr lang="ja-JP" altLang="en-US" kern="0" dirty="0"/>
              <a:t>記憶）が </a:t>
            </a:r>
            <a:r>
              <a:rPr lang="en-US" altLang="ja-JP" i="1" kern="0" dirty="0"/>
              <a:t>q</a:t>
            </a:r>
            <a:r>
              <a:rPr lang="en-US" altLang="ja-JP" kern="0" dirty="0"/>
              <a:t> </a:t>
            </a:r>
            <a:r>
              <a:rPr lang="ja-JP" altLang="en-US" kern="0" dirty="0"/>
              <a:t>に出力され続ける</a:t>
            </a:r>
            <a:endParaRPr lang="en-US" altLang="ja-JP" kern="0" dirty="0"/>
          </a:p>
        </p:txBody>
      </p:sp>
      <p:cxnSp>
        <p:nvCxnSpPr>
          <p:cNvPr id="92" name="直線コネクタ 91"/>
          <p:cNvCxnSpPr/>
          <p:nvPr/>
        </p:nvCxnSpPr>
        <p:spPr bwMode="auto">
          <a:xfrm flipV="1">
            <a:off x="2765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3" name="直線コネクタ 92"/>
          <p:cNvCxnSpPr/>
          <p:nvPr/>
        </p:nvCxnSpPr>
        <p:spPr bwMode="auto">
          <a:xfrm flipH="1">
            <a:off x="276596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4" name="直線コネクタ 93"/>
          <p:cNvCxnSpPr/>
          <p:nvPr/>
        </p:nvCxnSpPr>
        <p:spPr bwMode="auto">
          <a:xfrm flipV="1">
            <a:off x="3845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5" name="直線コネクタ 94"/>
          <p:cNvCxnSpPr/>
          <p:nvPr/>
        </p:nvCxnSpPr>
        <p:spPr bwMode="auto">
          <a:xfrm flipH="1">
            <a:off x="3845976" y="1988984"/>
            <a:ext cx="1170013" cy="0"/>
          </a:xfrm>
          <a:prstGeom prst="line">
            <a:avLst/>
          </a:prstGeom>
          <a:ln w="47625"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6" name="直線コネクタ 95"/>
          <p:cNvCxnSpPr/>
          <p:nvPr/>
        </p:nvCxnSpPr>
        <p:spPr bwMode="auto">
          <a:xfrm flipV="1">
            <a:off x="5015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7" name="直線コネクタ 96"/>
          <p:cNvCxnSpPr/>
          <p:nvPr/>
        </p:nvCxnSpPr>
        <p:spPr bwMode="auto">
          <a:xfrm flipH="1">
            <a:off x="5015990"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8" name="直線コネクタ 97"/>
          <p:cNvCxnSpPr/>
          <p:nvPr/>
        </p:nvCxnSpPr>
        <p:spPr bwMode="auto">
          <a:xfrm flipV="1">
            <a:off x="6096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99" name="直線コネクタ 98"/>
          <p:cNvCxnSpPr/>
          <p:nvPr/>
        </p:nvCxnSpPr>
        <p:spPr bwMode="auto">
          <a:xfrm flipH="1">
            <a:off x="6096001"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0" name="直線コネクタ 99"/>
          <p:cNvCxnSpPr/>
          <p:nvPr/>
        </p:nvCxnSpPr>
        <p:spPr bwMode="auto">
          <a:xfrm flipV="1">
            <a:off x="7266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1" name="直線コネクタ 100"/>
          <p:cNvCxnSpPr/>
          <p:nvPr/>
        </p:nvCxnSpPr>
        <p:spPr bwMode="auto">
          <a:xfrm flipH="1">
            <a:off x="726601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2" name="直線コネクタ 101"/>
          <p:cNvCxnSpPr/>
          <p:nvPr/>
        </p:nvCxnSpPr>
        <p:spPr bwMode="auto">
          <a:xfrm flipV="1">
            <a:off x="8346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3" name="直線コネクタ 102"/>
          <p:cNvCxnSpPr/>
          <p:nvPr/>
        </p:nvCxnSpPr>
        <p:spPr bwMode="auto">
          <a:xfrm flipH="1">
            <a:off x="834602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4" name="直線コネクタ 103"/>
          <p:cNvCxnSpPr/>
          <p:nvPr/>
        </p:nvCxnSpPr>
        <p:spPr bwMode="auto">
          <a:xfrm flipV="1">
            <a:off x="9516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2" name="円/楕円 1"/>
          <p:cNvSpPr/>
          <p:nvPr/>
        </p:nvSpPr>
        <p:spPr bwMode="auto">
          <a:xfrm>
            <a:off x="4205979"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solidFill>
                  <a:schemeClr val="accent1"/>
                </a:solidFill>
                <a:latin typeface="+mn-ea"/>
              </a:rPr>
              <a:t>１</a:t>
            </a:r>
          </a:p>
        </p:txBody>
      </p:sp>
      <p:sp>
        <p:nvSpPr>
          <p:cNvPr id="106" name="円/楕円 105"/>
          <p:cNvSpPr/>
          <p:nvPr/>
        </p:nvSpPr>
        <p:spPr bwMode="auto">
          <a:xfrm>
            <a:off x="5105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２</a:t>
            </a:r>
          </a:p>
        </p:txBody>
      </p:sp>
      <p:sp>
        <p:nvSpPr>
          <p:cNvPr id="107" name="円/楕円 106"/>
          <p:cNvSpPr/>
          <p:nvPr/>
        </p:nvSpPr>
        <p:spPr bwMode="auto">
          <a:xfrm>
            <a:off x="5375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３</a:t>
            </a:r>
          </a:p>
        </p:txBody>
      </p:sp>
      <p:sp>
        <p:nvSpPr>
          <p:cNvPr id="108" name="円/楕円 107"/>
          <p:cNvSpPr/>
          <p:nvPr/>
        </p:nvSpPr>
        <p:spPr bwMode="auto">
          <a:xfrm>
            <a:off x="6186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４</a:t>
            </a:r>
          </a:p>
        </p:txBody>
      </p:sp>
    </p:spTree>
    <p:extLst>
      <p:ext uri="{BB962C8B-B14F-4D97-AF65-F5344CB8AC3E}">
        <p14:creationId xmlns:p14="http://schemas.microsoft.com/office/powerpoint/2010/main" val="40814974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② クロック信号の立ち上がり</a:t>
            </a:r>
            <a:endParaRPr lang="en-US" altLang="ja-JP" dirty="0"/>
          </a:p>
        </p:txBody>
      </p:sp>
      <p:sp>
        <p:nvSpPr>
          <p:cNvPr id="700478" name="Freeform 62"/>
          <p:cNvSpPr>
            <a:spLocks/>
          </p:cNvSpPr>
          <p:nvPr/>
        </p:nvSpPr>
        <p:spPr bwMode="auto">
          <a:xfrm>
            <a:off x="4295622" y="2708635"/>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6456210" y="2708635"/>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4655984" y="2348272"/>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4655984" y="3068997"/>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6816572" y="2348272"/>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6816572" y="3068997"/>
            <a:ext cx="717550" cy="720725"/>
          </a:xfrm>
          <a:prstGeom prst="rect">
            <a:avLst/>
          </a:prstGeom>
          <a:noFill/>
        </p:spPr>
      </p:pic>
      <p:sp>
        <p:nvSpPr>
          <p:cNvPr id="700484" name="Line 68"/>
          <p:cNvSpPr>
            <a:spLocks noChangeShapeType="1"/>
          </p:cNvSpPr>
          <p:nvPr/>
        </p:nvSpPr>
        <p:spPr bwMode="auto">
          <a:xfrm>
            <a:off x="5735485"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6365723" y="2978510"/>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6005360" y="3338872"/>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3576485"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4206723" y="2978510"/>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3846360" y="3338872"/>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7896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3216122" y="324997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8256435" y="324997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3935975" y="3248998"/>
            <a:ext cx="359646" cy="18036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4206723" y="3338872"/>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6276002" y="3068996"/>
            <a:ext cx="178618" cy="3603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6365723" y="3338872"/>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10236552" y="6399396"/>
            <a:ext cx="360048" cy="360048"/>
          </a:xfrm>
          <a:prstGeom prst="rect">
            <a:avLst/>
          </a:prstGeom>
        </p:spPr>
        <p:txBody>
          <a:bodyPr/>
          <a:lstStyle/>
          <a:p>
            <a:fld id="{B99B8E25-FC55-4448-A609-32D724F2B374}" type="slidenum">
              <a:rPr lang="ja-JP" altLang="en-US" smtClean="0"/>
              <a:pPr/>
              <a:t>48</a:t>
            </a:fld>
            <a:endParaRPr lang="ja-JP" altLang="en-US"/>
          </a:p>
        </p:txBody>
      </p:sp>
      <p:sp>
        <p:nvSpPr>
          <p:cNvPr id="75" name="Rectangle 5"/>
          <p:cNvSpPr txBox="1">
            <a:spLocks noChangeArrowheads="1"/>
          </p:cNvSpPr>
          <p:nvPr/>
        </p:nvSpPr>
        <p:spPr>
          <a:xfrm>
            <a:off x="2386782"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en-US" altLang="ja-JP" i="1" kern="0" dirty="0"/>
              <a:t>d</a:t>
            </a:r>
            <a:r>
              <a:rPr lang="en-US" altLang="ja-JP" kern="0" dirty="0"/>
              <a:t> </a:t>
            </a:r>
            <a:r>
              <a:rPr lang="ja-JP" altLang="en-US" kern="0" dirty="0"/>
              <a:t>と遮断され，ループが形成される</a:t>
            </a:r>
            <a:endParaRPr lang="en-US" altLang="ja-JP" kern="0" dirty="0"/>
          </a:p>
          <a:p>
            <a:pPr lvl="1"/>
            <a:r>
              <a:rPr lang="ja-JP" altLang="en-US" kern="0" dirty="0"/>
              <a:t>直前まで </a:t>
            </a:r>
            <a:r>
              <a:rPr lang="en-US" altLang="ja-JP" i="1" kern="0" dirty="0"/>
              <a:t>d</a:t>
            </a:r>
            <a:r>
              <a:rPr lang="en-US" altLang="ja-JP" kern="0" dirty="0"/>
              <a:t> </a:t>
            </a:r>
            <a:r>
              <a:rPr lang="ja-JP" altLang="en-US" kern="0" dirty="0"/>
              <a:t>に入力されていた信号が記憶される</a:t>
            </a:r>
            <a:endParaRPr lang="en-US" altLang="ja-JP" kern="0" dirty="0"/>
          </a:p>
          <a:p>
            <a:r>
              <a:rPr lang="ja-JP" altLang="en-US" kern="0" dirty="0"/>
              <a:t>右側のループ：</a:t>
            </a:r>
            <a:endParaRPr lang="en-US" altLang="ja-JP" kern="0" dirty="0"/>
          </a:p>
          <a:p>
            <a:pPr lvl="1"/>
            <a:r>
              <a:rPr lang="ja-JP" altLang="en-US" kern="0" dirty="0"/>
              <a:t>左側のループと繋がり，ループが解除される</a:t>
            </a:r>
            <a:endParaRPr lang="en-US" altLang="ja-JP" kern="0" dirty="0"/>
          </a:p>
        </p:txBody>
      </p:sp>
      <p:cxnSp>
        <p:nvCxnSpPr>
          <p:cNvPr id="53" name="直線コネクタ 52"/>
          <p:cNvCxnSpPr/>
          <p:nvPr/>
        </p:nvCxnSpPr>
        <p:spPr bwMode="auto">
          <a:xfrm flipV="1">
            <a:off x="2765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276596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3845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384597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5015988" y="1448978"/>
            <a:ext cx="0" cy="540006"/>
          </a:xfrm>
          <a:prstGeom prst="line">
            <a:avLst/>
          </a:prstGeom>
          <a:ln w="38100" cap="rnd">
            <a:solidFill>
              <a:schemeClr val="accent5"/>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5015990"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6096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6096001"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7266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726601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8346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834602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9516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4205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１</a:t>
            </a:r>
          </a:p>
        </p:txBody>
      </p:sp>
      <p:sp>
        <p:nvSpPr>
          <p:cNvPr id="67" name="円/楕円 66"/>
          <p:cNvSpPr/>
          <p:nvPr/>
        </p:nvSpPr>
        <p:spPr bwMode="auto">
          <a:xfrm>
            <a:off x="5105989"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solidFill>
                  <a:schemeClr val="accent5"/>
                </a:solidFill>
                <a:latin typeface="+mn-ea"/>
              </a:rPr>
              <a:t>２</a:t>
            </a:r>
          </a:p>
        </p:txBody>
      </p:sp>
      <p:sp>
        <p:nvSpPr>
          <p:cNvPr id="68" name="円/楕円 67"/>
          <p:cNvSpPr/>
          <p:nvPr/>
        </p:nvSpPr>
        <p:spPr bwMode="auto">
          <a:xfrm>
            <a:off x="5375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３</a:t>
            </a:r>
          </a:p>
        </p:txBody>
      </p:sp>
      <p:sp>
        <p:nvSpPr>
          <p:cNvPr id="69" name="円/楕円 68"/>
          <p:cNvSpPr/>
          <p:nvPr/>
        </p:nvSpPr>
        <p:spPr bwMode="auto">
          <a:xfrm>
            <a:off x="6186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４</a:t>
            </a:r>
          </a:p>
        </p:txBody>
      </p:sp>
      <p:sp>
        <p:nvSpPr>
          <p:cNvPr id="3" name="円弧 2"/>
          <p:cNvSpPr/>
          <p:nvPr/>
        </p:nvSpPr>
        <p:spPr bwMode="auto">
          <a:xfrm>
            <a:off x="3935976" y="3068997"/>
            <a:ext cx="540006" cy="450005"/>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71" name="円弧 70"/>
          <p:cNvSpPr/>
          <p:nvPr/>
        </p:nvSpPr>
        <p:spPr bwMode="auto">
          <a:xfrm rot="16200000" flipH="1">
            <a:off x="6006002" y="3159000"/>
            <a:ext cx="540006" cy="360003"/>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Tree>
    <p:extLst>
      <p:ext uri="{BB962C8B-B14F-4D97-AF65-F5344CB8AC3E}">
        <p14:creationId xmlns:p14="http://schemas.microsoft.com/office/powerpoint/2010/main" val="11338235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③ クロック信号が </a:t>
            </a:r>
            <a:r>
              <a:rPr lang="en-US" altLang="ja-JP" dirty="0"/>
              <a:t>High</a:t>
            </a:r>
          </a:p>
        </p:txBody>
      </p:sp>
      <p:sp>
        <p:nvSpPr>
          <p:cNvPr id="700478" name="Freeform 62"/>
          <p:cNvSpPr>
            <a:spLocks/>
          </p:cNvSpPr>
          <p:nvPr/>
        </p:nvSpPr>
        <p:spPr bwMode="auto">
          <a:xfrm>
            <a:off x="4295622" y="2708635"/>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6456210" y="2708635"/>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4655984" y="2348272"/>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4655984" y="3068997"/>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6816572" y="2348272"/>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6816572" y="3068997"/>
            <a:ext cx="717550" cy="720725"/>
          </a:xfrm>
          <a:prstGeom prst="rect">
            <a:avLst/>
          </a:prstGeom>
          <a:noFill/>
        </p:spPr>
      </p:pic>
      <p:sp>
        <p:nvSpPr>
          <p:cNvPr id="700484" name="Line 68"/>
          <p:cNvSpPr>
            <a:spLocks noChangeShapeType="1"/>
          </p:cNvSpPr>
          <p:nvPr/>
        </p:nvSpPr>
        <p:spPr bwMode="auto">
          <a:xfrm>
            <a:off x="5735485"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6365723" y="2978510"/>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6005360" y="3338872"/>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3576485"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4206723" y="2978510"/>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3846360" y="3338872"/>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7896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3216122" y="324997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8256435" y="324997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4205979" y="3068996"/>
            <a:ext cx="89642" cy="360362"/>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4206723" y="3338872"/>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6006000" y="3338999"/>
            <a:ext cx="448621" cy="90359"/>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6365723" y="3338872"/>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10236552" y="6399396"/>
            <a:ext cx="360048" cy="360048"/>
          </a:xfrm>
          <a:prstGeom prst="rect">
            <a:avLst/>
          </a:prstGeom>
        </p:spPr>
        <p:txBody>
          <a:bodyPr/>
          <a:lstStyle/>
          <a:p>
            <a:fld id="{B99B8E25-FC55-4448-A609-32D724F2B374}" type="slidenum">
              <a:rPr lang="ja-JP" altLang="en-US" smtClean="0"/>
              <a:pPr/>
              <a:t>49</a:t>
            </a:fld>
            <a:endParaRPr lang="ja-JP" altLang="en-US"/>
          </a:p>
        </p:txBody>
      </p:sp>
      <mc:AlternateContent xmlns:mc="http://schemas.openxmlformats.org/markup-compatibility/2006">
        <mc:Choice xmlns:a14="http://schemas.microsoft.com/office/drawing/2010/main" Requires="a14">
          <p:sp>
            <p:nvSpPr>
              <p:cNvPr id="75" name="Rectangle 5"/>
              <p:cNvSpPr txBox="1">
                <a:spLocks noChangeArrowheads="1"/>
              </p:cNvSpPr>
              <p:nvPr/>
            </p:nvSpPr>
            <p:spPr>
              <a:xfrm>
                <a:off x="2386782"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ja-JP" altLang="en-US" kern="0" dirty="0"/>
                  <a:t>クロックが立ち上がる直前の </a:t>
                </a:r>
                <a14:m>
                  <m:oMath xmlns:m="http://schemas.openxmlformats.org/officeDocument/2006/math">
                    <m:r>
                      <a:rPr lang="en-US" altLang="ja-JP" i="1" kern="0" dirty="0">
                        <a:latin typeface="Cambria Math" panose="02040503050406030204" pitchFamily="18" charset="0"/>
                      </a:rPr>
                      <m:t>𝑑</m:t>
                    </m:r>
                    <m:r>
                      <a:rPr lang="en-US" altLang="ja-JP" kern="0" dirty="0">
                        <a:latin typeface="Cambria Math" panose="02040503050406030204" pitchFamily="18" charset="0"/>
                      </a:rPr>
                      <m:t> </m:t>
                    </m:r>
                  </m:oMath>
                </a14:m>
                <a:r>
                  <a:rPr lang="ja-JP" altLang="en-US" kern="0" dirty="0"/>
                  <a:t>の内容を出し続ける</a:t>
                </a:r>
                <a:endParaRPr lang="en-US" altLang="ja-JP" kern="0" dirty="0"/>
              </a:p>
              <a:p>
                <a:r>
                  <a:rPr lang="ja-JP" altLang="en-US" kern="0" dirty="0"/>
                  <a:t>右側のループ：</a:t>
                </a:r>
                <a:endParaRPr lang="en-US" altLang="ja-JP" kern="0" dirty="0"/>
              </a:p>
              <a:p>
                <a:pPr lvl="1"/>
                <a:r>
                  <a:rPr lang="ja-JP" altLang="en-US" kern="0" dirty="0"/>
                  <a:t>左側のループの出力を反転して </a:t>
                </a:r>
                <a14:m>
                  <m:oMath xmlns:m="http://schemas.openxmlformats.org/officeDocument/2006/math">
                    <m:r>
                      <a:rPr lang="en-US" altLang="ja-JP" i="1" kern="0" dirty="0">
                        <a:latin typeface="Cambria Math" panose="02040503050406030204" pitchFamily="18" charset="0"/>
                      </a:rPr>
                      <m:t>𝑞</m:t>
                    </m:r>
                  </m:oMath>
                </a14:m>
                <a:r>
                  <a:rPr lang="en-US" altLang="ja-JP" kern="0" dirty="0"/>
                  <a:t> </a:t>
                </a:r>
                <a:r>
                  <a:rPr lang="ja-JP" altLang="en-US" kern="0" dirty="0"/>
                  <a:t>に出力</a:t>
                </a:r>
                <a:endParaRPr lang="en-US" altLang="ja-JP" kern="0" dirty="0"/>
              </a:p>
            </p:txBody>
          </p:sp>
        </mc:Choice>
        <mc:Fallback>
          <p:sp>
            <p:nvSpPr>
              <p:cNvPr id="75" name="Rectangle 5"/>
              <p:cNvSpPr txBox="1">
                <a:spLocks noRot="1" noChangeAspect="1" noMove="1" noResize="1" noEditPoints="1" noAdjustHandles="1" noChangeArrowheads="1" noChangeShapeType="1" noTextEdit="1"/>
              </p:cNvSpPr>
              <p:nvPr/>
            </p:nvSpPr>
            <p:spPr>
              <a:xfrm>
                <a:off x="2386782" y="4149008"/>
                <a:ext cx="8281219" cy="2070860"/>
              </a:xfrm>
              <a:prstGeom prst="rect">
                <a:avLst/>
              </a:prstGeom>
              <a:blipFill>
                <a:blip r:embed="rId4"/>
                <a:stretch>
                  <a:fillRect l="-663" t="-885" b="-3835"/>
                </a:stretch>
              </a:blipFill>
            </p:spPr>
            <p:txBody>
              <a:bodyPr/>
              <a:lstStyle/>
              <a:p>
                <a:r>
                  <a:rPr lang="ja-JP" altLang="en-US">
                    <a:noFill/>
                  </a:rPr>
                  <a:t> </a:t>
                </a:r>
              </a:p>
            </p:txBody>
          </p:sp>
        </mc:Fallback>
      </mc:AlternateContent>
      <p:cxnSp>
        <p:nvCxnSpPr>
          <p:cNvPr id="53" name="直線コネクタ 52"/>
          <p:cNvCxnSpPr/>
          <p:nvPr/>
        </p:nvCxnSpPr>
        <p:spPr bwMode="auto">
          <a:xfrm flipV="1">
            <a:off x="2765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276596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3845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384597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5015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5015990" y="1448978"/>
            <a:ext cx="1080011" cy="0"/>
          </a:xfrm>
          <a:prstGeom prst="line">
            <a:avLst/>
          </a:prstGeom>
          <a:ln w="38100" cap="rnd">
            <a:solidFill>
              <a:schemeClr val="accent5"/>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6096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6096001"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7266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726601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8346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834602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9516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4205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１</a:t>
            </a:r>
          </a:p>
        </p:txBody>
      </p:sp>
      <p:sp>
        <p:nvSpPr>
          <p:cNvPr id="67" name="円/楕円 66"/>
          <p:cNvSpPr/>
          <p:nvPr/>
        </p:nvSpPr>
        <p:spPr bwMode="auto">
          <a:xfrm>
            <a:off x="5105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２</a:t>
            </a:r>
          </a:p>
        </p:txBody>
      </p:sp>
      <p:sp>
        <p:nvSpPr>
          <p:cNvPr id="68" name="円/楕円 67"/>
          <p:cNvSpPr/>
          <p:nvPr/>
        </p:nvSpPr>
        <p:spPr bwMode="auto">
          <a:xfrm>
            <a:off x="5375992" y="998973"/>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solidFill>
                  <a:schemeClr val="accent5"/>
                </a:solidFill>
                <a:latin typeface="+mn-ea"/>
              </a:rPr>
              <a:t>３</a:t>
            </a:r>
          </a:p>
        </p:txBody>
      </p:sp>
      <p:sp>
        <p:nvSpPr>
          <p:cNvPr id="69" name="円/楕円 68"/>
          <p:cNvSpPr/>
          <p:nvPr/>
        </p:nvSpPr>
        <p:spPr bwMode="auto">
          <a:xfrm>
            <a:off x="6186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４</a:t>
            </a:r>
          </a:p>
        </p:txBody>
      </p:sp>
    </p:spTree>
    <p:extLst>
      <p:ext uri="{BB962C8B-B14F-4D97-AF65-F5344CB8AC3E}">
        <p14:creationId xmlns:p14="http://schemas.microsoft.com/office/powerpoint/2010/main" val="26570566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④ クロック信号の立ち下がり</a:t>
            </a:r>
            <a:endParaRPr lang="en-US" altLang="ja-JP" dirty="0"/>
          </a:p>
        </p:txBody>
      </p:sp>
      <p:sp>
        <p:nvSpPr>
          <p:cNvPr id="700478" name="Freeform 62"/>
          <p:cNvSpPr>
            <a:spLocks/>
          </p:cNvSpPr>
          <p:nvPr/>
        </p:nvSpPr>
        <p:spPr bwMode="auto">
          <a:xfrm>
            <a:off x="4295622" y="2708635"/>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6456210" y="2708635"/>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4655984" y="2348272"/>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4655984" y="3068997"/>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6816572" y="2348272"/>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6816572" y="3068997"/>
            <a:ext cx="717550" cy="720725"/>
          </a:xfrm>
          <a:prstGeom prst="rect">
            <a:avLst/>
          </a:prstGeom>
          <a:noFill/>
        </p:spPr>
      </p:pic>
      <p:sp>
        <p:nvSpPr>
          <p:cNvPr id="700484" name="Line 68"/>
          <p:cNvSpPr>
            <a:spLocks noChangeShapeType="1"/>
          </p:cNvSpPr>
          <p:nvPr/>
        </p:nvSpPr>
        <p:spPr bwMode="auto">
          <a:xfrm>
            <a:off x="5735485"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6365723" y="2978510"/>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6005360" y="3338872"/>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3576485"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4206723" y="2978510"/>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3846360" y="3338872"/>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7896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3216122" y="324997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8256435" y="3249972"/>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3935975" y="3248998"/>
            <a:ext cx="359646" cy="18036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4206723" y="3338872"/>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6095999" y="3248998"/>
            <a:ext cx="358620" cy="180359"/>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6365723" y="3338872"/>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10236552" y="6399396"/>
            <a:ext cx="360048" cy="360048"/>
          </a:xfrm>
          <a:prstGeom prst="rect">
            <a:avLst/>
          </a:prstGeom>
        </p:spPr>
        <p:txBody>
          <a:bodyPr/>
          <a:lstStyle/>
          <a:p>
            <a:fld id="{B99B8E25-FC55-4448-A609-32D724F2B374}" type="slidenum">
              <a:rPr lang="ja-JP" altLang="en-US" smtClean="0"/>
              <a:pPr/>
              <a:t>50</a:t>
            </a:fld>
            <a:endParaRPr lang="ja-JP" altLang="en-US"/>
          </a:p>
        </p:txBody>
      </p:sp>
      <p:sp>
        <p:nvSpPr>
          <p:cNvPr id="75" name="Rectangle 5"/>
          <p:cNvSpPr txBox="1">
            <a:spLocks noChangeArrowheads="1"/>
          </p:cNvSpPr>
          <p:nvPr/>
        </p:nvSpPr>
        <p:spPr>
          <a:xfrm>
            <a:off x="2386782"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ja-JP" altLang="en-US" kern="0" dirty="0"/>
              <a:t>ループが解除される</a:t>
            </a:r>
            <a:endParaRPr lang="en-US" altLang="ja-JP" kern="0" dirty="0"/>
          </a:p>
          <a:p>
            <a:r>
              <a:rPr lang="ja-JP" altLang="en-US" kern="0" dirty="0"/>
              <a:t>右側のループ：</a:t>
            </a:r>
            <a:endParaRPr lang="en-US" altLang="ja-JP" kern="0" dirty="0"/>
          </a:p>
          <a:p>
            <a:pPr lvl="1"/>
            <a:r>
              <a:rPr lang="ja-JP" altLang="en-US" kern="0" dirty="0"/>
              <a:t>左側のループと遮断され，ループが形成される</a:t>
            </a:r>
            <a:endParaRPr lang="en-US" altLang="ja-JP" kern="0" dirty="0"/>
          </a:p>
          <a:p>
            <a:pPr lvl="1"/>
            <a:r>
              <a:rPr lang="ja-JP" altLang="en-US" kern="0" dirty="0"/>
              <a:t>それまで左側から入力された内容を出し続ける</a:t>
            </a:r>
            <a:endParaRPr lang="en-US" altLang="ja-JP" kern="0" dirty="0"/>
          </a:p>
        </p:txBody>
      </p:sp>
      <p:cxnSp>
        <p:nvCxnSpPr>
          <p:cNvPr id="53" name="直線コネクタ 52"/>
          <p:cNvCxnSpPr/>
          <p:nvPr/>
        </p:nvCxnSpPr>
        <p:spPr bwMode="auto">
          <a:xfrm flipV="1">
            <a:off x="2765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276596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3845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384597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5015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5015990"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6096000" y="1448978"/>
            <a:ext cx="0" cy="540006"/>
          </a:xfrm>
          <a:prstGeom prst="line">
            <a:avLst/>
          </a:prstGeom>
          <a:ln w="38100" cap="rnd">
            <a:solidFill>
              <a:schemeClr val="accent5"/>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6096001"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7266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7266015"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8346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8346026"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9516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4205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１</a:t>
            </a:r>
          </a:p>
        </p:txBody>
      </p:sp>
      <p:sp>
        <p:nvSpPr>
          <p:cNvPr id="67" name="円/楕円 66"/>
          <p:cNvSpPr/>
          <p:nvPr/>
        </p:nvSpPr>
        <p:spPr bwMode="auto">
          <a:xfrm>
            <a:off x="5105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２</a:t>
            </a:r>
          </a:p>
        </p:txBody>
      </p:sp>
      <p:sp>
        <p:nvSpPr>
          <p:cNvPr id="68" name="円/楕円 67"/>
          <p:cNvSpPr/>
          <p:nvPr/>
        </p:nvSpPr>
        <p:spPr bwMode="auto">
          <a:xfrm>
            <a:off x="5375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３</a:t>
            </a:r>
          </a:p>
        </p:txBody>
      </p:sp>
      <p:sp>
        <p:nvSpPr>
          <p:cNvPr id="69" name="円/楕円 68"/>
          <p:cNvSpPr/>
          <p:nvPr/>
        </p:nvSpPr>
        <p:spPr bwMode="auto">
          <a:xfrm>
            <a:off x="6186001"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solidFill>
                  <a:schemeClr val="accent5"/>
                </a:solidFill>
                <a:latin typeface="+mn-ea"/>
              </a:rPr>
              <a:t>４</a:t>
            </a:r>
          </a:p>
        </p:txBody>
      </p:sp>
      <p:sp>
        <p:nvSpPr>
          <p:cNvPr id="3" name="円弧 2"/>
          <p:cNvSpPr/>
          <p:nvPr/>
        </p:nvSpPr>
        <p:spPr bwMode="auto">
          <a:xfrm>
            <a:off x="6096000" y="3068997"/>
            <a:ext cx="540006" cy="450005"/>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71" name="円弧 70"/>
          <p:cNvSpPr/>
          <p:nvPr/>
        </p:nvSpPr>
        <p:spPr bwMode="auto">
          <a:xfrm rot="16200000" flipH="1">
            <a:off x="4025979" y="2978995"/>
            <a:ext cx="450005" cy="450006"/>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Tree>
    <p:extLst>
      <p:ext uri="{BB962C8B-B14F-4D97-AF65-F5344CB8AC3E}">
        <p14:creationId xmlns:p14="http://schemas.microsoft.com/office/powerpoint/2010/main" val="27247867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kumimoji="1" lang="en-US" altLang="ja-JP" dirty="0"/>
              <a:t>D-FF </a:t>
            </a:r>
            <a:r>
              <a:rPr kumimoji="1" lang="ja-JP" altLang="en-US" dirty="0"/>
              <a:t>の遅延</a:t>
            </a:r>
          </a:p>
        </p:txBody>
      </p:sp>
      <p:sp>
        <p:nvSpPr>
          <p:cNvPr id="4" name="テキスト プレースホルダー 3"/>
          <p:cNvSpPr>
            <a:spLocks noGrp="1"/>
          </p:cNvSpPr>
          <p:nvPr>
            <p:ph type="body" sz="quarter" idx="10"/>
          </p:nvPr>
        </p:nvSpPr>
        <p:spPr/>
        <p:txBody>
          <a:bodyPr/>
          <a:lstStyle/>
          <a:p>
            <a:r>
              <a:rPr kumimoji="1" lang="en-US" altLang="ja-JP" dirty="0"/>
              <a:t>D-FF </a:t>
            </a:r>
            <a:r>
              <a:rPr kumimoji="1" lang="ja-JP" altLang="en-US" dirty="0"/>
              <a:t>の遅延：これまでの４フェーズの動作の遅延</a:t>
            </a:r>
            <a:endParaRPr kumimoji="1" lang="en-US" altLang="ja-JP" dirty="0"/>
          </a:p>
          <a:p>
            <a:pPr lvl="1"/>
            <a:r>
              <a:rPr kumimoji="1" lang="ja-JP" altLang="en-US" dirty="0"/>
              <a:t>スイッチが切り替わるまでの遅延</a:t>
            </a:r>
            <a:endParaRPr kumimoji="1" lang="en-US" altLang="ja-JP" dirty="0"/>
          </a:p>
          <a:p>
            <a:pPr lvl="1"/>
            <a:r>
              <a:rPr kumimoji="1" lang="ja-JP" altLang="en-US" dirty="0"/>
              <a:t>スイッチが切り替わった後，</a:t>
            </a:r>
            <a:br>
              <a:rPr kumimoji="1" lang="en-US" altLang="ja-JP" dirty="0"/>
            </a:br>
            <a:r>
              <a:rPr kumimoji="1" lang="ja-JP" altLang="en-US" dirty="0"/>
              <a:t>インバータの入力に応じて出力が変化するまでの遅延</a:t>
            </a:r>
            <a:endParaRPr kumimoji="1" lang="en-US" altLang="ja-JP" dirty="0"/>
          </a:p>
          <a:p>
            <a:r>
              <a:rPr kumimoji="1" lang="ja-JP" altLang="en-US" dirty="0"/>
              <a:t>クロック周波数を上げすぎると，これらの限界にぶつかる</a:t>
            </a:r>
            <a:endParaRPr kumimoji="1" lang="en-US" altLang="ja-JP" dirty="0"/>
          </a:p>
          <a:p>
            <a:pPr lvl="1"/>
            <a:r>
              <a:rPr kumimoji="1" lang="ja-JP" altLang="en-US" dirty="0"/>
              <a:t>１ステージ内の組み合わせ回路の遅延：</a:t>
            </a:r>
            <a:br>
              <a:rPr kumimoji="1" lang="en-US" altLang="ja-JP" dirty="0"/>
            </a:br>
            <a:r>
              <a:rPr kumimoji="1" lang="ja-JP" altLang="en-US" dirty="0"/>
              <a:t>インバータ換算で通常１０から２０段分ぐらい</a:t>
            </a:r>
            <a:endParaRPr kumimoji="1" lang="en-US" altLang="ja-JP" dirty="0"/>
          </a:p>
          <a:p>
            <a:pPr lvl="1"/>
            <a:r>
              <a:rPr kumimoji="1" lang="ja-JP" altLang="en-US" dirty="0"/>
              <a:t>なので，</a:t>
            </a:r>
            <a:r>
              <a:rPr kumimoji="1" lang="en-US" altLang="ja-JP" dirty="0"/>
              <a:t>D-FF </a:t>
            </a:r>
            <a:r>
              <a:rPr kumimoji="1" lang="ja-JP" altLang="en-US" dirty="0"/>
              <a:t>自体の遅延は意外とバカにならない</a:t>
            </a:r>
          </a:p>
        </p:txBody>
      </p:sp>
      <p:sp>
        <p:nvSpPr>
          <p:cNvPr id="2" name="スライド番号プレースホルダー 1"/>
          <p:cNvSpPr>
            <a:spLocks noGrp="1"/>
          </p:cNvSpPr>
          <p:nvPr>
            <p:ph type="sldNum" sz="quarter" idx="4294967295"/>
          </p:nvPr>
        </p:nvSpPr>
        <p:spPr>
          <a:xfrm>
            <a:off x="10055226" y="6308726"/>
            <a:ext cx="612775" cy="549275"/>
          </a:xfrm>
        </p:spPr>
        <p:txBody>
          <a:bodyPr/>
          <a:lstStyle/>
          <a:p>
            <a:fld id="{D2D8002D-B5B0-4BAC-B1F6-782DDCCE6D9C}" type="slidenum">
              <a:rPr kumimoji="1" lang="ja-JP" altLang="en-US" smtClean="0"/>
              <a:pPr/>
              <a:t>51</a:t>
            </a:fld>
            <a:endParaRPr kumimoji="1" lang="ja-JP" altLang="en-US" dirty="0"/>
          </a:p>
        </p:txBody>
      </p:sp>
    </p:spTree>
    <p:extLst>
      <p:ext uri="{BB962C8B-B14F-4D97-AF65-F5344CB8AC3E}">
        <p14:creationId xmlns:p14="http://schemas.microsoft.com/office/powerpoint/2010/main" val="4109591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理由２：消費電力と熱</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クロック周波数を上げる</a:t>
            </a:r>
            <a:endParaRPr kumimoji="1" lang="en-US" altLang="ja-JP" dirty="0"/>
          </a:p>
          <a:p>
            <a:pPr lvl="1"/>
            <a:r>
              <a:rPr kumimoji="1" lang="ja-JP" altLang="en-US" dirty="0"/>
              <a:t>→ 単位時間あたりの回路全体の充放電の回数が増える</a:t>
            </a:r>
            <a:endParaRPr kumimoji="1" lang="en-US" altLang="ja-JP" dirty="0"/>
          </a:p>
          <a:p>
            <a:pPr lvl="1"/>
            <a:r>
              <a:rPr kumimoji="1" lang="ja-JP" altLang="en-US" dirty="0"/>
              <a:t>→ 消費電力と，それによって発生する熱がそれだけ増える</a:t>
            </a:r>
            <a:endParaRPr kumimoji="1" lang="en-US" altLang="ja-JP" dirty="0"/>
          </a:p>
          <a:p>
            <a:pPr marL="457200" indent="-457200">
              <a:buFont typeface="+mj-lt"/>
              <a:buAutoNum type="arabicPeriod"/>
            </a:pPr>
            <a:r>
              <a:rPr kumimoji="1" lang="ja-JP" altLang="en-US" dirty="0"/>
              <a:t>電力供給の限界</a:t>
            </a:r>
            <a:endParaRPr lang="en-US" altLang="ja-JP" dirty="0"/>
          </a:p>
          <a:p>
            <a:pPr lvl="1"/>
            <a:r>
              <a:rPr kumimoji="1" lang="en-US" altLang="ja-JP" dirty="0"/>
              <a:t>CPU </a:t>
            </a:r>
            <a:r>
              <a:rPr kumimoji="1" lang="ja-JP" altLang="en-US" dirty="0"/>
              <a:t>のチップの端子から流し込める電流の限界</a:t>
            </a:r>
            <a:endParaRPr kumimoji="1" lang="en-US" altLang="ja-JP" dirty="0"/>
          </a:p>
          <a:p>
            <a:pPr lvl="1"/>
            <a:r>
              <a:rPr lang="ja-JP" altLang="en-US" i="1" dirty="0"/>
              <a:t>オームの法則：</a:t>
            </a:r>
            <a:r>
              <a:rPr lang="en-US" altLang="ja-JP" i="1" dirty="0"/>
              <a:t>V=IR</a:t>
            </a:r>
          </a:p>
          <a:p>
            <a:pPr lvl="2"/>
            <a:r>
              <a:rPr kumimoji="1" lang="ja-JP" altLang="en-US" i="1" dirty="0"/>
              <a:t>端子のピンの数で </a:t>
            </a:r>
            <a:r>
              <a:rPr kumimoji="1" lang="en-US" altLang="ja-JP" i="1" dirty="0"/>
              <a:t>R </a:t>
            </a:r>
            <a:r>
              <a:rPr kumimoji="1" lang="ja-JP" altLang="en-US" i="1" dirty="0"/>
              <a:t>が決まる</a:t>
            </a:r>
            <a:endParaRPr kumimoji="1" lang="en-US" altLang="ja-JP" i="1" dirty="0"/>
          </a:p>
          <a:p>
            <a:pPr marL="457200" indent="-457200">
              <a:buFont typeface="+mj-lt"/>
              <a:buAutoNum type="arabicPeriod"/>
            </a:pPr>
            <a:r>
              <a:rPr kumimoji="1" lang="ja-JP" altLang="en-US" dirty="0"/>
              <a:t>放熱の限界</a:t>
            </a:r>
            <a:endParaRPr kumimoji="1" lang="en-US" altLang="ja-JP" dirty="0"/>
          </a:p>
          <a:p>
            <a:pPr lvl="1"/>
            <a:r>
              <a:rPr kumimoji="1" lang="ja-JP" altLang="en-US" dirty="0"/>
              <a:t>温度の上昇に，放熱が追いつかない</a:t>
            </a:r>
            <a:endParaRPr kumimoji="1" lang="en-US" altLang="ja-JP" dirty="0"/>
          </a:p>
        </p:txBody>
      </p:sp>
    </p:spTree>
    <p:extLst>
      <p:ext uri="{BB962C8B-B14F-4D97-AF65-F5344CB8AC3E}">
        <p14:creationId xmlns:p14="http://schemas.microsoft.com/office/powerpoint/2010/main" val="385786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パイプライン化の限界</a:t>
            </a:r>
          </a:p>
        </p:txBody>
      </p:sp>
      <p:sp>
        <p:nvSpPr>
          <p:cNvPr id="3" name="テキスト プレースホルダー 2"/>
          <p:cNvSpPr>
            <a:spLocks noGrp="1"/>
          </p:cNvSpPr>
          <p:nvPr>
            <p:ph type="body" sz="quarter" idx="10"/>
          </p:nvPr>
        </p:nvSpPr>
        <p:spPr/>
        <p:txBody>
          <a:bodyPr/>
          <a:lstStyle/>
          <a:p>
            <a:r>
              <a:rPr lang="ja-JP" altLang="en-US" dirty="0"/>
              <a:t>速度が上がらなくなる理由：</a:t>
            </a:r>
            <a:endParaRPr lang="en-US" altLang="ja-JP" dirty="0"/>
          </a:p>
          <a:p>
            <a:pPr marL="817200" lvl="1" indent="-457200">
              <a:buFont typeface="+mj-lt"/>
              <a:buAutoNum type="arabicPeriod"/>
            </a:pPr>
            <a:r>
              <a:rPr lang="ja-JP" altLang="en-US" dirty="0"/>
              <a:t>回路的な理由による周波数向上の限界</a:t>
            </a:r>
            <a:endParaRPr lang="en-US" altLang="ja-JP" dirty="0"/>
          </a:p>
          <a:p>
            <a:pPr marL="817200" lvl="1" indent="-457200">
              <a:buFont typeface="+mj-lt"/>
              <a:buAutoNum type="arabicPeriod"/>
            </a:pPr>
            <a:r>
              <a:rPr lang="ja-JP" altLang="en-US" b="1" dirty="0">
                <a:solidFill>
                  <a:schemeClr val="accent5"/>
                </a:solidFill>
              </a:rPr>
              <a:t>アーキテクチャ的な理由による実効性能の限界</a:t>
            </a:r>
            <a:endParaRPr kumimoji="1" lang="ja-JP" altLang="en-US" b="1" dirty="0">
              <a:solidFill>
                <a:schemeClr val="accent5"/>
              </a:solidFill>
            </a:endParaRPr>
          </a:p>
        </p:txBody>
      </p:sp>
    </p:spTree>
    <p:extLst>
      <p:ext uri="{BB962C8B-B14F-4D97-AF65-F5344CB8AC3E}">
        <p14:creationId xmlns:p14="http://schemas.microsoft.com/office/powerpoint/2010/main" val="31891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アーキテクチャ的な理由による実効性能の限界</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バックエッジがないパイプライン</a:t>
            </a:r>
            <a:endParaRPr kumimoji="1" lang="en-US" altLang="ja-JP" dirty="0"/>
          </a:p>
          <a:p>
            <a:pPr lvl="1"/>
            <a:r>
              <a:rPr kumimoji="1" lang="ja-JP" altLang="en-US" dirty="0"/>
              <a:t>（回路的な限界にあたるまでは</a:t>
            </a:r>
            <a:endParaRPr kumimoji="1" lang="en-US" altLang="ja-JP" dirty="0"/>
          </a:p>
          <a:p>
            <a:pPr lvl="1"/>
            <a:r>
              <a:rPr kumimoji="1" lang="ja-JP" altLang="en-US" dirty="0"/>
              <a:t>パイプライン段数を増やせば増やすほど性能（周波数）が上がる</a:t>
            </a:r>
            <a:endParaRPr kumimoji="1" lang="en-US" altLang="ja-JP" dirty="0"/>
          </a:p>
          <a:p>
            <a:r>
              <a:rPr kumimoji="1" lang="ja-JP" altLang="en-US" dirty="0"/>
              <a:t>バックエッジがあるパイプライン</a:t>
            </a:r>
            <a:endParaRPr kumimoji="1" lang="en-US" altLang="ja-JP" dirty="0"/>
          </a:p>
          <a:p>
            <a:pPr lvl="1"/>
            <a:r>
              <a:rPr kumimoji="1" lang="ja-JP" altLang="en-US" dirty="0"/>
              <a:t>パイプライン段数を増やすと，</a:t>
            </a:r>
            <a:endParaRPr kumimoji="1" lang="en-US" altLang="ja-JP" dirty="0"/>
          </a:p>
          <a:p>
            <a:pPr lvl="2"/>
            <a:r>
              <a:rPr lang="ja-JP" altLang="en-US" dirty="0"/>
              <a:t>周波数そのものは上がる・・・が，</a:t>
            </a:r>
            <a:endParaRPr lang="en-US" altLang="ja-JP" dirty="0"/>
          </a:p>
          <a:p>
            <a:pPr lvl="2"/>
            <a:r>
              <a:rPr kumimoji="1" lang="ja-JP" altLang="en-US" dirty="0"/>
              <a:t>場合によって，命令を処理できる実効的な速度が落ちる</a:t>
            </a:r>
          </a:p>
        </p:txBody>
      </p:sp>
    </p:spTree>
    <p:extLst>
      <p:ext uri="{BB962C8B-B14F-4D97-AF65-F5344CB8AC3E}">
        <p14:creationId xmlns:p14="http://schemas.microsoft.com/office/powerpoint/2010/main" val="9098369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バックエッジ：逆方向（右から左）にいく信号</a:t>
            </a:r>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2495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91007" y="3834004"/>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978993"/>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2135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1595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3080968"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1595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3935976"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2495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3575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4475982" y="3969003"/>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4475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4655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2495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4475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4475982" y="1898984"/>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9876039" y="3429000"/>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9696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536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6096000" y="3879005"/>
            <a:ext cx="360004"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6096000" y="4689014"/>
            <a:ext cx="360004"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8256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6636005"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8076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8256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10056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3395971"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8076022" y="3248995"/>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9561041" y="2393989"/>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8796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3395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3395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3395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3. </a:t>
            </a:r>
            <a:r>
              <a:rPr lang="ja-JP" altLang="en-US" sz="1600" dirty="0">
                <a:solidFill>
                  <a:schemeClr val="accent6"/>
                </a:solidFill>
                <a:latin typeface="メイリオ" panose="020B0604030504040204" pitchFamily="50" charset="-128"/>
                <a:ea typeface="メイリオ" panose="020B0604030504040204" pitchFamily="50" charset="-128"/>
              </a:rPr>
              <a:t>分岐結果の </a:t>
            </a:r>
            <a:r>
              <a:rPr lang="en-US" altLang="ja-JP" sz="1600" dirty="0">
                <a:solidFill>
                  <a:schemeClr val="accent6"/>
                </a:solidFill>
                <a:latin typeface="メイリオ" panose="020B0604030504040204" pitchFamily="50" charset="-128"/>
                <a:ea typeface="メイリオ" panose="020B0604030504040204" pitchFamily="50" charset="-128"/>
              </a:rPr>
              <a:t>PC </a:t>
            </a:r>
            <a:r>
              <a:rPr lang="ja-JP" altLang="en-US" sz="1600" dirty="0" err="1">
                <a:solidFill>
                  <a:schemeClr val="accent6"/>
                </a:solidFill>
                <a:latin typeface="メイリオ" panose="020B0604030504040204" pitchFamily="50" charset="-128"/>
                <a:ea typeface="メイリオ" panose="020B0604030504040204" pitchFamily="50" charset="-128"/>
              </a:rPr>
              <a:t>への</a:t>
            </a:r>
            <a:r>
              <a:rPr lang="ja-JP" altLang="en-US" sz="1600" dirty="0">
                <a:solidFill>
                  <a:schemeClr val="accent6"/>
                </a:solidFill>
                <a:latin typeface="メイリオ" panose="020B0604030504040204" pitchFamily="50" charset="-128"/>
                <a:ea typeface="メイリオ" panose="020B0604030504040204" pitchFamily="50" charset="-128"/>
              </a:rPr>
              <a:t>反映</a:t>
            </a:r>
            <a:endParaRPr lang="en-US" altLang="ja-JP" sz="1600" dirty="0">
              <a:solidFill>
                <a:schemeClr val="accent6"/>
              </a:solidFill>
              <a:latin typeface="メイリオ" panose="020B0604030504040204" pitchFamily="50" charset="-128"/>
              <a:ea typeface="メイリオ" panose="020B0604030504040204" pitchFamily="50" charset="-128"/>
            </a:endParaRPr>
          </a:p>
          <a:p>
            <a:r>
              <a:rPr lang="ja-JP" altLang="en-US" sz="1600" dirty="0">
                <a:solidFill>
                  <a:schemeClr val="accent6"/>
                </a:solidFill>
                <a:latin typeface="メイリオ" panose="020B0604030504040204" pitchFamily="50" charset="-128"/>
                <a:ea typeface="メイリオ" panose="020B0604030504040204" pitchFamily="50" charset="-128"/>
              </a:rPr>
              <a:t>　 制御ハザードの原因</a:t>
            </a:r>
          </a:p>
        </p:txBody>
      </p:sp>
      <p:sp>
        <p:nvSpPr>
          <p:cNvPr id="49" name="正方形/長方形 48"/>
          <p:cNvSpPr/>
          <p:nvPr/>
        </p:nvSpPr>
        <p:spPr bwMode="auto">
          <a:xfrm>
            <a:off x="4565983" y="216898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lang="ja-JP" altLang="en-US" sz="1600" dirty="0">
                <a:solidFill>
                  <a:schemeClr val="accent6"/>
                </a:solidFill>
                <a:latin typeface="メイリオ" panose="020B0604030504040204" pitchFamily="50" charset="-128"/>
                <a:ea typeface="メイリオ" panose="020B0604030504040204" pitchFamily="50" charset="-128"/>
              </a:rPr>
              <a:t>ロードの結果の書き込み</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　データハザードの原因</a:t>
            </a:r>
          </a:p>
        </p:txBody>
      </p:sp>
      <p:sp>
        <p:nvSpPr>
          <p:cNvPr id="50" name="正方形/長方形 49"/>
          <p:cNvSpPr/>
          <p:nvPr/>
        </p:nvSpPr>
        <p:spPr bwMode="auto">
          <a:xfrm>
            <a:off x="6186001"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lang="ja-JP" altLang="en-US" sz="1600" dirty="0">
                <a:solidFill>
                  <a:schemeClr val="accent6"/>
                </a:solidFill>
                <a:latin typeface="メイリオ" panose="020B0604030504040204" pitchFamily="50" charset="-128"/>
                <a:ea typeface="メイリオ" panose="020B0604030504040204" pitchFamily="50" charset="-128"/>
              </a:rPr>
              <a:t>演算器自体への</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フォワーディング</a:t>
            </a:r>
          </a:p>
        </p:txBody>
      </p:sp>
      <p:cxnSp>
        <p:nvCxnSpPr>
          <p:cNvPr id="51" name="直線矢印コネクタ 50"/>
          <p:cNvCxnSpPr/>
          <p:nvPr/>
        </p:nvCxnSpPr>
        <p:spPr bwMode="auto">
          <a:xfrm flipV="1">
            <a:off x="6456004" y="3789004"/>
            <a:ext cx="360004" cy="2"/>
          </a:xfrm>
          <a:prstGeom prst="straightConnector1">
            <a:avLst/>
          </a:prstGeom>
          <a:noFill/>
          <a:ln w="31750" cap="flat" cmpd="sng" algn="ctr">
            <a:solidFill>
              <a:schemeClr val="accent6"/>
            </a:solidFill>
            <a:prstDash val="solid"/>
            <a:round/>
            <a:headEnd type="none" w="sm" len="sm"/>
            <a:tailEnd type="triangle"/>
          </a:ln>
          <a:effectLst/>
        </p:spPr>
      </p:cxnSp>
      <p:cxnSp>
        <p:nvCxnSpPr>
          <p:cNvPr id="52" name="直線矢印コネクタ 51"/>
          <p:cNvCxnSpPr/>
          <p:nvPr/>
        </p:nvCxnSpPr>
        <p:spPr bwMode="auto">
          <a:xfrm flipV="1">
            <a:off x="6456004" y="4599013"/>
            <a:ext cx="360004" cy="2"/>
          </a:xfrm>
          <a:prstGeom prst="straightConnector1">
            <a:avLst/>
          </a:prstGeom>
          <a:noFill/>
          <a:ln w="31750" cap="flat" cmpd="sng" algn="ctr">
            <a:solidFill>
              <a:schemeClr val="accent6"/>
            </a:solidFill>
            <a:prstDash val="solid"/>
            <a:round/>
            <a:headEnd type="none" w="sm" len="sm"/>
            <a:tailEnd type="triangle"/>
          </a:ln>
          <a:effectLst/>
        </p:spPr>
      </p:cxnSp>
      <p:sp>
        <p:nvSpPr>
          <p:cNvPr id="53" name="Freeform 10"/>
          <p:cNvSpPr>
            <a:spLocks/>
          </p:cNvSpPr>
          <p:nvPr/>
        </p:nvSpPr>
        <p:spPr bwMode="auto">
          <a:xfrm flipH="1" flipV="1">
            <a:off x="6186001" y="3338999"/>
            <a:ext cx="1620018"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6456004" y="4419013"/>
            <a:ext cx="0" cy="360004"/>
          </a:xfrm>
          <a:prstGeom prst="straightConnector1">
            <a:avLst/>
          </a:prstGeom>
          <a:noFill/>
          <a:ln w="31750" cap="flat" cmpd="sng" algn="ctr">
            <a:solidFill>
              <a:schemeClr val="accent6"/>
            </a:solidFill>
            <a:prstDash val="solid"/>
            <a:round/>
            <a:headEnd type="none" w="sm" len="sm"/>
            <a:tailEnd type="none"/>
          </a:ln>
          <a:effectLst/>
        </p:spPr>
      </p:cxnSp>
      <p:sp>
        <p:nvSpPr>
          <p:cNvPr id="55" name="Freeform 10"/>
          <p:cNvSpPr>
            <a:spLocks/>
          </p:cNvSpPr>
          <p:nvPr/>
        </p:nvSpPr>
        <p:spPr bwMode="auto">
          <a:xfrm rot="10800000" flipH="1" flipV="1">
            <a:off x="6186002" y="3338999"/>
            <a:ext cx="270003" cy="36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56" name="Freeform 10"/>
          <p:cNvSpPr>
            <a:spLocks/>
          </p:cNvSpPr>
          <p:nvPr/>
        </p:nvSpPr>
        <p:spPr bwMode="auto">
          <a:xfrm rot="10800000" flipH="1" flipV="1">
            <a:off x="6186002" y="3699005"/>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9" name="直線矢印コネクタ 58"/>
          <p:cNvCxnSpPr/>
          <p:nvPr/>
        </p:nvCxnSpPr>
        <p:spPr bwMode="auto">
          <a:xfrm>
            <a:off x="6456004" y="3609002"/>
            <a:ext cx="0" cy="360004"/>
          </a:xfrm>
          <a:prstGeom prst="straightConnector1">
            <a:avLst/>
          </a:prstGeom>
          <a:noFill/>
          <a:ln w="31750" cap="flat" cmpd="sng" algn="ctr">
            <a:solidFill>
              <a:schemeClr val="accent6"/>
            </a:solidFill>
            <a:prstDash val="solid"/>
            <a:round/>
            <a:headEnd type="none" w="sm" len="sm"/>
            <a:tailEnd type="none"/>
          </a:ln>
          <a:effectLst/>
        </p:spPr>
      </p:cxnSp>
    </p:spTree>
    <p:extLst>
      <p:ext uri="{BB962C8B-B14F-4D97-AF65-F5344CB8AC3E}">
        <p14:creationId xmlns:p14="http://schemas.microsoft.com/office/powerpoint/2010/main" val="7575789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問題となるバックエッジ</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latin typeface="メイリオ" panose="020B0604030504040204" pitchFamily="50" charset="-128"/>
              </a:rPr>
              <a:t>演算器のフォワーディング</a:t>
            </a:r>
            <a:endParaRPr lang="en-US" altLang="ja-JP" dirty="0">
              <a:latin typeface="メイリオ" panose="020B0604030504040204" pitchFamily="50" charset="-128"/>
            </a:endParaRPr>
          </a:p>
          <a:p>
            <a:pPr marL="457200" indent="-457200">
              <a:buFont typeface="+mj-lt"/>
              <a:buAutoNum type="arabicPeriod"/>
            </a:pPr>
            <a:r>
              <a:rPr lang="ja-JP" altLang="en-US" dirty="0">
                <a:latin typeface="メイリオ" panose="020B0604030504040204" pitchFamily="50" charset="-128"/>
              </a:rPr>
              <a:t>ロードによるデータ・メモリの読み出し</a:t>
            </a:r>
            <a:endParaRPr lang="en-US" altLang="ja-JP" dirty="0">
              <a:latin typeface="メイリオ" panose="020B0604030504040204" pitchFamily="50" charset="-128"/>
            </a:endParaRPr>
          </a:p>
          <a:p>
            <a:pPr marL="457200" indent="-457200">
              <a:buFont typeface="+mj-lt"/>
              <a:buAutoNum type="arabicPeriod"/>
            </a:pPr>
            <a:r>
              <a:rPr lang="ja-JP" altLang="en-US" dirty="0">
                <a:latin typeface="メイリオ" panose="020B0604030504040204" pitchFamily="50" charset="-128"/>
              </a:rPr>
              <a:t>分岐結果の </a:t>
            </a:r>
            <a:r>
              <a:rPr lang="en-US" altLang="ja-JP" dirty="0">
                <a:latin typeface="メイリオ" panose="020B0604030504040204" pitchFamily="50" charset="-128"/>
              </a:rPr>
              <a:t>PC </a:t>
            </a:r>
            <a:r>
              <a:rPr lang="ja-JP" altLang="en-US" dirty="0" err="1">
                <a:latin typeface="メイリオ" panose="020B0604030504040204" pitchFamily="50" charset="-128"/>
              </a:rPr>
              <a:t>への</a:t>
            </a:r>
            <a:r>
              <a:rPr lang="ja-JP" altLang="en-US" dirty="0">
                <a:latin typeface="メイリオ" panose="020B0604030504040204" pitchFamily="50" charset="-128"/>
              </a:rPr>
              <a:t>反映</a:t>
            </a:r>
            <a:endParaRPr kumimoji="1" lang="ja-JP" altLang="en-US" dirty="0"/>
          </a:p>
        </p:txBody>
      </p:sp>
    </p:spTree>
    <p:extLst>
      <p:ext uri="{BB962C8B-B14F-4D97-AF65-F5344CB8AC3E}">
        <p14:creationId xmlns:p14="http://schemas.microsoft.com/office/powerpoint/2010/main" val="3499536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marL="457200" indent="-457200">
              <a:buFont typeface="+mj-lt"/>
              <a:buAutoNum type="arabicPeriod"/>
            </a:pPr>
            <a:r>
              <a:rPr lang="ja-JP" altLang="en-US" dirty="0">
                <a:latin typeface="メイリオ" panose="020B0604030504040204" pitchFamily="50" charset="-128"/>
              </a:rPr>
              <a:t>演算器のフォワーディング</a:t>
            </a:r>
            <a:endParaRPr lang="en-US" altLang="ja-JP" dirty="0">
              <a:latin typeface="メイリオ" panose="020B0604030504040204" pitchFamily="50" charset="-128"/>
            </a:endParaRPr>
          </a:p>
        </p:txBody>
      </p:sp>
      <p:sp>
        <p:nvSpPr>
          <p:cNvPr id="3" name="テキスト プレースホルダー 2"/>
          <p:cNvSpPr>
            <a:spLocks noGrp="1"/>
          </p:cNvSpPr>
          <p:nvPr>
            <p:ph type="body" sz="quarter" idx="10"/>
          </p:nvPr>
        </p:nvSpPr>
        <p:spPr>
          <a:xfrm>
            <a:off x="2045955" y="3789005"/>
            <a:ext cx="8280092" cy="1619711"/>
          </a:xfrm>
        </p:spPr>
        <p:txBody>
          <a:bodyPr/>
          <a:lstStyle/>
          <a:p>
            <a:r>
              <a:rPr kumimoji="1" lang="ja-JP" altLang="en-US" dirty="0"/>
              <a:t>ここは結構遅延が長い</a:t>
            </a:r>
            <a:endParaRPr kumimoji="1" lang="en-US" altLang="ja-JP" dirty="0"/>
          </a:p>
          <a:p>
            <a:pPr lvl="1"/>
            <a:r>
              <a:rPr kumimoji="1" lang="ja-JP" altLang="en-US" dirty="0"/>
              <a:t>クロック周波数の低下につながるのでパイプライン化したくなる</a:t>
            </a:r>
            <a:endParaRPr kumimoji="1" lang="en-US" altLang="ja-JP" dirty="0"/>
          </a:p>
        </p:txBody>
      </p:sp>
      <p:sp>
        <p:nvSpPr>
          <p:cNvPr id="4" name="フリーフォーム 3"/>
          <p:cNvSpPr>
            <a:spLocks noChangeArrowheads="1"/>
          </p:cNvSpPr>
          <p:nvPr/>
        </p:nvSpPr>
        <p:spPr bwMode="auto">
          <a:xfrm rot="-5400000">
            <a:off x="7491017"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5" name="直線矢印コネクタ 4"/>
          <p:cNvCxnSpPr/>
          <p:nvPr/>
        </p:nvCxnSpPr>
        <p:spPr bwMode="auto">
          <a:xfrm>
            <a:off x="7086012" y="2078987"/>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6" name="直線矢印コネクタ 5"/>
          <p:cNvCxnSpPr/>
          <p:nvPr/>
        </p:nvCxnSpPr>
        <p:spPr bwMode="auto">
          <a:xfrm>
            <a:off x="7086012" y="2888996"/>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7" name="正方形/長方形 6"/>
          <p:cNvSpPr/>
          <p:nvPr/>
        </p:nvSpPr>
        <p:spPr bwMode="auto">
          <a:xfrm>
            <a:off x="7266013"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8" name="二等辺三角形 7"/>
          <p:cNvSpPr/>
          <p:nvPr/>
        </p:nvSpPr>
        <p:spPr bwMode="auto">
          <a:xfrm>
            <a:off x="7310617"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Freeform 10"/>
          <p:cNvSpPr>
            <a:spLocks/>
          </p:cNvSpPr>
          <p:nvPr/>
        </p:nvSpPr>
        <p:spPr bwMode="auto">
          <a:xfrm flipH="1" flipV="1">
            <a:off x="6816008" y="1268977"/>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0" name="直線矢印コネクタ 9"/>
          <p:cNvCxnSpPr/>
          <p:nvPr/>
        </p:nvCxnSpPr>
        <p:spPr bwMode="auto">
          <a:xfrm>
            <a:off x="7086011" y="1898985"/>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11" name="直線矢印コネクタ 10"/>
          <p:cNvCxnSpPr/>
          <p:nvPr/>
        </p:nvCxnSpPr>
        <p:spPr bwMode="auto">
          <a:xfrm>
            <a:off x="7086011" y="2708994"/>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12" name="Freeform 10"/>
          <p:cNvSpPr>
            <a:spLocks/>
          </p:cNvSpPr>
          <p:nvPr/>
        </p:nvSpPr>
        <p:spPr bwMode="auto">
          <a:xfrm rot="10800000" flipH="1" flipV="1">
            <a:off x="6816009" y="1268979"/>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 name="Freeform 10"/>
          <p:cNvSpPr>
            <a:spLocks/>
          </p:cNvSpPr>
          <p:nvPr/>
        </p:nvSpPr>
        <p:spPr bwMode="auto">
          <a:xfrm rot="10800000" flipH="1" flipV="1">
            <a:off x="6816009" y="1988986"/>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4" name="直線矢印コネクタ 13"/>
          <p:cNvCxnSpPr/>
          <p:nvPr/>
        </p:nvCxnSpPr>
        <p:spPr bwMode="auto">
          <a:xfrm>
            <a:off x="6636007" y="2168988"/>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5" name="直線矢印コネクタ 14"/>
          <p:cNvCxnSpPr/>
          <p:nvPr/>
        </p:nvCxnSpPr>
        <p:spPr bwMode="auto">
          <a:xfrm>
            <a:off x="6636007" y="297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6" name="直線矢印コネクタ 15"/>
          <p:cNvCxnSpPr/>
          <p:nvPr/>
        </p:nvCxnSpPr>
        <p:spPr bwMode="auto">
          <a:xfrm>
            <a:off x="8346026" y="243899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39" name="フリーフォーム 38"/>
          <p:cNvSpPr>
            <a:spLocks noChangeArrowheads="1"/>
          </p:cNvSpPr>
          <p:nvPr/>
        </p:nvSpPr>
        <p:spPr bwMode="auto">
          <a:xfrm rot="-5400000">
            <a:off x="3890977"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40" name="直線矢印コネクタ 39"/>
          <p:cNvCxnSpPr/>
          <p:nvPr/>
        </p:nvCxnSpPr>
        <p:spPr bwMode="auto">
          <a:xfrm>
            <a:off x="3935976" y="2078985"/>
            <a:ext cx="360004" cy="2"/>
          </a:xfrm>
          <a:prstGeom prst="straightConnector1">
            <a:avLst/>
          </a:prstGeom>
          <a:noFill/>
          <a:ln w="31750" cap="flat" cmpd="sng" algn="ctr">
            <a:solidFill>
              <a:schemeClr val="accent5"/>
            </a:solidFill>
            <a:prstDash val="solid"/>
            <a:round/>
            <a:headEnd type="none" w="sm" len="sm"/>
            <a:tailEnd type="triangle"/>
          </a:ln>
          <a:effectLst/>
        </p:spPr>
      </p:cxnSp>
      <p:cxnSp>
        <p:nvCxnSpPr>
          <p:cNvPr id="41" name="直線矢印コネクタ 40"/>
          <p:cNvCxnSpPr/>
          <p:nvPr/>
        </p:nvCxnSpPr>
        <p:spPr bwMode="auto">
          <a:xfrm>
            <a:off x="3935976" y="2888994"/>
            <a:ext cx="360004" cy="2"/>
          </a:xfrm>
          <a:prstGeom prst="straightConnector1">
            <a:avLst/>
          </a:prstGeom>
          <a:noFill/>
          <a:ln w="31750" cap="flat" cmpd="sng" algn="ctr">
            <a:solidFill>
              <a:schemeClr val="accent5"/>
            </a:solidFill>
            <a:prstDash val="solid"/>
            <a:round/>
            <a:headEnd type="none" w="sm" len="sm"/>
            <a:tailEnd type="triangle"/>
          </a:ln>
          <a:effectLst/>
        </p:spPr>
      </p:cxnSp>
      <p:sp>
        <p:nvSpPr>
          <p:cNvPr id="42" name="正方形/長方形 41"/>
          <p:cNvSpPr/>
          <p:nvPr/>
        </p:nvSpPr>
        <p:spPr bwMode="auto">
          <a:xfrm>
            <a:off x="3665973"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3" name="二等辺三角形 42"/>
          <p:cNvSpPr/>
          <p:nvPr/>
        </p:nvSpPr>
        <p:spPr bwMode="auto">
          <a:xfrm>
            <a:off x="3710577"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9" name="直線矢印コネクタ 48"/>
          <p:cNvCxnSpPr/>
          <p:nvPr/>
        </p:nvCxnSpPr>
        <p:spPr bwMode="auto">
          <a:xfrm>
            <a:off x="3215969" y="2078985"/>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50" name="直線矢印コネクタ 49"/>
          <p:cNvCxnSpPr/>
          <p:nvPr/>
        </p:nvCxnSpPr>
        <p:spPr bwMode="auto">
          <a:xfrm>
            <a:off x="3215969" y="2888994"/>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54" name="正方形/長方形 53"/>
          <p:cNvSpPr/>
          <p:nvPr/>
        </p:nvSpPr>
        <p:spPr bwMode="auto">
          <a:xfrm>
            <a:off x="8796031"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5" name="正方形/長方形 54"/>
          <p:cNvSpPr/>
          <p:nvPr/>
        </p:nvSpPr>
        <p:spPr bwMode="auto">
          <a:xfrm>
            <a:off x="5105990"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56" name="直線矢印コネクタ 55"/>
          <p:cNvCxnSpPr/>
          <p:nvPr/>
        </p:nvCxnSpPr>
        <p:spPr bwMode="auto">
          <a:xfrm>
            <a:off x="4745985" y="2438989"/>
            <a:ext cx="360004" cy="2"/>
          </a:xfrm>
          <a:prstGeom prst="straightConnector1">
            <a:avLst/>
          </a:prstGeom>
          <a:noFill/>
          <a:ln w="31750" cap="flat" cmpd="sng" algn="ctr">
            <a:solidFill>
              <a:schemeClr val="accent5"/>
            </a:solidFill>
            <a:prstDash val="solid"/>
            <a:round/>
            <a:headEnd type="none" w="sm" len="sm"/>
            <a:tailEnd type="triangle"/>
          </a:ln>
          <a:effectLst/>
        </p:spPr>
      </p:cxnSp>
    </p:spTree>
    <p:extLst>
      <p:ext uri="{BB962C8B-B14F-4D97-AF65-F5344CB8AC3E}">
        <p14:creationId xmlns:p14="http://schemas.microsoft.com/office/powerpoint/2010/main" val="11060834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メイリオ" panose="020B0604030504040204" pitchFamily="50" charset="-128"/>
              </a:rPr>
              <a:t>演算器のパイプライン化</a:t>
            </a:r>
            <a:endParaRPr lang="en-US" altLang="ja-JP" dirty="0">
              <a:latin typeface="メイリオ" panose="020B0604030504040204" pitchFamily="50" charset="-128"/>
            </a:endParaRPr>
          </a:p>
        </p:txBody>
      </p:sp>
      <p:sp>
        <p:nvSpPr>
          <p:cNvPr id="3" name="テキスト プレースホルダー 2"/>
          <p:cNvSpPr>
            <a:spLocks noGrp="1"/>
          </p:cNvSpPr>
          <p:nvPr>
            <p:ph type="body" sz="quarter" idx="10"/>
          </p:nvPr>
        </p:nvSpPr>
        <p:spPr>
          <a:xfrm>
            <a:off x="2045955" y="3789005"/>
            <a:ext cx="8280092" cy="1619711"/>
          </a:xfrm>
        </p:spPr>
        <p:txBody>
          <a:bodyPr/>
          <a:lstStyle/>
          <a:p>
            <a:r>
              <a:rPr kumimoji="1" lang="ja-JP" altLang="en-US" dirty="0"/>
              <a:t>演算器のパイプライン化</a:t>
            </a:r>
            <a:endParaRPr kumimoji="1" lang="en-US" altLang="ja-JP" dirty="0"/>
          </a:p>
          <a:p>
            <a:pPr lvl="1"/>
            <a:r>
              <a:rPr kumimoji="1" lang="ja-JP" altLang="en-US" dirty="0"/>
              <a:t>たとえば加算を，下位３２ビットと上位３２ビットを</a:t>
            </a:r>
            <a:br>
              <a:rPr kumimoji="1" lang="en-US" altLang="ja-JP" dirty="0"/>
            </a:br>
            <a:r>
              <a:rPr kumimoji="1" lang="ja-JP" altLang="en-US" dirty="0"/>
              <a:t>２ステージかけてやる</a:t>
            </a:r>
            <a:endParaRPr kumimoji="1" lang="en-US" altLang="ja-JP" dirty="0"/>
          </a:p>
          <a:p>
            <a:pPr lvl="1"/>
            <a:r>
              <a:rPr kumimoji="1" lang="ja-JP" altLang="en-US" dirty="0"/>
              <a:t>１ステージあたりの遅延は半分になる</a:t>
            </a:r>
            <a:endParaRPr kumimoji="1" lang="en-US" altLang="ja-JP" dirty="0"/>
          </a:p>
        </p:txBody>
      </p:sp>
      <p:sp>
        <p:nvSpPr>
          <p:cNvPr id="4" name="フリーフォーム 3"/>
          <p:cNvSpPr>
            <a:spLocks noChangeArrowheads="1"/>
          </p:cNvSpPr>
          <p:nvPr/>
        </p:nvSpPr>
        <p:spPr bwMode="auto">
          <a:xfrm rot="-5400000">
            <a:off x="3170969"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5" name="直線矢印コネクタ 4"/>
          <p:cNvCxnSpPr/>
          <p:nvPr/>
        </p:nvCxnSpPr>
        <p:spPr bwMode="auto">
          <a:xfrm>
            <a:off x="2765964" y="2078987"/>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6" name="直線矢印コネクタ 5"/>
          <p:cNvCxnSpPr/>
          <p:nvPr/>
        </p:nvCxnSpPr>
        <p:spPr bwMode="auto">
          <a:xfrm>
            <a:off x="2765964" y="2888996"/>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7" name="正方形/長方形 6"/>
          <p:cNvSpPr/>
          <p:nvPr/>
        </p:nvSpPr>
        <p:spPr bwMode="auto">
          <a:xfrm>
            <a:off x="2945965"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8" name="二等辺三角形 7"/>
          <p:cNvSpPr/>
          <p:nvPr/>
        </p:nvSpPr>
        <p:spPr bwMode="auto">
          <a:xfrm>
            <a:off x="2990569"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Freeform 10"/>
          <p:cNvSpPr>
            <a:spLocks/>
          </p:cNvSpPr>
          <p:nvPr/>
        </p:nvSpPr>
        <p:spPr bwMode="auto">
          <a:xfrm flipH="1" flipV="1">
            <a:off x="2495960" y="1268977"/>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0" name="直線矢印コネクタ 9"/>
          <p:cNvCxnSpPr/>
          <p:nvPr/>
        </p:nvCxnSpPr>
        <p:spPr bwMode="auto">
          <a:xfrm>
            <a:off x="2765963" y="1898985"/>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11" name="直線矢印コネクタ 10"/>
          <p:cNvCxnSpPr/>
          <p:nvPr/>
        </p:nvCxnSpPr>
        <p:spPr bwMode="auto">
          <a:xfrm>
            <a:off x="2765963" y="2708994"/>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12" name="Freeform 10"/>
          <p:cNvSpPr>
            <a:spLocks/>
          </p:cNvSpPr>
          <p:nvPr/>
        </p:nvSpPr>
        <p:spPr bwMode="auto">
          <a:xfrm rot="10800000" flipH="1" flipV="1">
            <a:off x="2495961" y="1268979"/>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 name="Freeform 10"/>
          <p:cNvSpPr>
            <a:spLocks/>
          </p:cNvSpPr>
          <p:nvPr/>
        </p:nvSpPr>
        <p:spPr bwMode="auto">
          <a:xfrm rot="10800000" flipH="1" flipV="1">
            <a:off x="2495961" y="1988986"/>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4" name="直線矢印コネクタ 13"/>
          <p:cNvCxnSpPr/>
          <p:nvPr/>
        </p:nvCxnSpPr>
        <p:spPr bwMode="auto">
          <a:xfrm>
            <a:off x="2315959" y="2168988"/>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5" name="直線矢印コネクタ 14"/>
          <p:cNvCxnSpPr/>
          <p:nvPr/>
        </p:nvCxnSpPr>
        <p:spPr bwMode="auto">
          <a:xfrm>
            <a:off x="2315959" y="297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6" name="直線矢印コネクタ 15"/>
          <p:cNvCxnSpPr/>
          <p:nvPr/>
        </p:nvCxnSpPr>
        <p:spPr bwMode="auto">
          <a:xfrm>
            <a:off x="4025978" y="243899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54" name="正方形/長方形 53"/>
          <p:cNvSpPr/>
          <p:nvPr/>
        </p:nvSpPr>
        <p:spPr bwMode="auto">
          <a:xfrm>
            <a:off x="4475983"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7" name="フリーフォーム 26"/>
          <p:cNvSpPr>
            <a:spLocks noChangeArrowheads="1"/>
          </p:cNvSpPr>
          <p:nvPr/>
        </p:nvSpPr>
        <p:spPr bwMode="auto">
          <a:xfrm rot="-5400000">
            <a:off x="6816010" y="2348987"/>
            <a:ext cx="1260013" cy="180002"/>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28" name="直線矢印コネクタ 27"/>
          <p:cNvCxnSpPr/>
          <p:nvPr/>
        </p:nvCxnSpPr>
        <p:spPr bwMode="auto">
          <a:xfrm flipV="1">
            <a:off x="6366004" y="2078985"/>
            <a:ext cx="990011" cy="2"/>
          </a:xfrm>
          <a:prstGeom prst="straightConnector1">
            <a:avLst/>
          </a:prstGeom>
          <a:noFill/>
          <a:ln w="31750" cap="flat" cmpd="sng" algn="ctr">
            <a:solidFill>
              <a:schemeClr val="accent5"/>
            </a:solidFill>
            <a:prstDash val="solid"/>
            <a:round/>
            <a:headEnd type="none" w="sm" len="sm"/>
            <a:tailEnd type="triangle"/>
          </a:ln>
          <a:effectLst/>
        </p:spPr>
      </p:cxnSp>
      <p:cxnSp>
        <p:nvCxnSpPr>
          <p:cNvPr id="29" name="直線矢印コネクタ 28"/>
          <p:cNvCxnSpPr/>
          <p:nvPr/>
        </p:nvCxnSpPr>
        <p:spPr bwMode="auto">
          <a:xfrm flipV="1">
            <a:off x="6366004" y="2888994"/>
            <a:ext cx="990011" cy="2"/>
          </a:xfrm>
          <a:prstGeom prst="straightConnector1">
            <a:avLst/>
          </a:prstGeom>
          <a:noFill/>
          <a:ln w="31750" cap="flat" cmpd="sng" algn="ctr">
            <a:solidFill>
              <a:schemeClr val="accent5"/>
            </a:solidFill>
            <a:prstDash val="solid"/>
            <a:round/>
            <a:headEnd type="none" w="sm" len="sm"/>
            <a:tailEnd type="triangle"/>
          </a:ln>
          <a:effectLst/>
        </p:spPr>
      </p:cxnSp>
      <p:sp>
        <p:nvSpPr>
          <p:cNvPr id="30" name="正方形/長方形 29"/>
          <p:cNvSpPr/>
          <p:nvPr/>
        </p:nvSpPr>
        <p:spPr bwMode="auto">
          <a:xfrm>
            <a:off x="6546005"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31" name="二等辺三角形 30"/>
          <p:cNvSpPr/>
          <p:nvPr/>
        </p:nvSpPr>
        <p:spPr bwMode="auto">
          <a:xfrm>
            <a:off x="6590609"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2" name="Freeform 10"/>
          <p:cNvSpPr>
            <a:spLocks/>
          </p:cNvSpPr>
          <p:nvPr/>
        </p:nvSpPr>
        <p:spPr bwMode="auto">
          <a:xfrm flipH="1" flipV="1">
            <a:off x="6095999" y="1268975"/>
            <a:ext cx="3240037"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3" name="直線矢印コネクタ 32"/>
          <p:cNvCxnSpPr/>
          <p:nvPr/>
        </p:nvCxnSpPr>
        <p:spPr bwMode="auto">
          <a:xfrm>
            <a:off x="6366003" y="1898985"/>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34" name="直線矢印コネクタ 33"/>
          <p:cNvCxnSpPr/>
          <p:nvPr/>
        </p:nvCxnSpPr>
        <p:spPr bwMode="auto">
          <a:xfrm>
            <a:off x="6366003" y="2708994"/>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35" name="Freeform 10"/>
          <p:cNvSpPr>
            <a:spLocks/>
          </p:cNvSpPr>
          <p:nvPr/>
        </p:nvSpPr>
        <p:spPr bwMode="auto">
          <a:xfrm rot="10800000" flipH="1" flipV="1">
            <a:off x="6096001" y="1268979"/>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Freeform 10"/>
          <p:cNvSpPr>
            <a:spLocks/>
          </p:cNvSpPr>
          <p:nvPr/>
        </p:nvSpPr>
        <p:spPr bwMode="auto">
          <a:xfrm rot="10800000" flipH="1" flipV="1">
            <a:off x="6096001" y="1988986"/>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7" name="直線矢印コネクタ 36"/>
          <p:cNvCxnSpPr/>
          <p:nvPr/>
        </p:nvCxnSpPr>
        <p:spPr bwMode="auto">
          <a:xfrm>
            <a:off x="5915999" y="2168988"/>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38" name="直線矢印コネクタ 37"/>
          <p:cNvCxnSpPr/>
          <p:nvPr/>
        </p:nvCxnSpPr>
        <p:spPr bwMode="auto">
          <a:xfrm>
            <a:off x="5915999" y="2978997"/>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46" name="フリーフォーム 45"/>
          <p:cNvSpPr>
            <a:spLocks noChangeArrowheads="1"/>
          </p:cNvSpPr>
          <p:nvPr/>
        </p:nvSpPr>
        <p:spPr bwMode="auto">
          <a:xfrm rot="-5400000">
            <a:off x="8166025" y="2348987"/>
            <a:ext cx="1260013" cy="180002"/>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47" name="直線矢印コネクタ 46"/>
          <p:cNvCxnSpPr/>
          <p:nvPr/>
        </p:nvCxnSpPr>
        <p:spPr bwMode="auto">
          <a:xfrm>
            <a:off x="7536017" y="2078985"/>
            <a:ext cx="1170013" cy="0"/>
          </a:xfrm>
          <a:prstGeom prst="straightConnector1">
            <a:avLst/>
          </a:prstGeom>
          <a:noFill/>
          <a:ln w="31750" cap="flat" cmpd="sng" algn="ctr">
            <a:solidFill>
              <a:schemeClr val="accent5"/>
            </a:solidFill>
            <a:prstDash val="solid"/>
            <a:round/>
            <a:headEnd type="none" w="sm" len="sm"/>
            <a:tailEnd type="triangle"/>
          </a:ln>
          <a:effectLst/>
        </p:spPr>
      </p:cxnSp>
      <p:cxnSp>
        <p:nvCxnSpPr>
          <p:cNvPr id="48" name="直線矢印コネクタ 47"/>
          <p:cNvCxnSpPr/>
          <p:nvPr/>
        </p:nvCxnSpPr>
        <p:spPr bwMode="auto">
          <a:xfrm>
            <a:off x="7446015" y="2888994"/>
            <a:ext cx="1260014" cy="0"/>
          </a:xfrm>
          <a:prstGeom prst="straightConnector1">
            <a:avLst/>
          </a:prstGeom>
          <a:noFill/>
          <a:ln w="31750" cap="flat" cmpd="sng" algn="ctr">
            <a:solidFill>
              <a:schemeClr val="accent5"/>
            </a:solidFill>
            <a:prstDash val="solid"/>
            <a:round/>
            <a:headEnd type="none" w="sm" len="sm"/>
            <a:tailEnd type="triangle"/>
          </a:ln>
          <a:effectLst/>
        </p:spPr>
      </p:cxnSp>
      <p:cxnSp>
        <p:nvCxnSpPr>
          <p:cNvPr id="51" name="直線矢印コネクタ 50"/>
          <p:cNvCxnSpPr/>
          <p:nvPr/>
        </p:nvCxnSpPr>
        <p:spPr bwMode="auto">
          <a:xfrm>
            <a:off x="8886031" y="2438989"/>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45" name="正方形/長方形 44"/>
          <p:cNvSpPr/>
          <p:nvPr/>
        </p:nvSpPr>
        <p:spPr bwMode="auto">
          <a:xfrm>
            <a:off x="8076023"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582049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メイリオ" panose="020B0604030504040204" pitchFamily="50" charset="-128"/>
              </a:rPr>
              <a:t>演算器をパイプライン化</a:t>
            </a:r>
            <a:r>
              <a:rPr kumimoji="1" lang="ja-JP" altLang="en-US" dirty="0"/>
              <a:t>した場合の問題</a:t>
            </a:r>
          </a:p>
        </p:txBody>
      </p:sp>
      <p:sp>
        <p:nvSpPr>
          <p:cNvPr id="3" name="テキスト プレースホルダー 2"/>
          <p:cNvSpPr>
            <a:spLocks noGrp="1"/>
          </p:cNvSpPr>
          <p:nvPr>
            <p:ph type="body" sz="quarter" idx="10"/>
          </p:nvPr>
        </p:nvSpPr>
        <p:spPr>
          <a:xfrm>
            <a:off x="1775952" y="2708993"/>
            <a:ext cx="8820098" cy="3690041"/>
          </a:xfrm>
        </p:spPr>
        <p:txBody>
          <a:bodyPr/>
          <a:lstStyle/>
          <a:p>
            <a:r>
              <a:rPr kumimoji="1" lang="ja-JP" altLang="en-US" dirty="0"/>
              <a:t>依存関係にある命令を連続して実行できなくなる</a:t>
            </a:r>
            <a:endParaRPr kumimoji="1" lang="en-US" altLang="ja-JP" dirty="0"/>
          </a:p>
          <a:p>
            <a:pPr lvl="1"/>
            <a:r>
              <a:rPr lang="en-US" altLang="ja-JP" b="1" dirty="0">
                <a:latin typeface="Courier New" panose="02070309020205020404" pitchFamily="49" charset="0"/>
                <a:cs typeface="Courier New" panose="02070309020205020404" pitchFamily="49" charset="0"/>
              </a:rPr>
              <a:t>I0 </a:t>
            </a:r>
            <a:r>
              <a:rPr lang="ja-JP" altLang="en-US" dirty="0">
                <a:cs typeface="Courier New" panose="02070309020205020404" pitchFamily="49" charset="0"/>
              </a:rPr>
              <a:t>の </a:t>
            </a:r>
            <a:r>
              <a:rPr lang="en-US" altLang="ja-JP" dirty="0">
                <a:cs typeface="Courier New" panose="02070309020205020404" pitchFamily="49" charset="0"/>
              </a:rPr>
              <a:t>EX2 </a:t>
            </a:r>
            <a:r>
              <a:rPr lang="ja-JP" altLang="en-US" dirty="0">
                <a:cs typeface="Courier New" panose="02070309020205020404" pitchFamily="49" charset="0"/>
              </a:rPr>
              <a:t>が終わる前に，</a:t>
            </a:r>
            <a:r>
              <a:rPr lang="en-US" altLang="ja-JP" b="1" dirty="0">
                <a:latin typeface="Courier New" panose="02070309020205020404" pitchFamily="49" charset="0"/>
                <a:cs typeface="Courier New" panose="02070309020205020404" pitchFamily="49" charset="0"/>
              </a:rPr>
              <a:t>I1 </a:t>
            </a:r>
            <a:r>
              <a:rPr lang="ja-JP" altLang="en-US" dirty="0">
                <a:latin typeface="Courier New" panose="02070309020205020404" pitchFamily="49" charset="0"/>
                <a:cs typeface="Courier New" panose="02070309020205020404" pitchFamily="49" charset="0"/>
              </a:rPr>
              <a:t>の </a:t>
            </a:r>
            <a:r>
              <a:rPr lang="en-US" altLang="ja-JP" dirty="0">
                <a:cs typeface="Courier New" panose="02070309020205020404" pitchFamily="49" charset="0"/>
              </a:rPr>
              <a:t>EX1 </a:t>
            </a:r>
            <a:r>
              <a:rPr lang="ja-JP" altLang="en-US" dirty="0">
                <a:cs typeface="Courier New" panose="02070309020205020404" pitchFamily="49" charset="0"/>
              </a:rPr>
              <a:t>が始まる</a:t>
            </a:r>
            <a:endParaRPr lang="en-US" altLang="ja-JP" dirty="0">
              <a:cs typeface="Courier New" panose="02070309020205020404" pitchFamily="49" charset="0"/>
            </a:endParaRPr>
          </a:p>
          <a:p>
            <a:pPr lvl="1"/>
            <a:r>
              <a:rPr kumimoji="1" lang="ja-JP" altLang="en-US" dirty="0">
                <a:cs typeface="Courier New" panose="02070309020205020404" pitchFamily="49" charset="0"/>
              </a:rPr>
              <a:t>もし，他に実行するべき命令がおけなければ，遊ばせとくしかない</a:t>
            </a:r>
            <a:endParaRPr kumimoji="1" lang="en-US" altLang="ja-JP" dirty="0">
              <a:cs typeface="Courier New" panose="02070309020205020404" pitchFamily="49" charset="0"/>
            </a:endParaRPr>
          </a:p>
          <a:p>
            <a:r>
              <a:rPr kumimoji="1" lang="ja-JP" altLang="en-US" dirty="0">
                <a:cs typeface="Courier New" panose="02070309020205020404" pitchFamily="49" charset="0"/>
              </a:rPr>
              <a:t>場合によっては性能が返って下がる</a:t>
            </a:r>
            <a:endParaRPr kumimoji="1" lang="en-US" altLang="ja-JP" dirty="0">
              <a:cs typeface="Courier New" panose="02070309020205020404" pitchFamily="49" charset="0"/>
            </a:endParaRPr>
          </a:p>
          <a:p>
            <a:pPr lvl="1"/>
            <a:r>
              <a:rPr kumimoji="1" lang="ja-JP" altLang="en-US" dirty="0">
                <a:cs typeface="Courier New" panose="02070309020205020404" pitchFamily="49" charset="0"/>
              </a:rPr>
              <a:t>周波数が上がったが，２サイクルに１回しか命令が実行できない</a:t>
            </a:r>
            <a:endParaRPr kumimoji="1" lang="en-US" altLang="ja-JP" dirty="0">
              <a:cs typeface="Courier New" panose="02070309020205020404" pitchFamily="49" charset="0"/>
            </a:endParaRPr>
          </a:p>
          <a:p>
            <a:r>
              <a:rPr kumimoji="1" lang="ja-JP" altLang="en-US" dirty="0">
                <a:cs typeface="Courier New" panose="02070309020205020404" pitchFamily="49" charset="0"/>
              </a:rPr>
              <a:t>基本的な整数演算はパイプライン化せず１ステージを死守するのが普通</a:t>
            </a:r>
            <a:endParaRPr kumimoji="1" lang="en-US" altLang="ja-JP" dirty="0">
              <a:cs typeface="Courier New" panose="02070309020205020404" pitchFamily="49" charset="0"/>
            </a:endParaRPr>
          </a:p>
          <a:p>
            <a:pPr lvl="1"/>
            <a:r>
              <a:rPr kumimoji="1" lang="ja-JP" altLang="en-US" dirty="0">
                <a:cs typeface="Courier New" panose="02070309020205020404" pitchFamily="49" charset="0"/>
              </a:rPr>
              <a:t>乗除算や，浮動小数点演算はあきらめてパイプライン化</a:t>
            </a:r>
            <a:endParaRPr kumimoji="1" lang="en-US" altLang="ja-JP" dirty="0">
              <a:cs typeface="Courier New" panose="02070309020205020404" pitchFamily="49" charset="0"/>
            </a:endParaRPr>
          </a:p>
        </p:txBody>
      </p:sp>
      <p:sp>
        <p:nvSpPr>
          <p:cNvPr id="17" name="Rectangle 69"/>
          <p:cNvSpPr>
            <a:spLocks noChangeArrowheads="1"/>
          </p:cNvSpPr>
          <p:nvPr/>
        </p:nvSpPr>
        <p:spPr bwMode="auto">
          <a:xfrm>
            <a:off x="249596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294596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3395970"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20" name="Rectangle 72"/>
          <p:cNvSpPr>
            <a:spLocks noChangeArrowheads="1"/>
          </p:cNvSpPr>
          <p:nvPr/>
        </p:nvSpPr>
        <p:spPr bwMode="auto">
          <a:xfrm>
            <a:off x="384597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21" name="Rectangle 69"/>
          <p:cNvSpPr>
            <a:spLocks noChangeArrowheads="1"/>
          </p:cNvSpPr>
          <p:nvPr/>
        </p:nvSpPr>
        <p:spPr bwMode="auto">
          <a:xfrm>
            <a:off x="294596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339597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3845975"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429598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474598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73"/>
          <p:cNvSpPr>
            <a:spLocks noChangeArrowheads="1"/>
          </p:cNvSpPr>
          <p:nvPr/>
        </p:nvSpPr>
        <p:spPr bwMode="auto">
          <a:xfrm>
            <a:off x="429598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7" name="Rectangle 69"/>
          <p:cNvSpPr>
            <a:spLocks noChangeArrowheads="1"/>
          </p:cNvSpPr>
          <p:nvPr/>
        </p:nvSpPr>
        <p:spPr bwMode="auto">
          <a:xfrm>
            <a:off x="6816008"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8" name="Rectangle 70"/>
          <p:cNvSpPr>
            <a:spLocks noChangeArrowheads="1"/>
          </p:cNvSpPr>
          <p:nvPr/>
        </p:nvSpPr>
        <p:spPr bwMode="auto">
          <a:xfrm>
            <a:off x="7266013"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9" name="Rectangle 71"/>
          <p:cNvSpPr>
            <a:spLocks noChangeArrowheads="1"/>
          </p:cNvSpPr>
          <p:nvPr/>
        </p:nvSpPr>
        <p:spPr bwMode="auto">
          <a:xfrm>
            <a:off x="7716018"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EX1</a:t>
            </a:r>
          </a:p>
        </p:txBody>
      </p:sp>
      <p:sp>
        <p:nvSpPr>
          <p:cNvPr id="30" name="Rectangle 72"/>
          <p:cNvSpPr>
            <a:spLocks noChangeArrowheads="1"/>
          </p:cNvSpPr>
          <p:nvPr/>
        </p:nvSpPr>
        <p:spPr bwMode="auto">
          <a:xfrm>
            <a:off x="8616028"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31" name="Rectangle 69"/>
          <p:cNvSpPr>
            <a:spLocks noChangeArrowheads="1"/>
          </p:cNvSpPr>
          <p:nvPr/>
        </p:nvSpPr>
        <p:spPr bwMode="auto">
          <a:xfrm>
            <a:off x="7266013"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2" name="Rectangle 70"/>
          <p:cNvSpPr>
            <a:spLocks noChangeArrowheads="1"/>
          </p:cNvSpPr>
          <p:nvPr/>
        </p:nvSpPr>
        <p:spPr bwMode="auto">
          <a:xfrm>
            <a:off x="7716018"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3" name="Rectangle 71"/>
          <p:cNvSpPr>
            <a:spLocks noChangeArrowheads="1"/>
          </p:cNvSpPr>
          <p:nvPr/>
        </p:nvSpPr>
        <p:spPr bwMode="auto">
          <a:xfrm>
            <a:off x="8166023"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EX2</a:t>
            </a:r>
          </a:p>
        </p:txBody>
      </p:sp>
      <p:sp>
        <p:nvSpPr>
          <p:cNvPr id="34" name="Rectangle 72"/>
          <p:cNvSpPr>
            <a:spLocks noChangeArrowheads="1"/>
          </p:cNvSpPr>
          <p:nvPr/>
        </p:nvSpPr>
        <p:spPr bwMode="auto">
          <a:xfrm>
            <a:off x="9066033"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5" name="Rectangle 73"/>
          <p:cNvSpPr>
            <a:spLocks noChangeArrowheads="1"/>
          </p:cNvSpPr>
          <p:nvPr/>
        </p:nvSpPr>
        <p:spPr bwMode="auto">
          <a:xfrm>
            <a:off x="9516038"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6" name="Rectangle 73"/>
          <p:cNvSpPr>
            <a:spLocks noChangeArrowheads="1"/>
          </p:cNvSpPr>
          <p:nvPr/>
        </p:nvSpPr>
        <p:spPr bwMode="auto">
          <a:xfrm>
            <a:off x="9066033"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7" name="Rectangle 71"/>
          <p:cNvSpPr>
            <a:spLocks noChangeArrowheads="1"/>
          </p:cNvSpPr>
          <p:nvPr/>
        </p:nvSpPr>
        <p:spPr bwMode="auto">
          <a:xfrm>
            <a:off x="8166023"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EX1</a:t>
            </a:r>
          </a:p>
        </p:txBody>
      </p:sp>
      <p:sp>
        <p:nvSpPr>
          <p:cNvPr id="38" name="Rectangle 71"/>
          <p:cNvSpPr>
            <a:spLocks noChangeArrowheads="1"/>
          </p:cNvSpPr>
          <p:nvPr/>
        </p:nvSpPr>
        <p:spPr bwMode="auto">
          <a:xfrm>
            <a:off x="8616028"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EX2</a:t>
            </a:r>
          </a:p>
        </p:txBody>
      </p:sp>
      <p:sp>
        <p:nvSpPr>
          <p:cNvPr id="39" name="Rectangle 69"/>
          <p:cNvSpPr>
            <a:spLocks noChangeArrowheads="1"/>
          </p:cNvSpPr>
          <p:nvPr/>
        </p:nvSpPr>
        <p:spPr bwMode="auto">
          <a:xfrm>
            <a:off x="3395970"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0" name="Rectangle 70"/>
          <p:cNvSpPr>
            <a:spLocks noChangeArrowheads="1"/>
          </p:cNvSpPr>
          <p:nvPr/>
        </p:nvSpPr>
        <p:spPr bwMode="auto">
          <a:xfrm>
            <a:off x="3845975"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1" name="Rectangle 71"/>
          <p:cNvSpPr>
            <a:spLocks noChangeArrowheads="1"/>
          </p:cNvSpPr>
          <p:nvPr/>
        </p:nvSpPr>
        <p:spPr bwMode="auto">
          <a:xfrm>
            <a:off x="4295980" y="216898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42" name="Rectangle 72"/>
          <p:cNvSpPr>
            <a:spLocks noChangeArrowheads="1"/>
          </p:cNvSpPr>
          <p:nvPr/>
        </p:nvSpPr>
        <p:spPr bwMode="auto">
          <a:xfrm>
            <a:off x="4745985"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3" name="Rectangle 73"/>
          <p:cNvSpPr>
            <a:spLocks noChangeArrowheads="1"/>
          </p:cNvSpPr>
          <p:nvPr/>
        </p:nvSpPr>
        <p:spPr bwMode="auto">
          <a:xfrm>
            <a:off x="5195990"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4" name="Rectangle 69"/>
          <p:cNvSpPr>
            <a:spLocks noChangeArrowheads="1"/>
          </p:cNvSpPr>
          <p:nvPr/>
        </p:nvSpPr>
        <p:spPr bwMode="auto">
          <a:xfrm>
            <a:off x="7716018"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8166023"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2"/>
          <p:cNvSpPr>
            <a:spLocks noChangeArrowheads="1"/>
          </p:cNvSpPr>
          <p:nvPr/>
        </p:nvSpPr>
        <p:spPr bwMode="auto">
          <a:xfrm>
            <a:off x="9516038"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7" name="Rectangle 73"/>
          <p:cNvSpPr>
            <a:spLocks noChangeArrowheads="1"/>
          </p:cNvSpPr>
          <p:nvPr/>
        </p:nvSpPr>
        <p:spPr bwMode="auto">
          <a:xfrm>
            <a:off x="9966043"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8" name="Rectangle 71"/>
          <p:cNvSpPr>
            <a:spLocks noChangeArrowheads="1"/>
          </p:cNvSpPr>
          <p:nvPr/>
        </p:nvSpPr>
        <p:spPr bwMode="auto">
          <a:xfrm>
            <a:off x="8616028" y="216898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EX1</a:t>
            </a:r>
          </a:p>
        </p:txBody>
      </p:sp>
      <p:sp>
        <p:nvSpPr>
          <p:cNvPr id="49" name="Rectangle 71"/>
          <p:cNvSpPr>
            <a:spLocks noChangeArrowheads="1"/>
          </p:cNvSpPr>
          <p:nvPr/>
        </p:nvSpPr>
        <p:spPr bwMode="auto">
          <a:xfrm>
            <a:off x="9066033" y="216898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EX2</a:t>
            </a:r>
          </a:p>
        </p:txBody>
      </p:sp>
      <p:cxnSp>
        <p:nvCxnSpPr>
          <p:cNvPr id="50" name="直線コネクタ 49"/>
          <p:cNvCxnSpPr>
            <a:stCxn id="51" idx="3"/>
            <a:endCxn id="17" idx="1"/>
          </p:cNvCxnSpPr>
          <p:nvPr/>
        </p:nvCxnSpPr>
        <p:spPr bwMode="auto">
          <a:xfrm flipV="1">
            <a:off x="2208252" y="1448976"/>
            <a:ext cx="287708" cy="2"/>
          </a:xfrm>
          <a:prstGeom prst="line">
            <a:avLst/>
          </a:prstGeom>
          <a:noFill/>
          <a:ln w="9525" cap="flat" cmpd="sng" algn="ctr">
            <a:solidFill>
              <a:schemeClr val="tx1"/>
            </a:solidFill>
            <a:prstDash val="dash"/>
            <a:round/>
            <a:headEnd type="none" w="med" len="med"/>
            <a:tailEnd type="none" w="med" len="med"/>
          </a:ln>
          <a:effectLst/>
        </p:spPr>
      </p:cxnSp>
      <p:sp>
        <p:nvSpPr>
          <p:cNvPr id="51" name="角丸四角形 50"/>
          <p:cNvSpPr/>
          <p:nvPr/>
        </p:nvSpPr>
        <p:spPr bwMode="auto">
          <a:xfrm>
            <a:off x="1775952" y="126897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52" name="角丸四角形 51"/>
          <p:cNvSpPr/>
          <p:nvPr/>
        </p:nvSpPr>
        <p:spPr bwMode="auto">
          <a:xfrm>
            <a:off x="1775952" y="1718981"/>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53" name="角丸四角形 52"/>
          <p:cNvSpPr/>
          <p:nvPr/>
        </p:nvSpPr>
        <p:spPr bwMode="auto">
          <a:xfrm>
            <a:off x="1775952" y="216898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54" name="直線コネクタ 53"/>
          <p:cNvCxnSpPr>
            <a:endCxn id="21" idx="1"/>
          </p:cNvCxnSpPr>
          <p:nvPr/>
        </p:nvCxnSpPr>
        <p:spPr bwMode="auto">
          <a:xfrm flipV="1">
            <a:off x="2225957" y="1898981"/>
            <a:ext cx="720008" cy="2"/>
          </a:xfrm>
          <a:prstGeom prst="line">
            <a:avLst/>
          </a:prstGeom>
          <a:noFill/>
          <a:ln w="9525" cap="flat" cmpd="sng" algn="ctr">
            <a:solidFill>
              <a:schemeClr val="tx1"/>
            </a:solidFill>
            <a:prstDash val="dash"/>
            <a:round/>
            <a:headEnd type="none" w="med" len="med"/>
            <a:tailEnd type="none" w="med" len="med"/>
          </a:ln>
          <a:effectLst/>
        </p:spPr>
      </p:cxnSp>
      <p:cxnSp>
        <p:nvCxnSpPr>
          <p:cNvPr id="55" name="直線コネクタ 54"/>
          <p:cNvCxnSpPr>
            <a:stCxn id="53" idx="3"/>
            <a:endCxn id="39" idx="1"/>
          </p:cNvCxnSpPr>
          <p:nvPr/>
        </p:nvCxnSpPr>
        <p:spPr bwMode="auto">
          <a:xfrm flipV="1">
            <a:off x="2208252" y="2348986"/>
            <a:ext cx="1187718" cy="2"/>
          </a:xfrm>
          <a:prstGeom prst="line">
            <a:avLst/>
          </a:prstGeom>
          <a:noFill/>
          <a:ln w="9525" cap="flat" cmpd="sng" algn="ctr">
            <a:solidFill>
              <a:schemeClr val="tx1"/>
            </a:solidFill>
            <a:prstDash val="dash"/>
            <a:round/>
            <a:headEnd type="none" w="med" len="med"/>
            <a:tailEnd type="none" w="med" len="med"/>
          </a:ln>
          <a:effectLst/>
        </p:spPr>
      </p:cxnSp>
      <p:cxnSp>
        <p:nvCxnSpPr>
          <p:cNvPr id="56" name="直線コネクタ 55"/>
          <p:cNvCxnSpPr>
            <a:stCxn id="57" idx="3"/>
          </p:cNvCxnSpPr>
          <p:nvPr/>
        </p:nvCxnSpPr>
        <p:spPr bwMode="auto">
          <a:xfrm flipV="1">
            <a:off x="6528300" y="1448976"/>
            <a:ext cx="287708" cy="2"/>
          </a:xfrm>
          <a:prstGeom prst="line">
            <a:avLst/>
          </a:prstGeom>
          <a:noFill/>
          <a:ln w="9525" cap="flat" cmpd="sng" algn="ctr">
            <a:solidFill>
              <a:schemeClr val="tx1"/>
            </a:solidFill>
            <a:prstDash val="dash"/>
            <a:round/>
            <a:headEnd type="none" w="med" len="med"/>
            <a:tailEnd type="none" w="med" len="med"/>
          </a:ln>
          <a:effectLst/>
        </p:spPr>
      </p:cxnSp>
      <p:sp>
        <p:nvSpPr>
          <p:cNvPr id="57" name="角丸四角形 56"/>
          <p:cNvSpPr/>
          <p:nvPr/>
        </p:nvSpPr>
        <p:spPr bwMode="auto">
          <a:xfrm>
            <a:off x="6096000" y="126897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58" name="角丸四角形 57"/>
          <p:cNvSpPr/>
          <p:nvPr/>
        </p:nvSpPr>
        <p:spPr bwMode="auto">
          <a:xfrm>
            <a:off x="6096000" y="1718981"/>
            <a:ext cx="432300" cy="360004"/>
          </a:xfrm>
          <a:prstGeom prst="roundRect">
            <a:avLst/>
          </a:prstGeom>
          <a:solidFill>
            <a:schemeClr val="tx1">
              <a:lumMod val="50000"/>
              <a:lumOff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59" name="角丸四角形 58"/>
          <p:cNvSpPr/>
          <p:nvPr/>
        </p:nvSpPr>
        <p:spPr bwMode="auto">
          <a:xfrm>
            <a:off x="6096000" y="216898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60" name="直線コネクタ 59"/>
          <p:cNvCxnSpPr/>
          <p:nvPr/>
        </p:nvCxnSpPr>
        <p:spPr bwMode="auto">
          <a:xfrm flipV="1">
            <a:off x="6546005" y="1898981"/>
            <a:ext cx="720008" cy="2"/>
          </a:xfrm>
          <a:prstGeom prst="line">
            <a:avLst/>
          </a:prstGeom>
          <a:noFill/>
          <a:ln w="9525" cap="flat" cmpd="sng" algn="ctr">
            <a:solidFill>
              <a:schemeClr val="tx1"/>
            </a:solidFill>
            <a:prstDash val="dash"/>
            <a:round/>
            <a:headEnd type="none" w="med" len="med"/>
            <a:tailEnd type="none" w="med" len="med"/>
          </a:ln>
          <a:effectLst/>
        </p:spPr>
      </p:cxnSp>
      <p:cxnSp>
        <p:nvCxnSpPr>
          <p:cNvPr id="61" name="直線コネクタ 60"/>
          <p:cNvCxnSpPr>
            <a:stCxn id="59" idx="3"/>
          </p:cNvCxnSpPr>
          <p:nvPr/>
        </p:nvCxnSpPr>
        <p:spPr bwMode="auto">
          <a:xfrm flipV="1">
            <a:off x="6528300" y="2348986"/>
            <a:ext cx="1187718" cy="2"/>
          </a:xfrm>
          <a:prstGeom prst="line">
            <a:avLst/>
          </a:prstGeom>
          <a:noFill/>
          <a:ln w="9525" cap="flat" cmpd="sng" algn="ctr">
            <a:solidFill>
              <a:schemeClr val="tx1"/>
            </a:solidFill>
            <a:prstDash val="dash"/>
            <a:round/>
            <a:headEnd type="none" w="med" len="med"/>
            <a:tailEnd type="none" w="med" len="med"/>
          </a:ln>
          <a:effectLst/>
        </p:spPr>
      </p:cxnSp>
    </p:spTree>
    <p:extLst>
      <p:ext uri="{BB962C8B-B14F-4D97-AF65-F5344CB8AC3E}">
        <p14:creationId xmlns:p14="http://schemas.microsoft.com/office/powerpoint/2010/main" val="20968082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問題となるバックエッジ</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latin typeface="メイリオ" panose="020B0604030504040204" pitchFamily="50" charset="-128"/>
              </a:rPr>
              <a:t>演算器のフォワーディング</a:t>
            </a:r>
            <a:endParaRPr lang="en-US" altLang="ja-JP" dirty="0">
              <a:latin typeface="メイリオ" panose="020B0604030504040204" pitchFamily="50" charset="-128"/>
            </a:endParaRPr>
          </a:p>
          <a:p>
            <a:pPr marL="457200" indent="-457200">
              <a:buFont typeface="+mj-lt"/>
              <a:buAutoNum type="arabicPeriod"/>
            </a:pPr>
            <a:r>
              <a:rPr lang="ja-JP" altLang="en-US" b="1" dirty="0">
                <a:latin typeface="メイリオ" panose="020B0604030504040204" pitchFamily="50" charset="-128"/>
              </a:rPr>
              <a:t>ロードによるデータ・メモリの読み出し</a:t>
            </a:r>
            <a:endParaRPr lang="en-US" altLang="ja-JP" b="1" dirty="0">
              <a:latin typeface="メイリオ" panose="020B0604030504040204" pitchFamily="50" charset="-128"/>
            </a:endParaRPr>
          </a:p>
          <a:p>
            <a:pPr marL="457200" indent="-457200">
              <a:buFont typeface="+mj-lt"/>
              <a:buAutoNum type="arabicPeriod"/>
            </a:pPr>
            <a:r>
              <a:rPr lang="ja-JP" altLang="en-US" dirty="0">
                <a:latin typeface="メイリオ" panose="020B0604030504040204" pitchFamily="50" charset="-128"/>
              </a:rPr>
              <a:t>分岐結果の </a:t>
            </a:r>
            <a:r>
              <a:rPr lang="en-US" altLang="ja-JP" dirty="0">
                <a:latin typeface="メイリオ" panose="020B0604030504040204" pitchFamily="50" charset="-128"/>
              </a:rPr>
              <a:t>PC </a:t>
            </a:r>
            <a:r>
              <a:rPr lang="ja-JP" altLang="en-US" dirty="0" err="1">
                <a:latin typeface="メイリオ" panose="020B0604030504040204" pitchFamily="50" charset="-128"/>
              </a:rPr>
              <a:t>への</a:t>
            </a:r>
            <a:r>
              <a:rPr lang="ja-JP" altLang="en-US" dirty="0">
                <a:latin typeface="メイリオ" panose="020B0604030504040204" pitchFamily="50" charset="-128"/>
              </a:rPr>
              <a:t>反映</a:t>
            </a:r>
            <a:endParaRPr kumimoji="1" lang="ja-JP" altLang="en-US" dirty="0"/>
          </a:p>
        </p:txBody>
      </p:sp>
    </p:spTree>
    <p:extLst>
      <p:ext uri="{BB962C8B-B14F-4D97-AF65-F5344CB8AC3E}">
        <p14:creationId xmlns:p14="http://schemas.microsoft.com/office/powerpoint/2010/main" val="11232418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メイリオ" panose="020B0604030504040204" pitchFamily="50" charset="-128"/>
              </a:rPr>
              <a:t>ロードによるデータ・メモリの読み出し</a:t>
            </a:r>
            <a:endParaRPr lang="en-US" altLang="ja-JP" dirty="0">
              <a:latin typeface="メイリオ" panose="020B0604030504040204" pitchFamily="50" charset="-128"/>
            </a:endParaRPr>
          </a:p>
        </p:txBody>
      </p:sp>
      <p:sp>
        <p:nvSpPr>
          <p:cNvPr id="3" name="テキスト プレースホルダー 2"/>
          <p:cNvSpPr>
            <a:spLocks noGrp="1"/>
          </p:cNvSpPr>
          <p:nvPr>
            <p:ph type="body" sz="quarter" idx="10"/>
          </p:nvPr>
        </p:nvSpPr>
        <p:spPr>
          <a:xfrm>
            <a:off x="1775952" y="3609003"/>
            <a:ext cx="8820098" cy="2790031"/>
          </a:xfrm>
        </p:spPr>
        <p:txBody>
          <a:bodyPr/>
          <a:lstStyle/>
          <a:p>
            <a:r>
              <a:rPr kumimoji="1" lang="ja-JP" altLang="en-US" dirty="0">
                <a:cs typeface="Courier New" panose="02070309020205020404" pitchFamily="49" charset="0"/>
              </a:rPr>
              <a:t>演算器の場合とほぼ同様</a:t>
            </a:r>
            <a:endParaRPr kumimoji="1" lang="en-US" altLang="ja-JP" dirty="0">
              <a:cs typeface="Courier New" panose="02070309020205020404" pitchFamily="49" charset="0"/>
            </a:endParaRPr>
          </a:p>
          <a:p>
            <a:pPr lvl="1"/>
            <a:r>
              <a:rPr lang="ja-JP" altLang="en-US" dirty="0">
                <a:cs typeface="Courier New" panose="02070309020205020404" pitchFamily="49" charset="0"/>
              </a:rPr>
              <a:t>上は，</a:t>
            </a:r>
            <a:r>
              <a:rPr lang="en-US" altLang="ja-JP" dirty="0">
                <a:cs typeface="Courier New" panose="02070309020205020404" pitchFamily="49" charset="0"/>
              </a:rPr>
              <a:t>MEM </a:t>
            </a:r>
            <a:r>
              <a:rPr lang="ja-JP" altLang="en-US" dirty="0">
                <a:cs typeface="Courier New" panose="02070309020205020404" pitchFamily="49" charset="0"/>
              </a:rPr>
              <a:t>が </a:t>
            </a:r>
            <a:r>
              <a:rPr lang="en-US" altLang="ja-JP" dirty="0">
                <a:cs typeface="Courier New" panose="02070309020205020404" pitchFamily="49" charset="0"/>
              </a:rPr>
              <a:t>M1 </a:t>
            </a:r>
            <a:r>
              <a:rPr lang="ja-JP" altLang="en-US" dirty="0">
                <a:cs typeface="Courier New" panose="02070309020205020404" pitchFamily="49" charset="0"/>
              </a:rPr>
              <a:t>と </a:t>
            </a:r>
            <a:r>
              <a:rPr lang="en-US" altLang="ja-JP" dirty="0">
                <a:cs typeface="Courier New" panose="02070309020205020404" pitchFamily="49" charset="0"/>
              </a:rPr>
              <a:t>M2 </a:t>
            </a:r>
            <a:r>
              <a:rPr lang="ja-JP" altLang="en-US" dirty="0">
                <a:cs typeface="Courier New" panose="02070309020205020404" pitchFamily="49" charset="0"/>
              </a:rPr>
              <a:t>にパイプライン化された場合</a:t>
            </a:r>
            <a:endParaRPr lang="en-US" altLang="ja-JP" dirty="0">
              <a:cs typeface="Courier New" panose="02070309020205020404" pitchFamily="49" charset="0"/>
            </a:endParaRPr>
          </a:p>
          <a:p>
            <a:pPr lvl="2"/>
            <a:r>
              <a:rPr kumimoji="1" lang="en-US" altLang="ja-JP" dirty="0">
                <a:cs typeface="Courier New" panose="02070309020205020404" pitchFamily="49" charset="0"/>
              </a:rPr>
              <a:t>I1 </a:t>
            </a:r>
            <a:r>
              <a:rPr kumimoji="1" lang="ja-JP" altLang="en-US" dirty="0">
                <a:cs typeface="Courier New" panose="02070309020205020404" pitchFamily="49" charset="0"/>
              </a:rPr>
              <a:t>と </a:t>
            </a:r>
            <a:r>
              <a:rPr kumimoji="1" lang="en-US" altLang="ja-JP" dirty="0">
                <a:cs typeface="Courier New" panose="02070309020205020404" pitchFamily="49" charset="0"/>
              </a:rPr>
              <a:t>I2 </a:t>
            </a:r>
            <a:r>
              <a:rPr kumimoji="1" lang="ja-JP" altLang="en-US" dirty="0">
                <a:cs typeface="Courier New" panose="02070309020205020404" pitchFamily="49" charset="0"/>
              </a:rPr>
              <a:t>は，</a:t>
            </a:r>
            <a:r>
              <a:rPr kumimoji="1" lang="en-US" altLang="ja-JP" dirty="0">
                <a:cs typeface="Courier New" panose="02070309020205020404" pitchFamily="49" charset="0"/>
              </a:rPr>
              <a:t>I0 </a:t>
            </a:r>
            <a:r>
              <a:rPr kumimoji="1" lang="ja-JP" altLang="en-US" dirty="0">
                <a:cs typeface="Courier New" panose="02070309020205020404" pitchFamily="49" charset="0"/>
              </a:rPr>
              <a:t>の結果を使えない</a:t>
            </a:r>
            <a:endParaRPr kumimoji="1" lang="en-US" altLang="ja-JP" dirty="0">
              <a:cs typeface="Courier New" panose="02070309020205020404" pitchFamily="49" charset="0"/>
            </a:endParaRPr>
          </a:p>
          <a:p>
            <a:pPr lvl="1"/>
            <a:r>
              <a:rPr kumimoji="1" lang="en-US" altLang="ja-JP" dirty="0">
                <a:cs typeface="Courier New" panose="02070309020205020404" pitchFamily="49" charset="0"/>
              </a:rPr>
              <a:t>MEM </a:t>
            </a:r>
            <a:r>
              <a:rPr kumimoji="1" lang="ja-JP" altLang="en-US" dirty="0">
                <a:cs typeface="Courier New" panose="02070309020205020404" pitchFamily="49" charset="0"/>
              </a:rPr>
              <a:t>ステージをパイプライン化すると，この部分が長くなる</a:t>
            </a:r>
            <a:endParaRPr kumimoji="1" lang="en-US" altLang="ja-JP" dirty="0">
              <a:cs typeface="Courier New" panose="02070309020205020404" pitchFamily="49" charset="0"/>
            </a:endParaRPr>
          </a:p>
          <a:p>
            <a:r>
              <a:rPr kumimoji="1" lang="ja-JP" altLang="en-US" dirty="0">
                <a:cs typeface="Courier New" panose="02070309020205020404" pitchFamily="49" charset="0"/>
              </a:rPr>
              <a:t>しかし，この部分をパイプライン化することはよくある</a:t>
            </a:r>
            <a:endParaRPr kumimoji="1" lang="en-US" altLang="ja-JP" dirty="0">
              <a:cs typeface="Courier New" panose="02070309020205020404" pitchFamily="49" charset="0"/>
            </a:endParaRPr>
          </a:p>
          <a:p>
            <a:pPr lvl="1"/>
            <a:r>
              <a:rPr lang="ja-JP" altLang="en-US" dirty="0">
                <a:cs typeface="Courier New" panose="02070309020205020404" pitchFamily="49" charset="0"/>
              </a:rPr>
              <a:t>ロードは演算よりは出現頻度が低い</a:t>
            </a:r>
            <a:endParaRPr lang="en-US" altLang="ja-JP" dirty="0">
              <a:cs typeface="Courier New" panose="02070309020205020404" pitchFamily="49" charset="0"/>
            </a:endParaRPr>
          </a:p>
          <a:p>
            <a:pPr lvl="1"/>
            <a:r>
              <a:rPr kumimoji="1" lang="ja-JP" altLang="en-US" dirty="0">
                <a:cs typeface="Courier New" panose="02070309020205020404" pitchFamily="49" charset="0"/>
              </a:rPr>
              <a:t>メモリ（キャッシュ）のレイテンシは演算器よりかなり長くなることが多いためしかたない</a:t>
            </a:r>
            <a:endParaRPr kumimoji="1" lang="en-US" altLang="ja-JP" dirty="0">
              <a:cs typeface="Courier New" panose="02070309020205020404" pitchFamily="49" charset="0"/>
            </a:endParaRPr>
          </a:p>
        </p:txBody>
      </p:sp>
      <p:sp>
        <p:nvSpPr>
          <p:cNvPr id="17" name="Rectangle 69"/>
          <p:cNvSpPr>
            <a:spLocks noChangeArrowheads="1"/>
          </p:cNvSpPr>
          <p:nvPr/>
        </p:nvSpPr>
        <p:spPr bwMode="auto">
          <a:xfrm>
            <a:off x="3935976"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4385981"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4835986"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0" name="Rectangle 72"/>
          <p:cNvSpPr>
            <a:spLocks noChangeArrowheads="1"/>
          </p:cNvSpPr>
          <p:nvPr/>
        </p:nvSpPr>
        <p:spPr bwMode="auto">
          <a:xfrm>
            <a:off x="5285991"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M1</a:t>
            </a:r>
          </a:p>
        </p:txBody>
      </p:sp>
      <p:sp>
        <p:nvSpPr>
          <p:cNvPr id="21" name="Rectangle 69"/>
          <p:cNvSpPr>
            <a:spLocks noChangeArrowheads="1"/>
          </p:cNvSpPr>
          <p:nvPr/>
        </p:nvSpPr>
        <p:spPr bwMode="auto">
          <a:xfrm>
            <a:off x="4385981"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4835986"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5285991"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25" name="Rectangle 73"/>
          <p:cNvSpPr>
            <a:spLocks noChangeArrowheads="1"/>
          </p:cNvSpPr>
          <p:nvPr/>
        </p:nvSpPr>
        <p:spPr bwMode="auto">
          <a:xfrm>
            <a:off x="6636006"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73"/>
          <p:cNvSpPr>
            <a:spLocks noChangeArrowheads="1"/>
          </p:cNvSpPr>
          <p:nvPr/>
        </p:nvSpPr>
        <p:spPr bwMode="auto">
          <a:xfrm>
            <a:off x="6186001"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9" name="Rectangle 69"/>
          <p:cNvSpPr>
            <a:spLocks noChangeArrowheads="1"/>
          </p:cNvSpPr>
          <p:nvPr/>
        </p:nvSpPr>
        <p:spPr bwMode="auto">
          <a:xfrm>
            <a:off x="4835986"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0" name="Rectangle 70"/>
          <p:cNvSpPr>
            <a:spLocks noChangeArrowheads="1"/>
          </p:cNvSpPr>
          <p:nvPr/>
        </p:nvSpPr>
        <p:spPr bwMode="auto">
          <a:xfrm>
            <a:off x="5285991"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1" name="Rectangle 71"/>
          <p:cNvSpPr>
            <a:spLocks noChangeArrowheads="1"/>
          </p:cNvSpPr>
          <p:nvPr/>
        </p:nvSpPr>
        <p:spPr bwMode="auto">
          <a:xfrm>
            <a:off x="5735996" y="216898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43" name="Rectangle 73"/>
          <p:cNvSpPr>
            <a:spLocks noChangeArrowheads="1"/>
          </p:cNvSpPr>
          <p:nvPr/>
        </p:nvSpPr>
        <p:spPr bwMode="auto">
          <a:xfrm>
            <a:off x="7086011"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50" name="直線コネクタ 49"/>
          <p:cNvCxnSpPr>
            <a:stCxn id="51" idx="3"/>
            <a:endCxn id="17" idx="1"/>
          </p:cNvCxnSpPr>
          <p:nvPr/>
        </p:nvCxnSpPr>
        <p:spPr bwMode="auto">
          <a:xfrm flipV="1">
            <a:off x="3648268" y="1448976"/>
            <a:ext cx="287708" cy="2"/>
          </a:xfrm>
          <a:prstGeom prst="line">
            <a:avLst/>
          </a:prstGeom>
          <a:noFill/>
          <a:ln w="9525" cap="flat" cmpd="sng" algn="ctr">
            <a:solidFill>
              <a:schemeClr val="tx1"/>
            </a:solidFill>
            <a:prstDash val="dash"/>
            <a:round/>
            <a:headEnd type="none" w="med" len="med"/>
            <a:tailEnd type="none" w="med" len="med"/>
          </a:ln>
          <a:effectLst/>
        </p:spPr>
      </p:cxnSp>
      <p:sp>
        <p:nvSpPr>
          <p:cNvPr id="51" name="角丸四角形 50"/>
          <p:cNvSpPr/>
          <p:nvPr/>
        </p:nvSpPr>
        <p:spPr bwMode="auto">
          <a:xfrm>
            <a:off x="3215968" y="126897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I0</a:t>
            </a:r>
            <a:endParaRPr lang="ja-JP" altLang="en-US" b="1" dirty="0">
              <a:latin typeface="Courier New" panose="02070309020205020404" pitchFamily="49" charset="0"/>
              <a:cs typeface="Courier New" panose="02070309020205020404" pitchFamily="49" charset="0"/>
            </a:endParaRPr>
          </a:p>
        </p:txBody>
      </p:sp>
      <p:sp>
        <p:nvSpPr>
          <p:cNvPr id="52" name="角丸四角形 51"/>
          <p:cNvSpPr/>
          <p:nvPr/>
        </p:nvSpPr>
        <p:spPr bwMode="auto">
          <a:xfrm>
            <a:off x="3215968" y="1718981"/>
            <a:ext cx="432300" cy="360004"/>
          </a:xfrm>
          <a:prstGeom prst="roundRect">
            <a:avLst/>
          </a:prstGeom>
          <a:solidFill>
            <a:schemeClr val="tx1">
              <a:lumMod val="75000"/>
              <a:lumOff val="25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I1</a:t>
            </a:r>
            <a:endParaRPr lang="ja-JP" altLang="en-US" b="1" dirty="0">
              <a:latin typeface="Courier New" panose="02070309020205020404" pitchFamily="49" charset="0"/>
              <a:cs typeface="Courier New" panose="02070309020205020404" pitchFamily="49" charset="0"/>
            </a:endParaRPr>
          </a:p>
        </p:txBody>
      </p:sp>
      <p:sp>
        <p:nvSpPr>
          <p:cNvPr id="53" name="角丸四角形 52"/>
          <p:cNvSpPr/>
          <p:nvPr/>
        </p:nvSpPr>
        <p:spPr bwMode="auto">
          <a:xfrm>
            <a:off x="3215968" y="2168986"/>
            <a:ext cx="432300" cy="360004"/>
          </a:xfrm>
          <a:prstGeom prst="roundRect">
            <a:avLst/>
          </a:prstGeom>
          <a:solidFill>
            <a:schemeClr val="tx1">
              <a:lumMod val="75000"/>
              <a:lumOff val="25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I2</a:t>
            </a:r>
            <a:endParaRPr lang="ja-JP" altLang="en-US" b="1" dirty="0">
              <a:latin typeface="Courier New" panose="02070309020205020404" pitchFamily="49" charset="0"/>
              <a:cs typeface="Courier New" panose="02070309020205020404" pitchFamily="49" charset="0"/>
            </a:endParaRPr>
          </a:p>
        </p:txBody>
      </p:sp>
      <p:cxnSp>
        <p:nvCxnSpPr>
          <p:cNvPr id="54" name="直線コネクタ 53"/>
          <p:cNvCxnSpPr>
            <a:endCxn id="21" idx="1"/>
          </p:cNvCxnSpPr>
          <p:nvPr/>
        </p:nvCxnSpPr>
        <p:spPr bwMode="auto">
          <a:xfrm flipV="1">
            <a:off x="3665973" y="1898981"/>
            <a:ext cx="720008" cy="2"/>
          </a:xfrm>
          <a:prstGeom prst="line">
            <a:avLst/>
          </a:prstGeom>
          <a:noFill/>
          <a:ln w="9525" cap="flat" cmpd="sng" algn="ctr">
            <a:solidFill>
              <a:schemeClr val="tx1"/>
            </a:solidFill>
            <a:prstDash val="dash"/>
            <a:round/>
            <a:headEnd type="none" w="med" len="med"/>
            <a:tailEnd type="none" w="med" len="med"/>
          </a:ln>
          <a:effectLst/>
        </p:spPr>
      </p:cxnSp>
      <p:cxnSp>
        <p:nvCxnSpPr>
          <p:cNvPr id="55" name="直線コネクタ 54"/>
          <p:cNvCxnSpPr>
            <a:stCxn id="53" idx="3"/>
            <a:endCxn id="39" idx="1"/>
          </p:cNvCxnSpPr>
          <p:nvPr/>
        </p:nvCxnSpPr>
        <p:spPr bwMode="auto">
          <a:xfrm flipV="1">
            <a:off x="3648268" y="2348986"/>
            <a:ext cx="1187718" cy="2"/>
          </a:xfrm>
          <a:prstGeom prst="line">
            <a:avLst/>
          </a:prstGeom>
          <a:noFill/>
          <a:ln w="9525" cap="flat" cmpd="sng" algn="ctr">
            <a:solidFill>
              <a:schemeClr val="tx1"/>
            </a:solidFill>
            <a:prstDash val="dash"/>
            <a:round/>
            <a:headEnd type="none" w="med" len="med"/>
            <a:tailEnd type="none" w="med" len="med"/>
          </a:ln>
          <a:effectLst/>
        </p:spPr>
      </p:cxnSp>
      <p:sp>
        <p:nvSpPr>
          <p:cNvPr id="62" name="Rectangle 72"/>
          <p:cNvSpPr>
            <a:spLocks noChangeArrowheads="1"/>
          </p:cNvSpPr>
          <p:nvPr/>
        </p:nvSpPr>
        <p:spPr bwMode="auto">
          <a:xfrm>
            <a:off x="5735996"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M2</a:t>
            </a:r>
          </a:p>
        </p:txBody>
      </p:sp>
      <p:sp>
        <p:nvSpPr>
          <p:cNvPr id="65" name="Rectangle 72"/>
          <p:cNvSpPr>
            <a:spLocks noChangeArrowheads="1"/>
          </p:cNvSpPr>
          <p:nvPr/>
        </p:nvSpPr>
        <p:spPr bwMode="auto">
          <a:xfrm>
            <a:off x="5735996"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M1</a:t>
            </a:r>
          </a:p>
        </p:txBody>
      </p:sp>
      <p:sp>
        <p:nvSpPr>
          <p:cNvPr id="66" name="Rectangle 72"/>
          <p:cNvSpPr>
            <a:spLocks noChangeArrowheads="1"/>
          </p:cNvSpPr>
          <p:nvPr/>
        </p:nvSpPr>
        <p:spPr bwMode="auto">
          <a:xfrm>
            <a:off x="6186001"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M2</a:t>
            </a:r>
          </a:p>
        </p:txBody>
      </p:sp>
      <p:sp>
        <p:nvSpPr>
          <p:cNvPr id="67" name="Rectangle 72"/>
          <p:cNvSpPr>
            <a:spLocks noChangeArrowheads="1"/>
          </p:cNvSpPr>
          <p:nvPr/>
        </p:nvSpPr>
        <p:spPr bwMode="auto">
          <a:xfrm>
            <a:off x="6186001" y="216898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M1</a:t>
            </a:r>
          </a:p>
        </p:txBody>
      </p:sp>
      <p:sp>
        <p:nvSpPr>
          <p:cNvPr id="68" name="Rectangle 72"/>
          <p:cNvSpPr>
            <a:spLocks noChangeArrowheads="1"/>
          </p:cNvSpPr>
          <p:nvPr/>
        </p:nvSpPr>
        <p:spPr bwMode="auto">
          <a:xfrm>
            <a:off x="6636006" y="216898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M2</a:t>
            </a:r>
          </a:p>
        </p:txBody>
      </p:sp>
      <p:sp>
        <p:nvSpPr>
          <p:cNvPr id="69" name="Rectangle 69"/>
          <p:cNvSpPr>
            <a:spLocks noChangeArrowheads="1"/>
          </p:cNvSpPr>
          <p:nvPr/>
        </p:nvSpPr>
        <p:spPr bwMode="auto">
          <a:xfrm>
            <a:off x="5285991"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0" name="Rectangle 70"/>
          <p:cNvSpPr>
            <a:spLocks noChangeArrowheads="1"/>
          </p:cNvSpPr>
          <p:nvPr/>
        </p:nvSpPr>
        <p:spPr bwMode="auto">
          <a:xfrm>
            <a:off x="5735996"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71" name="Rectangle 71"/>
          <p:cNvSpPr>
            <a:spLocks noChangeArrowheads="1"/>
          </p:cNvSpPr>
          <p:nvPr/>
        </p:nvSpPr>
        <p:spPr bwMode="auto">
          <a:xfrm>
            <a:off x="6186001" y="261899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72" name="Rectangle 73"/>
          <p:cNvSpPr>
            <a:spLocks noChangeArrowheads="1"/>
          </p:cNvSpPr>
          <p:nvPr/>
        </p:nvSpPr>
        <p:spPr bwMode="auto">
          <a:xfrm>
            <a:off x="7536016"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73" name="角丸四角形 72"/>
          <p:cNvSpPr/>
          <p:nvPr/>
        </p:nvSpPr>
        <p:spPr bwMode="auto">
          <a:xfrm>
            <a:off x="3215968" y="2618991"/>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I3</a:t>
            </a:r>
            <a:endParaRPr lang="ja-JP" altLang="en-US" b="1" dirty="0">
              <a:latin typeface="Courier New" panose="02070309020205020404" pitchFamily="49" charset="0"/>
              <a:cs typeface="Courier New" panose="02070309020205020404" pitchFamily="49" charset="0"/>
            </a:endParaRPr>
          </a:p>
        </p:txBody>
      </p:sp>
      <p:cxnSp>
        <p:nvCxnSpPr>
          <p:cNvPr id="74" name="直線コネクタ 73"/>
          <p:cNvCxnSpPr>
            <a:stCxn id="73" idx="3"/>
            <a:endCxn id="69" idx="1"/>
          </p:cNvCxnSpPr>
          <p:nvPr/>
        </p:nvCxnSpPr>
        <p:spPr bwMode="auto">
          <a:xfrm flipV="1">
            <a:off x="3648269" y="2798991"/>
            <a:ext cx="1637723" cy="2"/>
          </a:xfrm>
          <a:prstGeom prst="line">
            <a:avLst/>
          </a:prstGeom>
          <a:noFill/>
          <a:ln w="9525" cap="flat" cmpd="sng" algn="ctr">
            <a:solidFill>
              <a:schemeClr val="tx1"/>
            </a:solidFill>
            <a:prstDash val="dash"/>
            <a:round/>
            <a:headEnd type="none" w="med" len="med"/>
            <a:tailEnd type="none" w="med" len="med"/>
          </a:ln>
          <a:effectLst/>
        </p:spPr>
      </p:cxnSp>
      <p:sp>
        <p:nvSpPr>
          <p:cNvPr id="75" name="Rectangle 72"/>
          <p:cNvSpPr>
            <a:spLocks noChangeArrowheads="1"/>
          </p:cNvSpPr>
          <p:nvPr/>
        </p:nvSpPr>
        <p:spPr bwMode="auto">
          <a:xfrm>
            <a:off x="6636006" y="261899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M1</a:t>
            </a:r>
          </a:p>
        </p:txBody>
      </p:sp>
      <p:sp>
        <p:nvSpPr>
          <p:cNvPr id="76" name="Rectangle 72"/>
          <p:cNvSpPr>
            <a:spLocks noChangeArrowheads="1"/>
          </p:cNvSpPr>
          <p:nvPr/>
        </p:nvSpPr>
        <p:spPr bwMode="auto">
          <a:xfrm>
            <a:off x="7086011" y="261899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M2</a:t>
            </a:r>
          </a:p>
        </p:txBody>
      </p:sp>
    </p:spTree>
    <p:extLst>
      <p:ext uri="{BB962C8B-B14F-4D97-AF65-F5344CB8AC3E}">
        <p14:creationId xmlns:p14="http://schemas.microsoft.com/office/powerpoint/2010/main" val="7549446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問題となるバックエッジ</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latin typeface="メイリオ" panose="020B0604030504040204" pitchFamily="50" charset="-128"/>
              </a:rPr>
              <a:t>演算器のフォワーディング</a:t>
            </a:r>
            <a:endParaRPr lang="en-US" altLang="ja-JP" dirty="0">
              <a:latin typeface="メイリオ" panose="020B0604030504040204" pitchFamily="50" charset="-128"/>
            </a:endParaRPr>
          </a:p>
          <a:p>
            <a:pPr marL="457200" indent="-457200">
              <a:buFont typeface="+mj-lt"/>
              <a:buAutoNum type="arabicPeriod"/>
            </a:pPr>
            <a:r>
              <a:rPr lang="ja-JP" altLang="en-US" dirty="0">
                <a:latin typeface="メイリオ" panose="020B0604030504040204" pitchFamily="50" charset="-128"/>
              </a:rPr>
              <a:t>ロードによるデータ・メモリの読み出し</a:t>
            </a:r>
            <a:endParaRPr lang="en-US" altLang="ja-JP" dirty="0">
              <a:latin typeface="メイリオ" panose="020B0604030504040204" pitchFamily="50" charset="-128"/>
            </a:endParaRPr>
          </a:p>
          <a:p>
            <a:pPr marL="457200" indent="-457200">
              <a:buFont typeface="+mj-lt"/>
              <a:buAutoNum type="arabicPeriod"/>
            </a:pPr>
            <a:r>
              <a:rPr lang="ja-JP" altLang="en-US" b="1" dirty="0">
                <a:latin typeface="メイリオ" panose="020B0604030504040204" pitchFamily="50" charset="-128"/>
              </a:rPr>
              <a:t>分岐結果の </a:t>
            </a:r>
            <a:r>
              <a:rPr lang="en-US" altLang="ja-JP" b="1" dirty="0">
                <a:latin typeface="メイリオ" panose="020B0604030504040204" pitchFamily="50" charset="-128"/>
              </a:rPr>
              <a:t>PC </a:t>
            </a:r>
            <a:r>
              <a:rPr lang="ja-JP" altLang="en-US" b="1" dirty="0" err="1">
                <a:latin typeface="メイリオ" panose="020B0604030504040204" pitchFamily="50" charset="-128"/>
              </a:rPr>
              <a:t>への</a:t>
            </a:r>
            <a:r>
              <a:rPr lang="ja-JP" altLang="en-US" b="1" dirty="0">
                <a:latin typeface="メイリオ" panose="020B0604030504040204" pitchFamily="50" charset="-128"/>
              </a:rPr>
              <a:t>反映</a:t>
            </a:r>
            <a:endParaRPr kumimoji="1" lang="ja-JP" altLang="en-US" b="1" dirty="0"/>
          </a:p>
        </p:txBody>
      </p:sp>
    </p:spTree>
    <p:extLst>
      <p:ext uri="{BB962C8B-B14F-4D97-AF65-F5344CB8AC3E}">
        <p14:creationId xmlns:p14="http://schemas.microsoft.com/office/powerpoint/2010/main" val="28029842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idx="4294967295"/>
          </p:nvPr>
        </p:nvSpPr>
        <p:spPr>
          <a:xfrm>
            <a:off x="1775953" y="4689015"/>
            <a:ext cx="8550095" cy="1369161"/>
          </a:xfrm>
          <a:prstGeom prst="rect">
            <a:avLst/>
          </a:prstGeom>
        </p:spPr>
        <p:txBody>
          <a:bodyPr/>
          <a:lstStyle/>
          <a:p>
            <a:r>
              <a:rPr lang="ja-JP" altLang="en-US" dirty="0"/>
              <a:t>動作</a:t>
            </a:r>
            <a:endParaRPr lang="en-US" altLang="ja-JP" dirty="0"/>
          </a:p>
          <a:p>
            <a:pPr lvl="1"/>
            <a:r>
              <a:rPr lang="ja-JP" altLang="en-US" dirty="0"/>
              <a:t>「</a:t>
            </a:r>
            <a:r>
              <a:rPr lang="en-US" altLang="ja-JP" dirty="0">
                <a:solidFill>
                  <a:schemeClr val="accent5"/>
                </a:solidFill>
              </a:rPr>
              <a:t>if a &gt; 0</a:t>
            </a:r>
            <a:r>
              <a:rPr lang="ja-JP" altLang="en-US" dirty="0"/>
              <a:t>」の結果を予測して，命令を取り込む</a:t>
            </a:r>
            <a:endParaRPr lang="en-US" altLang="ja-JP" dirty="0"/>
          </a:p>
          <a:p>
            <a:pPr lvl="2"/>
            <a:r>
              <a:rPr lang="ja-JP" altLang="en-US" dirty="0"/>
              <a:t>前回はこっちに行ったので，次もこっちに違いないとかで予測</a:t>
            </a:r>
            <a:endParaRPr lang="en-US" altLang="ja-JP" dirty="0"/>
          </a:p>
          <a:p>
            <a:pPr lvl="1"/>
            <a:r>
              <a:rPr lang="ja-JP" altLang="en-US" dirty="0"/>
              <a:t>あとから予測が正しいか確認する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575972" y="1358977"/>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err="1">
                <a:solidFill>
                  <a:schemeClr val="tx1">
                    <a:lumMod val="65000"/>
                    <a:lumOff val="35000"/>
                  </a:schemeClr>
                </a:solidFill>
                <a:latin typeface="Arial Narrow" panose="020B0606020202030204" pitchFamily="34" charset="0"/>
              </a:rPr>
              <a:t>わいの</a:t>
            </a:r>
            <a:r>
              <a:rPr lang="ja-JP" altLang="en-US" dirty="0">
                <a:solidFill>
                  <a:schemeClr val="tx1">
                    <a:lumMod val="65000"/>
                    <a:lumOff val="35000"/>
                  </a:schemeClr>
                </a:solidFill>
                <a:latin typeface="Arial Narrow" panose="020B0606020202030204" pitchFamily="34" charset="0"/>
              </a:rPr>
              <a:t>予想では </a:t>
            </a:r>
            <a:r>
              <a:rPr lang="en-US" altLang="ja-JP" dirty="0">
                <a:solidFill>
                  <a:schemeClr val="tx1">
                    <a:lumMod val="65000"/>
                    <a:lumOff val="35000"/>
                  </a:schemeClr>
                </a:solidFill>
                <a:latin typeface="Arial Narrow" panose="020B0606020202030204" pitchFamily="34" charset="0"/>
              </a:rPr>
              <a:t>else </a:t>
            </a:r>
            <a:r>
              <a:rPr lang="ja-JP" altLang="en-US" dirty="0">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ほんまかいな</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ｳｿｸｻｰ</a:t>
            </a:r>
          </a:p>
        </p:txBody>
      </p:sp>
      <p:sp>
        <p:nvSpPr>
          <p:cNvPr id="29" name="正方形/長方形 28"/>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ﾎﾝﾄｶﾅｰ</a:t>
            </a:r>
          </a:p>
        </p:txBody>
      </p:sp>
    </p:spTree>
    <p:extLst>
      <p:ext uri="{BB962C8B-B14F-4D97-AF65-F5344CB8AC3E}">
        <p14:creationId xmlns:p14="http://schemas.microsoft.com/office/powerpoint/2010/main" val="1000364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予測ペナルティ</a:t>
            </a:r>
            <a:endParaRPr kumimoji="1" lang="ja-JP" altLang="en-US" dirty="0"/>
          </a:p>
        </p:txBody>
      </p:sp>
      <p:sp>
        <p:nvSpPr>
          <p:cNvPr id="58" name="コンテンツ プレースホルダー 57"/>
          <p:cNvSpPr>
            <a:spLocks noGrp="1"/>
          </p:cNvSpPr>
          <p:nvPr>
            <p:ph idx="4294967295"/>
          </p:nvPr>
        </p:nvSpPr>
        <p:spPr>
          <a:xfrm>
            <a:off x="2225958" y="4869017"/>
            <a:ext cx="8190091" cy="1369161"/>
          </a:xfrm>
          <a:prstGeom prst="rect">
            <a:avLst/>
          </a:prstGeom>
        </p:spPr>
        <p:txBody>
          <a:bodyPr/>
          <a:lstStyle/>
          <a:p>
            <a:r>
              <a:rPr lang="ja-JP" altLang="en-US" dirty="0"/>
              <a:t>予測が間違っていた場合，以降の処理を</a:t>
            </a:r>
            <a:br>
              <a:rPr lang="en-US" altLang="ja-JP" dirty="0"/>
            </a:br>
            <a:r>
              <a:rPr lang="ja-JP" altLang="en-US" dirty="0"/>
              <a:t>取り消してやり直す</a:t>
            </a:r>
            <a:endParaRPr lang="en-US" altLang="ja-JP" dirty="0"/>
          </a:p>
          <a:p>
            <a:r>
              <a:rPr lang="ja-JP" altLang="en-US" dirty="0"/>
              <a:t>この図では，無駄になるのは</a:t>
            </a:r>
            <a:r>
              <a:rPr lang="en-US" altLang="ja-JP" dirty="0"/>
              <a:t>3</a:t>
            </a:r>
            <a:r>
              <a:rPr lang="ja-JP" altLang="en-US" dirty="0"/>
              <a:t>命令分</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6456004"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395970" y="1358977"/>
            <a:ext cx="2880032" cy="612648"/>
          </a:xfrm>
          <a:prstGeom prst="wedgeRoundRectCallout">
            <a:avLst>
              <a:gd name="adj1" fmla="val -38140"/>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Arial Narrow" panose="020B0606020202030204" pitchFamily="34" charset="0"/>
              </a:rPr>
              <a:t>a=a+1 </a:t>
            </a:r>
            <a:r>
              <a:rPr lang="ja-JP" altLang="en-US" dirty="0">
                <a:solidFill>
                  <a:schemeClr val="tx1">
                    <a:lumMod val="65000"/>
                    <a:lumOff val="35000"/>
                  </a:schemeClr>
                </a:solidFill>
                <a:latin typeface="Arial Narrow" panose="020B0606020202030204" pitchFamily="34" charset="0"/>
              </a:rPr>
              <a:t>からやりなおしや！</a:t>
            </a: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間違っとるが</a:t>
            </a:r>
            <a:r>
              <a:rPr lang="ja-JP" altLang="en-US" dirty="0" err="1">
                <a:solidFill>
                  <a:schemeClr val="tx1">
                    <a:lumMod val="65000"/>
                    <a:lumOff val="35000"/>
                  </a:schemeClr>
                </a:solidFill>
                <a:latin typeface="Arial Narrow" panose="020B0606020202030204" pitchFamily="34" charset="0"/>
              </a:rPr>
              <a:t>な</a:t>
            </a:r>
            <a:endParaRPr lang="ja-JP" altLang="en-US" dirty="0">
              <a:solidFill>
                <a:schemeClr val="tx1">
                  <a:lumMod val="65000"/>
                  <a:lumOff val="35000"/>
                </a:schemeClr>
              </a:solidFill>
              <a:latin typeface="Arial Narrow" panose="020B0606020202030204" pitchFamily="34" charset="0"/>
            </a:endParaRPr>
          </a:p>
        </p:txBody>
      </p:sp>
      <p:sp>
        <p:nvSpPr>
          <p:cNvPr id="28" name="角丸四角形 27"/>
          <p:cNvSpPr/>
          <p:nvPr/>
        </p:nvSpPr>
        <p:spPr bwMode="auto">
          <a:xfrm>
            <a:off x="5015988"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9" name="角丸四角形 28"/>
          <p:cNvSpPr/>
          <p:nvPr/>
        </p:nvSpPr>
        <p:spPr bwMode="auto">
          <a:xfrm>
            <a:off x="3575972"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正方形/長方形 29"/>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ﾓｳﾔﾀﾞ</a:t>
            </a:r>
          </a:p>
        </p:txBody>
      </p:sp>
      <p:sp>
        <p:nvSpPr>
          <p:cNvPr id="31" name="正方形/長方形 30"/>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ﾏｼﾞﾃﾞ</a:t>
            </a:r>
          </a:p>
        </p:txBody>
      </p:sp>
    </p:spTree>
    <p:extLst>
      <p:ext uri="{BB962C8B-B14F-4D97-AF65-F5344CB8AC3E}">
        <p14:creationId xmlns:p14="http://schemas.microsoft.com/office/powerpoint/2010/main" val="11364842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grpId="0" nodeType="clickEffect">
                                  <p:stCondLst>
                                    <p:cond delay="0"/>
                                  </p:stCondLst>
                                  <p:childTnLst>
                                    <p:animEffect transition="out" filter="fade">
                                      <p:cBhvr>
                                        <p:cTn id="6" dur="1000"/>
                                        <p:tgtEl>
                                          <p:spTgt spid="24"/>
                                        </p:tgtEl>
                                      </p:cBhvr>
                                    </p:animEffect>
                                    <p:anim calcmode="lin" valueType="num">
                                      <p:cBhvr>
                                        <p:cTn id="7" dur="1000"/>
                                        <p:tgtEl>
                                          <p:spTgt spid="24"/>
                                        </p:tgtEl>
                                        <p:attrNameLst>
                                          <p:attrName>ppt_x</p:attrName>
                                        </p:attrNameLst>
                                      </p:cBhvr>
                                      <p:tavLst>
                                        <p:tav tm="0">
                                          <p:val>
                                            <p:strVal val="ppt_x"/>
                                          </p:val>
                                        </p:tav>
                                        <p:tav tm="100000">
                                          <p:val>
                                            <p:strVal val="ppt_x"/>
                                          </p:val>
                                        </p:tav>
                                      </p:tavLst>
                                    </p:anim>
                                    <p:anim calcmode="lin" valueType="num">
                                      <p:cBhvr>
                                        <p:cTn id="8" dur="1000"/>
                                        <p:tgtEl>
                                          <p:spTgt spid="24"/>
                                        </p:tgtEl>
                                        <p:attrNameLst>
                                          <p:attrName>ppt_y</p:attrName>
                                        </p:attrNameLst>
                                      </p:cBhvr>
                                      <p:tavLst>
                                        <p:tav tm="0">
                                          <p:val>
                                            <p:strVal val="ppt_y"/>
                                          </p:val>
                                        </p:tav>
                                        <p:tav tm="100000">
                                          <p:val>
                                            <p:strVal val="ppt_y+.1"/>
                                          </p:val>
                                        </p:tav>
                                      </p:tavLst>
                                    </p:anim>
                                    <p:set>
                                      <p:cBhvr>
                                        <p:cTn id="9" dur="1" fill="hold">
                                          <p:stCondLst>
                                            <p:cond delay="999"/>
                                          </p:stCondLst>
                                        </p:cTn>
                                        <p:tgtEl>
                                          <p:spTgt spid="24"/>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28"/>
                                        </p:tgtEl>
                                      </p:cBhvr>
                                    </p:animEffect>
                                    <p:anim calcmode="lin" valueType="num">
                                      <p:cBhvr>
                                        <p:cTn id="12" dur="1000"/>
                                        <p:tgtEl>
                                          <p:spTgt spid="28"/>
                                        </p:tgtEl>
                                        <p:attrNameLst>
                                          <p:attrName>ppt_x</p:attrName>
                                        </p:attrNameLst>
                                      </p:cBhvr>
                                      <p:tavLst>
                                        <p:tav tm="0">
                                          <p:val>
                                            <p:strVal val="ppt_x"/>
                                          </p:val>
                                        </p:tav>
                                        <p:tav tm="100000">
                                          <p:val>
                                            <p:strVal val="ppt_x"/>
                                          </p:val>
                                        </p:tav>
                                      </p:tavLst>
                                    </p:anim>
                                    <p:anim calcmode="lin" valueType="num">
                                      <p:cBhvr>
                                        <p:cTn id="13" dur="1000"/>
                                        <p:tgtEl>
                                          <p:spTgt spid="28"/>
                                        </p:tgtEl>
                                        <p:attrNameLst>
                                          <p:attrName>ppt_y</p:attrName>
                                        </p:attrNameLst>
                                      </p:cBhvr>
                                      <p:tavLst>
                                        <p:tav tm="0">
                                          <p:val>
                                            <p:strVal val="ppt_y"/>
                                          </p:val>
                                        </p:tav>
                                        <p:tav tm="100000">
                                          <p:val>
                                            <p:strVal val="ppt_y+.1"/>
                                          </p:val>
                                        </p:tav>
                                      </p:tavLst>
                                    </p:anim>
                                    <p:set>
                                      <p:cBhvr>
                                        <p:cTn id="14" dur="1" fill="hold">
                                          <p:stCondLst>
                                            <p:cond delay="999"/>
                                          </p:stCondLst>
                                        </p:cTn>
                                        <p:tgtEl>
                                          <p:spTgt spid="28"/>
                                        </p:tgtEl>
                                        <p:attrNameLst>
                                          <p:attrName>style.visibility</p:attrName>
                                        </p:attrNameLst>
                                      </p:cBhvr>
                                      <p:to>
                                        <p:strVal val="hidden"/>
                                      </p:to>
                                    </p:set>
                                  </p:childTnLst>
                                </p:cTn>
                              </p:par>
                              <p:par>
                                <p:cTn id="15" presetID="42" presetClass="exit" presetSubtype="0" fill="hold" grpId="0" nodeType="withEffect">
                                  <p:stCondLst>
                                    <p:cond delay="0"/>
                                  </p:stCondLst>
                                  <p:childTnLst>
                                    <p:animEffect transition="out" filter="fade">
                                      <p:cBhvr>
                                        <p:cTn id="16" dur="1000"/>
                                        <p:tgtEl>
                                          <p:spTgt spid="29"/>
                                        </p:tgtEl>
                                      </p:cBhvr>
                                    </p:animEffect>
                                    <p:anim calcmode="lin" valueType="num">
                                      <p:cBhvr>
                                        <p:cTn id="17" dur="1000"/>
                                        <p:tgtEl>
                                          <p:spTgt spid="29"/>
                                        </p:tgtEl>
                                        <p:attrNameLst>
                                          <p:attrName>ppt_x</p:attrName>
                                        </p:attrNameLst>
                                      </p:cBhvr>
                                      <p:tavLst>
                                        <p:tav tm="0">
                                          <p:val>
                                            <p:strVal val="ppt_x"/>
                                          </p:val>
                                        </p:tav>
                                        <p:tav tm="100000">
                                          <p:val>
                                            <p:strVal val="ppt_x"/>
                                          </p:val>
                                        </p:tav>
                                      </p:tavLst>
                                    </p:anim>
                                    <p:anim calcmode="lin" valueType="num">
                                      <p:cBhvr>
                                        <p:cTn id="18" dur="1000"/>
                                        <p:tgtEl>
                                          <p:spTgt spid="29"/>
                                        </p:tgtEl>
                                        <p:attrNameLst>
                                          <p:attrName>ppt_y</p:attrName>
                                        </p:attrNameLst>
                                      </p:cBhvr>
                                      <p:tavLst>
                                        <p:tav tm="0">
                                          <p:val>
                                            <p:strVal val="ppt_y"/>
                                          </p:val>
                                        </p:tav>
                                        <p:tav tm="100000">
                                          <p:val>
                                            <p:strVal val="ppt_y+.1"/>
                                          </p:val>
                                        </p:tav>
                                      </p:tavLst>
                                    </p:anim>
                                    <p:set>
                                      <p:cBhvr>
                                        <p:cTn id="19" dur="1" fill="hold">
                                          <p:stCondLst>
                                            <p:cond delay="9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8"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分岐予測ペナルティの大きさ</a:t>
            </a:r>
          </a:p>
        </p:txBody>
      </p:sp>
      <p:sp>
        <p:nvSpPr>
          <p:cNvPr id="3" name="テキスト プレースホルダー 2"/>
          <p:cNvSpPr>
            <a:spLocks noGrp="1"/>
          </p:cNvSpPr>
          <p:nvPr>
            <p:ph type="body" sz="quarter" idx="10"/>
          </p:nvPr>
        </p:nvSpPr>
        <p:spPr>
          <a:xfrm>
            <a:off x="2135956" y="3789005"/>
            <a:ext cx="8280092" cy="2519721"/>
          </a:xfrm>
        </p:spPr>
        <p:txBody>
          <a:bodyPr/>
          <a:lstStyle/>
          <a:p>
            <a:r>
              <a:rPr kumimoji="1" lang="ja-JP" altLang="en-US" dirty="0"/>
              <a:t>パイプラインを深くすると，</a:t>
            </a:r>
            <a:endParaRPr kumimoji="1" lang="en-US" altLang="ja-JP" dirty="0"/>
          </a:p>
          <a:p>
            <a:pPr lvl="1"/>
            <a:r>
              <a:rPr kumimoji="1" lang="en-US" altLang="ja-JP" dirty="0"/>
              <a:t>= if </a:t>
            </a:r>
            <a:r>
              <a:rPr kumimoji="1" lang="ja-JP" altLang="en-US" dirty="0"/>
              <a:t>が右に到達してミスが判明するまでのステージが増える</a:t>
            </a:r>
            <a:endParaRPr kumimoji="1" lang="en-US" altLang="ja-JP" dirty="0"/>
          </a:p>
          <a:p>
            <a:pPr lvl="1"/>
            <a:r>
              <a:rPr kumimoji="1" lang="en-US" altLang="ja-JP" dirty="0">
                <a:solidFill>
                  <a:schemeClr val="accent5"/>
                </a:solidFill>
              </a:rPr>
              <a:t>= </a:t>
            </a:r>
            <a:r>
              <a:rPr kumimoji="1" lang="ja-JP" altLang="en-US" dirty="0">
                <a:solidFill>
                  <a:schemeClr val="accent5"/>
                </a:solidFill>
              </a:rPr>
              <a:t>予測ミス時に取り消される命令数が大きくなる</a:t>
            </a:r>
            <a:endParaRPr kumimoji="1" lang="en-US" altLang="ja-JP" dirty="0">
              <a:solidFill>
                <a:schemeClr val="accent5"/>
              </a:solidFill>
            </a:endParaRPr>
          </a:p>
          <a:p>
            <a:pPr lvl="2"/>
            <a:r>
              <a:rPr kumimoji="1" lang="ja-JP" altLang="en-US" dirty="0"/>
              <a:t>一瞬で全員を消せず，取り消す命令数に応じた時間がかかる</a:t>
            </a:r>
            <a:endParaRPr kumimoji="1" lang="en-US" altLang="ja-JP" dirty="0"/>
          </a:p>
          <a:p>
            <a:r>
              <a:rPr kumimoji="1" lang="ja-JP" altLang="en-US" dirty="0"/>
              <a:t>実時間が伸びているわけではないことに注意</a:t>
            </a:r>
            <a:endParaRPr kumimoji="1" lang="en-US" altLang="ja-JP" dirty="0"/>
          </a:p>
          <a:p>
            <a:pPr lvl="1"/>
            <a:r>
              <a:rPr kumimoji="1" lang="en-US" altLang="ja-JP" dirty="0"/>
              <a:t>if </a:t>
            </a:r>
            <a:r>
              <a:rPr kumimoji="1" lang="ja-JP" altLang="en-US" dirty="0"/>
              <a:t>が右に到達するまでの</a:t>
            </a:r>
            <a:r>
              <a:rPr lang="ja-JP" altLang="en-US" dirty="0"/>
              <a:t>実</a:t>
            </a:r>
            <a:r>
              <a:rPr kumimoji="1" lang="ja-JP" altLang="en-US" dirty="0"/>
              <a:t>時間は変わってない</a:t>
            </a:r>
            <a:endParaRPr lang="en-US" altLang="ja-JP" dirty="0"/>
          </a:p>
          <a:p>
            <a:pPr lvl="1"/>
            <a:r>
              <a:rPr kumimoji="1" lang="ja-JP" altLang="en-US" dirty="0"/>
              <a:t>矢印が伸びるアニメーションを思い出してほしい</a:t>
            </a:r>
          </a:p>
        </p:txBody>
      </p:sp>
      <p:grpSp>
        <p:nvGrpSpPr>
          <p:cNvPr id="4" name="グループ化 3"/>
          <p:cNvGrpSpPr/>
          <p:nvPr/>
        </p:nvGrpSpPr>
        <p:grpSpPr>
          <a:xfrm>
            <a:off x="3215968" y="1718981"/>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656128" y="1718981"/>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6096288" y="1718981"/>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536448" y="1718981"/>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3177808" y="85443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1" name="角丸四角形 20"/>
          <p:cNvSpPr/>
          <p:nvPr/>
        </p:nvSpPr>
        <p:spPr bwMode="auto">
          <a:xfrm>
            <a:off x="8346025" y="1538979"/>
            <a:ext cx="540006"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t>
            </a:r>
            <a:endParaRPr lang="ja-JP" altLang="en-US" dirty="0">
              <a:latin typeface="Arial Narrow" panose="020B0606020202030204" pitchFamily="34" charset="0"/>
            </a:endParaRPr>
          </a:p>
        </p:txBody>
      </p:sp>
      <p:sp>
        <p:nvSpPr>
          <p:cNvPr id="24" name="角丸四角形 23"/>
          <p:cNvSpPr/>
          <p:nvPr/>
        </p:nvSpPr>
        <p:spPr bwMode="auto">
          <a:xfrm>
            <a:off x="6996010" y="1538979"/>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25" name="角丸四角形 24"/>
          <p:cNvSpPr/>
          <p:nvPr/>
        </p:nvSpPr>
        <p:spPr bwMode="auto">
          <a:xfrm>
            <a:off x="5555994" y="1538979"/>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26" name="角丸四角形 25"/>
          <p:cNvSpPr/>
          <p:nvPr/>
        </p:nvSpPr>
        <p:spPr bwMode="auto">
          <a:xfrm>
            <a:off x="4115978" y="1538979"/>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nvGrpSpPr>
          <p:cNvPr id="29" name="グループ化 28"/>
          <p:cNvGrpSpPr/>
          <p:nvPr/>
        </p:nvGrpSpPr>
        <p:grpSpPr>
          <a:xfrm>
            <a:off x="3215969" y="2798993"/>
            <a:ext cx="810009"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2" name="グループ化 31"/>
          <p:cNvGrpSpPr/>
          <p:nvPr/>
        </p:nvGrpSpPr>
        <p:grpSpPr>
          <a:xfrm>
            <a:off x="4656129" y="2798993"/>
            <a:ext cx="809865" cy="576064"/>
            <a:chOff x="971600" y="5445224"/>
            <a:chExt cx="7200800" cy="576064"/>
          </a:xfrm>
        </p:grpSpPr>
        <p:sp>
          <p:nvSpPr>
            <p:cNvPr id="33" name="平行四辺形 32"/>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4" name="平行四辺形 33"/>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5" name="グループ化 34"/>
          <p:cNvGrpSpPr/>
          <p:nvPr/>
        </p:nvGrpSpPr>
        <p:grpSpPr>
          <a:xfrm>
            <a:off x="6096289" y="2798993"/>
            <a:ext cx="809721" cy="576064"/>
            <a:chOff x="971600" y="5445224"/>
            <a:chExt cx="7200800" cy="576064"/>
          </a:xfrm>
        </p:grpSpPr>
        <p:sp>
          <p:nvSpPr>
            <p:cNvPr id="36" name="平行四辺形 35"/>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7536449" y="2798993"/>
            <a:ext cx="809577" cy="576064"/>
            <a:chOff x="971600" y="5445224"/>
            <a:chExt cx="7200800" cy="576064"/>
          </a:xfrm>
        </p:grpSpPr>
        <p:sp>
          <p:nvSpPr>
            <p:cNvPr id="39" name="平行四辺形 38"/>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 name="平行四辺形 39"/>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 name="グループ化 40"/>
          <p:cNvGrpSpPr/>
          <p:nvPr/>
        </p:nvGrpSpPr>
        <p:grpSpPr>
          <a:xfrm>
            <a:off x="3935977" y="2798993"/>
            <a:ext cx="810009" cy="576064"/>
            <a:chOff x="971600" y="5445224"/>
            <a:chExt cx="7200800" cy="576064"/>
          </a:xfrm>
        </p:grpSpPr>
        <p:sp>
          <p:nvSpPr>
            <p:cNvPr id="42" name="平行四辺形 4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 name="グループ化 43"/>
          <p:cNvGrpSpPr/>
          <p:nvPr/>
        </p:nvGrpSpPr>
        <p:grpSpPr>
          <a:xfrm>
            <a:off x="5375993" y="2798993"/>
            <a:ext cx="809865" cy="576064"/>
            <a:chOff x="971600" y="5445224"/>
            <a:chExt cx="7200800" cy="576064"/>
          </a:xfrm>
        </p:grpSpPr>
        <p:sp>
          <p:nvSpPr>
            <p:cNvPr id="45" name="平行四辺形 44"/>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 name="平行四辺形 45"/>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 name="グループ化 46"/>
          <p:cNvGrpSpPr/>
          <p:nvPr/>
        </p:nvGrpSpPr>
        <p:grpSpPr>
          <a:xfrm>
            <a:off x="6816009" y="2798993"/>
            <a:ext cx="809721" cy="576064"/>
            <a:chOff x="971600" y="5445224"/>
            <a:chExt cx="7200800" cy="576064"/>
          </a:xfrm>
        </p:grpSpPr>
        <p:sp>
          <p:nvSpPr>
            <p:cNvPr id="48" name="平行四辺形 47"/>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 name="平行四辺形 48"/>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 name="グループ化 49"/>
          <p:cNvGrpSpPr/>
          <p:nvPr/>
        </p:nvGrpSpPr>
        <p:grpSpPr>
          <a:xfrm>
            <a:off x="8256025" y="2798993"/>
            <a:ext cx="809577" cy="576064"/>
            <a:chOff x="971600" y="5445224"/>
            <a:chExt cx="7200800" cy="576064"/>
          </a:xfrm>
        </p:grpSpPr>
        <p:sp>
          <p:nvSpPr>
            <p:cNvPr id="51" name="平行四辺形 50"/>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 name="平行四辺形 5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53" name="角丸四角形 52"/>
          <p:cNvSpPr/>
          <p:nvPr/>
        </p:nvSpPr>
        <p:spPr bwMode="auto">
          <a:xfrm>
            <a:off x="8346025" y="2708992"/>
            <a:ext cx="540006"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t>
            </a:r>
            <a:endParaRPr lang="ja-JP" altLang="en-US" dirty="0">
              <a:latin typeface="Arial Narrow" panose="020B0606020202030204" pitchFamily="34" charset="0"/>
            </a:endParaRPr>
          </a:p>
        </p:txBody>
      </p:sp>
      <p:sp>
        <p:nvSpPr>
          <p:cNvPr id="54" name="角丸四角形 53"/>
          <p:cNvSpPr/>
          <p:nvPr/>
        </p:nvSpPr>
        <p:spPr bwMode="auto">
          <a:xfrm>
            <a:off x="6996010"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55" name="角丸四角形 54"/>
          <p:cNvSpPr/>
          <p:nvPr/>
        </p:nvSpPr>
        <p:spPr bwMode="auto">
          <a:xfrm>
            <a:off x="5555994"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56" name="角丸四角形 55"/>
          <p:cNvSpPr/>
          <p:nvPr/>
        </p:nvSpPr>
        <p:spPr bwMode="auto">
          <a:xfrm>
            <a:off x="4115978"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57" name="角丸四角形 56"/>
          <p:cNvSpPr/>
          <p:nvPr/>
        </p:nvSpPr>
        <p:spPr bwMode="auto">
          <a:xfrm>
            <a:off x="6276002"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58" name="角丸四角形 57"/>
          <p:cNvSpPr/>
          <p:nvPr/>
        </p:nvSpPr>
        <p:spPr bwMode="auto">
          <a:xfrm>
            <a:off x="4835986"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59" name="角丸四角形 58"/>
          <p:cNvSpPr/>
          <p:nvPr/>
        </p:nvSpPr>
        <p:spPr bwMode="auto">
          <a:xfrm>
            <a:off x="3395970"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0" name="角丸四角形 59"/>
          <p:cNvSpPr/>
          <p:nvPr/>
        </p:nvSpPr>
        <p:spPr bwMode="auto">
          <a:xfrm>
            <a:off x="7716018" y="2708992"/>
            <a:ext cx="54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Tree>
    <p:extLst>
      <p:ext uri="{BB962C8B-B14F-4D97-AF65-F5344CB8AC3E}">
        <p14:creationId xmlns:p14="http://schemas.microsoft.com/office/powerpoint/2010/main" val="616950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パイプライン化の限界のまとめ</a:t>
            </a:r>
            <a:endParaRPr lang="ja-JP" altLang="en-US" dirty="0"/>
          </a:p>
        </p:txBody>
      </p:sp>
      <p:sp>
        <p:nvSpPr>
          <p:cNvPr id="3" name="テキスト プレースホルダー 2"/>
          <p:cNvSpPr>
            <a:spLocks noGrp="1"/>
          </p:cNvSpPr>
          <p:nvPr>
            <p:ph type="body" sz="quarter" idx="10"/>
          </p:nvPr>
        </p:nvSpPr>
        <p:spPr/>
        <p:txBody>
          <a:bodyPr/>
          <a:lstStyle/>
          <a:p>
            <a:r>
              <a:rPr lang="ja-JP" altLang="en-US" dirty="0"/>
              <a:t>速度が上がらなくなる理由：</a:t>
            </a:r>
            <a:endParaRPr lang="en-US" altLang="ja-JP" dirty="0"/>
          </a:p>
          <a:p>
            <a:pPr lvl="1"/>
            <a:r>
              <a:rPr lang="ja-JP" altLang="en-US" dirty="0"/>
              <a:t>回路的な理由による周波数向上の限界</a:t>
            </a:r>
            <a:endParaRPr lang="en-US" altLang="ja-JP" dirty="0"/>
          </a:p>
          <a:p>
            <a:pPr lvl="2"/>
            <a:r>
              <a:rPr lang="en-US" altLang="ja-JP" dirty="0"/>
              <a:t>D-FF </a:t>
            </a:r>
            <a:r>
              <a:rPr lang="ja-JP" altLang="en-US" dirty="0"/>
              <a:t>の遅延</a:t>
            </a:r>
            <a:endParaRPr lang="en-US" altLang="ja-JP" dirty="0"/>
          </a:p>
          <a:p>
            <a:pPr lvl="2"/>
            <a:r>
              <a:rPr lang="ja-JP" altLang="en-US" dirty="0"/>
              <a:t>電力と熱</a:t>
            </a:r>
            <a:endParaRPr lang="en-US" altLang="ja-JP" dirty="0"/>
          </a:p>
          <a:p>
            <a:pPr lvl="1"/>
            <a:r>
              <a:rPr lang="ja-JP" altLang="en-US" dirty="0"/>
              <a:t>アーキテクチャ的な理由による実効性能の限界</a:t>
            </a:r>
            <a:endParaRPr lang="en-US" altLang="ja-JP" dirty="0"/>
          </a:p>
          <a:p>
            <a:pPr lvl="2"/>
            <a:r>
              <a:rPr lang="ja-JP" altLang="en-US" dirty="0"/>
              <a:t>バックエッジによる実効性能の低下</a:t>
            </a:r>
            <a:endParaRPr lang="en-US" altLang="ja-JP" dirty="0"/>
          </a:p>
          <a:p>
            <a:pPr lvl="2"/>
            <a:r>
              <a:rPr lang="ja-JP" altLang="en-US" dirty="0"/>
              <a:t>（今日話した話題意外に，スーパスカラ固有の性能低下も</a:t>
            </a:r>
          </a:p>
        </p:txBody>
      </p:sp>
    </p:spTree>
    <p:extLst>
      <p:ext uri="{BB962C8B-B14F-4D97-AF65-F5344CB8AC3E}">
        <p14:creationId xmlns:p14="http://schemas.microsoft.com/office/powerpoint/2010/main" val="39121063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 </a:t>
            </a:r>
            <a:r>
              <a:rPr lang="en-US" altLang="ja-JP" dirty="0"/>
              <a:t>CPU </a:t>
            </a:r>
            <a:r>
              <a:rPr lang="ja-JP" altLang="en-US" dirty="0"/>
              <a:t>のパイプライン段数</a:t>
            </a:r>
            <a:endParaRPr lang="en-US" altLang="ja-JP" dirty="0"/>
          </a:p>
        </p:txBody>
      </p:sp>
      <p:sp>
        <p:nvSpPr>
          <p:cNvPr id="3" name="テキスト プレースホルダー 2"/>
          <p:cNvSpPr>
            <a:spLocks noGrp="1"/>
          </p:cNvSpPr>
          <p:nvPr>
            <p:ph type="body" sz="quarter" idx="10"/>
          </p:nvPr>
        </p:nvSpPr>
        <p:spPr/>
        <p:txBody>
          <a:bodyPr/>
          <a:lstStyle/>
          <a:p>
            <a:r>
              <a:rPr lang="ja-JP" altLang="en-US" dirty="0"/>
              <a:t>現在は大体１５～２０段</a:t>
            </a:r>
            <a:endParaRPr lang="en-US" altLang="ja-JP" dirty="0"/>
          </a:p>
          <a:p>
            <a:r>
              <a:rPr lang="en-US" altLang="ja-JP" dirty="0"/>
              <a:t>Intel Pentium4 </a:t>
            </a:r>
            <a:r>
              <a:rPr lang="ja-JP" altLang="en-US" dirty="0"/>
              <a:t>（</a:t>
            </a:r>
            <a:r>
              <a:rPr lang="en-US" altLang="ja-JP" dirty="0"/>
              <a:t>Prescott</a:t>
            </a:r>
            <a:r>
              <a:rPr lang="ja-JP" altLang="en-US" dirty="0"/>
              <a:t>）３１段</a:t>
            </a:r>
            <a:endParaRPr lang="en-US" altLang="ja-JP" dirty="0"/>
          </a:p>
          <a:p>
            <a:pPr lvl="1"/>
            <a:r>
              <a:rPr lang="en-US" altLang="ja-JP" dirty="0"/>
              <a:t>2004</a:t>
            </a:r>
            <a:r>
              <a:rPr lang="ja-JP" altLang="en-US" dirty="0"/>
              <a:t>年発売で </a:t>
            </a:r>
            <a:r>
              <a:rPr lang="en-US" altLang="ja-JP" dirty="0"/>
              <a:t>3.8 GHz</a:t>
            </a:r>
          </a:p>
          <a:p>
            <a:pPr lvl="1"/>
            <a:r>
              <a:rPr lang="ja-JP" altLang="en-US" dirty="0"/>
              <a:t>おそらく，歴史上最大の段数</a:t>
            </a:r>
            <a:endParaRPr lang="en-US" altLang="ja-JP" dirty="0"/>
          </a:p>
          <a:p>
            <a:pPr lvl="2"/>
            <a:r>
              <a:rPr lang="ja-JP" altLang="en-US" dirty="0"/>
              <a:t>熱くなりすぎ </a:t>
            </a:r>
            <a:r>
              <a:rPr lang="en-US" altLang="ja-JP" dirty="0"/>
              <a:t>&amp; </a:t>
            </a:r>
            <a:r>
              <a:rPr lang="ja-JP" altLang="en-US" dirty="0"/>
              <a:t>性能が出ずで，この後ステージ数は減少</a:t>
            </a:r>
            <a:endParaRPr lang="en-US" altLang="ja-JP" dirty="0"/>
          </a:p>
          <a:p>
            <a:r>
              <a:rPr lang="en-US" altLang="ja-JP" dirty="0"/>
              <a:t>AMD Zen</a:t>
            </a:r>
            <a:r>
              <a:rPr lang="ja-JP" altLang="en-US" dirty="0"/>
              <a:t>：１９段</a:t>
            </a:r>
            <a:endParaRPr lang="en-US" altLang="ja-JP" dirty="0"/>
          </a:p>
          <a:p>
            <a:pPr lvl="1"/>
            <a:r>
              <a:rPr lang="en-US" altLang="ja-JP" dirty="0"/>
              <a:t>2017</a:t>
            </a:r>
            <a:r>
              <a:rPr lang="ja-JP" altLang="en-US" dirty="0"/>
              <a:t>年発売で </a:t>
            </a:r>
            <a:r>
              <a:rPr lang="en-US" altLang="ja-JP" dirty="0"/>
              <a:t>4.2GHz</a:t>
            </a:r>
            <a:endParaRPr lang="ja-JP" altLang="en-US" dirty="0"/>
          </a:p>
        </p:txBody>
      </p:sp>
    </p:spTree>
    <p:extLst>
      <p:ext uri="{BB962C8B-B14F-4D97-AF65-F5344CB8AC3E}">
        <p14:creationId xmlns:p14="http://schemas.microsoft.com/office/powerpoint/2010/main" val="1941529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Sony/IBM/</a:t>
            </a:r>
            <a:r>
              <a:rPr lang="ja-JP" altLang="en-US" dirty="0"/>
              <a:t>東芝 </a:t>
            </a:r>
            <a:r>
              <a:rPr lang="en-US" altLang="ja-JP" dirty="0"/>
              <a:t>Cell (SPE)</a:t>
            </a:r>
            <a:br>
              <a:rPr lang="en-US" altLang="ja-JP" dirty="0"/>
            </a:br>
            <a:r>
              <a:rPr lang="en-US" altLang="ja-JP" sz="1400" dirty="0"/>
              <a:t>Cell Broadband Engine Architecture and its first implementation—A performance view </a:t>
            </a:r>
            <a:r>
              <a:rPr lang="ja-JP" altLang="en-US" sz="1400" dirty="0"/>
              <a:t>より</a:t>
            </a:r>
            <a:endParaRPr lang="ja-JP" altLang="en-US" sz="1600" dirty="0"/>
          </a:p>
        </p:txBody>
      </p:sp>
      <p:pic>
        <p:nvPicPr>
          <p:cNvPr id="4" name="図 3"/>
          <p:cNvPicPr>
            <a:picLocks noChangeAspect="1"/>
          </p:cNvPicPr>
          <p:nvPr/>
        </p:nvPicPr>
        <p:blipFill>
          <a:blip r:embed="rId2"/>
          <a:stretch>
            <a:fillRect/>
          </a:stretch>
        </p:blipFill>
        <p:spPr>
          <a:xfrm>
            <a:off x="1955954" y="1808982"/>
            <a:ext cx="8352042" cy="3689818"/>
          </a:xfrm>
          <a:prstGeom prst="rect">
            <a:avLst/>
          </a:prstGeom>
        </p:spPr>
      </p:pic>
    </p:spTree>
    <p:extLst>
      <p:ext uri="{BB962C8B-B14F-4D97-AF65-F5344CB8AC3E}">
        <p14:creationId xmlns:p14="http://schemas.microsoft.com/office/powerpoint/2010/main" val="27424156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AMD JAGUAR</a:t>
            </a:r>
            <a:br>
              <a:rPr lang="en-US" altLang="ja-JP" sz="1800" dirty="0"/>
            </a:br>
            <a:r>
              <a:rPr lang="en-US" altLang="ja-JP" sz="1800" dirty="0"/>
              <a:t>"JAGUAR” AMD’s Next Generation Low Power x86 Core </a:t>
            </a:r>
            <a:r>
              <a:rPr lang="ja-JP" altLang="en-US" sz="1800" dirty="0"/>
              <a:t>より</a:t>
            </a:r>
          </a:p>
        </p:txBody>
      </p:sp>
      <p:pic>
        <p:nvPicPr>
          <p:cNvPr id="4" name="図 3"/>
          <p:cNvPicPr>
            <a:picLocks noChangeAspect="1"/>
          </p:cNvPicPr>
          <p:nvPr/>
        </p:nvPicPr>
        <p:blipFill>
          <a:blip r:embed="rId2"/>
          <a:stretch>
            <a:fillRect/>
          </a:stretch>
        </p:blipFill>
        <p:spPr>
          <a:xfrm>
            <a:off x="1865953" y="1808983"/>
            <a:ext cx="8532044" cy="3564315"/>
          </a:xfrm>
          <a:prstGeom prst="rect">
            <a:avLst/>
          </a:prstGeom>
        </p:spPr>
      </p:pic>
    </p:spTree>
    <p:extLst>
      <p:ext uri="{BB962C8B-B14F-4D97-AF65-F5344CB8AC3E}">
        <p14:creationId xmlns:p14="http://schemas.microsoft.com/office/powerpoint/2010/main" val="322094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ARM Cortex-A15 </a:t>
            </a:r>
            <a:br>
              <a:rPr lang="en-US" altLang="ja-JP" dirty="0"/>
            </a:br>
            <a:r>
              <a:rPr lang="en-US" altLang="ja-JP" sz="1600" dirty="0"/>
              <a:t>Exploring the Design of the Cortex-A15 Processor</a:t>
            </a:r>
            <a:br>
              <a:rPr lang="en-US" altLang="ja-JP" sz="1600" dirty="0"/>
            </a:br>
            <a:r>
              <a:rPr lang="en-US" altLang="ja-JP" sz="1600" dirty="0"/>
              <a:t>ARM’s next generation mobile applications processor </a:t>
            </a:r>
            <a:r>
              <a:rPr lang="ja-JP" altLang="en-US" sz="1600" dirty="0"/>
              <a:t>より</a:t>
            </a:r>
          </a:p>
        </p:txBody>
      </p:sp>
      <p:pic>
        <p:nvPicPr>
          <p:cNvPr id="4" name="図 3"/>
          <p:cNvPicPr>
            <a:picLocks noChangeAspect="1"/>
          </p:cNvPicPr>
          <p:nvPr/>
        </p:nvPicPr>
        <p:blipFill>
          <a:blip r:embed="rId2"/>
          <a:stretch>
            <a:fillRect/>
          </a:stretch>
        </p:blipFill>
        <p:spPr>
          <a:xfrm>
            <a:off x="2135956" y="972524"/>
            <a:ext cx="7857758" cy="5859027"/>
          </a:xfrm>
          <a:prstGeom prst="rect">
            <a:avLst/>
          </a:prstGeom>
        </p:spPr>
      </p:pic>
    </p:spTree>
    <p:extLst>
      <p:ext uri="{BB962C8B-B14F-4D97-AF65-F5344CB8AC3E}">
        <p14:creationId xmlns:p14="http://schemas.microsoft.com/office/powerpoint/2010/main" val="1970650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F6C3DF1-F9EC-B285-2E83-D56AE7F0639E}"/>
              </a:ext>
            </a:extLst>
          </p:cNvPr>
          <p:cNvSpPr>
            <a:spLocks noGrp="1"/>
          </p:cNvSpPr>
          <p:nvPr>
            <p:ph type="title"/>
          </p:nvPr>
        </p:nvSpPr>
        <p:spPr/>
        <p:txBody>
          <a:bodyPr/>
          <a:lstStyle/>
          <a:p>
            <a:r>
              <a:rPr kumimoji="1" lang="ja-JP" altLang="en-US" b="1" dirty="0"/>
              <a:t>分岐予測</a:t>
            </a:r>
            <a:endParaRPr kumimoji="1" lang="en-US" altLang="ja-JP" b="1" dirty="0"/>
          </a:p>
        </p:txBody>
      </p:sp>
    </p:spTree>
    <p:extLst>
      <p:ext uri="{BB962C8B-B14F-4D97-AF65-F5344CB8AC3E}">
        <p14:creationId xmlns:p14="http://schemas.microsoft.com/office/powerpoint/2010/main" val="38289131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非構造ハザード</a:t>
            </a:r>
            <a:endParaRPr kumimoji="1" lang="en-US" altLang="ja-JP" dirty="0"/>
          </a:p>
          <a:p>
            <a:pPr marL="457200" indent="-457200">
              <a:buFont typeface="+mj-lt"/>
              <a:buAutoNum type="arabicPeriod"/>
            </a:pPr>
            <a:r>
              <a:rPr kumimoji="1" lang="ja-JP" altLang="en-US" dirty="0"/>
              <a:t>命令パイプラインと性能</a:t>
            </a:r>
            <a:endParaRPr kumimoji="1" lang="en-US" altLang="ja-JP" dirty="0"/>
          </a:p>
          <a:p>
            <a:pPr marL="457200" indent="-457200">
              <a:buFont typeface="+mj-lt"/>
              <a:buAutoNum type="arabicPeriod"/>
            </a:pPr>
            <a:r>
              <a:rPr kumimoji="1" lang="ja-JP" altLang="en-US" b="1" dirty="0"/>
              <a:t>分岐予測</a:t>
            </a:r>
            <a:endParaRPr kumimoji="1" lang="en-US" altLang="ja-JP" b="1" dirty="0"/>
          </a:p>
          <a:p>
            <a:pPr lvl="1"/>
            <a:r>
              <a:rPr lang="ja-JP" altLang="en-US" b="1" dirty="0"/>
              <a:t>用語の定義からはじめる</a:t>
            </a:r>
            <a:endParaRPr lang="en-US" altLang="ja-JP" b="1" dirty="0"/>
          </a:p>
        </p:txBody>
      </p:sp>
    </p:spTree>
    <p:extLst>
      <p:ext uri="{BB962C8B-B14F-4D97-AF65-F5344CB8AC3E}">
        <p14:creationId xmlns:p14="http://schemas.microsoft.com/office/powerpoint/2010/main" val="31654255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用語の定義（１）</a:t>
            </a:r>
          </a:p>
        </p:txBody>
      </p:sp>
      <p:sp>
        <p:nvSpPr>
          <p:cNvPr id="3" name="テキスト プレースホルダー 2"/>
          <p:cNvSpPr>
            <a:spLocks noGrp="1"/>
          </p:cNvSpPr>
          <p:nvPr>
            <p:ph type="body" sz="quarter" idx="10"/>
          </p:nvPr>
        </p:nvSpPr>
        <p:spPr/>
        <p:txBody>
          <a:bodyPr/>
          <a:lstStyle/>
          <a:p>
            <a:r>
              <a:rPr lang="ja-JP" altLang="en-US" dirty="0"/>
              <a:t>方向分岐</a:t>
            </a:r>
            <a:endParaRPr lang="en-US" altLang="ja-JP" dirty="0"/>
          </a:p>
          <a:p>
            <a:pPr lvl="1"/>
            <a:r>
              <a:rPr lang="en-US" altLang="ja-JP" dirty="0"/>
              <a:t>if </a:t>
            </a:r>
            <a:r>
              <a:rPr lang="ja-JP" altLang="en-US" dirty="0"/>
              <a:t>文のように，２方向に分岐する分岐命令</a:t>
            </a:r>
            <a:endParaRPr lang="en-US" altLang="ja-JP" dirty="0"/>
          </a:p>
          <a:p>
            <a:r>
              <a:rPr lang="ja-JP" altLang="en-US" dirty="0"/>
              <a:t>間接分岐</a:t>
            </a:r>
            <a:endParaRPr lang="en-US" altLang="ja-JP" dirty="0"/>
          </a:p>
          <a:p>
            <a:pPr lvl="1"/>
            <a:r>
              <a:rPr lang="ja-JP" altLang="en-US" dirty="0"/>
              <a:t>レジスタに格納されている値のアドレスに飛ぶ分岐命令</a:t>
            </a:r>
            <a:endParaRPr lang="en-US" altLang="ja-JP" dirty="0"/>
          </a:p>
          <a:p>
            <a:pPr lvl="1"/>
            <a:r>
              <a:rPr lang="ja-JP" altLang="en-US" dirty="0"/>
              <a:t>任意の場所に飛ぶことができる</a:t>
            </a:r>
            <a:endParaRPr lang="en-US" altLang="ja-JP" dirty="0"/>
          </a:p>
        </p:txBody>
      </p:sp>
    </p:spTree>
    <p:extLst>
      <p:ext uri="{BB962C8B-B14F-4D97-AF65-F5344CB8AC3E}">
        <p14:creationId xmlns:p14="http://schemas.microsoft.com/office/powerpoint/2010/main" val="1772754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用語の定義（２）</a:t>
            </a:r>
          </a:p>
        </p:txBody>
      </p:sp>
      <p:sp>
        <p:nvSpPr>
          <p:cNvPr id="3" name="テキスト プレースホルダー 2"/>
          <p:cNvSpPr>
            <a:spLocks noGrp="1"/>
          </p:cNvSpPr>
          <p:nvPr>
            <p:ph type="body" sz="quarter" idx="10"/>
          </p:nvPr>
        </p:nvSpPr>
        <p:spPr/>
        <p:txBody>
          <a:bodyPr/>
          <a:lstStyle/>
          <a:p>
            <a:r>
              <a:rPr kumimoji="1" lang="ja-JP" altLang="en-US" dirty="0"/>
              <a:t>分岐の成立</a:t>
            </a:r>
            <a:r>
              <a:rPr kumimoji="1" lang="en-US" altLang="ja-JP" dirty="0"/>
              <a:t>/</a:t>
            </a:r>
            <a:r>
              <a:rPr kumimoji="1" lang="ja-JP" altLang="en-US" dirty="0"/>
              <a:t>不成立</a:t>
            </a:r>
            <a:endParaRPr kumimoji="1" lang="en-US" altLang="ja-JP" dirty="0"/>
          </a:p>
          <a:p>
            <a:pPr lvl="1"/>
            <a:r>
              <a:rPr kumimoji="1" lang="ja-JP" altLang="en-US" dirty="0"/>
              <a:t>条件が成立（</a:t>
            </a:r>
            <a:r>
              <a:rPr kumimoji="1" lang="en-US" altLang="ja-JP" dirty="0"/>
              <a:t>taken</a:t>
            </a:r>
            <a:r>
              <a:rPr kumimoji="1" lang="ja-JP" altLang="en-US" dirty="0"/>
              <a:t>）：　　指定されたアドレスへジャンプ</a:t>
            </a:r>
            <a:endParaRPr kumimoji="1" lang="en-US" altLang="ja-JP" dirty="0"/>
          </a:p>
          <a:p>
            <a:pPr lvl="1"/>
            <a:r>
              <a:rPr kumimoji="1" lang="ja-JP" altLang="en-US" dirty="0"/>
              <a:t>条件が不成立（</a:t>
            </a:r>
            <a:r>
              <a:rPr kumimoji="1" lang="en-US" altLang="ja-JP" dirty="0"/>
              <a:t>untaken</a:t>
            </a:r>
            <a:r>
              <a:rPr kumimoji="1" lang="ja-JP" altLang="en-US" dirty="0"/>
              <a:t>）：次の命令（</a:t>
            </a:r>
            <a:r>
              <a:rPr kumimoji="1" lang="en-US" altLang="ja-JP" dirty="0"/>
              <a:t>PC+</a:t>
            </a:r>
            <a:r>
              <a:rPr kumimoji="1" lang="ja-JP" altLang="en-US" dirty="0"/>
              <a:t>４）に移る</a:t>
            </a:r>
            <a:endParaRPr kumimoji="1" lang="en-US" altLang="ja-JP" dirty="0"/>
          </a:p>
          <a:p>
            <a:r>
              <a:rPr lang="ja-JP" altLang="en-US" dirty="0"/>
              <a:t>例：</a:t>
            </a:r>
            <a:r>
              <a:rPr lang="en-US" altLang="ja-JP" dirty="0" err="1"/>
              <a:t>bne</a:t>
            </a:r>
            <a:r>
              <a:rPr lang="en-US" altLang="ja-JP" dirty="0"/>
              <a:t> x1, x2, TARGET</a:t>
            </a:r>
          </a:p>
          <a:p>
            <a:pPr lvl="1"/>
            <a:r>
              <a:rPr lang="ja-JP" altLang="en-US" dirty="0"/>
              <a:t>成立：　</a:t>
            </a:r>
            <a:r>
              <a:rPr lang="en-US" altLang="ja-JP" dirty="0"/>
              <a:t>x1 </a:t>
            </a:r>
            <a:r>
              <a:rPr lang="ja-JP" altLang="en-US" dirty="0"/>
              <a:t>と </a:t>
            </a:r>
            <a:r>
              <a:rPr lang="en-US" altLang="ja-JP" dirty="0"/>
              <a:t>x2 </a:t>
            </a:r>
            <a:r>
              <a:rPr lang="ja-JP" altLang="en-US" dirty="0"/>
              <a:t>の値が異なった場合は，</a:t>
            </a:r>
            <a:r>
              <a:rPr lang="en-US" altLang="ja-JP" dirty="0"/>
              <a:t>TARGET </a:t>
            </a:r>
            <a:r>
              <a:rPr lang="ja-JP" altLang="en-US" dirty="0"/>
              <a:t>にジャンプ</a:t>
            </a:r>
            <a:endParaRPr lang="en-US" altLang="ja-JP" dirty="0"/>
          </a:p>
          <a:p>
            <a:pPr lvl="1"/>
            <a:r>
              <a:rPr lang="ja-JP" altLang="en-US" dirty="0"/>
              <a:t>不成立：</a:t>
            </a:r>
            <a:r>
              <a:rPr lang="en-US" altLang="ja-JP" dirty="0"/>
              <a:t>x1 </a:t>
            </a:r>
            <a:r>
              <a:rPr lang="ja-JP" altLang="en-US" dirty="0"/>
              <a:t>と </a:t>
            </a:r>
            <a:r>
              <a:rPr lang="en-US" altLang="ja-JP" dirty="0"/>
              <a:t>x2 </a:t>
            </a:r>
            <a:r>
              <a:rPr lang="ja-JP" altLang="en-US" dirty="0"/>
              <a:t>の値が同じ場合は，次の </a:t>
            </a:r>
            <a:r>
              <a:rPr lang="en-US" altLang="ja-JP" dirty="0"/>
              <a:t>PC </a:t>
            </a:r>
            <a:r>
              <a:rPr lang="ja-JP" altLang="en-US" dirty="0"/>
              <a:t>に</a:t>
            </a:r>
            <a:endParaRPr lang="en-US" altLang="ja-JP" dirty="0"/>
          </a:p>
        </p:txBody>
      </p:sp>
    </p:spTree>
    <p:extLst>
      <p:ext uri="{BB962C8B-B14F-4D97-AF65-F5344CB8AC3E}">
        <p14:creationId xmlns:p14="http://schemas.microsoft.com/office/powerpoint/2010/main" val="24469800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用語の定義（３）</a:t>
            </a:r>
          </a:p>
        </p:txBody>
      </p:sp>
      <p:sp>
        <p:nvSpPr>
          <p:cNvPr id="3" name="テキスト プレースホルダー 2"/>
          <p:cNvSpPr>
            <a:spLocks noGrp="1"/>
          </p:cNvSpPr>
          <p:nvPr>
            <p:ph type="body" sz="quarter" idx="10"/>
          </p:nvPr>
        </p:nvSpPr>
        <p:spPr>
          <a:xfrm>
            <a:off x="2135956" y="1088975"/>
            <a:ext cx="8280092" cy="3870043"/>
          </a:xfrm>
        </p:spPr>
        <p:txBody>
          <a:bodyPr/>
          <a:lstStyle/>
          <a:p>
            <a:r>
              <a:rPr lang="ja-JP" altLang="en-US" dirty="0"/>
              <a:t>分岐先 アドレス </a:t>
            </a:r>
            <a:r>
              <a:rPr lang="en-US" altLang="ja-JP" dirty="0"/>
              <a:t>or </a:t>
            </a:r>
            <a:r>
              <a:rPr lang="ja-JP" altLang="en-US" dirty="0"/>
              <a:t>ターゲット</a:t>
            </a:r>
            <a:endParaRPr lang="en-US" altLang="ja-JP" dirty="0"/>
          </a:p>
          <a:p>
            <a:pPr lvl="1"/>
            <a:r>
              <a:rPr lang="ja-JP" altLang="en-US" dirty="0"/>
              <a:t>分岐が成立した際の飛び先のアドレスのこと</a:t>
            </a:r>
            <a:endParaRPr lang="en-US" altLang="ja-JP" dirty="0"/>
          </a:p>
          <a:p>
            <a:r>
              <a:rPr lang="ja-JP" altLang="en-US" dirty="0"/>
              <a:t>前方分岐：</a:t>
            </a:r>
            <a:endParaRPr lang="en-US" altLang="ja-JP" dirty="0"/>
          </a:p>
          <a:p>
            <a:pPr lvl="1"/>
            <a:r>
              <a:rPr lang="ja-JP" altLang="en-US" dirty="0"/>
              <a:t>分岐先ターゲットが分岐自身のアドレスよりも大きい分岐のこと</a:t>
            </a:r>
            <a:endParaRPr lang="en-US" altLang="ja-JP" dirty="0"/>
          </a:p>
          <a:p>
            <a:pPr lvl="1"/>
            <a:r>
              <a:rPr lang="ja-JP" altLang="en-US" dirty="0">
                <a:solidFill>
                  <a:schemeClr val="accent5"/>
                </a:solidFill>
              </a:rPr>
              <a:t>プログラムの進行方向に対して前方に飛ぶことから</a:t>
            </a:r>
            <a:endParaRPr lang="en-US" altLang="ja-JP" dirty="0">
              <a:solidFill>
                <a:schemeClr val="accent5"/>
              </a:solidFill>
            </a:endParaRPr>
          </a:p>
          <a:p>
            <a:r>
              <a:rPr lang="ja-JP" altLang="en-US" dirty="0"/>
              <a:t>後方分岐：</a:t>
            </a:r>
            <a:endParaRPr lang="en-US" altLang="ja-JP" dirty="0"/>
          </a:p>
          <a:p>
            <a:pPr lvl="1"/>
            <a:r>
              <a:rPr lang="ja-JP" altLang="en-US" dirty="0"/>
              <a:t>分岐先ターゲットが分岐自身のアドレスよりも小さい分岐のこと</a:t>
            </a:r>
            <a:endParaRPr lang="en-US" altLang="ja-JP" dirty="0"/>
          </a:p>
          <a:p>
            <a:pPr lvl="1"/>
            <a:r>
              <a:rPr lang="ja-JP" altLang="en-US" dirty="0"/>
              <a:t>後方に飛ぶ </a:t>
            </a:r>
            <a:r>
              <a:rPr lang="en-US" altLang="ja-JP" dirty="0"/>
              <a:t>= </a:t>
            </a:r>
            <a:r>
              <a:rPr lang="ja-JP" altLang="en-US" dirty="0"/>
              <a:t>ループを作る</a:t>
            </a:r>
            <a:endParaRPr lang="en-US" altLang="ja-JP" dirty="0"/>
          </a:p>
        </p:txBody>
      </p:sp>
      <p:sp>
        <p:nvSpPr>
          <p:cNvPr id="4" name="正方形/長方形 3"/>
          <p:cNvSpPr/>
          <p:nvPr/>
        </p:nvSpPr>
        <p:spPr bwMode="auto">
          <a:xfrm>
            <a:off x="8436026" y="486901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BACK:</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  branch</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FORWARD:</a:t>
            </a:r>
          </a:p>
        </p:txBody>
      </p:sp>
      <p:cxnSp>
        <p:nvCxnSpPr>
          <p:cNvPr id="6" name="直線矢印コネクタ 5"/>
          <p:cNvCxnSpPr/>
          <p:nvPr/>
        </p:nvCxnSpPr>
        <p:spPr bwMode="auto">
          <a:xfrm>
            <a:off x="8166023" y="4869017"/>
            <a:ext cx="0" cy="1710019"/>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028959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分岐予測</a:t>
            </a:r>
          </a:p>
        </p:txBody>
      </p:sp>
      <p:sp>
        <p:nvSpPr>
          <p:cNvPr id="3" name="テキスト プレースホルダー 2"/>
          <p:cNvSpPr>
            <a:spLocks noGrp="1"/>
          </p:cNvSpPr>
          <p:nvPr>
            <p:ph type="body" sz="quarter" idx="10"/>
          </p:nvPr>
        </p:nvSpPr>
        <p:spPr/>
        <p:txBody>
          <a:bodyPr/>
          <a:lstStyle/>
          <a:p>
            <a:r>
              <a:rPr kumimoji="1" lang="ja-JP" altLang="en-US" dirty="0"/>
              <a:t>分岐予測では，以下の３つを全て行う必要がある</a:t>
            </a:r>
            <a:endParaRPr kumimoji="1" lang="en-US" altLang="ja-JP" dirty="0"/>
          </a:p>
          <a:p>
            <a:pPr marL="817200" lvl="1" indent="-457200">
              <a:buFont typeface="+mj-lt"/>
              <a:buAutoNum type="arabicPeriod"/>
            </a:pPr>
            <a:r>
              <a:rPr kumimoji="1" lang="ja-JP" altLang="en-US" dirty="0"/>
              <a:t>分岐命令かどうか予測（分岐種別の予測）</a:t>
            </a:r>
            <a:endParaRPr kumimoji="1" lang="en-US" altLang="ja-JP" dirty="0"/>
          </a:p>
          <a:p>
            <a:pPr marL="817200" lvl="1" indent="-457200">
              <a:buFont typeface="+mj-lt"/>
              <a:buAutoNum type="arabicPeriod"/>
            </a:pPr>
            <a:r>
              <a:rPr kumimoji="1" lang="ja-JP" altLang="en-US" dirty="0"/>
              <a:t>分岐先ターゲット予測</a:t>
            </a:r>
            <a:endParaRPr kumimoji="1" lang="en-US" altLang="ja-JP" dirty="0"/>
          </a:p>
          <a:p>
            <a:pPr marL="817200" lvl="1" indent="-457200">
              <a:buFont typeface="+mj-lt"/>
              <a:buAutoNum type="arabicPeriod"/>
            </a:pPr>
            <a:r>
              <a:rPr kumimoji="1" lang="ja-JP" altLang="en-US" dirty="0"/>
              <a:t>分岐方向予測</a:t>
            </a:r>
            <a:endParaRPr kumimoji="1" lang="en-US" altLang="ja-JP" dirty="0"/>
          </a:p>
          <a:p>
            <a:r>
              <a:rPr lang="en-US" altLang="ja-JP" dirty="0"/>
              <a:t>if-then-else </a:t>
            </a:r>
            <a:r>
              <a:rPr lang="ja-JP" altLang="en-US" dirty="0"/>
              <a:t>の方向だけを予測していれば良いわけではない</a:t>
            </a:r>
            <a:endParaRPr kumimoji="1" lang="en-US" altLang="ja-JP" dirty="0"/>
          </a:p>
          <a:p>
            <a:r>
              <a:rPr kumimoji="1" lang="ja-JP" altLang="en-US" dirty="0"/>
              <a:t>（今は方向分岐のみを扱い，間接分岐は考えない</a:t>
            </a:r>
          </a:p>
        </p:txBody>
      </p:sp>
    </p:spTree>
    <p:extLst>
      <p:ext uri="{BB962C8B-B14F-4D97-AF65-F5344CB8AC3E}">
        <p14:creationId xmlns:p14="http://schemas.microsoft.com/office/powerpoint/2010/main" val="3897526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288899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288899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288899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288899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02445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02445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04303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04303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１．分岐</a:t>
            </a:r>
            <a:r>
              <a:rPr lang="ja-JP" altLang="en-US" dirty="0"/>
              <a:t>かどうか予測の必要性</a:t>
            </a:r>
            <a:endParaRPr kumimoji="1" lang="ja-JP" altLang="en-US" dirty="0"/>
          </a:p>
        </p:txBody>
      </p:sp>
      <p:sp>
        <p:nvSpPr>
          <p:cNvPr id="58" name="コンテンツ プレースホルダー 57"/>
          <p:cNvSpPr>
            <a:spLocks noGrp="1"/>
          </p:cNvSpPr>
          <p:nvPr>
            <p:ph idx="4294967295"/>
          </p:nvPr>
        </p:nvSpPr>
        <p:spPr>
          <a:xfrm>
            <a:off x="1775952" y="4689015"/>
            <a:ext cx="8820098" cy="1369161"/>
          </a:xfrm>
          <a:prstGeom prst="rect">
            <a:avLst/>
          </a:prstGeom>
        </p:spPr>
        <p:txBody>
          <a:bodyPr/>
          <a:lstStyle/>
          <a:p>
            <a:r>
              <a:rPr lang="ja-JP" altLang="en-US" dirty="0"/>
              <a:t>メモリから命令が取れるまでは，それが分岐かどうかはわからない</a:t>
            </a:r>
            <a:endParaRPr lang="en-US" altLang="ja-JP" dirty="0"/>
          </a:p>
          <a:p>
            <a:pPr lvl="1"/>
            <a:r>
              <a:rPr lang="ja-JP" altLang="en-US" dirty="0"/>
              <a:t>命令フェッチは複数段にパイプライン化されていることが多い</a:t>
            </a:r>
            <a:endParaRPr lang="en-US" altLang="ja-JP" dirty="0"/>
          </a:p>
          <a:p>
            <a:pPr lvl="1"/>
            <a:r>
              <a:rPr lang="ja-JP" altLang="en-US" dirty="0"/>
              <a:t>以降のターゲットや方向の予測をすべきかどうかが，わからない</a:t>
            </a:r>
            <a:endParaRPr lang="en-US" altLang="ja-JP" dirty="0"/>
          </a:p>
          <a:p>
            <a:r>
              <a:rPr lang="ja-JP" altLang="en-US" dirty="0"/>
              <a:t>一方パイプライン先頭では即座に次のアドレスを予測しないといけない</a:t>
            </a:r>
            <a:endParaRPr lang="en-US" altLang="ja-JP" dirty="0"/>
          </a:p>
          <a:p>
            <a:pPr lvl="1"/>
            <a:r>
              <a:rPr lang="ja-JP" altLang="en-US" dirty="0"/>
              <a:t>分岐かどうかわかるまでまっていては，バブルができる</a:t>
            </a:r>
            <a:endParaRPr lang="en-US" altLang="ja-JP" dirty="0"/>
          </a:p>
        </p:txBody>
      </p:sp>
      <p:cxnSp>
        <p:nvCxnSpPr>
          <p:cNvPr id="67" name="直線矢印コネクタ 66"/>
          <p:cNvCxnSpPr/>
          <p:nvPr/>
        </p:nvCxnSpPr>
        <p:spPr bwMode="auto">
          <a:xfrm>
            <a:off x="3125967" y="3699003"/>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err="1">
                <a:latin typeface="Arial Narrow" panose="020B0606020202030204" pitchFamily="34" charset="0"/>
              </a:rPr>
              <a:t>bne</a:t>
            </a:r>
            <a:endParaRPr lang="ja-JP" altLang="en-US" dirty="0">
              <a:latin typeface="Arial Narrow" panose="020B0606020202030204" pitchFamily="34" charset="0"/>
            </a:endParaRPr>
          </a:p>
        </p:txBody>
      </p:sp>
      <p:sp>
        <p:nvSpPr>
          <p:cNvPr id="96" name="正方形/長方形 95"/>
          <p:cNvSpPr/>
          <p:nvPr/>
        </p:nvSpPr>
        <p:spPr bwMode="auto">
          <a:xfrm>
            <a:off x="1775952" y="216898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  </a:t>
            </a:r>
            <a:r>
              <a:rPr lang="en-US" altLang="ja-JP" dirty="0" err="1">
                <a:solidFill>
                  <a:schemeClr val="bg1"/>
                </a:solidFill>
                <a:latin typeface="Arial Narrow" panose="020B0606020202030204" pitchFamily="34" charset="0"/>
              </a:rPr>
              <a:t>bne</a:t>
            </a:r>
            <a:r>
              <a:rPr lang="en-US" altLang="ja-JP" dirty="0">
                <a:solidFill>
                  <a:schemeClr val="bg1"/>
                </a:solidFill>
                <a:latin typeface="Arial Narrow" panose="020B0606020202030204" pitchFamily="34" charset="0"/>
              </a:rPr>
              <a:t> x1,x2,L</a:t>
            </a:r>
          </a:p>
          <a:p>
            <a:pPr>
              <a:lnSpc>
                <a:spcPct val="80000"/>
              </a:lnSpc>
            </a:pPr>
            <a:r>
              <a:rPr lang="en-US" altLang="ja-JP" dirty="0">
                <a:solidFill>
                  <a:schemeClr val="bg1"/>
                </a:solidFill>
                <a:latin typeface="Arial Narrow" panose="020B0606020202030204" pitchFamily="34" charset="0"/>
              </a:rPr>
              <a:t>  add ...</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L:</a:t>
            </a:r>
          </a:p>
          <a:p>
            <a:pPr>
              <a:lnSpc>
                <a:spcPct val="80000"/>
              </a:lnSpc>
            </a:pPr>
            <a:r>
              <a:rPr lang="en-US" altLang="ja-JP" dirty="0">
                <a:solidFill>
                  <a:schemeClr val="bg1"/>
                </a:solidFill>
                <a:latin typeface="Arial Narrow" panose="020B0606020202030204" pitchFamily="34" charset="0"/>
              </a:rPr>
              <a:t>  sub ...</a:t>
            </a:r>
            <a:endParaRPr lang="ja-JP" altLang="en-US" dirty="0">
              <a:solidFill>
                <a:schemeClr val="bg1"/>
              </a:solidFill>
              <a:latin typeface="Arial Narrow" panose="020B0606020202030204" pitchFamily="34" charset="0"/>
            </a:endParaRPr>
          </a:p>
        </p:txBody>
      </p:sp>
      <p:sp>
        <p:nvSpPr>
          <p:cNvPr id="97" name="正方形/長方形 96"/>
          <p:cNvSpPr/>
          <p:nvPr/>
        </p:nvSpPr>
        <p:spPr bwMode="auto">
          <a:xfrm>
            <a:off x="2045956"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a:t>
            </a:r>
          </a:p>
        </p:txBody>
      </p:sp>
      <p:sp>
        <p:nvSpPr>
          <p:cNvPr id="4" name="角丸四角形吹き出し 3"/>
          <p:cNvSpPr/>
          <p:nvPr/>
        </p:nvSpPr>
        <p:spPr bwMode="auto">
          <a:xfrm>
            <a:off x="3395970" y="1088974"/>
            <a:ext cx="1890022" cy="612648"/>
          </a:xfrm>
          <a:prstGeom prst="wedgeRoundRectCallout">
            <a:avLst>
              <a:gd name="adj1" fmla="val -35668"/>
              <a:gd name="adj2" fmla="val 12850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中身わからんし</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予測できない</a:t>
            </a:r>
            <a:r>
              <a:rPr lang="en-US" altLang="ja-JP" dirty="0">
                <a:solidFill>
                  <a:schemeClr val="tx1">
                    <a:lumMod val="65000"/>
                    <a:lumOff val="35000"/>
                  </a:schemeClr>
                </a:solidFill>
                <a:latin typeface="Arial Narrow" panose="020B0606020202030204" pitchFamily="34" charset="0"/>
              </a:rPr>
              <a:t>ZE</a:t>
            </a:r>
          </a:p>
        </p:txBody>
      </p:sp>
      <p:sp>
        <p:nvSpPr>
          <p:cNvPr id="30" name="角丸四角形吹き出し 29"/>
          <p:cNvSpPr/>
          <p:nvPr/>
        </p:nvSpPr>
        <p:spPr bwMode="auto">
          <a:xfrm>
            <a:off x="5375992" y="1088974"/>
            <a:ext cx="2160024" cy="612648"/>
          </a:xfrm>
          <a:prstGeom prst="wedgeRoundRectCallout">
            <a:avLst>
              <a:gd name="adj1" fmla="val -54056"/>
              <a:gd name="adj2" fmla="val 139384"/>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解析したところ</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これは分岐でした</a:t>
            </a:r>
            <a:endParaRPr lang="en-US" altLang="ja-JP"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27412693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288899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288899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288899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288899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02445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02445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04303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04303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２．分岐</a:t>
            </a:r>
            <a:r>
              <a:rPr lang="ja-JP" altLang="en-US" dirty="0"/>
              <a:t>先ターゲットの予測の必要性</a:t>
            </a:r>
            <a:endParaRPr kumimoji="1" lang="ja-JP" altLang="en-US" dirty="0"/>
          </a:p>
        </p:txBody>
      </p:sp>
      <p:sp>
        <p:nvSpPr>
          <p:cNvPr id="58" name="コンテンツ プレースホルダー 57"/>
          <p:cNvSpPr>
            <a:spLocks noGrp="1"/>
          </p:cNvSpPr>
          <p:nvPr>
            <p:ph idx="4294967295"/>
          </p:nvPr>
        </p:nvSpPr>
        <p:spPr>
          <a:xfrm>
            <a:off x="1775953" y="4689015"/>
            <a:ext cx="8550095" cy="1369161"/>
          </a:xfrm>
          <a:prstGeom prst="rect">
            <a:avLst/>
          </a:prstGeom>
        </p:spPr>
        <p:txBody>
          <a:bodyPr/>
          <a:lstStyle/>
          <a:p>
            <a:r>
              <a:rPr lang="ja-JP" altLang="en-US" dirty="0"/>
              <a:t>メモリから命令が取れるまでは，分岐成立時の飛び先の場所もわからない</a:t>
            </a:r>
            <a:endParaRPr lang="en-US" altLang="ja-JP" dirty="0"/>
          </a:p>
          <a:p>
            <a:pPr lvl="1"/>
            <a:r>
              <a:rPr lang="ja-JP" altLang="en-US" dirty="0"/>
              <a:t>いくつ先 </a:t>
            </a:r>
            <a:r>
              <a:rPr lang="en-US" altLang="ja-JP" dirty="0"/>
              <a:t>or </a:t>
            </a:r>
            <a:r>
              <a:rPr lang="ja-JP" altLang="en-US" dirty="0"/>
              <a:t>いくつ前に飛ぶのか？</a:t>
            </a:r>
            <a:endParaRPr lang="en-US" altLang="ja-JP" dirty="0"/>
          </a:p>
        </p:txBody>
      </p:sp>
      <p:cxnSp>
        <p:nvCxnSpPr>
          <p:cNvPr id="67" name="直線矢印コネクタ 66"/>
          <p:cNvCxnSpPr/>
          <p:nvPr/>
        </p:nvCxnSpPr>
        <p:spPr bwMode="auto">
          <a:xfrm>
            <a:off x="3125967" y="3699003"/>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96" name="正方形/長方形 95"/>
          <p:cNvSpPr/>
          <p:nvPr/>
        </p:nvSpPr>
        <p:spPr bwMode="auto">
          <a:xfrm>
            <a:off x="1775952" y="216898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  </a:t>
            </a:r>
            <a:r>
              <a:rPr lang="en-US" altLang="ja-JP" dirty="0" err="1">
                <a:solidFill>
                  <a:schemeClr val="bg1"/>
                </a:solidFill>
                <a:latin typeface="Arial Narrow" panose="020B0606020202030204" pitchFamily="34" charset="0"/>
              </a:rPr>
              <a:t>bne</a:t>
            </a:r>
            <a:r>
              <a:rPr lang="en-US" altLang="ja-JP" dirty="0">
                <a:solidFill>
                  <a:schemeClr val="bg1"/>
                </a:solidFill>
                <a:latin typeface="Arial Narrow" panose="020B0606020202030204" pitchFamily="34" charset="0"/>
              </a:rPr>
              <a:t> x1,x2,</a:t>
            </a:r>
            <a:r>
              <a:rPr lang="en-US" altLang="ja-JP" b="1" dirty="0">
                <a:solidFill>
                  <a:srgbClr val="FF0000"/>
                </a:solidFill>
                <a:latin typeface="Arial Narrow" panose="020B0606020202030204" pitchFamily="34" charset="0"/>
              </a:rPr>
              <a:t>L</a:t>
            </a:r>
          </a:p>
          <a:p>
            <a:pPr>
              <a:lnSpc>
                <a:spcPct val="80000"/>
              </a:lnSpc>
            </a:pPr>
            <a:r>
              <a:rPr lang="en-US" altLang="ja-JP" dirty="0">
                <a:solidFill>
                  <a:schemeClr val="bg1"/>
                </a:solidFill>
                <a:latin typeface="Arial Narrow" panose="020B0606020202030204" pitchFamily="34" charset="0"/>
              </a:rPr>
              <a:t>  add ...</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b="1" dirty="0">
                <a:solidFill>
                  <a:srgbClr val="FF0000"/>
                </a:solidFill>
                <a:latin typeface="Arial Narrow" panose="020B0606020202030204" pitchFamily="34" charset="0"/>
              </a:rPr>
              <a:t>L</a:t>
            </a:r>
            <a:r>
              <a:rPr lang="en-US" altLang="ja-JP" dirty="0">
                <a:solidFill>
                  <a:schemeClr val="bg1"/>
                </a:solidFill>
                <a:latin typeface="Arial Narrow" panose="020B0606020202030204" pitchFamily="34" charset="0"/>
              </a:rPr>
              <a:t>:</a:t>
            </a:r>
          </a:p>
          <a:p>
            <a:pPr>
              <a:lnSpc>
                <a:spcPct val="80000"/>
              </a:lnSpc>
            </a:pPr>
            <a:r>
              <a:rPr lang="en-US" altLang="ja-JP" dirty="0">
                <a:solidFill>
                  <a:schemeClr val="bg1"/>
                </a:solidFill>
                <a:latin typeface="Arial Narrow" panose="020B0606020202030204" pitchFamily="34" charset="0"/>
              </a:rPr>
              <a:t>  sub ...</a:t>
            </a:r>
            <a:endParaRPr lang="ja-JP" altLang="en-US" dirty="0">
              <a:solidFill>
                <a:schemeClr val="bg1"/>
              </a:solidFill>
              <a:latin typeface="Arial Narrow" panose="020B0606020202030204" pitchFamily="34" charset="0"/>
            </a:endParaRPr>
          </a:p>
        </p:txBody>
      </p:sp>
      <p:sp>
        <p:nvSpPr>
          <p:cNvPr id="97" name="正方形/長方形 96"/>
          <p:cNvSpPr/>
          <p:nvPr/>
        </p:nvSpPr>
        <p:spPr bwMode="auto">
          <a:xfrm>
            <a:off x="2045956"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a:t>
            </a:r>
          </a:p>
        </p:txBody>
      </p:sp>
      <p:sp>
        <p:nvSpPr>
          <p:cNvPr id="4" name="角丸四角形吹き出し 3"/>
          <p:cNvSpPr/>
          <p:nvPr/>
        </p:nvSpPr>
        <p:spPr bwMode="auto">
          <a:xfrm>
            <a:off x="3575973" y="818972"/>
            <a:ext cx="2790031" cy="990012"/>
          </a:xfrm>
          <a:prstGeom prst="wedgeRoundRectCallout">
            <a:avLst>
              <a:gd name="adj1" fmla="val -44731"/>
              <a:gd name="adj2" fmla="val 8974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成立する</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！するが</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今回まだ飛び先の場所の</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指定まではしていない</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a:t>
            </a:r>
            <a:endParaRPr lang="en-US" altLang="ja-JP" dirty="0">
              <a:solidFill>
                <a:schemeClr val="tx1">
                  <a:lumMod val="65000"/>
                  <a:lumOff val="35000"/>
                </a:schemeClr>
              </a:solidFill>
              <a:latin typeface="Arial Narrow" panose="020B0606020202030204" pitchFamily="34" charset="0"/>
            </a:endParaRPr>
          </a:p>
        </p:txBody>
      </p:sp>
      <p:sp>
        <p:nvSpPr>
          <p:cNvPr id="28" name="角丸四角形吹き出し 27"/>
          <p:cNvSpPr/>
          <p:nvPr/>
        </p:nvSpPr>
        <p:spPr bwMode="auto">
          <a:xfrm>
            <a:off x="8076021" y="818972"/>
            <a:ext cx="2250026" cy="1080011"/>
          </a:xfrm>
          <a:prstGeom prst="wedgeRoundRectCallout">
            <a:avLst>
              <a:gd name="adj1" fmla="val -44212"/>
              <a:gd name="adj2" fmla="val 966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いいから飛び先も</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予測しなされ</a:t>
            </a:r>
            <a:endParaRPr lang="en-US" altLang="ja-JP" dirty="0">
              <a:solidFill>
                <a:schemeClr val="tx1">
                  <a:lumMod val="65000"/>
                  <a:lumOff val="35000"/>
                </a:schemeClr>
              </a:solidFill>
              <a:latin typeface="Arial Narrow" panose="020B0606020202030204" pitchFamily="34" charset="0"/>
            </a:endParaRPr>
          </a:p>
        </p:txBody>
      </p:sp>
      <p:sp>
        <p:nvSpPr>
          <p:cNvPr id="29" name="正方形/長方形 28"/>
          <p:cNvSpPr/>
          <p:nvPr/>
        </p:nvSpPr>
        <p:spPr bwMode="auto">
          <a:xfrm>
            <a:off x="3665974" y="2168986"/>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dirty="0">
                <a:solidFill>
                  <a:schemeClr val="accent1"/>
                </a:solidFill>
              </a:rPr>
              <a:t>ﾜﾚﾜﾚｶﾞ</a:t>
            </a:r>
            <a:br>
              <a:rPr lang="en-US" altLang="ja-JP" sz="1400" dirty="0">
                <a:solidFill>
                  <a:schemeClr val="accent1"/>
                </a:solidFill>
              </a:rPr>
            </a:br>
            <a:r>
              <a:rPr lang="ja-JP" altLang="en-US" sz="1400" dirty="0">
                <a:solidFill>
                  <a:schemeClr val="accent1"/>
                </a:solidFill>
              </a:rPr>
              <a:t>ｿﾉｷﾆﾅﾚﾊﾞ</a:t>
            </a:r>
          </a:p>
        </p:txBody>
      </p:sp>
    </p:spTree>
    <p:extLst>
      <p:ext uri="{BB962C8B-B14F-4D97-AF65-F5344CB8AC3E}">
        <p14:creationId xmlns:p14="http://schemas.microsoft.com/office/powerpoint/2010/main" val="2880209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BTB</a:t>
            </a:r>
            <a:r>
              <a:rPr lang="ja-JP" altLang="en-US" dirty="0"/>
              <a:t>（</a:t>
            </a:r>
            <a:r>
              <a:rPr lang="en-US" altLang="ja-JP" dirty="0"/>
              <a:t>Branch Target Buffer</a:t>
            </a:r>
            <a:r>
              <a:rPr lang="ja-JP" altLang="en-US" dirty="0"/>
              <a:t>）による予測</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BTB </a:t>
            </a:r>
            <a:r>
              <a:rPr lang="ja-JP" altLang="en-US" dirty="0"/>
              <a:t>と呼ぶ表を使って以下を予測</a:t>
            </a:r>
            <a:endParaRPr lang="en-US" altLang="ja-JP" dirty="0"/>
          </a:p>
          <a:p>
            <a:pPr marL="817200" lvl="1" indent="-457200">
              <a:buFont typeface="+mj-lt"/>
              <a:buAutoNum type="arabicPeriod"/>
            </a:pPr>
            <a:r>
              <a:rPr lang="ja-JP" altLang="en-US" dirty="0"/>
              <a:t>分岐命令かどうか予測</a:t>
            </a:r>
            <a:endParaRPr lang="en-US" altLang="ja-JP" dirty="0"/>
          </a:p>
          <a:p>
            <a:pPr marL="817200" lvl="1" indent="-457200">
              <a:buFont typeface="+mj-lt"/>
              <a:buAutoNum type="arabicPeriod"/>
            </a:pPr>
            <a:r>
              <a:rPr lang="ja-JP" altLang="en-US" dirty="0"/>
              <a:t>分岐先ターゲット予測</a:t>
            </a:r>
            <a:endParaRPr lang="en-US" altLang="ja-JP" dirty="0"/>
          </a:p>
          <a:p>
            <a:r>
              <a:rPr kumimoji="1" lang="en-US" altLang="ja-JP" dirty="0"/>
              <a:t>BTB</a:t>
            </a:r>
          </a:p>
          <a:p>
            <a:pPr lvl="1"/>
            <a:r>
              <a:rPr kumimoji="1" lang="ja-JP" altLang="en-US" dirty="0"/>
              <a:t>入力：</a:t>
            </a:r>
            <a:r>
              <a:rPr kumimoji="1" lang="en-US" altLang="ja-JP" dirty="0"/>
              <a:t>PC</a:t>
            </a:r>
          </a:p>
          <a:p>
            <a:pPr lvl="1"/>
            <a:r>
              <a:rPr kumimoji="1" lang="ja-JP" altLang="en-US" dirty="0"/>
              <a:t>出力：</a:t>
            </a:r>
            <a:endParaRPr kumimoji="1" lang="en-US" altLang="ja-JP" dirty="0"/>
          </a:p>
          <a:p>
            <a:pPr lvl="2"/>
            <a:r>
              <a:rPr lang="en-US" altLang="ja-JP" dirty="0"/>
              <a:t>hit or miss</a:t>
            </a:r>
          </a:p>
          <a:p>
            <a:pPr lvl="2"/>
            <a:r>
              <a:rPr kumimoji="1" lang="ja-JP" altLang="en-US" dirty="0"/>
              <a:t>ターゲットのアドレス</a:t>
            </a:r>
            <a:endParaRPr kumimoji="1" lang="en-US" altLang="ja-JP" dirty="0"/>
          </a:p>
          <a:p>
            <a:r>
              <a:rPr kumimoji="1" lang="ja-JP" altLang="en-US" dirty="0"/>
              <a:t>分岐命令の実行時に，この表にターゲットを登録しておく</a:t>
            </a:r>
            <a:endParaRPr kumimoji="1" lang="en-US" altLang="ja-JP" dirty="0"/>
          </a:p>
          <a:p>
            <a:pPr lvl="1"/>
            <a:r>
              <a:rPr kumimoji="1" lang="ja-JP" altLang="en-US" dirty="0"/>
              <a:t>次回からは，表をひくとターゲットがとれる</a:t>
            </a:r>
          </a:p>
        </p:txBody>
      </p:sp>
    </p:spTree>
    <p:extLst>
      <p:ext uri="{BB962C8B-B14F-4D97-AF65-F5344CB8AC3E}">
        <p14:creationId xmlns:p14="http://schemas.microsoft.com/office/powerpoint/2010/main" val="30360336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BTB</a:t>
            </a:r>
            <a:r>
              <a:rPr kumimoji="1" lang="ja-JP" altLang="en-US" dirty="0"/>
              <a:t>（</a:t>
            </a:r>
            <a:r>
              <a:rPr kumimoji="1" lang="en-US" altLang="ja-JP" dirty="0"/>
              <a:t>Branch Target Buffer</a:t>
            </a:r>
            <a:r>
              <a:rPr kumimoji="1" lang="ja-JP" altLang="en-US" dirty="0"/>
              <a:t>）による予測</a:t>
            </a:r>
          </a:p>
        </p:txBody>
      </p:sp>
      <p:sp>
        <p:nvSpPr>
          <p:cNvPr id="3" name="テキスト プレースホルダー 2"/>
          <p:cNvSpPr>
            <a:spLocks noGrp="1"/>
          </p:cNvSpPr>
          <p:nvPr>
            <p:ph type="body" sz="quarter" idx="10"/>
          </p:nvPr>
        </p:nvSpPr>
        <p:spPr>
          <a:xfrm>
            <a:off x="2135956" y="5949029"/>
            <a:ext cx="8280092" cy="359697"/>
          </a:xfrm>
        </p:spPr>
        <p:txBody>
          <a:bodyPr/>
          <a:lstStyle/>
          <a:p>
            <a:r>
              <a:rPr kumimoji="1" lang="ja-JP" altLang="en-US" dirty="0"/>
              <a:t>分岐かどうかと，分岐先ターゲットを同時に予測</a:t>
            </a:r>
          </a:p>
        </p:txBody>
      </p:sp>
      <p:sp>
        <p:nvSpPr>
          <p:cNvPr id="5" name="Rectangle 13"/>
          <p:cNvSpPr>
            <a:spLocks noChangeArrowheads="1"/>
          </p:cNvSpPr>
          <p:nvPr/>
        </p:nvSpPr>
        <p:spPr bwMode="auto">
          <a:xfrm>
            <a:off x="3935106" y="1267286"/>
            <a:ext cx="720725"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 name="Rectangle 89"/>
          <p:cNvSpPr>
            <a:spLocks noChangeArrowheads="1"/>
          </p:cNvSpPr>
          <p:nvPr/>
        </p:nvSpPr>
        <p:spPr bwMode="auto">
          <a:xfrm>
            <a:off x="2495243" y="1267286"/>
            <a:ext cx="1439863"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7" name="Rectangle 128"/>
          <p:cNvSpPr>
            <a:spLocks noChangeArrowheads="1"/>
          </p:cNvSpPr>
          <p:nvPr/>
        </p:nvSpPr>
        <p:spPr bwMode="auto">
          <a:xfrm>
            <a:off x="2495243" y="908512"/>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8" name="Rectangle 154"/>
          <p:cNvSpPr>
            <a:spLocks noChangeArrowheads="1"/>
          </p:cNvSpPr>
          <p:nvPr/>
        </p:nvSpPr>
        <p:spPr bwMode="auto">
          <a:xfrm>
            <a:off x="5736917" y="1268873"/>
            <a:ext cx="3779838" cy="2160588"/>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Freeform 157"/>
          <p:cNvSpPr>
            <a:spLocks/>
          </p:cNvSpPr>
          <p:nvPr/>
        </p:nvSpPr>
        <p:spPr bwMode="auto">
          <a:xfrm>
            <a:off x="5376555" y="1268873"/>
            <a:ext cx="315912" cy="2160588"/>
          </a:xfrm>
          <a:custGeom>
            <a:avLst/>
            <a:gdLst/>
            <a:ahLst/>
            <a:cxnLst>
              <a:cxn ang="0">
                <a:pos x="170" y="0"/>
              </a:cxn>
              <a:cxn ang="0">
                <a:pos x="170" y="1361"/>
              </a:cxn>
              <a:cxn ang="0">
                <a:pos x="0" y="680"/>
              </a:cxn>
              <a:cxn ang="0">
                <a:pos x="170" y="0"/>
              </a:cxn>
            </a:cxnLst>
            <a:rect l="0" t="0" r="r" b="b"/>
            <a:pathLst>
              <a:path w="170" h="1361">
                <a:moveTo>
                  <a:pt x="170" y="0"/>
                </a:moveTo>
                <a:lnTo>
                  <a:pt x="170" y="1361"/>
                </a:lnTo>
                <a:lnTo>
                  <a:pt x="0" y="680"/>
                </a:lnTo>
                <a:lnTo>
                  <a:pt x="170" y="0"/>
                </a:lnTo>
                <a:close/>
              </a:path>
            </a:pathLst>
          </a:custGeom>
          <a:solidFill>
            <a:srgbClr val="FFFFFF"/>
          </a:solidFill>
          <a:ln w="19050" cap="flat" cmpd="sng">
            <a:solidFill>
              <a:schemeClr val="tx1">
                <a:lumMod val="75000"/>
                <a:lumOff val="25000"/>
              </a:schemeClr>
            </a:solidFill>
            <a:prstDash val="solid"/>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0" name="AutoShape 194"/>
          <p:cNvCxnSpPr>
            <a:cxnSpLocks noChangeShapeType="1"/>
            <a:endCxn id="5" idx="2"/>
          </p:cNvCxnSpPr>
          <p:nvPr/>
        </p:nvCxnSpPr>
        <p:spPr bwMode="auto">
          <a:xfrm flipV="1">
            <a:off x="4295467" y="1627649"/>
            <a:ext cx="0" cy="720725"/>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1" name="Line 70"/>
          <p:cNvSpPr>
            <a:spLocks noChangeShapeType="1"/>
          </p:cNvSpPr>
          <p:nvPr/>
        </p:nvSpPr>
        <p:spPr bwMode="auto">
          <a:xfrm>
            <a:off x="4295980" y="2348988"/>
            <a:ext cx="1079500" cy="0"/>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Line 97"/>
          <p:cNvSpPr>
            <a:spLocks noChangeShapeType="1"/>
          </p:cNvSpPr>
          <p:nvPr/>
        </p:nvSpPr>
        <p:spPr bwMode="auto">
          <a:xfrm flipV="1">
            <a:off x="3143838" y="4327527"/>
            <a:ext cx="1619250" cy="1587"/>
          </a:xfrm>
          <a:prstGeom prst="line">
            <a:avLst/>
          </a:prstGeom>
          <a:noFill/>
          <a:ln w="38100">
            <a:solidFill>
              <a:schemeClr val="tx1">
                <a:lumMod val="75000"/>
                <a:lumOff val="25000"/>
              </a:schemeClr>
            </a:solidFill>
            <a:round/>
            <a:headEnd type="none" w="med" len="med"/>
            <a:tailEnd type="triangle" w="med" len="me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4" name="AutoShape 164"/>
          <p:cNvCxnSpPr>
            <a:cxnSpLocks noChangeShapeType="1"/>
          </p:cNvCxnSpPr>
          <p:nvPr/>
        </p:nvCxnSpPr>
        <p:spPr bwMode="auto">
          <a:xfrm rot="5400000">
            <a:off x="5340060" y="3195747"/>
            <a:ext cx="901700" cy="1368000"/>
          </a:xfrm>
          <a:prstGeom prst="bentConnector2">
            <a:avLst/>
          </a:prstGeom>
          <a:ln>
            <a:solidFill>
              <a:schemeClr val="tx1">
                <a:lumMod val="75000"/>
                <a:lumOff val="25000"/>
              </a:schemeClr>
            </a:solidFill>
            <a:headEnd/>
            <a:tailEnd type="triangle" w="med" len="med"/>
          </a:ln>
        </p:spPr>
        <p:style>
          <a:lnRef idx="3">
            <a:schemeClr val="dk1"/>
          </a:lnRef>
          <a:fillRef idx="0">
            <a:schemeClr val="dk1"/>
          </a:fillRef>
          <a:effectRef idx="2">
            <a:schemeClr val="dk1"/>
          </a:effectRef>
          <a:fontRef idx="minor">
            <a:schemeClr val="tx1"/>
          </a:fontRef>
        </p:style>
      </p:cxnSp>
      <p:cxnSp>
        <p:nvCxnSpPr>
          <p:cNvPr id="15" name="AutoShape 192"/>
          <p:cNvCxnSpPr>
            <a:cxnSpLocks noChangeShapeType="1"/>
          </p:cNvCxnSpPr>
          <p:nvPr/>
        </p:nvCxnSpPr>
        <p:spPr bwMode="auto">
          <a:xfrm>
            <a:off x="3143838" y="1627188"/>
            <a:ext cx="0" cy="2700338"/>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7" name="Rectangle 195"/>
          <p:cNvSpPr>
            <a:spLocks noChangeArrowheads="1"/>
          </p:cNvSpPr>
          <p:nvPr/>
        </p:nvSpPr>
        <p:spPr bwMode="auto">
          <a:xfrm>
            <a:off x="5735177" y="2168987"/>
            <a:ext cx="1439862"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nvGrpSpPr>
          <p:cNvPr id="32" name="グループ化 31"/>
          <p:cNvGrpSpPr/>
          <p:nvPr/>
        </p:nvGrpSpPr>
        <p:grpSpPr>
          <a:xfrm>
            <a:off x="4745985" y="4149009"/>
            <a:ext cx="360362" cy="360363"/>
            <a:chOff x="2861981" y="4689014"/>
            <a:chExt cx="360362" cy="360363"/>
          </a:xfrm>
        </p:grpSpPr>
        <p:sp>
          <p:nvSpPr>
            <p:cNvPr id="29" name="Oval 93"/>
            <p:cNvSpPr>
              <a:spLocks noChangeArrowheads="1"/>
            </p:cNvSpPr>
            <p:nvPr/>
          </p:nvSpPr>
          <p:spPr bwMode="auto">
            <a:xfrm>
              <a:off x="2861981" y="4689014"/>
              <a:ext cx="360362" cy="360363"/>
            </a:xfrm>
            <a:prstGeom prst="ellipse">
              <a:avLst/>
            </a:prstGeom>
            <a:solidFill>
              <a:srgbClr val="FFFFFF"/>
            </a:solidFill>
            <a:ln w="19050">
              <a:solidFill>
                <a:schemeClr val="tx1">
                  <a:lumMod val="75000"/>
                  <a:lumOff val="25000"/>
                </a:schemeClr>
              </a:solidFill>
              <a:round/>
              <a:headEnd/>
              <a:tailEnd/>
            </a:ln>
            <a:effectLst/>
          </p:spPr>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0" name="Line 120"/>
            <p:cNvSpPr>
              <a:spLocks noChangeShapeType="1"/>
            </p:cNvSpPr>
            <p:nvPr/>
          </p:nvSpPr>
          <p:spPr bwMode="auto">
            <a:xfrm>
              <a:off x="2950881" y="4827127"/>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1" name="Line 121"/>
            <p:cNvSpPr>
              <a:spLocks noChangeShapeType="1"/>
            </p:cNvSpPr>
            <p:nvPr/>
          </p:nvSpPr>
          <p:spPr bwMode="auto">
            <a:xfrm>
              <a:off x="2950881" y="4917614"/>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sp>
        <p:nvSpPr>
          <p:cNvPr id="33" name="Rectangle 154"/>
          <p:cNvSpPr>
            <a:spLocks noChangeArrowheads="1"/>
          </p:cNvSpPr>
          <p:nvPr/>
        </p:nvSpPr>
        <p:spPr bwMode="auto">
          <a:xfrm>
            <a:off x="5735996" y="1268976"/>
            <a:ext cx="1440016" cy="2160588"/>
          </a:xfrm>
          <a:prstGeom prst="rect">
            <a:avLst/>
          </a:prstGeom>
          <a:noFill/>
          <a:ln w="6350">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4" name="Rectangle 195"/>
          <p:cNvSpPr>
            <a:spLocks noChangeArrowheads="1"/>
          </p:cNvSpPr>
          <p:nvPr/>
        </p:nvSpPr>
        <p:spPr bwMode="auto">
          <a:xfrm>
            <a:off x="7176012" y="2168987"/>
            <a:ext cx="2340026"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5" name="Line 70"/>
          <p:cNvSpPr>
            <a:spLocks noChangeShapeType="1"/>
          </p:cNvSpPr>
          <p:nvPr/>
        </p:nvSpPr>
        <p:spPr bwMode="auto">
          <a:xfrm flipH="1">
            <a:off x="8256025" y="3428897"/>
            <a:ext cx="921" cy="1530121"/>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8" name="Line 70"/>
          <p:cNvSpPr>
            <a:spLocks noChangeShapeType="1"/>
          </p:cNvSpPr>
          <p:nvPr/>
        </p:nvSpPr>
        <p:spPr bwMode="auto">
          <a:xfrm>
            <a:off x="4926908" y="4508910"/>
            <a:ext cx="0" cy="450005"/>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9" name="Rectangle 132"/>
          <p:cNvSpPr>
            <a:spLocks noChangeArrowheads="1"/>
          </p:cNvSpPr>
          <p:nvPr/>
        </p:nvSpPr>
        <p:spPr bwMode="auto">
          <a:xfrm>
            <a:off x="7176933" y="2168884"/>
            <a:ext cx="2340026" cy="35877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40" name="Rectangle 133"/>
          <p:cNvSpPr>
            <a:spLocks noChangeArrowheads="1"/>
          </p:cNvSpPr>
          <p:nvPr/>
        </p:nvSpPr>
        <p:spPr bwMode="auto">
          <a:xfrm>
            <a:off x="5737122" y="216888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tag</a:t>
            </a:r>
          </a:p>
        </p:txBody>
      </p:sp>
      <p:sp>
        <p:nvSpPr>
          <p:cNvPr id="41" name="Rectangle 133"/>
          <p:cNvSpPr>
            <a:spLocks noChangeArrowheads="1"/>
          </p:cNvSpPr>
          <p:nvPr/>
        </p:nvSpPr>
        <p:spPr bwMode="auto">
          <a:xfrm>
            <a:off x="4116899" y="4958915"/>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hit or miss</a:t>
            </a:r>
          </a:p>
        </p:txBody>
      </p:sp>
      <p:sp>
        <p:nvSpPr>
          <p:cNvPr id="42" name="Rectangle 133"/>
          <p:cNvSpPr>
            <a:spLocks noChangeArrowheads="1"/>
          </p:cNvSpPr>
          <p:nvPr/>
        </p:nvSpPr>
        <p:spPr bwMode="auto">
          <a:xfrm>
            <a:off x="7536016" y="4959018"/>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43" name="Rectangle 133"/>
          <p:cNvSpPr>
            <a:spLocks noChangeArrowheads="1"/>
          </p:cNvSpPr>
          <p:nvPr/>
        </p:nvSpPr>
        <p:spPr bwMode="auto">
          <a:xfrm>
            <a:off x="6816929" y="908870"/>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BTB</a:t>
            </a:r>
          </a:p>
        </p:txBody>
      </p:sp>
    </p:spTree>
    <p:extLst>
      <p:ext uri="{BB962C8B-B14F-4D97-AF65-F5344CB8AC3E}">
        <p14:creationId xmlns:p14="http://schemas.microsoft.com/office/powerpoint/2010/main" val="32641683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BTB </a:t>
            </a:r>
            <a:r>
              <a:rPr kumimoji="1" lang="ja-JP" altLang="en-US" dirty="0"/>
              <a:t>による予測（分岐命令の場合）</a:t>
            </a:r>
          </a:p>
        </p:txBody>
      </p:sp>
      <p:sp>
        <p:nvSpPr>
          <p:cNvPr id="3" name="テキスト プレースホルダー 2"/>
          <p:cNvSpPr>
            <a:spLocks noGrp="1"/>
          </p:cNvSpPr>
          <p:nvPr>
            <p:ph type="body" sz="quarter" idx="10"/>
          </p:nvPr>
        </p:nvSpPr>
        <p:spPr>
          <a:xfrm>
            <a:off x="1685951" y="5679026"/>
            <a:ext cx="8280092" cy="359697"/>
          </a:xfrm>
        </p:spPr>
        <p:txBody>
          <a:bodyPr/>
          <a:lstStyle/>
          <a:p>
            <a:r>
              <a:rPr kumimoji="1" lang="en-US" altLang="ja-JP" dirty="0"/>
              <a:t>0x4008 </a:t>
            </a:r>
            <a:r>
              <a:rPr kumimoji="1" lang="ja-JP" altLang="en-US" dirty="0"/>
              <a:t>にある </a:t>
            </a:r>
            <a:r>
              <a:rPr kumimoji="1" lang="en-US" altLang="ja-JP" dirty="0" err="1"/>
              <a:t>bne</a:t>
            </a:r>
            <a:r>
              <a:rPr kumimoji="1" lang="en-US" altLang="ja-JP" dirty="0"/>
              <a:t> </a:t>
            </a:r>
            <a:r>
              <a:rPr kumimoji="1" lang="ja-JP" altLang="en-US" dirty="0"/>
              <a:t>をフェッチした場合，</a:t>
            </a:r>
            <a:endParaRPr kumimoji="1" lang="en-US" altLang="ja-JP" dirty="0"/>
          </a:p>
          <a:p>
            <a:pPr marL="817200" lvl="1" indent="-457200">
              <a:buFont typeface="+mj-lt"/>
              <a:buAutoNum type="arabicPeriod"/>
            </a:pPr>
            <a:r>
              <a:rPr kumimoji="1" lang="en-US" altLang="ja-JP" dirty="0"/>
              <a:t>0x4008 </a:t>
            </a:r>
            <a:r>
              <a:rPr kumimoji="1" lang="ja-JP" altLang="en-US" dirty="0"/>
              <a:t>の下位の </a:t>
            </a:r>
            <a:r>
              <a:rPr kumimoji="1" lang="en-US" altLang="ja-JP" dirty="0"/>
              <a:t>8 </a:t>
            </a:r>
            <a:r>
              <a:rPr kumimoji="1" lang="ja-JP" altLang="en-US" dirty="0"/>
              <a:t>を取り出し，</a:t>
            </a:r>
            <a:r>
              <a:rPr kumimoji="1" lang="en-US" altLang="ja-JP" dirty="0"/>
              <a:t>BTB </a:t>
            </a:r>
            <a:r>
              <a:rPr kumimoji="1" lang="ja-JP" altLang="en-US" dirty="0"/>
              <a:t>の８番エントリにアクセス</a:t>
            </a:r>
            <a:endParaRPr kumimoji="1" lang="en-US" altLang="ja-JP" dirty="0"/>
          </a:p>
          <a:p>
            <a:pPr marL="817200" lvl="1" indent="-457200">
              <a:buFont typeface="+mj-lt"/>
              <a:buAutoNum type="arabicPeriod"/>
            </a:pPr>
            <a:r>
              <a:rPr kumimoji="1" lang="ja-JP" altLang="en-US" dirty="0"/>
              <a:t>得られた </a:t>
            </a:r>
            <a:r>
              <a:rPr kumimoji="1" lang="en-US" altLang="ja-JP" dirty="0"/>
              <a:t>tag </a:t>
            </a:r>
            <a:r>
              <a:rPr kumimoji="1" lang="ja-JP" altLang="en-US" dirty="0"/>
              <a:t>と </a:t>
            </a:r>
            <a:r>
              <a:rPr kumimoji="1" lang="en-US" altLang="ja-JP" dirty="0"/>
              <a:t>PC </a:t>
            </a:r>
            <a:r>
              <a:rPr kumimoji="1" lang="ja-JP" altLang="en-US" dirty="0"/>
              <a:t>の上位の </a:t>
            </a:r>
            <a:r>
              <a:rPr kumimoji="1" lang="en-US" altLang="ja-JP" dirty="0"/>
              <a:t>0x400 </a:t>
            </a:r>
            <a:r>
              <a:rPr kumimoji="1" lang="ja-JP" altLang="en-US" dirty="0"/>
              <a:t>が一致したのでヒット</a:t>
            </a:r>
            <a:endParaRPr kumimoji="1" lang="en-US" altLang="ja-JP" dirty="0"/>
          </a:p>
          <a:p>
            <a:pPr marL="817200" lvl="1" indent="-457200">
              <a:buFont typeface="+mj-lt"/>
              <a:buAutoNum type="arabicPeriod"/>
            </a:pPr>
            <a:r>
              <a:rPr kumimoji="1" lang="en-US" altLang="ja-JP" dirty="0"/>
              <a:t>0x4008 </a:t>
            </a:r>
            <a:r>
              <a:rPr kumimoji="1" lang="ja-JP" altLang="en-US" dirty="0"/>
              <a:t>は分岐命令で，そのターゲットは </a:t>
            </a:r>
            <a:r>
              <a:rPr kumimoji="1" lang="en-US" altLang="ja-JP" dirty="0"/>
              <a:t>0x4180 </a:t>
            </a:r>
            <a:r>
              <a:rPr kumimoji="1" lang="ja-JP" altLang="en-US" dirty="0"/>
              <a:t>と予測</a:t>
            </a:r>
          </a:p>
        </p:txBody>
      </p:sp>
      <p:sp>
        <p:nvSpPr>
          <p:cNvPr id="5" name="Rectangle 13"/>
          <p:cNvSpPr>
            <a:spLocks noChangeArrowheads="1"/>
          </p:cNvSpPr>
          <p:nvPr/>
        </p:nvSpPr>
        <p:spPr bwMode="auto">
          <a:xfrm>
            <a:off x="4835834" y="1358977"/>
            <a:ext cx="720725"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3">
                    <a:lumMod val="75000"/>
                  </a:schemeClr>
                </a:solidFill>
                <a:latin typeface="MeiryoKe_PGothic" pitchFamily="50" charset="-128"/>
                <a:ea typeface="MeiryoKe_PGothic" pitchFamily="50" charset="-128"/>
              </a:rPr>
              <a:t>8</a:t>
            </a: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Rectangle 89"/>
          <p:cNvSpPr>
            <a:spLocks noChangeArrowheads="1"/>
          </p:cNvSpPr>
          <p:nvPr/>
        </p:nvSpPr>
        <p:spPr bwMode="auto">
          <a:xfrm>
            <a:off x="3395971" y="1358977"/>
            <a:ext cx="1439863"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400</a:t>
            </a:r>
            <a:endParaRPr lang="ja-JP" altLang="en-US" b="1" dirty="0">
              <a:solidFill>
                <a:schemeClr val="accent5"/>
              </a:solidFill>
              <a:latin typeface="MeiryoKe_PGothic" pitchFamily="50" charset="-128"/>
              <a:ea typeface="MeiryoKe_PGothic" pitchFamily="50" charset="-128"/>
            </a:endParaRPr>
          </a:p>
        </p:txBody>
      </p:sp>
      <p:sp>
        <p:nvSpPr>
          <p:cNvPr id="7" name="Rectangle 128"/>
          <p:cNvSpPr>
            <a:spLocks noChangeArrowheads="1"/>
          </p:cNvSpPr>
          <p:nvPr/>
        </p:nvSpPr>
        <p:spPr bwMode="auto">
          <a:xfrm>
            <a:off x="3395971" y="1000203"/>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8" name="Rectangle 154"/>
          <p:cNvSpPr>
            <a:spLocks noChangeArrowheads="1"/>
          </p:cNvSpPr>
          <p:nvPr/>
        </p:nvSpPr>
        <p:spPr bwMode="auto">
          <a:xfrm>
            <a:off x="6637645" y="1360564"/>
            <a:ext cx="3328398"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0" name="AutoShape 194"/>
          <p:cNvCxnSpPr>
            <a:cxnSpLocks noChangeShapeType="1"/>
            <a:endCxn id="5" idx="2"/>
          </p:cNvCxnSpPr>
          <p:nvPr/>
        </p:nvCxnSpPr>
        <p:spPr bwMode="auto">
          <a:xfrm flipV="1">
            <a:off x="5196195" y="1719340"/>
            <a:ext cx="0" cy="720725"/>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1" name="Line 70"/>
          <p:cNvSpPr>
            <a:spLocks noChangeShapeType="1"/>
          </p:cNvSpPr>
          <p:nvPr/>
        </p:nvSpPr>
        <p:spPr bwMode="auto">
          <a:xfrm flipV="1">
            <a:off x="5196708" y="2438989"/>
            <a:ext cx="989294" cy="1690"/>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Line 97"/>
          <p:cNvSpPr>
            <a:spLocks noChangeShapeType="1"/>
          </p:cNvSpPr>
          <p:nvPr/>
        </p:nvSpPr>
        <p:spPr bwMode="auto">
          <a:xfrm flipV="1">
            <a:off x="4044566" y="4419218"/>
            <a:ext cx="1619250" cy="1587"/>
          </a:xfrm>
          <a:prstGeom prst="line">
            <a:avLst/>
          </a:prstGeom>
          <a:noFill/>
          <a:ln w="38100">
            <a:solidFill>
              <a:schemeClr val="tx1">
                <a:lumMod val="75000"/>
                <a:lumOff val="25000"/>
              </a:schemeClr>
            </a:solidFill>
            <a:round/>
            <a:headEnd type="none" w="med" len="med"/>
            <a:tailEnd type="triangle" w="med" len="me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4" name="AutoShape 164"/>
          <p:cNvCxnSpPr>
            <a:cxnSpLocks noChangeShapeType="1"/>
          </p:cNvCxnSpPr>
          <p:nvPr/>
        </p:nvCxnSpPr>
        <p:spPr bwMode="auto">
          <a:xfrm rot="5400000">
            <a:off x="6455999" y="3511572"/>
            <a:ext cx="468000" cy="1368000"/>
          </a:xfrm>
          <a:prstGeom prst="bentConnector2">
            <a:avLst/>
          </a:prstGeom>
          <a:ln>
            <a:solidFill>
              <a:schemeClr val="tx1">
                <a:lumMod val="75000"/>
                <a:lumOff val="25000"/>
              </a:schemeClr>
            </a:solidFill>
            <a:headEnd/>
            <a:tailEnd type="triangle" w="med" len="med"/>
          </a:ln>
        </p:spPr>
        <p:style>
          <a:lnRef idx="3">
            <a:schemeClr val="dk1"/>
          </a:lnRef>
          <a:fillRef idx="0">
            <a:schemeClr val="dk1"/>
          </a:fillRef>
          <a:effectRef idx="2">
            <a:schemeClr val="dk1"/>
          </a:effectRef>
          <a:fontRef idx="minor">
            <a:schemeClr val="tx1"/>
          </a:fontRef>
        </p:style>
      </p:cxnSp>
      <p:cxnSp>
        <p:nvCxnSpPr>
          <p:cNvPr id="15" name="AutoShape 192"/>
          <p:cNvCxnSpPr>
            <a:cxnSpLocks noChangeShapeType="1"/>
          </p:cNvCxnSpPr>
          <p:nvPr/>
        </p:nvCxnSpPr>
        <p:spPr bwMode="auto">
          <a:xfrm>
            <a:off x="4044566" y="1718879"/>
            <a:ext cx="0" cy="2700338"/>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7" name="Rectangle 195"/>
          <p:cNvSpPr>
            <a:spLocks noChangeArrowheads="1"/>
          </p:cNvSpPr>
          <p:nvPr/>
        </p:nvSpPr>
        <p:spPr bwMode="auto">
          <a:xfrm>
            <a:off x="6636006" y="2438631"/>
            <a:ext cx="1439862"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400</a:t>
            </a:r>
            <a:endParaRPr lang="ja-JP" altLang="en-US" b="1" dirty="0">
              <a:solidFill>
                <a:schemeClr val="accent5"/>
              </a:solidFill>
              <a:latin typeface="MeiryoKe_PGothic" pitchFamily="50" charset="-128"/>
              <a:ea typeface="MeiryoKe_PGothic" pitchFamily="50" charset="-128"/>
            </a:endParaRPr>
          </a:p>
        </p:txBody>
      </p:sp>
      <p:grpSp>
        <p:nvGrpSpPr>
          <p:cNvPr id="32" name="グループ化 31"/>
          <p:cNvGrpSpPr/>
          <p:nvPr/>
        </p:nvGrpSpPr>
        <p:grpSpPr>
          <a:xfrm>
            <a:off x="5646713" y="4240700"/>
            <a:ext cx="360362" cy="360363"/>
            <a:chOff x="2861981" y="4689014"/>
            <a:chExt cx="360362" cy="360363"/>
          </a:xfrm>
        </p:grpSpPr>
        <p:sp>
          <p:nvSpPr>
            <p:cNvPr id="29" name="Oval 93"/>
            <p:cNvSpPr>
              <a:spLocks noChangeArrowheads="1"/>
            </p:cNvSpPr>
            <p:nvPr/>
          </p:nvSpPr>
          <p:spPr bwMode="auto">
            <a:xfrm>
              <a:off x="2861981" y="4689014"/>
              <a:ext cx="360362" cy="360363"/>
            </a:xfrm>
            <a:prstGeom prst="ellipse">
              <a:avLst/>
            </a:prstGeom>
            <a:solidFill>
              <a:srgbClr val="FFFFFF"/>
            </a:solidFill>
            <a:ln w="19050">
              <a:solidFill>
                <a:schemeClr val="tx1">
                  <a:lumMod val="75000"/>
                  <a:lumOff val="25000"/>
                </a:schemeClr>
              </a:solidFill>
              <a:round/>
              <a:headEnd/>
              <a:tailEnd/>
            </a:ln>
            <a:effectLst/>
          </p:spPr>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0" name="Line 120"/>
            <p:cNvSpPr>
              <a:spLocks noChangeShapeType="1"/>
            </p:cNvSpPr>
            <p:nvPr/>
          </p:nvSpPr>
          <p:spPr bwMode="auto">
            <a:xfrm>
              <a:off x="2950881" y="4827127"/>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1" name="Line 121"/>
            <p:cNvSpPr>
              <a:spLocks noChangeShapeType="1"/>
            </p:cNvSpPr>
            <p:nvPr/>
          </p:nvSpPr>
          <p:spPr bwMode="auto">
            <a:xfrm>
              <a:off x="2950881" y="4917614"/>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sp>
        <p:nvSpPr>
          <p:cNvPr id="33" name="Rectangle 154"/>
          <p:cNvSpPr>
            <a:spLocks noChangeArrowheads="1"/>
          </p:cNvSpPr>
          <p:nvPr/>
        </p:nvSpPr>
        <p:spPr bwMode="auto">
          <a:xfrm>
            <a:off x="6636724" y="1360667"/>
            <a:ext cx="1440016" cy="2608339"/>
          </a:xfrm>
          <a:prstGeom prst="rect">
            <a:avLst/>
          </a:prstGeom>
          <a:noFill/>
          <a:ln w="6350">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4" name="Rectangle 195"/>
          <p:cNvSpPr>
            <a:spLocks noChangeArrowheads="1"/>
          </p:cNvSpPr>
          <p:nvPr/>
        </p:nvSpPr>
        <p:spPr bwMode="auto">
          <a:xfrm>
            <a:off x="8076023" y="2438631"/>
            <a:ext cx="1889303"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2"/>
                </a:solidFill>
                <a:latin typeface="MeiryoKe_PGothic" pitchFamily="50" charset="-128"/>
                <a:ea typeface="MeiryoKe_PGothic" pitchFamily="50" charset="-128"/>
              </a:rPr>
              <a:t>4180</a:t>
            </a:r>
            <a:endParaRPr lang="ja-JP" altLang="en-US" b="1" dirty="0">
              <a:solidFill>
                <a:schemeClr val="accent2"/>
              </a:solidFill>
              <a:latin typeface="MeiryoKe_PGothic" pitchFamily="50" charset="-128"/>
              <a:ea typeface="MeiryoKe_PGothic" pitchFamily="50" charset="-128"/>
            </a:endParaRPr>
          </a:p>
        </p:txBody>
      </p:sp>
      <p:sp>
        <p:nvSpPr>
          <p:cNvPr id="35" name="Line 70"/>
          <p:cNvSpPr>
            <a:spLocks noChangeShapeType="1"/>
          </p:cNvSpPr>
          <p:nvPr/>
        </p:nvSpPr>
        <p:spPr bwMode="auto">
          <a:xfrm flipH="1">
            <a:off x="8886031" y="3969006"/>
            <a:ext cx="0" cy="1080116"/>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8" name="Line 70"/>
          <p:cNvSpPr>
            <a:spLocks noChangeShapeType="1"/>
          </p:cNvSpPr>
          <p:nvPr/>
        </p:nvSpPr>
        <p:spPr bwMode="auto">
          <a:xfrm>
            <a:off x="5827636" y="4600601"/>
            <a:ext cx="0" cy="450005"/>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41" name="Rectangle 133"/>
          <p:cNvSpPr>
            <a:spLocks noChangeArrowheads="1"/>
          </p:cNvSpPr>
          <p:nvPr/>
        </p:nvSpPr>
        <p:spPr bwMode="auto">
          <a:xfrm>
            <a:off x="4475982" y="459901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BTB hit!</a:t>
            </a:r>
          </a:p>
        </p:txBody>
      </p:sp>
      <p:sp>
        <p:nvSpPr>
          <p:cNvPr id="42" name="Rectangle 133"/>
          <p:cNvSpPr>
            <a:spLocks noChangeArrowheads="1"/>
          </p:cNvSpPr>
          <p:nvPr/>
        </p:nvSpPr>
        <p:spPr bwMode="auto">
          <a:xfrm>
            <a:off x="8166023" y="5049019"/>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accent2"/>
                </a:solidFill>
                <a:latin typeface="MeiryoKe_PGothic" pitchFamily="50" charset="-128"/>
                <a:ea typeface="MeiryoKe_PGothic" pitchFamily="50" charset="-128"/>
              </a:rPr>
              <a:t>4180</a:t>
            </a:r>
          </a:p>
        </p:txBody>
      </p:sp>
      <p:sp>
        <p:nvSpPr>
          <p:cNvPr id="36" name="正方形/長方形 35"/>
          <p:cNvSpPr/>
          <p:nvPr/>
        </p:nvSpPr>
        <p:spPr bwMode="auto">
          <a:xfrm>
            <a:off x="1534268" y="2438990"/>
            <a:ext cx="1260014" cy="1710019"/>
          </a:xfrm>
          <a:prstGeom prst="rect">
            <a:avLst/>
          </a:prstGeom>
          <a:solidFill>
            <a:schemeClr val="bg1"/>
          </a:solidFill>
          <a:ln w="1270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b="1" dirty="0">
                <a:solidFill>
                  <a:schemeClr val="accent5"/>
                </a:solidFill>
                <a:latin typeface="Arial Narrow" panose="020B0606020202030204" pitchFamily="34" charset="0"/>
              </a:rPr>
              <a:t>0x400</a:t>
            </a:r>
            <a:r>
              <a:rPr lang="en-US" altLang="ja-JP" b="1" dirty="0">
                <a:solidFill>
                  <a:schemeClr val="accent3">
                    <a:lumMod val="75000"/>
                  </a:schemeClr>
                </a:solidFill>
                <a:latin typeface="Arial Narrow" panose="020B0606020202030204" pitchFamily="34" charset="0"/>
              </a:rPr>
              <a:t>8</a:t>
            </a:r>
            <a:r>
              <a:rPr lang="en-US" altLang="ja-JP" dirty="0">
                <a:solidFill>
                  <a:schemeClr val="tx1">
                    <a:lumMod val="75000"/>
                    <a:lumOff val="25000"/>
                  </a:schemeClr>
                </a:solidFill>
                <a:latin typeface="Arial Narrow" panose="020B0606020202030204" pitchFamily="34" charset="0"/>
              </a:rPr>
              <a:t>  </a:t>
            </a:r>
            <a:r>
              <a:rPr lang="en-US" altLang="ja-JP" dirty="0" err="1">
                <a:solidFill>
                  <a:schemeClr val="tx1">
                    <a:lumMod val="75000"/>
                    <a:lumOff val="25000"/>
                  </a:schemeClr>
                </a:solidFill>
                <a:latin typeface="Arial Narrow" panose="020B0606020202030204" pitchFamily="34" charset="0"/>
              </a:rPr>
              <a:t>bne</a:t>
            </a:r>
            <a:r>
              <a:rPr lang="en-US" altLang="ja-JP" dirty="0">
                <a:solidFill>
                  <a:schemeClr val="tx1">
                    <a:lumMod val="75000"/>
                    <a:lumOff val="25000"/>
                  </a:schemeClr>
                </a:solidFill>
                <a:latin typeface="Arial Narrow" panose="020B0606020202030204" pitchFamily="34" charset="0"/>
              </a:rPr>
              <a:t> x1,x2,</a:t>
            </a:r>
            <a:r>
              <a:rPr lang="en-US" altLang="ja-JP" b="1" dirty="0">
                <a:solidFill>
                  <a:schemeClr val="accent2"/>
                </a:solidFill>
                <a:latin typeface="Arial Narrow" panose="020B0606020202030204" pitchFamily="34" charset="0"/>
              </a:rPr>
              <a:t>0x4180</a:t>
            </a:r>
          </a:p>
          <a:p>
            <a:pPr>
              <a:lnSpc>
                <a:spcPct val="80000"/>
              </a:lnSpc>
            </a:pPr>
            <a:r>
              <a:rPr lang="en-US" altLang="ja-JP" dirty="0">
                <a:solidFill>
                  <a:schemeClr val="tx1">
                    <a:lumMod val="75000"/>
                    <a:lumOff val="25000"/>
                  </a:schemeClr>
                </a:solidFill>
                <a:latin typeface="Arial Narrow" panose="020B0606020202030204" pitchFamily="34" charset="0"/>
              </a:rPr>
              <a:t>0x400c  add ...</a:t>
            </a:r>
          </a:p>
          <a:p>
            <a:pPr>
              <a:lnSpc>
                <a:spcPct val="80000"/>
              </a:lnSpc>
            </a:pPr>
            <a:r>
              <a:rPr lang="en-US" altLang="ja-JP" dirty="0">
                <a:solidFill>
                  <a:schemeClr val="tx1">
                    <a:lumMod val="75000"/>
                    <a:lumOff val="25000"/>
                  </a:schemeClr>
                </a:solidFill>
                <a:latin typeface="Arial Narrow" panose="020B0606020202030204" pitchFamily="34" charset="0"/>
              </a:rPr>
              <a:t> ...         ...</a:t>
            </a:r>
          </a:p>
          <a:p>
            <a:pPr>
              <a:lnSpc>
                <a:spcPct val="80000"/>
              </a:lnSpc>
            </a:pPr>
            <a:r>
              <a:rPr lang="en-US" altLang="ja-JP" dirty="0">
                <a:solidFill>
                  <a:schemeClr val="accent2"/>
                </a:solidFill>
                <a:latin typeface="Arial Narrow" panose="020B0606020202030204" pitchFamily="34" charset="0"/>
              </a:rPr>
              <a:t>0x4180</a:t>
            </a:r>
            <a:r>
              <a:rPr lang="en-US" altLang="ja-JP" dirty="0">
                <a:solidFill>
                  <a:schemeClr val="tx1">
                    <a:lumMod val="75000"/>
                    <a:lumOff val="25000"/>
                  </a:schemeClr>
                </a:solidFill>
                <a:latin typeface="Arial Narrow" panose="020B0606020202030204" pitchFamily="34" charset="0"/>
              </a:rPr>
              <a:t>  sub ...</a:t>
            </a:r>
            <a:endParaRPr lang="ja-JP" altLang="en-US" dirty="0">
              <a:solidFill>
                <a:schemeClr val="tx1">
                  <a:lumMod val="75000"/>
                  <a:lumOff val="25000"/>
                </a:schemeClr>
              </a:solidFill>
              <a:latin typeface="Arial Narrow" panose="020B0606020202030204" pitchFamily="34" charset="0"/>
            </a:endParaRPr>
          </a:p>
        </p:txBody>
      </p:sp>
      <p:sp>
        <p:nvSpPr>
          <p:cNvPr id="45" name="正方形/長方形 44"/>
          <p:cNvSpPr/>
          <p:nvPr/>
        </p:nvSpPr>
        <p:spPr bwMode="auto">
          <a:xfrm>
            <a:off x="6636007" y="1358977"/>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7" name="正方形/長方形 46"/>
          <p:cNvSpPr/>
          <p:nvPr/>
        </p:nvSpPr>
        <p:spPr bwMode="auto">
          <a:xfrm>
            <a:off x="6636007" y="1718981"/>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8" name="正方形/長方形 47"/>
          <p:cNvSpPr/>
          <p:nvPr/>
        </p:nvSpPr>
        <p:spPr bwMode="auto">
          <a:xfrm>
            <a:off x="6636007" y="2078985"/>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50" name="正方形/長方形 49"/>
          <p:cNvSpPr/>
          <p:nvPr/>
        </p:nvSpPr>
        <p:spPr bwMode="auto">
          <a:xfrm>
            <a:off x="6276003"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51" name="正方形/長方形 50"/>
          <p:cNvSpPr/>
          <p:nvPr/>
        </p:nvSpPr>
        <p:spPr bwMode="auto">
          <a:xfrm>
            <a:off x="6276002" y="171898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52" name="正方形/長方形 51"/>
          <p:cNvSpPr/>
          <p:nvPr/>
        </p:nvSpPr>
        <p:spPr bwMode="auto">
          <a:xfrm>
            <a:off x="6276002"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3" name="正方形/長方形 52"/>
          <p:cNvSpPr/>
          <p:nvPr/>
        </p:nvSpPr>
        <p:spPr bwMode="auto">
          <a:xfrm>
            <a:off x="7176012"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4" name="正方形/長方形 53"/>
          <p:cNvSpPr/>
          <p:nvPr/>
        </p:nvSpPr>
        <p:spPr bwMode="auto">
          <a:xfrm>
            <a:off x="8886031"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5" name="正方形/長方形 54"/>
          <p:cNvSpPr/>
          <p:nvPr/>
        </p:nvSpPr>
        <p:spPr bwMode="auto">
          <a:xfrm>
            <a:off x="6276002"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1" dirty="0">
                <a:solidFill>
                  <a:schemeClr val="accent3">
                    <a:lumMod val="75000"/>
                  </a:schemeClr>
                </a:solidFill>
                <a:latin typeface="Arial Narrow" panose="020B0606020202030204" pitchFamily="34" charset="0"/>
              </a:rPr>
              <a:t>8</a:t>
            </a:r>
            <a:endParaRPr lang="ja-JP" altLang="en-US" sz="2000" b="1" dirty="0">
              <a:solidFill>
                <a:schemeClr val="accent3">
                  <a:lumMod val="75000"/>
                </a:schemeClr>
              </a:solidFill>
              <a:latin typeface="Arial Narrow" panose="020B0606020202030204" pitchFamily="34" charset="0"/>
            </a:endParaRPr>
          </a:p>
        </p:txBody>
      </p:sp>
      <p:sp>
        <p:nvSpPr>
          <p:cNvPr id="56" name="正方形/長方形 55"/>
          <p:cNvSpPr/>
          <p:nvPr/>
        </p:nvSpPr>
        <p:spPr bwMode="auto">
          <a:xfrm>
            <a:off x="627600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7" name="正方形/長方形 56"/>
          <p:cNvSpPr/>
          <p:nvPr/>
        </p:nvSpPr>
        <p:spPr bwMode="auto">
          <a:xfrm>
            <a:off x="717601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8" name="正方形/長方形 57"/>
          <p:cNvSpPr/>
          <p:nvPr/>
        </p:nvSpPr>
        <p:spPr bwMode="auto">
          <a:xfrm>
            <a:off x="8886031"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9" name="Rectangle 195"/>
          <p:cNvSpPr>
            <a:spLocks noChangeArrowheads="1"/>
          </p:cNvSpPr>
          <p:nvPr/>
        </p:nvSpPr>
        <p:spPr bwMode="auto">
          <a:xfrm>
            <a:off x="6636006" y="3158639"/>
            <a:ext cx="1439862" cy="360363"/>
          </a:xfrm>
          <a:prstGeom prst="rect">
            <a:avLst/>
          </a:prstGeom>
          <a:noFill/>
          <a:ln>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f88</a:t>
            </a:r>
            <a:endParaRPr lang="ja-JP" altLang="en-US" dirty="0">
              <a:solidFill>
                <a:schemeClr val="tx1">
                  <a:lumMod val="75000"/>
                  <a:lumOff val="25000"/>
                </a:schemeClr>
              </a:solidFill>
              <a:latin typeface="MeiryoKe_PGothic" pitchFamily="50" charset="-128"/>
              <a:ea typeface="MeiryoKe_PGothic" pitchFamily="50" charset="-128"/>
            </a:endParaRPr>
          </a:p>
        </p:txBody>
      </p:sp>
      <p:sp>
        <p:nvSpPr>
          <p:cNvPr id="60" name="Rectangle 195"/>
          <p:cNvSpPr>
            <a:spLocks noChangeArrowheads="1"/>
          </p:cNvSpPr>
          <p:nvPr/>
        </p:nvSpPr>
        <p:spPr bwMode="auto">
          <a:xfrm>
            <a:off x="8076023" y="3158639"/>
            <a:ext cx="1889303" cy="360363"/>
          </a:xfrm>
          <a:prstGeom prst="rect">
            <a:avLst/>
          </a:prstGeom>
          <a:noFill/>
          <a:ln>
            <a:headEnd/>
            <a:tailEnd/>
          </a:ln>
          <a:effectLst/>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ff80</a:t>
            </a:r>
            <a:endParaRPr lang="ja-JP" altLang="en-US"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6276002"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1" dirty="0">
                <a:solidFill>
                  <a:schemeClr val="accent3">
                    <a:lumMod val="75000"/>
                  </a:schemeClr>
                </a:solidFill>
                <a:latin typeface="Arial Narrow" panose="020B0606020202030204" pitchFamily="34" charset="0"/>
              </a:rPr>
              <a:t>C</a:t>
            </a:r>
            <a:endParaRPr lang="ja-JP" altLang="en-US" sz="2000" b="1" dirty="0">
              <a:solidFill>
                <a:schemeClr val="accent3">
                  <a:lumMod val="75000"/>
                </a:schemeClr>
              </a:solidFill>
              <a:latin typeface="Arial Narrow" panose="020B0606020202030204" pitchFamily="34" charset="0"/>
            </a:endParaRPr>
          </a:p>
        </p:txBody>
      </p:sp>
      <p:sp>
        <p:nvSpPr>
          <p:cNvPr id="62" name="正方形/長方形 61"/>
          <p:cNvSpPr/>
          <p:nvPr/>
        </p:nvSpPr>
        <p:spPr bwMode="auto">
          <a:xfrm>
            <a:off x="6276002"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7176012"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8886031"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5" name="Rectangle 132"/>
          <p:cNvSpPr>
            <a:spLocks noChangeArrowheads="1"/>
          </p:cNvSpPr>
          <p:nvPr/>
        </p:nvSpPr>
        <p:spPr bwMode="auto">
          <a:xfrm>
            <a:off x="8076023" y="998974"/>
            <a:ext cx="1890021" cy="35877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66" name="Rectangle 133"/>
          <p:cNvSpPr>
            <a:spLocks noChangeArrowheads="1"/>
          </p:cNvSpPr>
          <p:nvPr/>
        </p:nvSpPr>
        <p:spPr bwMode="auto">
          <a:xfrm>
            <a:off x="6636211" y="99897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tag</a:t>
            </a:r>
          </a:p>
        </p:txBody>
      </p:sp>
    </p:spTree>
    <p:extLst>
      <p:ext uri="{BB962C8B-B14F-4D97-AF65-F5344CB8AC3E}">
        <p14:creationId xmlns:p14="http://schemas.microsoft.com/office/powerpoint/2010/main" val="2673801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BTB </a:t>
            </a:r>
            <a:r>
              <a:rPr kumimoji="1" lang="ja-JP" altLang="en-US" dirty="0"/>
              <a:t>による予測（分岐以外の場合）</a:t>
            </a:r>
          </a:p>
        </p:txBody>
      </p:sp>
      <p:sp>
        <p:nvSpPr>
          <p:cNvPr id="3" name="テキスト プレースホルダー 2"/>
          <p:cNvSpPr>
            <a:spLocks noGrp="1"/>
          </p:cNvSpPr>
          <p:nvPr>
            <p:ph type="body" sz="quarter" idx="10"/>
          </p:nvPr>
        </p:nvSpPr>
        <p:spPr>
          <a:xfrm>
            <a:off x="1685951" y="5679026"/>
            <a:ext cx="8280092" cy="359697"/>
          </a:xfrm>
        </p:spPr>
        <p:txBody>
          <a:bodyPr/>
          <a:lstStyle/>
          <a:p>
            <a:r>
              <a:rPr kumimoji="1" lang="en-US" altLang="ja-JP" dirty="0"/>
              <a:t>0x400c </a:t>
            </a:r>
            <a:r>
              <a:rPr kumimoji="1" lang="ja-JP" altLang="en-US" dirty="0"/>
              <a:t>にある </a:t>
            </a:r>
            <a:r>
              <a:rPr kumimoji="1" lang="en-US" altLang="ja-JP" dirty="0"/>
              <a:t>add </a:t>
            </a:r>
            <a:r>
              <a:rPr kumimoji="1" lang="ja-JP" altLang="en-US" dirty="0"/>
              <a:t>をフェッチした場合，</a:t>
            </a:r>
            <a:endParaRPr kumimoji="1" lang="en-US" altLang="ja-JP" dirty="0"/>
          </a:p>
          <a:p>
            <a:pPr marL="817200" lvl="1" indent="-457200">
              <a:buFont typeface="+mj-lt"/>
              <a:buAutoNum type="arabicPeriod"/>
            </a:pPr>
            <a:r>
              <a:rPr kumimoji="1" lang="en-US" altLang="ja-JP" dirty="0"/>
              <a:t>0x400c </a:t>
            </a:r>
            <a:r>
              <a:rPr kumimoji="1" lang="ja-JP" altLang="en-US" dirty="0"/>
              <a:t>の下位の </a:t>
            </a:r>
            <a:r>
              <a:rPr kumimoji="1" lang="en-US" altLang="ja-JP" dirty="0"/>
              <a:t>c </a:t>
            </a:r>
            <a:r>
              <a:rPr kumimoji="1" lang="ja-JP" altLang="en-US" dirty="0"/>
              <a:t>を取り出し，</a:t>
            </a:r>
            <a:r>
              <a:rPr kumimoji="1" lang="en-US" altLang="ja-JP" dirty="0"/>
              <a:t>BTB </a:t>
            </a:r>
            <a:r>
              <a:rPr kumimoji="1" lang="ja-JP" altLang="en-US" dirty="0"/>
              <a:t>の </a:t>
            </a:r>
            <a:r>
              <a:rPr kumimoji="1" lang="en-US" altLang="ja-JP" dirty="0"/>
              <a:t>c </a:t>
            </a:r>
            <a:r>
              <a:rPr kumimoji="1" lang="ja-JP" altLang="en-US" dirty="0"/>
              <a:t>番エントリにアクセス</a:t>
            </a:r>
            <a:endParaRPr kumimoji="1" lang="en-US" altLang="ja-JP" dirty="0"/>
          </a:p>
          <a:p>
            <a:pPr marL="817200" lvl="1" indent="-457200">
              <a:buFont typeface="+mj-lt"/>
              <a:buAutoNum type="arabicPeriod"/>
            </a:pPr>
            <a:r>
              <a:rPr kumimoji="1" lang="ja-JP" altLang="en-US" dirty="0"/>
              <a:t>得られた </a:t>
            </a:r>
            <a:r>
              <a:rPr kumimoji="1" lang="en-US" altLang="ja-JP" dirty="0"/>
              <a:t>tag </a:t>
            </a:r>
            <a:r>
              <a:rPr kumimoji="1" lang="ja-JP" altLang="en-US" dirty="0"/>
              <a:t>と </a:t>
            </a:r>
            <a:r>
              <a:rPr kumimoji="1" lang="en-US" altLang="ja-JP" dirty="0"/>
              <a:t>PC </a:t>
            </a:r>
            <a:r>
              <a:rPr kumimoji="1" lang="ja-JP" altLang="en-US" dirty="0"/>
              <a:t>の上位が不一致なのでミス</a:t>
            </a:r>
            <a:endParaRPr kumimoji="1" lang="en-US" altLang="ja-JP" dirty="0"/>
          </a:p>
          <a:p>
            <a:pPr marL="817200" lvl="1" indent="-457200">
              <a:buFont typeface="+mj-lt"/>
              <a:buAutoNum type="arabicPeriod"/>
            </a:pPr>
            <a:r>
              <a:rPr kumimoji="1" lang="en-US" altLang="ja-JP" dirty="0"/>
              <a:t>0x400c </a:t>
            </a:r>
            <a:r>
              <a:rPr kumimoji="1" lang="ja-JP" altLang="en-US" dirty="0"/>
              <a:t>は分岐命令ではないと予測</a:t>
            </a:r>
          </a:p>
        </p:txBody>
      </p:sp>
      <p:sp>
        <p:nvSpPr>
          <p:cNvPr id="5" name="Rectangle 13"/>
          <p:cNvSpPr>
            <a:spLocks noChangeArrowheads="1"/>
          </p:cNvSpPr>
          <p:nvPr/>
        </p:nvSpPr>
        <p:spPr bwMode="auto">
          <a:xfrm>
            <a:off x="4835834" y="1358977"/>
            <a:ext cx="720725"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3">
                    <a:lumMod val="75000"/>
                  </a:schemeClr>
                </a:solidFill>
                <a:latin typeface="MeiryoKe_PGothic" pitchFamily="50" charset="-128"/>
                <a:ea typeface="MeiryoKe_PGothic" pitchFamily="50" charset="-128"/>
              </a:rPr>
              <a:t>C</a:t>
            </a: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Rectangle 89"/>
          <p:cNvSpPr>
            <a:spLocks noChangeArrowheads="1"/>
          </p:cNvSpPr>
          <p:nvPr/>
        </p:nvSpPr>
        <p:spPr bwMode="auto">
          <a:xfrm>
            <a:off x="3395971" y="1358977"/>
            <a:ext cx="1439863"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400</a:t>
            </a:r>
            <a:endParaRPr lang="ja-JP" altLang="en-US" b="1" dirty="0">
              <a:solidFill>
                <a:schemeClr val="accent5"/>
              </a:solidFill>
              <a:latin typeface="MeiryoKe_PGothic" pitchFamily="50" charset="-128"/>
              <a:ea typeface="MeiryoKe_PGothic" pitchFamily="50" charset="-128"/>
            </a:endParaRPr>
          </a:p>
        </p:txBody>
      </p:sp>
      <p:sp>
        <p:nvSpPr>
          <p:cNvPr id="7" name="Rectangle 128"/>
          <p:cNvSpPr>
            <a:spLocks noChangeArrowheads="1"/>
          </p:cNvSpPr>
          <p:nvPr/>
        </p:nvSpPr>
        <p:spPr bwMode="auto">
          <a:xfrm>
            <a:off x="3395971" y="1000203"/>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8" name="Rectangle 154"/>
          <p:cNvSpPr>
            <a:spLocks noChangeArrowheads="1"/>
          </p:cNvSpPr>
          <p:nvPr/>
        </p:nvSpPr>
        <p:spPr bwMode="auto">
          <a:xfrm>
            <a:off x="6637645" y="1360564"/>
            <a:ext cx="3328398"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0" name="AutoShape 194"/>
          <p:cNvCxnSpPr>
            <a:cxnSpLocks noChangeShapeType="1"/>
            <a:endCxn id="5" idx="2"/>
          </p:cNvCxnSpPr>
          <p:nvPr/>
        </p:nvCxnSpPr>
        <p:spPr bwMode="auto">
          <a:xfrm flipV="1">
            <a:off x="5196195" y="1719340"/>
            <a:ext cx="0" cy="720725"/>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1" name="Line 70"/>
          <p:cNvSpPr>
            <a:spLocks noChangeShapeType="1"/>
          </p:cNvSpPr>
          <p:nvPr/>
        </p:nvSpPr>
        <p:spPr bwMode="auto">
          <a:xfrm flipV="1">
            <a:off x="5196708" y="2438989"/>
            <a:ext cx="989294" cy="1690"/>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Line 97"/>
          <p:cNvSpPr>
            <a:spLocks noChangeShapeType="1"/>
          </p:cNvSpPr>
          <p:nvPr/>
        </p:nvSpPr>
        <p:spPr bwMode="auto">
          <a:xfrm flipV="1">
            <a:off x="4044566" y="4419218"/>
            <a:ext cx="1619250" cy="1587"/>
          </a:xfrm>
          <a:prstGeom prst="line">
            <a:avLst/>
          </a:prstGeom>
          <a:noFill/>
          <a:ln w="38100">
            <a:solidFill>
              <a:schemeClr val="tx1">
                <a:lumMod val="75000"/>
                <a:lumOff val="25000"/>
              </a:schemeClr>
            </a:solidFill>
            <a:round/>
            <a:headEnd type="none" w="med" len="med"/>
            <a:tailEnd type="triangle" w="med" len="me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4" name="AutoShape 164"/>
          <p:cNvCxnSpPr>
            <a:cxnSpLocks noChangeShapeType="1"/>
          </p:cNvCxnSpPr>
          <p:nvPr/>
        </p:nvCxnSpPr>
        <p:spPr bwMode="auto">
          <a:xfrm rot="5400000">
            <a:off x="6455999" y="3511572"/>
            <a:ext cx="468000" cy="1368000"/>
          </a:xfrm>
          <a:prstGeom prst="bentConnector2">
            <a:avLst/>
          </a:prstGeom>
          <a:ln>
            <a:solidFill>
              <a:schemeClr val="tx1">
                <a:lumMod val="75000"/>
                <a:lumOff val="25000"/>
              </a:schemeClr>
            </a:solidFill>
            <a:headEnd/>
            <a:tailEnd type="triangle" w="med" len="med"/>
          </a:ln>
        </p:spPr>
        <p:style>
          <a:lnRef idx="3">
            <a:schemeClr val="dk1"/>
          </a:lnRef>
          <a:fillRef idx="0">
            <a:schemeClr val="dk1"/>
          </a:fillRef>
          <a:effectRef idx="2">
            <a:schemeClr val="dk1"/>
          </a:effectRef>
          <a:fontRef idx="minor">
            <a:schemeClr val="tx1"/>
          </a:fontRef>
        </p:style>
      </p:cxnSp>
      <p:cxnSp>
        <p:nvCxnSpPr>
          <p:cNvPr id="15" name="AutoShape 192"/>
          <p:cNvCxnSpPr>
            <a:cxnSpLocks noChangeShapeType="1"/>
          </p:cNvCxnSpPr>
          <p:nvPr/>
        </p:nvCxnSpPr>
        <p:spPr bwMode="auto">
          <a:xfrm>
            <a:off x="4044566" y="1718879"/>
            <a:ext cx="0" cy="2700338"/>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7" name="Rectangle 195"/>
          <p:cNvSpPr>
            <a:spLocks noChangeArrowheads="1"/>
          </p:cNvSpPr>
          <p:nvPr/>
        </p:nvSpPr>
        <p:spPr bwMode="auto">
          <a:xfrm>
            <a:off x="6636006" y="2438631"/>
            <a:ext cx="1439862" cy="360363"/>
          </a:xfrm>
          <a:prstGeom prst="rect">
            <a:avLst/>
          </a:prstGeom>
          <a:noFill/>
          <a:ln>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400</a:t>
            </a:r>
            <a:endParaRPr lang="ja-JP" altLang="en-US" dirty="0">
              <a:solidFill>
                <a:schemeClr val="tx1">
                  <a:lumMod val="75000"/>
                  <a:lumOff val="25000"/>
                </a:schemeClr>
              </a:solidFill>
              <a:latin typeface="MeiryoKe_PGothic" pitchFamily="50" charset="-128"/>
              <a:ea typeface="MeiryoKe_PGothic" pitchFamily="50" charset="-128"/>
            </a:endParaRPr>
          </a:p>
        </p:txBody>
      </p:sp>
      <p:grpSp>
        <p:nvGrpSpPr>
          <p:cNvPr id="32" name="グループ化 31"/>
          <p:cNvGrpSpPr/>
          <p:nvPr/>
        </p:nvGrpSpPr>
        <p:grpSpPr>
          <a:xfrm>
            <a:off x="5646713" y="4240700"/>
            <a:ext cx="360362" cy="360363"/>
            <a:chOff x="2861981" y="4689014"/>
            <a:chExt cx="360362" cy="360363"/>
          </a:xfrm>
        </p:grpSpPr>
        <p:sp>
          <p:nvSpPr>
            <p:cNvPr id="29" name="Oval 93"/>
            <p:cNvSpPr>
              <a:spLocks noChangeArrowheads="1"/>
            </p:cNvSpPr>
            <p:nvPr/>
          </p:nvSpPr>
          <p:spPr bwMode="auto">
            <a:xfrm>
              <a:off x="2861981" y="4689014"/>
              <a:ext cx="360362" cy="360363"/>
            </a:xfrm>
            <a:prstGeom prst="ellipse">
              <a:avLst/>
            </a:prstGeom>
            <a:solidFill>
              <a:srgbClr val="FFFFFF"/>
            </a:solidFill>
            <a:ln w="19050">
              <a:solidFill>
                <a:schemeClr val="tx1">
                  <a:lumMod val="75000"/>
                  <a:lumOff val="25000"/>
                </a:schemeClr>
              </a:solidFill>
              <a:round/>
              <a:headEnd/>
              <a:tailEnd/>
            </a:ln>
            <a:effectLst/>
          </p:spPr>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0" name="Line 120"/>
            <p:cNvSpPr>
              <a:spLocks noChangeShapeType="1"/>
            </p:cNvSpPr>
            <p:nvPr/>
          </p:nvSpPr>
          <p:spPr bwMode="auto">
            <a:xfrm>
              <a:off x="2950881" y="4827127"/>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1" name="Line 121"/>
            <p:cNvSpPr>
              <a:spLocks noChangeShapeType="1"/>
            </p:cNvSpPr>
            <p:nvPr/>
          </p:nvSpPr>
          <p:spPr bwMode="auto">
            <a:xfrm>
              <a:off x="2950881" y="4917614"/>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sp>
        <p:nvSpPr>
          <p:cNvPr id="33" name="Rectangle 154"/>
          <p:cNvSpPr>
            <a:spLocks noChangeArrowheads="1"/>
          </p:cNvSpPr>
          <p:nvPr/>
        </p:nvSpPr>
        <p:spPr bwMode="auto">
          <a:xfrm>
            <a:off x="6636724" y="1360667"/>
            <a:ext cx="1440016" cy="2608339"/>
          </a:xfrm>
          <a:prstGeom prst="rect">
            <a:avLst/>
          </a:prstGeom>
          <a:noFill/>
          <a:ln w="6350">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4" name="Rectangle 195"/>
          <p:cNvSpPr>
            <a:spLocks noChangeArrowheads="1"/>
          </p:cNvSpPr>
          <p:nvPr/>
        </p:nvSpPr>
        <p:spPr bwMode="auto">
          <a:xfrm>
            <a:off x="8076023" y="2438631"/>
            <a:ext cx="1889303" cy="360363"/>
          </a:xfrm>
          <a:prstGeom prst="rect">
            <a:avLst/>
          </a:prstGeom>
          <a:noFill/>
          <a:ln>
            <a:headEnd/>
            <a:tailEnd/>
          </a:ln>
          <a:effectLst/>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4180</a:t>
            </a:r>
            <a:endParaRPr lang="ja-JP" altLang="en-US" dirty="0">
              <a:solidFill>
                <a:schemeClr val="tx1">
                  <a:lumMod val="75000"/>
                  <a:lumOff val="25000"/>
                </a:schemeClr>
              </a:solidFill>
              <a:latin typeface="MeiryoKe_PGothic" pitchFamily="50" charset="-128"/>
              <a:ea typeface="MeiryoKe_PGothic" pitchFamily="50" charset="-128"/>
            </a:endParaRPr>
          </a:p>
        </p:txBody>
      </p:sp>
      <p:sp>
        <p:nvSpPr>
          <p:cNvPr id="35" name="Line 70"/>
          <p:cNvSpPr>
            <a:spLocks noChangeShapeType="1"/>
          </p:cNvSpPr>
          <p:nvPr/>
        </p:nvSpPr>
        <p:spPr bwMode="auto">
          <a:xfrm flipH="1">
            <a:off x="8886031" y="3969006"/>
            <a:ext cx="0" cy="1080116"/>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8" name="Line 70"/>
          <p:cNvSpPr>
            <a:spLocks noChangeShapeType="1"/>
          </p:cNvSpPr>
          <p:nvPr/>
        </p:nvSpPr>
        <p:spPr bwMode="auto">
          <a:xfrm>
            <a:off x="5827636" y="4600601"/>
            <a:ext cx="0" cy="450005"/>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41" name="Rectangle 133"/>
          <p:cNvSpPr>
            <a:spLocks noChangeArrowheads="1"/>
          </p:cNvSpPr>
          <p:nvPr/>
        </p:nvSpPr>
        <p:spPr bwMode="auto">
          <a:xfrm>
            <a:off x="4385981" y="459901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BTB miss</a:t>
            </a:r>
          </a:p>
        </p:txBody>
      </p:sp>
      <p:sp>
        <p:nvSpPr>
          <p:cNvPr id="42" name="Rectangle 133"/>
          <p:cNvSpPr>
            <a:spLocks noChangeArrowheads="1"/>
          </p:cNvSpPr>
          <p:nvPr/>
        </p:nvSpPr>
        <p:spPr bwMode="auto">
          <a:xfrm>
            <a:off x="8166023" y="5049019"/>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accent2"/>
                </a:solidFill>
                <a:latin typeface="MeiryoKe_PGothic" pitchFamily="50" charset="-128"/>
                <a:ea typeface="MeiryoKe_PGothic" pitchFamily="50" charset="-128"/>
              </a:rPr>
              <a:t>ff80</a:t>
            </a:r>
          </a:p>
        </p:txBody>
      </p:sp>
      <p:sp>
        <p:nvSpPr>
          <p:cNvPr id="36" name="正方形/長方形 35"/>
          <p:cNvSpPr/>
          <p:nvPr/>
        </p:nvSpPr>
        <p:spPr bwMode="auto">
          <a:xfrm>
            <a:off x="1534268" y="2438990"/>
            <a:ext cx="2491709" cy="1080012"/>
          </a:xfrm>
          <a:prstGeom prst="rect">
            <a:avLst/>
          </a:prstGeom>
          <a:solidFill>
            <a:schemeClr val="bg1"/>
          </a:solidFill>
          <a:ln w="1270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tx1">
                    <a:lumMod val="75000"/>
                    <a:lumOff val="25000"/>
                  </a:schemeClr>
                </a:solidFill>
                <a:latin typeface="Arial Narrow" panose="020B0606020202030204" pitchFamily="34" charset="0"/>
              </a:rPr>
              <a:t>0x4008  </a:t>
            </a:r>
            <a:r>
              <a:rPr lang="en-US" altLang="ja-JP" dirty="0" err="1">
                <a:solidFill>
                  <a:schemeClr val="tx1">
                    <a:lumMod val="75000"/>
                    <a:lumOff val="25000"/>
                  </a:schemeClr>
                </a:solidFill>
                <a:latin typeface="Arial Narrow" panose="020B0606020202030204" pitchFamily="34" charset="0"/>
              </a:rPr>
              <a:t>bne</a:t>
            </a:r>
            <a:r>
              <a:rPr lang="en-US" altLang="ja-JP" dirty="0">
                <a:solidFill>
                  <a:schemeClr val="tx1">
                    <a:lumMod val="75000"/>
                    <a:lumOff val="25000"/>
                  </a:schemeClr>
                </a:solidFill>
                <a:latin typeface="Arial Narrow" panose="020B0606020202030204" pitchFamily="34" charset="0"/>
              </a:rPr>
              <a:t> x1,x2,0x4180</a:t>
            </a:r>
          </a:p>
          <a:p>
            <a:pPr>
              <a:lnSpc>
                <a:spcPct val="80000"/>
              </a:lnSpc>
            </a:pPr>
            <a:r>
              <a:rPr lang="en-US" altLang="ja-JP" b="1" dirty="0">
                <a:solidFill>
                  <a:schemeClr val="accent5"/>
                </a:solidFill>
                <a:latin typeface="Arial Narrow" panose="020B0606020202030204" pitchFamily="34" charset="0"/>
              </a:rPr>
              <a:t>0x400</a:t>
            </a:r>
            <a:r>
              <a:rPr lang="en-US" altLang="ja-JP" b="1" dirty="0">
                <a:solidFill>
                  <a:schemeClr val="accent3">
                    <a:lumMod val="75000"/>
                  </a:schemeClr>
                </a:solidFill>
                <a:latin typeface="Arial Narrow" panose="020B0606020202030204" pitchFamily="34" charset="0"/>
              </a:rPr>
              <a:t>c</a:t>
            </a:r>
            <a:r>
              <a:rPr lang="en-US" altLang="ja-JP" dirty="0">
                <a:solidFill>
                  <a:schemeClr val="tx1">
                    <a:lumMod val="75000"/>
                    <a:lumOff val="25000"/>
                  </a:schemeClr>
                </a:solidFill>
                <a:latin typeface="Arial Narrow" panose="020B0606020202030204" pitchFamily="34" charset="0"/>
              </a:rPr>
              <a:t>  add ...</a:t>
            </a:r>
          </a:p>
          <a:p>
            <a:pPr>
              <a:lnSpc>
                <a:spcPct val="80000"/>
              </a:lnSpc>
            </a:pPr>
            <a:r>
              <a:rPr lang="en-US" altLang="ja-JP" dirty="0">
                <a:solidFill>
                  <a:schemeClr val="tx1">
                    <a:lumMod val="75000"/>
                    <a:lumOff val="25000"/>
                  </a:schemeClr>
                </a:solidFill>
                <a:latin typeface="Arial Narrow" panose="020B0606020202030204" pitchFamily="34" charset="0"/>
              </a:rPr>
              <a:t> ...         ...</a:t>
            </a:r>
          </a:p>
          <a:p>
            <a:pPr>
              <a:lnSpc>
                <a:spcPct val="80000"/>
              </a:lnSpc>
            </a:pPr>
            <a:r>
              <a:rPr lang="en-US" altLang="ja-JP" dirty="0">
                <a:solidFill>
                  <a:schemeClr val="tx1">
                    <a:lumMod val="75000"/>
                    <a:lumOff val="25000"/>
                  </a:schemeClr>
                </a:solidFill>
                <a:latin typeface="Arial Narrow" panose="020B0606020202030204" pitchFamily="34" charset="0"/>
              </a:rPr>
              <a:t>0x4180  sub ...</a:t>
            </a:r>
            <a:endParaRPr lang="ja-JP" altLang="en-US" dirty="0">
              <a:solidFill>
                <a:schemeClr val="tx1">
                  <a:lumMod val="75000"/>
                  <a:lumOff val="25000"/>
                </a:schemeClr>
              </a:solidFill>
              <a:latin typeface="Arial Narrow" panose="020B0606020202030204" pitchFamily="34" charset="0"/>
            </a:endParaRPr>
          </a:p>
        </p:txBody>
      </p:sp>
      <p:sp>
        <p:nvSpPr>
          <p:cNvPr id="45" name="正方形/長方形 44"/>
          <p:cNvSpPr/>
          <p:nvPr/>
        </p:nvSpPr>
        <p:spPr bwMode="auto">
          <a:xfrm>
            <a:off x="6636007" y="1358977"/>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7" name="正方形/長方形 46"/>
          <p:cNvSpPr/>
          <p:nvPr/>
        </p:nvSpPr>
        <p:spPr bwMode="auto">
          <a:xfrm>
            <a:off x="6636007" y="1718981"/>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8" name="正方形/長方形 47"/>
          <p:cNvSpPr/>
          <p:nvPr/>
        </p:nvSpPr>
        <p:spPr bwMode="auto">
          <a:xfrm>
            <a:off x="6636007" y="2078985"/>
            <a:ext cx="3330037"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50" name="正方形/長方形 49"/>
          <p:cNvSpPr/>
          <p:nvPr/>
        </p:nvSpPr>
        <p:spPr bwMode="auto">
          <a:xfrm>
            <a:off x="6276003"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51" name="正方形/長方形 50"/>
          <p:cNvSpPr/>
          <p:nvPr/>
        </p:nvSpPr>
        <p:spPr bwMode="auto">
          <a:xfrm>
            <a:off x="6276002" y="171898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52" name="正方形/長方形 51"/>
          <p:cNvSpPr/>
          <p:nvPr/>
        </p:nvSpPr>
        <p:spPr bwMode="auto">
          <a:xfrm>
            <a:off x="6276002"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3" name="正方形/長方形 52"/>
          <p:cNvSpPr/>
          <p:nvPr/>
        </p:nvSpPr>
        <p:spPr bwMode="auto">
          <a:xfrm>
            <a:off x="7176012"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4" name="正方形/長方形 53"/>
          <p:cNvSpPr/>
          <p:nvPr/>
        </p:nvSpPr>
        <p:spPr bwMode="auto">
          <a:xfrm>
            <a:off x="8886031"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5" name="正方形/長方形 54"/>
          <p:cNvSpPr/>
          <p:nvPr/>
        </p:nvSpPr>
        <p:spPr bwMode="auto">
          <a:xfrm>
            <a:off x="6276002"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1" dirty="0">
                <a:solidFill>
                  <a:schemeClr val="accent3">
                    <a:lumMod val="75000"/>
                  </a:schemeClr>
                </a:solidFill>
                <a:latin typeface="Arial Narrow" panose="020B0606020202030204" pitchFamily="34" charset="0"/>
              </a:rPr>
              <a:t>8</a:t>
            </a:r>
            <a:endParaRPr lang="ja-JP" altLang="en-US" sz="2000" b="1" dirty="0">
              <a:solidFill>
                <a:schemeClr val="accent3">
                  <a:lumMod val="75000"/>
                </a:schemeClr>
              </a:solidFill>
              <a:latin typeface="Arial Narrow" panose="020B0606020202030204" pitchFamily="34" charset="0"/>
            </a:endParaRPr>
          </a:p>
        </p:txBody>
      </p:sp>
      <p:sp>
        <p:nvSpPr>
          <p:cNvPr id="56" name="正方形/長方形 55"/>
          <p:cNvSpPr/>
          <p:nvPr/>
        </p:nvSpPr>
        <p:spPr bwMode="auto">
          <a:xfrm>
            <a:off x="627600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7" name="正方形/長方形 56"/>
          <p:cNvSpPr/>
          <p:nvPr/>
        </p:nvSpPr>
        <p:spPr bwMode="auto">
          <a:xfrm>
            <a:off x="717601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8" name="正方形/長方形 57"/>
          <p:cNvSpPr/>
          <p:nvPr/>
        </p:nvSpPr>
        <p:spPr bwMode="auto">
          <a:xfrm>
            <a:off x="8886031"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59" name="Rectangle 195"/>
          <p:cNvSpPr>
            <a:spLocks noChangeArrowheads="1"/>
          </p:cNvSpPr>
          <p:nvPr/>
        </p:nvSpPr>
        <p:spPr bwMode="auto">
          <a:xfrm>
            <a:off x="6636006" y="3158639"/>
            <a:ext cx="1439862"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f88</a:t>
            </a:r>
            <a:endParaRPr lang="ja-JP" altLang="en-US" dirty="0">
              <a:solidFill>
                <a:schemeClr val="tx1">
                  <a:lumMod val="75000"/>
                  <a:lumOff val="25000"/>
                </a:schemeClr>
              </a:solidFill>
              <a:latin typeface="MeiryoKe_PGothic" pitchFamily="50" charset="-128"/>
              <a:ea typeface="MeiryoKe_PGothic" pitchFamily="50" charset="-128"/>
            </a:endParaRPr>
          </a:p>
        </p:txBody>
      </p:sp>
      <p:sp>
        <p:nvSpPr>
          <p:cNvPr id="60" name="Rectangle 195"/>
          <p:cNvSpPr>
            <a:spLocks noChangeArrowheads="1"/>
          </p:cNvSpPr>
          <p:nvPr/>
        </p:nvSpPr>
        <p:spPr bwMode="auto">
          <a:xfrm>
            <a:off x="8076023" y="3158639"/>
            <a:ext cx="1889303" cy="360363"/>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dirty="0">
                <a:solidFill>
                  <a:schemeClr val="tx1">
                    <a:lumMod val="75000"/>
                    <a:lumOff val="25000"/>
                  </a:schemeClr>
                </a:solidFill>
                <a:latin typeface="MeiryoKe_PGothic" pitchFamily="50" charset="-128"/>
                <a:ea typeface="MeiryoKe_PGothic" pitchFamily="50" charset="-128"/>
              </a:rPr>
              <a:t>ff80</a:t>
            </a:r>
            <a:endParaRPr lang="ja-JP" altLang="en-US"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6276002"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1" dirty="0">
                <a:solidFill>
                  <a:schemeClr val="accent3">
                    <a:lumMod val="75000"/>
                  </a:schemeClr>
                </a:solidFill>
                <a:latin typeface="Arial Narrow" panose="020B0606020202030204" pitchFamily="34" charset="0"/>
              </a:rPr>
              <a:t>C</a:t>
            </a:r>
            <a:endParaRPr lang="ja-JP" altLang="en-US" sz="2000" b="1" dirty="0">
              <a:solidFill>
                <a:schemeClr val="accent3">
                  <a:lumMod val="75000"/>
                </a:schemeClr>
              </a:solidFill>
              <a:latin typeface="Arial Narrow" panose="020B0606020202030204" pitchFamily="34" charset="0"/>
            </a:endParaRPr>
          </a:p>
        </p:txBody>
      </p:sp>
      <p:sp>
        <p:nvSpPr>
          <p:cNvPr id="62" name="正方形/長方形 61"/>
          <p:cNvSpPr/>
          <p:nvPr/>
        </p:nvSpPr>
        <p:spPr bwMode="auto">
          <a:xfrm>
            <a:off x="6276002"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7176012"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8886031" y="35190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5" name="Rectangle 132"/>
          <p:cNvSpPr>
            <a:spLocks noChangeArrowheads="1"/>
          </p:cNvSpPr>
          <p:nvPr/>
        </p:nvSpPr>
        <p:spPr bwMode="auto">
          <a:xfrm>
            <a:off x="8076023" y="998974"/>
            <a:ext cx="1890021" cy="35877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66" name="Rectangle 133"/>
          <p:cNvSpPr>
            <a:spLocks noChangeArrowheads="1"/>
          </p:cNvSpPr>
          <p:nvPr/>
        </p:nvSpPr>
        <p:spPr bwMode="auto">
          <a:xfrm>
            <a:off x="6636211" y="99897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tag</a:t>
            </a:r>
          </a:p>
        </p:txBody>
      </p:sp>
    </p:spTree>
    <p:extLst>
      <p:ext uri="{BB962C8B-B14F-4D97-AF65-F5344CB8AC3E}">
        <p14:creationId xmlns:p14="http://schemas.microsoft.com/office/powerpoint/2010/main" val="4276480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BTB </a:t>
            </a:r>
            <a:r>
              <a:rPr lang="ja-JP" altLang="en-US" dirty="0"/>
              <a:t>の特徴</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高速にアクセスする必要がある</a:t>
            </a:r>
            <a:endParaRPr lang="en-US" altLang="ja-JP" dirty="0"/>
          </a:p>
          <a:p>
            <a:pPr lvl="1"/>
            <a:r>
              <a:rPr lang="ja-JP" altLang="en-US" dirty="0"/>
              <a:t>１サイクル以内に処理が完結する必要がある</a:t>
            </a:r>
            <a:endParaRPr lang="en-US" altLang="ja-JP" dirty="0"/>
          </a:p>
          <a:p>
            <a:pPr lvl="1"/>
            <a:r>
              <a:rPr lang="ja-JP" altLang="en-US" dirty="0"/>
              <a:t>そうしないと，毎サイクル命令フェッチができない</a:t>
            </a:r>
            <a:endParaRPr lang="en-US" altLang="ja-JP" dirty="0"/>
          </a:p>
          <a:p>
            <a:pPr marL="457200" indent="-457200">
              <a:buFont typeface="+mj-lt"/>
              <a:buAutoNum type="arabicPeriod"/>
            </a:pPr>
            <a:r>
              <a:rPr lang="ja-JP" altLang="en-US" dirty="0"/>
              <a:t>エントリ数は比較的小さい</a:t>
            </a:r>
            <a:endParaRPr lang="en-US" altLang="ja-JP" dirty="0"/>
          </a:p>
          <a:p>
            <a:pPr lvl="1"/>
            <a:r>
              <a:rPr lang="ja-JP" altLang="en-US" dirty="0"/>
              <a:t>最大でも数</a:t>
            </a:r>
            <a:r>
              <a:rPr lang="en-US" altLang="ja-JP" dirty="0"/>
              <a:t>K</a:t>
            </a:r>
            <a:r>
              <a:rPr lang="ja-JP" altLang="en-US" dirty="0"/>
              <a:t>エントリ程度</a:t>
            </a:r>
            <a:endParaRPr lang="en-US" altLang="ja-JP" dirty="0"/>
          </a:p>
          <a:p>
            <a:pPr lvl="1"/>
            <a:r>
              <a:rPr lang="ja-JP" altLang="en-US" dirty="0"/>
              <a:t>最近はそうでもなくなってきた（後述</a:t>
            </a:r>
            <a:endParaRPr lang="en-US" altLang="ja-JP" dirty="0"/>
          </a:p>
          <a:p>
            <a:pPr marL="457200" indent="-457200">
              <a:buFont typeface="+mj-lt"/>
              <a:buAutoNum type="arabicPeriod"/>
            </a:pPr>
            <a:r>
              <a:rPr kumimoji="1" lang="ja-JP" altLang="en-US" dirty="0"/>
              <a:t>ハッシュ表としては，かなり単純な構造を持つ</a:t>
            </a:r>
            <a:endParaRPr kumimoji="1" lang="en-US" altLang="ja-JP" dirty="0"/>
          </a:p>
          <a:p>
            <a:pPr lvl="1"/>
            <a:r>
              <a:rPr kumimoji="1" lang="ja-JP" altLang="en-US" dirty="0"/>
              <a:t>ハッシュ関数は，アドレスの一部を切り出してそのまま使う</a:t>
            </a:r>
            <a:endParaRPr kumimoji="1" lang="en-US" altLang="ja-JP" dirty="0"/>
          </a:p>
          <a:p>
            <a:pPr lvl="1"/>
            <a:r>
              <a:rPr kumimoji="1" lang="ja-JP" altLang="en-US" dirty="0"/>
              <a:t>表の各エントリは固定長（古いものは上書きされる）</a:t>
            </a:r>
            <a:endParaRPr kumimoji="1" lang="en-US" altLang="ja-JP" dirty="0"/>
          </a:p>
        </p:txBody>
      </p:sp>
    </p:spTree>
    <p:extLst>
      <p:ext uri="{BB962C8B-B14F-4D97-AF65-F5344CB8AC3E}">
        <p14:creationId xmlns:p14="http://schemas.microsoft.com/office/powerpoint/2010/main" val="338799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BTB </a:t>
            </a:r>
            <a:r>
              <a:rPr kumimoji="1" lang="ja-JP" altLang="en-US" dirty="0"/>
              <a:t>の詳細</a:t>
            </a:r>
          </a:p>
        </p:txBody>
      </p:sp>
      <p:sp>
        <p:nvSpPr>
          <p:cNvPr id="3" name="テキスト プレースホルダー 2"/>
          <p:cNvSpPr>
            <a:spLocks noGrp="1"/>
          </p:cNvSpPr>
          <p:nvPr>
            <p:ph type="body" sz="quarter" idx="10"/>
          </p:nvPr>
        </p:nvSpPr>
        <p:spPr/>
        <p:txBody>
          <a:bodyPr/>
          <a:lstStyle/>
          <a:p>
            <a:r>
              <a:rPr kumimoji="1" lang="ja-JP" altLang="en-US" dirty="0"/>
              <a:t>階層化された </a:t>
            </a:r>
            <a:r>
              <a:rPr kumimoji="1" lang="en-US" altLang="ja-JP" dirty="0"/>
              <a:t>BTB </a:t>
            </a:r>
            <a:r>
              <a:rPr kumimoji="1" lang="ja-JP" altLang="en-US" dirty="0"/>
              <a:t>を持つ場合もある</a:t>
            </a:r>
            <a:endParaRPr kumimoji="1" lang="en-US" altLang="ja-JP" dirty="0"/>
          </a:p>
          <a:p>
            <a:pPr lvl="1"/>
            <a:r>
              <a:rPr kumimoji="1" lang="en-US" altLang="ja-JP" dirty="0"/>
              <a:t>AMD Zen</a:t>
            </a:r>
            <a:r>
              <a:rPr kumimoji="1" lang="ja-JP" altLang="en-US" dirty="0"/>
              <a:t>：</a:t>
            </a:r>
            <a:r>
              <a:rPr kumimoji="1" lang="en-US" altLang="ja-JP" dirty="0"/>
              <a:t>L1+L2 BTB</a:t>
            </a:r>
          </a:p>
          <a:p>
            <a:pPr lvl="1"/>
            <a:r>
              <a:rPr lang="en-US" altLang="ja-JP" dirty="0"/>
              <a:t>ARM Cortex A72</a:t>
            </a:r>
            <a:r>
              <a:rPr lang="ja-JP" altLang="en-US" dirty="0"/>
              <a:t>：</a:t>
            </a:r>
            <a:r>
              <a:rPr lang="en-US" altLang="ja-JP" dirty="0"/>
              <a:t>64</a:t>
            </a:r>
            <a:r>
              <a:rPr lang="ja-JP" altLang="en-US" dirty="0"/>
              <a:t>エントリ</a:t>
            </a:r>
            <a:r>
              <a:rPr lang="en-US" altLang="ja-JP" dirty="0"/>
              <a:t>L1 + 2K</a:t>
            </a:r>
            <a:r>
              <a:rPr lang="ja-JP" altLang="en-US" dirty="0"/>
              <a:t>エントリ</a:t>
            </a:r>
            <a:r>
              <a:rPr lang="en-US" altLang="ja-JP" dirty="0"/>
              <a:t>L2 BTB</a:t>
            </a:r>
          </a:p>
          <a:p>
            <a:r>
              <a:rPr kumimoji="1" lang="en-US" altLang="ja-JP" dirty="0"/>
              <a:t>L2 BTB </a:t>
            </a:r>
            <a:r>
              <a:rPr kumimoji="1" lang="ja-JP" altLang="en-US" dirty="0"/>
              <a:t>アクセスには数サイクルかかる</a:t>
            </a:r>
            <a:endParaRPr kumimoji="1" lang="en-US" altLang="ja-JP" dirty="0"/>
          </a:p>
          <a:p>
            <a:pPr lvl="1"/>
            <a:r>
              <a:rPr kumimoji="1" lang="en-US" altLang="ja-JP" dirty="0"/>
              <a:t>L2 BTB </a:t>
            </a:r>
            <a:r>
              <a:rPr kumimoji="1" lang="ja-JP" altLang="en-US" dirty="0"/>
              <a:t>により分岐が判明した場合，予測ミスからの回復が行われる</a:t>
            </a:r>
          </a:p>
        </p:txBody>
      </p:sp>
    </p:spTree>
    <p:extLst>
      <p:ext uri="{BB962C8B-B14F-4D97-AF65-F5344CB8AC3E}">
        <p14:creationId xmlns:p14="http://schemas.microsoft.com/office/powerpoint/2010/main" val="25905918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分岐かどうか</a:t>
            </a:r>
            <a:r>
              <a:rPr kumimoji="1" lang="en-US" altLang="ja-JP" dirty="0"/>
              <a:t>&amp;</a:t>
            </a:r>
            <a:r>
              <a:rPr kumimoji="1" lang="ja-JP" altLang="en-US" dirty="0"/>
              <a:t>分岐先ターゲット予測のまとめ</a:t>
            </a:r>
          </a:p>
        </p:txBody>
      </p:sp>
      <p:sp>
        <p:nvSpPr>
          <p:cNvPr id="3" name="テキスト プレースホルダー 2"/>
          <p:cNvSpPr>
            <a:spLocks noGrp="1"/>
          </p:cNvSpPr>
          <p:nvPr>
            <p:ph type="body" sz="quarter" idx="10"/>
          </p:nvPr>
        </p:nvSpPr>
        <p:spPr/>
        <p:txBody>
          <a:bodyPr/>
          <a:lstStyle/>
          <a:p>
            <a:r>
              <a:rPr kumimoji="1" lang="ja-JP" altLang="en-US" dirty="0"/>
              <a:t>分岐かどうか </a:t>
            </a:r>
            <a:r>
              <a:rPr kumimoji="1" lang="en-US" altLang="ja-JP" dirty="0"/>
              <a:t>&amp; </a:t>
            </a:r>
            <a:r>
              <a:rPr kumimoji="1" lang="ja-JP" altLang="en-US" dirty="0"/>
              <a:t>分岐先ターゲットを予測する必要がある</a:t>
            </a:r>
            <a:endParaRPr kumimoji="1" lang="en-US" altLang="ja-JP" dirty="0"/>
          </a:p>
          <a:p>
            <a:pPr lvl="1"/>
            <a:r>
              <a:rPr kumimoji="1" lang="ja-JP" altLang="en-US" dirty="0"/>
              <a:t>命令をデコードするまでは，それらがわからない</a:t>
            </a:r>
            <a:endParaRPr kumimoji="1" lang="en-US" altLang="ja-JP" dirty="0"/>
          </a:p>
          <a:p>
            <a:r>
              <a:rPr kumimoji="1" lang="en-US" altLang="ja-JP" dirty="0"/>
              <a:t>BTB </a:t>
            </a:r>
            <a:r>
              <a:rPr kumimoji="1" lang="ja-JP" altLang="en-US" dirty="0"/>
              <a:t>を使った予測</a:t>
            </a:r>
            <a:endParaRPr kumimoji="1" lang="en-US" altLang="ja-JP" dirty="0"/>
          </a:p>
          <a:p>
            <a:pPr lvl="1"/>
            <a:r>
              <a:rPr lang="en-US" altLang="ja-JP" dirty="0"/>
              <a:t>BTB</a:t>
            </a:r>
            <a:r>
              <a:rPr lang="ja-JP" altLang="en-US" dirty="0"/>
              <a:t>：機能的にはハッシュ表</a:t>
            </a:r>
            <a:endParaRPr lang="en-US" altLang="ja-JP" dirty="0"/>
          </a:p>
          <a:p>
            <a:pPr lvl="2"/>
            <a:r>
              <a:rPr lang="ja-JP" altLang="en-US" dirty="0"/>
              <a:t>入力：予測対象の </a:t>
            </a:r>
            <a:r>
              <a:rPr lang="en-US" altLang="ja-JP" dirty="0"/>
              <a:t>PC </a:t>
            </a:r>
          </a:p>
          <a:p>
            <a:pPr lvl="2"/>
            <a:r>
              <a:rPr lang="ja-JP" altLang="en-US" dirty="0"/>
              <a:t>中身：分岐先ターゲット</a:t>
            </a:r>
            <a:endParaRPr lang="en-US" altLang="ja-JP" dirty="0"/>
          </a:p>
          <a:p>
            <a:pPr lvl="1"/>
            <a:r>
              <a:rPr lang="ja-JP" altLang="en-US" dirty="0"/>
              <a:t>フェッチ時は，まず </a:t>
            </a:r>
            <a:r>
              <a:rPr lang="en-US" altLang="ja-JP" dirty="0"/>
              <a:t>BTB </a:t>
            </a:r>
            <a:r>
              <a:rPr lang="ja-JP" altLang="en-US" dirty="0"/>
              <a:t>にアクセスして分岐かどうかとターゲットを予測</a:t>
            </a:r>
          </a:p>
        </p:txBody>
      </p:sp>
    </p:spTree>
    <p:extLst>
      <p:ext uri="{BB962C8B-B14F-4D97-AF65-F5344CB8AC3E}">
        <p14:creationId xmlns:p14="http://schemas.microsoft.com/office/powerpoint/2010/main" val="3111368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分岐予測</a:t>
            </a:r>
          </a:p>
        </p:txBody>
      </p:sp>
      <p:sp>
        <p:nvSpPr>
          <p:cNvPr id="3" name="テキスト プレースホルダー 2"/>
          <p:cNvSpPr>
            <a:spLocks noGrp="1"/>
          </p:cNvSpPr>
          <p:nvPr>
            <p:ph type="body" sz="quarter" idx="10"/>
          </p:nvPr>
        </p:nvSpPr>
        <p:spPr/>
        <p:txBody>
          <a:bodyPr/>
          <a:lstStyle/>
          <a:p>
            <a:r>
              <a:rPr kumimoji="1" lang="ja-JP" altLang="en-US" dirty="0"/>
              <a:t>分岐予測</a:t>
            </a:r>
            <a:endParaRPr kumimoji="1" lang="en-US" altLang="ja-JP" dirty="0"/>
          </a:p>
          <a:p>
            <a:pPr marL="817200" lvl="1" indent="-457200">
              <a:buFont typeface="+mj-lt"/>
              <a:buAutoNum type="arabicPeriod"/>
            </a:pPr>
            <a:r>
              <a:rPr kumimoji="1" lang="ja-JP" altLang="en-US" dirty="0"/>
              <a:t>分岐命令かどうか予測</a:t>
            </a:r>
            <a:endParaRPr kumimoji="1" lang="en-US" altLang="ja-JP" dirty="0"/>
          </a:p>
          <a:p>
            <a:pPr marL="817200" lvl="1" indent="-457200">
              <a:buFont typeface="+mj-lt"/>
              <a:buAutoNum type="arabicPeriod"/>
            </a:pPr>
            <a:r>
              <a:rPr kumimoji="1" lang="ja-JP" altLang="en-US" dirty="0"/>
              <a:t>分岐先ターゲット予測</a:t>
            </a:r>
            <a:endParaRPr kumimoji="1" lang="en-US" altLang="ja-JP" dirty="0"/>
          </a:p>
          <a:p>
            <a:pPr marL="817200" lvl="1" indent="-457200">
              <a:buFont typeface="+mj-lt"/>
              <a:buAutoNum type="arabicPeriod"/>
            </a:pPr>
            <a:r>
              <a:rPr kumimoji="1" lang="ja-JP" altLang="en-US" b="1" dirty="0"/>
              <a:t>分岐</a:t>
            </a:r>
            <a:r>
              <a:rPr kumimoji="1" lang="ja-JP" altLang="en-US" b="1"/>
              <a:t>方向予測（次回）</a:t>
            </a:r>
            <a:endParaRPr kumimoji="1" lang="en-US" altLang="ja-JP" b="1" dirty="0"/>
          </a:p>
        </p:txBody>
      </p:sp>
    </p:spTree>
    <p:extLst>
      <p:ext uri="{BB962C8B-B14F-4D97-AF65-F5344CB8AC3E}">
        <p14:creationId xmlns:p14="http://schemas.microsoft.com/office/powerpoint/2010/main" val="18039259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5"/>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a:t>
            </a:r>
            <a:r>
              <a:rPr lang="en-US" altLang="ja-JP" dirty="0"/>
              <a:t>: </a:t>
            </a:r>
            <a:r>
              <a:rPr lang="ja-JP" altLang="en-US" dirty="0"/>
              <a:t> </a:t>
            </a:r>
            <a:endParaRPr lang="en-US" altLang="ja-JP" dirty="0"/>
          </a:p>
          <a:p>
            <a:r>
              <a:rPr kumimoji="1" lang="ja-JP" altLang="en-US" dirty="0"/>
              <a:t>意見や内容へのリクエストもあったら書いてください</a:t>
            </a:r>
            <a:endParaRPr kumimoji="1" lang="en-US" altLang="ja-JP" dirty="0"/>
          </a:p>
          <a:p>
            <a:r>
              <a:rPr kumimoji="1" lang="en-US" altLang="ja-JP" dirty="0">
                <a:solidFill>
                  <a:schemeClr val="accent5"/>
                </a:solidFill>
              </a:rPr>
              <a:t>LMS </a:t>
            </a:r>
            <a:r>
              <a:rPr kumimoji="1" lang="ja-JP" altLang="en-US" dirty="0">
                <a:solidFill>
                  <a:schemeClr val="accent5"/>
                </a:solidFill>
              </a:rPr>
              <a:t>の出席の締め切りは来週の講義開始までに設定してあります</a:t>
            </a:r>
            <a:endParaRPr kumimoji="1" lang="en-US" altLang="ja-JP" dirty="0">
              <a:solidFill>
                <a:schemeClr val="accent5"/>
              </a:solidFill>
            </a:endParaRPr>
          </a:p>
          <a:p>
            <a:pPr lvl="1"/>
            <a:r>
              <a:rPr kumimoji="1" lang="ja-JP" altLang="en-US" dirty="0"/>
              <a:t>仕様上「遅刻」表示になりますが，特に減点等しません</a:t>
            </a:r>
            <a:endParaRPr kumimoji="1" lang="en-US" altLang="ja-JP" dirty="0"/>
          </a:p>
          <a:p>
            <a:pPr lvl="1"/>
            <a:r>
              <a:rPr kumimoji="1" lang="ja-JP" altLang="en-US" dirty="0"/>
              <a:t>来週の講義開始までは感想や質問などを受け付けます</a:t>
            </a:r>
            <a:endParaRPr kumimoji="1" lang="en-US" altLang="ja-JP" dirty="0"/>
          </a:p>
        </p:txBody>
      </p:sp>
    </p:spTree>
    <p:extLst>
      <p:ext uri="{BB962C8B-B14F-4D97-AF65-F5344CB8AC3E}">
        <p14:creationId xmlns:p14="http://schemas.microsoft.com/office/powerpoint/2010/main" val="1013461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45BA461-EB4B-6344-0363-EBCE1294355D}"/>
              </a:ext>
            </a:extLst>
          </p:cNvPr>
          <p:cNvSpPr>
            <a:spLocks noGrp="1"/>
          </p:cNvSpPr>
          <p:nvPr>
            <p:ph type="ctrTitle"/>
          </p:nvPr>
        </p:nvSpPr>
        <p:spPr>
          <a:xfrm>
            <a:off x="2225957" y="2078985"/>
            <a:ext cx="7920088" cy="540006"/>
          </a:xfrm>
        </p:spPr>
        <p:txBody>
          <a:bodyPr/>
          <a:lstStyle/>
          <a:p>
            <a:r>
              <a:rPr lang="ja-JP" altLang="en-US" dirty="0"/>
              <a:t>質問や感想</a:t>
            </a:r>
            <a:endParaRPr lang="en-US" dirty="0"/>
          </a:p>
        </p:txBody>
      </p:sp>
      <p:sp>
        <p:nvSpPr>
          <p:cNvPr id="5" name="字幕 4">
            <a:extLst>
              <a:ext uri="{FF2B5EF4-FFF2-40B4-BE49-F238E27FC236}">
                <a16:creationId xmlns:a16="http://schemas.microsoft.com/office/drawing/2014/main" id="{ED090A9F-2FB3-DADA-E31B-D2E1712125A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17258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パイプラインの所で、</a:t>
            </a:r>
            <a:r>
              <a:rPr kumimoji="1" lang="en-US" altLang="ja-JP" dirty="0"/>
              <a:t>IF, ID, EX, MEM, WB</a:t>
            </a:r>
            <a:r>
              <a:rPr kumimoji="1" lang="ja-JP" altLang="en-US" dirty="0"/>
              <a:t>の流れがありましたが、これはハードウェアに値する部分なのか、ソフトウェア的な概念なのかどちらなのでしょうか？</a:t>
            </a:r>
            <a:endParaRPr kumimoji="1" lang="en-US" altLang="ja-JP" dirty="0"/>
          </a:p>
          <a:p>
            <a:r>
              <a:rPr kumimoji="1" lang="ja-JP" altLang="en-US" dirty="0"/>
              <a:t>ハードウェアとソフトウェアの境目が理解できていません。境目にあるものとして、どのようなものが挙げれれますか？</a:t>
            </a:r>
            <a:r>
              <a:rPr kumimoji="1" lang="en-US" altLang="ja-JP" dirty="0"/>
              <a:t>"</a:t>
            </a:r>
          </a:p>
          <a:p>
            <a:endParaRPr kumimoji="1" lang="ja-JP" altLang="en-US" dirty="0"/>
          </a:p>
        </p:txBody>
      </p:sp>
    </p:spTree>
    <p:extLst>
      <p:ext uri="{BB962C8B-B14F-4D97-AF65-F5344CB8AC3E}">
        <p14:creationId xmlns:p14="http://schemas.microsoft.com/office/powerpoint/2010/main" val="16884627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構造ハザードについてですが、マイクロ命令に分割するなどの対処をとる場合、命令セットを実行するためにハードウェアだけでなくコンパイラも工夫する必要があると思いますが、命令セット、ハードの実現、コンパイラなどはどれを主軸にして設計がスタートするものなのでしょうか？</a:t>
            </a:r>
          </a:p>
          <a:p>
            <a:pPr lvl="1"/>
            <a:endParaRPr kumimoji="1" lang="en-US" altLang="ja-JP" dirty="0"/>
          </a:p>
          <a:p>
            <a:pPr lvl="1"/>
            <a:r>
              <a:rPr kumimoji="1" lang="ja-JP" altLang="en-US" dirty="0"/>
              <a:t>分割はハードがやるので（なのでソフトの互換性が保たれる），コンパイラは関係ないです</a:t>
            </a:r>
          </a:p>
        </p:txBody>
      </p:sp>
    </p:spTree>
    <p:extLst>
      <p:ext uri="{BB962C8B-B14F-4D97-AF65-F5344CB8AC3E}">
        <p14:creationId xmlns:p14="http://schemas.microsoft.com/office/powerpoint/2010/main" val="29823849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ハードウェアで複雑な命令セットをデコードするなんて正気じゃないと思った</a:t>
            </a:r>
          </a:p>
          <a:p>
            <a:r>
              <a:rPr kumimoji="1" lang="ja-JP" altLang="en-US" dirty="0"/>
              <a:t>そういう意味でも</a:t>
            </a:r>
            <a:r>
              <a:rPr kumimoji="1" lang="en-US" altLang="ja-JP" dirty="0"/>
              <a:t>RISC-V</a:t>
            </a:r>
            <a:r>
              <a:rPr kumimoji="1" lang="ja-JP" altLang="en-US" dirty="0"/>
              <a:t>でいろいろ実装できるようになったのはありがたいんだろうなと感じた</a:t>
            </a:r>
          </a:p>
        </p:txBody>
      </p:sp>
    </p:spTree>
    <p:extLst>
      <p:ext uri="{BB962C8B-B14F-4D97-AF65-F5344CB8AC3E}">
        <p14:creationId xmlns:p14="http://schemas.microsoft.com/office/powerpoint/2010/main" val="31453519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6B2EB1-71A8-AC10-1520-B9F79AB336EB}"/>
              </a:ext>
            </a:extLst>
          </p:cNvPr>
          <p:cNvSpPr>
            <a:spLocks noGrp="1"/>
          </p:cNvSpPr>
          <p:nvPr>
            <p:ph type="title"/>
          </p:nvPr>
        </p:nvSpPr>
        <p:spPr/>
        <p:txBody>
          <a:bodyPr/>
          <a:lstStyle/>
          <a:p>
            <a:r>
              <a:rPr kumimoji="1" lang="ja-JP" altLang="en-US" dirty="0"/>
              <a:t>マイクロ命令の分解の例</a:t>
            </a:r>
          </a:p>
        </p:txBody>
      </p:sp>
      <p:sp>
        <p:nvSpPr>
          <p:cNvPr id="3" name="テキスト プレースホルダー 2">
            <a:extLst>
              <a:ext uri="{FF2B5EF4-FFF2-40B4-BE49-F238E27FC236}">
                <a16:creationId xmlns:a16="http://schemas.microsoft.com/office/drawing/2014/main" id="{3A18D376-79BA-DA17-8745-789FB0D99683}"/>
              </a:ext>
            </a:extLst>
          </p:cNvPr>
          <p:cNvSpPr>
            <a:spLocks noGrp="1"/>
          </p:cNvSpPr>
          <p:nvPr>
            <p:ph type="body" sz="quarter" idx="10"/>
          </p:nvPr>
        </p:nvSpPr>
        <p:spPr>
          <a:xfrm>
            <a:off x="2135956" y="1088976"/>
            <a:ext cx="8280092" cy="2880031"/>
          </a:xfrm>
        </p:spPr>
        <p:txBody>
          <a:bodyPr/>
          <a:lstStyle/>
          <a:p>
            <a:r>
              <a:rPr kumimoji="1" lang="ja-JP" altLang="en-US" dirty="0"/>
              <a:t>解析結果をまとめているサイトも</a:t>
            </a:r>
            <a:br>
              <a:rPr kumimoji="1" lang="en-US" altLang="ja-JP" dirty="0"/>
            </a:br>
            <a:r>
              <a:rPr kumimoji="1" lang="en-US" altLang="ja-JP" dirty="0">
                <a:hlinkClick r:id="rId2"/>
              </a:rPr>
              <a:t>https://uops.info/table.html</a:t>
            </a:r>
            <a:br>
              <a:rPr kumimoji="1" lang="en-US" altLang="ja-JP" dirty="0"/>
            </a:br>
            <a:r>
              <a:rPr kumimoji="1" lang="ja-JP" altLang="en-US" dirty="0"/>
              <a:t>下の例は，</a:t>
            </a:r>
            <a:r>
              <a:rPr kumimoji="1" lang="en-US" altLang="ja-JP" dirty="0"/>
              <a:t>x86-64 </a:t>
            </a:r>
            <a:r>
              <a:rPr kumimoji="1" lang="ja-JP" altLang="en-US" dirty="0"/>
              <a:t>の </a:t>
            </a:r>
            <a:r>
              <a:rPr kumimoji="1" lang="en-US" altLang="ja-JP" dirty="0"/>
              <a:t>CMOVBE </a:t>
            </a:r>
            <a:r>
              <a:rPr kumimoji="1" lang="ja-JP" altLang="en-US" dirty="0"/>
              <a:t>命令の </a:t>
            </a:r>
            <a:r>
              <a:rPr kumimoji="1" lang="en-US" altLang="ja-JP" dirty="0"/>
              <a:t>Alder Lake </a:t>
            </a:r>
            <a:r>
              <a:rPr kumimoji="1" lang="ja-JP" altLang="en-US" dirty="0"/>
              <a:t>大きいコアでの</a:t>
            </a:r>
            <a:br>
              <a:rPr kumimoji="1" lang="en-US" altLang="ja-JP" dirty="0"/>
            </a:br>
            <a:r>
              <a:rPr kumimoji="1" lang="ja-JP" altLang="en-US" dirty="0"/>
              <a:t>分解の説明</a:t>
            </a:r>
          </a:p>
        </p:txBody>
      </p:sp>
      <p:pic>
        <p:nvPicPr>
          <p:cNvPr id="5" name="図 4">
            <a:extLst>
              <a:ext uri="{FF2B5EF4-FFF2-40B4-BE49-F238E27FC236}">
                <a16:creationId xmlns:a16="http://schemas.microsoft.com/office/drawing/2014/main" id="{3DFAE755-09E6-10D2-489A-63C11B060A22}"/>
              </a:ext>
            </a:extLst>
          </p:cNvPr>
          <p:cNvPicPr>
            <a:picLocks noChangeAspect="1"/>
          </p:cNvPicPr>
          <p:nvPr/>
        </p:nvPicPr>
        <p:blipFill>
          <a:blip r:embed="rId3"/>
          <a:stretch>
            <a:fillRect/>
          </a:stretch>
        </p:blipFill>
        <p:spPr>
          <a:xfrm>
            <a:off x="5528477" y="3429000"/>
            <a:ext cx="5112006" cy="2534214"/>
          </a:xfrm>
          <a:prstGeom prst="rect">
            <a:avLst/>
          </a:prstGeom>
        </p:spPr>
      </p:pic>
      <p:pic>
        <p:nvPicPr>
          <p:cNvPr id="7" name="図 6">
            <a:extLst>
              <a:ext uri="{FF2B5EF4-FFF2-40B4-BE49-F238E27FC236}">
                <a16:creationId xmlns:a16="http://schemas.microsoft.com/office/drawing/2014/main" id="{6912A4B5-19E4-75AF-8FE0-CD7B92ED4920}"/>
              </a:ext>
            </a:extLst>
          </p:cNvPr>
          <p:cNvPicPr>
            <a:picLocks noChangeAspect="1"/>
          </p:cNvPicPr>
          <p:nvPr/>
        </p:nvPicPr>
        <p:blipFill>
          <a:blip r:embed="rId4"/>
          <a:stretch>
            <a:fillRect/>
          </a:stretch>
        </p:blipFill>
        <p:spPr>
          <a:xfrm>
            <a:off x="1853998" y="3429001"/>
            <a:ext cx="3561998" cy="2539271"/>
          </a:xfrm>
          <a:prstGeom prst="rect">
            <a:avLst/>
          </a:prstGeom>
        </p:spPr>
      </p:pic>
    </p:spTree>
    <p:extLst>
      <p:ext uri="{BB962C8B-B14F-4D97-AF65-F5344CB8AC3E}">
        <p14:creationId xmlns:p14="http://schemas.microsoft.com/office/powerpoint/2010/main" val="6253494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en-US" altLang="ja-JP" dirty="0"/>
              <a:t>x86</a:t>
            </a:r>
            <a:r>
              <a:rPr kumimoji="1" lang="ja-JP" altLang="en-US" dirty="0"/>
              <a:t>や</a:t>
            </a:r>
            <a:r>
              <a:rPr kumimoji="1" lang="en-US" altLang="ja-JP" dirty="0"/>
              <a:t>ARM</a:t>
            </a:r>
            <a:r>
              <a:rPr kumimoji="1" lang="ja-JP" altLang="en-US" dirty="0"/>
              <a:t>についてマイクロ命令に分解することによる商業的意義の点についてもう少し詳しく聞きたいです。（自分が聞き逃した部分もあるかもしれません）</a:t>
            </a:r>
          </a:p>
          <a:p>
            <a:endParaRPr kumimoji="1" lang="ja-JP" altLang="en-US" dirty="0"/>
          </a:p>
        </p:txBody>
      </p:sp>
    </p:spTree>
    <p:extLst>
      <p:ext uri="{BB962C8B-B14F-4D97-AF65-F5344CB8AC3E}">
        <p14:creationId xmlns:p14="http://schemas.microsoft.com/office/powerpoint/2010/main" val="33848329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マイクロ命令の見直し（更新）ってどのように行われているのでしょうか？ハードウェアでの増強の限界ってどれくらいなんでしょうか？</a:t>
            </a:r>
          </a:p>
        </p:txBody>
      </p:sp>
    </p:spTree>
    <p:extLst>
      <p:ext uri="{BB962C8B-B14F-4D97-AF65-F5344CB8AC3E}">
        <p14:creationId xmlns:p14="http://schemas.microsoft.com/office/powerpoint/2010/main" val="2013945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構造ハザードが起きないようにマイクロ命令を作るのが非常に難しいのではないかと感じたが、各メーカーはマイクロ命令の設計と分解にどれほどの労力を費やしたのでしょうか？</a:t>
            </a:r>
          </a:p>
        </p:txBody>
      </p:sp>
    </p:spTree>
    <p:extLst>
      <p:ext uri="{BB962C8B-B14F-4D97-AF65-F5344CB8AC3E}">
        <p14:creationId xmlns:p14="http://schemas.microsoft.com/office/powerpoint/2010/main" val="28057516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ちらっと</a:t>
            </a:r>
            <a:r>
              <a:rPr kumimoji="1" lang="en-US" altLang="ja-JP" dirty="0"/>
              <a:t>RISCV CPU RSD</a:t>
            </a:r>
            <a:r>
              <a:rPr kumimoji="1" lang="ja-JP" altLang="en-US" dirty="0"/>
              <a:t>のお話があって見てみたのですが、ソフトプロセッサとは</a:t>
            </a:r>
            <a:r>
              <a:rPr kumimoji="1" lang="en-US" altLang="ja-JP" dirty="0"/>
              <a:t>FPGA</a:t>
            </a:r>
            <a:r>
              <a:rPr kumimoji="1" lang="ja-JP" altLang="en-US" dirty="0"/>
              <a:t>上で再現されるプロセッサの名称なのでしょうか？普通の</a:t>
            </a:r>
            <a:r>
              <a:rPr kumimoji="1" lang="en-US" altLang="ja-JP" dirty="0"/>
              <a:t>CPU</a:t>
            </a:r>
            <a:r>
              <a:rPr kumimoji="1" lang="ja-JP" altLang="en-US" dirty="0"/>
              <a:t>などとソフトコア</a:t>
            </a:r>
            <a:r>
              <a:rPr kumimoji="1" lang="en-US" altLang="ja-JP" dirty="0"/>
              <a:t>CPU(?)</a:t>
            </a:r>
            <a:r>
              <a:rPr kumimoji="1" lang="ja-JP" altLang="en-US" dirty="0"/>
              <a:t>の違いやソフトプロセッサである意味などが知りたいです。</a:t>
            </a:r>
          </a:p>
        </p:txBody>
      </p:sp>
    </p:spTree>
    <p:extLst>
      <p:ext uri="{BB962C8B-B14F-4D97-AF65-F5344CB8AC3E}">
        <p14:creationId xmlns:p14="http://schemas.microsoft.com/office/powerpoint/2010/main" val="34890984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ストールは少なければ少ないほどよい？というよりはどこで止めるかの判断が難しいのか，だからストール考える場所を限定できるマイクロ命令が熱いということですかね</a:t>
            </a:r>
          </a:p>
          <a:p>
            <a:endParaRPr kumimoji="1" lang="ja-JP" altLang="en-US" dirty="0"/>
          </a:p>
        </p:txBody>
      </p:sp>
    </p:spTree>
    <p:extLst>
      <p:ext uri="{BB962C8B-B14F-4D97-AF65-F5344CB8AC3E}">
        <p14:creationId xmlns:p14="http://schemas.microsoft.com/office/powerpoint/2010/main" val="12746589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また、余談にあったように、実際に非同期で動いているパイプラインの例はあるのでしょうか？</a:t>
            </a:r>
          </a:p>
          <a:p>
            <a:endParaRPr kumimoji="1" lang="ja-JP" altLang="en-US" dirty="0"/>
          </a:p>
        </p:txBody>
      </p:sp>
    </p:spTree>
    <p:extLst>
      <p:ext uri="{BB962C8B-B14F-4D97-AF65-F5344CB8AC3E}">
        <p14:creationId xmlns:p14="http://schemas.microsoft.com/office/powerpoint/2010/main" val="6979032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en-US" altLang="ja-JP" dirty="0"/>
              <a:t>RISC-V</a:t>
            </a:r>
            <a:r>
              <a:rPr kumimoji="1" lang="ja-JP" altLang="en-US" dirty="0"/>
              <a:t>はここまでの話</a:t>
            </a:r>
            <a:r>
              <a:rPr kumimoji="1" lang="en-US" altLang="ja-JP" dirty="0"/>
              <a:t>(</a:t>
            </a:r>
            <a:r>
              <a:rPr kumimoji="1" lang="ja-JP" altLang="en-US" dirty="0"/>
              <a:t>パイプライン実行や、オープンソースであること</a:t>
            </a:r>
            <a:r>
              <a:rPr kumimoji="1" lang="en-US" altLang="ja-JP" dirty="0"/>
              <a:t>)</a:t>
            </a:r>
            <a:r>
              <a:rPr kumimoji="1" lang="ja-JP" altLang="en-US" dirty="0"/>
              <a:t>を聞く限り</a:t>
            </a:r>
            <a:r>
              <a:rPr kumimoji="1" lang="en-US" altLang="ja-JP" dirty="0"/>
              <a:t>x86</a:t>
            </a:r>
            <a:r>
              <a:rPr kumimoji="1" lang="ja-JP" altLang="en-US" dirty="0"/>
              <a:t>や</a:t>
            </a:r>
            <a:r>
              <a:rPr kumimoji="1" lang="en-US" altLang="ja-JP" dirty="0"/>
              <a:t>arm</a:t>
            </a:r>
            <a:r>
              <a:rPr kumimoji="1" lang="ja-JP" altLang="en-US" dirty="0"/>
              <a:t>に比べて後発な分優位性があるように感じられますが、性能が低いのはアーキテクチャの熟成</a:t>
            </a:r>
            <a:r>
              <a:rPr kumimoji="1" lang="en-US" altLang="ja-JP" dirty="0"/>
              <a:t>(?)</a:t>
            </a:r>
            <a:r>
              <a:rPr kumimoji="1" lang="ja-JP" altLang="en-US" dirty="0"/>
              <a:t>が足りないってことなのでしょうか。それとももともと</a:t>
            </a:r>
            <a:r>
              <a:rPr kumimoji="1" lang="en-US" altLang="ja-JP" dirty="0"/>
              <a:t>x86</a:t>
            </a:r>
            <a:r>
              <a:rPr kumimoji="1" lang="ja-JP" altLang="en-US" dirty="0"/>
              <a:t>や</a:t>
            </a:r>
            <a:r>
              <a:rPr kumimoji="1" lang="en-US" altLang="ja-JP" dirty="0"/>
              <a:t>arm</a:t>
            </a:r>
            <a:r>
              <a:rPr kumimoji="1" lang="ja-JP" altLang="en-US" dirty="0"/>
              <a:t>とは求められている点が異なるのでしょうか。</a:t>
            </a:r>
          </a:p>
          <a:p>
            <a:endParaRPr kumimoji="1" lang="ja-JP" altLang="en-US" dirty="0"/>
          </a:p>
        </p:txBody>
      </p:sp>
    </p:spTree>
    <p:extLst>
      <p:ext uri="{BB962C8B-B14F-4D97-AF65-F5344CB8AC3E}">
        <p14:creationId xmlns:p14="http://schemas.microsoft.com/office/powerpoint/2010/main" val="36254879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マイクロ命令は完全に開発者から隠蔽されていますか？例えば構造ハザードが起きない，独自のマイクロ命令を追加して高速化を狙う，といった試みが存在するでしょうか？</a:t>
            </a:r>
          </a:p>
          <a:p>
            <a:endParaRPr kumimoji="1" lang="ja-JP" altLang="en-US" dirty="0"/>
          </a:p>
        </p:txBody>
      </p:sp>
    </p:spTree>
    <p:extLst>
      <p:ext uri="{BB962C8B-B14F-4D97-AF65-F5344CB8AC3E}">
        <p14:creationId xmlns:p14="http://schemas.microsoft.com/office/powerpoint/2010/main" val="27679547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構造ハザードが起きないという制約の下だとマイクロ命令の種類は多くはなさそうですが，種類数はどれくらいでしょうか？</a:t>
            </a:r>
          </a:p>
          <a:p>
            <a:endParaRPr kumimoji="1" lang="ja-JP" altLang="en-US" dirty="0"/>
          </a:p>
        </p:txBody>
      </p:sp>
    </p:spTree>
    <p:extLst>
      <p:ext uri="{BB962C8B-B14F-4D97-AF65-F5344CB8AC3E}">
        <p14:creationId xmlns:p14="http://schemas.microsoft.com/office/powerpoint/2010/main" val="2927206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en-US" altLang="ja-JP" dirty="0"/>
              <a:t>p59</a:t>
            </a:r>
            <a:r>
              <a:rPr kumimoji="1" lang="ja-JP" altLang="en-US" dirty="0"/>
              <a:t>より、</a:t>
            </a:r>
            <a:r>
              <a:rPr kumimoji="1" lang="en-US" altLang="ja-JP" dirty="0"/>
              <a:t>L2 cache</a:t>
            </a:r>
            <a:r>
              <a:rPr kumimoji="1" lang="ja-JP" altLang="en-US" dirty="0"/>
              <a:t>は、命令とデータで分割されているが同じ箇所にまとまっているということでしょうか？</a:t>
            </a:r>
          </a:p>
        </p:txBody>
      </p:sp>
    </p:spTree>
    <p:extLst>
      <p:ext uri="{BB962C8B-B14F-4D97-AF65-F5344CB8AC3E}">
        <p14:creationId xmlns:p14="http://schemas.microsoft.com/office/powerpoint/2010/main" val="25456043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AMD Bulldozer </a:t>
            </a:r>
            <a:r>
              <a:rPr kumimoji="1" lang="ja-JP" altLang="en-US" dirty="0"/>
              <a:t>のチップ写真</a:t>
            </a:r>
          </a:p>
        </p:txBody>
      </p:sp>
      <p:pic>
        <p:nvPicPr>
          <p:cNvPr id="4" name="図 3"/>
          <p:cNvPicPr>
            <a:picLocks noChangeAspect="1"/>
          </p:cNvPicPr>
          <p:nvPr/>
        </p:nvPicPr>
        <p:blipFill>
          <a:blip r:embed="rId2"/>
          <a:stretch>
            <a:fillRect/>
          </a:stretch>
        </p:blipFill>
        <p:spPr>
          <a:xfrm>
            <a:off x="2495961" y="1268976"/>
            <a:ext cx="7492327" cy="3925378"/>
          </a:xfrm>
          <a:prstGeom prst="rect">
            <a:avLst/>
          </a:prstGeom>
        </p:spPr>
      </p:pic>
      <p:sp>
        <p:nvSpPr>
          <p:cNvPr id="3" name="テキスト プレースホルダー 2"/>
          <p:cNvSpPr>
            <a:spLocks noGrp="1"/>
          </p:cNvSpPr>
          <p:nvPr>
            <p:ph type="body" sz="quarter" idx="10"/>
          </p:nvPr>
        </p:nvSpPr>
        <p:spPr>
          <a:xfrm>
            <a:off x="2135956" y="5769027"/>
            <a:ext cx="8280092" cy="539699"/>
          </a:xfrm>
        </p:spPr>
        <p:txBody>
          <a:bodyPr/>
          <a:lstStyle/>
          <a:p>
            <a:r>
              <a:rPr lang="en-US" altLang="ja-JP" sz="1100" dirty="0"/>
              <a:t>Tim Fischer1 , Srikanth Arekapudi2 , Eric Busta1 , Carl Dietz3 , Michael Golden2 , Scott Hilker2 , Aaron Horiuchi1 , Kevin A. Hurd1 , Dave Johnson1 , Hugh McIntyre2 , Samuel Naffziger1 , James Vinh2 , Jonathan White4 , Kathryn Wilcox, Design Solutions for the Bulldozer 32nm SOI 2-Core Processor Module in an 8-Core CPU, ISSCC 2011 </a:t>
            </a:r>
            <a:r>
              <a:rPr lang="ja-JP" altLang="en-US" sz="1100" dirty="0"/>
              <a:t>より</a:t>
            </a:r>
          </a:p>
        </p:txBody>
      </p:sp>
      <p:sp>
        <p:nvSpPr>
          <p:cNvPr id="6" name="正方形/長方形 5"/>
          <p:cNvSpPr/>
          <p:nvPr/>
        </p:nvSpPr>
        <p:spPr bwMode="auto">
          <a:xfrm>
            <a:off x="2765963" y="2798993"/>
            <a:ext cx="180002" cy="540006"/>
          </a:xfrm>
          <a:prstGeom prst="rect">
            <a:avLst/>
          </a:prstGeom>
          <a:solidFill>
            <a:srgbClr val="009999">
              <a:alpha val="50000"/>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ALU</a:t>
            </a:r>
            <a:endParaRPr lang="ja-JP" altLang="en-US" sz="1200" b="1" dirty="0">
              <a:solidFill>
                <a:schemeClr val="bg1"/>
              </a:solidFill>
              <a:latin typeface="+mn-ea"/>
            </a:endParaRPr>
          </a:p>
        </p:txBody>
      </p:sp>
      <p:sp>
        <p:nvSpPr>
          <p:cNvPr id="7" name="正方形/長方形 6"/>
          <p:cNvSpPr/>
          <p:nvPr/>
        </p:nvSpPr>
        <p:spPr bwMode="auto">
          <a:xfrm>
            <a:off x="6005999" y="2798993"/>
            <a:ext cx="180002" cy="540006"/>
          </a:xfrm>
          <a:prstGeom prst="rect">
            <a:avLst/>
          </a:prstGeom>
          <a:solidFill>
            <a:srgbClr val="009999">
              <a:alpha val="50000"/>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ALU</a:t>
            </a:r>
            <a:endParaRPr lang="ja-JP" altLang="en-US" sz="1200" b="1" dirty="0">
              <a:solidFill>
                <a:schemeClr val="bg1"/>
              </a:solidFill>
              <a:latin typeface="+mn-ea"/>
            </a:endParaRPr>
          </a:p>
        </p:txBody>
      </p:sp>
      <p:sp>
        <p:nvSpPr>
          <p:cNvPr id="8" name="正方形/長方形 7"/>
          <p:cNvSpPr/>
          <p:nvPr/>
        </p:nvSpPr>
        <p:spPr bwMode="auto">
          <a:xfrm>
            <a:off x="3755974" y="1808983"/>
            <a:ext cx="1080012" cy="900009"/>
          </a:xfrm>
          <a:prstGeom prst="rect">
            <a:avLst/>
          </a:prstGeom>
          <a:solidFill>
            <a:srgbClr val="9933FF">
              <a:alpha val="49804"/>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b="1" dirty="0">
                <a:solidFill>
                  <a:schemeClr val="bg1"/>
                </a:solidFill>
                <a:latin typeface="+mn-ea"/>
              </a:rPr>
              <a:t>Decode</a:t>
            </a:r>
            <a:endParaRPr lang="ja-JP" altLang="en-US" sz="1400" b="1" dirty="0">
              <a:solidFill>
                <a:schemeClr val="bg1"/>
              </a:solidFill>
              <a:latin typeface="+mn-ea"/>
            </a:endParaRPr>
          </a:p>
        </p:txBody>
      </p:sp>
      <p:sp>
        <p:nvSpPr>
          <p:cNvPr id="9" name="正方形/長方形 8"/>
          <p:cNvSpPr/>
          <p:nvPr/>
        </p:nvSpPr>
        <p:spPr bwMode="auto">
          <a:xfrm>
            <a:off x="3755974" y="1358978"/>
            <a:ext cx="1080012" cy="450005"/>
          </a:xfrm>
          <a:prstGeom prst="rect">
            <a:avLst/>
          </a:prstGeom>
          <a:solidFill>
            <a:srgbClr val="9933FF">
              <a:alpha val="49804"/>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b="1" dirty="0">
                <a:solidFill>
                  <a:schemeClr val="bg1"/>
                </a:solidFill>
                <a:latin typeface="+mn-ea"/>
              </a:rPr>
              <a:t>Microcode</a:t>
            </a:r>
            <a:br>
              <a:rPr lang="en-US" altLang="ja-JP" sz="1400" b="1" dirty="0">
                <a:solidFill>
                  <a:schemeClr val="bg1"/>
                </a:solidFill>
                <a:latin typeface="+mn-ea"/>
              </a:rPr>
            </a:br>
            <a:r>
              <a:rPr lang="en-US" altLang="ja-JP" sz="1400" b="1" dirty="0">
                <a:solidFill>
                  <a:schemeClr val="bg1"/>
                </a:solidFill>
                <a:latin typeface="+mn-ea"/>
              </a:rPr>
              <a:t>ROM</a:t>
            </a:r>
            <a:endParaRPr lang="ja-JP" altLang="en-US" sz="1400" b="1" dirty="0">
              <a:solidFill>
                <a:schemeClr val="bg1"/>
              </a:solidFill>
              <a:latin typeface="+mn-ea"/>
            </a:endParaRPr>
          </a:p>
        </p:txBody>
      </p:sp>
    </p:spTree>
    <p:extLst>
      <p:ext uri="{BB962C8B-B14F-4D97-AF65-F5344CB8AC3E}">
        <p14:creationId xmlns:p14="http://schemas.microsoft.com/office/powerpoint/2010/main" val="42823651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マイクロコードに分解するのは構造ハザード解決以外にもパッチを当てれるようになるなどの利点があるようだが、</a:t>
            </a:r>
            <a:r>
              <a:rPr kumimoji="1" lang="en-US" altLang="ja-JP" dirty="0"/>
              <a:t>RISC-V</a:t>
            </a:r>
            <a:r>
              <a:rPr kumimoji="1" lang="ja-JP" altLang="en-US" dirty="0"/>
              <a:t>で真面目にチップを作るとなったときにはマイクロコードへの分解みたいなステージをいれるのかどうかは気になる</a:t>
            </a:r>
          </a:p>
        </p:txBody>
      </p:sp>
    </p:spTree>
    <p:extLst>
      <p:ext uri="{BB962C8B-B14F-4D97-AF65-F5344CB8AC3E}">
        <p14:creationId xmlns:p14="http://schemas.microsoft.com/office/powerpoint/2010/main" val="40746000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講義で紹介された</a:t>
            </a:r>
            <a:r>
              <a:rPr kumimoji="1" lang="en-US" altLang="ja-JP" dirty="0"/>
              <a:t>Intel</a:t>
            </a:r>
            <a:r>
              <a:rPr kumimoji="1" lang="ja-JP" altLang="en-US" dirty="0"/>
              <a:t>の</a:t>
            </a:r>
            <a:r>
              <a:rPr kumimoji="1" lang="en-US" altLang="ja-JP" dirty="0"/>
              <a:t>Errata List</a:t>
            </a:r>
            <a:r>
              <a:rPr kumimoji="1" lang="ja-JP" altLang="en-US" dirty="0"/>
              <a:t>を見てみると、対処法として「</a:t>
            </a:r>
            <a:r>
              <a:rPr kumimoji="1" lang="en-US" altLang="ja-JP" dirty="0"/>
              <a:t>It is possible for the BIOS to contain a workaround for this erratum.</a:t>
            </a:r>
            <a:r>
              <a:rPr kumimoji="1" lang="ja-JP" altLang="en-US" dirty="0"/>
              <a:t>」とされているエラッタが多いのですが、</a:t>
            </a:r>
            <a:r>
              <a:rPr kumimoji="1" lang="en-US" altLang="ja-JP" dirty="0"/>
              <a:t>BIOS</a:t>
            </a:r>
            <a:r>
              <a:rPr kumimoji="1" lang="ja-JP" altLang="en-US" dirty="0"/>
              <a:t>に</a:t>
            </a:r>
            <a:r>
              <a:rPr kumimoji="1" lang="en-US" altLang="ja-JP" dirty="0"/>
              <a:t>CPU</a:t>
            </a:r>
            <a:r>
              <a:rPr kumimoji="1" lang="ja-JP" altLang="en-US" dirty="0"/>
              <a:t>の挙動を変更する権限があるのでしょうか？</a:t>
            </a:r>
            <a:br>
              <a:rPr kumimoji="1" lang="en-US" altLang="ja-JP" dirty="0"/>
            </a:br>
            <a:br>
              <a:rPr kumimoji="1" lang="en-US" altLang="ja-JP" dirty="0"/>
            </a:br>
            <a:r>
              <a:rPr kumimoji="1" lang="ja-JP" altLang="en-US" dirty="0"/>
              <a:t>例えば、</a:t>
            </a:r>
            <a:r>
              <a:rPr kumimoji="1" lang="en-US" altLang="ja-JP" dirty="0"/>
              <a:t>TGL032</a:t>
            </a:r>
            <a:r>
              <a:rPr kumimoji="1" lang="ja-JP" altLang="en-US" dirty="0"/>
              <a:t>の概要は「</a:t>
            </a:r>
            <a:r>
              <a:rPr kumimoji="1" lang="en-US" altLang="ja-JP" dirty="0"/>
              <a:t>The processor may hang when exiting a Package (PKG) C9 or deeper state with a machine check exception (MCACOD=0402H, MSCOD=0471H).</a:t>
            </a:r>
            <a:r>
              <a:rPr kumimoji="1" lang="ja-JP" altLang="en-US" dirty="0"/>
              <a:t>」となっていますが、</a:t>
            </a:r>
            <a:r>
              <a:rPr kumimoji="1" lang="en-US" altLang="ja-JP" dirty="0"/>
              <a:t>BIOS</a:t>
            </a:r>
            <a:r>
              <a:rPr kumimoji="1" lang="ja-JP" altLang="en-US" dirty="0"/>
              <a:t>でこの</a:t>
            </a:r>
            <a:r>
              <a:rPr kumimoji="1" lang="en-US" altLang="ja-JP" dirty="0"/>
              <a:t>machine check exception</a:t>
            </a:r>
            <a:r>
              <a:rPr kumimoji="1" lang="ja-JP" altLang="en-US" dirty="0"/>
              <a:t>を握り潰す形でエラッタを回避するのでしょうか。</a:t>
            </a:r>
          </a:p>
        </p:txBody>
      </p:sp>
    </p:spTree>
    <p:extLst>
      <p:ext uri="{BB962C8B-B14F-4D97-AF65-F5344CB8AC3E}">
        <p14:creationId xmlns:p14="http://schemas.microsoft.com/office/powerpoint/2010/main" val="32064168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ja-JP" altLang="en-US" dirty="0"/>
              <a:t>これと関連するかはわからないが、マイクロ命令分割と、並列処理を実現するための</a:t>
            </a:r>
            <a:r>
              <a:rPr kumimoji="1" lang="en-US" altLang="ja-JP" dirty="0"/>
              <a:t>atomic</a:t>
            </a:r>
            <a:r>
              <a:rPr kumimoji="1" lang="ja-JP" altLang="en-US" dirty="0"/>
              <a:t>な命令は両方存在して問題ないのか気になった。</a:t>
            </a:r>
          </a:p>
        </p:txBody>
      </p:sp>
    </p:spTree>
    <p:extLst>
      <p:ext uri="{BB962C8B-B14F-4D97-AF65-F5344CB8AC3E}">
        <p14:creationId xmlns:p14="http://schemas.microsoft.com/office/powerpoint/2010/main" val="6926533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en-US" altLang="ja-JP" dirty="0"/>
              <a:t>OS</a:t>
            </a:r>
            <a:r>
              <a:rPr kumimoji="1" lang="ja-JP" altLang="en-US" dirty="0"/>
              <a:t>側から</a:t>
            </a:r>
            <a:r>
              <a:rPr kumimoji="1" lang="en-US" altLang="ja-JP" dirty="0"/>
              <a:t>CPU</a:t>
            </a:r>
            <a:r>
              <a:rPr kumimoji="1" lang="ja-JP" altLang="en-US" dirty="0"/>
              <a:t>の挙動を変更できてしまうと、チートツールなどに用いられるような悪意のあるコードを挿入できるリスクは生じないのだろうかという疑問を持った。</a:t>
            </a:r>
          </a:p>
        </p:txBody>
      </p:sp>
    </p:spTree>
    <p:extLst>
      <p:ext uri="{BB962C8B-B14F-4D97-AF65-F5344CB8AC3E}">
        <p14:creationId xmlns:p14="http://schemas.microsoft.com/office/powerpoint/2010/main" val="21758378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kumimoji="1" lang="en-US" altLang="ja-JP" dirty="0"/>
              <a:t>x86_64</a:t>
            </a:r>
            <a:r>
              <a:rPr kumimoji="1" lang="ja-JP" altLang="en-US" dirty="0"/>
              <a:t>では</a:t>
            </a:r>
            <a:r>
              <a:rPr kumimoji="1" lang="en-US" altLang="ja-JP" dirty="0"/>
              <a:t>lea </a:t>
            </a:r>
            <a:r>
              <a:rPr kumimoji="1" lang="en-US" altLang="ja-JP" dirty="0" err="1"/>
              <a:t>eax</a:t>
            </a:r>
            <a:r>
              <a:rPr kumimoji="1" lang="en-US" altLang="ja-JP" dirty="0"/>
              <a:t>, [ebx+4]</a:t>
            </a:r>
            <a:r>
              <a:rPr kumimoji="1" lang="ja-JP" altLang="en-US" dirty="0"/>
              <a:t>のようなパイプラインの実装依存の</a:t>
            </a:r>
            <a:r>
              <a:rPr kumimoji="1" lang="en-US" altLang="ja-JP" dirty="0"/>
              <a:t>Zero-clock</a:t>
            </a:r>
            <a:r>
              <a:rPr kumimoji="1" lang="ja-JP" altLang="en-US" dirty="0"/>
              <a:t>命令を使ってる専用演算器は命令全体のクロック数に影響しますか？</a:t>
            </a:r>
          </a:p>
          <a:p>
            <a:r>
              <a:rPr kumimoji="1" lang="ja-JP" altLang="en-US" dirty="0"/>
              <a:t>それと、</a:t>
            </a:r>
            <a:r>
              <a:rPr kumimoji="1" lang="en-US" altLang="ja-JP" dirty="0"/>
              <a:t>intel 14</a:t>
            </a:r>
            <a:r>
              <a:rPr kumimoji="1" lang="ja-JP" altLang="en-US" dirty="0"/>
              <a:t>世代における高周波数の時の動作不具合は、構造ハザードと関係ありますか？</a:t>
            </a:r>
            <a:r>
              <a:rPr kumimoji="1" lang="en-US" altLang="ja-JP" dirty="0"/>
              <a:t>"</a:t>
            </a:r>
          </a:p>
          <a:p>
            <a:endParaRPr kumimoji="1" lang="ja-JP" altLang="en-US" dirty="0"/>
          </a:p>
        </p:txBody>
      </p:sp>
    </p:spTree>
    <p:extLst>
      <p:ext uri="{BB962C8B-B14F-4D97-AF65-F5344CB8AC3E}">
        <p14:creationId xmlns:p14="http://schemas.microsoft.com/office/powerpoint/2010/main" val="15424434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8064A2"/>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cerulean</Template>
  <TotalTime>57967</TotalTime>
  <Words>6628</Words>
  <Application>Microsoft Office PowerPoint</Application>
  <PresentationFormat>ワイド画面</PresentationFormat>
  <Paragraphs>1416</Paragraphs>
  <Slides>108</Slides>
  <Notes>16</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108</vt:i4>
      </vt:variant>
    </vt:vector>
  </HeadingPairs>
  <TitlesOfParts>
    <vt:vector size="121" baseType="lpstr">
      <vt:lpstr>HG丸ｺﾞｼｯｸM-PRO</vt:lpstr>
      <vt:lpstr>MeiryoKe_PGothic</vt:lpstr>
      <vt:lpstr>ＭＳ Ｐゴシック</vt:lpstr>
      <vt:lpstr>メイリオ</vt:lpstr>
      <vt:lpstr>Arial Narrow</vt:lpstr>
      <vt:lpstr>Calibri</vt:lpstr>
      <vt:lpstr>Cambria Math</vt:lpstr>
      <vt:lpstr>Consolas</vt:lpstr>
      <vt:lpstr>Courier New</vt:lpstr>
      <vt:lpstr>Segoe UI</vt:lpstr>
      <vt:lpstr>Verdana</vt:lpstr>
      <vt:lpstr>Wingdings</vt:lpstr>
      <vt:lpstr>cerulean</vt:lpstr>
      <vt:lpstr>先進計算機構成論 05</vt:lpstr>
      <vt:lpstr>前回の内容</vt:lpstr>
      <vt:lpstr>今日の内容</vt:lpstr>
      <vt:lpstr>非構造ハザード</vt:lpstr>
      <vt:lpstr>非構造ハザード</vt:lpstr>
      <vt:lpstr>バックエッジとは：逆方向（右から左）にいく信号</vt:lpstr>
      <vt:lpstr>データ・ハザード</vt:lpstr>
      <vt:lpstr>データ・ハザード</vt:lpstr>
      <vt:lpstr>データ・ハザード</vt:lpstr>
      <vt:lpstr>データ・ハザードの解消方法</vt:lpstr>
      <vt:lpstr>１．ストールさせる</vt:lpstr>
      <vt:lpstr>2. 遅延スロット（=ハードではなにもしない）</vt:lpstr>
      <vt:lpstr>2. 遅延スロット（=ハードではなにもしない）</vt:lpstr>
      <vt:lpstr>NOP の挿入</vt:lpstr>
      <vt:lpstr>遅延スロットの利点</vt:lpstr>
      <vt:lpstr>遅延スロットの欠点</vt:lpstr>
      <vt:lpstr>遅延スロットの欠点２</vt:lpstr>
      <vt:lpstr>データ・ハザードの解消方法</vt:lpstr>
      <vt:lpstr>フォワーディング</vt:lpstr>
      <vt:lpstr>フォワーディングの回路</vt:lpstr>
      <vt:lpstr>フォワーディングの利点</vt:lpstr>
      <vt:lpstr>フォワーディングの問題</vt:lpstr>
      <vt:lpstr>フォワーディングの問題</vt:lpstr>
      <vt:lpstr>ロードについては，完全に解決はできない</vt:lpstr>
      <vt:lpstr>データ・ハザードの解消方法</vt:lpstr>
      <vt:lpstr>マルチスレッディング（MT: Multi threading）</vt:lpstr>
      <vt:lpstr>マルチスレッディング</vt:lpstr>
      <vt:lpstr>マルチスレッディングの利点と欠点</vt:lpstr>
      <vt:lpstr>データ・ハザードのまとめ</vt:lpstr>
      <vt:lpstr>制御ハザード</vt:lpstr>
      <vt:lpstr>分岐命令の処理と制御ハザード</vt:lpstr>
      <vt:lpstr>制御ハザードの解消方法</vt:lpstr>
      <vt:lpstr>分岐予測</vt:lpstr>
      <vt:lpstr>分岐予測ペナルティ</vt:lpstr>
      <vt:lpstr>大規模な高性能プロセッサの場合</vt:lpstr>
      <vt:lpstr>命令パイプラインと性能</vt:lpstr>
      <vt:lpstr>もくじ</vt:lpstr>
      <vt:lpstr>パイプライン化によるスループット向上</vt:lpstr>
      <vt:lpstr>パイプライン化の意味</vt:lpstr>
      <vt:lpstr>パイプライン化によるクロック周期の短縮 クロックの立ち上がりごとに，１命令が処理</vt:lpstr>
      <vt:lpstr>ステージ内の信号の伝播を考える</vt:lpstr>
      <vt:lpstr>２段にパイプライン化した場合</vt:lpstr>
      <vt:lpstr>4段にパイプライン化した場合</vt:lpstr>
      <vt:lpstr>パイプライン化の限界</vt:lpstr>
      <vt:lpstr>回路的な理由</vt:lpstr>
      <vt:lpstr>D-FF の回路</vt:lpstr>
      <vt:lpstr>D-FF の動作 ① クロック信号が Low にあるとき</vt:lpstr>
      <vt:lpstr>D-FF の動作 ② クロック信号の立ち上がり</vt:lpstr>
      <vt:lpstr>D-FF の動作 ③ クロック信号が High</vt:lpstr>
      <vt:lpstr>D-FF の動作 ④ クロック信号の立ち下がり</vt:lpstr>
      <vt:lpstr>D-FF の遅延</vt:lpstr>
      <vt:lpstr>理由２：消費電力と熱</vt:lpstr>
      <vt:lpstr>パイプライン化の限界</vt:lpstr>
      <vt:lpstr>アーキテクチャ的な理由による実効性能の限界</vt:lpstr>
      <vt:lpstr>バックエッジ：逆方向（右から左）にいく信号</vt:lpstr>
      <vt:lpstr>問題となるバックエッジ</vt:lpstr>
      <vt:lpstr>演算器のフォワーディング</vt:lpstr>
      <vt:lpstr>演算器のパイプライン化</vt:lpstr>
      <vt:lpstr>演算器をパイプライン化した場合の問題</vt:lpstr>
      <vt:lpstr>問題となるバックエッジ</vt:lpstr>
      <vt:lpstr>ロードによるデータ・メモリの読み出し</vt:lpstr>
      <vt:lpstr>問題となるバックエッジ</vt:lpstr>
      <vt:lpstr>分岐予測</vt:lpstr>
      <vt:lpstr>分岐予測ペナルティ</vt:lpstr>
      <vt:lpstr>分岐予測ペナルティの大きさ</vt:lpstr>
      <vt:lpstr>パイプライン化の限界のまとめ</vt:lpstr>
      <vt:lpstr>実際の CPU のパイプライン段数</vt:lpstr>
      <vt:lpstr>Sony/IBM/東芝 Cell (SPE) Cell Broadband Engine Architecture and its first implementation—A performance view より</vt:lpstr>
      <vt:lpstr>AMD JAGUAR "JAGUAR” AMD’s Next Generation Low Power x86 Core より</vt:lpstr>
      <vt:lpstr>ARM Cortex-A15  Exploring the Design of the Cortex-A15 Processor ARM’s next generation mobile applications processor より</vt:lpstr>
      <vt:lpstr>分岐予測</vt:lpstr>
      <vt:lpstr>もくじ</vt:lpstr>
      <vt:lpstr>用語の定義（１）</vt:lpstr>
      <vt:lpstr>用語の定義（２）</vt:lpstr>
      <vt:lpstr>用語の定義（３）</vt:lpstr>
      <vt:lpstr>分岐予測</vt:lpstr>
      <vt:lpstr>１．分岐かどうか予測の必要性</vt:lpstr>
      <vt:lpstr>２．分岐先ターゲットの予測の必要性</vt:lpstr>
      <vt:lpstr>BTB（Branch Target Buffer）による予測</vt:lpstr>
      <vt:lpstr>BTB（Branch Target Buffer）による予測</vt:lpstr>
      <vt:lpstr>BTB による予測（分岐命令の場合）</vt:lpstr>
      <vt:lpstr>BTB による予測（分岐以外の場合）</vt:lpstr>
      <vt:lpstr>BTB の特徴</vt:lpstr>
      <vt:lpstr>BTB の詳細</vt:lpstr>
      <vt:lpstr>分岐かどうか&amp;分岐先ターゲット予測のまとめ</vt:lpstr>
      <vt:lpstr>分岐予測</vt:lpstr>
      <vt:lpstr>出欠と感想</vt:lpstr>
      <vt:lpstr>質問や感想</vt:lpstr>
      <vt:lpstr>質問とか回答など</vt:lpstr>
      <vt:lpstr>質問とか回答など</vt:lpstr>
      <vt:lpstr>質問とか回答など</vt:lpstr>
      <vt:lpstr>マイクロ命令の分解の例</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AMD Bulldozer のチップ写真</vt:lpstr>
      <vt:lpstr>質問とか回答など</vt:lpstr>
      <vt:lpstr>質問とか回答など</vt:lpstr>
      <vt:lpstr>質問とか回答など</vt:lpstr>
      <vt:lpstr>質問とか回答など</vt:lpstr>
      <vt:lpstr>質問とか回答など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12314</cp:revision>
  <cp:lastPrinted>2014-12-10T13:40:48Z</cp:lastPrinted>
  <dcterms:created xsi:type="dcterms:W3CDTF">2014-11-17T10:53:59Z</dcterms:created>
  <dcterms:modified xsi:type="dcterms:W3CDTF">2026-05-25T05:31:39Z</dcterms:modified>
</cp:coreProperties>
</file>