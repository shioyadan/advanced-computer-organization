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9" r:id="rId1"/>
  </p:sldMasterIdLst>
  <p:notesMasterIdLst>
    <p:notesMasterId r:id="rId40"/>
  </p:notesMasterIdLst>
  <p:sldIdLst>
    <p:sldId id="256" r:id="rId2"/>
    <p:sldId id="257" r:id="rId3"/>
    <p:sldId id="264" r:id="rId4"/>
    <p:sldId id="485" r:id="rId5"/>
    <p:sldId id="823" r:id="rId6"/>
    <p:sldId id="265" r:id="rId7"/>
    <p:sldId id="278" r:id="rId8"/>
    <p:sldId id="824" r:id="rId9"/>
    <p:sldId id="486" r:id="rId10"/>
    <p:sldId id="825" r:id="rId11"/>
    <p:sldId id="826" r:id="rId12"/>
    <p:sldId id="261" r:id="rId13"/>
    <p:sldId id="274" r:id="rId14"/>
    <p:sldId id="260" r:id="rId15"/>
    <p:sldId id="259" r:id="rId16"/>
    <p:sldId id="269" r:id="rId17"/>
    <p:sldId id="357" r:id="rId18"/>
    <p:sldId id="359" r:id="rId19"/>
    <p:sldId id="361" r:id="rId20"/>
    <p:sldId id="487" r:id="rId21"/>
    <p:sldId id="488" r:id="rId22"/>
    <p:sldId id="358" r:id="rId23"/>
    <p:sldId id="828" r:id="rId24"/>
    <p:sldId id="829" r:id="rId25"/>
    <p:sldId id="830" r:id="rId26"/>
    <p:sldId id="831" r:id="rId27"/>
    <p:sldId id="832" r:id="rId28"/>
    <p:sldId id="833" r:id="rId29"/>
    <p:sldId id="834" r:id="rId30"/>
    <p:sldId id="835" r:id="rId31"/>
    <p:sldId id="836" r:id="rId32"/>
    <p:sldId id="277" r:id="rId33"/>
    <p:sldId id="371" r:id="rId34"/>
    <p:sldId id="270" r:id="rId35"/>
    <p:sldId id="273" r:id="rId36"/>
    <p:sldId id="489" r:id="rId37"/>
    <p:sldId id="276" r:id="rId38"/>
    <p:sldId id="827" r:id="rId3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99"/>
    <a:srgbClr val="009999"/>
    <a:srgbClr val="FFFFFF"/>
    <a:srgbClr val="31869D"/>
    <a:srgbClr val="4444E8"/>
    <a:srgbClr val="4E4EF6"/>
    <a:srgbClr val="5555FF"/>
    <a:srgbClr val="4141FF"/>
    <a:srgbClr val="6666FF"/>
    <a:srgbClr val="2525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00" autoAdjust="0"/>
    <p:restoredTop sz="91397" autoAdjust="0"/>
  </p:normalViewPr>
  <p:slideViewPr>
    <p:cSldViewPr>
      <p:cViewPr>
        <p:scale>
          <a:sx n="100" d="100"/>
          <a:sy n="100" d="100"/>
        </p:scale>
        <p:origin x="1704" y="1404"/>
      </p:cViewPr>
      <p:guideLst>
        <p:guide orient="horz" pos="2160"/>
        <p:guide pos="3840"/>
      </p:guideLst>
    </p:cSldViewPr>
  </p:slideViewPr>
  <p:outlineViewPr>
    <p:cViewPr>
      <p:scale>
        <a:sx n="33" d="100"/>
        <a:sy n="33" d="100"/>
      </p:scale>
      <p:origin x="0" y="-22210"/>
    </p:cViewPr>
  </p:outlineViewPr>
  <p:notesTextViewPr>
    <p:cViewPr>
      <p:scale>
        <a:sx n="100" d="100"/>
        <a:sy n="100" d="100"/>
      </p:scale>
      <p:origin x="0" y="0"/>
    </p:cViewPr>
  </p:notesTextViewPr>
  <p:notesViewPr>
    <p:cSldViewPr>
      <p:cViewPr varScale="1">
        <p:scale>
          <a:sx n="65" d="100"/>
          <a:sy n="65" d="100"/>
        </p:scale>
        <p:origin x="2386" y="62"/>
      </p:cViewPr>
      <p:guideLst/>
    </p:cSldViewPr>
  </p:notesViewPr>
  <p:gridSpacing cx="90001" cy="90001"/>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576771369207009"/>
          <c:y val="4.1972583283353591E-2"/>
          <c:w val="0.8852608070436645"/>
          <c:h val="0.75852409720700076"/>
        </c:manualLayout>
      </c:layout>
      <c:scatterChart>
        <c:scatterStyle val="line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dat!$A$1:$BD$1</c:f>
              <c:numCache>
                <c:formatCode>General</c:formatCode>
                <c:ptCount val="56"/>
                <c:pt idx="0">
                  <c:v>4</c:v>
                </c:pt>
                <c:pt idx="1">
                  <c:v>5</c:v>
                </c:pt>
                <c:pt idx="2">
                  <c:v>6</c:v>
                </c:pt>
                <c:pt idx="3">
                  <c:v>7</c:v>
                </c:pt>
                <c:pt idx="4">
                  <c:v>9</c:v>
                </c:pt>
                <c:pt idx="5">
                  <c:v>12</c:v>
                </c:pt>
                <c:pt idx="6">
                  <c:v>15</c:v>
                </c:pt>
                <c:pt idx="7">
                  <c:v>19</c:v>
                </c:pt>
                <c:pt idx="8">
                  <c:v>23</c:v>
                </c:pt>
                <c:pt idx="9">
                  <c:v>29</c:v>
                </c:pt>
                <c:pt idx="10">
                  <c:v>37</c:v>
                </c:pt>
                <c:pt idx="11">
                  <c:v>46</c:v>
                </c:pt>
                <c:pt idx="12">
                  <c:v>58</c:v>
                </c:pt>
                <c:pt idx="13">
                  <c:v>72</c:v>
                </c:pt>
                <c:pt idx="14">
                  <c:v>90</c:v>
                </c:pt>
                <c:pt idx="15">
                  <c:v>113</c:v>
                </c:pt>
                <c:pt idx="16">
                  <c:v>142</c:v>
                </c:pt>
                <c:pt idx="17">
                  <c:v>177</c:v>
                </c:pt>
                <c:pt idx="18">
                  <c:v>221</c:v>
                </c:pt>
                <c:pt idx="19">
                  <c:v>277</c:v>
                </c:pt>
                <c:pt idx="20">
                  <c:v>346</c:v>
                </c:pt>
                <c:pt idx="21">
                  <c:v>433</c:v>
                </c:pt>
                <c:pt idx="22">
                  <c:v>541</c:v>
                </c:pt>
                <c:pt idx="23">
                  <c:v>677</c:v>
                </c:pt>
                <c:pt idx="24">
                  <c:v>846</c:v>
                </c:pt>
                <c:pt idx="25">
                  <c:v>1058</c:v>
                </c:pt>
                <c:pt idx="26">
                  <c:v>1322</c:v>
                </c:pt>
                <c:pt idx="27">
                  <c:v>1653</c:v>
                </c:pt>
                <c:pt idx="28">
                  <c:v>2066</c:v>
                </c:pt>
                <c:pt idx="29">
                  <c:v>2583</c:v>
                </c:pt>
                <c:pt idx="30">
                  <c:v>3229</c:v>
                </c:pt>
                <c:pt idx="31">
                  <c:v>4036</c:v>
                </c:pt>
                <c:pt idx="32">
                  <c:v>5046</c:v>
                </c:pt>
                <c:pt idx="33">
                  <c:v>6307</c:v>
                </c:pt>
                <c:pt idx="34">
                  <c:v>7884</c:v>
                </c:pt>
                <c:pt idx="35">
                  <c:v>9855</c:v>
                </c:pt>
                <c:pt idx="36">
                  <c:v>12319</c:v>
                </c:pt>
                <c:pt idx="37">
                  <c:v>15399</c:v>
                </c:pt>
                <c:pt idx="38">
                  <c:v>19249</c:v>
                </c:pt>
                <c:pt idx="39">
                  <c:v>24061</c:v>
                </c:pt>
                <c:pt idx="40">
                  <c:v>30076</c:v>
                </c:pt>
                <c:pt idx="41">
                  <c:v>37595</c:v>
                </c:pt>
                <c:pt idx="42">
                  <c:v>46994</c:v>
                </c:pt>
                <c:pt idx="43">
                  <c:v>58743</c:v>
                </c:pt>
                <c:pt idx="44">
                  <c:v>73429</c:v>
                </c:pt>
                <c:pt idx="45">
                  <c:v>91786</c:v>
                </c:pt>
                <c:pt idx="46">
                  <c:v>114733</c:v>
                </c:pt>
                <c:pt idx="47">
                  <c:v>143416</c:v>
                </c:pt>
                <c:pt idx="48">
                  <c:v>179271</c:v>
                </c:pt>
                <c:pt idx="49">
                  <c:v>224088</c:v>
                </c:pt>
                <c:pt idx="50">
                  <c:v>280110</c:v>
                </c:pt>
                <c:pt idx="51">
                  <c:v>350138</c:v>
                </c:pt>
                <c:pt idx="52">
                  <c:v>437673</c:v>
                </c:pt>
                <c:pt idx="53">
                  <c:v>547091</c:v>
                </c:pt>
                <c:pt idx="54">
                  <c:v>683864</c:v>
                </c:pt>
                <c:pt idx="55">
                  <c:v>854830</c:v>
                </c:pt>
              </c:numCache>
            </c:numRef>
          </c:xVal>
          <c:yVal>
            <c:numRef>
              <c:f>dat!$A$2:$BD$2</c:f>
              <c:numCache>
                <c:formatCode>General</c:formatCode>
                <c:ptCount val="56"/>
                <c:pt idx="0">
                  <c:v>1.3709070000000001</c:v>
                </c:pt>
                <c:pt idx="1">
                  <c:v>1.4007309999999999</c:v>
                </c:pt>
                <c:pt idx="2">
                  <c:v>1.400744</c:v>
                </c:pt>
                <c:pt idx="3">
                  <c:v>1.4007270000000001</c:v>
                </c:pt>
                <c:pt idx="4">
                  <c:v>1.40079</c:v>
                </c:pt>
                <c:pt idx="5">
                  <c:v>1.4007639999999999</c:v>
                </c:pt>
                <c:pt idx="6">
                  <c:v>1.4007879999999999</c:v>
                </c:pt>
                <c:pt idx="7">
                  <c:v>1.400728</c:v>
                </c:pt>
                <c:pt idx="8">
                  <c:v>1.3711370000000001</c:v>
                </c:pt>
                <c:pt idx="9">
                  <c:v>1.4008449999999999</c:v>
                </c:pt>
                <c:pt idx="10">
                  <c:v>1.877983</c:v>
                </c:pt>
                <c:pt idx="11">
                  <c:v>1.848344</c:v>
                </c:pt>
                <c:pt idx="12">
                  <c:v>2.3253360000000001</c:v>
                </c:pt>
                <c:pt idx="13">
                  <c:v>2.8018190000000001</c:v>
                </c:pt>
                <c:pt idx="14">
                  <c:v>2.8030460000000001</c:v>
                </c:pt>
                <c:pt idx="15">
                  <c:v>2.802559</c:v>
                </c:pt>
                <c:pt idx="16">
                  <c:v>2.7739859999999998</c:v>
                </c:pt>
                <c:pt idx="17">
                  <c:v>3.2793160000000001</c:v>
                </c:pt>
                <c:pt idx="18">
                  <c:v>2.8042250000000002</c:v>
                </c:pt>
                <c:pt idx="19">
                  <c:v>4.6538690000000003</c:v>
                </c:pt>
                <c:pt idx="20">
                  <c:v>6.5437510000000003</c:v>
                </c:pt>
                <c:pt idx="21">
                  <c:v>8.8328070000000007</c:v>
                </c:pt>
                <c:pt idx="22">
                  <c:v>10.290729000000001</c:v>
                </c:pt>
                <c:pt idx="23">
                  <c:v>12.611046999999999</c:v>
                </c:pt>
                <c:pt idx="24">
                  <c:v>13.123219000000001</c:v>
                </c:pt>
                <c:pt idx="25">
                  <c:v>13.594751</c:v>
                </c:pt>
                <c:pt idx="26">
                  <c:v>14.437044999999999</c:v>
                </c:pt>
                <c:pt idx="27">
                  <c:v>16.357583999999999</c:v>
                </c:pt>
                <c:pt idx="28">
                  <c:v>14.519575</c:v>
                </c:pt>
                <c:pt idx="29">
                  <c:v>15.119558</c:v>
                </c:pt>
                <c:pt idx="30">
                  <c:v>16.540811000000001</c:v>
                </c:pt>
                <c:pt idx="31">
                  <c:v>17.508476999999999</c:v>
                </c:pt>
                <c:pt idx="32">
                  <c:v>19.353065999999998</c:v>
                </c:pt>
                <c:pt idx="33">
                  <c:v>20.808419000000001</c:v>
                </c:pt>
                <c:pt idx="34">
                  <c:v>27.094306</c:v>
                </c:pt>
                <c:pt idx="35">
                  <c:v>34.299608999999997</c:v>
                </c:pt>
                <c:pt idx="36">
                  <c:v>42.615662999999998</c:v>
                </c:pt>
                <c:pt idx="37">
                  <c:v>52.032969999999999</c:v>
                </c:pt>
                <c:pt idx="38">
                  <c:v>58.647277000000003</c:v>
                </c:pt>
                <c:pt idx="39">
                  <c:v>63.412117000000002</c:v>
                </c:pt>
                <c:pt idx="40">
                  <c:v>70.003345999999993</c:v>
                </c:pt>
                <c:pt idx="41">
                  <c:v>71.968807999999996</c:v>
                </c:pt>
                <c:pt idx="42">
                  <c:v>78.590768999999995</c:v>
                </c:pt>
                <c:pt idx="43">
                  <c:v>78.466092000000003</c:v>
                </c:pt>
                <c:pt idx="44">
                  <c:v>79.796029000000004</c:v>
                </c:pt>
                <c:pt idx="45">
                  <c:v>82.434617000000003</c:v>
                </c:pt>
                <c:pt idx="46">
                  <c:v>87.226635999999999</c:v>
                </c:pt>
                <c:pt idx="47">
                  <c:v>87.676049000000006</c:v>
                </c:pt>
                <c:pt idx="48">
                  <c:v>88.858136999999999</c:v>
                </c:pt>
                <c:pt idx="49">
                  <c:v>93.695436999999998</c:v>
                </c:pt>
                <c:pt idx="50">
                  <c:v>91.732626999999994</c:v>
                </c:pt>
                <c:pt idx="51">
                  <c:v>93.088116999999997</c:v>
                </c:pt>
                <c:pt idx="52">
                  <c:v>93.712869999999995</c:v>
                </c:pt>
                <c:pt idx="53">
                  <c:v>96.054799000000003</c:v>
                </c:pt>
                <c:pt idx="54">
                  <c:v>97.281456000000006</c:v>
                </c:pt>
                <c:pt idx="55">
                  <c:v>103.319064</c:v>
                </c:pt>
              </c:numCache>
            </c:numRef>
          </c:yVal>
          <c:smooth val="0"/>
          <c:extLst>
            <c:ext xmlns:c16="http://schemas.microsoft.com/office/drawing/2014/chart" uri="{C3380CC4-5D6E-409C-BE32-E72D297353CC}">
              <c16:uniqueId val="{00000000-6D13-4B67-BD9C-4E93B6992620}"/>
            </c:ext>
          </c:extLst>
        </c:ser>
        <c:dLbls>
          <c:showLegendKey val="0"/>
          <c:showVal val="0"/>
          <c:showCatName val="0"/>
          <c:showSerName val="0"/>
          <c:showPercent val="0"/>
          <c:showBubbleSize val="0"/>
        </c:dLbls>
        <c:axId val="627551624"/>
        <c:axId val="627543392"/>
      </c:scatterChart>
      <c:valAx>
        <c:axId val="627551624"/>
        <c:scaling>
          <c:logBase val="2"/>
          <c:orientation val="minMax"/>
          <c:min val="4"/>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n-US" altLang="ja-JP" sz="1600" dirty="0"/>
                  <a:t>SIZE = </a:t>
                </a:r>
                <a:r>
                  <a:rPr lang="ja-JP" altLang="en-US" sz="1600" dirty="0"/>
                  <a:t>アクセス範囲（</a:t>
                </a:r>
                <a:r>
                  <a:rPr lang="en-US" altLang="ja-JP" sz="1600" dirty="0"/>
                  <a:t>KB</a:t>
                </a:r>
                <a:r>
                  <a:rPr lang="ja-JP" altLang="en-US" sz="1600" dirty="0"/>
                  <a:t>）</a:t>
                </a:r>
              </a:p>
            </c:rich>
          </c:tx>
          <c:layout>
            <c:manualLayout>
              <c:xMode val="edge"/>
              <c:yMode val="edge"/>
              <c:x val="0.35931869762850593"/>
              <c:y val="0.90968989233452957"/>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ja-JP"/>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5400000" spcFirstLastPara="1" vertOverflow="ellipsis"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ja-JP"/>
          </a:p>
        </c:txPr>
        <c:crossAx val="627543392"/>
        <c:crosses val="autoZero"/>
        <c:crossBetween val="midCat"/>
        <c:majorUnit val="2"/>
      </c:valAx>
      <c:valAx>
        <c:axId val="627543392"/>
        <c:scaling>
          <c:logBase val="10"/>
          <c:orientation val="minMax"/>
          <c:max val="11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ja-JP" altLang="en-US" sz="1600" dirty="0"/>
                  <a:t>アクセス時間（</a:t>
                </a:r>
                <a:r>
                  <a:rPr lang="en-US" altLang="ja-JP" sz="1600"/>
                  <a:t>nano sec</a:t>
                </a:r>
                <a:r>
                  <a:rPr lang="ja-JP" altLang="en-US" sz="1600" dirty="0"/>
                  <a:t>）</a:t>
                </a:r>
              </a:p>
            </c:rich>
          </c:tx>
          <c:overlay val="0"/>
          <c:spPr>
            <a:noFill/>
            <a:ln>
              <a:noFill/>
            </a:ln>
            <a:effectLst/>
          </c:spPr>
          <c:txPr>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ja-JP"/>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ja-JP"/>
          </a:p>
        </c:txPr>
        <c:crossAx val="627551624"/>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BE53D4-1A7B-4FFE-8A95-4265B045F058}" type="datetimeFigureOut">
              <a:rPr kumimoji="1" lang="ja-JP" altLang="en-US" smtClean="0"/>
              <a:t>2026/4/5</a:t>
            </a:fld>
            <a:endParaRPr kumimoji="1" lang="ja-JP" altLang="en-US"/>
          </a:p>
        </p:txBody>
      </p:sp>
      <p:sp>
        <p:nvSpPr>
          <p:cNvPr id="4" name="スライド イメージ プレースホルダー 3"/>
          <p:cNvSpPr>
            <a:spLocks noGrp="1" noRot="1" noChangeAspect="1"/>
          </p:cNvSpPr>
          <p:nvPr>
            <p:ph type="sldImg" idx="2"/>
          </p:nvPr>
        </p:nvSpPr>
        <p:spPr>
          <a:xfrm>
            <a:off x="-50800" y="161925"/>
            <a:ext cx="6959600" cy="39147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A5F4D4-1F28-49A5-8AEE-E46B08553EC4}" type="slidenum">
              <a:rPr kumimoji="1" lang="ja-JP" altLang="en-US" smtClean="0"/>
              <a:t>‹#›</a:t>
            </a:fld>
            <a:endParaRPr kumimoji="1" lang="ja-JP" altLang="en-US"/>
          </a:p>
        </p:txBody>
      </p:sp>
    </p:spTree>
    <p:extLst>
      <p:ext uri="{BB962C8B-B14F-4D97-AF65-F5344CB8AC3E}">
        <p14:creationId xmlns:p14="http://schemas.microsoft.com/office/powerpoint/2010/main" val="169212330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1</a:t>
            </a:fld>
            <a:endParaRPr kumimoji="1" lang="ja-JP" altLang="en-US"/>
          </a:p>
        </p:txBody>
      </p:sp>
    </p:spTree>
    <p:extLst>
      <p:ext uri="{BB962C8B-B14F-4D97-AF65-F5344CB8AC3E}">
        <p14:creationId xmlns:p14="http://schemas.microsoft.com/office/powerpoint/2010/main" val="935572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1" name="正方形/長方形 20"/>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sp>
        <p:nvSpPr>
          <p:cNvPr id="7170" name="Rectangle 2"/>
          <p:cNvSpPr>
            <a:spLocks noGrp="1" noChangeArrowheads="1"/>
          </p:cNvSpPr>
          <p:nvPr>
            <p:ph type="ctrTitle"/>
          </p:nvPr>
        </p:nvSpPr>
        <p:spPr>
          <a:xfrm>
            <a:off x="935943" y="278965"/>
            <a:ext cx="10560117" cy="2340026"/>
          </a:xfrm>
          <a:prstGeom prst="rect">
            <a:avLst/>
          </a:prstGeom>
        </p:spPr>
        <p:txBody>
          <a:bodyPr anchor="ctr"/>
          <a:lstStyle>
            <a:lvl1pPr algn="ctr">
              <a:defRPr sz="3200" b="1">
                <a:solidFill>
                  <a:schemeClr val="bg1"/>
                </a:solidFill>
              </a:defRPr>
            </a:lvl1pPr>
          </a:lstStyle>
          <a:p>
            <a:r>
              <a:rPr lang="ja-JP" altLang="en-US"/>
              <a:t>マスター タイトルの書式設定</a:t>
            </a:r>
            <a:endParaRPr lang="ja-JP" altLang="en-US" dirty="0"/>
          </a:p>
        </p:txBody>
      </p:sp>
      <p:sp>
        <p:nvSpPr>
          <p:cNvPr id="7171" name="Rectangle 3"/>
          <p:cNvSpPr>
            <a:spLocks noGrp="1" noChangeArrowheads="1"/>
          </p:cNvSpPr>
          <p:nvPr>
            <p:ph type="subTitle" idx="1"/>
          </p:nvPr>
        </p:nvSpPr>
        <p:spPr>
          <a:xfrm>
            <a:off x="2255957" y="4149008"/>
            <a:ext cx="9600107" cy="1440017"/>
          </a:xfrm>
        </p:spPr>
        <p:txBody>
          <a:bodyPr anchor="b"/>
          <a:lstStyle>
            <a:lvl1pPr marL="0" indent="0" algn="r">
              <a:lnSpc>
                <a:spcPct val="150000"/>
              </a:lnSpc>
              <a:spcBef>
                <a:spcPts val="0"/>
              </a:spcBef>
              <a:spcAft>
                <a:spcPts val="0"/>
              </a:spcAft>
              <a:buFont typeface="Wingdings" pitchFamily="2" charset="2"/>
              <a:buNone/>
              <a:defRPr>
                <a:solidFill>
                  <a:schemeClr val="bg1"/>
                </a:solidFill>
              </a:defRPr>
            </a:lvl1pPr>
          </a:lstStyle>
          <a:p>
            <a:r>
              <a:rPr lang="ja-JP" altLang="en-US"/>
              <a:t>マスター サブタイトルの書式設定</a:t>
            </a:r>
            <a:endParaRPr lang="ja-JP" altLang="en-US" dirty="0"/>
          </a:p>
        </p:txBody>
      </p:sp>
      <p:sp>
        <p:nvSpPr>
          <p:cNvPr id="5" name="正方形/長方形 4"/>
          <p:cNvSpPr/>
          <p:nvPr userDrawn="1"/>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6" name="直線コネクタ 5"/>
          <p:cNvCxnSpPr>
            <a:cxnSpLocks/>
          </p:cNvCxnSpPr>
          <p:nvPr userDrawn="1"/>
        </p:nvCxnSpPr>
        <p:spPr bwMode="auto">
          <a:xfrm>
            <a:off x="695940" y="3068996"/>
            <a:ext cx="10710119" cy="0"/>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2774692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a:t>マスター タイトルの書式設定</a:t>
            </a:r>
            <a:endParaRPr lang="ja-JP" altLang="en-US" dirty="0"/>
          </a:p>
        </p:txBody>
      </p:sp>
      <p:sp>
        <p:nvSpPr>
          <p:cNvPr id="8"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2" name="テキスト プレースホルダー 11"/>
          <p:cNvSpPr>
            <a:spLocks noGrp="1"/>
          </p:cNvSpPr>
          <p:nvPr>
            <p:ph type="body" sz="quarter" idx="10"/>
          </p:nvPr>
        </p:nvSpPr>
        <p:spPr>
          <a:xfrm>
            <a:off x="1775952" y="1088974"/>
            <a:ext cx="10080112" cy="5219751"/>
          </a:xfrm>
        </p:spPr>
        <p:txBody>
          <a:bodyPr/>
          <a:lstStyle>
            <a:lvl2pPr>
              <a:buClr>
                <a:schemeClr val="accent5">
                  <a:lumMod val="60000"/>
                  <a:lumOff val="40000"/>
                </a:schemeClr>
              </a:buClr>
              <a:defRPr/>
            </a:lvl2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Rectangle 20"/>
          <p:cNvSpPr txBox="1">
            <a:spLocks noChangeArrowheads="1"/>
          </p:cNvSpPr>
          <p:nvPr userDrawn="1"/>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Tree>
    <p:extLst>
      <p:ext uri="{BB962C8B-B14F-4D97-AF65-F5344CB8AC3E}">
        <p14:creationId xmlns:p14="http://schemas.microsoft.com/office/powerpoint/2010/main" val="16349938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dirty="0"/>
              <a:t>マスター タイトルの書式設定</a:t>
            </a:r>
          </a:p>
        </p:txBody>
      </p:sp>
      <p:sp>
        <p:nvSpPr>
          <p:cNvPr id="7"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pPr/>
              <a:t>‹#›</a:t>
            </a:fld>
            <a:endParaRPr kumimoji="1" lang="ja-JP" altLang="en-US" dirty="0"/>
          </a:p>
        </p:txBody>
      </p:sp>
    </p:spTree>
    <p:extLst>
      <p:ext uri="{BB962C8B-B14F-4D97-AF65-F5344CB8AC3E}">
        <p14:creationId xmlns:p14="http://schemas.microsoft.com/office/powerpoint/2010/main" val="14042597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セクションタイトル">
    <p:bg>
      <p:bgPr>
        <a:solidFill>
          <a:schemeClr val="accent5"/>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bg1"/>
                </a:solidFill>
              </a:defRPr>
            </a:lvl1pPr>
          </a:lstStyle>
          <a:p>
            <a:fld id="{D2D8002D-B5B0-4BAC-B1F6-782DDCCE6D9C}" type="slidenum">
              <a:rPr kumimoji="1" lang="ja-JP" altLang="en-US" smtClean="0"/>
              <a:pPr/>
              <a:t>‹#›</a:t>
            </a:fld>
            <a:endParaRPr kumimoji="1" lang="ja-JP" altLang="en-US"/>
          </a:p>
        </p:txBody>
      </p:sp>
      <p:sp>
        <p:nvSpPr>
          <p:cNvPr id="3" name="タイトル 2"/>
          <p:cNvSpPr>
            <a:spLocks noGrp="1"/>
          </p:cNvSpPr>
          <p:nvPr>
            <p:ph type="title"/>
          </p:nvPr>
        </p:nvSpPr>
        <p:spPr>
          <a:xfrm>
            <a:off x="1325947" y="2078985"/>
            <a:ext cx="9600107" cy="990011"/>
          </a:xfrm>
        </p:spPr>
        <p:txBody>
          <a:bodyPr anchor="b"/>
          <a:lstStyle>
            <a:lvl1pPr algn="ctr">
              <a:defRPr sz="3200" b="0"/>
            </a:lvl1pPr>
          </a:lstStyle>
          <a:p>
            <a:r>
              <a:rPr kumimoji="1" lang="ja-JP" altLang="en-US"/>
              <a:t>マスター タイトルの書式設定</a:t>
            </a:r>
            <a:endParaRPr kumimoji="1" lang="ja-JP" altLang="en-US" dirty="0"/>
          </a:p>
        </p:txBody>
      </p:sp>
      <p:cxnSp>
        <p:nvCxnSpPr>
          <p:cNvPr id="5" name="直線コネクタ 4">
            <a:extLst>
              <a:ext uri="{FF2B5EF4-FFF2-40B4-BE49-F238E27FC236}">
                <a16:creationId xmlns:a16="http://schemas.microsoft.com/office/drawing/2014/main" id="{7A61BF30-B8F3-19FE-7662-81071F95A583}"/>
              </a:ext>
            </a:extLst>
          </p:cNvPr>
          <p:cNvCxnSpPr>
            <a:cxnSpLocks/>
          </p:cNvCxnSpPr>
          <p:nvPr userDrawn="1"/>
        </p:nvCxnSpPr>
        <p:spPr bwMode="auto">
          <a:xfrm>
            <a:off x="695940" y="3068996"/>
            <a:ext cx="10710119" cy="0"/>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4175611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tx1">
                    <a:lumMod val="75000"/>
                    <a:lumOff val="25000"/>
                  </a:schemeClr>
                </a:solidFill>
              </a:defRPr>
            </a:lvl1pPr>
          </a:lstStyle>
          <a:p>
            <a:fld id="{D2D8002D-B5B0-4BAC-B1F6-782DDCCE6D9C}" type="slidenum">
              <a:rPr kumimoji="1" lang="ja-JP" altLang="en-US" smtClean="0"/>
              <a:pPr/>
              <a:t>‹#›</a:t>
            </a:fld>
            <a:endParaRPr kumimoji="1" lang="ja-JP" altLang="en-US"/>
          </a:p>
        </p:txBody>
      </p:sp>
    </p:spTree>
    <p:extLst>
      <p:ext uri="{BB962C8B-B14F-4D97-AF65-F5344CB8AC3E}">
        <p14:creationId xmlns:p14="http://schemas.microsoft.com/office/powerpoint/2010/main" val="1921619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1775952" y="1088975"/>
            <a:ext cx="10080112" cy="522005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 name="正方形/長方形 1"/>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22" name="Rectangle 2"/>
          <p:cNvSpPr>
            <a:spLocks noGrp="1" noChangeArrowheads="1"/>
          </p:cNvSpPr>
          <p:nvPr>
            <p:ph type="title"/>
          </p:nvPr>
        </p:nvSpPr>
        <p:spPr bwMode="auto">
          <a:xfrm>
            <a:off x="575939" y="0"/>
            <a:ext cx="11616061"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p>
            <a:pPr lvl="0"/>
            <a:r>
              <a:rPr lang="ja-JP" altLang="en-US" dirty="0"/>
              <a:t>マスタ タイトルの書式設定</a:t>
            </a:r>
          </a:p>
        </p:txBody>
      </p:sp>
      <p:sp>
        <p:nvSpPr>
          <p:cNvPr id="6164"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pPr/>
              <a:t>‹#›</a:t>
            </a:fld>
            <a:endParaRPr kumimoji="1" lang="ja-JP" altLang="en-US" dirty="0"/>
          </a:p>
        </p:txBody>
      </p:sp>
      <p:sp>
        <p:nvSpPr>
          <p:cNvPr id="6" name="正方形/長方形 5"/>
          <p:cNvSpPr/>
          <p:nvPr userDrawn="1"/>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Tree>
    <p:extLst>
      <p:ext uri="{BB962C8B-B14F-4D97-AF65-F5344CB8AC3E}">
        <p14:creationId xmlns:p14="http://schemas.microsoft.com/office/powerpoint/2010/main" val="135615592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Lst>
  <p:hf hdr="0" ftr="0" dt="0"/>
  <p:txStyles>
    <p:titleStyle>
      <a:lvl1pPr algn="l" rtl="0" eaLnBrk="1" fontAlgn="base" hangingPunct="1">
        <a:spcBef>
          <a:spcPct val="0"/>
        </a:spcBef>
        <a:spcAft>
          <a:spcPct val="0"/>
        </a:spcAft>
        <a:defRPr kumimoji="1" sz="28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5pPr>
      <a:lvl6pPr marL="4572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6pPr>
      <a:lvl7pPr marL="9144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7pPr>
      <a:lvl8pPr marL="13716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8pPr>
      <a:lvl9pPr marL="18288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9pPr>
    </p:titleStyle>
    <p:body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5">
            <a:lumMod val="60000"/>
            <a:lumOff val="40000"/>
          </a:schemeClr>
        </a:buClr>
        <a:buSzPct val="90000"/>
        <a:buFont typeface="Wingdings" panose="05000000000000000000" pitchFamily="2" charset="2"/>
        <a:buChar char="l"/>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5">
            <a:lumMod val="60000"/>
            <a:lumOff val="40000"/>
          </a:schemeClr>
        </a:buClr>
        <a:buSzPct val="70000"/>
        <a:buFont typeface="Segoe UI" panose="020B0502040204020203" pitchFamily="34" charset="0"/>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chemeClr val="accent5">
            <a:lumMod val="60000"/>
            <a:lumOff val="40000"/>
          </a:schemeClr>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l.acm.org/doi/10.1145/3725843.3756041" TargetMode="External"/><Relationship Id="rId2" Type="http://schemas.openxmlformats.org/officeDocument/2006/relationships/hyperlink" Target="https://docs.google.com/spreadsheets/d/18ln8SKIGRK5_6NymgdB9oLbTJCFwx0iFI-vUs6WFyuE/edit?gid=1076260513#gid=1076260513"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pc.watch.impress.co.jp/docs/column/semicon/1665146.html"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shioyadan/otya-computer-architecture-i"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github.com/shioyadan/advanced-computer-organization"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865953" y="2618991"/>
            <a:ext cx="8460094" cy="450005"/>
          </a:xfrm>
        </p:spPr>
        <p:txBody>
          <a:bodyPr/>
          <a:lstStyle/>
          <a:p>
            <a:r>
              <a:rPr lang="ja-JP" altLang="en-US" dirty="0"/>
              <a:t>先進計算機構成論 第１回 導入</a:t>
            </a:r>
          </a:p>
        </p:txBody>
      </p:sp>
      <p:sp>
        <p:nvSpPr>
          <p:cNvPr id="6" name="サブタイトル 2"/>
          <p:cNvSpPr txBox="1">
            <a:spLocks/>
          </p:cNvSpPr>
          <p:nvPr/>
        </p:nvSpPr>
        <p:spPr bwMode="auto">
          <a:xfrm>
            <a:off x="2315958" y="4059007"/>
            <a:ext cx="7650085" cy="54000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marL="0" indent="0" algn="r" rtl="0" eaLnBrk="1" fontAlgn="base" hangingPunct="1">
              <a:lnSpc>
                <a:spcPct val="150000"/>
              </a:lnSpc>
              <a:spcBef>
                <a:spcPts val="0"/>
              </a:spcBef>
              <a:spcAft>
                <a:spcPts val="0"/>
              </a:spcAft>
              <a:buClr>
                <a:schemeClr val="accent5"/>
              </a:buClr>
              <a:buFont typeface="Wingdings" pitchFamily="2" charset="2"/>
              <a:buNone/>
              <a:tabLst>
                <a:tab pos="2057400" algn="l"/>
              </a:tabLst>
              <a:defRPr kumimoji="1" sz="2000">
                <a:solidFill>
                  <a:schemeClr val="bg1"/>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algn="ctr">
              <a:lnSpc>
                <a:spcPct val="100000"/>
              </a:lnSpc>
            </a:pPr>
            <a:r>
              <a:rPr lang="ja-JP" altLang="en-US" sz="1800" kern="0" dirty="0"/>
              <a:t>東京大学大学院 情報理工学系研究科 創造情報学専攻</a:t>
            </a:r>
            <a:endParaRPr lang="en-US" altLang="ja-JP" sz="1800" kern="0" dirty="0"/>
          </a:p>
          <a:p>
            <a:pPr algn="ctr">
              <a:lnSpc>
                <a:spcPct val="100000"/>
              </a:lnSpc>
            </a:pPr>
            <a:r>
              <a:rPr lang="ja-JP" altLang="en-US" sz="1800" kern="0" dirty="0"/>
              <a:t>塩谷 亮太 </a:t>
            </a:r>
            <a:endParaRPr lang="en-US" altLang="ja-JP" sz="1800" kern="0" dirty="0"/>
          </a:p>
          <a:p>
            <a:pPr algn="ctr">
              <a:lnSpc>
                <a:spcPct val="100000"/>
              </a:lnSpc>
            </a:pPr>
            <a:r>
              <a:rPr lang="en-US" altLang="ja-JP" sz="1800" kern="0" dirty="0"/>
              <a:t>shioya@ci.i.u-tokyo.ac.jp</a:t>
            </a:r>
            <a:endParaRPr lang="ja-JP" altLang="en-US" sz="1800" kern="0" dirty="0"/>
          </a:p>
        </p:txBody>
      </p:sp>
    </p:spTree>
    <p:extLst>
      <p:ext uri="{BB962C8B-B14F-4D97-AF65-F5344CB8AC3E}">
        <p14:creationId xmlns:p14="http://schemas.microsoft.com/office/powerpoint/2010/main" val="41209135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自己紹介</a:t>
            </a:r>
          </a:p>
        </p:txBody>
      </p:sp>
      <p:sp>
        <p:nvSpPr>
          <p:cNvPr id="3" name="テキスト プレースホルダー 2"/>
          <p:cNvSpPr>
            <a:spLocks noGrp="1"/>
          </p:cNvSpPr>
          <p:nvPr>
            <p:ph type="body" sz="quarter" idx="10"/>
          </p:nvPr>
        </p:nvSpPr>
        <p:spPr/>
        <p:txBody>
          <a:bodyPr/>
          <a:lstStyle/>
          <a:p>
            <a:r>
              <a:rPr lang="ja-JP" altLang="en-US" dirty="0"/>
              <a:t>塩谷 亮太（しおや りょうた）</a:t>
            </a:r>
            <a:endParaRPr lang="en-US" altLang="ja-JP" dirty="0"/>
          </a:p>
          <a:p>
            <a:pPr lvl="1"/>
            <a:r>
              <a:rPr lang="ja-JP" altLang="en-US" dirty="0"/>
              <a:t>創造情報学専攻 准教授</a:t>
            </a:r>
          </a:p>
          <a:p>
            <a:r>
              <a:rPr lang="ja-JP" altLang="en-US" dirty="0"/>
              <a:t>経歴：</a:t>
            </a:r>
            <a:endParaRPr lang="en-US" altLang="ja-JP" dirty="0"/>
          </a:p>
          <a:p>
            <a:pPr lvl="1"/>
            <a:r>
              <a:rPr lang="en-US" altLang="ja-JP" dirty="0"/>
              <a:t>2011 </a:t>
            </a:r>
            <a:r>
              <a:rPr lang="ja-JP" altLang="en-US" dirty="0"/>
              <a:t>年：情報理工 電情 博士取得</a:t>
            </a:r>
            <a:endParaRPr lang="en-US" altLang="ja-JP" dirty="0"/>
          </a:p>
          <a:p>
            <a:pPr lvl="2"/>
            <a:r>
              <a:rPr lang="ja-JP" altLang="en-US" dirty="0"/>
              <a:t>当時は 坂井・五島研（現 入江・門本研）でした</a:t>
            </a:r>
            <a:endParaRPr lang="en-US" altLang="ja-JP" dirty="0"/>
          </a:p>
          <a:p>
            <a:pPr lvl="1"/>
            <a:r>
              <a:rPr lang="en-US" altLang="ja-JP" dirty="0"/>
              <a:t>2011 </a:t>
            </a:r>
            <a:r>
              <a:rPr lang="ja-JP" altLang="en-US" dirty="0"/>
              <a:t>年：</a:t>
            </a:r>
            <a:r>
              <a:rPr lang="zh-CN" altLang="en-US" dirty="0"/>
              <a:t>名古屋大学 </a:t>
            </a:r>
            <a:r>
              <a:rPr lang="ja-JP" altLang="en-US" dirty="0"/>
              <a:t>助教 → </a:t>
            </a:r>
            <a:r>
              <a:rPr lang="en-US" altLang="ja-JP" dirty="0"/>
              <a:t>2017 </a:t>
            </a:r>
            <a:r>
              <a:rPr lang="ja-JP" altLang="en-US" dirty="0"/>
              <a:t>年 准教授</a:t>
            </a:r>
            <a:endParaRPr lang="en-US" altLang="ja-JP" dirty="0"/>
          </a:p>
          <a:p>
            <a:pPr lvl="1"/>
            <a:r>
              <a:rPr lang="en-US" altLang="ja-JP" dirty="0"/>
              <a:t>2018 </a:t>
            </a:r>
            <a:r>
              <a:rPr lang="ja-JP" altLang="en-US" dirty="0"/>
              <a:t>年：情報理工 創造情報学専攻 准教授</a:t>
            </a:r>
            <a:endParaRPr kumimoji="1" lang="ja-JP" altLang="en-US" dirty="0"/>
          </a:p>
        </p:txBody>
      </p:sp>
    </p:spTree>
    <p:extLst>
      <p:ext uri="{BB962C8B-B14F-4D97-AF65-F5344CB8AC3E}">
        <p14:creationId xmlns:p14="http://schemas.microsoft.com/office/powerpoint/2010/main" val="30511373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415948" y="0"/>
            <a:ext cx="10776052" cy="908972"/>
          </a:xfrm>
        </p:spPr>
        <p:txBody>
          <a:bodyPr/>
          <a:lstStyle/>
          <a:p>
            <a:r>
              <a:rPr lang="ja-JP" altLang="en-US" dirty="0"/>
              <a:t>すこし考えてみよう</a:t>
            </a:r>
          </a:p>
        </p:txBody>
      </p:sp>
      <p:sp>
        <p:nvSpPr>
          <p:cNvPr id="3" name="テキスト プレースホルダー 2"/>
          <p:cNvSpPr>
            <a:spLocks noGrp="1"/>
          </p:cNvSpPr>
          <p:nvPr>
            <p:ph type="body" sz="quarter" idx="10"/>
          </p:nvPr>
        </p:nvSpPr>
        <p:spPr>
          <a:xfrm>
            <a:off x="1775952" y="1088974"/>
            <a:ext cx="10080112" cy="5219751"/>
          </a:xfrm>
        </p:spPr>
        <p:txBody>
          <a:bodyPr/>
          <a:lstStyle/>
          <a:p>
            <a:r>
              <a:rPr lang="ja-JP" altLang="en-US" dirty="0"/>
              <a:t>スーパーコンピュータと，パソコンやスマホは何が違うのか？</a:t>
            </a:r>
            <a:endParaRPr lang="en-US" altLang="ja-JP" dirty="0"/>
          </a:p>
          <a:p>
            <a:pPr lvl="1"/>
            <a:r>
              <a:rPr lang="ja-JP" altLang="en-US" dirty="0"/>
              <a:t>スーパーコンピュータはそれらの上位互換なのか？</a:t>
            </a:r>
            <a:endParaRPr lang="en-US" altLang="ja-JP" dirty="0"/>
          </a:p>
          <a:p>
            <a:r>
              <a:rPr lang="ja-JP" altLang="en-US" dirty="0"/>
              <a:t>コンピュータのプログラムを高速に実行できるとは，どう言うことなのか？</a:t>
            </a:r>
            <a:endParaRPr lang="en-US" altLang="ja-JP" dirty="0"/>
          </a:p>
          <a:p>
            <a:r>
              <a:rPr lang="ja-JP" altLang="en-US" dirty="0"/>
              <a:t>なぜ </a:t>
            </a:r>
            <a:r>
              <a:rPr lang="en-US" altLang="ja-JP" dirty="0"/>
              <a:t>GPU </a:t>
            </a:r>
            <a:r>
              <a:rPr lang="ja-JP" altLang="en-US" dirty="0"/>
              <a:t>は </a:t>
            </a:r>
            <a:r>
              <a:rPr lang="en-US" altLang="ja-JP" dirty="0"/>
              <a:t>CPU </a:t>
            </a:r>
            <a:r>
              <a:rPr lang="ja-JP" altLang="en-US" dirty="0"/>
              <a:t>よりグラフィックや機械学習で速いのか？</a:t>
            </a:r>
            <a:endParaRPr lang="en-US" altLang="ja-JP" dirty="0"/>
          </a:p>
          <a:p>
            <a:pPr lvl="1"/>
            <a:r>
              <a:rPr lang="ja-JP" altLang="en-US" dirty="0"/>
              <a:t>そもそも「専用」のマシンだとなぜ速いのか？</a:t>
            </a:r>
            <a:endParaRPr lang="en-US" altLang="ja-JP" dirty="0"/>
          </a:p>
          <a:p>
            <a:r>
              <a:rPr lang="ja-JP" altLang="en-US" dirty="0"/>
              <a:t>大きくて速いキャッシュは作れないのか？</a:t>
            </a:r>
          </a:p>
          <a:p>
            <a:r>
              <a:rPr lang="ja-JP" altLang="en-US" dirty="0"/>
              <a:t>物理的な量がなさそうな「情報」を処理してるのに，</a:t>
            </a:r>
            <a:br>
              <a:rPr lang="en-US" altLang="ja-JP" dirty="0"/>
            </a:br>
            <a:r>
              <a:rPr lang="ja-JP" altLang="en-US" dirty="0"/>
              <a:t>なぜコンピュータは電力を消費するのか？</a:t>
            </a:r>
            <a:endParaRPr lang="en-US" altLang="ja-JP" dirty="0"/>
          </a:p>
        </p:txBody>
      </p:sp>
    </p:spTree>
    <p:extLst>
      <p:ext uri="{BB962C8B-B14F-4D97-AF65-F5344CB8AC3E}">
        <p14:creationId xmlns:p14="http://schemas.microsoft.com/office/powerpoint/2010/main" val="10440988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Apple M1</a:t>
            </a:r>
            <a:br>
              <a:rPr lang="en-US" altLang="ja-JP" dirty="0"/>
            </a:br>
            <a:r>
              <a:rPr lang="ja-JP" altLang="en-US" sz="1800" dirty="0"/>
              <a:t> </a:t>
            </a:r>
            <a:r>
              <a:rPr lang="ja-JP" altLang="en-US" sz="1400" dirty="0"/>
              <a:t>写真は </a:t>
            </a:r>
            <a:r>
              <a:rPr lang="en-US" altLang="ja-JP" sz="1400" dirty="0"/>
              <a:t>https://www.anandtech.com/show/16226/apple-silicon-m1-a14-deep-dive </a:t>
            </a:r>
            <a:r>
              <a:rPr lang="ja-JP" altLang="en-US" sz="1400" dirty="0"/>
              <a:t>より</a:t>
            </a:r>
          </a:p>
        </p:txBody>
      </p:sp>
      <p:sp>
        <p:nvSpPr>
          <p:cNvPr id="3" name="テキスト プレースホルダー 2"/>
          <p:cNvSpPr>
            <a:spLocks noGrp="1"/>
          </p:cNvSpPr>
          <p:nvPr>
            <p:ph type="body" sz="quarter" idx="10"/>
          </p:nvPr>
        </p:nvSpPr>
        <p:spPr>
          <a:xfrm>
            <a:off x="1865953" y="4509012"/>
            <a:ext cx="8460094" cy="1979715"/>
          </a:xfrm>
        </p:spPr>
        <p:txBody>
          <a:bodyPr/>
          <a:lstStyle/>
          <a:p>
            <a:r>
              <a:rPr kumimoji="1" lang="en-US" altLang="ja-JP" dirty="0"/>
              <a:t>Apple M1</a:t>
            </a:r>
          </a:p>
          <a:p>
            <a:pPr lvl="1"/>
            <a:r>
              <a:rPr kumimoji="1" lang="en-US" altLang="ja-JP" dirty="0"/>
              <a:t>big core (firestorm) </a:t>
            </a:r>
            <a:r>
              <a:rPr kumimoji="1" lang="ja-JP" altLang="en-US" dirty="0"/>
              <a:t>と </a:t>
            </a:r>
            <a:r>
              <a:rPr kumimoji="1" lang="en-US" altLang="ja-JP" dirty="0"/>
              <a:t>little core (</a:t>
            </a:r>
            <a:r>
              <a:rPr kumimoji="1" lang="en-US" altLang="ja-JP" dirty="0" err="1"/>
              <a:t>icestorm</a:t>
            </a:r>
            <a:r>
              <a:rPr kumimoji="1" lang="en-US" altLang="ja-JP" dirty="0"/>
              <a:t>) </a:t>
            </a:r>
            <a:r>
              <a:rPr kumimoji="1" lang="ja-JP" altLang="en-US" dirty="0"/>
              <a:t>の</a:t>
            </a:r>
            <a:r>
              <a:rPr kumimoji="1" lang="en-US" altLang="ja-JP" dirty="0"/>
              <a:t>2</a:t>
            </a:r>
            <a:r>
              <a:rPr kumimoji="1" lang="ja-JP" altLang="en-US" dirty="0"/>
              <a:t>種類を持つ</a:t>
            </a:r>
            <a:endParaRPr kumimoji="1" lang="en-US" altLang="ja-JP" dirty="0"/>
          </a:p>
          <a:p>
            <a:pPr lvl="1"/>
            <a:r>
              <a:rPr kumimoji="1" lang="ja-JP" altLang="en-US" dirty="0"/>
              <a:t>チップ面積の大部分は </a:t>
            </a:r>
            <a:r>
              <a:rPr kumimoji="1" lang="en-US" altLang="ja-JP" dirty="0"/>
              <a:t>GPU </a:t>
            </a:r>
            <a:r>
              <a:rPr kumimoji="1" lang="ja-JP" altLang="en-US" dirty="0"/>
              <a:t>や</a:t>
            </a:r>
            <a:r>
              <a:rPr lang="ja-JP" altLang="en-US" dirty="0"/>
              <a:t>様々な専用回路に割かれている</a:t>
            </a:r>
            <a:endParaRPr lang="en-US" altLang="ja-JP" dirty="0"/>
          </a:p>
          <a:p>
            <a:r>
              <a:rPr lang="en-US" altLang="ja-JP" dirty="0">
                <a:solidFill>
                  <a:schemeClr val="accent5"/>
                </a:solidFill>
              </a:rPr>
              <a:t>big </a:t>
            </a:r>
            <a:r>
              <a:rPr lang="ja-JP" altLang="en-US" dirty="0">
                <a:solidFill>
                  <a:schemeClr val="accent5"/>
                </a:solidFill>
              </a:rPr>
              <a:t>や </a:t>
            </a:r>
            <a:r>
              <a:rPr lang="en-US" altLang="ja-JP" dirty="0">
                <a:solidFill>
                  <a:schemeClr val="accent5"/>
                </a:solidFill>
              </a:rPr>
              <a:t>little</a:t>
            </a:r>
            <a:r>
              <a:rPr lang="ja-JP" altLang="en-US" dirty="0">
                <a:solidFill>
                  <a:schemeClr val="accent5"/>
                </a:solidFill>
              </a:rPr>
              <a:t>，あるいは </a:t>
            </a:r>
            <a:r>
              <a:rPr lang="en-US" altLang="ja-JP" dirty="0">
                <a:solidFill>
                  <a:schemeClr val="accent5"/>
                </a:solidFill>
              </a:rPr>
              <a:t>GPU </a:t>
            </a:r>
            <a:r>
              <a:rPr lang="ja-JP" altLang="en-US" dirty="0">
                <a:solidFill>
                  <a:schemeClr val="accent5"/>
                </a:solidFill>
              </a:rPr>
              <a:t>が大きいとはどう言う事なのか？</a:t>
            </a:r>
            <a:endParaRPr lang="en-US" altLang="ja-JP" dirty="0">
              <a:solidFill>
                <a:schemeClr val="accent5"/>
              </a:solidFill>
            </a:endParaRPr>
          </a:p>
          <a:p>
            <a:pPr lvl="1"/>
            <a:r>
              <a:rPr lang="ja-JP" altLang="en-US" dirty="0"/>
              <a:t>大きいと何が違うのか？ なぜサイズが異なるのか？</a:t>
            </a:r>
            <a:endParaRPr lang="en-US" altLang="ja-JP" dirty="0"/>
          </a:p>
        </p:txBody>
      </p:sp>
      <p:grpSp>
        <p:nvGrpSpPr>
          <p:cNvPr id="4" name="グループ化 3">
            <a:extLst>
              <a:ext uri="{FF2B5EF4-FFF2-40B4-BE49-F238E27FC236}">
                <a16:creationId xmlns:a16="http://schemas.microsoft.com/office/drawing/2014/main" id="{68232107-62AD-AA6B-9615-FFA603027726}"/>
              </a:ext>
            </a:extLst>
          </p:cNvPr>
          <p:cNvGrpSpPr/>
          <p:nvPr/>
        </p:nvGrpSpPr>
        <p:grpSpPr>
          <a:xfrm>
            <a:off x="4115979" y="998973"/>
            <a:ext cx="3870043" cy="3510039"/>
            <a:chOff x="2321975" y="908972"/>
            <a:chExt cx="4320048" cy="3960044"/>
          </a:xfrm>
        </p:grpSpPr>
        <p:grpSp>
          <p:nvGrpSpPr>
            <p:cNvPr id="6" name="グループ化 5"/>
            <p:cNvGrpSpPr/>
            <p:nvPr/>
          </p:nvGrpSpPr>
          <p:grpSpPr>
            <a:xfrm>
              <a:off x="2321975" y="908972"/>
              <a:ext cx="4320048" cy="3960044"/>
              <a:chOff x="2141973" y="1178975"/>
              <a:chExt cx="4921557" cy="4689271"/>
            </a:xfrm>
          </p:grpSpPr>
          <p:pic>
            <p:nvPicPr>
              <p:cNvPr id="3074" name="Picture 2" descr="https://images.anandtech.com/doci/16226/M1_575px.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1973" y="1178975"/>
                <a:ext cx="4921557" cy="4689271"/>
              </a:xfrm>
              <a:prstGeom prst="rect">
                <a:avLst/>
              </a:prstGeom>
              <a:noFill/>
              <a:extLst>
                <a:ext uri="{909E8E84-426E-40DD-AFC4-6F175D3DCCD1}">
                  <a14:hiddenFill xmlns:a14="http://schemas.microsoft.com/office/drawing/2010/main">
                    <a:solidFill>
                      <a:srgbClr val="FFFFFF"/>
                    </a:solidFill>
                  </a14:hiddenFill>
                </a:ext>
              </a:extLst>
            </p:spPr>
          </p:pic>
          <p:sp>
            <p:nvSpPr>
              <p:cNvPr id="5" name="角丸四角形 4"/>
              <p:cNvSpPr/>
              <p:nvPr/>
            </p:nvSpPr>
            <p:spPr bwMode="auto">
              <a:xfrm>
                <a:off x="2231974" y="2528990"/>
                <a:ext cx="630007" cy="1260014"/>
              </a:xfrm>
              <a:prstGeom prst="roundRect">
                <a:avLst/>
              </a:prstGeom>
              <a:solidFill>
                <a:srgbClr val="000000">
                  <a:alpha val="50196"/>
                </a:srgbClr>
              </a:solidFill>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big</a:t>
                </a:r>
              </a:p>
            </p:txBody>
          </p:sp>
          <p:sp>
            <p:nvSpPr>
              <p:cNvPr id="7" name="角丸四角形 6"/>
              <p:cNvSpPr/>
              <p:nvPr/>
            </p:nvSpPr>
            <p:spPr bwMode="auto">
              <a:xfrm>
                <a:off x="2861981" y="2528990"/>
                <a:ext cx="630007" cy="1260014"/>
              </a:xfrm>
              <a:prstGeom prst="roundRect">
                <a:avLst/>
              </a:prstGeom>
              <a:solidFill>
                <a:srgbClr val="000000">
                  <a:alpha val="50196"/>
                </a:srgbClr>
              </a:solidFill>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big</a:t>
                </a:r>
              </a:p>
            </p:txBody>
          </p:sp>
          <p:sp>
            <p:nvSpPr>
              <p:cNvPr id="8" name="角丸四角形 7"/>
              <p:cNvSpPr/>
              <p:nvPr/>
            </p:nvSpPr>
            <p:spPr bwMode="auto">
              <a:xfrm>
                <a:off x="2231974" y="3789004"/>
                <a:ext cx="630007" cy="1170013"/>
              </a:xfrm>
              <a:prstGeom prst="roundRect">
                <a:avLst/>
              </a:prstGeom>
              <a:solidFill>
                <a:srgbClr val="000000">
                  <a:alpha val="50196"/>
                </a:srgbClr>
              </a:solidFill>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big</a:t>
                </a:r>
              </a:p>
            </p:txBody>
          </p:sp>
          <p:sp>
            <p:nvSpPr>
              <p:cNvPr id="9" name="角丸四角形 8"/>
              <p:cNvSpPr/>
              <p:nvPr/>
            </p:nvSpPr>
            <p:spPr bwMode="auto">
              <a:xfrm>
                <a:off x="2861981" y="3789004"/>
                <a:ext cx="630007" cy="1170013"/>
              </a:xfrm>
              <a:prstGeom prst="roundRect">
                <a:avLst/>
              </a:prstGeom>
              <a:solidFill>
                <a:srgbClr val="000000">
                  <a:alpha val="50196"/>
                </a:srgbClr>
              </a:solidFill>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big</a:t>
                </a:r>
              </a:p>
            </p:txBody>
          </p:sp>
          <p:sp>
            <p:nvSpPr>
              <p:cNvPr id="10" name="角丸四角形 9"/>
              <p:cNvSpPr/>
              <p:nvPr/>
            </p:nvSpPr>
            <p:spPr bwMode="auto">
              <a:xfrm>
                <a:off x="4781048" y="3630185"/>
                <a:ext cx="360004" cy="540006"/>
              </a:xfrm>
              <a:prstGeom prst="roundRect">
                <a:avLst/>
              </a:prstGeom>
              <a:solidFill>
                <a:srgbClr val="000000">
                  <a:alpha val="50196"/>
                </a:srgbClr>
              </a:solidFill>
              <a:ln>
                <a:solidFill>
                  <a:schemeClr val="accent5"/>
                </a:solidFill>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eaVert" wrap="none" lIns="91440" tIns="45720" rIns="91440" bIns="45720" numCol="1" spcCol="0" rtlCol="0" fromWordArt="0" anchor="ctr" anchorCtr="0" forceAA="0" compatLnSpc="1">
                <a:prstTxWarp prst="textNoShape">
                  <a:avLst/>
                </a:prstTxWarp>
                <a:noAutofit/>
              </a:bodyPr>
              <a:lstStyle/>
              <a:p>
                <a:pPr algn="ctr"/>
                <a:r>
                  <a:rPr lang="en-US" altLang="ja-JP" sz="1050" b="1" dirty="0">
                    <a:solidFill>
                      <a:schemeClr val="bg1"/>
                    </a:solidFill>
                    <a:latin typeface="+mn-ea"/>
                  </a:rPr>
                  <a:t>little</a:t>
                </a:r>
                <a:endParaRPr lang="ja-JP" altLang="en-US" sz="1050" b="1" dirty="0">
                  <a:solidFill>
                    <a:schemeClr val="bg1"/>
                  </a:solidFill>
                  <a:latin typeface="+mn-ea"/>
                </a:endParaRPr>
              </a:p>
            </p:txBody>
          </p:sp>
          <p:sp>
            <p:nvSpPr>
              <p:cNvPr id="15" name="角丸四角形 14"/>
              <p:cNvSpPr/>
              <p:nvPr/>
            </p:nvSpPr>
            <p:spPr bwMode="auto">
              <a:xfrm>
                <a:off x="5115414" y="3630185"/>
                <a:ext cx="360004" cy="540006"/>
              </a:xfrm>
              <a:prstGeom prst="roundRect">
                <a:avLst/>
              </a:prstGeom>
              <a:solidFill>
                <a:srgbClr val="000000">
                  <a:alpha val="50196"/>
                </a:srgbClr>
              </a:solidFill>
              <a:ln>
                <a:solidFill>
                  <a:schemeClr val="accent5"/>
                </a:solidFill>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eaVert" wrap="none" lIns="91440" tIns="45720" rIns="91440" bIns="45720" numCol="1" spcCol="0" rtlCol="0" fromWordArt="0" anchor="ctr" anchorCtr="0" forceAA="0" compatLnSpc="1">
                <a:prstTxWarp prst="textNoShape">
                  <a:avLst/>
                </a:prstTxWarp>
                <a:noAutofit/>
              </a:bodyPr>
              <a:lstStyle/>
              <a:p>
                <a:pPr algn="ctr"/>
                <a:r>
                  <a:rPr lang="en-US" altLang="ja-JP" sz="1050" b="1" dirty="0">
                    <a:solidFill>
                      <a:schemeClr val="bg1"/>
                    </a:solidFill>
                    <a:latin typeface="+mn-ea"/>
                  </a:rPr>
                  <a:t>little</a:t>
                </a:r>
                <a:endParaRPr lang="ja-JP" altLang="en-US" sz="1050" b="1" dirty="0">
                  <a:solidFill>
                    <a:schemeClr val="bg1"/>
                  </a:solidFill>
                  <a:latin typeface="+mn-ea"/>
                </a:endParaRPr>
              </a:p>
            </p:txBody>
          </p:sp>
        </p:grpSp>
        <p:sp>
          <p:nvSpPr>
            <p:cNvPr id="16" name="角丸四角形 15"/>
            <p:cNvSpPr/>
            <p:nvPr/>
          </p:nvSpPr>
          <p:spPr bwMode="auto">
            <a:xfrm>
              <a:off x="4326936" y="3609002"/>
              <a:ext cx="316005" cy="456030"/>
            </a:xfrm>
            <a:prstGeom prst="roundRect">
              <a:avLst/>
            </a:prstGeom>
            <a:solidFill>
              <a:srgbClr val="000000">
                <a:alpha val="50196"/>
              </a:srgbClr>
            </a:solidFill>
            <a:ln>
              <a:solidFill>
                <a:schemeClr val="accent5"/>
              </a:solidFill>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eaVert" wrap="none" lIns="91440" tIns="45720" rIns="91440" bIns="45720" numCol="1" spcCol="0" rtlCol="0" fromWordArt="0" anchor="ctr" anchorCtr="0" forceAA="0" compatLnSpc="1">
              <a:prstTxWarp prst="textNoShape">
                <a:avLst/>
              </a:prstTxWarp>
              <a:noAutofit/>
            </a:bodyPr>
            <a:lstStyle/>
            <a:p>
              <a:pPr algn="ctr"/>
              <a:r>
                <a:rPr lang="en-US" altLang="ja-JP" sz="1050" b="1" dirty="0">
                  <a:solidFill>
                    <a:schemeClr val="bg1"/>
                  </a:solidFill>
                  <a:latin typeface="+mn-ea"/>
                </a:rPr>
                <a:t>little</a:t>
              </a:r>
              <a:endParaRPr lang="ja-JP" altLang="en-US" sz="1050" b="1" dirty="0">
                <a:solidFill>
                  <a:schemeClr val="bg1"/>
                </a:solidFill>
                <a:latin typeface="+mn-ea"/>
              </a:endParaRPr>
            </a:p>
          </p:txBody>
        </p:sp>
        <p:sp>
          <p:nvSpPr>
            <p:cNvPr id="17" name="角丸四角形 16"/>
            <p:cNvSpPr/>
            <p:nvPr/>
          </p:nvSpPr>
          <p:spPr bwMode="auto">
            <a:xfrm>
              <a:off x="4662001" y="3609002"/>
              <a:ext cx="316005" cy="456030"/>
            </a:xfrm>
            <a:prstGeom prst="roundRect">
              <a:avLst/>
            </a:prstGeom>
            <a:solidFill>
              <a:srgbClr val="000000">
                <a:alpha val="50196"/>
              </a:srgbClr>
            </a:solidFill>
            <a:ln>
              <a:solidFill>
                <a:schemeClr val="accent5"/>
              </a:solidFill>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eaVert" wrap="none" lIns="91440" tIns="45720" rIns="91440" bIns="45720" numCol="1" spcCol="0" rtlCol="0" fromWordArt="0" anchor="ctr" anchorCtr="0" forceAA="0" compatLnSpc="1">
              <a:prstTxWarp prst="textNoShape">
                <a:avLst/>
              </a:prstTxWarp>
              <a:noAutofit/>
            </a:bodyPr>
            <a:lstStyle/>
            <a:p>
              <a:pPr algn="ctr"/>
              <a:r>
                <a:rPr lang="en-US" altLang="ja-JP" sz="1050" b="1" dirty="0">
                  <a:solidFill>
                    <a:schemeClr val="bg1"/>
                  </a:solidFill>
                  <a:latin typeface="+mn-ea"/>
                </a:rPr>
                <a:t>little</a:t>
              </a:r>
              <a:endParaRPr lang="ja-JP" altLang="en-US" sz="1050" b="1" dirty="0">
                <a:solidFill>
                  <a:schemeClr val="bg1"/>
                </a:solidFill>
                <a:latin typeface="+mn-ea"/>
              </a:endParaRPr>
            </a:p>
          </p:txBody>
        </p:sp>
      </p:grpSp>
    </p:spTree>
    <p:extLst>
      <p:ext uri="{BB962C8B-B14F-4D97-AF65-F5344CB8AC3E}">
        <p14:creationId xmlns:p14="http://schemas.microsoft.com/office/powerpoint/2010/main" val="17034210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E6D1E69-4F7A-F4A7-91CA-426ABB8B08C8}"/>
              </a:ext>
            </a:extLst>
          </p:cNvPr>
          <p:cNvSpPr>
            <a:spLocks noGrp="1"/>
          </p:cNvSpPr>
          <p:nvPr>
            <p:ph type="title"/>
          </p:nvPr>
        </p:nvSpPr>
        <p:spPr>
          <a:xfrm>
            <a:off x="1055944" y="0"/>
            <a:ext cx="10776052" cy="908972"/>
          </a:xfrm>
        </p:spPr>
        <p:txBody>
          <a:bodyPr/>
          <a:lstStyle/>
          <a:p>
            <a:r>
              <a:rPr lang="ja-JP" altLang="en-US" dirty="0"/>
              <a:t>いろいろなユニットの箱がかかれているが，これは何なのか？</a:t>
            </a:r>
            <a:br>
              <a:rPr lang="en-US" altLang="ja-JP" dirty="0"/>
            </a:br>
            <a:r>
              <a:rPr kumimoji="1" lang="en-US" altLang="ja-JP" sz="1800" dirty="0"/>
              <a:t>Apple A18P/M4 CPU </a:t>
            </a:r>
            <a:r>
              <a:rPr kumimoji="1" lang="ja-JP" altLang="en-US" sz="1800" dirty="0"/>
              <a:t>と </a:t>
            </a:r>
            <a:r>
              <a:rPr lang="en-US" altLang="ja-JP" sz="1800" dirty="0"/>
              <a:t>NVIDIA GPU (Turing)</a:t>
            </a:r>
            <a:endParaRPr kumimoji="1" lang="ja-JP" altLang="en-US" sz="2800" dirty="0"/>
          </a:p>
        </p:txBody>
      </p:sp>
      <p:sp>
        <p:nvSpPr>
          <p:cNvPr id="3" name="テキスト プレースホルダー 2">
            <a:extLst>
              <a:ext uri="{FF2B5EF4-FFF2-40B4-BE49-F238E27FC236}">
                <a16:creationId xmlns:a16="http://schemas.microsoft.com/office/drawing/2014/main" id="{E4AA41DC-2309-BD68-03B9-8F44F7E66FB1}"/>
              </a:ext>
            </a:extLst>
          </p:cNvPr>
          <p:cNvSpPr>
            <a:spLocks noGrp="1"/>
          </p:cNvSpPr>
          <p:nvPr>
            <p:ph type="body" sz="quarter" idx="10"/>
          </p:nvPr>
        </p:nvSpPr>
        <p:spPr>
          <a:xfrm>
            <a:off x="515939" y="6039029"/>
            <a:ext cx="10890120" cy="450005"/>
          </a:xfrm>
        </p:spPr>
        <p:txBody>
          <a:bodyPr/>
          <a:lstStyle/>
          <a:p>
            <a:pPr lvl="1"/>
            <a:r>
              <a:rPr lang="en-US" altLang="ja-JP" sz="1050" dirty="0" err="1"/>
              <a:t>Cardyak’s</a:t>
            </a:r>
            <a:r>
              <a:rPr lang="en-US" altLang="ja-JP" sz="1050" dirty="0"/>
              <a:t> Microarchitecture Cheat Sheet </a:t>
            </a:r>
            <a:r>
              <a:rPr lang="ja-JP" altLang="en-US" sz="1050" dirty="0"/>
              <a:t>より</a:t>
            </a:r>
            <a:br>
              <a:rPr lang="en-US" altLang="ja-JP" sz="1050" dirty="0"/>
            </a:br>
            <a:r>
              <a:rPr lang="en-US" altLang="ja-JP" sz="1050" dirty="0">
                <a:hlinkClick r:id="rId2"/>
              </a:rPr>
              <a:t>https://docs.google.com/spreadsheets/d/18ln8SKIGRK5_6NymgdB9oLbTJCFwx0iFI-vUs6WFyuE/edit?gid=1076260513#gid=1076260513</a:t>
            </a:r>
            <a:endParaRPr lang="en-US" altLang="ja-JP" sz="1050" dirty="0"/>
          </a:p>
          <a:p>
            <a:pPr lvl="1"/>
            <a:r>
              <a:rPr kumimoji="1" lang="pt-BR" altLang="ja-JP" sz="1050" dirty="0"/>
              <a:t>Rodrigo Huerta e</a:t>
            </a:r>
            <a:r>
              <a:rPr kumimoji="1" lang="en-US" altLang="ja-JP" sz="1050" dirty="0"/>
              <a:t>t al., Dissecting and Modeling the Architecture of Modern GPU Cores</a:t>
            </a:r>
            <a:r>
              <a:rPr kumimoji="1" lang="pt-BR" altLang="ja-JP" sz="1050" dirty="0"/>
              <a:t> </a:t>
            </a:r>
            <a:r>
              <a:rPr kumimoji="1" lang="ja-JP" altLang="en-US" sz="1050" dirty="0"/>
              <a:t>より</a:t>
            </a:r>
            <a:br>
              <a:rPr kumimoji="1" lang="en-US" altLang="ja-JP" sz="1050" dirty="0"/>
            </a:br>
            <a:r>
              <a:rPr lang="en-US" altLang="ja-JP" sz="1050" dirty="0">
                <a:hlinkClick r:id="rId3"/>
              </a:rPr>
              <a:t>https://dl.acm.org/doi/10.1145/3725843.3756041</a:t>
            </a:r>
            <a:endParaRPr lang="en-US" altLang="ja-JP" sz="1050" dirty="0"/>
          </a:p>
          <a:p>
            <a:pPr lvl="1"/>
            <a:endParaRPr lang="en-US" altLang="ja-JP" sz="1050" dirty="0"/>
          </a:p>
        </p:txBody>
      </p:sp>
      <p:pic>
        <p:nvPicPr>
          <p:cNvPr id="7" name="図 6" descr="グラフィカル ユーザー インターフェイス, アプリケーション&#10;&#10;AI 生成コンテンツは誤りを含む可能性があります。">
            <a:extLst>
              <a:ext uri="{FF2B5EF4-FFF2-40B4-BE49-F238E27FC236}">
                <a16:creationId xmlns:a16="http://schemas.microsoft.com/office/drawing/2014/main" id="{D99D4E55-3965-04D2-D82A-653399EA4AD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5940" y="1178975"/>
            <a:ext cx="5715461" cy="4140046"/>
          </a:xfrm>
          <a:prstGeom prst="rect">
            <a:avLst/>
          </a:prstGeom>
        </p:spPr>
      </p:pic>
      <p:pic>
        <p:nvPicPr>
          <p:cNvPr id="5" name="図 4">
            <a:extLst>
              <a:ext uri="{FF2B5EF4-FFF2-40B4-BE49-F238E27FC236}">
                <a16:creationId xmlns:a16="http://schemas.microsoft.com/office/drawing/2014/main" id="{ED30981F-A1F3-4304-CB02-FCE99F139778}"/>
              </a:ext>
            </a:extLst>
          </p:cNvPr>
          <p:cNvPicPr>
            <a:picLocks noChangeAspect="1"/>
          </p:cNvPicPr>
          <p:nvPr/>
        </p:nvPicPr>
        <p:blipFill>
          <a:blip r:embed="rId5"/>
          <a:stretch>
            <a:fillRect/>
          </a:stretch>
        </p:blipFill>
        <p:spPr>
          <a:xfrm>
            <a:off x="6816009" y="998973"/>
            <a:ext cx="4860054" cy="4871589"/>
          </a:xfrm>
          <a:prstGeom prst="rect">
            <a:avLst/>
          </a:prstGeom>
        </p:spPr>
      </p:pic>
    </p:spTree>
    <p:extLst>
      <p:ext uri="{BB962C8B-B14F-4D97-AF65-F5344CB8AC3E}">
        <p14:creationId xmlns:p14="http://schemas.microsoft.com/office/powerpoint/2010/main" val="27013881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415948" y="0"/>
            <a:ext cx="10776052" cy="908972"/>
          </a:xfrm>
        </p:spPr>
        <p:txBody>
          <a:bodyPr/>
          <a:lstStyle/>
          <a:p>
            <a:r>
              <a:rPr lang="ja-JP" altLang="en-US" dirty="0"/>
              <a:t>先進計算機構成論</a:t>
            </a:r>
          </a:p>
        </p:txBody>
      </p:sp>
      <p:sp>
        <p:nvSpPr>
          <p:cNvPr id="3" name="テキスト プレースホルダー 2"/>
          <p:cNvSpPr>
            <a:spLocks noGrp="1"/>
          </p:cNvSpPr>
          <p:nvPr>
            <p:ph type="body" sz="quarter" idx="10"/>
          </p:nvPr>
        </p:nvSpPr>
        <p:spPr>
          <a:xfrm>
            <a:off x="1775952" y="1088974"/>
            <a:ext cx="10080112" cy="5219751"/>
          </a:xfrm>
        </p:spPr>
        <p:txBody>
          <a:bodyPr/>
          <a:lstStyle/>
          <a:p>
            <a:r>
              <a:rPr lang="ja-JP" altLang="en-US" dirty="0"/>
              <a:t>コンピュータのハードウェアの構成方法が主題</a:t>
            </a:r>
            <a:endParaRPr lang="en-US" altLang="ja-JP" dirty="0"/>
          </a:p>
          <a:p>
            <a:r>
              <a:rPr lang="ja-JP" altLang="en-US" dirty="0"/>
              <a:t>以下のようなことを理解してもらいたい</a:t>
            </a:r>
            <a:endParaRPr lang="en-US" altLang="ja-JP" dirty="0"/>
          </a:p>
          <a:p>
            <a:pPr lvl="1"/>
            <a:r>
              <a:rPr lang="ja-JP" altLang="en-US" dirty="0"/>
              <a:t>高速な </a:t>
            </a:r>
            <a:r>
              <a:rPr lang="en-US" altLang="ja-JP" dirty="0"/>
              <a:t>CPU </a:t>
            </a:r>
            <a:r>
              <a:rPr lang="ja-JP" altLang="en-US" dirty="0"/>
              <a:t>とはどう言うものか？ </a:t>
            </a:r>
            <a:endParaRPr lang="en-US" altLang="ja-JP" dirty="0"/>
          </a:p>
          <a:p>
            <a:pPr lvl="2"/>
            <a:r>
              <a:rPr lang="ja-JP" altLang="en-US" dirty="0"/>
              <a:t>具体的にどのような工夫があるのか？</a:t>
            </a:r>
            <a:endParaRPr lang="en-US" altLang="ja-JP" dirty="0"/>
          </a:p>
          <a:p>
            <a:pPr lvl="1"/>
            <a:r>
              <a:rPr lang="en-US" altLang="ja-JP" dirty="0"/>
              <a:t>GPU </a:t>
            </a:r>
            <a:r>
              <a:rPr lang="ja-JP" altLang="en-US" dirty="0"/>
              <a:t>は </a:t>
            </a:r>
            <a:r>
              <a:rPr lang="en-US" altLang="ja-JP" dirty="0"/>
              <a:t>CPU </a:t>
            </a:r>
            <a:r>
              <a:rPr lang="ja-JP" altLang="en-US" dirty="0"/>
              <a:t>とは何が違うのか？</a:t>
            </a:r>
            <a:endParaRPr lang="en-US" altLang="ja-JP" dirty="0"/>
          </a:p>
          <a:p>
            <a:pPr lvl="2"/>
            <a:r>
              <a:rPr lang="ja-JP" altLang="en-US" dirty="0"/>
              <a:t>なぜ </a:t>
            </a:r>
            <a:r>
              <a:rPr lang="en-US" altLang="ja-JP" dirty="0"/>
              <a:t>GPU </a:t>
            </a:r>
            <a:r>
              <a:rPr lang="ja-JP" altLang="en-US" dirty="0"/>
              <a:t>やアクセラレータは，</a:t>
            </a:r>
            <a:r>
              <a:rPr lang="en-US" altLang="ja-JP" dirty="0"/>
              <a:t>AI </a:t>
            </a:r>
            <a:r>
              <a:rPr lang="ja-JP" altLang="en-US" dirty="0"/>
              <a:t>で高速で効率が良いのか？</a:t>
            </a:r>
            <a:endParaRPr lang="en-US" altLang="ja-JP" dirty="0"/>
          </a:p>
          <a:p>
            <a:pPr lvl="1"/>
            <a:r>
              <a:rPr lang="ja-JP" altLang="en-US" dirty="0"/>
              <a:t>それらの速度や電力，回路面積はどう決まるのか？</a:t>
            </a:r>
            <a:endParaRPr lang="en-US" altLang="ja-JP" dirty="0"/>
          </a:p>
        </p:txBody>
      </p:sp>
    </p:spTree>
    <p:extLst>
      <p:ext uri="{BB962C8B-B14F-4D97-AF65-F5344CB8AC3E}">
        <p14:creationId xmlns:p14="http://schemas.microsoft.com/office/powerpoint/2010/main" val="32160163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D6B37F-2945-4E33-9E0A-04F00ED1F72B}"/>
              </a:ext>
            </a:extLst>
          </p:cNvPr>
          <p:cNvSpPr>
            <a:spLocks noGrp="1"/>
          </p:cNvSpPr>
          <p:nvPr>
            <p:ph type="title"/>
          </p:nvPr>
        </p:nvSpPr>
        <p:spPr>
          <a:xfrm>
            <a:off x="785941" y="0"/>
            <a:ext cx="11070123" cy="908972"/>
          </a:xfrm>
        </p:spPr>
        <p:txBody>
          <a:bodyPr/>
          <a:lstStyle/>
          <a:p>
            <a:r>
              <a:rPr lang="ja-JP" altLang="en-US" dirty="0"/>
              <a:t>コンピュータや </a:t>
            </a:r>
            <a:r>
              <a:rPr lang="en-US" altLang="ja-JP" dirty="0"/>
              <a:t>CPU</a:t>
            </a:r>
            <a:r>
              <a:rPr lang="ja-JP" altLang="en-US" dirty="0"/>
              <a:t>，</a:t>
            </a:r>
            <a:r>
              <a:rPr lang="en-US" altLang="ja-JP" dirty="0"/>
              <a:t>GPU </a:t>
            </a:r>
            <a:r>
              <a:rPr lang="ja-JP" altLang="en-US" dirty="0"/>
              <a:t>等についてのニュースや解説記事など</a:t>
            </a:r>
          </a:p>
        </p:txBody>
      </p:sp>
      <p:sp>
        <p:nvSpPr>
          <p:cNvPr id="3" name="テキスト プレースホルダー 2">
            <a:extLst>
              <a:ext uri="{FF2B5EF4-FFF2-40B4-BE49-F238E27FC236}">
                <a16:creationId xmlns:a16="http://schemas.microsoft.com/office/drawing/2014/main" id="{14D5B29B-5B6D-4740-BC9A-6C771386DF5A}"/>
              </a:ext>
            </a:extLst>
          </p:cNvPr>
          <p:cNvSpPr>
            <a:spLocks noGrp="1"/>
          </p:cNvSpPr>
          <p:nvPr>
            <p:ph type="body" sz="quarter" idx="10"/>
          </p:nvPr>
        </p:nvSpPr>
        <p:spPr>
          <a:xfrm>
            <a:off x="6366003" y="1178975"/>
            <a:ext cx="4860054" cy="5129750"/>
          </a:xfrm>
        </p:spPr>
        <p:txBody>
          <a:bodyPr anchor="t"/>
          <a:lstStyle/>
          <a:p>
            <a:r>
              <a:rPr lang="ja-JP" altLang="en-US" sz="1800" dirty="0"/>
              <a:t>たとえば左に書いてあるようなことが，なんとなくわかるようになる</a:t>
            </a:r>
            <a:endParaRPr lang="en-US" altLang="ja-JP" sz="1800" dirty="0"/>
          </a:p>
          <a:p>
            <a:pPr lvl="1"/>
            <a:r>
              <a:rPr lang="ja-JP" altLang="en-US" sz="1800" dirty="0"/>
              <a:t>ブロック図や表に出てくる数字</a:t>
            </a:r>
            <a:endParaRPr lang="en-US" altLang="ja-JP" sz="1800" dirty="0"/>
          </a:p>
          <a:p>
            <a:r>
              <a:rPr lang="en-US" altLang="ja-JP" sz="1800" dirty="0"/>
              <a:t>PC Watch </a:t>
            </a:r>
            <a:r>
              <a:rPr lang="ja-JP" altLang="en-US" sz="1800" dirty="0"/>
              <a:t>の記事より</a:t>
            </a:r>
            <a:br>
              <a:rPr lang="en-US" altLang="ja-JP" sz="1800" dirty="0">
                <a:solidFill>
                  <a:schemeClr val="accent4"/>
                </a:solidFill>
              </a:rPr>
            </a:br>
            <a:r>
              <a:rPr lang="en-US" altLang="ja-JP" sz="1800" dirty="0">
                <a:solidFill>
                  <a:schemeClr val="accent4"/>
                </a:solidFill>
                <a:hlinkClick r:id="rId2"/>
              </a:rPr>
              <a:t>https://pc.watch.impress.co.jp/docs/column/semicon/1665146.html</a:t>
            </a:r>
            <a:endParaRPr lang="ja-JP" altLang="en-US" sz="1800" dirty="0"/>
          </a:p>
        </p:txBody>
      </p:sp>
      <p:pic>
        <p:nvPicPr>
          <p:cNvPr id="5" name="図 4">
            <a:extLst>
              <a:ext uri="{FF2B5EF4-FFF2-40B4-BE49-F238E27FC236}">
                <a16:creationId xmlns:a16="http://schemas.microsoft.com/office/drawing/2014/main" id="{5754F9EB-43F0-7AD3-3C1A-17FE6A0C9086}"/>
              </a:ext>
            </a:extLst>
          </p:cNvPr>
          <p:cNvPicPr>
            <a:picLocks noChangeAspect="1"/>
          </p:cNvPicPr>
          <p:nvPr/>
        </p:nvPicPr>
        <p:blipFill>
          <a:blip r:embed="rId3"/>
          <a:stretch>
            <a:fillRect/>
          </a:stretch>
        </p:blipFill>
        <p:spPr>
          <a:xfrm>
            <a:off x="245935" y="1088974"/>
            <a:ext cx="5909556" cy="5277691"/>
          </a:xfrm>
          <a:prstGeom prst="rect">
            <a:avLst/>
          </a:prstGeom>
        </p:spPr>
      </p:pic>
    </p:spTree>
    <p:extLst>
      <p:ext uri="{BB962C8B-B14F-4D97-AF65-F5344CB8AC3E}">
        <p14:creationId xmlns:p14="http://schemas.microsoft.com/office/powerpoint/2010/main" val="11372793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FF2E6-FEAA-4032-8A9B-C56ADB0FDEF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D431125-6EBA-2932-C56E-A0BD3A7F8BF9}"/>
              </a:ext>
            </a:extLst>
          </p:cNvPr>
          <p:cNvSpPr>
            <a:spLocks noGrp="1"/>
          </p:cNvSpPr>
          <p:nvPr>
            <p:ph type="title"/>
          </p:nvPr>
        </p:nvSpPr>
        <p:spPr/>
        <p:txBody>
          <a:bodyPr/>
          <a:lstStyle/>
          <a:p>
            <a:r>
              <a:rPr lang="ja-JP" altLang="en-US" dirty="0"/>
              <a:t>ほかにも </a:t>
            </a:r>
            <a:r>
              <a:rPr lang="en-US" altLang="ja-JP" dirty="0"/>
              <a:t>GPU </a:t>
            </a:r>
            <a:r>
              <a:rPr lang="ja-JP" altLang="en-US" dirty="0"/>
              <a:t>について</a:t>
            </a:r>
            <a:endParaRPr kumimoji="1" lang="ja-JP" altLang="en-US" dirty="0"/>
          </a:p>
        </p:txBody>
      </p:sp>
      <p:sp>
        <p:nvSpPr>
          <p:cNvPr id="3" name="テキスト プレースホルダー 2">
            <a:extLst>
              <a:ext uri="{FF2B5EF4-FFF2-40B4-BE49-F238E27FC236}">
                <a16:creationId xmlns:a16="http://schemas.microsoft.com/office/drawing/2014/main" id="{07F08FFE-1221-F60B-46F7-0DBB68240B53}"/>
              </a:ext>
            </a:extLst>
          </p:cNvPr>
          <p:cNvSpPr>
            <a:spLocks noGrp="1"/>
          </p:cNvSpPr>
          <p:nvPr>
            <p:ph type="body" sz="quarter" idx="10"/>
          </p:nvPr>
        </p:nvSpPr>
        <p:spPr>
          <a:xfrm>
            <a:off x="1055944" y="1088974"/>
            <a:ext cx="10260114" cy="5490061"/>
          </a:xfrm>
        </p:spPr>
        <p:txBody>
          <a:bodyPr/>
          <a:lstStyle/>
          <a:p>
            <a:r>
              <a:rPr lang="ja-JP" altLang="en-US" dirty="0"/>
              <a:t>「</a:t>
            </a:r>
            <a:r>
              <a:rPr lang="en-US" altLang="ja-JP" dirty="0"/>
              <a:t>GPU </a:t>
            </a:r>
            <a:r>
              <a:rPr lang="ja-JP" altLang="en-US" dirty="0"/>
              <a:t>は </a:t>
            </a:r>
            <a:r>
              <a:rPr lang="en-US" altLang="ja-JP" dirty="0"/>
              <a:t>CPU </a:t>
            </a:r>
            <a:r>
              <a:rPr lang="ja-JP" altLang="en-US" dirty="0"/>
              <a:t>より単純な小さいコアをよりたくさん積んでいるため性能が高い」</a:t>
            </a:r>
            <a:endParaRPr lang="en-US" altLang="ja-JP" dirty="0"/>
          </a:p>
          <a:p>
            <a:r>
              <a:rPr lang="ja-JP" altLang="en-US" dirty="0"/>
              <a:t>では，</a:t>
            </a:r>
            <a:endParaRPr lang="en-US" altLang="ja-JP" dirty="0"/>
          </a:p>
          <a:p>
            <a:pPr lvl="1"/>
            <a:r>
              <a:rPr lang="ja-JP" altLang="en-US" dirty="0"/>
              <a:t>なぜ </a:t>
            </a:r>
            <a:r>
              <a:rPr lang="en-US" altLang="ja-JP" dirty="0"/>
              <a:t>GPU </a:t>
            </a:r>
            <a:r>
              <a:rPr lang="ja-JP" altLang="en-US" dirty="0"/>
              <a:t>では小さく単純にできる？ どんなプログラムでも出来るのか？</a:t>
            </a:r>
            <a:endParaRPr lang="en-US" altLang="ja-JP" dirty="0"/>
          </a:p>
          <a:p>
            <a:pPr lvl="1"/>
            <a:r>
              <a:rPr lang="ja-JP" altLang="en-US" dirty="0"/>
              <a:t>そもそも「小さい」とか「単純」とはどういうこと？</a:t>
            </a:r>
            <a:endParaRPr lang="en-US" altLang="ja-JP" dirty="0"/>
          </a:p>
          <a:p>
            <a:r>
              <a:rPr lang="ja-JP" altLang="en-US" dirty="0"/>
              <a:t>これらの疑問に答えられるようにしたい</a:t>
            </a:r>
            <a:endParaRPr lang="en-US" altLang="ja-JP" dirty="0"/>
          </a:p>
        </p:txBody>
      </p:sp>
    </p:spTree>
    <p:extLst>
      <p:ext uri="{BB962C8B-B14F-4D97-AF65-F5344CB8AC3E}">
        <p14:creationId xmlns:p14="http://schemas.microsoft.com/office/powerpoint/2010/main" val="230524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415948" y="0"/>
            <a:ext cx="10776052" cy="908972"/>
          </a:xfrm>
        </p:spPr>
        <p:txBody>
          <a:bodyPr/>
          <a:lstStyle/>
          <a:p>
            <a:r>
              <a:rPr lang="ja-JP" altLang="en-US" dirty="0"/>
              <a:t>必要な予備知識</a:t>
            </a:r>
          </a:p>
        </p:txBody>
      </p:sp>
      <p:sp>
        <p:nvSpPr>
          <p:cNvPr id="3" name="テキスト プレースホルダー 2"/>
          <p:cNvSpPr>
            <a:spLocks noGrp="1"/>
          </p:cNvSpPr>
          <p:nvPr>
            <p:ph type="body" sz="quarter" idx="10"/>
          </p:nvPr>
        </p:nvSpPr>
        <p:spPr>
          <a:xfrm>
            <a:off x="1775952" y="1088974"/>
            <a:ext cx="10080112" cy="5219751"/>
          </a:xfrm>
        </p:spPr>
        <p:txBody>
          <a:bodyPr/>
          <a:lstStyle/>
          <a:p>
            <a:r>
              <a:rPr lang="ja-JP" altLang="en-US" dirty="0"/>
              <a:t>学部とかでコンピュータのハードのことをあまり勉強していない</a:t>
            </a:r>
            <a:br>
              <a:rPr lang="en-US" altLang="ja-JP" dirty="0"/>
            </a:br>
            <a:r>
              <a:rPr lang="ja-JP" altLang="en-US" dirty="0"/>
              <a:t>人でも大丈夫・・・ なようにしたい</a:t>
            </a:r>
            <a:endParaRPr lang="en-US" altLang="ja-JP" dirty="0"/>
          </a:p>
          <a:p>
            <a:pPr lvl="1"/>
            <a:r>
              <a:rPr lang="ja-JP" altLang="en-US" dirty="0"/>
              <a:t>２回目ぐらいまでは学部の講義レベルぐらいの復習</a:t>
            </a:r>
            <a:endParaRPr lang="en-US" altLang="ja-JP" dirty="0"/>
          </a:p>
          <a:p>
            <a:pPr lvl="1"/>
            <a:r>
              <a:rPr lang="ja-JP" altLang="en-US" dirty="0"/>
              <a:t>できれば </a:t>
            </a:r>
            <a:r>
              <a:rPr lang="en-US" altLang="ja-JP" dirty="0"/>
              <a:t>C </a:t>
            </a:r>
            <a:r>
              <a:rPr lang="ja-JP" altLang="en-US" dirty="0"/>
              <a:t>言語と論理回路の基本がわかっていてほしい</a:t>
            </a:r>
            <a:endParaRPr lang="en-US" altLang="ja-JP" dirty="0"/>
          </a:p>
          <a:p>
            <a:r>
              <a:rPr lang="ja-JP" altLang="en-US" dirty="0"/>
              <a:t>わかってなくてもなんとかしたいが，一部きついかもしれない</a:t>
            </a:r>
            <a:endParaRPr lang="en-US" altLang="ja-JP" dirty="0"/>
          </a:p>
          <a:p>
            <a:pPr lvl="1"/>
            <a:r>
              <a:rPr lang="ja-JP" altLang="en-US" dirty="0"/>
              <a:t>知っている人向けのところは発展的な内容として紹介の予定</a:t>
            </a:r>
          </a:p>
        </p:txBody>
      </p:sp>
    </p:spTree>
    <p:extLst>
      <p:ext uri="{BB962C8B-B14F-4D97-AF65-F5344CB8AC3E}">
        <p14:creationId xmlns:p14="http://schemas.microsoft.com/office/powerpoint/2010/main" val="6345622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4FAB98-57CC-0D32-3CF9-AC53A9FD9430}"/>
              </a:ext>
            </a:extLst>
          </p:cNvPr>
          <p:cNvSpPr>
            <a:spLocks noGrp="1"/>
          </p:cNvSpPr>
          <p:nvPr>
            <p:ph type="title"/>
          </p:nvPr>
        </p:nvSpPr>
        <p:spPr/>
        <p:txBody>
          <a:bodyPr/>
          <a:lstStyle/>
          <a:p>
            <a:r>
              <a:rPr kumimoji="1" lang="ja-JP" altLang="en-US" dirty="0"/>
              <a:t>参考</a:t>
            </a:r>
          </a:p>
        </p:txBody>
      </p:sp>
      <p:sp>
        <p:nvSpPr>
          <p:cNvPr id="3" name="テキスト プレースホルダー 2">
            <a:extLst>
              <a:ext uri="{FF2B5EF4-FFF2-40B4-BE49-F238E27FC236}">
                <a16:creationId xmlns:a16="http://schemas.microsoft.com/office/drawing/2014/main" id="{64A6B99B-079C-D68A-4DF7-D80914FA2F7A}"/>
              </a:ext>
            </a:extLst>
          </p:cNvPr>
          <p:cNvSpPr>
            <a:spLocks noGrp="1"/>
          </p:cNvSpPr>
          <p:nvPr>
            <p:ph type="body" sz="quarter" idx="10"/>
          </p:nvPr>
        </p:nvSpPr>
        <p:spPr/>
        <p:txBody>
          <a:bodyPr/>
          <a:lstStyle/>
          <a:p>
            <a:r>
              <a:rPr kumimoji="1" lang="ja-JP" altLang="en-US" dirty="0"/>
              <a:t>コンピュータアーキテクチャ </a:t>
            </a:r>
            <a:r>
              <a:rPr kumimoji="1" lang="en-US" altLang="ja-JP" dirty="0"/>
              <a:t>I </a:t>
            </a:r>
            <a:r>
              <a:rPr lang="ja-JP" altLang="en-US" dirty="0"/>
              <a:t>（お茶の水女子大）</a:t>
            </a:r>
            <a:endParaRPr lang="en-US" altLang="ja-JP" dirty="0"/>
          </a:p>
          <a:p>
            <a:pPr lvl="1"/>
            <a:r>
              <a:rPr lang="ja-JP" altLang="en-US" dirty="0"/>
              <a:t>学部向けに，より基礎的な内容を扱っている</a:t>
            </a:r>
            <a:endParaRPr kumimoji="1" lang="en-US" altLang="ja-JP" dirty="0"/>
          </a:p>
          <a:p>
            <a:pPr lvl="1"/>
            <a:r>
              <a:rPr lang="en-US" altLang="ja-JP" dirty="0">
                <a:hlinkClick r:id="rId2"/>
              </a:rPr>
              <a:t>https://github.com/shioyadan/otya-computer-architecture-i</a:t>
            </a:r>
            <a:endParaRPr lang="en-US" altLang="ja-JP" dirty="0"/>
          </a:p>
        </p:txBody>
      </p:sp>
    </p:spTree>
    <p:extLst>
      <p:ext uri="{BB962C8B-B14F-4D97-AF65-F5344CB8AC3E}">
        <p14:creationId xmlns:p14="http://schemas.microsoft.com/office/powerpoint/2010/main" val="5772961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CA3AB49F-8813-51BB-229B-E1919E23B9F9}"/>
              </a:ext>
            </a:extLst>
          </p:cNvPr>
          <p:cNvSpPr>
            <a:spLocks noGrp="1"/>
          </p:cNvSpPr>
          <p:nvPr>
            <p:ph type="title"/>
          </p:nvPr>
        </p:nvSpPr>
        <p:spPr/>
        <p:txBody>
          <a:bodyPr/>
          <a:lstStyle/>
          <a:p>
            <a:r>
              <a:rPr lang="ja-JP" altLang="en-US" dirty="0"/>
              <a:t>コンピュータ・アーキテクチャ</a:t>
            </a:r>
          </a:p>
        </p:txBody>
      </p:sp>
    </p:spTree>
    <p:extLst>
      <p:ext uri="{BB962C8B-B14F-4D97-AF65-F5344CB8AC3E}">
        <p14:creationId xmlns:p14="http://schemas.microsoft.com/office/powerpoint/2010/main" val="2736479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コンピュータ・アーキテクチャ</a:t>
            </a:r>
          </a:p>
        </p:txBody>
      </p:sp>
      <p:sp>
        <p:nvSpPr>
          <p:cNvPr id="3" name="テキスト プレースホルダー 2"/>
          <p:cNvSpPr>
            <a:spLocks noGrp="1"/>
          </p:cNvSpPr>
          <p:nvPr>
            <p:ph type="body" sz="quarter" idx="10"/>
          </p:nvPr>
        </p:nvSpPr>
        <p:spPr/>
        <p:txBody>
          <a:bodyPr/>
          <a:lstStyle/>
          <a:p>
            <a:r>
              <a:rPr kumimoji="1" lang="ja-JP" altLang="en-US" dirty="0"/>
              <a:t>「アーキテクチャ」</a:t>
            </a:r>
            <a:endParaRPr kumimoji="1" lang="en-US" altLang="ja-JP" dirty="0"/>
          </a:p>
          <a:p>
            <a:pPr lvl="1"/>
            <a:r>
              <a:rPr kumimoji="1" lang="ja-JP" altLang="en-US" dirty="0"/>
              <a:t>建築そのものや，建築における設計や様式</a:t>
            </a:r>
            <a:endParaRPr kumimoji="1" lang="en-US" altLang="ja-JP" dirty="0"/>
          </a:p>
          <a:p>
            <a:r>
              <a:rPr kumimoji="1" lang="ja-JP" altLang="en-US" dirty="0"/>
              <a:t>「コンピュータ・アーキテクチャ」</a:t>
            </a:r>
            <a:endParaRPr kumimoji="1" lang="en-US" altLang="ja-JP" dirty="0"/>
          </a:p>
          <a:p>
            <a:pPr lvl="1"/>
            <a:r>
              <a:rPr kumimoji="1" lang="ja-JP" altLang="en-US" dirty="0"/>
              <a:t>コンピュータ</a:t>
            </a:r>
            <a:r>
              <a:rPr lang="ja-JP" altLang="en-US" dirty="0"/>
              <a:t>における設計や様式</a:t>
            </a:r>
            <a:endParaRPr lang="en-US" altLang="ja-JP" dirty="0"/>
          </a:p>
          <a:p>
            <a:pPr lvl="1"/>
            <a:r>
              <a:rPr lang="ja-JP" altLang="en-US" dirty="0"/>
              <a:t>この講義が主に扱う分野の名前</a:t>
            </a:r>
            <a:endParaRPr lang="en-US" altLang="ja-JP" dirty="0"/>
          </a:p>
        </p:txBody>
      </p:sp>
    </p:spTree>
    <p:extLst>
      <p:ext uri="{BB962C8B-B14F-4D97-AF65-F5344CB8AC3E}">
        <p14:creationId xmlns:p14="http://schemas.microsoft.com/office/powerpoint/2010/main" val="32867760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コンピュータ・アーキテクチャ</a:t>
            </a:r>
            <a:endParaRPr kumimoji="1" lang="ja-JP" altLang="en-US" dirty="0"/>
          </a:p>
        </p:txBody>
      </p:sp>
      <p:sp>
        <p:nvSpPr>
          <p:cNvPr id="3" name="テキスト プレースホルダー 2"/>
          <p:cNvSpPr>
            <a:spLocks noGrp="1"/>
          </p:cNvSpPr>
          <p:nvPr>
            <p:ph type="body" sz="quarter" idx="10"/>
          </p:nvPr>
        </p:nvSpPr>
        <p:spPr>
          <a:xfrm>
            <a:off x="1865953" y="3969007"/>
            <a:ext cx="6480072" cy="2250025"/>
          </a:xfrm>
        </p:spPr>
        <p:txBody>
          <a:bodyPr/>
          <a:lstStyle/>
          <a:p>
            <a:pPr lvl="1"/>
            <a:r>
              <a:rPr lang="ja-JP" altLang="en-US" dirty="0"/>
              <a:t>命令セット・アーキテクチャ</a:t>
            </a:r>
            <a:endParaRPr lang="en-US" altLang="ja-JP" dirty="0"/>
          </a:p>
          <a:p>
            <a:pPr lvl="2"/>
            <a:r>
              <a:rPr lang="ja-JP" altLang="en-US" dirty="0"/>
              <a:t>命令をどう規定するか</a:t>
            </a:r>
            <a:endParaRPr lang="en-US" altLang="ja-JP" dirty="0"/>
          </a:p>
          <a:p>
            <a:pPr lvl="1"/>
            <a:r>
              <a:rPr lang="ja-JP" altLang="en-US" dirty="0"/>
              <a:t>マイクロアーキテクチャ</a:t>
            </a:r>
            <a:endParaRPr lang="en-US" altLang="ja-JP" dirty="0"/>
          </a:p>
          <a:p>
            <a:pPr lvl="2"/>
            <a:r>
              <a:rPr lang="ja-JP" altLang="en-US" dirty="0"/>
              <a:t>命令を </a:t>
            </a:r>
            <a:r>
              <a:rPr lang="en-US" altLang="ja-JP" dirty="0"/>
              <a:t>CPU </a:t>
            </a:r>
            <a:r>
              <a:rPr lang="ja-JP" altLang="en-US" dirty="0"/>
              <a:t>内でどう処理するよう作るか</a:t>
            </a:r>
            <a:endParaRPr lang="en-US" altLang="ja-JP" dirty="0"/>
          </a:p>
          <a:p>
            <a:pPr lvl="1"/>
            <a:r>
              <a:rPr lang="ja-JP" altLang="en-US" dirty="0"/>
              <a:t>システム・アーキテクチャ</a:t>
            </a:r>
            <a:endParaRPr lang="en-US" altLang="ja-JP" dirty="0"/>
          </a:p>
          <a:p>
            <a:pPr lvl="2"/>
            <a:r>
              <a:rPr kumimoji="1" lang="en-US" altLang="ja-JP" dirty="0"/>
              <a:t>CPU </a:t>
            </a:r>
            <a:r>
              <a:rPr kumimoji="1" lang="ja-JP" altLang="en-US" dirty="0"/>
              <a:t>やメモリなどを含めた全体をどう作るか</a:t>
            </a:r>
          </a:p>
        </p:txBody>
      </p:sp>
      <p:grpSp>
        <p:nvGrpSpPr>
          <p:cNvPr id="4" name="グループ化 3"/>
          <p:cNvGrpSpPr/>
          <p:nvPr/>
        </p:nvGrpSpPr>
        <p:grpSpPr>
          <a:xfrm>
            <a:off x="2585962" y="1583649"/>
            <a:ext cx="990011" cy="958055"/>
            <a:chOff x="782449" y="2618991"/>
            <a:chExt cx="1289862" cy="1211153"/>
          </a:xfrm>
        </p:grpSpPr>
        <p:pic>
          <p:nvPicPr>
            <p:cNvPr id="6" name="図 5"/>
            <p:cNvPicPr>
              <a:picLocks noChangeAspect="1"/>
            </p:cNvPicPr>
            <p:nvPr/>
          </p:nvPicPr>
          <p:blipFill>
            <a:blip r:embed="rId2"/>
            <a:stretch>
              <a:fillRect/>
            </a:stretch>
          </p:blipFill>
          <p:spPr>
            <a:xfrm rot="1188460">
              <a:off x="818792" y="2618991"/>
              <a:ext cx="1253519" cy="630007"/>
            </a:xfrm>
            <a:prstGeom prst="rect">
              <a:avLst/>
            </a:prstGeom>
            <a:ln>
              <a:noFill/>
            </a:ln>
            <a:effectLst>
              <a:outerShdw blurRad="50800" dist="38100" dir="2700000" algn="tl" rotWithShape="0">
                <a:prstClr val="black">
                  <a:alpha val="40000"/>
                </a:prstClr>
              </a:outerShdw>
            </a:effectLst>
          </p:spPr>
        </p:pic>
        <p:pic>
          <p:nvPicPr>
            <p:cNvPr id="7" name="図 6"/>
            <p:cNvPicPr>
              <a:picLocks noChangeAspect="1"/>
            </p:cNvPicPr>
            <p:nvPr/>
          </p:nvPicPr>
          <p:blipFill>
            <a:blip r:embed="rId3"/>
            <a:stretch>
              <a:fillRect/>
            </a:stretch>
          </p:blipFill>
          <p:spPr>
            <a:xfrm rot="20840149">
              <a:off x="782449" y="3200137"/>
              <a:ext cx="1266252" cy="630007"/>
            </a:xfrm>
            <a:prstGeom prst="rect">
              <a:avLst/>
            </a:prstGeom>
            <a:ln>
              <a:noFill/>
            </a:ln>
            <a:effectLst>
              <a:outerShdw blurRad="50800" dist="38100" dir="2700000" algn="tl" rotWithShape="0">
                <a:prstClr val="black">
                  <a:alpha val="40000"/>
                </a:prstClr>
              </a:outerShdw>
            </a:effectLst>
          </p:spPr>
        </p:pic>
      </p:grpSp>
      <p:pic>
        <p:nvPicPr>
          <p:cNvPr id="8" name="図 7"/>
          <p:cNvPicPr>
            <a:picLocks noChangeAspect="1"/>
          </p:cNvPicPr>
          <p:nvPr/>
        </p:nvPicPr>
        <p:blipFill>
          <a:blip r:embed="rId4"/>
          <a:stretch>
            <a:fillRect/>
          </a:stretch>
        </p:blipFill>
        <p:spPr>
          <a:xfrm>
            <a:off x="5015989" y="1178976"/>
            <a:ext cx="1588187" cy="1542447"/>
          </a:xfrm>
          <a:prstGeom prst="rect">
            <a:avLst/>
          </a:prstGeom>
          <a:effectLst>
            <a:outerShdw blurRad="50800" dist="38100" dir="2700000" algn="tl" rotWithShape="0">
              <a:prstClr val="black">
                <a:alpha val="40000"/>
              </a:prstClr>
            </a:outerShdw>
          </a:effectLst>
          <a:scene3d>
            <a:camera prst="perspectiveHeroicExtremeLeftFacing"/>
            <a:lightRig rig="threePt" dir="t"/>
          </a:scene3d>
        </p:spPr>
      </p:pic>
      <p:cxnSp>
        <p:nvCxnSpPr>
          <p:cNvPr id="9" name="直線コネクタ 8"/>
          <p:cNvCxnSpPr/>
          <p:nvPr/>
        </p:nvCxnSpPr>
        <p:spPr bwMode="auto">
          <a:xfrm>
            <a:off x="3575972" y="2168987"/>
            <a:ext cx="1260014" cy="450005"/>
          </a:xfrm>
          <a:prstGeom prst="line">
            <a:avLst/>
          </a:prstGeom>
          <a:noFill/>
          <a:ln w="12700" cap="flat" cmpd="sng" algn="ctr">
            <a:solidFill>
              <a:schemeClr val="accent5"/>
            </a:solidFill>
            <a:prstDash val="solid"/>
            <a:round/>
            <a:headEnd type="none" w="med" len="med"/>
            <a:tailEnd type="none" w="med" len="med"/>
          </a:ln>
          <a:effectLst/>
        </p:spPr>
      </p:cxnSp>
      <p:pic>
        <p:nvPicPr>
          <p:cNvPr id="10" name="Picture 8" descr="http://used.dospara.co.jp/img/item/manual/RWEB_81460000098741.jpg"/>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8000" b="91000" l="0" r="98000">
                        <a14:foregroundMark x1="86333" y1="18333" x2="98333" y2="21667"/>
                        <a14:foregroundMark x1="0" y1="75667" x2="0" y2="75667"/>
                        <a14:foregroundMark x1="29000" y1="8000" x2="29000" y2="8000"/>
                        <a14:foregroundMark x1="75000" y1="91000" x2="75000" y2="91000"/>
                      </a14:backgroundRemoval>
                    </a14:imgEffect>
                  </a14:imgLayer>
                </a14:imgProps>
              </a:ext>
              <a:ext uri="{28A0092B-C50C-407E-A947-70E740481C1C}">
                <a14:useLocalDpi xmlns:a14="http://schemas.microsoft.com/office/drawing/2010/main" val="0"/>
              </a:ext>
            </a:extLst>
          </a:blip>
          <a:srcRect/>
          <a:stretch>
            <a:fillRect/>
          </a:stretch>
        </p:blipFill>
        <p:spPr bwMode="auto">
          <a:xfrm>
            <a:off x="8346025" y="1448978"/>
            <a:ext cx="1368152" cy="136815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cxnSp>
        <p:nvCxnSpPr>
          <p:cNvPr id="11" name="直線コネクタ 10"/>
          <p:cNvCxnSpPr>
            <a:stCxn id="7" idx="3"/>
          </p:cNvCxnSpPr>
          <p:nvPr/>
        </p:nvCxnSpPr>
        <p:spPr bwMode="auto">
          <a:xfrm flipV="1">
            <a:off x="3546030" y="1268976"/>
            <a:ext cx="1289957" cy="917016"/>
          </a:xfrm>
          <a:prstGeom prst="line">
            <a:avLst/>
          </a:prstGeom>
          <a:noFill/>
          <a:ln w="12700" cap="flat" cmpd="sng" algn="ctr">
            <a:solidFill>
              <a:schemeClr val="accent5"/>
            </a:solidFill>
            <a:prstDash val="solid"/>
            <a:round/>
            <a:headEnd type="none" w="med" len="med"/>
            <a:tailEnd type="none" w="med" len="med"/>
          </a:ln>
          <a:effectLst/>
        </p:spPr>
      </p:cxnSp>
      <p:grpSp>
        <p:nvGrpSpPr>
          <p:cNvPr id="12" name="グループ化 11"/>
          <p:cNvGrpSpPr/>
          <p:nvPr/>
        </p:nvGrpSpPr>
        <p:grpSpPr>
          <a:xfrm>
            <a:off x="7086012" y="1808982"/>
            <a:ext cx="720009" cy="540006"/>
            <a:chOff x="5382008" y="2888994"/>
            <a:chExt cx="720009" cy="540006"/>
          </a:xfrm>
        </p:grpSpPr>
        <p:cxnSp>
          <p:nvCxnSpPr>
            <p:cNvPr id="13" name="直線コネクタ 12"/>
            <p:cNvCxnSpPr/>
            <p:nvPr/>
          </p:nvCxnSpPr>
          <p:spPr bwMode="auto">
            <a:xfrm>
              <a:off x="5382008" y="3158997"/>
              <a:ext cx="720008" cy="0"/>
            </a:xfrm>
            <a:prstGeom prst="line">
              <a:avLst/>
            </a:prstGeom>
            <a:noFill/>
            <a:ln w="12700" cap="flat" cmpd="sng" algn="ctr">
              <a:solidFill>
                <a:schemeClr val="accent5"/>
              </a:solidFill>
              <a:prstDash val="solid"/>
              <a:round/>
              <a:headEnd type="none" w="med" len="med"/>
              <a:tailEnd type="none" w="med" len="med"/>
            </a:ln>
            <a:effectLst/>
          </p:spPr>
        </p:cxnSp>
        <p:cxnSp>
          <p:nvCxnSpPr>
            <p:cNvPr id="14" name="直線コネクタ 13"/>
            <p:cNvCxnSpPr/>
            <p:nvPr/>
          </p:nvCxnSpPr>
          <p:spPr bwMode="auto">
            <a:xfrm flipH="1" flipV="1">
              <a:off x="5832013" y="2888994"/>
              <a:ext cx="270003" cy="270003"/>
            </a:xfrm>
            <a:prstGeom prst="line">
              <a:avLst/>
            </a:prstGeom>
            <a:noFill/>
            <a:ln w="12700" cap="flat" cmpd="sng" algn="ctr">
              <a:solidFill>
                <a:schemeClr val="accent5"/>
              </a:solidFill>
              <a:prstDash val="solid"/>
              <a:round/>
              <a:headEnd type="none" w="med" len="med"/>
              <a:tailEnd type="none" w="med" len="med"/>
            </a:ln>
            <a:effectLst/>
          </p:spPr>
        </p:cxnSp>
        <p:cxnSp>
          <p:nvCxnSpPr>
            <p:cNvPr id="15" name="直線コネクタ 14"/>
            <p:cNvCxnSpPr/>
            <p:nvPr/>
          </p:nvCxnSpPr>
          <p:spPr bwMode="auto">
            <a:xfrm flipH="1">
              <a:off x="5832013" y="3158997"/>
              <a:ext cx="270004" cy="270003"/>
            </a:xfrm>
            <a:prstGeom prst="line">
              <a:avLst/>
            </a:prstGeom>
            <a:noFill/>
            <a:ln w="12700" cap="flat" cmpd="sng" algn="ctr">
              <a:solidFill>
                <a:schemeClr val="accent5"/>
              </a:solidFill>
              <a:prstDash val="solid"/>
              <a:round/>
              <a:headEnd type="none" w="med" len="med"/>
              <a:tailEnd type="none" w="med" len="med"/>
            </a:ln>
            <a:effectLst/>
          </p:spPr>
        </p:cxnSp>
      </p:grpSp>
      <p:grpSp>
        <p:nvGrpSpPr>
          <p:cNvPr id="16" name="グループ化 15"/>
          <p:cNvGrpSpPr/>
          <p:nvPr/>
        </p:nvGrpSpPr>
        <p:grpSpPr>
          <a:xfrm rot="5400000">
            <a:off x="8706029" y="3699004"/>
            <a:ext cx="720009" cy="540006"/>
            <a:chOff x="6143425" y="3248998"/>
            <a:chExt cx="720009" cy="540006"/>
          </a:xfrm>
        </p:grpSpPr>
        <p:cxnSp>
          <p:nvCxnSpPr>
            <p:cNvPr id="17" name="直線コネクタ 16"/>
            <p:cNvCxnSpPr/>
            <p:nvPr/>
          </p:nvCxnSpPr>
          <p:spPr bwMode="auto">
            <a:xfrm>
              <a:off x="6143425" y="3519001"/>
              <a:ext cx="720008" cy="0"/>
            </a:xfrm>
            <a:prstGeom prst="line">
              <a:avLst/>
            </a:prstGeom>
            <a:noFill/>
            <a:ln w="12700" cap="flat" cmpd="sng" algn="ctr">
              <a:solidFill>
                <a:schemeClr val="accent5"/>
              </a:solidFill>
              <a:prstDash val="solid"/>
              <a:round/>
              <a:headEnd type="none" w="med" len="med"/>
              <a:tailEnd type="none" w="med" len="med"/>
            </a:ln>
            <a:effectLst/>
          </p:spPr>
        </p:cxnSp>
        <p:cxnSp>
          <p:nvCxnSpPr>
            <p:cNvPr id="18" name="直線コネクタ 17"/>
            <p:cNvCxnSpPr/>
            <p:nvPr/>
          </p:nvCxnSpPr>
          <p:spPr bwMode="auto">
            <a:xfrm flipH="1" flipV="1">
              <a:off x="6593430" y="3248998"/>
              <a:ext cx="270003" cy="270003"/>
            </a:xfrm>
            <a:prstGeom prst="line">
              <a:avLst/>
            </a:prstGeom>
            <a:noFill/>
            <a:ln w="12700" cap="flat" cmpd="sng" algn="ctr">
              <a:solidFill>
                <a:schemeClr val="accent5"/>
              </a:solidFill>
              <a:prstDash val="solid"/>
              <a:round/>
              <a:headEnd type="none" w="med" len="med"/>
              <a:tailEnd type="none" w="med" len="med"/>
            </a:ln>
            <a:effectLst/>
          </p:spPr>
        </p:cxnSp>
        <p:cxnSp>
          <p:nvCxnSpPr>
            <p:cNvPr id="19" name="直線コネクタ 18"/>
            <p:cNvCxnSpPr/>
            <p:nvPr/>
          </p:nvCxnSpPr>
          <p:spPr bwMode="auto">
            <a:xfrm flipH="1">
              <a:off x="6593430" y="3519001"/>
              <a:ext cx="270004" cy="270003"/>
            </a:xfrm>
            <a:prstGeom prst="line">
              <a:avLst/>
            </a:prstGeom>
            <a:noFill/>
            <a:ln w="12700" cap="flat" cmpd="sng" algn="ctr">
              <a:solidFill>
                <a:schemeClr val="accent5"/>
              </a:solidFill>
              <a:prstDash val="solid"/>
              <a:round/>
              <a:headEnd type="none" w="med" len="med"/>
              <a:tailEnd type="none" w="med" len="med"/>
            </a:ln>
            <a:effectLst/>
          </p:spPr>
        </p:cxnSp>
      </p:grpSp>
      <p:pic>
        <p:nvPicPr>
          <p:cNvPr id="20" name="Picture 4" descr="http://www.softantenna.com/wp/wp-content/uploads/2012/11/airdisplay.png"/>
          <p:cNvPicPr>
            <a:picLocks noChangeAspect="1" noChangeArrowheads="1"/>
          </p:cNvPicPr>
          <p:nvPr/>
        </p:nvPicPr>
        <p:blipFill>
          <a:blip r:embed="rId7" cstate="print">
            <a:extLst>
              <a:ext uri="{BEBA8EAE-BF5A-486C-A8C5-ECC9F3942E4B}">
                <a14:imgProps xmlns:a14="http://schemas.microsoft.com/office/drawing/2010/main">
                  <a14:imgLayer r:embed="rId8">
                    <a14:imgEffect>
                      <a14:backgroundRemoval t="1075" b="92043" l="6965" r="90276">
                        <a14:foregroundMark x1="23390" y1="20860" x2="60447" y2="21075"/>
                        <a14:foregroundMark x1="22996" y1="22366" x2="23259" y2="53978"/>
                        <a14:foregroundMark x1="23259" y1="54839" x2="60447" y2="55484"/>
                        <a14:foregroundMark x1="60447" y1="51398" x2="25361" y2="21935"/>
                        <a14:foregroundMark x1="39947" y1="23656" x2="59396" y2="44731"/>
                        <a14:foregroundMark x1="59658" y1="41290" x2="55716" y2="22796"/>
                        <a14:foregroundMark x1="24704" y1="27742" x2="44415" y2="50538"/>
                        <a14:foregroundMark x1="42050" y1="71398" x2="44152" y2="72688"/>
                        <a14:foregroundMark x1="81603" y1="83011" x2="86202" y2="78495"/>
                        <a14:foregroundMark x1="84100" y1="61935" x2="87779" y2="64301"/>
                      </a14:backgroundRemoval>
                    </a14:imgEffect>
                  </a14:imgLayer>
                </a14:imgProps>
              </a:ext>
              <a:ext uri="{28A0092B-C50C-407E-A947-70E740481C1C}">
                <a14:useLocalDpi xmlns:a14="http://schemas.microsoft.com/office/drawing/2010/main" val="0"/>
              </a:ext>
            </a:extLst>
          </a:blip>
          <a:srcRect/>
          <a:stretch>
            <a:fillRect/>
          </a:stretch>
        </p:blipFill>
        <p:spPr bwMode="auto">
          <a:xfrm>
            <a:off x="8166023" y="4599014"/>
            <a:ext cx="2118616" cy="129455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1" name="テキスト ボックス 20"/>
          <p:cNvSpPr txBox="1"/>
          <p:nvPr/>
        </p:nvSpPr>
        <p:spPr>
          <a:xfrm>
            <a:off x="2315958" y="2978995"/>
            <a:ext cx="1620018" cy="369332"/>
          </a:xfrm>
          <a:prstGeom prst="rect">
            <a:avLst/>
          </a:prstGeom>
          <a:noFill/>
        </p:spPr>
        <p:txBody>
          <a:bodyPr wrap="none" rtlCol="0">
            <a:noAutofit/>
          </a:bodyPr>
          <a:lstStyle/>
          <a:p>
            <a:r>
              <a:rPr lang="ja-JP" altLang="en-US" sz="2400" dirty="0">
                <a:solidFill>
                  <a:schemeClr val="tx1">
                    <a:lumMod val="75000"/>
                    <a:lumOff val="25000"/>
                  </a:schemeClr>
                </a:solidFill>
              </a:rPr>
              <a:t>プログラムに</a:t>
            </a:r>
          </a:p>
        </p:txBody>
      </p:sp>
      <p:sp>
        <p:nvSpPr>
          <p:cNvPr id="22" name="テキスト ボックス 21"/>
          <p:cNvSpPr txBox="1"/>
          <p:nvPr/>
        </p:nvSpPr>
        <p:spPr>
          <a:xfrm>
            <a:off x="4674120" y="2978995"/>
            <a:ext cx="1620018" cy="369332"/>
          </a:xfrm>
          <a:prstGeom prst="rect">
            <a:avLst/>
          </a:prstGeom>
          <a:noFill/>
        </p:spPr>
        <p:txBody>
          <a:bodyPr wrap="none" rtlCol="0">
            <a:noAutofit/>
          </a:bodyPr>
          <a:lstStyle/>
          <a:p>
            <a:r>
              <a:rPr lang="ja-JP" altLang="en-US" sz="2400" dirty="0">
                <a:solidFill>
                  <a:schemeClr val="tx1">
                    <a:lumMod val="75000"/>
                    <a:lumOff val="25000"/>
                  </a:schemeClr>
                </a:solidFill>
              </a:rPr>
              <a:t>書かれている命令に</a:t>
            </a:r>
          </a:p>
        </p:txBody>
      </p:sp>
      <p:sp>
        <p:nvSpPr>
          <p:cNvPr id="23" name="テキスト ボックス 22"/>
          <p:cNvSpPr txBox="1"/>
          <p:nvPr/>
        </p:nvSpPr>
        <p:spPr>
          <a:xfrm>
            <a:off x="8256024" y="2978995"/>
            <a:ext cx="1620018" cy="369332"/>
          </a:xfrm>
          <a:prstGeom prst="rect">
            <a:avLst/>
          </a:prstGeom>
          <a:noFill/>
        </p:spPr>
        <p:txBody>
          <a:bodyPr wrap="none" rtlCol="0">
            <a:noAutofit/>
          </a:bodyPr>
          <a:lstStyle/>
          <a:p>
            <a:pPr algn="ctr"/>
            <a:r>
              <a:rPr lang="ja-JP" altLang="en-US" sz="2400" dirty="0">
                <a:solidFill>
                  <a:schemeClr val="tx1">
                    <a:lumMod val="75000"/>
                    <a:lumOff val="25000"/>
                  </a:schemeClr>
                </a:solidFill>
              </a:rPr>
              <a:t>従って計算</a:t>
            </a:r>
            <a:r>
              <a:rPr lang="en-US" altLang="ja-JP" sz="2400" dirty="0">
                <a:solidFill>
                  <a:schemeClr val="tx1">
                    <a:lumMod val="75000"/>
                    <a:lumOff val="25000"/>
                  </a:schemeClr>
                </a:solidFill>
              </a:rPr>
              <a:t>&amp;</a:t>
            </a:r>
            <a:r>
              <a:rPr lang="ja-JP" altLang="en-US" sz="2400" dirty="0">
                <a:solidFill>
                  <a:schemeClr val="tx1">
                    <a:lumMod val="75000"/>
                    <a:lumOff val="25000"/>
                  </a:schemeClr>
                </a:solidFill>
              </a:rPr>
              <a:t>出力</a:t>
            </a:r>
          </a:p>
        </p:txBody>
      </p:sp>
    </p:spTree>
    <p:extLst>
      <p:ext uri="{BB962C8B-B14F-4D97-AF65-F5344CB8AC3E}">
        <p14:creationId xmlns:p14="http://schemas.microsoft.com/office/powerpoint/2010/main" val="18793763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他の分野との関係：ソフトとハードの境界にある</a:t>
            </a:r>
          </a:p>
        </p:txBody>
      </p:sp>
      <p:sp>
        <p:nvSpPr>
          <p:cNvPr id="4" name="角丸四角形 3"/>
          <p:cNvSpPr/>
          <p:nvPr/>
        </p:nvSpPr>
        <p:spPr bwMode="auto">
          <a:xfrm>
            <a:off x="3125967" y="2168987"/>
            <a:ext cx="6120392" cy="1170012"/>
          </a:xfrm>
          <a:prstGeom prst="roundRect">
            <a:avLst/>
          </a:prstGeom>
          <a:solidFill>
            <a:schemeClr val="accent1"/>
          </a:solidFill>
          <a:ln>
            <a:noFill/>
            <a:headEnd/>
            <a:tailEnd type="triangle" w="sm" len="med"/>
          </a:ln>
          <a:effectLst>
            <a:softEdge rad="15240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dirty="0">
                <a:solidFill>
                  <a:schemeClr val="bg1"/>
                </a:solidFill>
              </a:rPr>
              <a:t>システム・ソフトウェア</a:t>
            </a:r>
            <a:endParaRPr lang="en-US" altLang="ja-JP" sz="1600" dirty="0">
              <a:solidFill>
                <a:schemeClr val="bg1"/>
              </a:solidFill>
            </a:endParaRPr>
          </a:p>
          <a:p>
            <a:pPr algn="ctr"/>
            <a:r>
              <a:rPr lang="en-US" altLang="ja-JP" sz="1600" dirty="0">
                <a:solidFill>
                  <a:schemeClr val="bg1"/>
                </a:solidFill>
              </a:rPr>
              <a:t>OS / </a:t>
            </a:r>
            <a:r>
              <a:rPr lang="ja-JP" altLang="en-US" sz="1600" dirty="0">
                <a:solidFill>
                  <a:schemeClr val="bg1"/>
                </a:solidFill>
              </a:rPr>
              <a:t>コンパイラ </a:t>
            </a:r>
            <a:r>
              <a:rPr lang="en-US" altLang="ja-JP" sz="1600" dirty="0">
                <a:solidFill>
                  <a:schemeClr val="bg1"/>
                </a:solidFill>
              </a:rPr>
              <a:t>/ </a:t>
            </a:r>
            <a:r>
              <a:rPr lang="ja-JP" altLang="en-US" sz="1600" dirty="0">
                <a:solidFill>
                  <a:schemeClr val="bg1"/>
                </a:solidFill>
              </a:rPr>
              <a:t>インタプリタ</a:t>
            </a:r>
          </a:p>
        </p:txBody>
      </p:sp>
      <p:sp>
        <p:nvSpPr>
          <p:cNvPr id="5" name="角丸四角形 4"/>
          <p:cNvSpPr/>
          <p:nvPr/>
        </p:nvSpPr>
        <p:spPr bwMode="auto">
          <a:xfrm>
            <a:off x="3125967" y="3248999"/>
            <a:ext cx="6120392" cy="1170011"/>
          </a:xfrm>
          <a:prstGeom prst="roundRect">
            <a:avLst/>
          </a:prstGeom>
          <a:solidFill>
            <a:schemeClr val="accent5"/>
          </a:solidFill>
          <a:ln>
            <a:noFill/>
            <a:headEnd/>
            <a:tailEnd type="triangle" w="sm" len="med"/>
          </a:ln>
          <a:effectLst>
            <a:softEdge rad="15240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3200" b="1" dirty="0">
                <a:solidFill>
                  <a:schemeClr val="bg1"/>
                </a:solidFill>
              </a:rPr>
              <a:t>ここ→ </a:t>
            </a:r>
            <a:r>
              <a:rPr lang="ja-JP" altLang="en-US" sz="2400" b="1" dirty="0">
                <a:solidFill>
                  <a:schemeClr val="bg1"/>
                </a:solidFill>
              </a:rPr>
              <a:t>コンピュータ・アーキテクチャ</a:t>
            </a:r>
          </a:p>
        </p:txBody>
      </p:sp>
      <p:sp>
        <p:nvSpPr>
          <p:cNvPr id="6" name="角丸四角形 5"/>
          <p:cNvSpPr/>
          <p:nvPr/>
        </p:nvSpPr>
        <p:spPr bwMode="auto">
          <a:xfrm>
            <a:off x="3125967" y="1088975"/>
            <a:ext cx="6120392" cy="1170013"/>
          </a:xfrm>
          <a:prstGeom prst="roundRect">
            <a:avLst/>
          </a:prstGeom>
          <a:solidFill>
            <a:schemeClr val="accent1"/>
          </a:solidFill>
          <a:ln>
            <a:noFill/>
            <a:headEnd/>
            <a:tailEnd type="triangle" w="sm" len="med"/>
          </a:ln>
          <a:effectLst>
            <a:softEdge rad="15240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dirty="0">
                <a:solidFill>
                  <a:schemeClr val="bg1"/>
                </a:solidFill>
              </a:rPr>
              <a:t>アプリケーション・ソフトウェア</a:t>
            </a:r>
            <a:endParaRPr lang="en-US" altLang="ja-JP" sz="1600" dirty="0">
              <a:solidFill>
                <a:schemeClr val="bg1"/>
              </a:solidFill>
            </a:endParaRPr>
          </a:p>
          <a:p>
            <a:pPr algn="ctr"/>
            <a:r>
              <a:rPr lang="ja-JP" altLang="en-US" sz="1600" dirty="0">
                <a:solidFill>
                  <a:schemeClr val="bg1"/>
                </a:solidFill>
              </a:rPr>
              <a:t>画像処理 </a:t>
            </a:r>
            <a:r>
              <a:rPr lang="en-US" altLang="ja-JP" sz="1600" dirty="0">
                <a:solidFill>
                  <a:schemeClr val="bg1"/>
                </a:solidFill>
              </a:rPr>
              <a:t>/ </a:t>
            </a:r>
            <a:r>
              <a:rPr lang="ja-JP" altLang="en-US" sz="1600" dirty="0">
                <a:solidFill>
                  <a:schemeClr val="bg1"/>
                </a:solidFill>
              </a:rPr>
              <a:t>音声認識 </a:t>
            </a:r>
            <a:r>
              <a:rPr lang="en-US" altLang="ja-JP" sz="1600" dirty="0">
                <a:solidFill>
                  <a:schemeClr val="bg1"/>
                </a:solidFill>
              </a:rPr>
              <a:t>/ </a:t>
            </a:r>
            <a:r>
              <a:rPr lang="ja-JP" altLang="en-US" sz="1600" dirty="0">
                <a:solidFill>
                  <a:schemeClr val="bg1"/>
                </a:solidFill>
              </a:rPr>
              <a:t>言語処理 </a:t>
            </a:r>
            <a:r>
              <a:rPr lang="en-US" altLang="ja-JP" sz="1600" dirty="0">
                <a:solidFill>
                  <a:schemeClr val="bg1"/>
                </a:solidFill>
              </a:rPr>
              <a:t>/ </a:t>
            </a:r>
            <a:r>
              <a:rPr lang="ja-JP" altLang="en-US" sz="1600" dirty="0">
                <a:solidFill>
                  <a:schemeClr val="bg1"/>
                </a:solidFill>
              </a:rPr>
              <a:t>機械制御 </a:t>
            </a:r>
            <a:endParaRPr lang="en-US" altLang="ja-JP" sz="1600" dirty="0">
              <a:solidFill>
                <a:schemeClr val="bg1"/>
              </a:solidFill>
            </a:endParaRPr>
          </a:p>
          <a:p>
            <a:pPr algn="ctr"/>
            <a:r>
              <a:rPr lang="en-US" altLang="ja-JP" sz="1600" dirty="0">
                <a:solidFill>
                  <a:schemeClr val="bg1"/>
                </a:solidFill>
              </a:rPr>
              <a:t>WEB </a:t>
            </a:r>
            <a:r>
              <a:rPr lang="ja-JP" altLang="en-US" sz="1600" dirty="0">
                <a:solidFill>
                  <a:schemeClr val="bg1"/>
                </a:solidFill>
              </a:rPr>
              <a:t>サービス </a:t>
            </a:r>
            <a:r>
              <a:rPr lang="en-US" altLang="ja-JP" sz="1600" dirty="0">
                <a:solidFill>
                  <a:schemeClr val="bg1"/>
                </a:solidFill>
              </a:rPr>
              <a:t>/ </a:t>
            </a:r>
            <a:r>
              <a:rPr lang="ja-JP" altLang="en-US" sz="1600" dirty="0">
                <a:solidFill>
                  <a:schemeClr val="bg1"/>
                </a:solidFill>
              </a:rPr>
              <a:t>暗号　</a:t>
            </a:r>
            <a:r>
              <a:rPr lang="en-US" altLang="ja-JP" sz="1600" dirty="0">
                <a:solidFill>
                  <a:schemeClr val="bg1"/>
                </a:solidFill>
              </a:rPr>
              <a:t>…</a:t>
            </a:r>
          </a:p>
        </p:txBody>
      </p:sp>
      <p:sp>
        <p:nvSpPr>
          <p:cNvPr id="7" name="角丸四角形 6"/>
          <p:cNvSpPr/>
          <p:nvPr/>
        </p:nvSpPr>
        <p:spPr bwMode="auto">
          <a:xfrm>
            <a:off x="3125967" y="4329011"/>
            <a:ext cx="6120392" cy="1080119"/>
          </a:xfrm>
          <a:prstGeom prst="roundRect">
            <a:avLst/>
          </a:prstGeom>
          <a:solidFill>
            <a:schemeClr val="accent4"/>
          </a:solidFill>
          <a:ln>
            <a:noFill/>
            <a:headEnd/>
            <a:tailEnd type="triangle" w="sm" len="med"/>
          </a:ln>
          <a:effectLst>
            <a:softEdge rad="15240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dirty="0">
                <a:solidFill>
                  <a:schemeClr val="bg1"/>
                </a:solidFill>
              </a:rPr>
              <a:t>論理回路</a:t>
            </a:r>
          </a:p>
        </p:txBody>
      </p:sp>
      <p:sp>
        <p:nvSpPr>
          <p:cNvPr id="8" name="角丸四角形 7"/>
          <p:cNvSpPr/>
          <p:nvPr/>
        </p:nvSpPr>
        <p:spPr bwMode="auto">
          <a:xfrm>
            <a:off x="3125967" y="5319022"/>
            <a:ext cx="6120392" cy="1080013"/>
          </a:xfrm>
          <a:prstGeom prst="roundRect">
            <a:avLst/>
          </a:prstGeom>
          <a:solidFill>
            <a:schemeClr val="accent4"/>
          </a:solidFill>
          <a:ln>
            <a:noFill/>
            <a:headEnd/>
            <a:tailEnd type="triangle" w="sm" len="med"/>
          </a:ln>
          <a:effectLst>
            <a:softEdge rad="15240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dirty="0">
                <a:solidFill>
                  <a:schemeClr val="bg1"/>
                </a:solidFill>
              </a:rPr>
              <a:t>集積回路 </a:t>
            </a:r>
            <a:r>
              <a:rPr lang="en-US" altLang="ja-JP" dirty="0">
                <a:solidFill>
                  <a:schemeClr val="bg1"/>
                </a:solidFill>
              </a:rPr>
              <a:t>/ </a:t>
            </a:r>
            <a:r>
              <a:rPr lang="ja-JP" altLang="en-US" dirty="0">
                <a:solidFill>
                  <a:schemeClr val="bg1"/>
                </a:solidFill>
              </a:rPr>
              <a:t>デバイス</a:t>
            </a:r>
          </a:p>
        </p:txBody>
      </p:sp>
    </p:spTree>
    <p:extLst>
      <p:ext uri="{BB962C8B-B14F-4D97-AF65-F5344CB8AC3E}">
        <p14:creationId xmlns:p14="http://schemas.microsoft.com/office/powerpoint/2010/main" val="2021697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この講義の内容</a:t>
            </a:r>
          </a:p>
        </p:txBody>
      </p:sp>
      <p:sp>
        <p:nvSpPr>
          <p:cNvPr id="3" name="テキスト プレースホルダー 2"/>
          <p:cNvSpPr>
            <a:spLocks noGrp="1"/>
          </p:cNvSpPr>
          <p:nvPr>
            <p:ph type="body" sz="quarter" idx="10"/>
          </p:nvPr>
        </p:nvSpPr>
        <p:spPr/>
        <p:txBody>
          <a:bodyPr/>
          <a:lstStyle/>
          <a:p>
            <a:r>
              <a:rPr lang="ja-JP" altLang="en-US" dirty="0"/>
              <a:t>話題：</a:t>
            </a:r>
            <a:endParaRPr kumimoji="1" lang="en-US" altLang="ja-JP" dirty="0"/>
          </a:p>
          <a:p>
            <a:pPr lvl="1"/>
            <a:r>
              <a:rPr kumimoji="1" lang="ja-JP" altLang="en-US" dirty="0"/>
              <a:t>コンピュータ全体や，主に最近の </a:t>
            </a:r>
            <a:r>
              <a:rPr kumimoji="1" lang="en-US" altLang="ja-JP" dirty="0"/>
              <a:t>CPU</a:t>
            </a:r>
          </a:p>
          <a:p>
            <a:pPr lvl="1"/>
            <a:r>
              <a:rPr kumimoji="1" lang="ja-JP" altLang="en-US" dirty="0"/>
              <a:t>他に </a:t>
            </a:r>
            <a:r>
              <a:rPr kumimoji="1" lang="en-US" altLang="ja-JP" dirty="0"/>
              <a:t>GPU </a:t>
            </a:r>
            <a:r>
              <a:rPr kumimoji="1" lang="ja-JP" altLang="en-US" dirty="0"/>
              <a:t>や 機械学習用ハード，</a:t>
            </a:r>
            <a:r>
              <a:rPr kumimoji="1" lang="en-US" altLang="ja-JP" dirty="0"/>
              <a:t>FPGA </a:t>
            </a:r>
            <a:r>
              <a:rPr kumimoji="1" lang="ja-JP" altLang="en-US" dirty="0"/>
              <a:t>など</a:t>
            </a:r>
            <a:endParaRPr kumimoji="1" lang="en-US" altLang="ja-JP" dirty="0"/>
          </a:p>
          <a:p>
            <a:r>
              <a:rPr kumimoji="1" lang="ja-JP" altLang="en-US" dirty="0"/>
              <a:t>内容：</a:t>
            </a:r>
            <a:endParaRPr kumimoji="1" lang="en-US" altLang="ja-JP" dirty="0"/>
          </a:p>
          <a:p>
            <a:pPr lvl="1"/>
            <a:r>
              <a:rPr kumimoji="1" lang="ja-JP" altLang="en-US" dirty="0"/>
              <a:t>どのような工夫によって高速化されているのか</a:t>
            </a:r>
            <a:endParaRPr kumimoji="1" lang="en-US" altLang="ja-JP" dirty="0"/>
          </a:p>
          <a:p>
            <a:pPr lvl="2"/>
            <a:r>
              <a:rPr kumimoji="1" lang="ja-JP" altLang="en-US" dirty="0">
                <a:solidFill>
                  <a:schemeClr val="accent5"/>
                </a:solidFill>
              </a:rPr>
              <a:t>主に </a:t>
            </a:r>
            <a:r>
              <a:rPr kumimoji="1" lang="en-US" altLang="ja-JP" dirty="0">
                <a:solidFill>
                  <a:schemeClr val="accent5"/>
                </a:solidFill>
              </a:rPr>
              <a:t>CPU </a:t>
            </a:r>
            <a:r>
              <a:rPr kumimoji="1" lang="ja-JP" altLang="en-US" dirty="0">
                <a:solidFill>
                  <a:schemeClr val="accent5"/>
                </a:solidFill>
              </a:rPr>
              <a:t>が主題</a:t>
            </a:r>
            <a:endParaRPr kumimoji="1" lang="en-US" altLang="ja-JP" dirty="0">
              <a:solidFill>
                <a:schemeClr val="accent5"/>
              </a:solidFill>
            </a:endParaRPr>
          </a:p>
          <a:p>
            <a:pPr lvl="2"/>
            <a:r>
              <a:rPr kumimoji="1" lang="en-US" altLang="ja-JP" dirty="0"/>
              <a:t>GPU </a:t>
            </a:r>
            <a:r>
              <a:rPr kumimoji="1" lang="ja-JP" altLang="en-US" dirty="0"/>
              <a:t>や機械学習専用ハードも程度扱う</a:t>
            </a:r>
            <a:endParaRPr kumimoji="1" lang="en-US" altLang="ja-JP" dirty="0"/>
          </a:p>
          <a:p>
            <a:pPr lvl="1"/>
            <a:r>
              <a:rPr kumimoji="1" lang="ja-JP" altLang="en-US" dirty="0"/>
              <a:t>それぞれのハードは一体何が違うのか？</a:t>
            </a:r>
            <a:endParaRPr kumimoji="1" lang="en-US" altLang="ja-JP" dirty="0"/>
          </a:p>
          <a:p>
            <a:pPr lvl="2"/>
            <a:r>
              <a:rPr kumimoji="1" lang="ja-JP" altLang="en-US" dirty="0"/>
              <a:t>動作速度や消費電力や熱の違いはどのように決まるのか</a:t>
            </a:r>
            <a:endParaRPr kumimoji="1" lang="en-US" altLang="ja-JP" dirty="0"/>
          </a:p>
          <a:p>
            <a:pPr lvl="2"/>
            <a:r>
              <a:rPr lang="en-US" altLang="ja-JP" dirty="0"/>
              <a:t>CPU </a:t>
            </a:r>
            <a:r>
              <a:rPr lang="ja-JP" altLang="en-US" dirty="0"/>
              <a:t>と比較しながら説明</a:t>
            </a:r>
            <a:endParaRPr lang="en-US" altLang="ja-JP" dirty="0"/>
          </a:p>
          <a:p>
            <a:pPr lvl="1"/>
            <a:r>
              <a:rPr kumimoji="1" lang="ja-JP" altLang="en-US" dirty="0"/>
              <a:t>セキュリティなどの話題も取り扱う</a:t>
            </a:r>
            <a:endParaRPr kumimoji="1" lang="en-US" altLang="ja-JP" dirty="0"/>
          </a:p>
        </p:txBody>
      </p:sp>
    </p:spTree>
    <p:extLst>
      <p:ext uri="{BB962C8B-B14F-4D97-AF65-F5344CB8AC3E}">
        <p14:creationId xmlns:p14="http://schemas.microsoft.com/office/powerpoint/2010/main" val="15715872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キーワード</a:t>
            </a:r>
            <a:endParaRPr kumimoji="1" lang="ja-JP" altLang="en-US" dirty="0"/>
          </a:p>
        </p:txBody>
      </p:sp>
      <p:sp>
        <p:nvSpPr>
          <p:cNvPr id="3" name="テキスト プレースホルダー 2"/>
          <p:cNvSpPr>
            <a:spLocks noGrp="1"/>
          </p:cNvSpPr>
          <p:nvPr>
            <p:ph type="body" sz="quarter" idx="10"/>
          </p:nvPr>
        </p:nvSpPr>
        <p:spPr/>
        <p:txBody>
          <a:bodyPr/>
          <a:lstStyle/>
          <a:p>
            <a:r>
              <a:rPr lang="en-US" altLang="ja-JP" sz="1800" dirty="0"/>
              <a:t>CPU</a:t>
            </a:r>
            <a:endParaRPr lang="ja-JP" altLang="en-US" sz="1800" dirty="0"/>
          </a:p>
          <a:p>
            <a:pPr lvl="1"/>
            <a:r>
              <a:rPr lang="en-US" altLang="ja-JP" sz="1800" dirty="0"/>
              <a:t>CISC / RISC</a:t>
            </a:r>
          </a:p>
          <a:p>
            <a:pPr lvl="1"/>
            <a:r>
              <a:rPr lang="ja-JP" altLang="en-US" sz="1800" dirty="0"/>
              <a:t>命令パイプライン</a:t>
            </a:r>
            <a:endParaRPr lang="en-US" altLang="ja-JP" sz="1800" dirty="0"/>
          </a:p>
          <a:p>
            <a:pPr lvl="1"/>
            <a:r>
              <a:rPr lang="en-US" altLang="ja-JP" sz="1800" dirty="0">
                <a:solidFill>
                  <a:schemeClr val="accent5"/>
                </a:solidFill>
              </a:rPr>
              <a:t>Out-of-order</a:t>
            </a:r>
            <a:r>
              <a:rPr lang="ja-JP" altLang="en-US" sz="1800" dirty="0">
                <a:solidFill>
                  <a:schemeClr val="accent5"/>
                </a:solidFill>
              </a:rPr>
              <a:t> スーパースカラ</a:t>
            </a:r>
            <a:r>
              <a:rPr lang="ja-JP" altLang="en-US" sz="1800" dirty="0"/>
              <a:t>，</a:t>
            </a:r>
            <a:r>
              <a:rPr lang="en-US" altLang="ja-JP" sz="1800" dirty="0">
                <a:solidFill>
                  <a:schemeClr val="accent5"/>
                </a:solidFill>
              </a:rPr>
              <a:t>In-order</a:t>
            </a:r>
            <a:r>
              <a:rPr lang="ja-JP" altLang="en-US" sz="1800" dirty="0">
                <a:solidFill>
                  <a:schemeClr val="accent5"/>
                </a:solidFill>
              </a:rPr>
              <a:t> スーパースカラ</a:t>
            </a:r>
            <a:r>
              <a:rPr lang="ja-JP" altLang="en-US" sz="1800" dirty="0"/>
              <a:t>，</a:t>
            </a:r>
            <a:r>
              <a:rPr lang="en-US" altLang="ja-JP" sz="1800" dirty="0"/>
              <a:t>VLIW</a:t>
            </a:r>
          </a:p>
          <a:p>
            <a:pPr lvl="1"/>
            <a:r>
              <a:rPr lang="ja-JP" altLang="en-US" sz="1800" dirty="0"/>
              <a:t>投機実行，分岐予測，キャッシュ，プリフェッチ</a:t>
            </a:r>
            <a:endParaRPr lang="en-US" altLang="ja-JP" sz="1800" dirty="0"/>
          </a:p>
          <a:p>
            <a:r>
              <a:rPr lang="ja-JP" altLang="en-US" sz="1800" dirty="0"/>
              <a:t>その他のプロセッサや計算機</a:t>
            </a:r>
            <a:endParaRPr lang="en-US" altLang="ja-JP" sz="1800" dirty="0"/>
          </a:p>
          <a:p>
            <a:pPr lvl="1"/>
            <a:r>
              <a:rPr lang="en-US" altLang="ja-JP" sz="1800" dirty="0"/>
              <a:t>GPU</a:t>
            </a:r>
            <a:r>
              <a:rPr lang="ja-JP" altLang="en-US" sz="1800" dirty="0" err="1"/>
              <a:t>，</a:t>
            </a:r>
            <a:r>
              <a:rPr lang="en-US" altLang="ja-JP" sz="1800" dirty="0"/>
              <a:t>FPGA</a:t>
            </a:r>
            <a:r>
              <a:rPr lang="ja-JP" altLang="en-US" sz="1800" dirty="0"/>
              <a:t>，機械学習とかの専用プロセッサ</a:t>
            </a:r>
            <a:endParaRPr lang="en-US" altLang="ja-JP" sz="1800" dirty="0"/>
          </a:p>
          <a:p>
            <a:pPr lvl="1"/>
            <a:r>
              <a:rPr lang="ja-JP" altLang="en-US" sz="1800" dirty="0"/>
              <a:t>プロセッサ以外のメモリ</a:t>
            </a:r>
          </a:p>
          <a:p>
            <a:r>
              <a:rPr lang="ja-JP" altLang="en-US" sz="1800" dirty="0"/>
              <a:t>回路</a:t>
            </a:r>
            <a:endParaRPr lang="en-US" altLang="ja-JP" sz="1800" dirty="0"/>
          </a:p>
          <a:p>
            <a:pPr lvl="1"/>
            <a:r>
              <a:rPr lang="ja-JP" altLang="en-US" sz="1800" dirty="0"/>
              <a:t>遅延，電力，熱</a:t>
            </a:r>
            <a:endParaRPr lang="en-US" altLang="ja-JP" sz="1800" dirty="0"/>
          </a:p>
          <a:p>
            <a:r>
              <a:rPr lang="ja-JP" altLang="en-US" sz="1800" dirty="0"/>
              <a:t>セキュリティ</a:t>
            </a:r>
            <a:endParaRPr lang="en-US" altLang="ja-JP" sz="1800" dirty="0"/>
          </a:p>
          <a:p>
            <a:pPr lvl="1"/>
            <a:r>
              <a:rPr lang="en-US" altLang="ja-JP" sz="1800" dirty="0"/>
              <a:t>Spectre/Meltdown </a:t>
            </a:r>
            <a:r>
              <a:rPr lang="ja-JP" altLang="en-US" sz="1800" dirty="0"/>
              <a:t>などのアタック</a:t>
            </a:r>
          </a:p>
        </p:txBody>
      </p:sp>
    </p:spTree>
    <p:extLst>
      <p:ext uri="{BB962C8B-B14F-4D97-AF65-F5344CB8AC3E}">
        <p14:creationId xmlns:p14="http://schemas.microsoft.com/office/powerpoint/2010/main" val="21075914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333EC1-DED7-420A-ABD1-25E29F09BFD1}"/>
              </a:ext>
            </a:extLst>
          </p:cNvPr>
          <p:cNvSpPr>
            <a:spLocks noGrp="1"/>
          </p:cNvSpPr>
          <p:nvPr>
            <p:ph type="title"/>
          </p:nvPr>
        </p:nvSpPr>
        <p:spPr/>
        <p:txBody>
          <a:bodyPr/>
          <a:lstStyle/>
          <a:p>
            <a:r>
              <a:rPr kumimoji="1" lang="ja-JP" altLang="en-US" dirty="0"/>
              <a:t>補足：</a:t>
            </a:r>
            <a:r>
              <a:rPr kumimoji="1" lang="en-US" altLang="ja-JP" dirty="0"/>
              <a:t>CPU </a:t>
            </a:r>
            <a:r>
              <a:rPr kumimoji="1" lang="ja-JP" altLang="en-US" dirty="0"/>
              <a:t>と </a:t>
            </a:r>
            <a:r>
              <a:rPr kumimoji="1" lang="en-US" altLang="ja-JP" dirty="0"/>
              <a:t>GPU </a:t>
            </a:r>
            <a:endParaRPr kumimoji="1" lang="ja-JP" altLang="en-US" dirty="0"/>
          </a:p>
        </p:txBody>
      </p:sp>
      <p:sp>
        <p:nvSpPr>
          <p:cNvPr id="3" name="テキスト プレースホルダー 2">
            <a:extLst>
              <a:ext uri="{FF2B5EF4-FFF2-40B4-BE49-F238E27FC236}">
                <a16:creationId xmlns:a16="http://schemas.microsoft.com/office/drawing/2014/main" id="{3F5467D0-1C77-4F93-BD50-22727AB04001}"/>
              </a:ext>
            </a:extLst>
          </p:cNvPr>
          <p:cNvSpPr>
            <a:spLocks noGrp="1"/>
          </p:cNvSpPr>
          <p:nvPr>
            <p:ph type="body" sz="quarter" idx="10"/>
          </p:nvPr>
        </p:nvSpPr>
        <p:spPr/>
        <p:txBody>
          <a:bodyPr/>
          <a:lstStyle/>
          <a:p>
            <a:r>
              <a:rPr lang="ja-JP" altLang="en-US" sz="1800" dirty="0"/>
              <a:t>最近は全体に </a:t>
            </a:r>
            <a:r>
              <a:rPr lang="en-US" altLang="ja-JP" sz="1800" dirty="0"/>
              <a:t>GPU </a:t>
            </a:r>
            <a:r>
              <a:rPr lang="ja-JP" altLang="en-US" sz="1800" dirty="0"/>
              <a:t>に興味を持つ人が多い</a:t>
            </a:r>
            <a:endParaRPr lang="en-US" altLang="ja-JP" sz="1800" dirty="0"/>
          </a:p>
          <a:p>
            <a:pPr lvl="1"/>
            <a:r>
              <a:rPr lang="ja-JP" altLang="en-US" sz="1800" dirty="0"/>
              <a:t>機械学習でよく使うし，速いから？</a:t>
            </a:r>
            <a:endParaRPr lang="en-US" altLang="ja-JP" sz="1800" dirty="0"/>
          </a:p>
          <a:p>
            <a:pPr lvl="1"/>
            <a:r>
              <a:rPr lang="en-US" altLang="ja-JP" sz="1800" dirty="0"/>
              <a:t>CPU </a:t>
            </a:r>
            <a:r>
              <a:rPr lang="ja-JP" altLang="en-US" sz="1800" dirty="0"/>
              <a:t>にはあんま興味がないんだよな，とかで飛ばされるとちょっと悲しい</a:t>
            </a:r>
            <a:endParaRPr lang="en-US" altLang="ja-JP" sz="1800" dirty="0"/>
          </a:p>
          <a:p>
            <a:r>
              <a:rPr lang="ja-JP" altLang="en-US" sz="1800" dirty="0"/>
              <a:t>背景：</a:t>
            </a:r>
            <a:r>
              <a:rPr lang="en-US" altLang="ja-JP" sz="1800" dirty="0"/>
              <a:t>CPU </a:t>
            </a:r>
            <a:r>
              <a:rPr lang="ja-JP" altLang="en-US" sz="1800" dirty="0"/>
              <a:t>と </a:t>
            </a:r>
            <a:r>
              <a:rPr lang="en-US" altLang="ja-JP" sz="1800" dirty="0"/>
              <a:t>GPU </a:t>
            </a:r>
            <a:r>
              <a:rPr lang="ja-JP" altLang="en-US" sz="1800" dirty="0"/>
              <a:t>の関係</a:t>
            </a:r>
            <a:endParaRPr lang="en-US" altLang="ja-JP" sz="1800" dirty="0"/>
          </a:p>
          <a:p>
            <a:pPr lvl="1"/>
            <a:r>
              <a:rPr lang="ja-JP" altLang="en-US" sz="1800" dirty="0"/>
              <a:t>コンピュータの基本構造</a:t>
            </a:r>
            <a:endParaRPr lang="en-US" altLang="ja-JP" sz="1800" dirty="0"/>
          </a:p>
          <a:p>
            <a:pPr lvl="1"/>
            <a:r>
              <a:rPr lang="ja-JP" altLang="en-US" sz="1800" dirty="0"/>
              <a:t>各回の講義内容が </a:t>
            </a:r>
            <a:r>
              <a:rPr lang="en-US" altLang="ja-JP" sz="1800" dirty="0"/>
              <a:t>CPU </a:t>
            </a:r>
            <a:r>
              <a:rPr lang="ja-JP" altLang="en-US" sz="1800" dirty="0"/>
              <a:t>や </a:t>
            </a:r>
            <a:r>
              <a:rPr lang="en-US" altLang="ja-JP" sz="1800" dirty="0"/>
              <a:t>GPU </a:t>
            </a:r>
            <a:r>
              <a:rPr lang="ja-JP" altLang="en-US" sz="1800" dirty="0"/>
              <a:t>にどのように関わるかの関係を説明</a:t>
            </a:r>
          </a:p>
        </p:txBody>
      </p:sp>
    </p:spTree>
    <p:extLst>
      <p:ext uri="{BB962C8B-B14F-4D97-AF65-F5344CB8AC3E}">
        <p14:creationId xmlns:p14="http://schemas.microsoft.com/office/powerpoint/2010/main" val="21487961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333EC1-DED7-420A-ABD1-25E29F09BFD1}"/>
              </a:ext>
            </a:extLst>
          </p:cNvPr>
          <p:cNvSpPr>
            <a:spLocks noGrp="1"/>
          </p:cNvSpPr>
          <p:nvPr>
            <p:ph type="title"/>
          </p:nvPr>
        </p:nvSpPr>
        <p:spPr/>
        <p:txBody>
          <a:bodyPr/>
          <a:lstStyle/>
          <a:p>
            <a:r>
              <a:rPr kumimoji="1" lang="ja-JP" altLang="en-US" dirty="0"/>
              <a:t>コンピュータの基本的な構造</a:t>
            </a:r>
          </a:p>
        </p:txBody>
      </p:sp>
      <p:sp>
        <p:nvSpPr>
          <p:cNvPr id="3" name="テキスト プレースホルダー 2">
            <a:extLst>
              <a:ext uri="{FF2B5EF4-FFF2-40B4-BE49-F238E27FC236}">
                <a16:creationId xmlns:a16="http://schemas.microsoft.com/office/drawing/2014/main" id="{3F5467D0-1C77-4F93-BD50-22727AB04001}"/>
              </a:ext>
            </a:extLst>
          </p:cNvPr>
          <p:cNvSpPr>
            <a:spLocks noGrp="1"/>
          </p:cNvSpPr>
          <p:nvPr>
            <p:ph type="body" sz="quarter" idx="10"/>
          </p:nvPr>
        </p:nvSpPr>
        <p:spPr>
          <a:xfrm>
            <a:off x="2045955" y="3609003"/>
            <a:ext cx="8280092" cy="3059727"/>
          </a:xfrm>
        </p:spPr>
        <p:txBody>
          <a:bodyPr/>
          <a:lstStyle/>
          <a:p>
            <a:r>
              <a:rPr lang="ja-JP" altLang="en-US" sz="1800" dirty="0">
                <a:latin typeface="+mn-ea"/>
              </a:rPr>
              <a:t>超大ざっぱなコンピュータの構造：</a:t>
            </a:r>
            <a:endParaRPr lang="en-US" altLang="ja-JP" sz="1800" dirty="0">
              <a:latin typeface="+mn-ea"/>
            </a:endParaRPr>
          </a:p>
          <a:p>
            <a:pPr lvl="1"/>
            <a:r>
              <a:rPr lang="ja-JP" altLang="en-US" sz="1800" dirty="0">
                <a:latin typeface="+mn-ea"/>
              </a:rPr>
              <a:t>処理対象となるデータを格納するメモリと，</a:t>
            </a:r>
            <a:endParaRPr lang="en-US" altLang="ja-JP" sz="1800" dirty="0">
              <a:latin typeface="+mn-ea"/>
            </a:endParaRPr>
          </a:p>
          <a:p>
            <a:pPr lvl="1"/>
            <a:r>
              <a:rPr lang="ja-JP" altLang="en-US" sz="1800" dirty="0">
                <a:latin typeface="+mn-ea"/>
              </a:rPr>
              <a:t>それを処理するプロセッサからなる</a:t>
            </a:r>
            <a:endParaRPr lang="en-US" altLang="ja-JP" sz="1800" dirty="0">
              <a:latin typeface="+mn-ea"/>
            </a:endParaRPr>
          </a:p>
          <a:p>
            <a:r>
              <a:rPr lang="ja-JP" altLang="en-US" sz="1800" dirty="0">
                <a:latin typeface="+mn-ea"/>
              </a:rPr>
              <a:t>プロセッサあるいはプロセッシング・ユニット：</a:t>
            </a:r>
            <a:endParaRPr lang="en-US" altLang="ja-JP" sz="1800" dirty="0">
              <a:latin typeface="+mn-ea"/>
            </a:endParaRPr>
          </a:p>
          <a:p>
            <a:pPr lvl="1"/>
            <a:r>
              <a:rPr lang="en-US" altLang="ja-JP" sz="1800" dirty="0">
                <a:latin typeface="+mn-ea"/>
              </a:rPr>
              <a:t>CPU (Central Processing Unit)</a:t>
            </a:r>
          </a:p>
          <a:p>
            <a:pPr lvl="1"/>
            <a:r>
              <a:rPr lang="en-US" altLang="ja-JP" sz="1800" dirty="0">
                <a:latin typeface="+mn-ea"/>
              </a:rPr>
              <a:t>GPU (Graphic Processing Unit)</a:t>
            </a:r>
          </a:p>
          <a:p>
            <a:pPr lvl="1"/>
            <a:r>
              <a:rPr lang="ja-JP" altLang="en-US" sz="1800" dirty="0">
                <a:latin typeface="+mn-ea"/>
              </a:rPr>
              <a:t>･･･ いろいろある</a:t>
            </a:r>
          </a:p>
        </p:txBody>
      </p:sp>
      <p:sp>
        <p:nvSpPr>
          <p:cNvPr id="5" name="四角形: 角を丸くする 4">
            <a:extLst>
              <a:ext uri="{FF2B5EF4-FFF2-40B4-BE49-F238E27FC236}">
                <a16:creationId xmlns:a16="http://schemas.microsoft.com/office/drawing/2014/main" id="{B595822E-CEBC-42A4-A880-6BA25721ACA1}"/>
              </a:ext>
            </a:extLst>
          </p:cNvPr>
          <p:cNvSpPr/>
          <p:nvPr/>
        </p:nvSpPr>
        <p:spPr bwMode="auto">
          <a:xfrm>
            <a:off x="5375992" y="1268976"/>
            <a:ext cx="1440016" cy="720008"/>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プロセッサ</a:t>
            </a:r>
          </a:p>
        </p:txBody>
      </p:sp>
      <p:sp>
        <p:nvSpPr>
          <p:cNvPr id="17" name="四角形: 角を丸くする 16">
            <a:extLst>
              <a:ext uri="{FF2B5EF4-FFF2-40B4-BE49-F238E27FC236}">
                <a16:creationId xmlns:a16="http://schemas.microsoft.com/office/drawing/2014/main" id="{F8317103-AF0D-4095-BF25-E8FFD9D51AC7}"/>
              </a:ext>
            </a:extLst>
          </p:cNvPr>
          <p:cNvSpPr/>
          <p:nvPr/>
        </p:nvSpPr>
        <p:spPr bwMode="auto">
          <a:xfrm>
            <a:off x="5375992" y="2708992"/>
            <a:ext cx="1440016" cy="720008"/>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メモリ</a:t>
            </a:r>
          </a:p>
        </p:txBody>
      </p:sp>
      <p:cxnSp>
        <p:nvCxnSpPr>
          <p:cNvPr id="8" name="直線矢印コネクタ 7">
            <a:extLst>
              <a:ext uri="{FF2B5EF4-FFF2-40B4-BE49-F238E27FC236}">
                <a16:creationId xmlns:a16="http://schemas.microsoft.com/office/drawing/2014/main" id="{ED2ED66B-9FF1-44B8-9C7B-9E276356B5C9}"/>
              </a:ext>
            </a:extLst>
          </p:cNvPr>
          <p:cNvCxnSpPr>
            <a:stCxn id="5" idx="2"/>
            <a:endCxn id="17" idx="0"/>
          </p:cNvCxnSpPr>
          <p:nvPr/>
        </p:nvCxnSpPr>
        <p:spPr bwMode="auto">
          <a:xfrm>
            <a:off x="6096000" y="1988984"/>
            <a:ext cx="0" cy="720008"/>
          </a:xfrm>
          <a:prstGeom prst="straightConnector1">
            <a:avLst/>
          </a:prstGeom>
          <a:ln>
            <a:headEnd type="triangle"/>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22842316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D5D3D8-8B7D-4B15-AF83-E56BD2A91E48}"/>
              </a:ext>
            </a:extLst>
          </p:cNvPr>
          <p:cNvSpPr>
            <a:spLocks noGrp="1"/>
          </p:cNvSpPr>
          <p:nvPr>
            <p:ph type="title"/>
          </p:nvPr>
        </p:nvSpPr>
        <p:spPr/>
        <p:txBody>
          <a:bodyPr/>
          <a:lstStyle/>
          <a:p>
            <a:r>
              <a:rPr kumimoji="1" lang="ja-JP" altLang="en-US" dirty="0"/>
              <a:t>いろいろなプロセッサ</a:t>
            </a:r>
            <a:endParaRPr lang="ja-JP" altLang="en-US" sz="2000" dirty="0"/>
          </a:p>
        </p:txBody>
      </p:sp>
      <p:sp>
        <p:nvSpPr>
          <p:cNvPr id="3" name="テキスト プレースホルダー 2">
            <a:extLst>
              <a:ext uri="{FF2B5EF4-FFF2-40B4-BE49-F238E27FC236}">
                <a16:creationId xmlns:a16="http://schemas.microsoft.com/office/drawing/2014/main" id="{5A0F9440-4FC2-42D0-8ED8-8846CAE67106}"/>
              </a:ext>
            </a:extLst>
          </p:cNvPr>
          <p:cNvSpPr>
            <a:spLocks noGrp="1"/>
          </p:cNvSpPr>
          <p:nvPr>
            <p:ph type="body" sz="quarter" idx="10"/>
          </p:nvPr>
        </p:nvSpPr>
        <p:spPr>
          <a:xfrm>
            <a:off x="4475982" y="6039030"/>
            <a:ext cx="5940066" cy="719701"/>
          </a:xfrm>
        </p:spPr>
        <p:txBody>
          <a:bodyPr/>
          <a:lstStyle/>
          <a:p>
            <a:r>
              <a:rPr kumimoji="1" lang="ja-JP" altLang="en-US" dirty="0"/>
              <a:t>上の２つと左下は </a:t>
            </a:r>
            <a:r>
              <a:rPr kumimoji="1" lang="en-US" altLang="ja-JP" dirty="0"/>
              <a:t>CPU </a:t>
            </a:r>
            <a:endParaRPr kumimoji="1" lang="ja-JP" altLang="en-US" dirty="0"/>
          </a:p>
        </p:txBody>
      </p:sp>
      <p:sp>
        <p:nvSpPr>
          <p:cNvPr id="4" name="四角形: 角を丸くする 3">
            <a:extLst>
              <a:ext uri="{FF2B5EF4-FFF2-40B4-BE49-F238E27FC236}">
                <a16:creationId xmlns:a16="http://schemas.microsoft.com/office/drawing/2014/main" id="{FAF576D4-C284-4F8E-BD4F-A50F1B86EFB5}"/>
              </a:ext>
            </a:extLst>
          </p:cNvPr>
          <p:cNvSpPr/>
          <p:nvPr/>
        </p:nvSpPr>
        <p:spPr bwMode="auto">
          <a:xfrm>
            <a:off x="4295980" y="1268976"/>
            <a:ext cx="3600040" cy="720008"/>
          </a:xfrm>
          <a:prstGeom prst="round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シングルサイクル</a:t>
            </a:r>
            <a:r>
              <a:rPr lang="en-US" altLang="ja-JP" dirty="0">
                <a:solidFill>
                  <a:schemeClr val="tx1">
                    <a:lumMod val="75000"/>
                    <a:lumOff val="25000"/>
                  </a:schemeClr>
                </a:solidFill>
                <a:latin typeface="+mn-ea"/>
              </a:rPr>
              <a:t>/</a:t>
            </a:r>
            <a:r>
              <a:rPr lang="ja-JP" altLang="en-US" dirty="0">
                <a:solidFill>
                  <a:schemeClr val="tx1">
                    <a:lumMod val="75000"/>
                    <a:lumOff val="25000"/>
                  </a:schemeClr>
                </a:solidFill>
                <a:latin typeface="+mn-ea"/>
              </a:rPr>
              <a:t>マルチサイクル</a:t>
            </a:r>
            <a:endParaRPr lang="en-US" altLang="ja-JP" dirty="0">
              <a:solidFill>
                <a:schemeClr val="tx1">
                  <a:lumMod val="75000"/>
                  <a:lumOff val="25000"/>
                </a:schemeClr>
              </a:solidFill>
              <a:latin typeface="+mn-ea"/>
            </a:endParaRPr>
          </a:p>
          <a:p>
            <a:pPr algn="ctr"/>
            <a:r>
              <a:rPr lang="ja-JP" altLang="en-US" dirty="0">
                <a:solidFill>
                  <a:schemeClr val="tx1">
                    <a:lumMod val="75000"/>
                    <a:lumOff val="25000"/>
                  </a:schemeClr>
                </a:solidFill>
                <a:latin typeface="+mn-ea"/>
              </a:rPr>
              <a:t>プロセッサ</a:t>
            </a:r>
          </a:p>
        </p:txBody>
      </p:sp>
      <p:sp>
        <p:nvSpPr>
          <p:cNvPr id="5" name="四角形: 角を丸くする 4">
            <a:extLst>
              <a:ext uri="{FF2B5EF4-FFF2-40B4-BE49-F238E27FC236}">
                <a16:creationId xmlns:a16="http://schemas.microsoft.com/office/drawing/2014/main" id="{7D07B832-BA94-4DD8-9116-4D66AFBE61D2}"/>
              </a:ext>
            </a:extLst>
          </p:cNvPr>
          <p:cNvSpPr/>
          <p:nvPr/>
        </p:nvSpPr>
        <p:spPr bwMode="auto">
          <a:xfrm>
            <a:off x="4295980" y="2348988"/>
            <a:ext cx="3600040" cy="720008"/>
          </a:xfrm>
          <a:prstGeom prst="round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パイプライン・プロセッサ</a:t>
            </a:r>
          </a:p>
        </p:txBody>
      </p:sp>
      <p:sp>
        <p:nvSpPr>
          <p:cNvPr id="6" name="四角形: 角を丸くする 5">
            <a:extLst>
              <a:ext uri="{FF2B5EF4-FFF2-40B4-BE49-F238E27FC236}">
                <a16:creationId xmlns:a16="http://schemas.microsoft.com/office/drawing/2014/main" id="{ADD09295-6DFA-4873-8CA2-28EAA182F3E3}"/>
              </a:ext>
            </a:extLst>
          </p:cNvPr>
          <p:cNvSpPr/>
          <p:nvPr/>
        </p:nvSpPr>
        <p:spPr bwMode="auto">
          <a:xfrm>
            <a:off x="2495960" y="3789004"/>
            <a:ext cx="2880032" cy="720008"/>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スーパスカラ・プロセッサ</a:t>
            </a:r>
            <a:endParaRPr lang="en-US" altLang="ja-JP" dirty="0">
              <a:solidFill>
                <a:schemeClr val="tx1">
                  <a:lumMod val="75000"/>
                  <a:lumOff val="25000"/>
                </a:schemeClr>
              </a:solidFill>
              <a:latin typeface="+mn-ea"/>
            </a:endParaRPr>
          </a:p>
        </p:txBody>
      </p:sp>
      <p:sp>
        <p:nvSpPr>
          <p:cNvPr id="7" name="四角形: 角を丸くする 6">
            <a:extLst>
              <a:ext uri="{FF2B5EF4-FFF2-40B4-BE49-F238E27FC236}">
                <a16:creationId xmlns:a16="http://schemas.microsoft.com/office/drawing/2014/main" id="{FD4D1391-3DFA-4CCB-BE72-F2BB29B49958}"/>
              </a:ext>
            </a:extLst>
          </p:cNvPr>
          <p:cNvSpPr/>
          <p:nvPr/>
        </p:nvSpPr>
        <p:spPr bwMode="auto">
          <a:xfrm>
            <a:off x="6816008" y="3789004"/>
            <a:ext cx="2880032" cy="720008"/>
          </a:xfrm>
          <a:prstGeom prst="round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GPU</a:t>
            </a:r>
            <a:endParaRPr lang="ja-JP" altLang="en-US" dirty="0">
              <a:solidFill>
                <a:schemeClr val="tx1">
                  <a:lumMod val="75000"/>
                  <a:lumOff val="25000"/>
                </a:schemeClr>
              </a:solidFill>
              <a:latin typeface="+mn-ea"/>
            </a:endParaRPr>
          </a:p>
        </p:txBody>
      </p:sp>
      <p:sp>
        <p:nvSpPr>
          <p:cNvPr id="8" name="四角形: 角を丸くする 7">
            <a:extLst>
              <a:ext uri="{FF2B5EF4-FFF2-40B4-BE49-F238E27FC236}">
                <a16:creationId xmlns:a16="http://schemas.microsoft.com/office/drawing/2014/main" id="{64A94BC5-7164-42B8-A393-FB0F7B7CA8E5}"/>
              </a:ext>
            </a:extLst>
          </p:cNvPr>
          <p:cNvSpPr/>
          <p:nvPr/>
        </p:nvSpPr>
        <p:spPr bwMode="auto">
          <a:xfrm>
            <a:off x="2495960" y="5229020"/>
            <a:ext cx="2880032" cy="720008"/>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Out-of-order</a:t>
            </a:r>
          </a:p>
          <a:p>
            <a:pPr algn="ctr"/>
            <a:r>
              <a:rPr lang="ja-JP" altLang="en-US" dirty="0">
                <a:solidFill>
                  <a:schemeClr val="tx1">
                    <a:lumMod val="75000"/>
                    <a:lumOff val="25000"/>
                  </a:schemeClr>
                </a:solidFill>
                <a:latin typeface="+mn-ea"/>
              </a:rPr>
              <a:t>スーパスカラ・プロセッサ</a:t>
            </a:r>
          </a:p>
        </p:txBody>
      </p:sp>
      <p:cxnSp>
        <p:nvCxnSpPr>
          <p:cNvPr id="11" name="直線矢印コネクタ 10">
            <a:extLst>
              <a:ext uri="{FF2B5EF4-FFF2-40B4-BE49-F238E27FC236}">
                <a16:creationId xmlns:a16="http://schemas.microsoft.com/office/drawing/2014/main" id="{1930451B-9A1B-4482-858F-82B1F66626EE}"/>
              </a:ext>
            </a:extLst>
          </p:cNvPr>
          <p:cNvCxnSpPr>
            <a:stCxn id="4" idx="2"/>
            <a:endCxn id="5" idx="0"/>
          </p:cNvCxnSpPr>
          <p:nvPr/>
        </p:nvCxnSpPr>
        <p:spPr bwMode="auto">
          <a:xfrm>
            <a:off x="6096000" y="1988984"/>
            <a:ext cx="0" cy="360004"/>
          </a:xfrm>
          <a:prstGeom prst="straightConnector1">
            <a:avLst/>
          </a:prstGeom>
          <a:ln>
            <a:headEnd type="none" w="med" len="med"/>
            <a:tailEnd type="triangle"/>
          </a:ln>
          <a:effectLst/>
        </p:spPr>
        <p:style>
          <a:lnRef idx="3">
            <a:schemeClr val="accent4"/>
          </a:lnRef>
          <a:fillRef idx="0">
            <a:schemeClr val="accent4"/>
          </a:fillRef>
          <a:effectRef idx="2">
            <a:schemeClr val="accent4"/>
          </a:effectRef>
          <a:fontRef idx="minor">
            <a:schemeClr val="tx1"/>
          </a:fontRef>
        </p:style>
      </p:cxnSp>
      <p:cxnSp>
        <p:nvCxnSpPr>
          <p:cNvPr id="13" name="直線矢印コネクタ 12">
            <a:extLst>
              <a:ext uri="{FF2B5EF4-FFF2-40B4-BE49-F238E27FC236}">
                <a16:creationId xmlns:a16="http://schemas.microsoft.com/office/drawing/2014/main" id="{C9D7FAA7-0F47-4C87-8140-66E501CFAB05}"/>
              </a:ext>
            </a:extLst>
          </p:cNvPr>
          <p:cNvCxnSpPr>
            <a:cxnSpLocks/>
            <a:stCxn id="5" idx="2"/>
            <a:endCxn id="6" idx="0"/>
          </p:cNvCxnSpPr>
          <p:nvPr/>
        </p:nvCxnSpPr>
        <p:spPr bwMode="auto">
          <a:xfrm flipH="1">
            <a:off x="3935976" y="3068996"/>
            <a:ext cx="2160024" cy="720008"/>
          </a:xfrm>
          <a:prstGeom prst="straightConnector1">
            <a:avLst/>
          </a:prstGeom>
          <a:ln>
            <a:headEnd type="none" w="med" len="med"/>
            <a:tailEnd type="triangle"/>
          </a:ln>
          <a:effectLst/>
        </p:spPr>
        <p:style>
          <a:lnRef idx="3">
            <a:schemeClr val="accent5"/>
          </a:lnRef>
          <a:fillRef idx="0">
            <a:schemeClr val="accent5"/>
          </a:fillRef>
          <a:effectRef idx="2">
            <a:schemeClr val="accent5"/>
          </a:effectRef>
          <a:fontRef idx="minor">
            <a:schemeClr val="tx1"/>
          </a:fontRef>
        </p:style>
      </p:cxnSp>
      <p:cxnSp>
        <p:nvCxnSpPr>
          <p:cNvPr id="16" name="直線矢印コネクタ 15">
            <a:extLst>
              <a:ext uri="{FF2B5EF4-FFF2-40B4-BE49-F238E27FC236}">
                <a16:creationId xmlns:a16="http://schemas.microsoft.com/office/drawing/2014/main" id="{7059A942-C987-4F6D-9A31-09F979E9DDEB}"/>
              </a:ext>
            </a:extLst>
          </p:cNvPr>
          <p:cNvCxnSpPr>
            <a:cxnSpLocks/>
            <a:stCxn id="5" idx="2"/>
            <a:endCxn id="7" idx="0"/>
          </p:cNvCxnSpPr>
          <p:nvPr/>
        </p:nvCxnSpPr>
        <p:spPr bwMode="auto">
          <a:xfrm>
            <a:off x="6096000" y="3068996"/>
            <a:ext cx="2160024" cy="720008"/>
          </a:xfrm>
          <a:prstGeom prst="straightConnector1">
            <a:avLst/>
          </a:prstGeom>
          <a:ln>
            <a:headEnd type="none" w="med" len="med"/>
            <a:tailEnd type="triangle"/>
          </a:ln>
          <a:effectLst/>
        </p:spPr>
        <p:style>
          <a:lnRef idx="3">
            <a:schemeClr val="accent3"/>
          </a:lnRef>
          <a:fillRef idx="0">
            <a:schemeClr val="accent3"/>
          </a:fillRef>
          <a:effectRef idx="2">
            <a:schemeClr val="accent3"/>
          </a:effectRef>
          <a:fontRef idx="minor">
            <a:schemeClr val="tx1"/>
          </a:fontRef>
        </p:style>
      </p:cxnSp>
      <p:cxnSp>
        <p:nvCxnSpPr>
          <p:cNvPr id="19" name="直線矢印コネクタ 18">
            <a:extLst>
              <a:ext uri="{FF2B5EF4-FFF2-40B4-BE49-F238E27FC236}">
                <a16:creationId xmlns:a16="http://schemas.microsoft.com/office/drawing/2014/main" id="{0530DFA9-DA13-45E8-901D-15EFB3439C6B}"/>
              </a:ext>
            </a:extLst>
          </p:cNvPr>
          <p:cNvCxnSpPr>
            <a:cxnSpLocks/>
            <a:endCxn id="8" idx="0"/>
          </p:cNvCxnSpPr>
          <p:nvPr/>
        </p:nvCxnSpPr>
        <p:spPr bwMode="auto">
          <a:xfrm>
            <a:off x="3935976" y="4509012"/>
            <a:ext cx="0" cy="720008"/>
          </a:xfrm>
          <a:prstGeom prst="straightConnector1">
            <a:avLst/>
          </a:prstGeom>
          <a:ln>
            <a:headEnd type="none" w="med" len="med"/>
            <a:tailEnd type="triangle"/>
          </a:ln>
          <a:effectLst/>
        </p:spPr>
        <p:style>
          <a:lnRef idx="3">
            <a:schemeClr val="accent5"/>
          </a:lnRef>
          <a:fillRef idx="0">
            <a:schemeClr val="accent5"/>
          </a:fillRef>
          <a:effectRef idx="2">
            <a:schemeClr val="accent5"/>
          </a:effectRef>
          <a:fontRef idx="minor">
            <a:schemeClr val="tx1"/>
          </a:fontRef>
        </p:style>
      </p:cxnSp>
      <p:sp>
        <p:nvSpPr>
          <p:cNvPr id="21" name="正方形/長方形 20">
            <a:extLst>
              <a:ext uri="{FF2B5EF4-FFF2-40B4-BE49-F238E27FC236}">
                <a16:creationId xmlns:a16="http://schemas.microsoft.com/office/drawing/2014/main" id="{C6F10D95-432B-442A-BCBF-DBCA237AC0D6}"/>
              </a:ext>
            </a:extLst>
          </p:cNvPr>
          <p:cNvSpPr/>
          <p:nvPr/>
        </p:nvSpPr>
        <p:spPr bwMode="auto">
          <a:xfrm>
            <a:off x="8076022" y="1538979"/>
            <a:ext cx="2340026" cy="108001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ja-JP" altLang="en-US" dirty="0">
                <a:solidFill>
                  <a:schemeClr val="accent4"/>
                </a:solidFill>
                <a:latin typeface="メイリオ" panose="020B0604030504040204" pitchFamily="50" charset="-128"/>
                <a:ea typeface="メイリオ" panose="020B0604030504040204" pitchFamily="50" charset="-128"/>
              </a:rPr>
              <a:t>このあたりは </a:t>
            </a:r>
            <a:r>
              <a:rPr lang="en-US" altLang="ja-JP" dirty="0">
                <a:solidFill>
                  <a:schemeClr val="accent4"/>
                </a:solidFill>
                <a:latin typeface="メイリオ" panose="020B0604030504040204" pitchFamily="50" charset="-128"/>
                <a:ea typeface="メイリオ" panose="020B0604030504040204" pitchFamily="50" charset="-128"/>
              </a:rPr>
              <a:t>CPU </a:t>
            </a:r>
            <a:r>
              <a:rPr lang="ja-JP" altLang="en-US" dirty="0">
                <a:solidFill>
                  <a:schemeClr val="accent4"/>
                </a:solidFill>
                <a:latin typeface="メイリオ" panose="020B0604030504040204" pitchFamily="50" charset="-128"/>
                <a:ea typeface="メイリオ" panose="020B0604030504040204" pitchFamily="50" charset="-128"/>
              </a:rPr>
              <a:t>にも </a:t>
            </a:r>
            <a:r>
              <a:rPr lang="en-US" altLang="ja-JP" dirty="0">
                <a:solidFill>
                  <a:schemeClr val="accent4"/>
                </a:solidFill>
                <a:latin typeface="メイリオ" panose="020B0604030504040204" pitchFamily="50" charset="-128"/>
                <a:ea typeface="メイリオ" panose="020B0604030504040204" pitchFamily="50" charset="-128"/>
              </a:rPr>
              <a:t>GPU </a:t>
            </a:r>
            <a:r>
              <a:rPr lang="ja-JP" altLang="en-US" dirty="0">
                <a:solidFill>
                  <a:schemeClr val="accent4"/>
                </a:solidFill>
                <a:latin typeface="メイリオ" panose="020B0604030504040204" pitchFamily="50" charset="-128"/>
                <a:ea typeface="メイリオ" panose="020B0604030504040204" pitchFamily="50" charset="-128"/>
              </a:rPr>
              <a:t>にも共通の話題</a:t>
            </a:r>
          </a:p>
        </p:txBody>
      </p:sp>
      <p:sp>
        <p:nvSpPr>
          <p:cNvPr id="22" name="正方形/長方形 21">
            <a:extLst>
              <a:ext uri="{FF2B5EF4-FFF2-40B4-BE49-F238E27FC236}">
                <a16:creationId xmlns:a16="http://schemas.microsoft.com/office/drawing/2014/main" id="{FB463CFF-5E85-4C60-9DA3-6D3FFB1FCDF4}"/>
              </a:ext>
            </a:extLst>
          </p:cNvPr>
          <p:cNvSpPr/>
          <p:nvPr/>
        </p:nvSpPr>
        <p:spPr bwMode="auto">
          <a:xfrm>
            <a:off x="7806020" y="3158998"/>
            <a:ext cx="2790031" cy="630007"/>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ja-JP" altLang="en-US" dirty="0">
                <a:solidFill>
                  <a:schemeClr val="accent3">
                    <a:lumMod val="75000"/>
                  </a:schemeClr>
                </a:solidFill>
                <a:latin typeface="メイリオ" panose="020B0604030504040204" pitchFamily="50" charset="-128"/>
                <a:ea typeface="メイリオ" panose="020B0604030504040204" pitchFamily="50" charset="-128"/>
              </a:rPr>
              <a:t>多数のデータを</a:t>
            </a:r>
            <a:br>
              <a:rPr lang="en-US" altLang="ja-JP" dirty="0">
                <a:solidFill>
                  <a:schemeClr val="accent3">
                    <a:lumMod val="75000"/>
                  </a:schemeClr>
                </a:solidFill>
                <a:latin typeface="メイリオ" panose="020B0604030504040204" pitchFamily="50" charset="-128"/>
                <a:ea typeface="メイリオ" panose="020B0604030504040204" pitchFamily="50" charset="-128"/>
              </a:rPr>
            </a:br>
            <a:r>
              <a:rPr lang="ja-JP" altLang="en-US" dirty="0">
                <a:solidFill>
                  <a:schemeClr val="accent3">
                    <a:lumMod val="75000"/>
                  </a:schemeClr>
                </a:solidFill>
                <a:latin typeface="メイリオ" panose="020B0604030504040204" pitchFamily="50" charset="-128"/>
                <a:ea typeface="メイリオ" panose="020B0604030504040204" pitchFamily="50" charset="-128"/>
              </a:rPr>
              <a:t>効率良く同時に処理する</a:t>
            </a:r>
          </a:p>
        </p:txBody>
      </p:sp>
      <p:sp>
        <p:nvSpPr>
          <p:cNvPr id="23" name="正方形/長方形 22">
            <a:extLst>
              <a:ext uri="{FF2B5EF4-FFF2-40B4-BE49-F238E27FC236}">
                <a16:creationId xmlns:a16="http://schemas.microsoft.com/office/drawing/2014/main" id="{B9D80577-F8A0-42C1-A696-2A99F26DB99A}"/>
              </a:ext>
            </a:extLst>
          </p:cNvPr>
          <p:cNvSpPr/>
          <p:nvPr/>
        </p:nvSpPr>
        <p:spPr bwMode="auto">
          <a:xfrm>
            <a:off x="2225957" y="3158998"/>
            <a:ext cx="2340026" cy="630007"/>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ja-JP" altLang="en-US" dirty="0">
                <a:solidFill>
                  <a:schemeClr val="accent5"/>
                </a:solidFill>
                <a:latin typeface="メイリオ" panose="020B0604030504040204" pitchFamily="50" charset="-128"/>
                <a:ea typeface="メイリオ" panose="020B0604030504040204" pitchFamily="50" charset="-128"/>
              </a:rPr>
              <a:t>１つの手続きを</a:t>
            </a:r>
            <a:endParaRPr lang="en-US" altLang="ja-JP" dirty="0">
              <a:solidFill>
                <a:schemeClr val="accent5"/>
              </a:solidFill>
              <a:latin typeface="メイリオ" panose="020B0604030504040204" pitchFamily="50" charset="-128"/>
              <a:ea typeface="メイリオ" panose="020B0604030504040204" pitchFamily="50" charset="-128"/>
            </a:endParaRPr>
          </a:p>
          <a:p>
            <a:r>
              <a:rPr lang="ja-JP" altLang="en-US" dirty="0">
                <a:solidFill>
                  <a:schemeClr val="accent5"/>
                </a:solidFill>
                <a:latin typeface="メイリオ" panose="020B0604030504040204" pitchFamily="50" charset="-128"/>
                <a:ea typeface="メイリオ" panose="020B0604030504040204" pitchFamily="50" charset="-128"/>
              </a:rPr>
              <a:t>高速に処理する</a:t>
            </a:r>
          </a:p>
        </p:txBody>
      </p:sp>
      <p:sp>
        <p:nvSpPr>
          <p:cNvPr id="24" name="正方形/長方形 23">
            <a:extLst>
              <a:ext uri="{FF2B5EF4-FFF2-40B4-BE49-F238E27FC236}">
                <a16:creationId xmlns:a16="http://schemas.microsoft.com/office/drawing/2014/main" id="{099C5DD3-4410-4C38-86B2-A9BA29AF76B9}"/>
              </a:ext>
            </a:extLst>
          </p:cNvPr>
          <p:cNvSpPr/>
          <p:nvPr/>
        </p:nvSpPr>
        <p:spPr bwMode="auto">
          <a:xfrm>
            <a:off x="2225957" y="4599014"/>
            <a:ext cx="2340026" cy="630007"/>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r>
              <a:rPr lang="ja-JP" altLang="en-US" dirty="0">
                <a:solidFill>
                  <a:schemeClr val="accent5"/>
                </a:solidFill>
                <a:latin typeface="メイリオ" panose="020B0604030504040204" pitchFamily="50" charset="-128"/>
                <a:ea typeface="メイリオ" panose="020B0604030504040204" pitchFamily="50" charset="-128"/>
              </a:rPr>
              <a:t>命令の</a:t>
            </a:r>
            <a:br>
              <a:rPr lang="en-US" altLang="ja-JP" dirty="0">
                <a:solidFill>
                  <a:schemeClr val="accent5"/>
                </a:solidFill>
                <a:latin typeface="メイリオ" panose="020B0604030504040204" pitchFamily="50" charset="-128"/>
                <a:ea typeface="メイリオ" panose="020B0604030504040204" pitchFamily="50" charset="-128"/>
              </a:rPr>
            </a:br>
            <a:r>
              <a:rPr lang="ja-JP" altLang="en-US" dirty="0">
                <a:solidFill>
                  <a:schemeClr val="accent5"/>
                </a:solidFill>
                <a:latin typeface="メイリオ" panose="020B0604030504040204" pitchFamily="50" charset="-128"/>
                <a:ea typeface="メイリオ" panose="020B0604030504040204" pitchFamily="50" charset="-128"/>
              </a:rPr>
              <a:t>並び替えを行う</a:t>
            </a:r>
          </a:p>
        </p:txBody>
      </p:sp>
    </p:spTree>
    <p:extLst>
      <p:ext uri="{BB962C8B-B14F-4D97-AF65-F5344CB8AC3E}">
        <p14:creationId xmlns:p14="http://schemas.microsoft.com/office/powerpoint/2010/main" val="17291601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59D6BD-C75C-7902-90FB-0DE633F35317}"/>
              </a:ext>
            </a:extLst>
          </p:cNvPr>
          <p:cNvSpPr>
            <a:spLocks noGrp="1"/>
          </p:cNvSpPr>
          <p:nvPr>
            <p:ph type="title"/>
          </p:nvPr>
        </p:nvSpPr>
        <p:spPr/>
        <p:txBody>
          <a:bodyPr/>
          <a:lstStyle/>
          <a:p>
            <a:r>
              <a:rPr kumimoji="1" lang="ja-JP" altLang="en-US" dirty="0"/>
              <a:t>対象プログラムの違い</a:t>
            </a:r>
            <a:endParaRPr kumimoji="1" lang="en-US" dirty="0"/>
          </a:p>
        </p:txBody>
      </p:sp>
      <p:sp>
        <p:nvSpPr>
          <p:cNvPr id="3" name="テキスト プレースホルダー 2">
            <a:extLst>
              <a:ext uri="{FF2B5EF4-FFF2-40B4-BE49-F238E27FC236}">
                <a16:creationId xmlns:a16="http://schemas.microsoft.com/office/drawing/2014/main" id="{B843102E-4C9A-DA06-B83D-E0254470BAAF}"/>
              </a:ext>
            </a:extLst>
          </p:cNvPr>
          <p:cNvSpPr>
            <a:spLocks noGrp="1"/>
          </p:cNvSpPr>
          <p:nvPr>
            <p:ph type="body" sz="quarter" idx="10"/>
          </p:nvPr>
        </p:nvSpPr>
        <p:spPr>
          <a:xfrm>
            <a:off x="1955954" y="5139020"/>
            <a:ext cx="8280092" cy="1079705"/>
          </a:xfrm>
        </p:spPr>
        <p:txBody>
          <a:bodyPr/>
          <a:lstStyle/>
          <a:p>
            <a:r>
              <a:rPr kumimoji="1" lang="ja-JP" altLang="en-US" dirty="0">
                <a:latin typeface="Consolas" panose="020B0609020204030204" pitchFamily="49" charset="0"/>
              </a:rPr>
              <a:t>並列性の違い</a:t>
            </a:r>
            <a:endParaRPr kumimoji="1" lang="en-US" altLang="ja-JP" dirty="0">
              <a:latin typeface="Consolas" panose="020B0609020204030204" pitchFamily="49" charset="0"/>
            </a:endParaRPr>
          </a:p>
          <a:p>
            <a:pPr lvl="1"/>
            <a:r>
              <a:rPr kumimoji="1" lang="ja-JP" altLang="en-US" dirty="0">
                <a:latin typeface="Consolas" panose="020B0609020204030204" pitchFamily="49" charset="0"/>
              </a:rPr>
              <a:t>逐次型では各種の投機や並び替えを行って並列実行</a:t>
            </a:r>
            <a:endParaRPr kumimoji="1" lang="en-US" altLang="ja-JP" dirty="0">
              <a:latin typeface="Consolas" panose="020B0609020204030204" pitchFamily="49" charset="0"/>
            </a:endParaRPr>
          </a:p>
          <a:p>
            <a:pPr lvl="1"/>
            <a:r>
              <a:rPr kumimoji="1" lang="ja-JP" altLang="en-US" dirty="0">
                <a:latin typeface="Consolas" panose="020B0609020204030204" pitchFamily="49" charset="0"/>
              </a:rPr>
              <a:t>データ並列型では自明に並列実行できる</a:t>
            </a:r>
          </a:p>
        </p:txBody>
      </p:sp>
      <p:sp>
        <p:nvSpPr>
          <p:cNvPr id="4" name="正方形/長方形 3">
            <a:extLst>
              <a:ext uri="{FF2B5EF4-FFF2-40B4-BE49-F238E27FC236}">
                <a16:creationId xmlns:a16="http://schemas.microsoft.com/office/drawing/2014/main" id="{06E7FEED-74E4-FE53-97E0-BD3C21509405}"/>
              </a:ext>
            </a:extLst>
          </p:cNvPr>
          <p:cNvSpPr/>
          <p:nvPr/>
        </p:nvSpPr>
        <p:spPr>
          <a:xfrm>
            <a:off x="1955954" y="1628981"/>
            <a:ext cx="3060034" cy="1350015"/>
          </a:xfrm>
          <a:prstGeom prst="rect">
            <a:avLst/>
          </a:prstGeom>
        </p:spPr>
        <p:txBody>
          <a:bodyPr wrap="none">
            <a:noAutofit/>
          </a:bodyPr>
          <a:lstStyle/>
          <a:p>
            <a:r>
              <a:rPr lang="en-US" altLang="ja-JP" dirty="0">
                <a:solidFill>
                  <a:schemeClr val="accent5"/>
                </a:solidFill>
                <a:latin typeface="Consolas" panose="020B0609020204030204" pitchFamily="49" charset="0"/>
              </a:rPr>
              <a:t>1: *a += 1;</a:t>
            </a:r>
            <a:br>
              <a:rPr lang="en-US" altLang="ja-JP" dirty="0">
                <a:solidFill>
                  <a:schemeClr val="accent5"/>
                </a:solidFill>
                <a:latin typeface="Consolas" panose="020B0609020204030204" pitchFamily="49" charset="0"/>
              </a:rPr>
            </a:br>
            <a:r>
              <a:rPr lang="en-US" altLang="ja-JP" dirty="0">
                <a:solidFill>
                  <a:schemeClr val="tx1">
                    <a:lumMod val="75000"/>
                    <a:lumOff val="25000"/>
                  </a:schemeClr>
                </a:solidFill>
                <a:latin typeface="Consolas" panose="020B0609020204030204" pitchFamily="49" charset="0"/>
              </a:rPr>
              <a:t>2: if (b != NULL) {</a:t>
            </a:r>
            <a:br>
              <a:rPr lang="en-US" altLang="ja-JP" dirty="0">
                <a:solidFill>
                  <a:schemeClr val="tx1">
                    <a:lumMod val="75000"/>
                    <a:lumOff val="25000"/>
                  </a:schemeClr>
                </a:solidFill>
                <a:latin typeface="Consolas" panose="020B0609020204030204" pitchFamily="49" charset="0"/>
              </a:rPr>
            </a:br>
            <a:r>
              <a:rPr lang="en-US" altLang="ja-JP" dirty="0">
                <a:solidFill>
                  <a:schemeClr val="accent6"/>
                </a:solidFill>
                <a:latin typeface="Consolas" panose="020B0609020204030204" pitchFamily="49" charset="0"/>
              </a:rPr>
              <a:t>3:    c += *b;</a:t>
            </a:r>
            <a:br>
              <a:rPr lang="en-US" altLang="ja-JP" dirty="0">
                <a:solidFill>
                  <a:schemeClr val="accent5"/>
                </a:solidFill>
                <a:latin typeface="Consolas" panose="020B0609020204030204" pitchFamily="49" charset="0"/>
              </a:rPr>
            </a:br>
            <a:r>
              <a:rPr lang="en-US" altLang="ja-JP" dirty="0">
                <a:solidFill>
                  <a:schemeClr val="tx1">
                    <a:lumMod val="75000"/>
                    <a:lumOff val="25000"/>
                  </a:schemeClr>
                </a:solidFill>
                <a:latin typeface="Consolas" panose="020B0609020204030204" pitchFamily="49" charset="0"/>
              </a:rPr>
              <a:t>4: }</a:t>
            </a:r>
            <a:br>
              <a:rPr lang="en-US" altLang="ja-JP" dirty="0">
                <a:solidFill>
                  <a:schemeClr val="tx1">
                    <a:lumMod val="75000"/>
                    <a:lumOff val="25000"/>
                  </a:schemeClr>
                </a:solidFill>
                <a:latin typeface="Consolas" panose="020B0609020204030204" pitchFamily="49" charset="0"/>
              </a:rPr>
            </a:br>
            <a:endParaRPr lang="en-US" altLang="ja-JP" dirty="0">
              <a:solidFill>
                <a:schemeClr val="tx1">
                  <a:lumMod val="75000"/>
                  <a:lumOff val="25000"/>
                </a:schemeClr>
              </a:solidFill>
              <a:latin typeface="Consolas" panose="020B0609020204030204" pitchFamily="49" charset="0"/>
            </a:endParaRPr>
          </a:p>
          <a:p>
            <a:r>
              <a:rPr lang="en-US" altLang="ja-JP" dirty="0">
                <a:solidFill>
                  <a:schemeClr val="accent5"/>
                </a:solidFill>
                <a:latin typeface="Consolas" panose="020B0609020204030204" pitchFamily="49" charset="0"/>
              </a:rPr>
              <a:t>1</a:t>
            </a:r>
            <a:r>
              <a:rPr lang="ja-JP" altLang="en-US" dirty="0">
                <a:solidFill>
                  <a:schemeClr val="accent5"/>
                </a:solidFill>
                <a:latin typeface="Consolas" panose="020B0609020204030204" pitchFamily="49" charset="0"/>
              </a:rPr>
              <a:t>行目</a:t>
            </a:r>
            <a:r>
              <a:rPr lang="ja-JP" altLang="en-US" dirty="0">
                <a:solidFill>
                  <a:schemeClr val="tx1">
                    <a:lumMod val="75000"/>
                    <a:lumOff val="25000"/>
                  </a:schemeClr>
                </a:solidFill>
                <a:latin typeface="Consolas" panose="020B0609020204030204" pitchFamily="49" charset="0"/>
              </a:rPr>
              <a:t>と</a:t>
            </a:r>
            <a:r>
              <a:rPr lang="en-US" altLang="ja-JP" dirty="0">
                <a:solidFill>
                  <a:schemeClr val="accent6"/>
                </a:solidFill>
                <a:latin typeface="Consolas" panose="020B0609020204030204" pitchFamily="49" charset="0"/>
              </a:rPr>
              <a:t>3</a:t>
            </a:r>
            <a:r>
              <a:rPr lang="ja-JP" altLang="en-US" dirty="0">
                <a:solidFill>
                  <a:schemeClr val="accent6"/>
                </a:solidFill>
                <a:latin typeface="Consolas" panose="020B0609020204030204" pitchFamily="49" charset="0"/>
              </a:rPr>
              <a:t>行目</a:t>
            </a:r>
            <a:r>
              <a:rPr lang="ja-JP" altLang="en-US" dirty="0">
                <a:solidFill>
                  <a:schemeClr val="tx1">
                    <a:lumMod val="75000"/>
                    <a:lumOff val="25000"/>
                  </a:schemeClr>
                </a:solidFill>
                <a:latin typeface="Consolas" panose="020B0609020204030204" pitchFamily="49" charset="0"/>
              </a:rPr>
              <a:t>を並列実行するには？</a:t>
            </a:r>
            <a:br>
              <a:rPr lang="en-US" altLang="ja-JP" dirty="0">
                <a:solidFill>
                  <a:schemeClr val="tx1">
                    <a:lumMod val="75000"/>
                    <a:lumOff val="25000"/>
                  </a:schemeClr>
                </a:solidFill>
                <a:latin typeface="Consolas" panose="020B0609020204030204" pitchFamily="49" charset="0"/>
              </a:rPr>
            </a:br>
            <a:r>
              <a:rPr lang="ja-JP" altLang="en-US" dirty="0">
                <a:solidFill>
                  <a:schemeClr val="tx1">
                    <a:lumMod val="75000"/>
                    <a:lumOff val="25000"/>
                  </a:schemeClr>
                </a:solidFill>
                <a:latin typeface="Consolas" panose="020B0609020204030204" pitchFamily="49" charset="0"/>
              </a:rPr>
              <a:t>　</a:t>
            </a:r>
            <a:r>
              <a:rPr lang="en-US" altLang="ja-JP" dirty="0">
                <a:solidFill>
                  <a:schemeClr val="tx1">
                    <a:lumMod val="75000"/>
                    <a:lumOff val="25000"/>
                  </a:schemeClr>
                </a:solidFill>
                <a:latin typeface="Consolas" panose="020B0609020204030204" pitchFamily="49" charset="0"/>
              </a:rPr>
              <a:t>a </a:t>
            </a:r>
            <a:r>
              <a:rPr lang="ja-JP" altLang="en-US" dirty="0">
                <a:solidFill>
                  <a:schemeClr val="tx1">
                    <a:lumMod val="75000"/>
                    <a:lumOff val="25000"/>
                  </a:schemeClr>
                </a:solidFill>
                <a:latin typeface="Consolas" panose="020B0609020204030204" pitchFamily="49" charset="0"/>
              </a:rPr>
              <a:t>と </a:t>
            </a:r>
            <a:r>
              <a:rPr lang="en-US" altLang="ja-JP" dirty="0">
                <a:solidFill>
                  <a:schemeClr val="tx1">
                    <a:lumMod val="75000"/>
                    <a:lumOff val="25000"/>
                  </a:schemeClr>
                </a:solidFill>
                <a:latin typeface="Consolas" panose="020B0609020204030204" pitchFamily="49" charset="0"/>
              </a:rPr>
              <a:t>b </a:t>
            </a:r>
            <a:r>
              <a:rPr lang="ja-JP" altLang="en-US" dirty="0">
                <a:solidFill>
                  <a:schemeClr val="tx1">
                    <a:lumMod val="75000"/>
                    <a:lumOff val="25000"/>
                  </a:schemeClr>
                </a:solidFill>
                <a:latin typeface="Consolas" panose="020B0609020204030204" pitchFamily="49" charset="0"/>
              </a:rPr>
              <a:t>が同じ場所を指すかも？ </a:t>
            </a:r>
            <a:br>
              <a:rPr lang="en-US" altLang="ja-JP" dirty="0">
                <a:solidFill>
                  <a:schemeClr val="tx1">
                    <a:lumMod val="75000"/>
                    <a:lumOff val="25000"/>
                  </a:schemeClr>
                </a:solidFill>
                <a:latin typeface="Consolas" panose="020B0609020204030204" pitchFamily="49" charset="0"/>
              </a:rPr>
            </a:br>
            <a:r>
              <a:rPr lang="en-US" altLang="ja-JP" dirty="0">
                <a:solidFill>
                  <a:schemeClr val="tx1">
                    <a:lumMod val="75000"/>
                    <a:lumOff val="25000"/>
                  </a:schemeClr>
                </a:solidFill>
                <a:latin typeface="Consolas" panose="020B0609020204030204" pitchFamily="49" charset="0"/>
              </a:rPr>
              <a:t>  </a:t>
            </a:r>
            <a:r>
              <a:rPr lang="ja-JP" altLang="en-US" dirty="0">
                <a:solidFill>
                  <a:schemeClr val="tx1">
                    <a:lumMod val="75000"/>
                    <a:lumOff val="25000"/>
                  </a:schemeClr>
                </a:solidFill>
                <a:latin typeface="Consolas" panose="020B0609020204030204" pitchFamily="49" charset="0"/>
              </a:rPr>
              <a:t>　→ ポインタのアドレス一致予測</a:t>
            </a:r>
            <a:br>
              <a:rPr lang="en-US" altLang="ja-JP" dirty="0">
                <a:solidFill>
                  <a:schemeClr val="tx1">
                    <a:lumMod val="75000"/>
                    <a:lumOff val="25000"/>
                  </a:schemeClr>
                </a:solidFill>
                <a:latin typeface="Consolas" panose="020B0609020204030204" pitchFamily="49" charset="0"/>
              </a:rPr>
            </a:br>
            <a:r>
              <a:rPr lang="ja-JP" altLang="en-US" dirty="0">
                <a:solidFill>
                  <a:schemeClr val="tx1">
                    <a:lumMod val="75000"/>
                    <a:lumOff val="25000"/>
                  </a:schemeClr>
                </a:solidFill>
                <a:latin typeface="Consolas" panose="020B0609020204030204" pitchFamily="49" charset="0"/>
              </a:rPr>
              <a:t>　</a:t>
            </a:r>
            <a:r>
              <a:rPr lang="en-US" altLang="ja-JP" dirty="0">
                <a:solidFill>
                  <a:schemeClr val="tx1">
                    <a:lumMod val="75000"/>
                    <a:lumOff val="25000"/>
                  </a:schemeClr>
                </a:solidFill>
                <a:latin typeface="Consolas" panose="020B0609020204030204" pitchFamily="49" charset="0"/>
              </a:rPr>
              <a:t>b </a:t>
            </a:r>
            <a:r>
              <a:rPr lang="ja-JP" altLang="en-US" dirty="0">
                <a:solidFill>
                  <a:schemeClr val="tx1">
                    <a:lumMod val="75000"/>
                    <a:lumOff val="25000"/>
                  </a:schemeClr>
                </a:solidFill>
                <a:latin typeface="Consolas" panose="020B0609020204030204" pitchFamily="49" charset="0"/>
              </a:rPr>
              <a:t>が </a:t>
            </a:r>
            <a:r>
              <a:rPr lang="en-US" altLang="ja-JP" dirty="0">
                <a:solidFill>
                  <a:schemeClr val="tx1">
                    <a:lumMod val="75000"/>
                    <a:lumOff val="25000"/>
                  </a:schemeClr>
                </a:solidFill>
                <a:latin typeface="Consolas" panose="020B0609020204030204" pitchFamily="49" charset="0"/>
              </a:rPr>
              <a:t>NULL </a:t>
            </a:r>
            <a:r>
              <a:rPr lang="ja-JP" altLang="en-US" dirty="0">
                <a:solidFill>
                  <a:schemeClr val="tx1">
                    <a:lumMod val="75000"/>
                    <a:lumOff val="25000"/>
                  </a:schemeClr>
                </a:solidFill>
                <a:latin typeface="Consolas" panose="020B0609020204030204" pitchFamily="49" charset="0"/>
              </a:rPr>
              <a:t>ではない必要？</a:t>
            </a:r>
            <a:br>
              <a:rPr lang="en-US" altLang="ja-JP" dirty="0">
                <a:solidFill>
                  <a:schemeClr val="tx1">
                    <a:lumMod val="75000"/>
                    <a:lumOff val="25000"/>
                  </a:schemeClr>
                </a:solidFill>
                <a:latin typeface="Consolas" panose="020B0609020204030204" pitchFamily="49" charset="0"/>
              </a:rPr>
            </a:br>
            <a:r>
              <a:rPr lang="en-US" altLang="ja-JP" dirty="0">
                <a:solidFill>
                  <a:schemeClr val="tx1">
                    <a:lumMod val="75000"/>
                    <a:lumOff val="25000"/>
                  </a:schemeClr>
                </a:solidFill>
                <a:latin typeface="Consolas" panose="020B0609020204030204" pitchFamily="49" charset="0"/>
              </a:rPr>
              <a:t>  </a:t>
            </a:r>
            <a:r>
              <a:rPr lang="ja-JP" altLang="en-US" dirty="0">
                <a:solidFill>
                  <a:schemeClr val="tx1">
                    <a:lumMod val="75000"/>
                    <a:lumOff val="25000"/>
                  </a:schemeClr>
                </a:solidFill>
                <a:latin typeface="Consolas" panose="020B0609020204030204" pitchFamily="49" charset="0"/>
              </a:rPr>
              <a:t>　→ 分岐予測</a:t>
            </a:r>
            <a:endParaRPr lang="en-US" altLang="ja-JP" dirty="0">
              <a:solidFill>
                <a:schemeClr val="tx1">
                  <a:lumMod val="75000"/>
                  <a:lumOff val="25000"/>
                </a:schemeClr>
              </a:solidFill>
              <a:latin typeface="Consolas" panose="020B0609020204030204" pitchFamily="49" charset="0"/>
            </a:endParaRPr>
          </a:p>
        </p:txBody>
      </p:sp>
      <p:sp>
        <p:nvSpPr>
          <p:cNvPr id="5" name="正方形/長方形 4">
            <a:extLst>
              <a:ext uri="{FF2B5EF4-FFF2-40B4-BE49-F238E27FC236}">
                <a16:creationId xmlns:a16="http://schemas.microsoft.com/office/drawing/2014/main" id="{2DA75EE7-6E2E-FB63-BCFC-90BB1B2C529B}"/>
              </a:ext>
            </a:extLst>
          </p:cNvPr>
          <p:cNvSpPr/>
          <p:nvPr/>
        </p:nvSpPr>
        <p:spPr>
          <a:xfrm>
            <a:off x="6276002" y="1628981"/>
            <a:ext cx="3060034" cy="3510039"/>
          </a:xfrm>
          <a:prstGeom prst="rect">
            <a:avLst/>
          </a:prstGeom>
        </p:spPr>
        <p:txBody>
          <a:bodyPr wrap="none">
            <a:noAutofit/>
          </a:bodyPr>
          <a:lstStyle/>
          <a:p>
            <a:r>
              <a:rPr lang="en-US" altLang="ja-JP" dirty="0">
                <a:solidFill>
                  <a:schemeClr val="tx1">
                    <a:lumMod val="75000"/>
                    <a:lumOff val="25000"/>
                  </a:schemeClr>
                </a:solidFill>
                <a:latin typeface="Consolas" panose="020B0609020204030204" pitchFamily="49" charset="0"/>
              </a:rPr>
              <a:t>1: for (i=0; i&lt;1000; i++) {</a:t>
            </a:r>
            <a:br>
              <a:rPr lang="en-US" altLang="ja-JP" dirty="0">
                <a:solidFill>
                  <a:schemeClr val="tx1">
                    <a:lumMod val="75000"/>
                    <a:lumOff val="25000"/>
                  </a:schemeClr>
                </a:solidFill>
                <a:latin typeface="Consolas" panose="020B0609020204030204" pitchFamily="49" charset="0"/>
              </a:rPr>
            </a:br>
            <a:r>
              <a:rPr lang="en-US" altLang="ja-JP" dirty="0">
                <a:solidFill>
                  <a:schemeClr val="tx1">
                    <a:lumMod val="75000"/>
                    <a:lumOff val="25000"/>
                  </a:schemeClr>
                </a:solidFill>
                <a:latin typeface="Consolas" panose="020B0609020204030204" pitchFamily="49" charset="0"/>
              </a:rPr>
              <a:t>2:    c[i] += a[i] * b[i];</a:t>
            </a:r>
            <a:br>
              <a:rPr lang="en-US" altLang="ja-JP" dirty="0">
                <a:solidFill>
                  <a:schemeClr val="tx1">
                    <a:lumMod val="75000"/>
                    <a:lumOff val="25000"/>
                  </a:schemeClr>
                </a:solidFill>
                <a:latin typeface="Consolas" panose="020B0609020204030204" pitchFamily="49" charset="0"/>
              </a:rPr>
            </a:br>
            <a:r>
              <a:rPr lang="en-US" altLang="ja-JP" dirty="0">
                <a:solidFill>
                  <a:schemeClr val="tx1">
                    <a:lumMod val="75000"/>
                    <a:lumOff val="25000"/>
                  </a:schemeClr>
                </a:solidFill>
                <a:latin typeface="Consolas" panose="020B0609020204030204" pitchFamily="49" charset="0"/>
              </a:rPr>
              <a:t>3: }</a:t>
            </a:r>
            <a:br>
              <a:rPr lang="en-US" altLang="ja-JP" dirty="0">
                <a:solidFill>
                  <a:schemeClr val="tx1">
                    <a:lumMod val="75000"/>
                    <a:lumOff val="25000"/>
                  </a:schemeClr>
                </a:solidFill>
                <a:latin typeface="Consolas" panose="020B0609020204030204" pitchFamily="49" charset="0"/>
              </a:rPr>
            </a:br>
            <a:br>
              <a:rPr lang="en-US" altLang="ja-JP" dirty="0">
                <a:solidFill>
                  <a:schemeClr val="tx1">
                    <a:lumMod val="75000"/>
                    <a:lumOff val="25000"/>
                  </a:schemeClr>
                </a:solidFill>
                <a:latin typeface="Consolas" panose="020B0609020204030204" pitchFamily="49" charset="0"/>
              </a:rPr>
            </a:br>
            <a:br>
              <a:rPr lang="en-US" altLang="ja-JP" dirty="0">
                <a:solidFill>
                  <a:schemeClr val="tx1">
                    <a:lumMod val="75000"/>
                    <a:lumOff val="25000"/>
                  </a:schemeClr>
                </a:solidFill>
                <a:latin typeface="Consolas" panose="020B0609020204030204" pitchFamily="49" charset="0"/>
              </a:rPr>
            </a:br>
            <a:r>
              <a:rPr lang="ja-JP" altLang="en-US" dirty="0">
                <a:solidFill>
                  <a:schemeClr val="tx1">
                    <a:lumMod val="75000"/>
                    <a:lumOff val="25000"/>
                  </a:schemeClr>
                </a:solidFill>
                <a:latin typeface="Consolas" panose="020B0609020204030204" pitchFamily="49" charset="0"/>
              </a:rPr>
              <a:t>ループの各周回は自明に並列実行できる</a:t>
            </a:r>
            <a:endParaRPr lang="en-US" altLang="ja-JP" dirty="0">
              <a:solidFill>
                <a:schemeClr val="tx1">
                  <a:lumMod val="75000"/>
                  <a:lumOff val="25000"/>
                </a:schemeClr>
              </a:solidFill>
              <a:latin typeface="Consolas" panose="020B0609020204030204" pitchFamily="49" charset="0"/>
            </a:endParaRPr>
          </a:p>
        </p:txBody>
      </p:sp>
      <p:sp>
        <p:nvSpPr>
          <p:cNvPr id="6" name="テキスト プレースホルダー 2">
            <a:extLst>
              <a:ext uri="{FF2B5EF4-FFF2-40B4-BE49-F238E27FC236}">
                <a16:creationId xmlns:a16="http://schemas.microsoft.com/office/drawing/2014/main" id="{CB733A13-05F4-854B-BA0B-2A00421E219F}"/>
              </a:ext>
            </a:extLst>
          </p:cNvPr>
          <p:cNvSpPr txBox="1">
            <a:spLocks/>
          </p:cNvSpPr>
          <p:nvPr/>
        </p:nvSpPr>
        <p:spPr bwMode="auto">
          <a:xfrm>
            <a:off x="1955954" y="1088975"/>
            <a:ext cx="4680053" cy="6300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kern="0" dirty="0">
                <a:latin typeface="Consolas" panose="020B0609020204030204" pitchFamily="49" charset="0"/>
              </a:rPr>
              <a:t>逐次型（例：スーパスカラ</a:t>
            </a:r>
            <a:r>
              <a:rPr lang="en-US" altLang="ja-JP" kern="0" dirty="0">
                <a:latin typeface="Consolas" panose="020B0609020204030204" pitchFamily="49" charset="0"/>
              </a:rPr>
              <a:t> CPU</a:t>
            </a:r>
            <a:r>
              <a:rPr lang="ja-JP" altLang="en-US" kern="0" dirty="0">
                <a:latin typeface="Consolas" panose="020B0609020204030204" pitchFamily="49" charset="0"/>
              </a:rPr>
              <a:t>）</a:t>
            </a:r>
            <a:endParaRPr lang="en-US" kern="0" dirty="0">
              <a:latin typeface="Consolas" panose="020B0609020204030204" pitchFamily="49" charset="0"/>
            </a:endParaRPr>
          </a:p>
        </p:txBody>
      </p:sp>
      <p:sp>
        <p:nvSpPr>
          <p:cNvPr id="7" name="テキスト プレースホルダー 2">
            <a:extLst>
              <a:ext uri="{FF2B5EF4-FFF2-40B4-BE49-F238E27FC236}">
                <a16:creationId xmlns:a16="http://schemas.microsoft.com/office/drawing/2014/main" id="{36D6B706-3C82-5AFF-E291-B425A71014C4}"/>
              </a:ext>
            </a:extLst>
          </p:cNvPr>
          <p:cNvSpPr txBox="1">
            <a:spLocks/>
          </p:cNvSpPr>
          <p:nvPr/>
        </p:nvSpPr>
        <p:spPr bwMode="auto">
          <a:xfrm>
            <a:off x="6276003" y="1088975"/>
            <a:ext cx="4050045" cy="6300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kern="0" dirty="0">
                <a:latin typeface="Consolas" panose="020B0609020204030204" pitchFamily="49" charset="0"/>
              </a:rPr>
              <a:t>データ並列型（例：</a:t>
            </a:r>
            <a:r>
              <a:rPr lang="en-US" altLang="ja-JP" kern="0" dirty="0">
                <a:latin typeface="Consolas" panose="020B0609020204030204" pitchFamily="49" charset="0"/>
              </a:rPr>
              <a:t>GPU</a:t>
            </a:r>
            <a:r>
              <a:rPr lang="ja-JP" altLang="en-US" kern="0" dirty="0">
                <a:latin typeface="Consolas" panose="020B0609020204030204" pitchFamily="49" charset="0"/>
              </a:rPr>
              <a:t>）</a:t>
            </a:r>
            <a:endParaRPr lang="en-US" kern="0" dirty="0">
              <a:latin typeface="Consolas" panose="020B0609020204030204" pitchFamily="49" charset="0"/>
            </a:endParaRPr>
          </a:p>
        </p:txBody>
      </p:sp>
    </p:spTree>
    <p:extLst>
      <p:ext uri="{BB962C8B-B14F-4D97-AF65-F5344CB8AC3E}">
        <p14:creationId xmlns:p14="http://schemas.microsoft.com/office/powerpoint/2010/main" val="15818721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矢印: 下 35">
            <a:extLst>
              <a:ext uri="{FF2B5EF4-FFF2-40B4-BE49-F238E27FC236}">
                <a16:creationId xmlns:a16="http://schemas.microsoft.com/office/drawing/2014/main" id="{B46972C1-8E79-E3E8-8B39-B37169F2DFD2}"/>
              </a:ext>
            </a:extLst>
          </p:cNvPr>
          <p:cNvSpPr/>
          <p:nvPr/>
        </p:nvSpPr>
        <p:spPr bwMode="auto">
          <a:xfrm>
            <a:off x="7806019" y="1718981"/>
            <a:ext cx="360004" cy="2430027"/>
          </a:xfrm>
          <a:prstGeom prst="downArrow">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37" name="矢印: 下 36">
            <a:extLst>
              <a:ext uri="{FF2B5EF4-FFF2-40B4-BE49-F238E27FC236}">
                <a16:creationId xmlns:a16="http://schemas.microsoft.com/office/drawing/2014/main" id="{2A354410-7A41-18B2-E8C2-B05988DACC59}"/>
              </a:ext>
            </a:extLst>
          </p:cNvPr>
          <p:cNvSpPr/>
          <p:nvPr/>
        </p:nvSpPr>
        <p:spPr bwMode="auto">
          <a:xfrm>
            <a:off x="8616028" y="1718982"/>
            <a:ext cx="360004" cy="2430027"/>
          </a:xfrm>
          <a:prstGeom prst="downArrow">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38" name="矢印: 下 37">
            <a:extLst>
              <a:ext uri="{FF2B5EF4-FFF2-40B4-BE49-F238E27FC236}">
                <a16:creationId xmlns:a16="http://schemas.microsoft.com/office/drawing/2014/main" id="{FB760255-91E6-9254-6B47-31875102956B}"/>
              </a:ext>
            </a:extLst>
          </p:cNvPr>
          <p:cNvSpPr/>
          <p:nvPr/>
        </p:nvSpPr>
        <p:spPr bwMode="auto">
          <a:xfrm>
            <a:off x="9426037" y="1718982"/>
            <a:ext cx="360004" cy="2430027"/>
          </a:xfrm>
          <a:prstGeom prst="downArrow">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39" name="矢印: 下 38">
            <a:extLst>
              <a:ext uri="{FF2B5EF4-FFF2-40B4-BE49-F238E27FC236}">
                <a16:creationId xmlns:a16="http://schemas.microsoft.com/office/drawing/2014/main" id="{4684A6C0-28B7-6235-AB53-0208187415CB}"/>
              </a:ext>
            </a:extLst>
          </p:cNvPr>
          <p:cNvSpPr/>
          <p:nvPr/>
        </p:nvSpPr>
        <p:spPr bwMode="auto">
          <a:xfrm>
            <a:off x="6996010" y="1718982"/>
            <a:ext cx="360004" cy="2430027"/>
          </a:xfrm>
          <a:prstGeom prst="downArrow">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 name="タイトル 1">
            <a:extLst>
              <a:ext uri="{FF2B5EF4-FFF2-40B4-BE49-F238E27FC236}">
                <a16:creationId xmlns:a16="http://schemas.microsoft.com/office/drawing/2014/main" id="{9DBA3E44-71CE-C150-4CF0-A411E5EE4CDC}"/>
              </a:ext>
            </a:extLst>
          </p:cNvPr>
          <p:cNvSpPr>
            <a:spLocks noGrp="1"/>
          </p:cNvSpPr>
          <p:nvPr>
            <p:ph type="title"/>
          </p:nvPr>
        </p:nvSpPr>
        <p:spPr/>
        <p:txBody>
          <a:bodyPr/>
          <a:lstStyle/>
          <a:p>
            <a:r>
              <a:rPr kumimoji="1" lang="ja-JP" altLang="en-US" dirty="0"/>
              <a:t>基本構造の違い</a:t>
            </a:r>
            <a:endParaRPr kumimoji="1" lang="en-US" dirty="0"/>
          </a:p>
        </p:txBody>
      </p:sp>
      <p:sp>
        <p:nvSpPr>
          <p:cNvPr id="3" name="テキスト プレースホルダー 2">
            <a:extLst>
              <a:ext uri="{FF2B5EF4-FFF2-40B4-BE49-F238E27FC236}">
                <a16:creationId xmlns:a16="http://schemas.microsoft.com/office/drawing/2014/main" id="{7C2F2456-A328-7F62-D3DF-4FC5746C6C44}"/>
              </a:ext>
            </a:extLst>
          </p:cNvPr>
          <p:cNvSpPr>
            <a:spLocks noGrp="1"/>
          </p:cNvSpPr>
          <p:nvPr>
            <p:ph type="body" sz="quarter" idx="10"/>
          </p:nvPr>
        </p:nvSpPr>
        <p:spPr>
          <a:xfrm>
            <a:off x="1775952" y="4239009"/>
            <a:ext cx="4320048" cy="2249718"/>
          </a:xfrm>
        </p:spPr>
        <p:txBody>
          <a:bodyPr anchor="t"/>
          <a:lstStyle/>
          <a:p>
            <a:r>
              <a:rPr lang="ja-JP" altLang="en-US" sz="1800" dirty="0"/>
              <a:t>逐次型：スーパスカラ</a:t>
            </a:r>
            <a:endParaRPr lang="en-US" altLang="ja-JP" sz="1800" dirty="0"/>
          </a:p>
          <a:p>
            <a:pPr lvl="1"/>
            <a:r>
              <a:rPr lang="ja-JP" altLang="en-US" sz="1800" dirty="0"/>
              <a:t>頑張って並列実行できる部分を探し，小数の演算器で実行</a:t>
            </a:r>
            <a:endParaRPr lang="en-US" altLang="ja-JP" sz="1800" dirty="0"/>
          </a:p>
          <a:p>
            <a:pPr lvl="1"/>
            <a:r>
              <a:rPr lang="ja-JP" altLang="en-US" sz="1800" dirty="0"/>
              <a:t>主に </a:t>
            </a:r>
            <a:r>
              <a:rPr lang="en-US" altLang="ja-JP" sz="1800" dirty="0"/>
              <a:t>CPU </a:t>
            </a:r>
            <a:br>
              <a:rPr lang="en-US" altLang="ja-JP" sz="1800" dirty="0"/>
            </a:br>
            <a:r>
              <a:rPr lang="en-US" altLang="ja-JP" sz="1800" dirty="0"/>
              <a:t>PC </a:t>
            </a:r>
            <a:r>
              <a:rPr lang="ja-JP" altLang="en-US" sz="1800" dirty="0"/>
              <a:t>やサーバ，スマホ</a:t>
            </a:r>
            <a:endParaRPr lang="en-US" sz="1800" dirty="0"/>
          </a:p>
        </p:txBody>
      </p:sp>
      <p:sp>
        <p:nvSpPr>
          <p:cNvPr id="4" name="AutoShape 5">
            <a:extLst>
              <a:ext uri="{FF2B5EF4-FFF2-40B4-BE49-F238E27FC236}">
                <a16:creationId xmlns:a16="http://schemas.microsoft.com/office/drawing/2014/main" id="{6C9DD195-2150-207A-102D-0FD614AFF664}"/>
              </a:ext>
            </a:extLst>
          </p:cNvPr>
          <p:cNvSpPr>
            <a:spLocks noChangeArrowheads="1"/>
          </p:cNvSpPr>
          <p:nvPr/>
        </p:nvSpPr>
        <p:spPr bwMode="auto">
          <a:xfrm rot="10800000" flipV="1">
            <a:off x="4295981" y="3429001"/>
            <a:ext cx="720008" cy="450005"/>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horz"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AutoShape 5">
            <a:extLst>
              <a:ext uri="{FF2B5EF4-FFF2-40B4-BE49-F238E27FC236}">
                <a16:creationId xmlns:a16="http://schemas.microsoft.com/office/drawing/2014/main" id="{852F5003-0B12-DB7F-23FC-FF50A0738C00}"/>
              </a:ext>
            </a:extLst>
          </p:cNvPr>
          <p:cNvSpPr>
            <a:spLocks noChangeArrowheads="1"/>
          </p:cNvSpPr>
          <p:nvPr/>
        </p:nvSpPr>
        <p:spPr bwMode="auto">
          <a:xfrm rot="10800000" flipV="1">
            <a:off x="2855966" y="3429001"/>
            <a:ext cx="810009" cy="450005"/>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horz"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演算器</a:t>
            </a:r>
          </a:p>
        </p:txBody>
      </p:sp>
      <p:sp>
        <p:nvSpPr>
          <p:cNvPr id="7" name="正方形/長方形 6">
            <a:extLst>
              <a:ext uri="{FF2B5EF4-FFF2-40B4-BE49-F238E27FC236}">
                <a16:creationId xmlns:a16="http://schemas.microsoft.com/office/drawing/2014/main" id="{85C9713F-B175-B69E-BA7B-5E19F3C73FA8}"/>
              </a:ext>
            </a:extLst>
          </p:cNvPr>
          <p:cNvSpPr/>
          <p:nvPr/>
        </p:nvSpPr>
        <p:spPr bwMode="auto">
          <a:xfrm>
            <a:off x="2495961" y="998973"/>
            <a:ext cx="2880032" cy="234002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400" dirty="0">
                <a:solidFill>
                  <a:schemeClr val="tx1">
                    <a:lumMod val="75000"/>
                    <a:lumOff val="25000"/>
                  </a:schemeClr>
                </a:solidFill>
                <a:latin typeface="+mn-ea"/>
              </a:rPr>
              <a:t>命令キャッシュ</a:t>
            </a:r>
            <a:endParaRPr lang="en-US" altLang="ja-JP" sz="1400" dirty="0">
              <a:solidFill>
                <a:schemeClr val="tx1">
                  <a:lumMod val="75000"/>
                  <a:lumOff val="25000"/>
                </a:schemeClr>
              </a:solidFill>
              <a:latin typeface="+mn-ea"/>
            </a:endParaRPr>
          </a:p>
          <a:p>
            <a:pPr algn="ctr"/>
            <a:r>
              <a:rPr lang="ja-JP" altLang="en-US" sz="1400" dirty="0">
                <a:solidFill>
                  <a:schemeClr val="tx1">
                    <a:lumMod val="75000"/>
                    <a:lumOff val="25000"/>
                  </a:schemeClr>
                </a:solidFill>
                <a:latin typeface="+mn-ea"/>
              </a:rPr>
              <a:t>命令デコーダ</a:t>
            </a:r>
            <a:endParaRPr lang="en-US" altLang="ja-JP" sz="1400" dirty="0">
              <a:solidFill>
                <a:schemeClr val="tx1">
                  <a:lumMod val="75000"/>
                  <a:lumOff val="25000"/>
                </a:schemeClr>
              </a:solidFill>
              <a:latin typeface="+mn-ea"/>
            </a:endParaRPr>
          </a:p>
          <a:p>
            <a:pPr algn="ctr"/>
            <a:r>
              <a:rPr lang="ja-JP" altLang="en-US" sz="1400" dirty="0">
                <a:solidFill>
                  <a:schemeClr val="tx1">
                    <a:lumMod val="75000"/>
                    <a:lumOff val="25000"/>
                  </a:schemeClr>
                </a:solidFill>
                <a:latin typeface="+mn-ea"/>
              </a:rPr>
              <a:t>命令発行スケジューラ</a:t>
            </a:r>
            <a:endParaRPr lang="en-US" altLang="ja-JP" sz="1400" dirty="0">
              <a:solidFill>
                <a:schemeClr val="tx1">
                  <a:lumMod val="75000"/>
                  <a:lumOff val="25000"/>
                </a:schemeClr>
              </a:solidFill>
              <a:latin typeface="+mn-ea"/>
            </a:endParaRPr>
          </a:p>
          <a:p>
            <a:pPr algn="ctr"/>
            <a:r>
              <a:rPr lang="ja-JP" altLang="en-US" sz="1400" dirty="0">
                <a:solidFill>
                  <a:schemeClr val="tx1">
                    <a:lumMod val="75000"/>
                    <a:lumOff val="25000"/>
                  </a:schemeClr>
                </a:solidFill>
                <a:latin typeface="+mn-ea"/>
              </a:rPr>
              <a:t>レジスタ・リネーム機構</a:t>
            </a:r>
            <a:endParaRPr lang="en-US" altLang="ja-JP" sz="1400" dirty="0">
              <a:solidFill>
                <a:schemeClr val="tx1">
                  <a:lumMod val="75000"/>
                  <a:lumOff val="25000"/>
                </a:schemeClr>
              </a:solidFill>
              <a:latin typeface="+mn-ea"/>
            </a:endParaRPr>
          </a:p>
          <a:p>
            <a:pPr algn="ctr"/>
            <a:r>
              <a:rPr lang="ja-JP" altLang="en-US" sz="1400" dirty="0">
                <a:solidFill>
                  <a:schemeClr val="tx1">
                    <a:lumMod val="75000"/>
                    <a:lumOff val="25000"/>
                  </a:schemeClr>
                </a:solidFill>
                <a:latin typeface="+mn-ea"/>
              </a:rPr>
              <a:t>分岐予測器</a:t>
            </a:r>
            <a:endParaRPr lang="en-US" altLang="ja-JP" sz="1400" dirty="0">
              <a:solidFill>
                <a:schemeClr val="tx1">
                  <a:lumMod val="75000"/>
                  <a:lumOff val="25000"/>
                </a:schemeClr>
              </a:solidFill>
              <a:latin typeface="+mn-ea"/>
            </a:endParaRPr>
          </a:p>
          <a:p>
            <a:pPr algn="ctr"/>
            <a:r>
              <a:rPr lang="ja-JP" altLang="en-US" sz="1400" dirty="0">
                <a:solidFill>
                  <a:schemeClr val="tx1">
                    <a:lumMod val="75000"/>
                    <a:lumOff val="25000"/>
                  </a:schemeClr>
                </a:solidFill>
                <a:latin typeface="+mn-ea"/>
              </a:rPr>
              <a:t>アドレス一致予測器</a:t>
            </a:r>
            <a:endParaRPr lang="en-US" altLang="ja-JP" sz="1400" dirty="0">
              <a:solidFill>
                <a:schemeClr val="tx1">
                  <a:lumMod val="75000"/>
                  <a:lumOff val="25000"/>
                </a:schemeClr>
              </a:solidFill>
              <a:latin typeface="+mn-ea"/>
            </a:endParaRPr>
          </a:p>
          <a:p>
            <a:pPr algn="ctr"/>
            <a:r>
              <a:rPr lang="ja-JP" altLang="en-US" sz="1400" dirty="0">
                <a:solidFill>
                  <a:schemeClr val="tx1">
                    <a:lumMod val="75000"/>
                    <a:lumOff val="25000"/>
                  </a:schemeClr>
                </a:solidFill>
                <a:latin typeface="+mn-ea"/>
              </a:rPr>
              <a:t>物理レジスタ・ファイル</a:t>
            </a:r>
            <a:endParaRPr lang="en-US" altLang="ja-JP" sz="1400" dirty="0">
              <a:solidFill>
                <a:schemeClr val="tx1">
                  <a:lumMod val="75000"/>
                  <a:lumOff val="25000"/>
                </a:schemeClr>
              </a:solidFill>
              <a:latin typeface="+mn-ea"/>
            </a:endParaRPr>
          </a:p>
          <a:p>
            <a:pPr algn="ctr"/>
            <a:r>
              <a:rPr lang="ja-JP" altLang="en-US" sz="1400" dirty="0">
                <a:solidFill>
                  <a:schemeClr val="tx1">
                    <a:lumMod val="75000"/>
                    <a:lumOff val="25000"/>
                  </a:schemeClr>
                </a:solidFill>
                <a:latin typeface="+mn-ea"/>
              </a:rPr>
              <a:t>ロード・ストア・キュー</a:t>
            </a:r>
            <a:endParaRPr lang="en-US" altLang="ja-JP" sz="1400" dirty="0">
              <a:solidFill>
                <a:schemeClr val="tx1">
                  <a:lumMod val="75000"/>
                  <a:lumOff val="25000"/>
                </a:schemeClr>
              </a:solidFill>
              <a:latin typeface="+mn-ea"/>
            </a:endParaRPr>
          </a:p>
          <a:p>
            <a:pPr algn="ctr"/>
            <a:r>
              <a:rPr lang="ja-JP" altLang="en-US" sz="1400" dirty="0">
                <a:solidFill>
                  <a:schemeClr val="tx1">
                    <a:lumMod val="75000"/>
                    <a:lumOff val="25000"/>
                  </a:schemeClr>
                </a:solidFill>
                <a:latin typeface="+mn-ea"/>
              </a:rPr>
              <a:t>リオーダ・バッファ</a:t>
            </a:r>
            <a:endParaRPr lang="en-US" altLang="ja-JP" sz="1400" dirty="0">
              <a:solidFill>
                <a:schemeClr val="tx1">
                  <a:lumMod val="75000"/>
                  <a:lumOff val="25000"/>
                </a:schemeClr>
              </a:solidFill>
              <a:latin typeface="+mn-ea"/>
            </a:endParaRPr>
          </a:p>
          <a:p>
            <a:pPr algn="ctr"/>
            <a:r>
              <a:rPr lang="ja-JP" altLang="en-US" sz="1400" dirty="0">
                <a:solidFill>
                  <a:schemeClr val="tx1">
                    <a:lumMod val="75000"/>
                    <a:lumOff val="25000"/>
                  </a:schemeClr>
                </a:solidFill>
                <a:latin typeface="+mn-ea"/>
              </a:rPr>
              <a:t>･･･</a:t>
            </a:r>
          </a:p>
        </p:txBody>
      </p:sp>
      <p:sp>
        <p:nvSpPr>
          <p:cNvPr id="19" name="正方形/長方形 18">
            <a:extLst>
              <a:ext uri="{FF2B5EF4-FFF2-40B4-BE49-F238E27FC236}">
                <a16:creationId xmlns:a16="http://schemas.microsoft.com/office/drawing/2014/main" id="{B99B73C0-DC12-B500-1382-DE0254C9390F}"/>
              </a:ext>
            </a:extLst>
          </p:cNvPr>
          <p:cNvSpPr/>
          <p:nvPr/>
        </p:nvSpPr>
        <p:spPr bwMode="auto">
          <a:xfrm>
            <a:off x="7986022" y="998973"/>
            <a:ext cx="810009"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400" dirty="0">
                <a:solidFill>
                  <a:schemeClr val="tx1">
                    <a:lumMod val="75000"/>
                    <a:lumOff val="25000"/>
                  </a:schemeClr>
                </a:solidFill>
                <a:latin typeface="+mn-ea"/>
              </a:rPr>
              <a:t>命令キャッシュ</a:t>
            </a:r>
            <a:endParaRPr lang="en-US" altLang="ja-JP" sz="1400" dirty="0">
              <a:solidFill>
                <a:schemeClr val="tx1">
                  <a:lumMod val="75000"/>
                  <a:lumOff val="25000"/>
                </a:schemeClr>
              </a:solidFill>
              <a:latin typeface="+mn-ea"/>
            </a:endParaRPr>
          </a:p>
          <a:p>
            <a:pPr algn="ctr"/>
            <a:r>
              <a:rPr lang="ja-JP" altLang="en-US" sz="1400" dirty="0">
                <a:solidFill>
                  <a:schemeClr val="tx1">
                    <a:lumMod val="75000"/>
                    <a:lumOff val="25000"/>
                  </a:schemeClr>
                </a:solidFill>
                <a:latin typeface="+mn-ea"/>
              </a:rPr>
              <a:t>命令デコーダ</a:t>
            </a:r>
          </a:p>
        </p:txBody>
      </p:sp>
      <p:sp>
        <p:nvSpPr>
          <p:cNvPr id="20" name="AutoShape 5">
            <a:extLst>
              <a:ext uri="{FF2B5EF4-FFF2-40B4-BE49-F238E27FC236}">
                <a16:creationId xmlns:a16="http://schemas.microsoft.com/office/drawing/2014/main" id="{C1CB78B7-1B62-A326-9A57-4E7C48D05A68}"/>
              </a:ext>
            </a:extLst>
          </p:cNvPr>
          <p:cNvSpPr>
            <a:spLocks noChangeArrowheads="1"/>
          </p:cNvSpPr>
          <p:nvPr/>
        </p:nvSpPr>
        <p:spPr bwMode="auto">
          <a:xfrm rot="10800000" flipV="1">
            <a:off x="6816009" y="1808983"/>
            <a:ext cx="720008" cy="450005"/>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horz"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演算器</a:t>
            </a:r>
          </a:p>
        </p:txBody>
      </p:sp>
      <p:sp>
        <p:nvSpPr>
          <p:cNvPr id="21" name="AutoShape 5">
            <a:extLst>
              <a:ext uri="{FF2B5EF4-FFF2-40B4-BE49-F238E27FC236}">
                <a16:creationId xmlns:a16="http://schemas.microsoft.com/office/drawing/2014/main" id="{9A29BDFB-CC25-FD03-912B-FC130C7D748B}"/>
              </a:ext>
            </a:extLst>
          </p:cNvPr>
          <p:cNvSpPr>
            <a:spLocks noChangeArrowheads="1"/>
          </p:cNvSpPr>
          <p:nvPr/>
        </p:nvSpPr>
        <p:spPr bwMode="auto">
          <a:xfrm rot="10800000" flipV="1">
            <a:off x="7626018" y="1808983"/>
            <a:ext cx="720008" cy="450005"/>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horz"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2" name="AutoShape 5">
            <a:extLst>
              <a:ext uri="{FF2B5EF4-FFF2-40B4-BE49-F238E27FC236}">
                <a16:creationId xmlns:a16="http://schemas.microsoft.com/office/drawing/2014/main" id="{15D3D61E-2409-DCB4-C502-8FC02BB568C6}"/>
              </a:ext>
            </a:extLst>
          </p:cNvPr>
          <p:cNvSpPr>
            <a:spLocks noChangeArrowheads="1"/>
          </p:cNvSpPr>
          <p:nvPr/>
        </p:nvSpPr>
        <p:spPr bwMode="auto">
          <a:xfrm rot="10800000" flipV="1">
            <a:off x="8436027" y="1808983"/>
            <a:ext cx="720008" cy="450005"/>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horz"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3" name="AutoShape 5">
            <a:extLst>
              <a:ext uri="{FF2B5EF4-FFF2-40B4-BE49-F238E27FC236}">
                <a16:creationId xmlns:a16="http://schemas.microsoft.com/office/drawing/2014/main" id="{D78849EC-3821-C626-6F6C-0EADB34CC362}"/>
              </a:ext>
            </a:extLst>
          </p:cNvPr>
          <p:cNvSpPr>
            <a:spLocks noChangeArrowheads="1"/>
          </p:cNvSpPr>
          <p:nvPr/>
        </p:nvSpPr>
        <p:spPr bwMode="auto">
          <a:xfrm rot="10800000" flipV="1">
            <a:off x="9246036" y="1808983"/>
            <a:ext cx="720008" cy="450005"/>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horz"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4" name="AutoShape 5">
            <a:extLst>
              <a:ext uri="{FF2B5EF4-FFF2-40B4-BE49-F238E27FC236}">
                <a16:creationId xmlns:a16="http://schemas.microsoft.com/office/drawing/2014/main" id="{082F70D0-CD90-17E2-0356-22E859726899}"/>
              </a:ext>
            </a:extLst>
          </p:cNvPr>
          <p:cNvSpPr>
            <a:spLocks noChangeArrowheads="1"/>
          </p:cNvSpPr>
          <p:nvPr/>
        </p:nvSpPr>
        <p:spPr bwMode="auto">
          <a:xfrm rot="10800000" flipV="1">
            <a:off x="7626018" y="2348989"/>
            <a:ext cx="720008" cy="450005"/>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horz"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5" name="AutoShape 5">
            <a:extLst>
              <a:ext uri="{FF2B5EF4-FFF2-40B4-BE49-F238E27FC236}">
                <a16:creationId xmlns:a16="http://schemas.microsoft.com/office/drawing/2014/main" id="{36EEED87-2691-D041-D468-2604F5252D65}"/>
              </a:ext>
            </a:extLst>
          </p:cNvPr>
          <p:cNvSpPr>
            <a:spLocks noChangeArrowheads="1"/>
          </p:cNvSpPr>
          <p:nvPr/>
        </p:nvSpPr>
        <p:spPr bwMode="auto">
          <a:xfrm rot="10800000" flipV="1">
            <a:off x="8436027" y="2348989"/>
            <a:ext cx="720008" cy="450005"/>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horz"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6" name="AutoShape 5">
            <a:extLst>
              <a:ext uri="{FF2B5EF4-FFF2-40B4-BE49-F238E27FC236}">
                <a16:creationId xmlns:a16="http://schemas.microsoft.com/office/drawing/2014/main" id="{5AA68247-B5C6-F042-D4CD-CEEED6314103}"/>
              </a:ext>
            </a:extLst>
          </p:cNvPr>
          <p:cNvSpPr>
            <a:spLocks noChangeArrowheads="1"/>
          </p:cNvSpPr>
          <p:nvPr/>
        </p:nvSpPr>
        <p:spPr bwMode="auto">
          <a:xfrm rot="10800000" flipV="1">
            <a:off x="9246036" y="2348989"/>
            <a:ext cx="720008" cy="450005"/>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horz"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7" name="AutoShape 5">
            <a:extLst>
              <a:ext uri="{FF2B5EF4-FFF2-40B4-BE49-F238E27FC236}">
                <a16:creationId xmlns:a16="http://schemas.microsoft.com/office/drawing/2014/main" id="{CF1A7B1D-1630-572D-E483-484E821EDEC3}"/>
              </a:ext>
            </a:extLst>
          </p:cNvPr>
          <p:cNvSpPr>
            <a:spLocks noChangeArrowheads="1"/>
          </p:cNvSpPr>
          <p:nvPr/>
        </p:nvSpPr>
        <p:spPr bwMode="auto">
          <a:xfrm rot="10800000" flipV="1">
            <a:off x="6816009" y="2348989"/>
            <a:ext cx="720008" cy="450005"/>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horz"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8" name="AutoShape 5">
            <a:extLst>
              <a:ext uri="{FF2B5EF4-FFF2-40B4-BE49-F238E27FC236}">
                <a16:creationId xmlns:a16="http://schemas.microsoft.com/office/drawing/2014/main" id="{C4A66756-682A-1B43-DFFF-74A896C03735}"/>
              </a:ext>
            </a:extLst>
          </p:cNvPr>
          <p:cNvSpPr>
            <a:spLocks noChangeArrowheads="1"/>
          </p:cNvSpPr>
          <p:nvPr/>
        </p:nvSpPr>
        <p:spPr bwMode="auto">
          <a:xfrm rot="10800000" flipV="1">
            <a:off x="6816009" y="2888995"/>
            <a:ext cx="720008" cy="450005"/>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horz"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9" name="AutoShape 5">
            <a:extLst>
              <a:ext uri="{FF2B5EF4-FFF2-40B4-BE49-F238E27FC236}">
                <a16:creationId xmlns:a16="http://schemas.microsoft.com/office/drawing/2014/main" id="{C2A6A535-CF09-9EA1-3D4B-ECF363BCA467}"/>
              </a:ext>
            </a:extLst>
          </p:cNvPr>
          <p:cNvSpPr>
            <a:spLocks noChangeArrowheads="1"/>
          </p:cNvSpPr>
          <p:nvPr/>
        </p:nvSpPr>
        <p:spPr bwMode="auto">
          <a:xfrm rot="10800000" flipV="1">
            <a:off x="7626018" y="2888995"/>
            <a:ext cx="720008" cy="450005"/>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horz"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AutoShape 5">
            <a:extLst>
              <a:ext uri="{FF2B5EF4-FFF2-40B4-BE49-F238E27FC236}">
                <a16:creationId xmlns:a16="http://schemas.microsoft.com/office/drawing/2014/main" id="{DFFCE9FB-7D85-5D6C-1E2F-C41642B37C92}"/>
              </a:ext>
            </a:extLst>
          </p:cNvPr>
          <p:cNvSpPr>
            <a:spLocks noChangeArrowheads="1"/>
          </p:cNvSpPr>
          <p:nvPr/>
        </p:nvSpPr>
        <p:spPr bwMode="auto">
          <a:xfrm rot="10800000" flipV="1">
            <a:off x="8436027" y="2888995"/>
            <a:ext cx="720008" cy="450005"/>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horz"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1" name="AutoShape 5">
            <a:extLst>
              <a:ext uri="{FF2B5EF4-FFF2-40B4-BE49-F238E27FC236}">
                <a16:creationId xmlns:a16="http://schemas.microsoft.com/office/drawing/2014/main" id="{7D3D7227-DBEB-96F1-CE92-750F07367E06}"/>
              </a:ext>
            </a:extLst>
          </p:cNvPr>
          <p:cNvSpPr>
            <a:spLocks noChangeArrowheads="1"/>
          </p:cNvSpPr>
          <p:nvPr/>
        </p:nvSpPr>
        <p:spPr bwMode="auto">
          <a:xfrm rot="10800000" flipV="1">
            <a:off x="9246036" y="2888995"/>
            <a:ext cx="720008" cy="450005"/>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horz"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2" name="AutoShape 5">
            <a:extLst>
              <a:ext uri="{FF2B5EF4-FFF2-40B4-BE49-F238E27FC236}">
                <a16:creationId xmlns:a16="http://schemas.microsoft.com/office/drawing/2014/main" id="{DF8142B6-3E69-4B60-EBE1-5B63732B1528}"/>
              </a:ext>
            </a:extLst>
          </p:cNvPr>
          <p:cNvSpPr>
            <a:spLocks noChangeArrowheads="1"/>
          </p:cNvSpPr>
          <p:nvPr/>
        </p:nvSpPr>
        <p:spPr bwMode="auto">
          <a:xfrm rot="10800000" flipV="1">
            <a:off x="7626018" y="3429001"/>
            <a:ext cx="720008" cy="450005"/>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horz"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AutoShape 5">
            <a:extLst>
              <a:ext uri="{FF2B5EF4-FFF2-40B4-BE49-F238E27FC236}">
                <a16:creationId xmlns:a16="http://schemas.microsoft.com/office/drawing/2014/main" id="{781F614A-809F-5280-DB57-901223D0DE2C}"/>
              </a:ext>
            </a:extLst>
          </p:cNvPr>
          <p:cNvSpPr>
            <a:spLocks noChangeArrowheads="1"/>
          </p:cNvSpPr>
          <p:nvPr/>
        </p:nvSpPr>
        <p:spPr bwMode="auto">
          <a:xfrm rot="10800000" flipV="1">
            <a:off x="8436027" y="3429001"/>
            <a:ext cx="720008" cy="450005"/>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horz"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4" name="AutoShape 5">
            <a:extLst>
              <a:ext uri="{FF2B5EF4-FFF2-40B4-BE49-F238E27FC236}">
                <a16:creationId xmlns:a16="http://schemas.microsoft.com/office/drawing/2014/main" id="{1E80F44E-B789-B712-6455-349694D3EA3E}"/>
              </a:ext>
            </a:extLst>
          </p:cNvPr>
          <p:cNvSpPr>
            <a:spLocks noChangeArrowheads="1"/>
          </p:cNvSpPr>
          <p:nvPr/>
        </p:nvSpPr>
        <p:spPr bwMode="auto">
          <a:xfrm rot="10800000" flipV="1">
            <a:off x="9246036" y="3429001"/>
            <a:ext cx="720008" cy="450005"/>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horz"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5" name="AutoShape 5">
            <a:extLst>
              <a:ext uri="{FF2B5EF4-FFF2-40B4-BE49-F238E27FC236}">
                <a16:creationId xmlns:a16="http://schemas.microsoft.com/office/drawing/2014/main" id="{A2E7E26F-2C71-D021-4FBC-D5D9FDC93395}"/>
              </a:ext>
            </a:extLst>
          </p:cNvPr>
          <p:cNvSpPr>
            <a:spLocks noChangeArrowheads="1"/>
          </p:cNvSpPr>
          <p:nvPr/>
        </p:nvSpPr>
        <p:spPr bwMode="auto">
          <a:xfrm rot="10800000" flipV="1">
            <a:off x="6816009" y="3429001"/>
            <a:ext cx="720008" cy="450005"/>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horz"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0" name="テキスト プレースホルダー 2">
            <a:extLst>
              <a:ext uri="{FF2B5EF4-FFF2-40B4-BE49-F238E27FC236}">
                <a16:creationId xmlns:a16="http://schemas.microsoft.com/office/drawing/2014/main" id="{EA66F9BC-62AF-A861-5CF2-E9372288BE68}"/>
              </a:ext>
            </a:extLst>
          </p:cNvPr>
          <p:cNvSpPr txBox="1">
            <a:spLocks/>
          </p:cNvSpPr>
          <p:nvPr/>
        </p:nvSpPr>
        <p:spPr bwMode="auto">
          <a:xfrm>
            <a:off x="6366003" y="4238702"/>
            <a:ext cx="3960044" cy="224971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sz="1800" kern="0" dirty="0"/>
              <a:t>データ並列型：</a:t>
            </a:r>
            <a:endParaRPr lang="en-US" altLang="ja-JP" sz="1800" kern="0" dirty="0"/>
          </a:p>
          <a:p>
            <a:pPr lvl="1"/>
            <a:r>
              <a:rPr lang="ja-JP" altLang="en-US" sz="1800" kern="0" dirty="0"/>
              <a:t>１つの命令を多数の演算器にブロードキャスト</a:t>
            </a:r>
            <a:endParaRPr lang="en-US" altLang="ja-JP" sz="1800" kern="0" dirty="0"/>
          </a:p>
          <a:p>
            <a:pPr lvl="1"/>
            <a:r>
              <a:rPr lang="ja-JP" altLang="en-US" sz="1800" kern="0" dirty="0"/>
              <a:t>主に </a:t>
            </a:r>
            <a:r>
              <a:rPr lang="en-US" altLang="ja-JP" sz="1800" kern="0" dirty="0"/>
              <a:t>GPU</a:t>
            </a:r>
            <a:r>
              <a:rPr lang="ja-JP" altLang="en-US" sz="1800" kern="0" dirty="0"/>
              <a:t> やアクセラレータ</a:t>
            </a:r>
            <a:br>
              <a:rPr lang="en-US" altLang="ja-JP" sz="1800" kern="0" dirty="0"/>
            </a:br>
            <a:r>
              <a:rPr lang="ja-JP" altLang="en-US" sz="1800" kern="0" dirty="0"/>
              <a:t>スパコン</a:t>
            </a:r>
            <a:endParaRPr lang="en-US" altLang="ja-JP" sz="1800" kern="0" dirty="0"/>
          </a:p>
        </p:txBody>
      </p:sp>
      <p:sp>
        <p:nvSpPr>
          <p:cNvPr id="42" name="テキスト プレースホルダー 2">
            <a:extLst>
              <a:ext uri="{FF2B5EF4-FFF2-40B4-BE49-F238E27FC236}">
                <a16:creationId xmlns:a16="http://schemas.microsoft.com/office/drawing/2014/main" id="{DA0050A7-66E9-F06A-6C3F-037CB58CD06D}"/>
              </a:ext>
            </a:extLst>
          </p:cNvPr>
          <p:cNvSpPr txBox="1">
            <a:spLocks/>
          </p:cNvSpPr>
          <p:nvPr/>
        </p:nvSpPr>
        <p:spPr bwMode="auto">
          <a:xfrm>
            <a:off x="4115979" y="6219031"/>
            <a:ext cx="6030067" cy="36000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ja-JP" altLang="en-US" sz="1800" kern="0" dirty="0">
                <a:solidFill>
                  <a:schemeClr val="accent5"/>
                </a:solidFill>
              </a:rPr>
              <a:t>両者では，やるべき事も全くことなる</a:t>
            </a:r>
            <a:endParaRPr lang="en-US" sz="1800" kern="0" dirty="0">
              <a:solidFill>
                <a:schemeClr val="accent5"/>
              </a:solidFill>
            </a:endParaRPr>
          </a:p>
        </p:txBody>
      </p:sp>
    </p:spTree>
    <p:extLst>
      <p:ext uri="{BB962C8B-B14F-4D97-AF65-F5344CB8AC3E}">
        <p14:creationId xmlns:p14="http://schemas.microsoft.com/office/powerpoint/2010/main" val="20399968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矢印: 右 4">
            <a:extLst>
              <a:ext uri="{FF2B5EF4-FFF2-40B4-BE49-F238E27FC236}">
                <a16:creationId xmlns:a16="http://schemas.microsoft.com/office/drawing/2014/main" id="{83458CD7-9B5D-455F-A761-901F3CD4D4C9}"/>
              </a:ext>
            </a:extLst>
          </p:cNvPr>
          <p:cNvSpPr/>
          <p:nvPr/>
        </p:nvSpPr>
        <p:spPr bwMode="auto">
          <a:xfrm rot="5400000">
            <a:off x="3215967" y="3609003"/>
            <a:ext cx="5760065" cy="540006"/>
          </a:xfrm>
          <a:prstGeom prst="rightArrow">
            <a:avLst/>
          </a:prstGeom>
          <a:solidFill>
            <a:schemeClr val="accent5">
              <a:lumMod val="20000"/>
              <a:lumOff val="80000"/>
            </a:schemeClr>
          </a:solidFill>
          <a:ln w="12700">
            <a:solidFill>
              <a:schemeClr val="accent5"/>
            </a:solid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 name="タイトル 1">
            <a:extLst>
              <a:ext uri="{FF2B5EF4-FFF2-40B4-BE49-F238E27FC236}">
                <a16:creationId xmlns:a16="http://schemas.microsoft.com/office/drawing/2014/main" id="{64333EC1-DED7-420A-ABD1-25E29F09BFD1}"/>
              </a:ext>
            </a:extLst>
          </p:cNvPr>
          <p:cNvSpPr>
            <a:spLocks noGrp="1"/>
          </p:cNvSpPr>
          <p:nvPr>
            <p:ph type="title"/>
          </p:nvPr>
        </p:nvSpPr>
        <p:spPr/>
        <p:txBody>
          <a:bodyPr/>
          <a:lstStyle/>
          <a:p>
            <a:r>
              <a:rPr kumimoji="1" lang="ja-JP" altLang="en-US" dirty="0"/>
              <a:t>講義内容との関係</a:t>
            </a:r>
            <a:br>
              <a:rPr kumimoji="1" lang="en-US" altLang="ja-JP" dirty="0"/>
            </a:br>
            <a:r>
              <a:rPr kumimoji="1" lang="ja-JP" altLang="en-US" dirty="0"/>
              <a:t>紫：共通，青：</a:t>
            </a:r>
            <a:r>
              <a:rPr kumimoji="1" lang="en-US" altLang="ja-JP" dirty="0"/>
              <a:t>CPU</a:t>
            </a:r>
            <a:r>
              <a:rPr kumimoji="1" lang="ja-JP" altLang="en-US" dirty="0"/>
              <a:t>，緑：</a:t>
            </a:r>
            <a:r>
              <a:rPr kumimoji="1" lang="en-US" altLang="ja-JP" dirty="0"/>
              <a:t>GPU</a:t>
            </a:r>
            <a:endParaRPr kumimoji="1" lang="ja-JP" altLang="en-US" dirty="0"/>
          </a:p>
        </p:txBody>
      </p:sp>
      <p:sp>
        <p:nvSpPr>
          <p:cNvPr id="4" name="四角形: 角を丸くする 3">
            <a:extLst>
              <a:ext uri="{FF2B5EF4-FFF2-40B4-BE49-F238E27FC236}">
                <a16:creationId xmlns:a16="http://schemas.microsoft.com/office/drawing/2014/main" id="{A3F8876C-7D47-459A-A3FD-BE6CFF249CA4}"/>
              </a:ext>
            </a:extLst>
          </p:cNvPr>
          <p:cNvSpPr/>
          <p:nvPr/>
        </p:nvSpPr>
        <p:spPr bwMode="auto">
          <a:xfrm>
            <a:off x="3575972" y="1268976"/>
            <a:ext cx="5040000" cy="360004"/>
          </a:xfrm>
          <a:prstGeom prst="round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mn-ea"/>
              </a:rPr>
              <a:t>２～３回目</a:t>
            </a:r>
            <a:r>
              <a:rPr lang="en-US" altLang="ja-JP" dirty="0">
                <a:solidFill>
                  <a:schemeClr val="tx1">
                    <a:lumMod val="75000"/>
                    <a:lumOff val="25000"/>
                  </a:schemeClr>
                </a:solidFill>
                <a:latin typeface="+mn-ea"/>
              </a:rPr>
              <a:t> </a:t>
            </a:r>
            <a:r>
              <a:rPr lang="ja-JP" altLang="en-US" dirty="0">
                <a:solidFill>
                  <a:schemeClr val="tx1">
                    <a:lumMod val="75000"/>
                    <a:lumOff val="25000"/>
                  </a:schemeClr>
                </a:solidFill>
                <a:latin typeface="+mn-ea"/>
              </a:rPr>
              <a:t>コンピュータの基本</a:t>
            </a:r>
          </a:p>
        </p:txBody>
      </p:sp>
      <p:sp>
        <p:nvSpPr>
          <p:cNvPr id="9" name="四角形: 角を丸くする 8">
            <a:extLst>
              <a:ext uri="{FF2B5EF4-FFF2-40B4-BE49-F238E27FC236}">
                <a16:creationId xmlns:a16="http://schemas.microsoft.com/office/drawing/2014/main" id="{C098834D-84C3-4218-9C97-8AF475B99487}"/>
              </a:ext>
            </a:extLst>
          </p:cNvPr>
          <p:cNvSpPr/>
          <p:nvPr/>
        </p:nvSpPr>
        <p:spPr bwMode="auto">
          <a:xfrm>
            <a:off x="3575972" y="1808982"/>
            <a:ext cx="5040000" cy="360004"/>
          </a:xfrm>
          <a:prstGeom prst="round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mn-ea"/>
              </a:rPr>
              <a:t>３～４回目 回路と遅延，消費電力</a:t>
            </a:r>
          </a:p>
        </p:txBody>
      </p:sp>
      <p:sp>
        <p:nvSpPr>
          <p:cNvPr id="10" name="四角形: 角を丸くする 9">
            <a:extLst>
              <a:ext uri="{FF2B5EF4-FFF2-40B4-BE49-F238E27FC236}">
                <a16:creationId xmlns:a16="http://schemas.microsoft.com/office/drawing/2014/main" id="{F2D0838B-C76B-4470-A732-21D8AFCB8E5E}"/>
              </a:ext>
            </a:extLst>
          </p:cNvPr>
          <p:cNvSpPr/>
          <p:nvPr/>
        </p:nvSpPr>
        <p:spPr bwMode="auto">
          <a:xfrm>
            <a:off x="3575972" y="2348988"/>
            <a:ext cx="5040000" cy="360004"/>
          </a:xfrm>
          <a:prstGeom prst="round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mn-ea"/>
              </a:rPr>
              <a:t>４～５回目 命令パイプライン</a:t>
            </a:r>
          </a:p>
        </p:txBody>
      </p:sp>
      <p:sp>
        <p:nvSpPr>
          <p:cNvPr id="11" name="四角形: 角を丸くする 10">
            <a:extLst>
              <a:ext uri="{FF2B5EF4-FFF2-40B4-BE49-F238E27FC236}">
                <a16:creationId xmlns:a16="http://schemas.microsoft.com/office/drawing/2014/main" id="{4E291C6A-5D64-4E3D-B842-A1CD700D6FAF}"/>
              </a:ext>
            </a:extLst>
          </p:cNvPr>
          <p:cNvSpPr/>
          <p:nvPr/>
        </p:nvSpPr>
        <p:spPr bwMode="auto">
          <a:xfrm>
            <a:off x="3575972" y="2888994"/>
            <a:ext cx="5040000" cy="360004"/>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mn-ea"/>
              </a:rPr>
              <a:t>６～７回目 分岐予測</a:t>
            </a:r>
          </a:p>
        </p:txBody>
      </p:sp>
      <p:sp>
        <p:nvSpPr>
          <p:cNvPr id="12" name="四角形: 角を丸くする 11">
            <a:extLst>
              <a:ext uri="{FF2B5EF4-FFF2-40B4-BE49-F238E27FC236}">
                <a16:creationId xmlns:a16="http://schemas.microsoft.com/office/drawing/2014/main" id="{83C9C10A-55D3-43DF-A89A-F5232482A9CE}"/>
              </a:ext>
            </a:extLst>
          </p:cNvPr>
          <p:cNvSpPr/>
          <p:nvPr/>
        </p:nvSpPr>
        <p:spPr bwMode="auto">
          <a:xfrm>
            <a:off x="3575972" y="3519001"/>
            <a:ext cx="5040000" cy="360004"/>
          </a:xfrm>
          <a:prstGeom prst="round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mn-ea"/>
              </a:rPr>
              <a:t>８回目 メモリ</a:t>
            </a:r>
          </a:p>
        </p:txBody>
      </p:sp>
      <p:sp>
        <p:nvSpPr>
          <p:cNvPr id="13" name="四角形: 角を丸くする 12">
            <a:extLst>
              <a:ext uri="{FF2B5EF4-FFF2-40B4-BE49-F238E27FC236}">
                <a16:creationId xmlns:a16="http://schemas.microsoft.com/office/drawing/2014/main" id="{74B672F6-86A5-4653-BFA7-F180DA2B4034}"/>
              </a:ext>
            </a:extLst>
          </p:cNvPr>
          <p:cNvSpPr/>
          <p:nvPr/>
        </p:nvSpPr>
        <p:spPr bwMode="auto">
          <a:xfrm>
            <a:off x="3575972" y="4149008"/>
            <a:ext cx="5040000" cy="360004"/>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９～１１回目 命令の並列実行，命令スケジューリング</a:t>
            </a:r>
          </a:p>
        </p:txBody>
      </p:sp>
      <p:sp>
        <p:nvSpPr>
          <p:cNvPr id="14" name="四角形: 角を丸くする 13">
            <a:extLst>
              <a:ext uri="{FF2B5EF4-FFF2-40B4-BE49-F238E27FC236}">
                <a16:creationId xmlns:a16="http://schemas.microsoft.com/office/drawing/2014/main" id="{6BB1D330-7DAB-41EF-9B29-EB25FD6E5A4F}"/>
              </a:ext>
            </a:extLst>
          </p:cNvPr>
          <p:cNvSpPr/>
          <p:nvPr/>
        </p:nvSpPr>
        <p:spPr bwMode="auto">
          <a:xfrm>
            <a:off x="3575972" y="4779015"/>
            <a:ext cx="5040000" cy="360004"/>
          </a:xfrm>
          <a:prstGeom prst="round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mn-ea"/>
              </a:rPr>
              <a:t>１１回目 </a:t>
            </a:r>
            <a:r>
              <a:rPr lang="en-US" altLang="ja-JP" dirty="0">
                <a:solidFill>
                  <a:schemeClr val="tx1">
                    <a:lumMod val="75000"/>
                    <a:lumOff val="25000"/>
                  </a:schemeClr>
                </a:solidFill>
                <a:latin typeface="+mn-ea"/>
              </a:rPr>
              <a:t>GPU </a:t>
            </a:r>
          </a:p>
        </p:txBody>
      </p:sp>
      <p:sp>
        <p:nvSpPr>
          <p:cNvPr id="15" name="四角形: 角を丸くする 14">
            <a:extLst>
              <a:ext uri="{FF2B5EF4-FFF2-40B4-BE49-F238E27FC236}">
                <a16:creationId xmlns:a16="http://schemas.microsoft.com/office/drawing/2014/main" id="{21256BB7-9E8D-4451-AE73-77B9EE9383E2}"/>
              </a:ext>
            </a:extLst>
          </p:cNvPr>
          <p:cNvSpPr/>
          <p:nvPr/>
        </p:nvSpPr>
        <p:spPr bwMode="auto">
          <a:xfrm>
            <a:off x="3575972" y="5409022"/>
            <a:ext cx="5040000" cy="360004"/>
          </a:xfrm>
          <a:prstGeom prst="round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mn-ea"/>
              </a:rPr>
              <a:t>１２回目 キャッシュ</a:t>
            </a:r>
          </a:p>
        </p:txBody>
      </p:sp>
      <p:sp>
        <p:nvSpPr>
          <p:cNvPr id="16" name="四角形: 角を丸くする 15">
            <a:extLst>
              <a:ext uri="{FF2B5EF4-FFF2-40B4-BE49-F238E27FC236}">
                <a16:creationId xmlns:a16="http://schemas.microsoft.com/office/drawing/2014/main" id="{ED46CEDF-A644-43C0-A32D-EA5120C2EABE}"/>
              </a:ext>
            </a:extLst>
          </p:cNvPr>
          <p:cNvSpPr/>
          <p:nvPr/>
        </p:nvSpPr>
        <p:spPr bwMode="auto">
          <a:xfrm>
            <a:off x="3575972" y="6039029"/>
            <a:ext cx="5040000" cy="360004"/>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１３回目 保護機構とアタック</a:t>
            </a:r>
          </a:p>
        </p:txBody>
      </p:sp>
    </p:spTree>
    <p:extLst>
      <p:ext uri="{BB962C8B-B14F-4D97-AF65-F5344CB8AC3E}">
        <p14:creationId xmlns:p14="http://schemas.microsoft.com/office/powerpoint/2010/main" val="235181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429845-9558-75B6-8816-5D6B2C24D70F}"/>
              </a:ext>
            </a:extLst>
          </p:cNvPr>
          <p:cNvSpPr>
            <a:spLocks noGrp="1"/>
          </p:cNvSpPr>
          <p:nvPr>
            <p:ph type="title"/>
          </p:nvPr>
        </p:nvSpPr>
        <p:spPr/>
        <p:txBody>
          <a:bodyPr/>
          <a:lstStyle/>
          <a:p>
            <a:r>
              <a:rPr kumimoji="1" lang="ja-JP" altLang="en-US" dirty="0"/>
              <a:t>２～３回目：</a:t>
            </a:r>
            <a:r>
              <a:rPr lang="ja-JP" altLang="en-US" dirty="0"/>
              <a:t>コンピュータの基本</a:t>
            </a:r>
            <a:endParaRPr kumimoji="1" lang="ja-JP" altLang="en-US" dirty="0"/>
          </a:p>
        </p:txBody>
      </p:sp>
      <p:sp>
        <p:nvSpPr>
          <p:cNvPr id="3" name="テキスト プレースホルダー 2">
            <a:extLst>
              <a:ext uri="{FF2B5EF4-FFF2-40B4-BE49-F238E27FC236}">
                <a16:creationId xmlns:a16="http://schemas.microsoft.com/office/drawing/2014/main" id="{59AD754B-7B2C-56B5-2788-CA3853DFE7BE}"/>
              </a:ext>
            </a:extLst>
          </p:cNvPr>
          <p:cNvSpPr>
            <a:spLocks noGrp="1"/>
          </p:cNvSpPr>
          <p:nvPr>
            <p:ph type="body" sz="quarter" idx="10"/>
          </p:nvPr>
        </p:nvSpPr>
        <p:spPr>
          <a:xfrm>
            <a:off x="425937" y="818971"/>
            <a:ext cx="6210069" cy="1890021"/>
          </a:xfrm>
        </p:spPr>
        <p:txBody>
          <a:bodyPr/>
          <a:lstStyle/>
          <a:p>
            <a:pPr lvl="1"/>
            <a:r>
              <a:rPr lang="en-US" altLang="ja-JP" dirty="0"/>
              <a:t>CPU </a:t>
            </a:r>
            <a:r>
              <a:rPr lang="ja-JP" altLang="en-US" dirty="0"/>
              <a:t>とはどう言うものか，</a:t>
            </a:r>
            <a:r>
              <a:rPr kumimoji="1" lang="ja-JP" altLang="en-US" dirty="0"/>
              <a:t>基本構造を説明</a:t>
            </a:r>
            <a:endParaRPr kumimoji="1" lang="en-US" altLang="ja-JP" dirty="0"/>
          </a:p>
          <a:p>
            <a:pPr lvl="1"/>
            <a:r>
              <a:rPr lang="ja-JP" altLang="en-US" dirty="0"/>
              <a:t>レシピをみてカレーを作るのに似ている</a:t>
            </a:r>
            <a:endParaRPr lang="en-US" altLang="ja-JP" dirty="0"/>
          </a:p>
          <a:p>
            <a:pPr lvl="2"/>
            <a:r>
              <a:rPr kumimoji="1" lang="ja-JP" altLang="en-US" dirty="0"/>
              <a:t>というか大概のことはカレーで説明できる</a:t>
            </a:r>
            <a:endParaRPr kumimoji="1" lang="en-US" altLang="ja-JP" dirty="0"/>
          </a:p>
          <a:p>
            <a:pPr lvl="1"/>
            <a:r>
              <a:rPr lang="en-US" altLang="ja-JP" dirty="0"/>
              <a:t>RISC-V </a:t>
            </a:r>
            <a:r>
              <a:rPr lang="ja-JP" altLang="en-US" dirty="0"/>
              <a:t>についても紹介</a:t>
            </a:r>
            <a:endParaRPr kumimoji="1" lang="ja-JP" altLang="en-US" dirty="0"/>
          </a:p>
        </p:txBody>
      </p:sp>
      <p:sp>
        <p:nvSpPr>
          <p:cNvPr id="4" name="正方形/長方形 3">
            <a:extLst>
              <a:ext uri="{FF2B5EF4-FFF2-40B4-BE49-F238E27FC236}">
                <a16:creationId xmlns:a16="http://schemas.microsoft.com/office/drawing/2014/main" id="{78335FA6-E1AF-4DE3-E4A1-39578C4FD533}"/>
              </a:ext>
            </a:extLst>
          </p:cNvPr>
          <p:cNvSpPr/>
          <p:nvPr/>
        </p:nvSpPr>
        <p:spPr bwMode="auto">
          <a:xfrm>
            <a:off x="4835986" y="3338999"/>
            <a:ext cx="1440000" cy="360004"/>
          </a:xfrm>
          <a:prstGeom prst="rect">
            <a:avLst/>
          </a:prstGeom>
          <a:solidFill>
            <a:schemeClr val="accent3">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accent3">
                    <a:lumMod val="50000"/>
                  </a:schemeClr>
                </a:solidFill>
              </a:rPr>
              <a:t>1.</a:t>
            </a:r>
            <a:r>
              <a:rPr kumimoji="1" lang="ja-JP" altLang="en-US" sz="1600" dirty="0">
                <a:solidFill>
                  <a:schemeClr val="accent3">
                    <a:lumMod val="50000"/>
                  </a:schemeClr>
                </a:solidFill>
              </a:rPr>
              <a:t>野菜を切る</a:t>
            </a:r>
          </a:p>
        </p:txBody>
      </p:sp>
      <p:sp>
        <p:nvSpPr>
          <p:cNvPr id="5" name="正方形/長方形 4">
            <a:extLst>
              <a:ext uri="{FF2B5EF4-FFF2-40B4-BE49-F238E27FC236}">
                <a16:creationId xmlns:a16="http://schemas.microsoft.com/office/drawing/2014/main" id="{A8D57EFD-9432-08B6-E904-098EF9194468}"/>
              </a:ext>
            </a:extLst>
          </p:cNvPr>
          <p:cNvSpPr/>
          <p:nvPr/>
        </p:nvSpPr>
        <p:spPr bwMode="auto">
          <a:xfrm>
            <a:off x="4835986" y="3699003"/>
            <a:ext cx="1440000" cy="360004"/>
          </a:xfrm>
          <a:prstGeom prst="rect">
            <a:avLst/>
          </a:prstGeom>
          <a:solidFill>
            <a:schemeClr val="accent3">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bg1"/>
                </a:solidFill>
              </a:rPr>
              <a:t>2.</a:t>
            </a:r>
            <a:r>
              <a:rPr kumimoji="1" lang="ja-JP" altLang="en-US" sz="1400" dirty="0">
                <a:solidFill>
                  <a:schemeClr val="bg1"/>
                </a:solidFill>
              </a:rPr>
              <a:t>野菜を炒める</a:t>
            </a:r>
          </a:p>
        </p:txBody>
      </p:sp>
      <p:sp>
        <p:nvSpPr>
          <p:cNvPr id="6" name="正方形/長方形 5">
            <a:extLst>
              <a:ext uri="{FF2B5EF4-FFF2-40B4-BE49-F238E27FC236}">
                <a16:creationId xmlns:a16="http://schemas.microsoft.com/office/drawing/2014/main" id="{15A59357-5AC4-7EC3-66A7-A23F965D0C1F}"/>
              </a:ext>
            </a:extLst>
          </p:cNvPr>
          <p:cNvSpPr/>
          <p:nvPr/>
        </p:nvSpPr>
        <p:spPr bwMode="auto">
          <a:xfrm>
            <a:off x="4835986" y="4059007"/>
            <a:ext cx="1440000" cy="360004"/>
          </a:xfrm>
          <a:prstGeom prst="rect">
            <a:avLst/>
          </a:prstGeom>
          <a:solidFill>
            <a:schemeClr val="accent2">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2">
                    <a:lumMod val="50000"/>
                  </a:schemeClr>
                </a:solidFill>
              </a:rPr>
              <a:t>3.</a:t>
            </a:r>
            <a:r>
              <a:rPr lang="ja-JP" altLang="en-US" sz="1600" dirty="0">
                <a:solidFill>
                  <a:schemeClr val="accent2">
                    <a:lumMod val="50000"/>
                  </a:schemeClr>
                </a:solidFill>
              </a:rPr>
              <a:t>肉を切る</a:t>
            </a:r>
            <a:endParaRPr kumimoji="1" lang="ja-JP" altLang="en-US" sz="1600" dirty="0">
              <a:solidFill>
                <a:schemeClr val="accent2">
                  <a:lumMod val="50000"/>
                </a:schemeClr>
              </a:solidFill>
            </a:endParaRPr>
          </a:p>
        </p:txBody>
      </p:sp>
      <p:sp>
        <p:nvSpPr>
          <p:cNvPr id="7" name="正方形/長方形 6">
            <a:extLst>
              <a:ext uri="{FF2B5EF4-FFF2-40B4-BE49-F238E27FC236}">
                <a16:creationId xmlns:a16="http://schemas.microsoft.com/office/drawing/2014/main" id="{D011CE9C-CE1D-DCB0-38EE-3BAF441A300D}"/>
              </a:ext>
            </a:extLst>
          </p:cNvPr>
          <p:cNvSpPr/>
          <p:nvPr/>
        </p:nvSpPr>
        <p:spPr bwMode="auto">
          <a:xfrm>
            <a:off x="4835986" y="4419011"/>
            <a:ext cx="1440000" cy="360004"/>
          </a:xfrm>
          <a:prstGeom prst="rect">
            <a:avLst/>
          </a:prstGeom>
          <a:solidFill>
            <a:schemeClr val="accent2">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4.</a:t>
            </a:r>
            <a:r>
              <a:rPr lang="ja-JP" altLang="en-US" sz="1600" dirty="0">
                <a:solidFill>
                  <a:schemeClr val="bg1"/>
                </a:solidFill>
              </a:rPr>
              <a:t>肉を炒める</a:t>
            </a:r>
            <a:endParaRPr kumimoji="1" lang="ja-JP" altLang="en-US" sz="1600" dirty="0">
              <a:solidFill>
                <a:schemeClr val="bg1"/>
              </a:solidFill>
            </a:endParaRPr>
          </a:p>
        </p:txBody>
      </p:sp>
      <p:sp>
        <p:nvSpPr>
          <p:cNvPr id="8" name="正方形/長方形 7">
            <a:extLst>
              <a:ext uri="{FF2B5EF4-FFF2-40B4-BE49-F238E27FC236}">
                <a16:creationId xmlns:a16="http://schemas.microsoft.com/office/drawing/2014/main" id="{49819CA6-4144-B70D-6B9D-47A269BCAC0D}"/>
              </a:ext>
            </a:extLst>
          </p:cNvPr>
          <p:cNvSpPr/>
          <p:nvPr/>
        </p:nvSpPr>
        <p:spPr bwMode="auto">
          <a:xfrm>
            <a:off x="4835986" y="4779015"/>
            <a:ext cx="1440000" cy="360004"/>
          </a:xfrm>
          <a:prstGeom prst="rect">
            <a:avLst/>
          </a:prstGeom>
          <a:solidFill>
            <a:schemeClr val="accent2">
              <a:lumMod val="5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bg1"/>
                </a:solidFill>
              </a:rPr>
              <a:t>5.</a:t>
            </a:r>
            <a:r>
              <a:rPr kumimoji="1" lang="ja-JP" altLang="en-US" sz="1600" dirty="0">
                <a:solidFill>
                  <a:schemeClr val="bg1"/>
                </a:solidFill>
              </a:rPr>
              <a:t>煮込む</a:t>
            </a:r>
          </a:p>
        </p:txBody>
      </p:sp>
      <p:sp>
        <p:nvSpPr>
          <p:cNvPr id="9" name="正方形/長方形 8">
            <a:extLst>
              <a:ext uri="{FF2B5EF4-FFF2-40B4-BE49-F238E27FC236}">
                <a16:creationId xmlns:a16="http://schemas.microsoft.com/office/drawing/2014/main" id="{7F9F51FC-4928-B2F2-DCC8-E5EB4B1A4E6E}"/>
              </a:ext>
            </a:extLst>
          </p:cNvPr>
          <p:cNvSpPr/>
          <p:nvPr/>
        </p:nvSpPr>
        <p:spPr bwMode="auto">
          <a:xfrm>
            <a:off x="4835986" y="5139019"/>
            <a:ext cx="1440000" cy="360004"/>
          </a:xfrm>
          <a:prstGeom prst="rect">
            <a:avLst/>
          </a:prstGeom>
          <a:solidFill>
            <a:srgbClr val="6633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400" dirty="0">
                <a:solidFill>
                  <a:schemeClr val="bg1"/>
                </a:solidFill>
              </a:rPr>
              <a:t>6.</a:t>
            </a:r>
            <a:r>
              <a:rPr kumimoji="1" lang="ja-JP" altLang="en-US" sz="1400" dirty="0">
                <a:solidFill>
                  <a:schemeClr val="bg1"/>
                </a:solidFill>
              </a:rPr>
              <a:t>ルーを入れる</a:t>
            </a:r>
          </a:p>
        </p:txBody>
      </p:sp>
      <p:sp>
        <p:nvSpPr>
          <p:cNvPr id="10" name="正方形/長方形 9">
            <a:extLst>
              <a:ext uri="{FF2B5EF4-FFF2-40B4-BE49-F238E27FC236}">
                <a16:creationId xmlns:a16="http://schemas.microsoft.com/office/drawing/2014/main" id="{3F37AF40-004B-CF97-16DB-A0891A512DFE}"/>
              </a:ext>
            </a:extLst>
          </p:cNvPr>
          <p:cNvSpPr/>
          <p:nvPr/>
        </p:nvSpPr>
        <p:spPr bwMode="auto">
          <a:xfrm>
            <a:off x="4835986" y="5499023"/>
            <a:ext cx="1440000" cy="360004"/>
          </a:xfrm>
          <a:prstGeom prst="rect">
            <a:avLst/>
          </a:prstGeom>
          <a:solidFill>
            <a:schemeClr val="accent6">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accent2">
                    <a:lumMod val="50000"/>
                  </a:schemeClr>
                </a:solidFill>
              </a:rPr>
              <a:t>7.</a:t>
            </a:r>
            <a:r>
              <a:rPr kumimoji="1" lang="ja-JP" altLang="en-US" sz="1600" dirty="0">
                <a:solidFill>
                  <a:schemeClr val="accent2">
                    <a:lumMod val="50000"/>
                  </a:schemeClr>
                </a:solidFill>
              </a:rPr>
              <a:t>コメを研ぐ</a:t>
            </a:r>
          </a:p>
        </p:txBody>
      </p:sp>
      <p:sp>
        <p:nvSpPr>
          <p:cNvPr id="11" name="正方形/長方形 10">
            <a:extLst>
              <a:ext uri="{FF2B5EF4-FFF2-40B4-BE49-F238E27FC236}">
                <a16:creationId xmlns:a16="http://schemas.microsoft.com/office/drawing/2014/main" id="{15497F3E-CD0C-D0E0-1973-715DEDF44C83}"/>
              </a:ext>
            </a:extLst>
          </p:cNvPr>
          <p:cNvSpPr/>
          <p:nvPr/>
        </p:nvSpPr>
        <p:spPr bwMode="auto">
          <a:xfrm>
            <a:off x="4835986" y="5859027"/>
            <a:ext cx="1440000" cy="360004"/>
          </a:xfrm>
          <a:prstGeom prst="rect">
            <a:avLst/>
          </a:prstGeom>
          <a:solidFill>
            <a:schemeClr val="accent6">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bg1"/>
                </a:solidFill>
              </a:rPr>
              <a:t>8.</a:t>
            </a:r>
            <a:r>
              <a:rPr kumimoji="1" lang="ja-JP" altLang="en-US" sz="1600" dirty="0">
                <a:solidFill>
                  <a:schemeClr val="bg1"/>
                </a:solidFill>
              </a:rPr>
              <a:t>コメを炊く</a:t>
            </a:r>
          </a:p>
        </p:txBody>
      </p:sp>
      <p:sp>
        <p:nvSpPr>
          <p:cNvPr id="12" name="正方形/長方形 11">
            <a:extLst>
              <a:ext uri="{FF2B5EF4-FFF2-40B4-BE49-F238E27FC236}">
                <a16:creationId xmlns:a16="http://schemas.microsoft.com/office/drawing/2014/main" id="{A3051FBC-43B7-6608-743D-99B45E198F57}"/>
              </a:ext>
            </a:extLst>
          </p:cNvPr>
          <p:cNvSpPr/>
          <p:nvPr/>
        </p:nvSpPr>
        <p:spPr bwMode="auto">
          <a:xfrm>
            <a:off x="4835986" y="6219031"/>
            <a:ext cx="1440000" cy="360004"/>
          </a:xfrm>
          <a:prstGeom prst="rect">
            <a:avLst/>
          </a:prstGeom>
          <a:solidFill>
            <a:srgbClr val="CC99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bg1"/>
                </a:solidFill>
              </a:rPr>
              <a:t>9.</a:t>
            </a:r>
            <a:r>
              <a:rPr kumimoji="1" lang="ja-JP" altLang="en-US" sz="1600" dirty="0">
                <a:solidFill>
                  <a:schemeClr val="bg1"/>
                </a:solidFill>
              </a:rPr>
              <a:t>もりつける</a:t>
            </a:r>
          </a:p>
        </p:txBody>
      </p:sp>
      <p:grpSp>
        <p:nvGrpSpPr>
          <p:cNvPr id="13" name="グループ化 12">
            <a:extLst>
              <a:ext uri="{FF2B5EF4-FFF2-40B4-BE49-F238E27FC236}">
                <a16:creationId xmlns:a16="http://schemas.microsoft.com/office/drawing/2014/main" id="{36C1B878-2C1B-2946-A1D1-CE01F537F21B}"/>
              </a:ext>
            </a:extLst>
          </p:cNvPr>
          <p:cNvGrpSpPr/>
          <p:nvPr/>
        </p:nvGrpSpPr>
        <p:grpSpPr>
          <a:xfrm rot="5400000">
            <a:off x="2720961" y="4734016"/>
            <a:ext cx="3330038" cy="540006"/>
            <a:chOff x="3533396" y="3248998"/>
            <a:chExt cx="3330038" cy="540006"/>
          </a:xfrm>
        </p:grpSpPr>
        <p:cxnSp>
          <p:nvCxnSpPr>
            <p:cNvPr id="14" name="直線コネクタ 13">
              <a:extLst>
                <a:ext uri="{FF2B5EF4-FFF2-40B4-BE49-F238E27FC236}">
                  <a16:creationId xmlns:a16="http://schemas.microsoft.com/office/drawing/2014/main" id="{E680D74C-00BF-CC16-B340-D0D6F8BB5C41}"/>
                </a:ext>
              </a:extLst>
            </p:cNvPr>
            <p:cNvCxnSpPr/>
            <p:nvPr/>
          </p:nvCxnSpPr>
          <p:spPr bwMode="auto">
            <a:xfrm rot="16200000">
              <a:off x="5198415" y="1853981"/>
              <a:ext cx="0" cy="3330038"/>
            </a:xfrm>
            <a:prstGeom prst="line">
              <a:avLst/>
            </a:prstGeom>
            <a:noFill/>
            <a:ln w="12700" cap="flat" cmpd="sng" algn="ctr">
              <a:solidFill>
                <a:schemeClr val="accent6"/>
              </a:solidFill>
              <a:prstDash val="solid"/>
              <a:round/>
              <a:headEnd type="none" w="med" len="med"/>
              <a:tailEnd type="none" w="med" len="med"/>
            </a:ln>
            <a:effectLst/>
          </p:spPr>
        </p:cxnSp>
        <p:cxnSp>
          <p:nvCxnSpPr>
            <p:cNvPr id="15" name="直線コネクタ 14">
              <a:extLst>
                <a:ext uri="{FF2B5EF4-FFF2-40B4-BE49-F238E27FC236}">
                  <a16:creationId xmlns:a16="http://schemas.microsoft.com/office/drawing/2014/main" id="{5F745329-50FA-0FE1-DA30-C96DA3690C82}"/>
                </a:ext>
              </a:extLst>
            </p:cNvPr>
            <p:cNvCxnSpPr/>
            <p:nvPr/>
          </p:nvCxnSpPr>
          <p:spPr bwMode="auto">
            <a:xfrm flipH="1" flipV="1">
              <a:off x="6593430" y="3248998"/>
              <a:ext cx="270003" cy="270003"/>
            </a:xfrm>
            <a:prstGeom prst="line">
              <a:avLst/>
            </a:prstGeom>
            <a:noFill/>
            <a:ln w="12700" cap="flat" cmpd="sng" algn="ctr">
              <a:solidFill>
                <a:schemeClr val="accent6"/>
              </a:solidFill>
              <a:prstDash val="solid"/>
              <a:round/>
              <a:headEnd type="none" w="med" len="med"/>
              <a:tailEnd type="none" w="med" len="med"/>
            </a:ln>
            <a:effectLst/>
          </p:spPr>
        </p:cxnSp>
        <p:cxnSp>
          <p:nvCxnSpPr>
            <p:cNvPr id="16" name="直線コネクタ 15">
              <a:extLst>
                <a:ext uri="{FF2B5EF4-FFF2-40B4-BE49-F238E27FC236}">
                  <a16:creationId xmlns:a16="http://schemas.microsoft.com/office/drawing/2014/main" id="{4845EA9F-065B-217D-9082-903C237B2A9B}"/>
                </a:ext>
              </a:extLst>
            </p:cNvPr>
            <p:cNvCxnSpPr/>
            <p:nvPr/>
          </p:nvCxnSpPr>
          <p:spPr bwMode="auto">
            <a:xfrm flipH="1">
              <a:off x="6593430" y="3519001"/>
              <a:ext cx="270004" cy="270003"/>
            </a:xfrm>
            <a:prstGeom prst="line">
              <a:avLst/>
            </a:prstGeom>
            <a:noFill/>
            <a:ln w="12700" cap="flat" cmpd="sng" algn="ctr">
              <a:solidFill>
                <a:schemeClr val="accent6"/>
              </a:solidFill>
              <a:prstDash val="solid"/>
              <a:round/>
              <a:headEnd type="none" w="med" len="med"/>
              <a:tailEnd type="none" w="med" len="med"/>
            </a:ln>
            <a:effectLst/>
          </p:spPr>
        </p:cxnSp>
      </p:grpSp>
      <p:sp>
        <p:nvSpPr>
          <p:cNvPr id="17" name="テキスト ボックス 16">
            <a:extLst>
              <a:ext uri="{FF2B5EF4-FFF2-40B4-BE49-F238E27FC236}">
                <a16:creationId xmlns:a16="http://schemas.microsoft.com/office/drawing/2014/main" id="{1D387B16-3D3F-A3D3-9B5C-F4E3B180EBFE}"/>
              </a:ext>
            </a:extLst>
          </p:cNvPr>
          <p:cNvSpPr txBox="1"/>
          <p:nvPr/>
        </p:nvSpPr>
        <p:spPr>
          <a:xfrm>
            <a:off x="4385981" y="2798993"/>
            <a:ext cx="1620018" cy="369332"/>
          </a:xfrm>
          <a:prstGeom prst="rect">
            <a:avLst/>
          </a:prstGeom>
          <a:noFill/>
        </p:spPr>
        <p:txBody>
          <a:bodyPr wrap="none" rtlCol="0">
            <a:noAutofit/>
          </a:bodyPr>
          <a:lstStyle/>
          <a:p>
            <a:r>
              <a:rPr kumimoji="1" lang="ja-JP" altLang="en-US" sz="2400" dirty="0">
                <a:solidFill>
                  <a:srgbClr val="5E6363"/>
                </a:solidFill>
              </a:rPr>
              <a:t>カレーのレシピ</a:t>
            </a:r>
          </a:p>
        </p:txBody>
      </p:sp>
      <p:sp>
        <p:nvSpPr>
          <p:cNvPr id="18" name="正方形/長方形 17">
            <a:extLst>
              <a:ext uri="{FF2B5EF4-FFF2-40B4-BE49-F238E27FC236}">
                <a16:creationId xmlns:a16="http://schemas.microsoft.com/office/drawing/2014/main" id="{09689E7F-E909-DCDD-6ADF-A73969D61044}"/>
              </a:ext>
            </a:extLst>
          </p:cNvPr>
          <p:cNvSpPr/>
          <p:nvPr/>
        </p:nvSpPr>
        <p:spPr bwMode="auto">
          <a:xfrm>
            <a:off x="1595950" y="2888994"/>
            <a:ext cx="1440016" cy="2880032"/>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r>
              <a:rPr kumimoji="1" lang="en-US" altLang="ja-JP" dirty="0">
                <a:latin typeface="メイリオ" panose="020B0604030504040204" pitchFamily="50" charset="-128"/>
                <a:ea typeface="メイリオ" panose="020B0604030504040204" pitchFamily="50" charset="-128"/>
              </a:rPr>
              <a:t>CPU</a:t>
            </a:r>
            <a:endParaRPr kumimoji="1" lang="ja-JP" altLang="en-US" dirty="0">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A9647A28-7C65-8B7E-F31C-EAB8FEE91598}"/>
              </a:ext>
            </a:extLst>
          </p:cNvPr>
          <p:cNvSpPr/>
          <p:nvPr/>
        </p:nvSpPr>
        <p:spPr bwMode="auto">
          <a:xfrm>
            <a:off x="1865953" y="342900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latin typeface="メイリオ" panose="020B0604030504040204" pitchFamily="50" charset="-128"/>
                <a:ea typeface="メイリオ" panose="020B0604030504040204" pitchFamily="50" charset="-128"/>
              </a:rPr>
              <a:t>A</a:t>
            </a:r>
            <a:endParaRPr kumimoji="1" lang="ja-JP" altLang="en-US" dirty="0">
              <a:latin typeface="メイリオ" panose="020B0604030504040204" pitchFamily="50" charset="-128"/>
              <a:ea typeface="メイリオ" panose="020B0604030504040204" pitchFamily="50" charset="-128"/>
            </a:endParaRPr>
          </a:p>
        </p:txBody>
      </p:sp>
      <p:sp>
        <p:nvSpPr>
          <p:cNvPr id="20" name="正方形/長方形 19">
            <a:extLst>
              <a:ext uri="{FF2B5EF4-FFF2-40B4-BE49-F238E27FC236}">
                <a16:creationId xmlns:a16="http://schemas.microsoft.com/office/drawing/2014/main" id="{C7DEE63C-CE47-5434-3A34-533590E98FA4}"/>
              </a:ext>
            </a:extLst>
          </p:cNvPr>
          <p:cNvSpPr/>
          <p:nvPr/>
        </p:nvSpPr>
        <p:spPr bwMode="auto">
          <a:xfrm>
            <a:off x="2495960" y="3429000"/>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latin typeface="メイリオ" panose="020B0604030504040204" pitchFamily="50" charset="-128"/>
                <a:ea typeface="メイリオ" panose="020B0604030504040204" pitchFamily="50" charset="-128"/>
              </a:rPr>
              <a:t>PC</a:t>
            </a:r>
            <a:endParaRPr kumimoji="1" lang="ja-JP" altLang="en-US" dirty="0">
              <a:latin typeface="メイリオ" panose="020B0604030504040204" pitchFamily="50" charset="-128"/>
              <a:ea typeface="メイリオ" panose="020B0604030504040204" pitchFamily="50" charset="-128"/>
            </a:endParaRPr>
          </a:p>
        </p:txBody>
      </p:sp>
      <p:sp>
        <p:nvSpPr>
          <p:cNvPr id="21" name="正方形/長方形 20">
            <a:extLst>
              <a:ext uri="{FF2B5EF4-FFF2-40B4-BE49-F238E27FC236}">
                <a16:creationId xmlns:a16="http://schemas.microsoft.com/office/drawing/2014/main" id="{7F868179-3E10-9FDE-8BEF-EA139228E3B0}"/>
              </a:ext>
            </a:extLst>
          </p:cNvPr>
          <p:cNvSpPr/>
          <p:nvPr/>
        </p:nvSpPr>
        <p:spPr bwMode="auto">
          <a:xfrm>
            <a:off x="1865953" y="378900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latin typeface="メイリオ" panose="020B0604030504040204" pitchFamily="50" charset="-128"/>
                <a:ea typeface="メイリオ" panose="020B0604030504040204" pitchFamily="50" charset="-128"/>
              </a:rPr>
              <a:t>B</a:t>
            </a:r>
            <a:endParaRPr kumimoji="1" lang="ja-JP" altLang="en-US" dirty="0">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19F05945-77B2-A747-3D7C-A6E14F1A552D}"/>
              </a:ext>
            </a:extLst>
          </p:cNvPr>
          <p:cNvSpPr/>
          <p:nvPr/>
        </p:nvSpPr>
        <p:spPr bwMode="auto">
          <a:xfrm>
            <a:off x="1865953" y="414900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latin typeface="メイリオ" panose="020B0604030504040204" pitchFamily="50" charset="-128"/>
                <a:ea typeface="メイリオ" panose="020B0604030504040204" pitchFamily="50" charset="-128"/>
              </a:rPr>
              <a:t>C</a:t>
            </a:r>
            <a:endParaRPr kumimoji="1" lang="ja-JP" altLang="en-US" dirty="0">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ADFE881D-1376-B3C5-5D69-D79C8A0CBB07}"/>
              </a:ext>
            </a:extLst>
          </p:cNvPr>
          <p:cNvSpPr/>
          <p:nvPr/>
        </p:nvSpPr>
        <p:spPr bwMode="auto">
          <a:xfrm>
            <a:off x="1865953" y="450901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latin typeface="メイリオ" panose="020B0604030504040204" pitchFamily="50" charset="-128"/>
                <a:ea typeface="メイリオ" panose="020B0604030504040204" pitchFamily="50" charset="-128"/>
              </a:rPr>
              <a:t>D</a:t>
            </a:r>
            <a:endParaRPr kumimoji="1" lang="ja-JP" altLang="en-US" dirty="0">
              <a:latin typeface="メイリオ" panose="020B0604030504040204" pitchFamily="50" charset="-128"/>
              <a:ea typeface="メイリオ" panose="020B0604030504040204" pitchFamily="50" charset="-128"/>
            </a:endParaRPr>
          </a:p>
        </p:txBody>
      </p:sp>
      <p:sp>
        <p:nvSpPr>
          <p:cNvPr id="24" name="フローチャート: 手作業 23">
            <a:extLst>
              <a:ext uri="{FF2B5EF4-FFF2-40B4-BE49-F238E27FC236}">
                <a16:creationId xmlns:a16="http://schemas.microsoft.com/office/drawing/2014/main" id="{0B9B86CB-FDB1-569E-4501-1EC74CA230AA}"/>
              </a:ext>
            </a:extLst>
          </p:cNvPr>
          <p:cNvSpPr/>
          <p:nvPr/>
        </p:nvSpPr>
        <p:spPr bwMode="auto">
          <a:xfrm rot="16200000">
            <a:off x="2218762" y="4696209"/>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kumimoji="1" lang="en-US" altLang="ja-JP" dirty="0">
                <a:latin typeface="メイリオ" panose="020B0604030504040204" pitchFamily="50" charset="-128"/>
                <a:ea typeface="メイリオ" panose="020B0604030504040204" pitchFamily="50" charset="-128"/>
              </a:rPr>
              <a:t>FU</a:t>
            </a:r>
            <a:endParaRPr kumimoji="1" lang="ja-JP" altLang="en-US" dirty="0">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A604439E-3BBF-FCD0-2873-CF3578C643BF}"/>
              </a:ext>
            </a:extLst>
          </p:cNvPr>
          <p:cNvSpPr/>
          <p:nvPr/>
        </p:nvSpPr>
        <p:spPr bwMode="auto">
          <a:xfrm>
            <a:off x="1865953" y="486901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latin typeface="メイリオ" panose="020B0604030504040204" pitchFamily="50" charset="-128"/>
                <a:ea typeface="メイリオ" panose="020B0604030504040204" pitchFamily="50" charset="-128"/>
              </a:rPr>
              <a:t>E</a:t>
            </a:r>
            <a:endParaRPr kumimoji="1" lang="ja-JP" altLang="en-US" dirty="0">
              <a:latin typeface="メイリオ" panose="020B0604030504040204" pitchFamily="50" charset="-128"/>
              <a:ea typeface="メイリオ" panose="020B0604030504040204" pitchFamily="50" charset="-128"/>
            </a:endParaRPr>
          </a:p>
        </p:txBody>
      </p:sp>
      <p:sp>
        <p:nvSpPr>
          <p:cNvPr id="26" name="正方形/長方形 25">
            <a:extLst>
              <a:ext uri="{FF2B5EF4-FFF2-40B4-BE49-F238E27FC236}">
                <a16:creationId xmlns:a16="http://schemas.microsoft.com/office/drawing/2014/main" id="{0FBCCBAA-80E6-A415-CCE2-CEEC1759BF36}"/>
              </a:ext>
            </a:extLst>
          </p:cNvPr>
          <p:cNvSpPr/>
          <p:nvPr/>
        </p:nvSpPr>
        <p:spPr bwMode="auto">
          <a:xfrm>
            <a:off x="1865953" y="522902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latin typeface="メイリオ" panose="020B0604030504040204" pitchFamily="50" charset="-128"/>
                <a:ea typeface="メイリオ" panose="020B0604030504040204" pitchFamily="50" charset="-128"/>
              </a:rPr>
              <a:t>F</a:t>
            </a:r>
            <a:endParaRPr kumimoji="1" lang="ja-JP" altLang="en-US" dirty="0">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AD275DE5-A570-A49C-6ADF-D1B4313F73ED}"/>
              </a:ext>
            </a:extLst>
          </p:cNvPr>
          <p:cNvSpPr>
            <a:spLocks/>
          </p:cNvSpPr>
          <p:nvPr/>
        </p:nvSpPr>
        <p:spPr bwMode="auto">
          <a:xfrm>
            <a:off x="8526027" y="2798993"/>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a:t>
            </a:r>
            <a:endParaRPr kumimoji="1" lang="ja-JP" altLang="en-US" sz="1600" dirty="0">
              <a:solidFill>
                <a:schemeClr val="tx1">
                  <a:lumMod val="75000"/>
                  <a:lumOff val="25000"/>
                </a:schemeClr>
              </a:solidFill>
              <a:latin typeface="+mn-ea"/>
            </a:endParaRPr>
          </a:p>
        </p:txBody>
      </p:sp>
      <p:sp>
        <p:nvSpPr>
          <p:cNvPr id="28" name="正方形/長方形 27">
            <a:extLst>
              <a:ext uri="{FF2B5EF4-FFF2-40B4-BE49-F238E27FC236}">
                <a16:creationId xmlns:a16="http://schemas.microsoft.com/office/drawing/2014/main" id="{DA8DCE7C-E70D-0FC1-CB90-87D396E234B5}"/>
              </a:ext>
            </a:extLst>
          </p:cNvPr>
          <p:cNvSpPr>
            <a:spLocks/>
          </p:cNvSpPr>
          <p:nvPr/>
        </p:nvSpPr>
        <p:spPr bwMode="auto">
          <a:xfrm>
            <a:off x="8526027" y="3158997"/>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a:t>
            </a:r>
            <a:endParaRPr kumimoji="1" lang="ja-JP" altLang="en-US" sz="1600" dirty="0">
              <a:solidFill>
                <a:schemeClr val="tx1">
                  <a:lumMod val="75000"/>
                  <a:lumOff val="25000"/>
                </a:schemeClr>
              </a:solidFill>
              <a:latin typeface="+mn-ea"/>
            </a:endParaRPr>
          </a:p>
        </p:txBody>
      </p:sp>
      <p:sp>
        <p:nvSpPr>
          <p:cNvPr id="29" name="正方形/長方形 28">
            <a:extLst>
              <a:ext uri="{FF2B5EF4-FFF2-40B4-BE49-F238E27FC236}">
                <a16:creationId xmlns:a16="http://schemas.microsoft.com/office/drawing/2014/main" id="{1E790695-A7E7-9A41-D681-F7FEEE55DE68}"/>
              </a:ext>
            </a:extLst>
          </p:cNvPr>
          <p:cNvSpPr>
            <a:spLocks/>
          </p:cNvSpPr>
          <p:nvPr/>
        </p:nvSpPr>
        <p:spPr bwMode="auto">
          <a:xfrm>
            <a:off x="8526027" y="3519001"/>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a:t>
            </a:r>
            <a:endParaRPr kumimoji="1" lang="ja-JP" altLang="en-US" sz="1600" dirty="0">
              <a:solidFill>
                <a:schemeClr val="tx1">
                  <a:lumMod val="75000"/>
                  <a:lumOff val="25000"/>
                </a:schemeClr>
              </a:solidFill>
              <a:latin typeface="+mn-ea"/>
            </a:endParaRPr>
          </a:p>
        </p:txBody>
      </p:sp>
      <p:sp>
        <p:nvSpPr>
          <p:cNvPr id="30" name="正方形/長方形 29">
            <a:extLst>
              <a:ext uri="{FF2B5EF4-FFF2-40B4-BE49-F238E27FC236}">
                <a16:creationId xmlns:a16="http://schemas.microsoft.com/office/drawing/2014/main" id="{F030F549-AEAF-98B5-06BB-546080389D6F}"/>
              </a:ext>
            </a:extLst>
          </p:cNvPr>
          <p:cNvSpPr>
            <a:spLocks/>
          </p:cNvSpPr>
          <p:nvPr/>
        </p:nvSpPr>
        <p:spPr bwMode="auto">
          <a:xfrm>
            <a:off x="8526027" y="3879005"/>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a:t>
            </a:r>
            <a:endParaRPr kumimoji="1" lang="ja-JP" altLang="en-US" sz="1600" dirty="0">
              <a:solidFill>
                <a:schemeClr val="tx1">
                  <a:lumMod val="75000"/>
                  <a:lumOff val="25000"/>
                </a:schemeClr>
              </a:solidFill>
              <a:latin typeface="+mn-ea"/>
            </a:endParaRPr>
          </a:p>
        </p:txBody>
      </p:sp>
      <p:sp>
        <p:nvSpPr>
          <p:cNvPr id="31" name="正方形/長方形 30">
            <a:extLst>
              <a:ext uri="{FF2B5EF4-FFF2-40B4-BE49-F238E27FC236}">
                <a16:creationId xmlns:a16="http://schemas.microsoft.com/office/drawing/2014/main" id="{42843D3A-B0B2-7449-6521-83047D99CB68}"/>
              </a:ext>
            </a:extLst>
          </p:cNvPr>
          <p:cNvSpPr>
            <a:spLocks/>
          </p:cNvSpPr>
          <p:nvPr/>
        </p:nvSpPr>
        <p:spPr bwMode="auto">
          <a:xfrm>
            <a:off x="8526027" y="4239009"/>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a:t>
            </a:r>
            <a:endParaRPr kumimoji="1" lang="ja-JP" altLang="en-US" sz="1600" dirty="0">
              <a:solidFill>
                <a:schemeClr val="tx1">
                  <a:lumMod val="75000"/>
                  <a:lumOff val="25000"/>
                </a:schemeClr>
              </a:solidFill>
              <a:latin typeface="+mn-ea"/>
            </a:endParaRPr>
          </a:p>
        </p:txBody>
      </p:sp>
      <p:sp>
        <p:nvSpPr>
          <p:cNvPr id="32" name="正方形/長方形 31">
            <a:extLst>
              <a:ext uri="{FF2B5EF4-FFF2-40B4-BE49-F238E27FC236}">
                <a16:creationId xmlns:a16="http://schemas.microsoft.com/office/drawing/2014/main" id="{B2E1B10C-25FB-A87D-8FD4-F8CFE4D7EC96}"/>
              </a:ext>
            </a:extLst>
          </p:cNvPr>
          <p:cNvSpPr>
            <a:spLocks/>
          </p:cNvSpPr>
          <p:nvPr/>
        </p:nvSpPr>
        <p:spPr bwMode="auto">
          <a:xfrm>
            <a:off x="8526027" y="4599013"/>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a:t>
            </a:r>
            <a:endParaRPr kumimoji="1" lang="ja-JP" altLang="en-US" sz="1600" dirty="0">
              <a:solidFill>
                <a:schemeClr val="tx1">
                  <a:lumMod val="75000"/>
                  <a:lumOff val="25000"/>
                </a:schemeClr>
              </a:solidFill>
              <a:latin typeface="+mn-ea"/>
            </a:endParaRPr>
          </a:p>
        </p:txBody>
      </p:sp>
      <p:sp>
        <p:nvSpPr>
          <p:cNvPr id="33" name="正方形/長方形 32">
            <a:extLst>
              <a:ext uri="{FF2B5EF4-FFF2-40B4-BE49-F238E27FC236}">
                <a16:creationId xmlns:a16="http://schemas.microsoft.com/office/drawing/2014/main" id="{7650319D-BBCC-66C2-9712-09D5B315AF31}"/>
              </a:ext>
            </a:extLst>
          </p:cNvPr>
          <p:cNvSpPr>
            <a:spLocks/>
          </p:cNvSpPr>
          <p:nvPr/>
        </p:nvSpPr>
        <p:spPr bwMode="auto">
          <a:xfrm>
            <a:off x="8526027" y="4599013"/>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a:t>
            </a:r>
            <a:endParaRPr kumimoji="1" lang="ja-JP" altLang="en-US" sz="1600" dirty="0">
              <a:solidFill>
                <a:schemeClr val="tx1">
                  <a:lumMod val="75000"/>
                  <a:lumOff val="25000"/>
                </a:schemeClr>
              </a:solidFill>
              <a:latin typeface="+mn-ea"/>
            </a:endParaRPr>
          </a:p>
        </p:txBody>
      </p:sp>
      <p:sp>
        <p:nvSpPr>
          <p:cNvPr id="34" name="正方形/長方形 33">
            <a:extLst>
              <a:ext uri="{FF2B5EF4-FFF2-40B4-BE49-F238E27FC236}">
                <a16:creationId xmlns:a16="http://schemas.microsoft.com/office/drawing/2014/main" id="{7B16176B-3254-192B-3D8C-19375006A15A}"/>
              </a:ext>
            </a:extLst>
          </p:cNvPr>
          <p:cNvSpPr>
            <a:spLocks/>
          </p:cNvSpPr>
          <p:nvPr/>
        </p:nvSpPr>
        <p:spPr bwMode="auto">
          <a:xfrm>
            <a:off x="8526027" y="4959017"/>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a:t>
            </a:r>
            <a:endParaRPr kumimoji="1" lang="ja-JP" altLang="en-US" sz="1600" dirty="0">
              <a:solidFill>
                <a:schemeClr val="tx1">
                  <a:lumMod val="75000"/>
                  <a:lumOff val="25000"/>
                </a:schemeClr>
              </a:solidFill>
              <a:latin typeface="+mn-ea"/>
            </a:endParaRPr>
          </a:p>
        </p:txBody>
      </p:sp>
      <p:sp>
        <p:nvSpPr>
          <p:cNvPr id="35" name="正方形/長方形 34">
            <a:extLst>
              <a:ext uri="{FF2B5EF4-FFF2-40B4-BE49-F238E27FC236}">
                <a16:creationId xmlns:a16="http://schemas.microsoft.com/office/drawing/2014/main" id="{B69CC0E3-4B22-2360-46EE-17989FBE2527}"/>
              </a:ext>
            </a:extLst>
          </p:cNvPr>
          <p:cNvSpPr/>
          <p:nvPr/>
        </p:nvSpPr>
        <p:spPr bwMode="auto">
          <a:xfrm>
            <a:off x="10686051" y="4599013"/>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a:t>
            </a:r>
            <a:endParaRPr kumimoji="1" lang="ja-JP" altLang="en-US" sz="1600" dirty="0">
              <a:solidFill>
                <a:schemeClr val="tx1">
                  <a:lumMod val="75000"/>
                  <a:lumOff val="25000"/>
                </a:schemeClr>
              </a:solidFill>
              <a:latin typeface="+mn-ea"/>
            </a:endParaRPr>
          </a:p>
        </p:txBody>
      </p:sp>
      <p:sp>
        <p:nvSpPr>
          <p:cNvPr id="36" name="正方形/長方形 35">
            <a:extLst>
              <a:ext uri="{FF2B5EF4-FFF2-40B4-BE49-F238E27FC236}">
                <a16:creationId xmlns:a16="http://schemas.microsoft.com/office/drawing/2014/main" id="{176C074B-88A6-C86C-DF08-2827E4AA3A21}"/>
              </a:ext>
            </a:extLst>
          </p:cNvPr>
          <p:cNvSpPr>
            <a:spLocks/>
          </p:cNvSpPr>
          <p:nvPr/>
        </p:nvSpPr>
        <p:spPr bwMode="auto">
          <a:xfrm>
            <a:off x="10686051" y="4959017"/>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a:t>
            </a:r>
            <a:endParaRPr kumimoji="1" lang="ja-JP" altLang="en-US" sz="1600" dirty="0">
              <a:solidFill>
                <a:schemeClr val="tx1">
                  <a:lumMod val="75000"/>
                  <a:lumOff val="25000"/>
                </a:schemeClr>
              </a:solidFill>
              <a:latin typeface="+mn-ea"/>
            </a:endParaRPr>
          </a:p>
        </p:txBody>
      </p:sp>
      <p:sp>
        <p:nvSpPr>
          <p:cNvPr id="37" name="正方形/長方形 36">
            <a:extLst>
              <a:ext uri="{FF2B5EF4-FFF2-40B4-BE49-F238E27FC236}">
                <a16:creationId xmlns:a16="http://schemas.microsoft.com/office/drawing/2014/main" id="{75482346-74D1-5A35-696D-24C3EFF3C60F}"/>
              </a:ext>
            </a:extLst>
          </p:cNvPr>
          <p:cNvSpPr/>
          <p:nvPr/>
        </p:nvSpPr>
        <p:spPr bwMode="auto">
          <a:xfrm>
            <a:off x="8976032" y="2798993"/>
            <a:ext cx="1710019" cy="2520028"/>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400" dirty="0">
                <a:solidFill>
                  <a:schemeClr val="tx1">
                    <a:lumMod val="75000"/>
                    <a:lumOff val="25000"/>
                  </a:schemeClr>
                </a:solidFill>
                <a:latin typeface="+mn-ea"/>
              </a:rPr>
              <a:t>I</a:t>
            </a:r>
          </a:p>
          <a:p>
            <a:pPr algn="ctr"/>
            <a:r>
              <a:rPr lang="en-US" altLang="ja-JP" sz="1400" dirty="0">
                <a:solidFill>
                  <a:schemeClr val="tx1">
                    <a:lumMod val="75000"/>
                    <a:lumOff val="25000"/>
                  </a:schemeClr>
                </a:solidFill>
                <a:latin typeface="+mn-ea"/>
              </a:rPr>
              <a:t>Base integer</a:t>
            </a:r>
            <a:endParaRPr kumimoji="1" lang="ja-JP" altLang="en-US" sz="1400" dirty="0">
              <a:solidFill>
                <a:schemeClr val="tx1">
                  <a:lumMod val="75000"/>
                  <a:lumOff val="25000"/>
                </a:schemeClr>
              </a:solidFill>
              <a:latin typeface="+mn-ea"/>
            </a:endParaRPr>
          </a:p>
        </p:txBody>
      </p:sp>
      <p:sp>
        <p:nvSpPr>
          <p:cNvPr id="38" name="正方形/長方形 37">
            <a:extLst>
              <a:ext uri="{FF2B5EF4-FFF2-40B4-BE49-F238E27FC236}">
                <a16:creationId xmlns:a16="http://schemas.microsoft.com/office/drawing/2014/main" id="{AEF176F6-0FFF-A480-D76D-E6BA1C48CE79}"/>
              </a:ext>
            </a:extLst>
          </p:cNvPr>
          <p:cNvSpPr/>
          <p:nvPr/>
        </p:nvSpPr>
        <p:spPr bwMode="auto">
          <a:xfrm>
            <a:off x="8976032" y="5319021"/>
            <a:ext cx="1710019"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solidFill>
                  <a:schemeClr val="tx1">
                    <a:lumMod val="75000"/>
                    <a:lumOff val="25000"/>
                  </a:schemeClr>
                </a:solidFill>
                <a:latin typeface="+mn-ea"/>
              </a:rPr>
              <a:t>Machine level</a:t>
            </a:r>
            <a:endParaRPr lang="ja-JP" altLang="en-US" sz="1400" dirty="0">
              <a:solidFill>
                <a:schemeClr val="tx1">
                  <a:lumMod val="75000"/>
                  <a:lumOff val="25000"/>
                </a:schemeClr>
              </a:solidFill>
              <a:latin typeface="+mn-ea"/>
            </a:endParaRPr>
          </a:p>
        </p:txBody>
      </p:sp>
      <p:sp>
        <p:nvSpPr>
          <p:cNvPr id="39" name="正方形/長方形 38">
            <a:extLst>
              <a:ext uri="{FF2B5EF4-FFF2-40B4-BE49-F238E27FC236}">
                <a16:creationId xmlns:a16="http://schemas.microsoft.com/office/drawing/2014/main" id="{4C9C8844-55DE-2536-612D-026DC1C9D6CE}"/>
              </a:ext>
            </a:extLst>
          </p:cNvPr>
          <p:cNvSpPr/>
          <p:nvPr/>
        </p:nvSpPr>
        <p:spPr bwMode="auto">
          <a:xfrm>
            <a:off x="10686051" y="4239009"/>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C</a:t>
            </a:r>
            <a:endParaRPr kumimoji="1" lang="ja-JP" altLang="en-US" sz="1600" dirty="0">
              <a:solidFill>
                <a:schemeClr val="tx1">
                  <a:lumMod val="75000"/>
                  <a:lumOff val="25000"/>
                </a:schemeClr>
              </a:solidFill>
              <a:latin typeface="+mn-ea"/>
            </a:endParaRPr>
          </a:p>
        </p:txBody>
      </p:sp>
      <p:sp>
        <p:nvSpPr>
          <p:cNvPr id="40" name="正方形/長方形 39">
            <a:extLst>
              <a:ext uri="{FF2B5EF4-FFF2-40B4-BE49-F238E27FC236}">
                <a16:creationId xmlns:a16="http://schemas.microsoft.com/office/drawing/2014/main" id="{DBE0047F-2BBE-6854-489A-A509CDEF8128}"/>
              </a:ext>
            </a:extLst>
          </p:cNvPr>
          <p:cNvSpPr/>
          <p:nvPr/>
        </p:nvSpPr>
        <p:spPr bwMode="auto">
          <a:xfrm>
            <a:off x="10686051" y="3158997"/>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M</a:t>
            </a:r>
            <a:endParaRPr kumimoji="1" lang="ja-JP" altLang="en-US" sz="1600" dirty="0">
              <a:solidFill>
                <a:schemeClr val="tx1">
                  <a:lumMod val="75000"/>
                  <a:lumOff val="25000"/>
                </a:schemeClr>
              </a:solidFill>
              <a:latin typeface="+mn-ea"/>
            </a:endParaRPr>
          </a:p>
        </p:txBody>
      </p:sp>
      <p:sp>
        <p:nvSpPr>
          <p:cNvPr id="41" name="正方形/長方形 40">
            <a:extLst>
              <a:ext uri="{FF2B5EF4-FFF2-40B4-BE49-F238E27FC236}">
                <a16:creationId xmlns:a16="http://schemas.microsoft.com/office/drawing/2014/main" id="{EB278EBA-BD78-9E17-7076-899F70FBFD8E}"/>
              </a:ext>
            </a:extLst>
          </p:cNvPr>
          <p:cNvSpPr/>
          <p:nvPr/>
        </p:nvSpPr>
        <p:spPr bwMode="auto">
          <a:xfrm>
            <a:off x="10686052" y="3519001"/>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A</a:t>
            </a:r>
            <a:endParaRPr kumimoji="1" lang="ja-JP" altLang="en-US" sz="1600" dirty="0">
              <a:solidFill>
                <a:schemeClr val="tx1">
                  <a:lumMod val="75000"/>
                  <a:lumOff val="25000"/>
                </a:schemeClr>
              </a:solidFill>
              <a:latin typeface="+mn-ea"/>
            </a:endParaRPr>
          </a:p>
        </p:txBody>
      </p:sp>
      <p:sp>
        <p:nvSpPr>
          <p:cNvPr id="42" name="正方形/長方形 41">
            <a:extLst>
              <a:ext uri="{FF2B5EF4-FFF2-40B4-BE49-F238E27FC236}">
                <a16:creationId xmlns:a16="http://schemas.microsoft.com/office/drawing/2014/main" id="{22B3F768-9F58-A605-E2C4-012DD04EC49B}"/>
              </a:ext>
            </a:extLst>
          </p:cNvPr>
          <p:cNvSpPr/>
          <p:nvPr/>
        </p:nvSpPr>
        <p:spPr bwMode="auto">
          <a:xfrm>
            <a:off x="10686052" y="3879005"/>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F</a:t>
            </a:r>
            <a:endParaRPr kumimoji="1" lang="ja-JP" altLang="en-US" sz="1600" dirty="0">
              <a:solidFill>
                <a:schemeClr val="tx1">
                  <a:lumMod val="75000"/>
                  <a:lumOff val="25000"/>
                </a:schemeClr>
              </a:solidFill>
              <a:latin typeface="+mn-ea"/>
            </a:endParaRPr>
          </a:p>
        </p:txBody>
      </p:sp>
      <p:sp>
        <p:nvSpPr>
          <p:cNvPr id="43" name="正方形/長方形 42">
            <a:extLst>
              <a:ext uri="{FF2B5EF4-FFF2-40B4-BE49-F238E27FC236}">
                <a16:creationId xmlns:a16="http://schemas.microsoft.com/office/drawing/2014/main" id="{1FBA591A-39BF-5A8F-3BC2-A050D8A8BD9E}"/>
              </a:ext>
            </a:extLst>
          </p:cNvPr>
          <p:cNvSpPr/>
          <p:nvPr/>
        </p:nvSpPr>
        <p:spPr bwMode="auto">
          <a:xfrm>
            <a:off x="11586061" y="3879005"/>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Q</a:t>
            </a:r>
            <a:endParaRPr kumimoji="1" lang="ja-JP" altLang="en-US" sz="1600" dirty="0">
              <a:solidFill>
                <a:schemeClr val="tx1">
                  <a:lumMod val="75000"/>
                  <a:lumOff val="25000"/>
                </a:schemeClr>
              </a:solidFill>
              <a:latin typeface="+mn-ea"/>
            </a:endParaRPr>
          </a:p>
        </p:txBody>
      </p:sp>
      <p:sp>
        <p:nvSpPr>
          <p:cNvPr id="44" name="正方形/長方形 43">
            <a:extLst>
              <a:ext uri="{FF2B5EF4-FFF2-40B4-BE49-F238E27FC236}">
                <a16:creationId xmlns:a16="http://schemas.microsoft.com/office/drawing/2014/main" id="{1738C2DB-8955-F75C-7C9F-D5ED9ED3F801}"/>
              </a:ext>
            </a:extLst>
          </p:cNvPr>
          <p:cNvSpPr/>
          <p:nvPr/>
        </p:nvSpPr>
        <p:spPr bwMode="auto">
          <a:xfrm>
            <a:off x="11136056" y="3879005"/>
            <a:ext cx="450005"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D</a:t>
            </a:r>
            <a:endParaRPr kumimoji="1" lang="ja-JP" altLang="en-US" sz="1600" dirty="0">
              <a:solidFill>
                <a:schemeClr val="tx1">
                  <a:lumMod val="75000"/>
                  <a:lumOff val="25000"/>
                </a:schemeClr>
              </a:solidFill>
              <a:latin typeface="+mn-ea"/>
            </a:endParaRPr>
          </a:p>
        </p:txBody>
      </p:sp>
      <p:sp>
        <p:nvSpPr>
          <p:cNvPr id="45" name="正方形/長方形 44">
            <a:extLst>
              <a:ext uri="{FF2B5EF4-FFF2-40B4-BE49-F238E27FC236}">
                <a16:creationId xmlns:a16="http://schemas.microsoft.com/office/drawing/2014/main" id="{468650F4-9B9A-7BE9-FA2E-6291DF76B24D}"/>
              </a:ext>
            </a:extLst>
          </p:cNvPr>
          <p:cNvSpPr/>
          <p:nvPr/>
        </p:nvSpPr>
        <p:spPr bwMode="auto">
          <a:xfrm>
            <a:off x="8976032" y="5679025"/>
            <a:ext cx="1710019"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solidFill>
                  <a:schemeClr val="tx1">
                    <a:lumMod val="75000"/>
                    <a:lumOff val="25000"/>
                  </a:schemeClr>
                </a:solidFill>
                <a:latin typeface="+mn-ea"/>
              </a:rPr>
              <a:t>Supervisor level</a:t>
            </a:r>
            <a:endParaRPr lang="ja-JP" altLang="en-US" sz="1400" dirty="0">
              <a:solidFill>
                <a:schemeClr val="tx1">
                  <a:lumMod val="75000"/>
                  <a:lumOff val="25000"/>
                </a:schemeClr>
              </a:solidFill>
              <a:latin typeface="+mn-ea"/>
            </a:endParaRPr>
          </a:p>
        </p:txBody>
      </p:sp>
      <p:sp>
        <p:nvSpPr>
          <p:cNvPr id="46" name="正方形/長方形 45">
            <a:extLst>
              <a:ext uri="{FF2B5EF4-FFF2-40B4-BE49-F238E27FC236}">
                <a16:creationId xmlns:a16="http://schemas.microsoft.com/office/drawing/2014/main" id="{3E1446FC-C20B-6151-6433-869B981FA053}"/>
              </a:ext>
            </a:extLst>
          </p:cNvPr>
          <p:cNvSpPr/>
          <p:nvPr/>
        </p:nvSpPr>
        <p:spPr bwMode="auto">
          <a:xfrm>
            <a:off x="8976032" y="6039029"/>
            <a:ext cx="1710019" cy="360004"/>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solidFill>
                  <a:schemeClr val="tx1">
                    <a:lumMod val="75000"/>
                    <a:lumOff val="25000"/>
                  </a:schemeClr>
                </a:solidFill>
                <a:latin typeface="+mn-ea"/>
              </a:rPr>
              <a:t>Hypervisor</a:t>
            </a:r>
            <a:endParaRPr lang="ja-JP" altLang="en-US" sz="1400" dirty="0">
              <a:solidFill>
                <a:schemeClr val="tx1">
                  <a:lumMod val="75000"/>
                  <a:lumOff val="25000"/>
                </a:schemeClr>
              </a:solidFill>
              <a:latin typeface="+mn-ea"/>
            </a:endParaRPr>
          </a:p>
        </p:txBody>
      </p:sp>
      <p:cxnSp>
        <p:nvCxnSpPr>
          <p:cNvPr id="47" name="直線コネクタ 46">
            <a:extLst>
              <a:ext uri="{FF2B5EF4-FFF2-40B4-BE49-F238E27FC236}">
                <a16:creationId xmlns:a16="http://schemas.microsoft.com/office/drawing/2014/main" id="{7B274CF2-0597-922E-A9F6-7DF7B13B99A2}"/>
              </a:ext>
            </a:extLst>
          </p:cNvPr>
          <p:cNvCxnSpPr>
            <a:cxnSpLocks/>
          </p:cNvCxnSpPr>
          <p:nvPr/>
        </p:nvCxnSpPr>
        <p:spPr bwMode="auto">
          <a:xfrm>
            <a:off x="6816008" y="5319021"/>
            <a:ext cx="6840076" cy="0"/>
          </a:xfrm>
          <a:prstGeom prst="line">
            <a:avLst/>
          </a:prstGeom>
          <a:noFill/>
          <a:ln w="12700" cap="flat" cmpd="sng" algn="ctr">
            <a:solidFill>
              <a:schemeClr val="tx1">
                <a:lumMod val="50000"/>
                <a:lumOff val="50000"/>
              </a:schemeClr>
            </a:solidFill>
            <a:prstDash val="dash"/>
            <a:round/>
            <a:headEnd type="none" w="med" len="med"/>
            <a:tailEnd type="none" w="med" len="med"/>
          </a:ln>
          <a:effectLst/>
        </p:spPr>
      </p:cxnSp>
      <p:sp>
        <p:nvSpPr>
          <p:cNvPr id="48" name="正方形/長方形 47">
            <a:extLst>
              <a:ext uri="{FF2B5EF4-FFF2-40B4-BE49-F238E27FC236}">
                <a16:creationId xmlns:a16="http://schemas.microsoft.com/office/drawing/2014/main" id="{C644B604-4756-F5A1-5D79-0397653EECE8}"/>
              </a:ext>
            </a:extLst>
          </p:cNvPr>
          <p:cNvSpPr/>
          <p:nvPr/>
        </p:nvSpPr>
        <p:spPr bwMode="auto">
          <a:xfrm>
            <a:off x="10686051" y="2798993"/>
            <a:ext cx="450005" cy="180002"/>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900" dirty="0">
                <a:solidFill>
                  <a:schemeClr val="tx1">
                    <a:lumMod val="75000"/>
                    <a:lumOff val="25000"/>
                  </a:schemeClr>
                </a:solidFill>
                <a:latin typeface="+mn-ea"/>
              </a:rPr>
              <a:t>Zicsr</a:t>
            </a:r>
            <a:endParaRPr kumimoji="1" lang="ja-JP" altLang="en-US" sz="900" dirty="0">
              <a:solidFill>
                <a:schemeClr val="tx1">
                  <a:lumMod val="75000"/>
                  <a:lumOff val="25000"/>
                </a:schemeClr>
              </a:solidFill>
              <a:latin typeface="+mn-ea"/>
            </a:endParaRPr>
          </a:p>
        </p:txBody>
      </p:sp>
      <p:sp>
        <p:nvSpPr>
          <p:cNvPr id="49" name="正方形/長方形 48">
            <a:extLst>
              <a:ext uri="{FF2B5EF4-FFF2-40B4-BE49-F238E27FC236}">
                <a16:creationId xmlns:a16="http://schemas.microsoft.com/office/drawing/2014/main" id="{5C174074-1120-75E7-1F72-A078D5C1822B}"/>
              </a:ext>
            </a:extLst>
          </p:cNvPr>
          <p:cNvSpPr/>
          <p:nvPr/>
        </p:nvSpPr>
        <p:spPr bwMode="auto">
          <a:xfrm>
            <a:off x="10686051" y="2978995"/>
            <a:ext cx="450005" cy="180002"/>
          </a:xfrm>
          <a:prstGeom prst="rect">
            <a:avLst/>
          </a:prstGeom>
          <a:solidFill>
            <a:schemeClr val="accent5">
              <a:lumMod val="20000"/>
              <a:lumOff val="80000"/>
            </a:schemeClr>
          </a:solid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900" dirty="0">
                <a:solidFill>
                  <a:schemeClr val="tx1">
                    <a:lumMod val="75000"/>
                    <a:lumOff val="25000"/>
                  </a:schemeClr>
                </a:solidFill>
                <a:latin typeface="+mn-ea"/>
              </a:rPr>
              <a:t>Zifencei</a:t>
            </a:r>
            <a:endParaRPr kumimoji="1" lang="ja-JP" altLang="en-US" sz="900" dirty="0">
              <a:solidFill>
                <a:schemeClr val="tx1">
                  <a:lumMod val="75000"/>
                  <a:lumOff val="25000"/>
                </a:schemeClr>
              </a:solidFill>
              <a:latin typeface="+mn-ea"/>
            </a:endParaRPr>
          </a:p>
        </p:txBody>
      </p:sp>
      <p:sp>
        <p:nvSpPr>
          <p:cNvPr id="50" name="正方形/長方形 49">
            <a:extLst>
              <a:ext uri="{FF2B5EF4-FFF2-40B4-BE49-F238E27FC236}">
                <a16:creationId xmlns:a16="http://schemas.microsoft.com/office/drawing/2014/main" id="{46AA2161-E2EE-7401-023A-ED619ADF1DBB}"/>
              </a:ext>
            </a:extLst>
          </p:cNvPr>
          <p:cNvSpPr/>
          <p:nvPr/>
        </p:nvSpPr>
        <p:spPr bwMode="auto">
          <a:xfrm>
            <a:off x="6816008" y="4959017"/>
            <a:ext cx="450005" cy="270003"/>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400" dirty="0">
                <a:solidFill>
                  <a:schemeClr val="tx1">
                    <a:lumMod val="75000"/>
                    <a:lumOff val="25000"/>
                  </a:schemeClr>
                </a:solidFill>
                <a:latin typeface="+mn-ea"/>
              </a:rPr>
              <a:t>Unprivileged ISA</a:t>
            </a:r>
            <a:endParaRPr kumimoji="1" lang="ja-JP" altLang="en-US" sz="1400" dirty="0">
              <a:solidFill>
                <a:schemeClr val="tx1">
                  <a:lumMod val="75000"/>
                  <a:lumOff val="25000"/>
                </a:schemeClr>
              </a:solidFill>
              <a:latin typeface="+mn-ea"/>
            </a:endParaRPr>
          </a:p>
        </p:txBody>
      </p:sp>
      <p:sp>
        <p:nvSpPr>
          <p:cNvPr id="51" name="正方形/長方形 50">
            <a:extLst>
              <a:ext uri="{FF2B5EF4-FFF2-40B4-BE49-F238E27FC236}">
                <a16:creationId xmlns:a16="http://schemas.microsoft.com/office/drawing/2014/main" id="{D3F083C1-F377-7501-4DB3-FEEAF3121B48}"/>
              </a:ext>
            </a:extLst>
          </p:cNvPr>
          <p:cNvSpPr/>
          <p:nvPr/>
        </p:nvSpPr>
        <p:spPr bwMode="auto">
          <a:xfrm>
            <a:off x="6816008" y="5499023"/>
            <a:ext cx="450005" cy="270003"/>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400" dirty="0">
                <a:solidFill>
                  <a:schemeClr val="tx1">
                    <a:lumMod val="75000"/>
                    <a:lumOff val="25000"/>
                  </a:schemeClr>
                </a:solidFill>
                <a:latin typeface="+mn-ea"/>
              </a:rPr>
              <a:t>Privileged ISA</a:t>
            </a:r>
            <a:endParaRPr kumimoji="1" lang="ja-JP" altLang="en-US" sz="1400" dirty="0">
              <a:solidFill>
                <a:schemeClr val="tx1">
                  <a:lumMod val="75000"/>
                  <a:lumOff val="25000"/>
                </a:schemeClr>
              </a:solidFill>
              <a:latin typeface="+mn-ea"/>
            </a:endParaRPr>
          </a:p>
        </p:txBody>
      </p:sp>
      <p:sp>
        <p:nvSpPr>
          <p:cNvPr id="52" name="正方形/長方形 51">
            <a:extLst>
              <a:ext uri="{FF2B5EF4-FFF2-40B4-BE49-F238E27FC236}">
                <a16:creationId xmlns:a16="http://schemas.microsoft.com/office/drawing/2014/main" id="{6577570A-F415-8993-98BF-B30591EEF91E}"/>
              </a:ext>
            </a:extLst>
          </p:cNvPr>
          <p:cNvSpPr/>
          <p:nvPr/>
        </p:nvSpPr>
        <p:spPr bwMode="auto">
          <a:xfrm>
            <a:off x="8976032" y="2798993"/>
            <a:ext cx="1710019" cy="2880032"/>
          </a:xfrm>
          <a:prstGeom prst="rect">
            <a:avLst/>
          </a:prstGeom>
          <a:noFill/>
          <a:ln w="41275">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400" dirty="0">
              <a:solidFill>
                <a:schemeClr val="tx1">
                  <a:lumMod val="75000"/>
                  <a:lumOff val="25000"/>
                </a:schemeClr>
              </a:solidFill>
              <a:latin typeface="+mn-ea"/>
            </a:endParaRPr>
          </a:p>
        </p:txBody>
      </p:sp>
      <p:sp>
        <p:nvSpPr>
          <p:cNvPr id="53" name="正方形/長方形 52">
            <a:extLst>
              <a:ext uri="{FF2B5EF4-FFF2-40B4-BE49-F238E27FC236}">
                <a16:creationId xmlns:a16="http://schemas.microsoft.com/office/drawing/2014/main" id="{8351103E-A55D-5723-F2BC-D1D25169876D}"/>
              </a:ext>
            </a:extLst>
          </p:cNvPr>
          <p:cNvSpPr/>
          <p:nvPr/>
        </p:nvSpPr>
        <p:spPr bwMode="auto">
          <a:xfrm>
            <a:off x="11316058" y="4239010"/>
            <a:ext cx="450005"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900" dirty="0">
                <a:solidFill>
                  <a:schemeClr val="tx1">
                    <a:lumMod val="75000"/>
                    <a:lumOff val="25000"/>
                  </a:schemeClr>
                </a:solidFill>
                <a:latin typeface="+mn-ea"/>
              </a:rPr>
              <a:t>Compressed</a:t>
            </a:r>
            <a:endParaRPr kumimoji="1" lang="ja-JP" altLang="en-US" sz="900" dirty="0">
              <a:solidFill>
                <a:schemeClr val="tx1">
                  <a:lumMod val="75000"/>
                  <a:lumOff val="25000"/>
                </a:schemeClr>
              </a:solidFill>
              <a:latin typeface="+mn-ea"/>
            </a:endParaRPr>
          </a:p>
        </p:txBody>
      </p:sp>
      <p:sp>
        <p:nvSpPr>
          <p:cNvPr id="54" name="正方形/長方形 53">
            <a:extLst>
              <a:ext uri="{FF2B5EF4-FFF2-40B4-BE49-F238E27FC236}">
                <a16:creationId xmlns:a16="http://schemas.microsoft.com/office/drawing/2014/main" id="{9D07066C-9A5C-89E1-1D59-6489E4F665E5}"/>
              </a:ext>
            </a:extLst>
          </p:cNvPr>
          <p:cNvSpPr/>
          <p:nvPr/>
        </p:nvSpPr>
        <p:spPr bwMode="auto">
          <a:xfrm>
            <a:off x="12216068" y="3879005"/>
            <a:ext cx="450005"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900" dirty="0">
                <a:solidFill>
                  <a:schemeClr val="tx1">
                    <a:lumMod val="75000"/>
                    <a:lumOff val="25000"/>
                  </a:schemeClr>
                </a:solidFill>
                <a:latin typeface="+mn-ea"/>
              </a:rPr>
              <a:t>Floating point</a:t>
            </a:r>
          </a:p>
          <a:p>
            <a:r>
              <a:rPr lang="en-US" altLang="ja-JP" sz="900" dirty="0">
                <a:solidFill>
                  <a:schemeClr val="tx1">
                    <a:lumMod val="75000"/>
                    <a:lumOff val="25000"/>
                  </a:schemeClr>
                </a:solidFill>
                <a:latin typeface="+mn-ea"/>
              </a:rPr>
              <a:t>Single/Double/Quad</a:t>
            </a:r>
            <a:endParaRPr kumimoji="1" lang="ja-JP" altLang="en-US" sz="900" dirty="0">
              <a:solidFill>
                <a:schemeClr val="tx1">
                  <a:lumMod val="75000"/>
                  <a:lumOff val="25000"/>
                </a:schemeClr>
              </a:solidFill>
              <a:latin typeface="+mn-ea"/>
            </a:endParaRPr>
          </a:p>
        </p:txBody>
      </p:sp>
      <p:sp>
        <p:nvSpPr>
          <p:cNvPr id="55" name="正方形/長方形 54">
            <a:extLst>
              <a:ext uri="{FF2B5EF4-FFF2-40B4-BE49-F238E27FC236}">
                <a16:creationId xmlns:a16="http://schemas.microsoft.com/office/drawing/2014/main" id="{F0E7F8CF-3329-895B-63CA-3F111FE672F6}"/>
              </a:ext>
            </a:extLst>
          </p:cNvPr>
          <p:cNvSpPr/>
          <p:nvPr/>
        </p:nvSpPr>
        <p:spPr bwMode="auto">
          <a:xfrm>
            <a:off x="11316058" y="3519001"/>
            <a:ext cx="450005"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900" dirty="0">
                <a:solidFill>
                  <a:schemeClr val="tx1">
                    <a:lumMod val="75000"/>
                    <a:lumOff val="25000"/>
                  </a:schemeClr>
                </a:solidFill>
                <a:latin typeface="+mn-ea"/>
              </a:rPr>
              <a:t>Atomic operation</a:t>
            </a:r>
            <a:endParaRPr kumimoji="1" lang="ja-JP" altLang="en-US" sz="900" dirty="0">
              <a:solidFill>
                <a:schemeClr val="tx1">
                  <a:lumMod val="75000"/>
                  <a:lumOff val="25000"/>
                </a:schemeClr>
              </a:solidFill>
              <a:latin typeface="+mn-ea"/>
            </a:endParaRPr>
          </a:p>
        </p:txBody>
      </p:sp>
      <p:sp>
        <p:nvSpPr>
          <p:cNvPr id="56" name="正方形/長方形 55">
            <a:extLst>
              <a:ext uri="{FF2B5EF4-FFF2-40B4-BE49-F238E27FC236}">
                <a16:creationId xmlns:a16="http://schemas.microsoft.com/office/drawing/2014/main" id="{995DF130-C269-0BDF-533D-DBD9127C3E4C}"/>
              </a:ext>
            </a:extLst>
          </p:cNvPr>
          <p:cNvSpPr/>
          <p:nvPr/>
        </p:nvSpPr>
        <p:spPr bwMode="auto">
          <a:xfrm>
            <a:off x="11316058" y="3158997"/>
            <a:ext cx="450005"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900" dirty="0">
                <a:solidFill>
                  <a:schemeClr val="tx1">
                    <a:lumMod val="75000"/>
                    <a:lumOff val="25000"/>
                  </a:schemeClr>
                </a:solidFill>
                <a:latin typeface="+mn-ea"/>
              </a:rPr>
              <a:t>Multiplication/division</a:t>
            </a:r>
            <a:endParaRPr kumimoji="1" lang="ja-JP" altLang="en-US" sz="900" dirty="0">
              <a:solidFill>
                <a:schemeClr val="tx1">
                  <a:lumMod val="75000"/>
                  <a:lumOff val="25000"/>
                </a:schemeClr>
              </a:solidFill>
              <a:latin typeface="+mn-ea"/>
            </a:endParaRPr>
          </a:p>
        </p:txBody>
      </p:sp>
      <p:sp>
        <p:nvSpPr>
          <p:cNvPr id="57" name="正方形/長方形 56">
            <a:extLst>
              <a:ext uri="{FF2B5EF4-FFF2-40B4-BE49-F238E27FC236}">
                <a16:creationId xmlns:a16="http://schemas.microsoft.com/office/drawing/2014/main" id="{ED8F2F83-C827-4CB6-7E1F-A18D7C3AAFFF}"/>
              </a:ext>
            </a:extLst>
          </p:cNvPr>
          <p:cNvSpPr/>
          <p:nvPr/>
        </p:nvSpPr>
        <p:spPr bwMode="auto">
          <a:xfrm>
            <a:off x="11316058" y="2798993"/>
            <a:ext cx="450005"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900" dirty="0">
                <a:solidFill>
                  <a:schemeClr val="tx1">
                    <a:lumMod val="75000"/>
                    <a:lumOff val="25000"/>
                  </a:schemeClr>
                </a:solidFill>
                <a:latin typeface="+mn-ea"/>
              </a:rPr>
              <a:t>CSR, instruction fence</a:t>
            </a:r>
            <a:endParaRPr kumimoji="1" lang="ja-JP" altLang="en-US" sz="900" dirty="0">
              <a:solidFill>
                <a:schemeClr val="tx1">
                  <a:lumMod val="75000"/>
                  <a:lumOff val="25000"/>
                </a:schemeClr>
              </a:solidFill>
              <a:latin typeface="+mn-ea"/>
            </a:endParaRPr>
          </a:p>
        </p:txBody>
      </p:sp>
      <p:sp>
        <p:nvSpPr>
          <p:cNvPr id="58" name="正方形/長方形 57">
            <a:extLst>
              <a:ext uri="{FF2B5EF4-FFF2-40B4-BE49-F238E27FC236}">
                <a16:creationId xmlns:a16="http://schemas.microsoft.com/office/drawing/2014/main" id="{D90C59BA-2EB7-57FA-CE78-87E41F49AD69}"/>
              </a:ext>
            </a:extLst>
          </p:cNvPr>
          <p:cNvSpPr/>
          <p:nvPr/>
        </p:nvSpPr>
        <p:spPr bwMode="auto">
          <a:xfrm>
            <a:off x="11316058" y="4599013"/>
            <a:ext cx="450005"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900" dirty="0">
                <a:solidFill>
                  <a:schemeClr val="tx1">
                    <a:lumMod val="75000"/>
                    <a:lumOff val="25000"/>
                  </a:schemeClr>
                </a:solidFill>
                <a:latin typeface="+mn-ea"/>
              </a:rPr>
              <a:t>Other extensions</a:t>
            </a:r>
            <a:endParaRPr kumimoji="1" lang="ja-JP" altLang="en-US" sz="900" dirty="0">
              <a:solidFill>
                <a:schemeClr val="tx1">
                  <a:lumMod val="75000"/>
                  <a:lumOff val="25000"/>
                </a:schemeClr>
              </a:solidFill>
              <a:latin typeface="+mn-ea"/>
            </a:endParaRPr>
          </a:p>
        </p:txBody>
      </p:sp>
      <p:sp>
        <p:nvSpPr>
          <p:cNvPr id="59" name="正方形/長方形 58">
            <a:extLst>
              <a:ext uri="{FF2B5EF4-FFF2-40B4-BE49-F238E27FC236}">
                <a16:creationId xmlns:a16="http://schemas.microsoft.com/office/drawing/2014/main" id="{56936321-CD67-081C-3831-D73DF4A6469F}"/>
              </a:ext>
            </a:extLst>
          </p:cNvPr>
          <p:cNvSpPr/>
          <p:nvPr/>
        </p:nvSpPr>
        <p:spPr bwMode="auto">
          <a:xfrm>
            <a:off x="7266013" y="2798993"/>
            <a:ext cx="450005"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900" dirty="0">
                <a:solidFill>
                  <a:schemeClr val="tx1">
                    <a:lumMod val="75000"/>
                    <a:lumOff val="25000"/>
                  </a:schemeClr>
                </a:solidFill>
                <a:latin typeface="+mn-ea"/>
              </a:rPr>
              <a:t>Other extensions</a:t>
            </a:r>
            <a:endParaRPr kumimoji="1" lang="ja-JP" altLang="en-US" sz="900" dirty="0">
              <a:solidFill>
                <a:schemeClr val="tx1">
                  <a:lumMod val="75000"/>
                  <a:lumOff val="25000"/>
                </a:schemeClr>
              </a:solidFill>
              <a:latin typeface="+mn-ea"/>
            </a:endParaRPr>
          </a:p>
        </p:txBody>
      </p:sp>
    </p:spTree>
    <p:extLst>
      <p:ext uri="{BB962C8B-B14F-4D97-AF65-F5344CB8AC3E}">
        <p14:creationId xmlns:p14="http://schemas.microsoft.com/office/powerpoint/2010/main" val="3448970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AF8009C-8177-FA30-1907-ADEF81CFC5AF}"/>
              </a:ext>
            </a:extLst>
          </p:cNvPr>
          <p:cNvSpPr>
            <a:spLocks noGrp="1"/>
          </p:cNvSpPr>
          <p:nvPr>
            <p:ph type="title"/>
          </p:nvPr>
        </p:nvSpPr>
        <p:spPr/>
        <p:txBody>
          <a:bodyPr/>
          <a:lstStyle/>
          <a:p>
            <a:r>
              <a:rPr kumimoji="1" lang="ja-JP" altLang="en-US" dirty="0"/>
              <a:t>３～４回目：回路と遅延，消費電力</a:t>
            </a:r>
          </a:p>
        </p:txBody>
      </p:sp>
      <p:sp>
        <p:nvSpPr>
          <p:cNvPr id="3" name="テキスト プレースホルダー 2">
            <a:extLst>
              <a:ext uri="{FF2B5EF4-FFF2-40B4-BE49-F238E27FC236}">
                <a16:creationId xmlns:a16="http://schemas.microsoft.com/office/drawing/2014/main" id="{ED68FDAD-4ED3-C65D-DBC4-F511FAC4E33F}"/>
              </a:ext>
            </a:extLst>
          </p:cNvPr>
          <p:cNvSpPr>
            <a:spLocks noGrp="1"/>
          </p:cNvSpPr>
          <p:nvPr>
            <p:ph type="body" sz="quarter" idx="10"/>
          </p:nvPr>
        </p:nvSpPr>
        <p:spPr>
          <a:xfrm>
            <a:off x="695940" y="1178975"/>
            <a:ext cx="5940066" cy="2250025"/>
          </a:xfrm>
        </p:spPr>
        <p:txBody>
          <a:bodyPr/>
          <a:lstStyle/>
          <a:p>
            <a:r>
              <a:rPr kumimoji="1" lang="en-US" altLang="ja-JP" dirty="0"/>
              <a:t>CMOS </a:t>
            </a:r>
            <a:r>
              <a:rPr kumimoji="1" lang="ja-JP" altLang="en-US" dirty="0"/>
              <a:t>回路の基本を説明</a:t>
            </a:r>
            <a:endParaRPr kumimoji="1" lang="en-US" altLang="ja-JP" dirty="0"/>
          </a:p>
          <a:p>
            <a:pPr lvl="1"/>
            <a:r>
              <a:rPr lang="ja-JP" altLang="en-US" dirty="0"/>
              <a:t>水が流れるパイプでざっくり説明したい</a:t>
            </a:r>
          </a:p>
          <a:p>
            <a:pPr lvl="2"/>
            <a:r>
              <a:rPr kumimoji="1" lang="ja-JP" altLang="en-US" dirty="0"/>
              <a:t>デジタル回路はどうできているのか</a:t>
            </a:r>
            <a:endParaRPr kumimoji="1" lang="en-US" altLang="ja-JP" dirty="0"/>
          </a:p>
          <a:p>
            <a:pPr lvl="2"/>
            <a:r>
              <a:rPr lang="ja-JP" altLang="en-US" dirty="0"/>
              <a:t>遅延や消費電力はどう決まるのか</a:t>
            </a:r>
            <a:endParaRPr lang="en-US" altLang="ja-JP" dirty="0"/>
          </a:p>
          <a:p>
            <a:pPr lvl="1"/>
            <a:r>
              <a:rPr kumimoji="1" lang="ja-JP" altLang="en-US" dirty="0"/>
              <a:t>「</a:t>
            </a:r>
            <a:r>
              <a:rPr kumimoji="1" lang="en-US" altLang="ja-JP" dirty="0"/>
              <a:t>2nm </a:t>
            </a:r>
            <a:r>
              <a:rPr lang="ja-JP" altLang="en-US" dirty="0"/>
              <a:t>半導体</a:t>
            </a:r>
            <a:r>
              <a:rPr kumimoji="1" lang="ja-JP" altLang="en-US" dirty="0"/>
              <a:t>」とかの意味も説明</a:t>
            </a:r>
            <a:endParaRPr kumimoji="1" lang="en-US" altLang="ja-JP" dirty="0"/>
          </a:p>
          <a:p>
            <a:pPr lvl="2"/>
            <a:r>
              <a:rPr lang="ja-JP" altLang="en-US" dirty="0"/>
              <a:t>物理的にはどこも </a:t>
            </a:r>
            <a:r>
              <a:rPr lang="en-US" altLang="ja-JP" dirty="0"/>
              <a:t>2nm </a:t>
            </a:r>
            <a:r>
              <a:rPr lang="ja-JP" altLang="en-US" dirty="0"/>
              <a:t>ではないとか</a:t>
            </a:r>
            <a:endParaRPr kumimoji="1" lang="en-US" altLang="ja-JP" dirty="0"/>
          </a:p>
        </p:txBody>
      </p:sp>
      <p:cxnSp>
        <p:nvCxnSpPr>
          <p:cNvPr id="4" name="直線コネクタ 3">
            <a:extLst>
              <a:ext uri="{FF2B5EF4-FFF2-40B4-BE49-F238E27FC236}">
                <a16:creationId xmlns:a16="http://schemas.microsoft.com/office/drawing/2014/main" id="{DEA52BDB-6407-0E9D-2C52-EA8D85E6114F}"/>
              </a:ext>
            </a:extLst>
          </p:cNvPr>
          <p:cNvCxnSpPr>
            <a:cxnSpLocks/>
          </p:cNvCxnSpPr>
          <p:nvPr/>
        </p:nvCxnSpPr>
        <p:spPr bwMode="auto">
          <a:xfrm>
            <a:off x="4025977" y="6309032"/>
            <a:ext cx="7290081" cy="0"/>
          </a:xfrm>
          <a:prstGeom prst="line">
            <a:avLst/>
          </a:prstGeom>
          <a:noFill/>
          <a:ln w="6350" cap="flat" cmpd="sng" algn="ctr">
            <a:solidFill>
              <a:schemeClr val="tx1"/>
            </a:solidFill>
            <a:prstDash val="solid"/>
            <a:round/>
            <a:headEnd type="none" w="med" len="med"/>
            <a:tailEnd type="none" w="med" len="med"/>
          </a:ln>
          <a:effectLst/>
        </p:spPr>
      </p:cxnSp>
      <p:grpSp>
        <p:nvGrpSpPr>
          <p:cNvPr id="5" name="グループ化 4">
            <a:extLst>
              <a:ext uri="{FF2B5EF4-FFF2-40B4-BE49-F238E27FC236}">
                <a16:creationId xmlns:a16="http://schemas.microsoft.com/office/drawing/2014/main" id="{C31A9A15-D85E-42D5-0406-3A744FEB27D0}"/>
              </a:ext>
            </a:extLst>
          </p:cNvPr>
          <p:cNvGrpSpPr/>
          <p:nvPr/>
        </p:nvGrpSpPr>
        <p:grpSpPr>
          <a:xfrm>
            <a:off x="1055942" y="4419011"/>
            <a:ext cx="2160240" cy="1475975"/>
            <a:chOff x="5292080" y="3203975"/>
            <a:chExt cx="2160240" cy="1475975"/>
          </a:xfrm>
        </p:grpSpPr>
        <p:cxnSp>
          <p:nvCxnSpPr>
            <p:cNvPr id="6" name="直線コネクタ 5">
              <a:extLst>
                <a:ext uri="{FF2B5EF4-FFF2-40B4-BE49-F238E27FC236}">
                  <a16:creationId xmlns:a16="http://schemas.microsoft.com/office/drawing/2014/main" id="{7D4E4B74-498A-B32B-126A-D6D3C91D16EB}"/>
                </a:ext>
              </a:extLst>
            </p:cNvPr>
            <p:cNvCxnSpPr/>
            <p:nvPr/>
          </p:nvCxnSpPr>
          <p:spPr bwMode="auto">
            <a:xfrm>
              <a:off x="6372200" y="3203975"/>
              <a:ext cx="0" cy="356394"/>
            </a:xfrm>
            <a:prstGeom prst="line">
              <a:avLst/>
            </a:prstGeom>
            <a:noFill/>
            <a:ln w="12700" cap="rnd" cmpd="sng" algn="ctr">
              <a:solidFill>
                <a:schemeClr val="tx1"/>
              </a:solidFill>
              <a:prstDash val="solid"/>
              <a:round/>
              <a:headEnd type="none" w="med" len="med"/>
              <a:tailEnd type="none" w="med" len="med"/>
            </a:ln>
            <a:effectLst/>
          </p:spPr>
        </p:cxnSp>
        <p:cxnSp>
          <p:nvCxnSpPr>
            <p:cNvPr id="7" name="直線コネクタ 6">
              <a:extLst>
                <a:ext uri="{FF2B5EF4-FFF2-40B4-BE49-F238E27FC236}">
                  <a16:creationId xmlns:a16="http://schemas.microsoft.com/office/drawing/2014/main" id="{6D0823C0-C3FD-E598-E403-3565888BA89D}"/>
                </a:ext>
              </a:extLst>
            </p:cNvPr>
            <p:cNvCxnSpPr/>
            <p:nvPr/>
          </p:nvCxnSpPr>
          <p:spPr bwMode="auto">
            <a:xfrm>
              <a:off x="5292080" y="4149080"/>
              <a:ext cx="720080" cy="1"/>
            </a:xfrm>
            <a:prstGeom prst="line">
              <a:avLst/>
            </a:prstGeom>
            <a:noFill/>
            <a:ln w="12700" cap="rnd" cmpd="sng" algn="ctr">
              <a:solidFill>
                <a:schemeClr val="tx1"/>
              </a:solidFill>
              <a:prstDash val="solid"/>
              <a:round/>
              <a:headEnd type="none" w="med" len="med"/>
              <a:tailEnd type="none" w="med" len="med"/>
            </a:ln>
            <a:effectLst/>
          </p:spPr>
        </p:cxnSp>
        <p:cxnSp>
          <p:nvCxnSpPr>
            <p:cNvPr id="8" name="直線コネクタ 7">
              <a:extLst>
                <a:ext uri="{FF2B5EF4-FFF2-40B4-BE49-F238E27FC236}">
                  <a16:creationId xmlns:a16="http://schemas.microsoft.com/office/drawing/2014/main" id="{5130AADE-BA1E-77BA-4C0F-A125EA1543E6}"/>
                </a:ext>
              </a:extLst>
            </p:cNvPr>
            <p:cNvCxnSpPr/>
            <p:nvPr/>
          </p:nvCxnSpPr>
          <p:spPr bwMode="auto">
            <a:xfrm>
              <a:off x="6732240" y="4149080"/>
              <a:ext cx="720080" cy="0"/>
            </a:xfrm>
            <a:prstGeom prst="line">
              <a:avLst/>
            </a:prstGeom>
            <a:noFill/>
            <a:ln w="12700" cap="rnd" cmpd="sng" algn="ctr">
              <a:solidFill>
                <a:schemeClr val="tx1"/>
              </a:solidFill>
              <a:prstDash val="solid"/>
              <a:round/>
              <a:headEnd type="none" w="med" len="med"/>
              <a:tailEnd type="none" w="med" len="med"/>
            </a:ln>
            <a:effectLst/>
          </p:spPr>
        </p:cxnSp>
        <p:cxnSp>
          <p:nvCxnSpPr>
            <p:cNvPr id="9" name="直線コネクタ 8">
              <a:extLst>
                <a:ext uri="{FF2B5EF4-FFF2-40B4-BE49-F238E27FC236}">
                  <a16:creationId xmlns:a16="http://schemas.microsoft.com/office/drawing/2014/main" id="{163B9CF9-2AC9-6E9C-E51F-E53BBB806B31}"/>
                </a:ext>
              </a:extLst>
            </p:cNvPr>
            <p:cNvCxnSpPr/>
            <p:nvPr/>
          </p:nvCxnSpPr>
          <p:spPr bwMode="auto">
            <a:xfrm>
              <a:off x="6012160" y="3789040"/>
              <a:ext cx="720080" cy="0"/>
            </a:xfrm>
            <a:prstGeom prst="line">
              <a:avLst/>
            </a:prstGeom>
            <a:noFill/>
            <a:ln w="38100" cap="rnd" cmpd="sng" algn="ctr">
              <a:solidFill>
                <a:schemeClr val="tx1"/>
              </a:solidFill>
              <a:prstDash val="solid"/>
              <a:round/>
              <a:headEnd type="none" w="med" len="med"/>
              <a:tailEnd type="none" w="med" len="med"/>
            </a:ln>
            <a:effectLst/>
          </p:spPr>
        </p:cxnSp>
        <p:cxnSp>
          <p:nvCxnSpPr>
            <p:cNvPr id="10" name="直線コネクタ 9">
              <a:extLst>
                <a:ext uri="{FF2B5EF4-FFF2-40B4-BE49-F238E27FC236}">
                  <a16:creationId xmlns:a16="http://schemas.microsoft.com/office/drawing/2014/main" id="{7F8CF185-F63B-DC75-E4F7-AB194C854FEA}"/>
                </a:ext>
              </a:extLst>
            </p:cNvPr>
            <p:cNvCxnSpPr/>
            <p:nvPr/>
          </p:nvCxnSpPr>
          <p:spPr bwMode="auto">
            <a:xfrm>
              <a:off x="6012160" y="37890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11" name="直線コネクタ 10">
              <a:extLst>
                <a:ext uri="{FF2B5EF4-FFF2-40B4-BE49-F238E27FC236}">
                  <a16:creationId xmlns:a16="http://schemas.microsoft.com/office/drawing/2014/main" id="{CE652456-2EEC-1829-BCBA-96A5B975A220}"/>
                </a:ext>
              </a:extLst>
            </p:cNvPr>
            <p:cNvCxnSpPr/>
            <p:nvPr/>
          </p:nvCxnSpPr>
          <p:spPr bwMode="auto">
            <a:xfrm>
              <a:off x="6732240" y="3789040"/>
              <a:ext cx="0" cy="360040"/>
            </a:xfrm>
            <a:prstGeom prst="line">
              <a:avLst/>
            </a:prstGeom>
            <a:noFill/>
            <a:ln w="38100" cap="rnd" cmpd="sng" algn="ctr">
              <a:solidFill>
                <a:schemeClr val="tx1"/>
              </a:solidFill>
              <a:prstDash val="solid"/>
              <a:round/>
              <a:headEnd type="none" w="med" len="med"/>
              <a:tailEnd type="none" w="med" len="med"/>
            </a:ln>
            <a:effectLst/>
          </p:spPr>
        </p:cxnSp>
        <p:cxnSp>
          <p:nvCxnSpPr>
            <p:cNvPr id="12" name="直線コネクタ 11">
              <a:extLst>
                <a:ext uri="{FF2B5EF4-FFF2-40B4-BE49-F238E27FC236}">
                  <a16:creationId xmlns:a16="http://schemas.microsoft.com/office/drawing/2014/main" id="{F7441BE0-44A1-A8C2-C9DA-BB948F919BB9}"/>
                </a:ext>
              </a:extLst>
            </p:cNvPr>
            <p:cNvCxnSpPr/>
            <p:nvPr/>
          </p:nvCxnSpPr>
          <p:spPr bwMode="auto">
            <a:xfrm>
              <a:off x="6012160" y="3654025"/>
              <a:ext cx="720080" cy="0"/>
            </a:xfrm>
            <a:prstGeom prst="line">
              <a:avLst/>
            </a:prstGeom>
            <a:noFill/>
            <a:ln w="38100" cap="rnd" cmpd="sng" algn="ctr">
              <a:solidFill>
                <a:schemeClr val="tx1"/>
              </a:solidFill>
              <a:prstDash val="solid"/>
              <a:round/>
              <a:headEnd type="none" w="med" len="med"/>
              <a:tailEnd type="none" w="med" len="med"/>
            </a:ln>
            <a:effectLst/>
          </p:spPr>
        </p:cxnSp>
        <p:sp useBgFill="1">
          <p:nvSpPr>
            <p:cNvPr id="13" name="円/楕円 13">
              <a:extLst>
                <a:ext uri="{FF2B5EF4-FFF2-40B4-BE49-F238E27FC236}">
                  <a16:creationId xmlns:a16="http://schemas.microsoft.com/office/drawing/2014/main" id="{7D20A960-0576-35AB-C801-E5F4AB62C397}"/>
                </a:ext>
              </a:extLst>
            </p:cNvPr>
            <p:cNvSpPr/>
            <p:nvPr/>
          </p:nvSpPr>
          <p:spPr bwMode="auto">
            <a:xfrm>
              <a:off x="6304693" y="3519010"/>
              <a:ext cx="135015" cy="132239"/>
            </a:xfrm>
            <a:prstGeom prst="ellipse">
              <a:avLst/>
            </a:prstGeom>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endParaRPr lang="ja-JP" altLang="en-US" baseline="60000">
                <a:latin typeface="Times New Roman" pitchFamily="18" charset="0"/>
                <a:ea typeface="HG丸ｺﾞｼｯｸM-PRO" pitchFamily="50" charset="-128"/>
              </a:endParaRPr>
            </a:p>
          </p:txBody>
        </p:sp>
        <p:sp>
          <p:nvSpPr>
            <p:cNvPr id="14" name="正方形/長方形 13">
              <a:extLst>
                <a:ext uri="{FF2B5EF4-FFF2-40B4-BE49-F238E27FC236}">
                  <a16:creationId xmlns:a16="http://schemas.microsoft.com/office/drawing/2014/main" id="{947FC2B8-C38C-BE7E-D8F8-E83D6D40E8A2}"/>
                </a:ext>
              </a:extLst>
            </p:cNvPr>
            <p:cNvSpPr/>
            <p:nvPr/>
          </p:nvSpPr>
          <p:spPr bwMode="auto">
            <a:xfrm>
              <a:off x="5683250" y="4362450"/>
              <a:ext cx="1466850" cy="317500"/>
            </a:xfrm>
            <a:prstGeom prst="rect">
              <a:avLst/>
            </a:prstGeom>
            <a:noFill/>
            <a:ln>
              <a:noFill/>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lang="en-US" altLang="ja-JP" dirty="0">
                  <a:solidFill>
                    <a:schemeClr val="tx1"/>
                  </a:solidFill>
                  <a:latin typeface="Times New Roman" pitchFamily="18" charset="0"/>
                  <a:ea typeface="HG丸ｺﾞｼｯｸM-PRO" pitchFamily="50" charset="-128"/>
                </a:rPr>
                <a:t>PMOS</a:t>
              </a:r>
              <a:endParaRPr lang="ja-JP" altLang="en-US" dirty="0">
                <a:solidFill>
                  <a:schemeClr val="tx1"/>
                </a:solidFill>
                <a:latin typeface="Times New Roman" pitchFamily="18" charset="0"/>
                <a:ea typeface="HG丸ｺﾞｼｯｸM-PRO" pitchFamily="50" charset="-128"/>
              </a:endParaRPr>
            </a:p>
          </p:txBody>
        </p:sp>
      </p:grpSp>
      <p:sp>
        <p:nvSpPr>
          <p:cNvPr id="15" name="Rectangle 93">
            <a:extLst>
              <a:ext uri="{FF2B5EF4-FFF2-40B4-BE49-F238E27FC236}">
                <a16:creationId xmlns:a16="http://schemas.microsoft.com/office/drawing/2014/main" id="{26F4D728-7A43-3B01-1CDD-7D405B99BE61}"/>
              </a:ext>
            </a:extLst>
          </p:cNvPr>
          <p:cNvSpPr>
            <a:spLocks noChangeArrowheads="1"/>
          </p:cNvSpPr>
          <p:nvPr/>
        </p:nvSpPr>
        <p:spPr bwMode="auto">
          <a:xfrm>
            <a:off x="1775951" y="4059006"/>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Gate</a:t>
            </a:r>
          </a:p>
        </p:txBody>
      </p:sp>
      <p:sp>
        <p:nvSpPr>
          <p:cNvPr id="16" name="Rectangle 93">
            <a:extLst>
              <a:ext uri="{FF2B5EF4-FFF2-40B4-BE49-F238E27FC236}">
                <a16:creationId xmlns:a16="http://schemas.microsoft.com/office/drawing/2014/main" id="{61FA4559-354A-1DD1-4229-45836062CAD8}"/>
              </a:ext>
            </a:extLst>
          </p:cNvPr>
          <p:cNvSpPr>
            <a:spLocks noChangeArrowheads="1"/>
          </p:cNvSpPr>
          <p:nvPr/>
        </p:nvSpPr>
        <p:spPr bwMode="auto">
          <a:xfrm>
            <a:off x="695939" y="4959016"/>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Source</a:t>
            </a:r>
          </a:p>
        </p:txBody>
      </p:sp>
      <p:sp>
        <p:nvSpPr>
          <p:cNvPr id="17" name="Rectangle 93">
            <a:extLst>
              <a:ext uri="{FF2B5EF4-FFF2-40B4-BE49-F238E27FC236}">
                <a16:creationId xmlns:a16="http://schemas.microsoft.com/office/drawing/2014/main" id="{EA87C630-6405-4FCD-5E77-C2BF4F6F3D43}"/>
              </a:ext>
            </a:extLst>
          </p:cNvPr>
          <p:cNvSpPr>
            <a:spLocks noChangeArrowheads="1"/>
          </p:cNvSpPr>
          <p:nvPr/>
        </p:nvSpPr>
        <p:spPr bwMode="auto">
          <a:xfrm>
            <a:off x="2675961" y="4959016"/>
            <a:ext cx="721083" cy="360362"/>
          </a:xfrm>
          <a:prstGeom prst="rect">
            <a:avLst/>
          </a:prstGeom>
          <a:noFill/>
          <a:ln w="12700" algn="ctr">
            <a:noFill/>
            <a:miter lim="800000"/>
            <a:headEnd/>
            <a:tailEnd/>
          </a:ln>
          <a:effectLst/>
        </p:spPr>
        <p:txBody>
          <a:bodyPr wrap="none" lIns="90000" tIns="46800" rIns="90000" bIns="46800" anchor="ctr"/>
          <a:lstStyle/>
          <a:p>
            <a:r>
              <a:rPr lang="en-US" altLang="ja-JP" dirty="0"/>
              <a:t>Drain</a:t>
            </a:r>
          </a:p>
        </p:txBody>
      </p:sp>
      <p:grpSp>
        <p:nvGrpSpPr>
          <p:cNvPr id="18" name="グループ化 17">
            <a:extLst>
              <a:ext uri="{FF2B5EF4-FFF2-40B4-BE49-F238E27FC236}">
                <a16:creationId xmlns:a16="http://schemas.microsoft.com/office/drawing/2014/main" id="{1EA47EBF-ACBB-0082-C43A-BAD941173011}"/>
              </a:ext>
            </a:extLst>
          </p:cNvPr>
          <p:cNvGrpSpPr/>
          <p:nvPr/>
        </p:nvGrpSpPr>
        <p:grpSpPr>
          <a:xfrm>
            <a:off x="4025975" y="3879006"/>
            <a:ext cx="3240037" cy="2430026"/>
            <a:chOff x="8166024" y="908972"/>
            <a:chExt cx="3240037" cy="2430026"/>
          </a:xfrm>
        </p:grpSpPr>
        <p:cxnSp>
          <p:nvCxnSpPr>
            <p:cNvPr id="19" name="直線コネクタ 18">
              <a:extLst>
                <a:ext uri="{FF2B5EF4-FFF2-40B4-BE49-F238E27FC236}">
                  <a16:creationId xmlns:a16="http://schemas.microsoft.com/office/drawing/2014/main" id="{C1D62BA8-A54F-248D-1557-6B6A6C9DD975}"/>
                </a:ext>
              </a:extLst>
            </p:cNvPr>
            <p:cNvCxnSpPr>
              <a:cxnSpLocks/>
            </p:cNvCxnSpPr>
            <p:nvPr/>
          </p:nvCxnSpPr>
          <p:spPr bwMode="auto">
            <a:xfrm>
              <a:off x="9336038" y="1628980"/>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20" name="直線コネクタ 19">
              <a:extLst>
                <a:ext uri="{FF2B5EF4-FFF2-40B4-BE49-F238E27FC236}">
                  <a16:creationId xmlns:a16="http://schemas.microsoft.com/office/drawing/2014/main" id="{86DA9703-C8BE-B1A2-0ED1-E1BCF1BBCD7D}"/>
                </a:ext>
              </a:extLst>
            </p:cNvPr>
            <p:cNvCxnSpPr>
              <a:cxnSpLocks/>
            </p:cNvCxnSpPr>
            <p:nvPr/>
          </p:nvCxnSpPr>
          <p:spPr bwMode="auto">
            <a:xfrm>
              <a:off x="9336038" y="1178974"/>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21" name="直線コネクタ 20">
              <a:extLst>
                <a:ext uri="{FF2B5EF4-FFF2-40B4-BE49-F238E27FC236}">
                  <a16:creationId xmlns:a16="http://schemas.microsoft.com/office/drawing/2014/main" id="{38D8BD6D-6F12-0D0B-2393-EEEF20FED4C4}"/>
                </a:ext>
              </a:extLst>
            </p:cNvPr>
            <p:cNvCxnSpPr>
              <a:cxnSpLocks/>
            </p:cNvCxnSpPr>
            <p:nvPr/>
          </p:nvCxnSpPr>
          <p:spPr bwMode="auto">
            <a:xfrm>
              <a:off x="9876044" y="1178974"/>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22" name="直線コネクタ 21">
              <a:extLst>
                <a:ext uri="{FF2B5EF4-FFF2-40B4-BE49-F238E27FC236}">
                  <a16:creationId xmlns:a16="http://schemas.microsoft.com/office/drawing/2014/main" id="{81CFD634-AAD3-17FE-BB80-85319F045733}"/>
                </a:ext>
              </a:extLst>
            </p:cNvPr>
            <p:cNvCxnSpPr>
              <a:cxnSpLocks/>
            </p:cNvCxnSpPr>
            <p:nvPr/>
          </p:nvCxnSpPr>
          <p:spPr bwMode="auto">
            <a:xfrm flipV="1">
              <a:off x="9606039" y="1628980"/>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23" name="正方形/長方形 22">
              <a:extLst>
                <a:ext uri="{FF2B5EF4-FFF2-40B4-BE49-F238E27FC236}">
                  <a16:creationId xmlns:a16="http://schemas.microsoft.com/office/drawing/2014/main" id="{342A4320-1012-48CF-064C-86218D868F84}"/>
                </a:ext>
              </a:extLst>
            </p:cNvPr>
            <p:cNvSpPr/>
            <p:nvPr/>
          </p:nvSpPr>
          <p:spPr bwMode="auto">
            <a:xfrm rot="5400000">
              <a:off x="9516040" y="998973"/>
              <a:ext cx="180002" cy="2880033"/>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24" name="直線コネクタ 23">
              <a:extLst>
                <a:ext uri="{FF2B5EF4-FFF2-40B4-BE49-F238E27FC236}">
                  <a16:creationId xmlns:a16="http://schemas.microsoft.com/office/drawing/2014/main" id="{72751854-40D9-A0E1-F679-28AA491FA1A7}"/>
                </a:ext>
              </a:extLst>
            </p:cNvPr>
            <p:cNvCxnSpPr>
              <a:cxnSpLocks/>
            </p:cNvCxnSpPr>
            <p:nvPr/>
          </p:nvCxnSpPr>
          <p:spPr bwMode="auto">
            <a:xfrm>
              <a:off x="9696044" y="2348990"/>
              <a:ext cx="1350015" cy="0"/>
            </a:xfrm>
            <a:prstGeom prst="line">
              <a:avLst/>
            </a:prstGeom>
            <a:noFill/>
            <a:ln w="19050" cap="flat" cmpd="sng" algn="ctr">
              <a:solidFill>
                <a:schemeClr val="tx1"/>
              </a:solidFill>
              <a:prstDash val="solid"/>
              <a:round/>
              <a:headEnd type="none" w="med" len="med"/>
              <a:tailEnd type="none" w="med" len="med"/>
            </a:ln>
            <a:effectLst/>
          </p:spPr>
        </p:cxnSp>
        <p:cxnSp>
          <p:nvCxnSpPr>
            <p:cNvPr id="25" name="直線コネクタ 24">
              <a:extLst>
                <a:ext uri="{FF2B5EF4-FFF2-40B4-BE49-F238E27FC236}">
                  <a16:creationId xmlns:a16="http://schemas.microsoft.com/office/drawing/2014/main" id="{D5EF3DD6-B8F5-D83E-7921-A71BD5E3152A}"/>
                </a:ext>
              </a:extLst>
            </p:cNvPr>
            <p:cNvCxnSpPr>
              <a:cxnSpLocks/>
            </p:cNvCxnSpPr>
            <p:nvPr/>
          </p:nvCxnSpPr>
          <p:spPr bwMode="auto">
            <a:xfrm>
              <a:off x="8166024" y="2528990"/>
              <a:ext cx="2880035" cy="0"/>
            </a:xfrm>
            <a:prstGeom prst="line">
              <a:avLst/>
            </a:prstGeom>
            <a:noFill/>
            <a:ln w="19050" cap="flat" cmpd="sng" algn="ctr">
              <a:solidFill>
                <a:schemeClr val="tx1"/>
              </a:solidFill>
              <a:prstDash val="solid"/>
              <a:round/>
              <a:headEnd type="none" w="med" len="med"/>
              <a:tailEnd type="none" w="med" len="med"/>
            </a:ln>
            <a:effectLst/>
          </p:spPr>
        </p:cxnSp>
        <p:cxnSp>
          <p:nvCxnSpPr>
            <p:cNvPr id="26" name="直線コネクタ 25">
              <a:extLst>
                <a:ext uri="{FF2B5EF4-FFF2-40B4-BE49-F238E27FC236}">
                  <a16:creationId xmlns:a16="http://schemas.microsoft.com/office/drawing/2014/main" id="{2E282B17-A16F-5EC6-8BC1-2363BDF7937D}"/>
                </a:ext>
              </a:extLst>
            </p:cNvPr>
            <p:cNvCxnSpPr>
              <a:cxnSpLocks/>
            </p:cNvCxnSpPr>
            <p:nvPr/>
          </p:nvCxnSpPr>
          <p:spPr bwMode="auto">
            <a:xfrm>
              <a:off x="8166024" y="2348988"/>
              <a:ext cx="1350016" cy="0"/>
            </a:xfrm>
            <a:prstGeom prst="line">
              <a:avLst/>
            </a:prstGeom>
            <a:noFill/>
            <a:ln w="19050" cap="flat" cmpd="sng" algn="ctr">
              <a:solidFill>
                <a:schemeClr val="tx1"/>
              </a:solidFill>
              <a:prstDash val="solid"/>
              <a:round/>
              <a:headEnd type="none" w="med" len="med"/>
              <a:tailEnd type="none" w="med" len="med"/>
            </a:ln>
            <a:effectLst/>
          </p:spPr>
        </p:cxnSp>
        <p:sp>
          <p:nvSpPr>
            <p:cNvPr id="27" name="正方形/長方形 26">
              <a:extLst>
                <a:ext uri="{FF2B5EF4-FFF2-40B4-BE49-F238E27FC236}">
                  <a16:creationId xmlns:a16="http://schemas.microsoft.com/office/drawing/2014/main" id="{66E2559A-6111-6359-5A10-3F235D6B0456}"/>
                </a:ext>
              </a:extLst>
            </p:cNvPr>
            <p:cNvSpPr/>
            <p:nvPr/>
          </p:nvSpPr>
          <p:spPr bwMode="auto">
            <a:xfrm rot="5400000">
              <a:off x="9336036" y="1988984"/>
              <a:ext cx="540006"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nvGrpSpPr>
            <p:cNvPr id="28" name="グループ化 27">
              <a:extLst>
                <a:ext uri="{FF2B5EF4-FFF2-40B4-BE49-F238E27FC236}">
                  <a16:creationId xmlns:a16="http://schemas.microsoft.com/office/drawing/2014/main" id="{A16D3676-9C40-C745-0A37-BFEAD1372132}"/>
                </a:ext>
              </a:extLst>
            </p:cNvPr>
            <p:cNvGrpSpPr/>
            <p:nvPr/>
          </p:nvGrpSpPr>
          <p:grpSpPr>
            <a:xfrm>
              <a:off x="9516040" y="2618989"/>
              <a:ext cx="180003" cy="720009"/>
              <a:chOff x="3131985" y="5049018"/>
              <a:chExt cx="180002" cy="437056"/>
            </a:xfrm>
          </p:grpSpPr>
          <p:grpSp>
            <p:nvGrpSpPr>
              <p:cNvPr id="39" name="グループ化 38">
                <a:extLst>
                  <a:ext uri="{FF2B5EF4-FFF2-40B4-BE49-F238E27FC236}">
                    <a16:creationId xmlns:a16="http://schemas.microsoft.com/office/drawing/2014/main" id="{180C71F3-EDA9-71DB-4572-B13842A44825}"/>
                  </a:ext>
                </a:extLst>
              </p:cNvPr>
              <p:cNvGrpSpPr/>
              <p:nvPr/>
            </p:nvGrpSpPr>
            <p:grpSpPr>
              <a:xfrm>
                <a:off x="3131985" y="5139021"/>
                <a:ext cx="180002" cy="254126"/>
                <a:chOff x="3131984" y="5191944"/>
                <a:chExt cx="270003" cy="201854"/>
              </a:xfrm>
            </p:grpSpPr>
            <p:sp>
              <p:nvSpPr>
                <p:cNvPr id="42" name="Freeform 42">
                  <a:extLst>
                    <a:ext uri="{FF2B5EF4-FFF2-40B4-BE49-F238E27FC236}">
                      <a16:creationId xmlns:a16="http://schemas.microsoft.com/office/drawing/2014/main" id="{88587F2A-200B-5259-C49D-8A5AF7EDAB1D}"/>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43" name="Freeform 42">
                  <a:extLst>
                    <a:ext uri="{FF2B5EF4-FFF2-40B4-BE49-F238E27FC236}">
                      <a16:creationId xmlns:a16="http://schemas.microsoft.com/office/drawing/2014/main" id="{7BE5EC04-73AD-78FA-B6B2-9E31544B671C}"/>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44" name="Freeform 42">
                  <a:extLst>
                    <a:ext uri="{FF2B5EF4-FFF2-40B4-BE49-F238E27FC236}">
                      <a16:creationId xmlns:a16="http://schemas.microsoft.com/office/drawing/2014/main" id="{1438948F-0F48-3C44-C982-D466BB6C0638}"/>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45" name="Freeform 42">
                  <a:extLst>
                    <a:ext uri="{FF2B5EF4-FFF2-40B4-BE49-F238E27FC236}">
                      <a16:creationId xmlns:a16="http://schemas.microsoft.com/office/drawing/2014/main" id="{C20D3240-44D5-9BAE-8ADB-2D92E1369180}"/>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40" name="直線コネクタ 39">
                <a:extLst>
                  <a:ext uri="{FF2B5EF4-FFF2-40B4-BE49-F238E27FC236}">
                    <a16:creationId xmlns:a16="http://schemas.microsoft.com/office/drawing/2014/main" id="{6CA1B471-BBD4-3768-E10C-A2BB61E71A14}"/>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95FF4865-C114-1192-6A3B-C8835521A8CE}"/>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29" name="正方形/長方形 28">
              <a:extLst>
                <a:ext uri="{FF2B5EF4-FFF2-40B4-BE49-F238E27FC236}">
                  <a16:creationId xmlns:a16="http://schemas.microsoft.com/office/drawing/2014/main" id="{AB5A0FB0-65FC-8202-D28A-226AB93394A4}"/>
                </a:ext>
              </a:extLst>
            </p:cNvPr>
            <p:cNvSpPr/>
            <p:nvPr/>
          </p:nvSpPr>
          <p:spPr bwMode="auto">
            <a:xfrm rot="5400000" flipH="1">
              <a:off x="9561038" y="2483987"/>
              <a:ext cx="90001"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30" name="直線コネクタ 29">
              <a:extLst>
                <a:ext uri="{FF2B5EF4-FFF2-40B4-BE49-F238E27FC236}">
                  <a16:creationId xmlns:a16="http://schemas.microsoft.com/office/drawing/2014/main" id="{97BC5A80-EF47-7C11-F485-B8C248333F1B}"/>
                </a:ext>
              </a:extLst>
            </p:cNvPr>
            <p:cNvCxnSpPr>
              <a:cxnSpLocks/>
            </p:cNvCxnSpPr>
            <p:nvPr/>
          </p:nvCxnSpPr>
          <p:spPr bwMode="auto">
            <a:xfrm flipH="1">
              <a:off x="9696042" y="2348986"/>
              <a:ext cx="3"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31" name="直線コネクタ 30">
              <a:extLst>
                <a:ext uri="{FF2B5EF4-FFF2-40B4-BE49-F238E27FC236}">
                  <a16:creationId xmlns:a16="http://schemas.microsoft.com/office/drawing/2014/main" id="{C9741417-6FBE-9D62-890F-50ABF965CB43}"/>
                </a:ext>
              </a:extLst>
            </p:cNvPr>
            <p:cNvCxnSpPr>
              <a:cxnSpLocks/>
            </p:cNvCxnSpPr>
            <p:nvPr/>
          </p:nvCxnSpPr>
          <p:spPr bwMode="auto">
            <a:xfrm flipH="1">
              <a:off x="9516041" y="2348986"/>
              <a:ext cx="5" cy="180000"/>
            </a:xfrm>
            <a:prstGeom prst="line">
              <a:avLst/>
            </a:prstGeom>
            <a:noFill/>
            <a:ln w="19050" cap="rnd" cmpd="sng" algn="ctr">
              <a:solidFill>
                <a:schemeClr val="accent6"/>
              </a:solidFill>
              <a:prstDash val="sysDot"/>
              <a:round/>
              <a:headEnd type="none" w="med" len="med"/>
              <a:tailEnd type="none" w="med" len="med"/>
            </a:ln>
            <a:effectLst/>
          </p:spPr>
        </p:cxnSp>
        <p:sp>
          <p:nvSpPr>
            <p:cNvPr id="32" name="正方形/長方形 31">
              <a:extLst>
                <a:ext uri="{FF2B5EF4-FFF2-40B4-BE49-F238E27FC236}">
                  <a16:creationId xmlns:a16="http://schemas.microsoft.com/office/drawing/2014/main" id="{6175C974-7799-CC14-68FE-51C8F61B5884}"/>
                </a:ext>
              </a:extLst>
            </p:cNvPr>
            <p:cNvSpPr/>
            <p:nvPr/>
          </p:nvSpPr>
          <p:spPr bwMode="auto">
            <a:xfrm>
              <a:off x="10686053" y="1268975"/>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2400" dirty="0">
                  <a:solidFill>
                    <a:schemeClr val="accent6"/>
                  </a:solidFill>
                </a:rPr>
                <a:t>タンク（空）</a:t>
              </a:r>
            </a:p>
          </p:txBody>
        </p:sp>
        <p:sp>
          <p:nvSpPr>
            <p:cNvPr id="33" name="正方形/長方形 32">
              <a:extLst>
                <a:ext uri="{FF2B5EF4-FFF2-40B4-BE49-F238E27FC236}">
                  <a16:creationId xmlns:a16="http://schemas.microsoft.com/office/drawing/2014/main" id="{FDEE68C5-D67E-7ADC-95A0-F50B56D59DEC}"/>
                </a:ext>
              </a:extLst>
            </p:cNvPr>
            <p:cNvSpPr/>
            <p:nvPr/>
          </p:nvSpPr>
          <p:spPr bwMode="auto">
            <a:xfrm>
              <a:off x="9696042" y="243898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栓がバネで上がって</a:t>
              </a:r>
              <a:endParaRPr lang="en-US" altLang="ja-JP" sz="1600" dirty="0">
                <a:solidFill>
                  <a:schemeClr val="tx1">
                    <a:lumMod val="75000"/>
                    <a:lumOff val="25000"/>
                  </a:schemeClr>
                </a:solidFill>
              </a:endParaRPr>
            </a:p>
            <a:p>
              <a:r>
                <a:rPr lang="ja-JP" altLang="en-US" sz="1600" dirty="0">
                  <a:solidFill>
                    <a:schemeClr val="tx1">
                      <a:lumMod val="75000"/>
                      <a:lumOff val="25000"/>
                    </a:schemeClr>
                  </a:solidFill>
                </a:rPr>
                <a:t>水が流れる</a:t>
              </a:r>
            </a:p>
          </p:txBody>
        </p:sp>
        <p:cxnSp>
          <p:nvCxnSpPr>
            <p:cNvPr id="34" name="直線矢印コネクタ 33">
              <a:extLst>
                <a:ext uri="{FF2B5EF4-FFF2-40B4-BE49-F238E27FC236}">
                  <a16:creationId xmlns:a16="http://schemas.microsoft.com/office/drawing/2014/main" id="{56C0EF4C-2EF9-DAB8-089A-C3D9EBED756B}"/>
                </a:ext>
              </a:extLst>
            </p:cNvPr>
            <p:cNvCxnSpPr/>
            <p:nvPr/>
          </p:nvCxnSpPr>
          <p:spPr bwMode="auto">
            <a:xfrm>
              <a:off x="8886033" y="2438989"/>
              <a:ext cx="1530017" cy="0"/>
            </a:xfrm>
            <a:prstGeom prst="straightConnector1">
              <a:avLst/>
            </a:prstGeom>
            <a:noFill/>
            <a:ln w="9525" cap="flat" cmpd="sng" algn="ctr">
              <a:solidFill>
                <a:schemeClr val="tx1"/>
              </a:solidFill>
              <a:prstDash val="solid"/>
              <a:round/>
              <a:headEnd type="none" w="med" len="med"/>
              <a:tailEnd type="triangle"/>
            </a:ln>
            <a:effectLst/>
          </p:spPr>
        </p:cxnSp>
        <p:sp>
          <p:nvSpPr>
            <p:cNvPr id="35" name="Rectangle 93">
              <a:extLst>
                <a:ext uri="{FF2B5EF4-FFF2-40B4-BE49-F238E27FC236}">
                  <a16:creationId xmlns:a16="http://schemas.microsoft.com/office/drawing/2014/main" id="{C91464D2-35B3-6E35-3688-8CE24FFFD888}"/>
                </a:ext>
              </a:extLst>
            </p:cNvPr>
            <p:cNvSpPr>
              <a:spLocks noChangeArrowheads="1"/>
            </p:cNvSpPr>
            <p:nvPr/>
          </p:nvSpPr>
          <p:spPr bwMode="auto">
            <a:xfrm>
              <a:off x="9426038" y="908972"/>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36" name="Rectangle 93">
              <a:extLst>
                <a:ext uri="{FF2B5EF4-FFF2-40B4-BE49-F238E27FC236}">
                  <a16:creationId xmlns:a16="http://schemas.microsoft.com/office/drawing/2014/main" id="{C633D6C5-62D4-0C65-6D6E-0AD6E4B84B68}"/>
                </a:ext>
              </a:extLst>
            </p:cNvPr>
            <p:cNvSpPr>
              <a:spLocks noChangeArrowheads="1"/>
            </p:cNvSpPr>
            <p:nvPr/>
          </p:nvSpPr>
          <p:spPr bwMode="auto">
            <a:xfrm>
              <a:off x="8166024" y="1988984"/>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37" name="Rectangle 93">
              <a:extLst>
                <a:ext uri="{FF2B5EF4-FFF2-40B4-BE49-F238E27FC236}">
                  <a16:creationId xmlns:a16="http://schemas.microsoft.com/office/drawing/2014/main" id="{989CD9F0-9B62-D40B-D93A-CC48370AF385}"/>
                </a:ext>
              </a:extLst>
            </p:cNvPr>
            <p:cNvSpPr>
              <a:spLocks noChangeArrowheads="1"/>
            </p:cNvSpPr>
            <p:nvPr/>
          </p:nvSpPr>
          <p:spPr bwMode="auto">
            <a:xfrm>
              <a:off x="10776053" y="1988984"/>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38" name="直線矢印コネクタ 37">
              <a:extLst>
                <a:ext uri="{FF2B5EF4-FFF2-40B4-BE49-F238E27FC236}">
                  <a16:creationId xmlns:a16="http://schemas.microsoft.com/office/drawing/2014/main" id="{9C7D42B5-2C5C-664A-6842-0455586655A5}"/>
                </a:ext>
              </a:extLst>
            </p:cNvPr>
            <p:cNvCxnSpPr>
              <a:cxnSpLocks/>
            </p:cNvCxnSpPr>
            <p:nvPr/>
          </p:nvCxnSpPr>
          <p:spPr bwMode="auto">
            <a:xfrm flipV="1">
              <a:off x="9426037" y="2798992"/>
              <a:ext cx="0" cy="360004"/>
            </a:xfrm>
            <a:prstGeom prst="straightConnector1">
              <a:avLst/>
            </a:prstGeom>
            <a:noFill/>
            <a:ln w="9525" cap="flat" cmpd="sng" algn="ctr">
              <a:solidFill>
                <a:schemeClr val="tx1"/>
              </a:solidFill>
              <a:prstDash val="solid"/>
              <a:round/>
              <a:headEnd type="none" w="med" len="med"/>
              <a:tailEnd type="triangle"/>
            </a:ln>
            <a:effectLst/>
          </p:spPr>
        </p:cxnSp>
      </p:grpSp>
      <p:grpSp>
        <p:nvGrpSpPr>
          <p:cNvPr id="46" name="グループ化 45">
            <a:extLst>
              <a:ext uri="{FF2B5EF4-FFF2-40B4-BE49-F238E27FC236}">
                <a16:creationId xmlns:a16="http://schemas.microsoft.com/office/drawing/2014/main" id="{E31EC42A-BC79-9C94-1E44-D438C6812101}"/>
              </a:ext>
            </a:extLst>
          </p:cNvPr>
          <p:cNvGrpSpPr/>
          <p:nvPr/>
        </p:nvGrpSpPr>
        <p:grpSpPr>
          <a:xfrm>
            <a:off x="7896018" y="4149009"/>
            <a:ext cx="2971108" cy="2160023"/>
            <a:chOff x="3845976" y="1178975"/>
            <a:chExt cx="2971108" cy="2160023"/>
          </a:xfrm>
        </p:grpSpPr>
        <p:sp>
          <p:nvSpPr>
            <p:cNvPr id="47" name="正方形/長方形 46">
              <a:extLst>
                <a:ext uri="{FF2B5EF4-FFF2-40B4-BE49-F238E27FC236}">
                  <a16:creationId xmlns:a16="http://schemas.microsoft.com/office/drawing/2014/main" id="{43BF6918-AF16-160F-EF77-EFDCBBAB7B5D}"/>
                </a:ext>
              </a:extLst>
            </p:cNvPr>
            <p:cNvSpPr/>
            <p:nvPr/>
          </p:nvSpPr>
          <p:spPr bwMode="auto">
            <a:xfrm>
              <a:off x="5015992" y="1628980"/>
              <a:ext cx="540006" cy="36000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48" name="直線コネクタ 47">
              <a:extLst>
                <a:ext uri="{FF2B5EF4-FFF2-40B4-BE49-F238E27FC236}">
                  <a16:creationId xmlns:a16="http://schemas.microsoft.com/office/drawing/2014/main" id="{0CE7B2D8-77FC-9ECE-6903-3110AA0692D1}"/>
                </a:ext>
              </a:extLst>
            </p:cNvPr>
            <p:cNvCxnSpPr>
              <a:cxnSpLocks/>
            </p:cNvCxnSpPr>
            <p:nvPr/>
          </p:nvCxnSpPr>
          <p:spPr bwMode="auto">
            <a:xfrm>
              <a:off x="5015992" y="1988985"/>
              <a:ext cx="540006" cy="0"/>
            </a:xfrm>
            <a:prstGeom prst="line">
              <a:avLst/>
            </a:prstGeom>
            <a:noFill/>
            <a:ln w="19050" cap="rnd" cmpd="sng" algn="ctr">
              <a:solidFill>
                <a:schemeClr val="accent6"/>
              </a:solidFill>
              <a:prstDash val="solid"/>
              <a:round/>
              <a:headEnd type="none" w="med" len="med"/>
              <a:tailEnd type="none" w="med" len="med"/>
            </a:ln>
            <a:effectLst/>
          </p:spPr>
        </p:cxnSp>
        <p:cxnSp>
          <p:nvCxnSpPr>
            <p:cNvPr id="49" name="直線コネクタ 48">
              <a:extLst>
                <a:ext uri="{FF2B5EF4-FFF2-40B4-BE49-F238E27FC236}">
                  <a16:creationId xmlns:a16="http://schemas.microsoft.com/office/drawing/2014/main" id="{EEDE68A5-C77F-D1D1-AC5D-A96C1387D511}"/>
                </a:ext>
              </a:extLst>
            </p:cNvPr>
            <p:cNvCxnSpPr>
              <a:cxnSpLocks/>
            </p:cNvCxnSpPr>
            <p:nvPr/>
          </p:nvCxnSpPr>
          <p:spPr bwMode="auto">
            <a:xfrm>
              <a:off x="5015992" y="1538979"/>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50" name="直線コネクタ 49">
              <a:extLst>
                <a:ext uri="{FF2B5EF4-FFF2-40B4-BE49-F238E27FC236}">
                  <a16:creationId xmlns:a16="http://schemas.microsoft.com/office/drawing/2014/main" id="{085823C4-7C35-3210-1658-44134CD859FE}"/>
                </a:ext>
              </a:extLst>
            </p:cNvPr>
            <p:cNvCxnSpPr>
              <a:cxnSpLocks/>
            </p:cNvCxnSpPr>
            <p:nvPr/>
          </p:nvCxnSpPr>
          <p:spPr bwMode="auto">
            <a:xfrm>
              <a:off x="5555998" y="1538979"/>
              <a:ext cx="0" cy="450041"/>
            </a:xfrm>
            <a:prstGeom prst="line">
              <a:avLst/>
            </a:prstGeom>
            <a:noFill/>
            <a:ln w="19050" cap="rnd" cmpd="sng" algn="ctr">
              <a:solidFill>
                <a:schemeClr val="accent6"/>
              </a:solidFill>
              <a:prstDash val="solid"/>
              <a:round/>
              <a:headEnd type="none" w="med" len="med"/>
              <a:tailEnd type="none" w="med" len="med"/>
            </a:ln>
            <a:effectLst/>
          </p:spPr>
        </p:cxnSp>
        <p:cxnSp>
          <p:nvCxnSpPr>
            <p:cNvPr id="51" name="直線コネクタ 50">
              <a:extLst>
                <a:ext uri="{FF2B5EF4-FFF2-40B4-BE49-F238E27FC236}">
                  <a16:creationId xmlns:a16="http://schemas.microsoft.com/office/drawing/2014/main" id="{A880CC2B-ECAD-E51D-B388-0DCD65CC2F79}"/>
                </a:ext>
              </a:extLst>
            </p:cNvPr>
            <p:cNvCxnSpPr>
              <a:cxnSpLocks/>
            </p:cNvCxnSpPr>
            <p:nvPr/>
          </p:nvCxnSpPr>
          <p:spPr bwMode="auto">
            <a:xfrm flipV="1">
              <a:off x="5285993" y="1988985"/>
              <a:ext cx="0" cy="180002"/>
            </a:xfrm>
            <a:prstGeom prst="line">
              <a:avLst/>
            </a:prstGeom>
            <a:noFill/>
            <a:ln w="19050" cap="flat" cmpd="sng" algn="ctr">
              <a:solidFill>
                <a:schemeClr val="accent6"/>
              </a:solidFill>
              <a:prstDash val="solid"/>
              <a:round/>
              <a:headEnd type="none" w="med" len="med"/>
              <a:tailEnd type="none" w="med" len="med"/>
            </a:ln>
            <a:effectLst/>
          </p:spPr>
        </p:cxnSp>
        <p:sp>
          <p:nvSpPr>
            <p:cNvPr id="52" name="正方形/長方形 51">
              <a:extLst>
                <a:ext uri="{FF2B5EF4-FFF2-40B4-BE49-F238E27FC236}">
                  <a16:creationId xmlns:a16="http://schemas.microsoft.com/office/drawing/2014/main" id="{6B3AFDE2-5F73-EB70-4DF4-49D484DC3273}"/>
                </a:ext>
              </a:extLst>
            </p:cNvPr>
            <p:cNvSpPr/>
            <p:nvPr/>
          </p:nvSpPr>
          <p:spPr bwMode="auto">
            <a:xfrm rot="5400000">
              <a:off x="4430983" y="1763982"/>
              <a:ext cx="180002" cy="1350015"/>
            </a:xfrm>
            <a:prstGeom prst="rect">
              <a:avLst/>
            </a:prstGeom>
            <a:solidFill>
              <a:schemeClr val="accent5">
                <a:lumMod val="20000"/>
                <a:lumOff val="80000"/>
              </a:schemeClr>
            </a:solidFill>
            <a:ln>
              <a:noFill/>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53" name="直線コネクタ 52">
              <a:extLst>
                <a:ext uri="{FF2B5EF4-FFF2-40B4-BE49-F238E27FC236}">
                  <a16:creationId xmlns:a16="http://schemas.microsoft.com/office/drawing/2014/main" id="{06F7BB5C-AC4C-D626-AB7C-83694E7B7410}"/>
                </a:ext>
              </a:extLst>
            </p:cNvPr>
            <p:cNvCxnSpPr>
              <a:cxnSpLocks/>
            </p:cNvCxnSpPr>
            <p:nvPr/>
          </p:nvCxnSpPr>
          <p:spPr bwMode="auto">
            <a:xfrm>
              <a:off x="5375996" y="2348990"/>
              <a:ext cx="1350015" cy="0"/>
            </a:xfrm>
            <a:prstGeom prst="line">
              <a:avLst/>
            </a:prstGeom>
            <a:noFill/>
            <a:ln w="19050" cap="flat" cmpd="sng" algn="ctr">
              <a:solidFill>
                <a:schemeClr val="tx1"/>
              </a:solidFill>
              <a:prstDash val="solid"/>
              <a:round/>
              <a:headEnd type="none" w="med" len="med"/>
              <a:tailEnd type="none" w="med" len="med"/>
            </a:ln>
            <a:effectLst/>
          </p:spPr>
        </p:cxnSp>
        <p:cxnSp>
          <p:nvCxnSpPr>
            <p:cNvPr id="54" name="直線コネクタ 53">
              <a:extLst>
                <a:ext uri="{FF2B5EF4-FFF2-40B4-BE49-F238E27FC236}">
                  <a16:creationId xmlns:a16="http://schemas.microsoft.com/office/drawing/2014/main" id="{C7B264C1-77E6-989A-F7F3-78A54CD96E41}"/>
                </a:ext>
              </a:extLst>
            </p:cNvPr>
            <p:cNvCxnSpPr>
              <a:cxnSpLocks/>
            </p:cNvCxnSpPr>
            <p:nvPr/>
          </p:nvCxnSpPr>
          <p:spPr bwMode="auto">
            <a:xfrm>
              <a:off x="3845976" y="2528990"/>
              <a:ext cx="2880035" cy="0"/>
            </a:xfrm>
            <a:prstGeom prst="line">
              <a:avLst/>
            </a:prstGeom>
            <a:noFill/>
            <a:ln w="19050" cap="flat" cmpd="sng" algn="ctr">
              <a:solidFill>
                <a:schemeClr val="tx1"/>
              </a:solidFill>
              <a:prstDash val="solid"/>
              <a:round/>
              <a:headEnd type="none" w="med" len="med"/>
              <a:tailEnd type="none" w="med" len="med"/>
            </a:ln>
            <a:effectLst/>
          </p:spPr>
        </p:cxnSp>
        <p:cxnSp>
          <p:nvCxnSpPr>
            <p:cNvPr id="55" name="直線コネクタ 54">
              <a:extLst>
                <a:ext uri="{FF2B5EF4-FFF2-40B4-BE49-F238E27FC236}">
                  <a16:creationId xmlns:a16="http://schemas.microsoft.com/office/drawing/2014/main" id="{C98266CB-12F6-FFA1-CFD1-D8386B1C524F}"/>
                </a:ext>
              </a:extLst>
            </p:cNvPr>
            <p:cNvCxnSpPr>
              <a:cxnSpLocks/>
            </p:cNvCxnSpPr>
            <p:nvPr/>
          </p:nvCxnSpPr>
          <p:spPr bwMode="auto">
            <a:xfrm>
              <a:off x="3845976" y="2348988"/>
              <a:ext cx="1350016" cy="0"/>
            </a:xfrm>
            <a:prstGeom prst="line">
              <a:avLst/>
            </a:prstGeom>
            <a:noFill/>
            <a:ln w="19050" cap="flat" cmpd="sng" algn="ctr">
              <a:solidFill>
                <a:schemeClr val="tx1"/>
              </a:solidFill>
              <a:prstDash val="solid"/>
              <a:round/>
              <a:headEnd type="none" w="med" len="med"/>
              <a:tailEnd type="none" w="med" len="med"/>
            </a:ln>
            <a:effectLst/>
          </p:spPr>
        </p:cxnSp>
        <p:sp>
          <p:nvSpPr>
            <p:cNvPr id="56" name="正方形/長方形 55">
              <a:extLst>
                <a:ext uri="{FF2B5EF4-FFF2-40B4-BE49-F238E27FC236}">
                  <a16:creationId xmlns:a16="http://schemas.microsoft.com/office/drawing/2014/main" id="{BF1028F5-F90A-2926-94D4-00AEFF83F200}"/>
                </a:ext>
              </a:extLst>
            </p:cNvPr>
            <p:cNvSpPr/>
            <p:nvPr/>
          </p:nvSpPr>
          <p:spPr bwMode="auto">
            <a:xfrm rot="5400000">
              <a:off x="5015990" y="2348989"/>
              <a:ext cx="540006"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grpSp>
          <p:nvGrpSpPr>
            <p:cNvPr id="57" name="グループ化 56">
              <a:extLst>
                <a:ext uri="{FF2B5EF4-FFF2-40B4-BE49-F238E27FC236}">
                  <a16:creationId xmlns:a16="http://schemas.microsoft.com/office/drawing/2014/main" id="{098A2D61-C5DB-5053-0BF1-ABFD0C7B52B8}"/>
                </a:ext>
              </a:extLst>
            </p:cNvPr>
            <p:cNvGrpSpPr/>
            <p:nvPr/>
          </p:nvGrpSpPr>
          <p:grpSpPr>
            <a:xfrm>
              <a:off x="5195992" y="2978994"/>
              <a:ext cx="180003" cy="360004"/>
              <a:chOff x="3131985" y="5049018"/>
              <a:chExt cx="180002" cy="437056"/>
            </a:xfrm>
          </p:grpSpPr>
          <p:grpSp>
            <p:nvGrpSpPr>
              <p:cNvPr id="67" name="グループ化 66">
                <a:extLst>
                  <a:ext uri="{FF2B5EF4-FFF2-40B4-BE49-F238E27FC236}">
                    <a16:creationId xmlns:a16="http://schemas.microsoft.com/office/drawing/2014/main" id="{F34753DD-0D7F-8C6D-6C91-2E6EED376929}"/>
                  </a:ext>
                </a:extLst>
              </p:cNvPr>
              <p:cNvGrpSpPr/>
              <p:nvPr/>
            </p:nvGrpSpPr>
            <p:grpSpPr>
              <a:xfrm>
                <a:off x="3131985" y="5139021"/>
                <a:ext cx="180002" cy="254126"/>
                <a:chOff x="3131984" y="5191944"/>
                <a:chExt cx="270003" cy="201854"/>
              </a:xfrm>
            </p:grpSpPr>
            <p:sp>
              <p:nvSpPr>
                <p:cNvPr id="70" name="Freeform 42">
                  <a:extLst>
                    <a:ext uri="{FF2B5EF4-FFF2-40B4-BE49-F238E27FC236}">
                      <a16:creationId xmlns:a16="http://schemas.microsoft.com/office/drawing/2014/main" id="{0059DA04-F901-9AA3-E597-3E8F8B5D0B76}"/>
                    </a:ext>
                  </a:extLst>
                </p:cNvPr>
                <p:cNvSpPr>
                  <a:spLocks/>
                </p:cNvSpPr>
                <p:nvPr/>
              </p:nvSpPr>
              <p:spPr bwMode="auto">
                <a:xfrm>
                  <a:off x="3131984" y="5229020"/>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71" name="Freeform 42">
                  <a:extLst>
                    <a:ext uri="{FF2B5EF4-FFF2-40B4-BE49-F238E27FC236}">
                      <a16:creationId xmlns:a16="http://schemas.microsoft.com/office/drawing/2014/main" id="{FBB38169-3716-7FDF-DEBE-E1BE1E888062}"/>
                    </a:ext>
                  </a:extLst>
                </p:cNvPr>
                <p:cNvSpPr>
                  <a:spLocks/>
                </p:cNvSpPr>
                <p:nvPr/>
              </p:nvSpPr>
              <p:spPr bwMode="auto">
                <a:xfrm>
                  <a:off x="3131984" y="526733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72" name="Freeform 42">
                  <a:extLst>
                    <a:ext uri="{FF2B5EF4-FFF2-40B4-BE49-F238E27FC236}">
                      <a16:creationId xmlns:a16="http://schemas.microsoft.com/office/drawing/2014/main" id="{CAEA60D9-BEE2-82C9-F728-DBDAA56C4BCF}"/>
                    </a:ext>
                  </a:extLst>
                </p:cNvPr>
                <p:cNvSpPr>
                  <a:spLocks/>
                </p:cNvSpPr>
                <p:nvPr/>
              </p:nvSpPr>
              <p:spPr bwMode="auto">
                <a:xfrm>
                  <a:off x="3131984" y="5303797"/>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sp>
              <p:nvSpPr>
                <p:cNvPr id="73" name="Freeform 42">
                  <a:extLst>
                    <a:ext uri="{FF2B5EF4-FFF2-40B4-BE49-F238E27FC236}">
                      <a16:creationId xmlns:a16="http://schemas.microsoft.com/office/drawing/2014/main" id="{B0FCB6A0-E86E-383B-BCD8-4908A4BC4BA2}"/>
                    </a:ext>
                  </a:extLst>
                </p:cNvPr>
                <p:cNvSpPr>
                  <a:spLocks/>
                </p:cNvSpPr>
                <p:nvPr/>
              </p:nvSpPr>
              <p:spPr bwMode="auto">
                <a:xfrm flipV="1">
                  <a:off x="3131984" y="5191944"/>
                  <a:ext cx="270003" cy="90001"/>
                </a:xfrm>
                <a:custGeom>
                  <a:avLst/>
                  <a:gdLst>
                    <a:gd name="T0" fmla="*/ 3025 w 5991"/>
                    <a:gd name="T1" fmla="*/ 3393 h 3396"/>
                    <a:gd name="T2" fmla="*/ 3330 w 5991"/>
                    <a:gd name="T3" fmla="*/ 3377 h 3396"/>
                    <a:gd name="T4" fmla="*/ 3627 w 5991"/>
                    <a:gd name="T5" fmla="*/ 3342 h 3396"/>
                    <a:gd name="T6" fmla="*/ 3916 w 5991"/>
                    <a:gd name="T7" fmla="*/ 3293 h 3396"/>
                    <a:gd name="T8" fmla="*/ 4193 w 5991"/>
                    <a:gd name="T9" fmla="*/ 3228 h 3396"/>
                    <a:gd name="T10" fmla="*/ 4458 w 5991"/>
                    <a:gd name="T11" fmla="*/ 3150 h 3396"/>
                    <a:gd name="T12" fmla="*/ 4708 w 5991"/>
                    <a:gd name="T13" fmla="*/ 3059 h 3396"/>
                    <a:gd name="T14" fmla="*/ 4941 w 5991"/>
                    <a:gd name="T15" fmla="*/ 2955 h 3396"/>
                    <a:gd name="T16" fmla="*/ 5157 w 5991"/>
                    <a:gd name="T17" fmla="*/ 2839 h 3396"/>
                    <a:gd name="T18" fmla="*/ 5350 w 5991"/>
                    <a:gd name="T19" fmla="*/ 2714 h 3396"/>
                    <a:gd name="T20" fmla="*/ 5523 w 5991"/>
                    <a:gd name="T21" fmla="*/ 2578 h 3396"/>
                    <a:gd name="T22" fmla="*/ 5671 w 5991"/>
                    <a:gd name="T23" fmla="*/ 2434 h 3396"/>
                    <a:gd name="T24" fmla="*/ 5794 w 5991"/>
                    <a:gd name="T25" fmla="*/ 2282 h 3396"/>
                    <a:gd name="T26" fmla="*/ 5889 w 5991"/>
                    <a:gd name="T27" fmla="*/ 2123 h 3396"/>
                    <a:gd name="T28" fmla="*/ 5953 w 5991"/>
                    <a:gd name="T29" fmla="*/ 1956 h 3396"/>
                    <a:gd name="T30" fmla="*/ 5986 w 5991"/>
                    <a:gd name="T31" fmla="*/ 1786 h 3396"/>
                    <a:gd name="T32" fmla="*/ 5990 w 5991"/>
                    <a:gd name="T33" fmla="*/ 1654 h 3396"/>
                    <a:gd name="T34" fmla="*/ 5964 w 5991"/>
                    <a:gd name="T35" fmla="*/ 1482 h 3396"/>
                    <a:gd name="T36" fmla="*/ 5908 w 5991"/>
                    <a:gd name="T37" fmla="*/ 1315 h 3396"/>
                    <a:gd name="T38" fmla="*/ 5819 w 5991"/>
                    <a:gd name="T39" fmla="*/ 1154 h 3396"/>
                    <a:gd name="T40" fmla="*/ 5704 w 5991"/>
                    <a:gd name="T41" fmla="*/ 1000 h 3396"/>
                    <a:gd name="T42" fmla="*/ 5563 w 5991"/>
                    <a:gd name="T43" fmla="*/ 852 h 3396"/>
                    <a:gd name="T44" fmla="*/ 5396 w 5991"/>
                    <a:gd name="T45" fmla="*/ 715 h 3396"/>
                    <a:gd name="T46" fmla="*/ 5207 w 5991"/>
                    <a:gd name="T47" fmla="*/ 587 h 3396"/>
                    <a:gd name="T48" fmla="*/ 4996 w 5991"/>
                    <a:gd name="T49" fmla="*/ 469 h 3396"/>
                    <a:gd name="T50" fmla="*/ 4768 w 5991"/>
                    <a:gd name="T51" fmla="*/ 363 h 3396"/>
                    <a:gd name="T52" fmla="*/ 4522 w 5991"/>
                    <a:gd name="T53" fmla="*/ 268 h 3396"/>
                    <a:gd name="T54" fmla="*/ 4261 w 5991"/>
                    <a:gd name="T55" fmla="*/ 186 h 3396"/>
                    <a:gd name="T56" fmla="*/ 3986 w 5991"/>
                    <a:gd name="T57" fmla="*/ 118 h 3396"/>
                    <a:gd name="T58" fmla="*/ 3700 w 5991"/>
                    <a:gd name="T59" fmla="*/ 65 h 3396"/>
                    <a:gd name="T60" fmla="*/ 3404 w 5991"/>
                    <a:gd name="T61" fmla="*/ 27 h 3396"/>
                    <a:gd name="T62" fmla="*/ 3102 w 5991"/>
                    <a:gd name="T63" fmla="*/ 5 h 3396"/>
                    <a:gd name="T64" fmla="*/ 2870 w 5991"/>
                    <a:gd name="T65" fmla="*/ 0 h 3396"/>
                    <a:gd name="T66" fmla="*/ 2272 w 5991"/>
                    <a:gd name="T67" fmla="*/ 20 h 3396"/>
                    <a:gd name="T68" fmla="*/ 1724 w 5991"/>
                    <a:gd name="T69" fmla="*/ 79 h 3396"/>
                    <a:gd name="T70" fmla="*/ 1235 w 5991"/>
                    <a:gd name="T71" fmla="*/ 170 h 3396"/>
                    <a:gd name="T72" fmla="*/ 862 w 5991"/>
                    <a:gd name="T73" fmla="*/ 276 h 3396"/>
                    <a:gd name="T74" fmla="*/ 677 w 5991"/>
                    <a:gd name="T75" fmla="*/ 345 h 3396"/>
                    <a:gd name="T76" fmla="*/ 510 w 5991"/>
                    <a:gd name="T77" fmla="*/ 420 h 3396"/>
                    <a:gd name="T78" fmla="*/ 365 w 5991"/>
                    <a:gd name="T79" fmla="*/ 502 h 3396"/>
                    <a:gd name="T80" fmla="*/ 242 w 5991"/>
                    <a:gd name="T81" fmla="*/ 588 h 3396"/>
                    <a:gd name="T82" fmla="*/ 143 w 5991"/>
                    <a:gd name="T83" fmla="*/ 678 h 3396"/>
                    <a:gd name="T84" fmla="*/ 69 w 5991"/>
                    <a:gd name="T85" fmla="*/ 773 h 3396"/>
                    <a:gd name="T86" fmla="*/ 21 w 5991"/>
                    <a:gd name="T87" fmla="*/ 872 h 3396"/>
                    <a:gd name="T88" fmla="*/ 0 w 5991"/>
                    <a:gd name="T89" fmla="*/ 973 h 3396"/>
                    <a:gd name="T90" fmla="*/ 2 w 5991"/>
                    <a:gd name="T91" fmla="*/ 1050 h 3396"/>
                    <a:gd name="T92" fmla="*/ 30 w 5991"/>
                    <a:gd name="T93" fmla="*/ 1151 h 3396"/>
                    <a:gd name="T94" fmla="*/ 86 w 5991"/>
                    <a:gd name="T95" fmla="*/ 1249 h 3396"/>
                    <a:gd name="T96" fmla="*/ 166 w 5991"/>
                    <a:gd name="T97" fmla="*/ 1342 h 3396"/>
                    <a:gd name="T98" fmla="*/ 270 w 5991"/>
                    <a:gd name="T99" fmla="*/ 1432 h 3396"/>
                    <a:gd name="T100" fmla="*/ 398 w 5991"/>
                    <a:gd name="T101" fmla="*/ 1517 h 3396"/>
                    <a:gd name="T102" fmla="*/ 550 w 5991"/>
                    <a:gd name="T103" fmla="*/ 1596 h 3396"/>
                    <a:gd name="T104" fmla="*/ 721 w 5991"/>
                    <a:gd name="T105" fmla="*/ 1670 h 3396"/>
                    <a:gd name="T106" fmla="*/ 912 w 5991"/>
                    <a:gd name="T107" fmla="*/ 1738 h 3396"/>
                    <a:gd name="T108" fmla="*/ 1351 w 5991"/>
                    <a:gd name="T109" fmla="*/ 1854 h 3396"/>
                    <a:gd name="T110" fmla="*/ 1856 w 5991"/>
                    <a:gd name="T111" fmla="*/ 1937 h 3396"/>
                    <a:gd name="T112" fmla="*/ 2417 w 5991"/>
                    <a:gd name="T113" fmla="*/ 1986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91" h="3396">
                      <a:moveTo>
                        <a:pt x="2870" y="3396"/>
                      </a:moveTo>
                      <a:lnTo>
                        <a:pt x="2870" y="3396"/>
                      </a:lnTo>
                      <a:lnTo>
                        <a:pt x="2948" y="3395"/>
                      </a:lnTo>
                      <a:lnTo>
                        <a:pt x="3025" y="3393"/>
                      </a:lnTo>
                      <a:lnTo>
                        <a:pt x="3102" y="3391"/>
                      </a:lnTo>
                      <a:lnTo>
                        <a:pt x="3179" y="3387"/>
                      </a:lnTo>
                      <a:lnTo>
                        <a:pt x="3254" y="3382"/>
                      </a:lnTo>
                      <a:lnTo>
                        <a:pt x="3330" y="3377"/>
                      </a:lnTo>
                      <a:lnTo>
                        <a:pt x="3404" y="3369"/>
                      </a:lnTo>
                      <a:lnTo>
                        <a:pt x="3480" y="3361"/>
                      </a:lnTo>
                      <a:lnTo>
                        <a:pt x="3553" y="3352"/>
                      </a:lnTo>
                      <a:lnTo>
                        <a:pt x="3627" y="3342"/>
                      </a:lnTo>
                      <a:lnTo>
                        <a:pt x="3700" y="3332"/>
                      </a:lnTo>
                      <a:lnTo>
                        <a:pt x="3772" y="3319"/>
                      </a:lnTo>
                      <a:lnTo>
                        <a:pt x="3844" y="3306"/>
                      </a:lnTo>
                      <a:lnTo>
                        <a:pt x="3916" y="3293"/>
                      </a:lnTo>
                      <a:lnTo>
                        <a:pt x="3986" y="3278"/>
                      </a:lnTo>
                      <a:lnTo>
                        <a:pt x="4056" y="3262"/>
                      </a:lnTo>
                      <a:lnTo>
                        <a:pt x="4125" y="3246"/>
                      </a:lnTo>
                      <a:lnTo>
                        <a:pt x="4193" y="3228"/>
                      </a:lnTo>
                      <a:lnTo>
                        <a:pt x="4261" y="3210"/>
                      </a:lnTo>
                      <a:lnTo>
                        <a:pt x="4327" y="3191"/>
                      </a:lnTo>
                      <a:lnTo>
                        <a:pt x="4393" y="3170"/>
                      </a:lnTo>
                      <a:lnTo>
                        <a:pt x="4458" y="3150"/>
                      </a:lnTo>
                      <a:lnTo>
                        <a:pt x="4522" y="3128"/>
                      </a:lnTo>
                      <a:lnTo>
                        <a:pt x="4585" y="3106"/>
                      </a:lnTo>
                      <a:lnTo>
                        <a:pt x="4647" y="3083"/>
                      </a:lnTo>
                      <a:lnTo>
                        <a:pt x="4708" y="3059"/>
                      </a:lnTo>
                      <a:lnTo>
                        <a:pt x="4768" y="3033"/>
                      </a:lnTo>
                      <a:lnTo>
                        <a:pt x="4827" y="3009"/>
                      </a:lnTo>
                      <a:lnTo>
                        <a:pt x="4885" y="2982"/>
                      </a:lnTo>
                      <a:lnTo>
                        <a:pt x="4941" y="2955"/>
                      </a:lnTo>
                      <a:lnTo>
                        <a:pt x="4996" y="2927"/>
                      </a:lnTo>
                      <a:lnTo>
                        <a:pt x="5052" y="2898"/>
                      </a:lnTo>
                      <a:lnTo>
                        <a:pt x="5104" y="2869"/>
                      </a:lnTo>
                      <a:lnTo>
                        <a:pt x="5157" y="2839"/>
                      </a:lnTo>
                      <a:lnTo>
                        <a:pt x="5207" y="2809"/>
                      </a:lnTo>
                      <a:lnTo>
                        <a:pt x="5255" y="2778"/>
                      </a:lnTo>
                      <a:lnTo>
                        <a:pt x="5304" y="2746"/>
                      </a:lnTo>
                      <a:lnTo>
                        <a:pt x="5350" y="2714"/>
                      </a:lnTo>
                      <a:lnTo>
                        <a:pt x="5396" y="2680"/>
                      </a:lnTo>
                      <a:lnTo>
                        <a:pt x="5440" y="2647"/>
                      </a:lnTo>
                      <a:lnTo>
                        <a:pt x="5482" y="2613"/>
                      </a:lnTo>
                      <a:lnTo>
                        <a:pt x="5523" y="2578"/>
                      </a:lnTo>
                      <a:lnTo>
                        <a:pt x="5563" y="2543"/>
                      </a:lnTo>
                      <a:lnTo>
                        <a:pt x="5600" y="2507"/>
                      </a:lnTo>
                      <a:lnTo>
                        <a:pt x="5636" y="2470"/>
                      </a:lnTo>
                      <a:lnTo>
                        <a:pt x="5671" y="2434"/>
                      </a:lnTo>
                      <a:lnTo>
                        <a:pt x="5704" y="2397"/>
                      </a:lnTo>
                      <a:lnTo>
                        <a:pt x="5736" y="2359"/>
                      </a:lnTo>
                      <a:lnTo>
                        <a:pt x="5766" y="2320"/>
                      </a:lnTo>
                      <a:lnTo>
                        <a:pt x="5794" y="2282"/>
                      </a:lnTo>
                      <a:lnTo>
                        <a:pt x="5819" y="2242"/>
                      </a:lnTo>
                      <a:lnTo>
                        <a:pt x="5845" y="2202"/>
                      </a:lnTo>
                      <a:lnTo>
                        <a:pt x="5867" y="2163"/>
                      </a:lnTo>
                      <a:lnTo>
                        <a:pt x="5889" y="2123"/>
                      </a:lnTo>
                      <a:lnTo>
                        <a:pt x="5908" y="2082"/>
                      </a:lnTo>
                      <a:lnTo>
                        <a:pt x="5925" y="2040"/>
                      </a:lnTo>
                      <a:lnTo>
                        <a:pt x="5940" y="1999"/>
                      </a:lnTo>
                      <a:lnTo>
                        <a:pt x="5953" y="1956"/>
                      </a:lnTo>
                      <a:lnTo>
                        <a:pt x="5964" y="1914"/>
                      </a:lnTo>
                      <a:lnTo>
                        <a:pt x="5973" y="1872"/>
                      </a:lnTo>
                      <a:lnTo>
                        <a:pt x="5981" y="1828"/>
                      </a:lnTo>
                      <a:lnTo>
                        <a:pt x="5986" y="1786"/>
                      </a:lnTo>
                      <a:lnTo>
                        <a:pt x="5990" y="1742"/>
                      </a:lnTo>
                      <a:lnTo>
                        <a:pt x="5991" y="1699"/>
                      </a:lnTo>
                      <a:lnTo>
                        <a:pt x="5991" y="1699"/>
                      </a:lnTo>
                      <a:lnTo>
                        <a:pt x="5990" y="1654"/>
                      </a:lnTo>
                      <a:lnTo>
                        <a:pt x="5986" y="1610"/>
                      </a:lnTo>
                      <a:lnTo>
                        <a:pt x="5981" y="1568"/>
                      </a:lnTo>
                      <a:lnTo>
                        <a:pt x="5973" y="1524"/>
                      </a:lnTo>
                      <a:lnTo>
                        <a:pt x="5964" y="1482"/>
                      </a:lnTo>
                      <a:lnTo>
                        <a:pt x="5953" y="1440"/>
                      </a:lnTo>
                      <a:lnTo>
                        <a:pt x="5940" y="1397"/>
                      </a:lnTo>
                      <a:lnTo>
                        <a:pt x="5925" y="1356"/>
                      </a:lnTo>
                      <a:lnTo>
                        <a:pt x="5908" y="1315"/>
                      </a:lnTo>
                      <a:lnTo>
                        <a:pt x="5889" y="1274"/>
                      </a:lnTo>
                      <a:lnTo>
                        <a:pt x="5867" y="1233"/>
                      </a:lnTo>
                      <a:lnTo>
                        <a:pt x="5845" y="1193"/>
                      </a:lnTo>
                      <a:lnTo>
                        <a:pt x="5819" y="1154"/>
                      </a:lnTo>
                      <a:lnTo>
                        <a:pt x="5794" y="1114"/>
                      </a:lnTo>
                      <a:lnTo>
                        <a:pt x="5766" y="1076"/>
                      </a:lnTo>
                      <a:lnTo>
                        <a:pt x="5736" y="1037"/>
                      </a:lnTo>
                      <a:lnTo>
                        <a:pt x="5704" y="1000"/>
                      </a:lnTo>
                      <a:lnTo>
                        <a:pt x="5671" y="961"/>
                      </a:lnTo>
                      <a:lnTo>
                        <a:pt x="5636" y="926"/>
                      </a:lnTo>
                      <a:lnTo>
                        <a:pt x="5600" y="888"/>
                      </a:lnTo>
                      <a:lnTo>
                        <a:pt x="5563" y="852"/>
                      </a:lnTo>
                      <a:lnTo>
                        <a:pt x="5523" y="818"/>
                      </a:lnTo>
                      <a:lnTo>
                        <a:pt x="5482" y="783"/>
                      </a:lnTo>
                      <a:lnTo>
                        <a:pt x="5440" y="749"/>
                      </a:lnTo>
                      <a:lnTo>
                        <a:pt x="5396" y="715"/>
                      </a:lnTo>
                      <a:lnTo>
                        <a:pt x="5350" y="682"/>
                      </a:lnTo>
                      <a:lnTo>
                        <a:pt x="5304" y="650"/>
                      </a:lnTo>
                      <a:lnTo>
                        <a:pt x="5255" y="618"/>
                      </a:lnTo>
                      <a:lnTo>
                        <a:pt x="5207" y="587"/>
                      </a:lnTo>
                      <a:lnTo>
                        <a:pt x="5157" y="556"/>
                      </a:lnTo>
                      <a:lnTo>
                        <a:pt x="5104" y="527"/>
                      </a:lnTo>
                      <a:lnTo>
                        <a:pt x="5052" y="497"/>
                      </a:lnTo>
                      <a:lnTo>
                        <a:pt x="4996" y="469"/>
                      </a:lnTo>
                      <a:lnTo>
                        <a:pt x="4941" y="441"/>
                      </a:lnTo>
                      <a:lnTo>
                        <a:pt x="4885" y="414"/>
                      </a:lnTo>
                      <a:lnTo>
                        <a:pt x="4827" y="388"/>
                      </a:lnTo>
                      <a:lnTo>
                        <a:pt x="4768" y="363"/>
                      </a:lnTo>
                      <a:lnTo>
                        <a:pt x="4708" y="337"/>
                      </a:lnTo>
                      <a:lnTo>
                        <a:pt x="4647" y="314"/>
                      </a:lnTo>
                      <a:lnTo>
                        <a:pt x="4585" y="290"/>
                      </a:lnTo>
                      <a:lnTo>
                        <a:pt x="4522" y="268"/>
                      </a:lnTo>
                      <a:lnTo>
                        <a:pt x="4458" y="246"/>
                      </a:lnTo>
                      <a:lnTo>
                        <a:pt x="4393" y="226"/>
                      </a:lnTo>
                      <a:lnTo>
                        <a:pt x="4327" y="205"/>
                      </a:lnTo>
                      <a:lnTo>
                        <a:pt x="4261" y="186"/>
                      </a:lnTo>
                      <a:lnTo>
                        <a:pt x="4193" y="168"/>
                      </a:lnTo>
                      <a:lnTo>
                        <a:pt x="4125" y="150"/>
                      </a:lnTo>
                      <a:lnTo>
                        <a:pt x="4056" y="133"/>
                      </a:lnTo>
                      <a:lnTo>
                        <a:pt x="3986" y="118"/>
                      </a:lnTo>
                      <a:lnTo>
                        <a:pt x="3916" y="104"/>
                      </a:lnTo>
                      <a:lnTo>
                        <a:pt x="3844" y="90"/>
                      </a:lnTo>
                      <a:lnTo>
                        <a:pt x="3772" y="77"/>
                      </a:lnTo>
                      <a:lnTo>
                        <a:pt x="3700" y="65"/>
                      </a:lnTo>
                      <a:lnTo>
                        <a:pt x="3627" y="54"/>
                      </a:lnTo>
                      <a:lnTo>
                        <a:pt x="3553" y="44"/>
                      </a:lnTo>
                      <a:lnTo>
                        <a:pt x="3480" y="35"/>
                      </a:lnTo>
                      <a:lnTo>
                        <a:pt x="3404" y="27"/>
                      </a:lnTo>
                      <a:lnTo>
                        <a:pt x="3330" y="20"/>
                      </a:lnTo>
                      <a:lnTo>
                        <a:pt x="3254" y="14"/>
                      </a:lnTo>
                      <a:lnTo>
                        <a:pt x="3179" y="9"/>
                      </a:lnTo>
                      <a:lnTo>
                        <a:pt x="3102" y="5"/>
                      </a:lnTo>
                      <a:lnTo>
                        <a:pt x="3025" y="3"/>
                      </a:lnTo>
                      <a:lnTo>
                        <a:pt x="2948" y="1"/>
                      </a:lnTo>
                      <a:lnTo>
                        <a:pt x="2870" y="0"/>
                      </a:lnTo>
                      <a:lnTo>
                        <a:pt x="2870" y="0"/>
                      </a:lnTo>
                      <a:lnTo>
                        <a:pt x="2716" y="1"/>
                      </a:lnTo>
                      <a:lnTo>
                        <a:pt x="2566" y="5"/>
                      </a:lnTo>
                      <a:lnTo>
                        <a:pt x="2417" y="12"/>
                      </a:lnTo>
                      <a:lnTo>
                        <a:pt x="2272" y="20"/>
                      </a:lnTo>
                      <a:lnTo>
                        <a:pt x="2130" y="32"/>
                      </a:lnTo>
                      <a:lnTo>
                        <a:pt x="1990" y="45"/>
                      </a:lnTo>
                      <a:lnTo>
                        <a:pt x="1856" y="62"/>
                      </a:lnTo>
                      <a:lnTo>
                        <a:pt x="1724" y="79"/>
                      </a:lnTo>
                      <a:lnTo>
                        <a:pt x="1596" y="99"/>
                      </a:lnTo>
                      <a:lnTo>
                        <a:pt x="1471" y="120"/>
                      </a:lnTo>
                      <a:lnTo>
                        <a:pt x="1351" y="145"/>
                      </a:lnTo>
                      <a:lnTo>
                        <a:pt x="1235" y="170"/>
                      </a:lnTo>
                      <a:lnTo>
                        <a:pt x="1123" y="199"/>
                      </a:lnTo>
                      <a:lnTo>
                        <a:pt x="1015" y="228"/>
                      </a:lnTo>
                      <a:lnTo>
                        <a:pt x="912" y="260"/>
                      </a:lnTo>
                      <a:lnTo>
                        <a:pt x="862" y="276"/>
                      </a:lnTo>
                      <a:lnTo>
                        <a:pt x="815" y="292"/>
                      </a:lnTo>
                      <a:lnTo>
                        <a:pt x="768" y="310"/>
                      </a:lnTo>
                      <a:lnTo>
                        <a:pt x="721" y="328"/>
                      </a:lnTo>
                      <a:lnTo>
                        <a:pt x="677" y="345"/>
                      </a:lnTo>
                      <a:lnTo>
                        <a:pt x="633" y="364"/>
                      </a:lnTo>
                      <a:lnTo>
                        <a:pt x="591" y="382"/>
                      </a:lnTo>
                      <a:lnTo>
                        <a:pt x="550" y="401"/>
                      </a:lnTo>
                      <a:lnTo>
                        <a:pt x="510" y="420"/>
                      </a:lnTo>
                      <a:lnTo>
                        <a:pt x="471" y="441"/>
                      </a:lnTo>
                      <a:lnTo>
                        <a:pt x="434" y="460"/>
                      </a:lnTo>
                      <a:lnTo>
                        <a:pt x="398" y="481"/>
                      </a:lnTo>
                      <a:lnTo>
                        <a:pt x="365" y="502"/>
                      </a:lnTo>
                      <a:lnTo>
                        <a:pt x="332" y="523"/>
                      </a:lnTo>
                      <a:lnTo>
                        <a:pt x="301" y="545"/>
                      </a:lnTo>
                      <a:lnTo>
                        <a:pt x="270" y="567"/>
                      </a:lnTo>
                      <a:lnTo>
                        <a:pt x="242" y="588"/>
                      </a:lnTo>
                      <a:lnTo>
                        <a:pt x="215" y="610"/>
                      </a:lnTo>
                      <a:lnTo>
                        <a:pt x="189" y="633"/>
                      </a:lnTo>
                      <a:lnTo>
                        <a:pt x="166" y="655"/>
                      </a:lnTo>
                      <a:lnTo>
                        <a:pt x="143" y="678"/>
                      </a:lnTo>
                      <a:lnTo>
                        <a:pt x="123" y="702"/>
                      </a:lnTo>
                      <a:lnTo>
                        <a:pt x="104" y="726"/>
                      </a:lnTo>
                      <a:lnTo>
                        <a:pt x="86" y="750"/>
                      </a:lnTo>
                      <a:lnTo>
                        <a:pt x="69" y="773"/>
                      </a:lnTo>
                      <a:lnTo>
                        <a:pt x="55" y="797"/>
                      </a:lnTo>
                      <a:lnTo>
                        <a:pt x="42" y="822"/>
                      </a:lnTo>
                      <a:lnTo>
                        <a:pt x="30" y="847"/>
                      </a:lnTo>
                      <a:lnTo>
                        <a:pt x="21" y="872"/>
                      </a:lnTo>
                      <a:lnTo>
                        <a:pt x="14" y="897"/>
                      </a:lnTo>
                      <a:lnTo>
                        <a:pt x="7" y="922"/>
                      </a:lnTo>
                      <a:lnTo>
                        <a:pt x="2" y="947"/>
                      </a:lnTo>
                      <a:lnTo>
                        <a:pt x="0" y="973"/>
                      </a:lnTo>
                      <a:lnTo>
                        <a:pt x="0" y="999"/>
                      </a:lnTo>
                      <a:lnTo>
                        <a:pt x="0" y="999"/>
                      </a:lnTo>
                      <a:lnTo>
                        <a:pt x="0" y="1024"/>
                      </a:lnTo>
                      <a:lnTo>
                        <a:pt x="2" y="1050"/>
                      </a:lnTo>
                      <a:lnTo>
                        <a:pt x="7" y="1076"/>
                      </a:lnTo>
                      <a:lnTo>
                        <a:pt x="14" y="1101"/>
                      </a:lnTo>
                      <a:lnTo>
                        <a:pt x="21" y="1127"/>
                      </a:lnTo>
                      <a:lnTo>
                        <a:pt x="30" y="1151"/>
                      </a:lnTo>
                      <a:lnTo>
                        <a:pt x="42" y="1176"/>
                      </a:lnTo>
                      <a:lnTo>
                        <a:pt x="55" y="1200"/>
                      </a:lnTo>
                      <a:lnTo>
                        <a:pt x="69" y="1224"/>
                      </a:lnTo>
                      <a:lnTo>
                        <a:pt x="86" y="1249"/>
                      </a:lnTo>
                      <a:lnTo>
                        <a:pt x="104" y="1273"/>
                      </a:lnTo>
                      <a:lnTo>
                        <a:pt x="123" y="1296"/>
                      </a:lnTo>
                      <a:lnTo>
                        <a:pt x="143" y="1319"/>
                      </a:lnTo>
                      <a:lnTo>
                        <a:pt x="166" y="1342"/>
                      </a:lnTo>
                      <a:lnTo>
                        <a:pt x="189" y="1365"/>
                      </a:lnTo>
                      <a:lnTo>
                        <a:pt x="215" y="1388"/>
                      </a:lnTo>
                      <a:lnTo>
                        <a:pt x="242" y="1410"/>
                      </a:lnTo>
                      <a:lnTo>
                        <a:pt x="270" y="1432"/>
                      </a:lnTo>
                      <a:lnTo>
                        <a:pt x="301" y="1454"/>
                      </a:lnTo>
                      <a:lnTo>
                        <a:pt x="332" y="1475"/>
                      </a:lnTo>
                      <a:lnTo>
                        <a:pt x="365" y="1496"/>
                      </a:lnTo>
                      <a:lnTo>
                        <a:pt x="398" y="1517"/>
                      </a:lnTo>
                      <a:lnTo>
                        <a:pt x="434" y="1537"/>
                      </a:lnTo>
                      <a:lnTo>
                        <a:pt x="471" y="1558"/>
                      </a:lnTo>
                      <a:lnTo>
                        <a:pt x="510" y="1577"/>
                      </a:lnTo>
                      <a:lnTo>
                        <a:pt x="550" y="1596"/>
                      </a:lnTo>
                      <a:lnTo>
                        <a:pt x="591" y="1615"/>
                      </a:lnTo>
                      <a:lnTo>
                        <a:pt x="633" y="1634"/>
                      </a:lnTo>
                      <a:lnTo>
                        <a:pt x="677" y="1652"/>
                      </a:lnTo>
                      <a:lnTo>
                        <a:pt x="721" y="1670"/>
                      </a:lnTo>
                      <a:lnTo>
                        <a:pt x="768" y="1688"/>
                      </a:lnTo>
                      <a:lnTo>
                        <a:pt x="815" y="1705"/>
                      </a:lnTo>
                      <a:lnTo>
                        <a:pt x="862" y="1722"/>
                      </a:lnTo>
                      <a:lnTo>
                        <a:pt x="912" y="1738"/>
                      </a:lnTo>
                      <a:lnTo>
                        <a:pt x="1015" y="1769"/>
                      </a:lnTo>
                      <a:lnTo>
                        <a:pt x="1123" y="1800"/>
                      </a:lnTo>
                      <a:lnTo>
                        <a:pt x="1235" y="1827"/>
                      </a:lnTo>
                      <a:lnTo>
                        <a:pt x="1351" y="1854"/>
                      </a:lnTo>
                      <a:lnTo>
                        <a:pt x="1471" y="1877"/>
                      </a:lnTo>
                      <a:lnTo>
                        <a:pt x="1596" y="1899"/>
                      </a:lnTo>
                      <a:lnTo>
                        <a:pt x="1724" y="1919"/>
                      </a:lnTo>
                      <a:lnTo>
                        <a:pt x="1856" y="1937"/>
                      </a:lnTo>
                      <a:lnTo>
                        <a:pt x="1990" y="1952"/>
                      </a:lnTo>
                      <a:lnTo>
                        <a:pt x="2130" y="1966"/>
                      </a:lnTo>
                      <a:lnTo>
                        <a:pt x="2272" y="1977"/>
                      </a:lnTo>
                      <a:lnTo>
                        <a:pt x="2417" y="1986"/>
                      </a:lnTo>
                      <a:lnTo>
                        <a:pt x="2566" y="1992"/>
                      </a:lnTo>
                      <a:lnTo>
                        <a:pt x="2716" y="1996"/>
                      </a:lnTo>
                      <a:lnTo>
                        <a:pt x="2870" y="19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en-US"/>
                  </a:defPPr>
                  <a:lvl1pPr marL="0" algn="l" defTabSz="478093" rtl="0" eaLnBrk="1" latinLnBrk="0" hangingPunct="1">
                    <a:defRPr sz="1883" kern="1200">
                      <a:solidFill>
                        <a:schemeClr val="tx1"/>
                      </a:solidFill>
                      <a:latin typeface="+mn-lt"/>
                      <a:ea typeface="+mn-ea"/>
                      <a:cs typeface="+mn-cs"/>
                    </a:defRPr>
                  </a:lvl1pPr>
                  <a:lvl2pPr marL="478093" algn="l" defTabSz="478093" rtl="0" eaLnBrk="1" latinLnBrk="0" hangingPunct="1">
                    <a:defRPr sz="1883" kern="1200">
                      <a:solidFill>
                        <a:schemeClr val="tx1"/>
                      </a:solidFill>
                      <a:latin typeface="+mn-lt"/>
                      <a:ea typeface="+mn-ea"/>
                      <a:cs typeface="+mn-cs"/>
                    </a:defRPr>
                  </a:lvl2pPr>
                  <a:lvl3pPr marL="956184" algn="l" defTabSz="478093" rtl="0" eaLnBrk="1" latinLnBrk="0" hangingPunct="1">
                    <a:defRPr sz="1883" kern="1200">
                      <a:solidFill>
                        <a:schemeClr val="tx1"/>
                      </a:solidFill>
                      <a:latin typeface="+mn-lt"/>
                      <a:ea typeface="+mn-ea"/>
                      <a:cs typeface="+mn-cs"/>
                    </a:defRPr>
                  </a:lvl3pPr>
                  <a:lvl4pPr marL="1434277" algn="l" defTabSz="478093" rtl="0" eaLnBrk="1" latinLnBrk="0" hangingPunct="1">
                    <a:defRPr sz="1883" kern="1200">
                      <a:solidFill>
                        <a:schemeClr val="tx1"/>
                      </a:solidFill>
                      <a:latin typeface="+mn-lt"/>
                      <a:ea typeface="+mn-ea"/>
                      <a:cs typeface="+mn-cs"/>
                    </a:defRPr>
                  </a:lvl4pPr>
                  <a:lvl5pPr marL="1912370" algn="l" defTabSz="478093" rtl="0" eaLnBrk="1" latinLnBrk="0" hangingPunct="1">
                    <a:defRPr sz="1883" kern="1200">
                      <a:solidFill>
                        <a:schemeClr val="tx1"/>
                      </a:solidFill>
                      <a:latin typeface="+mn-lt"/>
                      <a:ea typeface="+mn-ea"/>
                      <a:cs typeface="+mn-cs"/>
                    </a:defRPr>
                  </a:lvl5pPr>
                  <a:lvl6pPr marL="2390462" algn="l" defTabSz="478093" rtl="0" eaLnBrk="1" latinLnBrk="0" hangingPunct="1">
                    <a:defRPr sz="1883" kern="1200">
                      <a:solidFill>
                        <a:schemeClr val="tx1"/>
                      </a:solidFill>
                      <a:latin typeface="+mn-lt"/>
                      <a:ea typeface="+mn-ea"/>
                      <a:cs typeface="+mn-cs"/>
                    </a:defRPr>
                  </a:lvl6pPr>
                  <a:lvl7pPr marL="2868554" algn="l" defTabSz="478093" rtl="0" eaLnBrk="1" latinLnBrk="0" hangingPunct="1">
                    <a:defRPr sz="1883" kern="1200">
                      <a:solidFill>
                        <a:schemeClr val="tx1"/>
                      </a:solidFill>
                      <a:latin typeface="+mn-lt"/>
                      <a:ea typeface="+mn-ea"/>
                      <a:cs typeface="+mn-cs"/>
                    </a:defRPr>
                  </a:lvl7pPr>
                  <a:lvl8pPr marL="3346646" algn="l" defTabSz="478093" rtl="0" eaLnBrk="1" latinLnBrk="0" hangingPunct="1">
                    <a:defRPr sz="1883" kern="1200">
                      <a:solidFill>
                        <a:schemeClr val="tx1"/>
                      </a:solidFill>
                      <a:latin typeface="+mn-lt"/>
                      <a:ea typeface="+mn-ea"/>
                      <a:cs typeface="+mn-cs"/>
                    </a:defRPr>
                  </a:lvl8pPr>
                  <a:lvl9pPr marL="3824739" algn="l" defTabSz="478093" rtl="0" eaLnBrk="1" latinLnBrk="0" hangingPunct="1">
                    <a:defRPr sz="1883" kern="1200">
                      <a:solidFill>
                        <a:schemeClr val="tx1"/>
                      </a:solidFill>
                      <a:latin typeface="+mn-lt"/>
                      <a:ea typeface="+mn-ea"/>
                      <a:cs typeface="+mn-cs"/>
                    </a:defRPr>
                  </a:lvl9pPr>
                </a:lstStyle>
                <a:p>
                  <a:endParaRPr lang="ja-JP" altLang="en-US"/>
                </a:p>
              </p:txBody>
            </p:sp>
          </p:grpSp>
          <p:cxnSp>
            <p:nvCxnSpPr>
              <p:cNvPr id="68" name="直線コネクタ 67">
                <a:extLst>
                  <a:ext uri="{FF2B5EF4-FFF2-40B4-BE49-F238E27FC236}">
                    <a16:creationId xmlns:a16="http://schemas.microsoft.com/office/drawing/2014/main" id="{49933140-4272-E75E-78F7-71A1F85DD151}"/>
                  </a:ext>
                </a:extLst>
              </p:cNvPr>
              <p:cNvCxnSpPr>
                <a:cxnSpLocks/>
              </p:cNvCxnSpPr>
              <p:nvPr/>
            </p:nvCxnSpPr>
            <p:spPr>
              <a:xfrm>
                <a:off x="3221985" y="5049018"/>
                <a:ext cx="0" cy="9000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A9F2E190-7AEC-500E-1FB1-AB9BED051A21}"/>
                  </a:ext>
                </a:extLst>
              </p:cNvPr>
              <p:cNvCxnSpPr>
                <a:cxnSpLocks/>
              </p:cNvCxnSpPr>
              <p:nvPr/>
            </p:nvCxnSpPr>
            <p:spPr>
              <a:xfrm>
                <a:off x="3221985" y="5392898"/>
                <a:ext cx="0" cy="93176"/>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58" name="正方形/長方形 57">
              <a:extLst>
                <a:ext uri="{FF2B5EF4-FFF2-40B4-BE49-F238E27FC236}">
                  <a16:creationId xmlns:a16="http://schemas.microsoft.com/office/drawing/2014/main" id="{AAE58D24-CC23-D00A-7D14-E279A3F3BC83}"/>
                </a:ext>
              </a:extLst>
            </p:cNvPr>
            <p:cNvSpPr/>
            <p:nvPr/>
          </p:nvSpPr>
          <p:spPr bwMode="auto">
            <a:xfrm>
              <a:off x="5645995" y="1268976"/>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2400" dirty="0">
                  <a:solidFill>
                    <a:schemeClr val="accent6"/>
                  </a:solidFill>
                </a:rPr>
                <a:t>タンク（溜）</a:t>
              </a:r>
            </a:p>
          </p:txBody>
        </p:sp>
        <p:sp>
          <p:nvSpPr>
            <p:cNvPr id="59" name="正方形/長方形 58">
              <a:extLst>
                <a:ext uri="{FF2B5EF4-FFF2-40B4-BE49-F238E27FC236}">
                  <a16:creationId xmlns:a16="http://schemas.microsoft.com/office/drawing/2014/main" id="{9EDF99B5-F2C0-DF5F-C862-808048D7628F}"/>
                </a:ext>
              </a:extLst>
            </p:cNvPr>
            <p:cNvSpPr/>
            <p:nvPr/>
          </p:nvSpPr>
          <p:spPr bwMode="auto">
            <a:xfrm rot="5400000" flipH="1">
              <a:off x="5240990" y="2843992"/>
              <a:ext cx="90001" cy="180001"/>
            </a:xfrm>
            <a:prstGeom prst="rect">
              <a:avLst/>
            </a:prstGeom>
            <a:solidFill>
              <a:schemeClr val="accent6"/>
            </a:solidFill>
            <a:ln>
              <a:solidFill>
                <a:schemeClr val="accent6"/>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cxnSp>
          <p:nvCxnSpPr>
            <p:cNvPr id="60" name="直線コネクタ 59">
              <a:extLst>
                <a:ext uri="{FF2B5EF4-FFF2-40B4-BE49-F238E27FC236}">
                  <a16:creationId xmlns:a16="http://schemas.microsoft.com/office/drawing/2014/main" id="{63CE48E2-2FF6-00C3-EB03-8A02606CFE1E}"/>
                </a:ext>
              </a:extLst>
            </p:cNvPr>
            <p:cNvCxnSpPr>
              <a:cxnSpLocks/>
            </p:cNvCxnSpPr>
            <p:nvPr/>
          </p:nvCxnSpPr>
          <p:spPr bwMode="auto">
            <a:xfrm flipH="1">
              <a:off x="5375994" y="2708991"/>
              <a:ext cx="3" cy="180000"/>
            </a:xfrm>
            <a:prstGeom prst="line">
              <a:avLst/>
            </a:prstGeom>
            <a:noFill/>
            <a:ln w="19050" cap="rnd" cmpd="sng" algn="ctr">
              <a:solidFill>
                <a:schemeClr val="accent6"/>
              </a:solidFill>
              <a:prstDash val="sysDot"/>
              <a:round/>
              <a:headEnd type="none" w="med" len="med"/>
              <a:tailEnd type="none" w="med" len="med"/>
            </a:ln>
            <a:effectLst/>
          </p:spPr>
        </p:cxnSp>
        <p:cxnSp>
          <p:nvCxnSpPr>
            <p:cNvPr id="61" name="直線コネクタ 60">
              <a:extLst>
                <a:ext uri="{FF2B5EF4-FFF2-40B4-BE49-F238E27FC236}">
                  <a16:creationId xmlns:a16="http://schemas.microsoft.com/office/drawing/2014/main" id="{4FD207D9-B08A-E541-F4F7-5C511047BADC}"/>
                </a:ext>
              </a:extLst>
            </p:cNvPr>
            <p:cNvCxnSpPr>
              <a:cxnSpLocks/>
            </p:cNvCxnSpPr>
            <p:nvPr/>
          </p:nvCxnSpPr>
          <p:spPr bwMode="auto">
            <a:xfrm flipH="1">
              <a:off x="5195993" y="2708991"/>
              <a:ext cx="5" cy="180000"/>
            </a:xfrm>
            <a:prstGeom prst="line">
              <a:avLst/>
            </a:prstGeom>
            <a:noFill/>
            <a:ln w="19050" cap="rnd" cmpd="sng" algn="ctr">
              <a:solidFill>
                <a:schemeClr val="accent6"/>
              </a:solidFill>
              <a:prstDash val="sysDot"/>
              <a:round/>
              <a:headEnd type="none" w="med" len="med"/>
              <a:tailEnd type="none" w="med" len="med"/>
            </a:ln>
            <a:effectLst/>
          </p:spPr>
        </p:cxnSp>
        <p:sp>
          <p:nvSpPr>
            <p:cNvPr id="62" name="正方形/長方形 61">
              <a:extLst>
                <a:ext uri="{FF2B5EF4-FFF2-40B4-BE49-F238E27FC236}">
                  <a16:creationId xmlns:a16="http://schemas.microsoft.com/office/drawing/2014/main" id="{09730EF5-BD40-19FE-DC9C-7C1BC7F8E03C}"/>
                </a:ext>
              </a:extLst>
            </p:cNvPr>
            <p:cNvSpPr/>
            <p:nvPr/>
          </p:nvSpPr>
          <p:spPr bwMode="auto">
            <a:xfrm>
              <a:off x="5375994" y="2438989"/>
              <a:ext cx="720008" cy="720007"/>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r>
                <a:rPr lang="ja-JP" altLang="en-US" sz="1600" dirty="0">
                  <a:solidFill>
                    <a:schemeClr val="tx1">
                      <a:lumMod val="75000"/>
                      <a:lumOff val="25000"/>
                    </a:schemeClr>
                  </a:solidFill>
                </a:rPr>
                <a:t>栓が水の重みで</a:t>
              </a:r>
              <a:endParaRPr lang="en-US" altLang="ja-JP" sz="1600" dirty="0">
                <a:solidFill>
                  <a:schemeClr val="tx1">
                    <a:lumMod val="75000"/>
                    <a:lumOff val="25000"/>
                  </a:schemeClr>
                </a:solidFill>
              </a:endParaRPr>
            </a:p>
            <a:p>
              <a:r>
                <a:rPr lang="ja-JP" altLang="en-US" sz="1600" dirty="0">
                  <a:solidFill>
                    <a:schemeClr val="tx1">
                      <a:lumMod val="75000"/>
                      <a:lumOff val="25000"/>
                    </a:schemeClr>
                  </a:solidFill>
                </a:rPr>
                <a:t>降りて水が流れない</a:t>
              </a:r>
            </a:p>
          </p:txBody>
        </p:sp>
        <p:sp>
          <p:nvSpPr>
            <p:cNvPr id="63" name="Rectangle 93">
              <a:extLst>
                <a:ext uri="{FF2B5EF4-FFF2-40B4-BE49-F238E27FC236}">
                  <a16:creationId xmlns:a16="http://schemas.microsoft.com/office/drawing/2014/main" id="{5C523AA4-2FDD-D655-6FED-A2CF69397383}"/>
                </a:ext>
              </a:extLst>
            </p:cNvPr>
            <p:cNvSpPr>
              <a:spLocks noChangeArrowheads="1"/>
            </p:cNvSpPr>
            <p:nvPr/>
          </p:nvSpPr>
          <p:spPr bwMode="auto">
            <a:xfrm>
              <a:off x="5105990" y="1178975"/>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64" name="Rectangle 93">
              <a:extLst>
                <a:ext uri="{FF2B5EF4-FFF2-40B4-BE49-F238E27FC236}">
                  <a16:creationId xmlns:a16="http://schemas.microsoft.com/office/drawing/2014/main" id="{5BCB081E-A658-AC5D-9C96-94BD169CD045}"/>
                </a:ext>
              </a:extLst>
            </p:cNvPr>
            <p:cNvSpPr>
              <a:spLocks noChangeArrowheads="1"/>
            </p:cNvSpPr>
            <p:nvPr/>
          </p:nvSpPr>
          <p:spPr bwMode="auto">
            <a:xfrm>
              <a:off x="3845976" y="1988984"/>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65" name="Rectangle 93">
              <a:extLst>
                <a:ext uri="{FF2B5EF4-FFF2-40B4-BE49-F238E27FC236}">
                  <a16:creationId xmlns:a16="http://schemas.microsoft.com/office/drawing/2014/main" id="{457EBF64-5A2A-2629-8C15-5B35C890F300}"/>
                </a:ext>
              </a:extLst>
            </p:cNvPr>
            <p:cNvSpPr>
              <a:spLocks noChangeArrowheads="1"/>
            </p:cNvSpPr>
            <p:nvPr/>
          </p:nvSpPr>
          <p:spPr bwMode="auto">
            <a:xfrm>
              <a:off x="6456005" y="1988984"/>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66" name="直線矢印コネクタ 65">
              <a:extLst>
                <a:ext uri="{FF2B5EF4-FFF2-40B4-BE49-F238E27FC236}">
                  <a16:creationId xmlns:a16="http://schemas.microsoft.com/office/drawing/2014/main" id="{18C76266-A956-95D1-5CCC-79985F171AAA}"/>
                </a:ext>
              </a:extLst>
            </p:cNvPr>
            <p:cNvCxnSpPr>
              <a:cxnSpLocks/>
            </p:cNvCxnSpPr>
            <p:nvPr/>
          </p:nvCxnSpPr>
          <p:spPr bwMode="auto">
            <a:xfrm>
              <a:off x="5105989" y="3068995"/>
              <a:ext cx="0" cy="180002"/>
            </a:xfrm>
            <a:prstGeom prst="straightConnector1">
              <a:avLst/>
            </a:prstGeom>
            <a:noFill/>
            <a:ln w="9525" cap="flat" cmpd="sng" algn="ctr">
              <a:solidFill>
                <a:schemeClr val="tx1"/>
              </a:solidFill>
              <a:prstDash val="solid"/>
              <a:round/>
              <a:headEnd type="none" w="med" len="med"/>
              <a:tailEnd type="triangle"/>
            </a:ln>
            <a:effectLst/>
          </p:spPr>
        </p:cxnSp>
      </p:grpSp>
      <p:pic>
        <p:nvPicPr>
          <p:cNvPr id="74" name="図 73">
            <a:extLst>
              <a:ext uri="{FF2B5EF4-FFF2-40B4-BE49-F238E27FC236}">
                <a16:creationId xmlns:a16="http://schemas.microsoft.com/office/drawing/2014/main" id="{1B9FA4D6-B511-4371-30AA-2D1AE1B5F22B}"/>
              </a:ext>
            </a:extLst>
          </p:cNvPr>
          <p:cNvPicPr>
            <a:picLocks noChangeAspect="1"/>
          </p:cNvPicPr>
          <p:nvPr/>
        </p:nvPicPr>
        <p:blipFill>
          <a:blip r:embed="rId2"/>
          <a:stretch>
            <a:fillRect/>
          </a:stretch>
        </p:blipFill>
        <p:spPr>
          <a:xfrm>
            <a:off x="7281994" y="908972"/>
            <a:ext cx="4877334" cy="3240036"/>
          </a:xfrm>
          <a:prstGeom prst="rect">
            <a:avLst/>
          </a:prstGeom>
        </p:spPr>
      </p:pic>
    </p:spTree>
    <p:extLst>
      <p:ext uri="{BB962C8B-B14F-4D97-AF65-F5344CB8AC3E}">
        <p14:creationId xmlns:p14="http://schemas.microsoft.com/office/powerpoint/2010/main" val="16018234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5F8D06-DE7E-C3E5-E654-708606CF543D}"/>
              </a:ext>
            </a:extLst>
          </p:cNvPr>
          <p:cNvSpPr>
            <a:spLocks noGrp="1"/>
          </p:cNvSpPr>
          <p:nvPr>
            <p:ph type="title"/>
          </p:nvPr>
        </p:nvSpPr>
        <p:spPr/>
        <p:txBody>
          <a:bodyPr/>
          <a:lstStyle/>
          <a:p>
            <a:r>
              <a:rPr lang="ja-JP" altLang="en-US" sz="3200" dirty="0">
                <a:latin typeface="+mn-ea"/>
              </a:rPr>
              <a:t>４～５回目 命令パイプライン</a:t>
            </a:r>
            <a:endParaRPr kumimoji="1" lang="ja-JP" altLang="en-US" sz="3200" dirty="0"/>
          </a:p>
        </p:txBody>
      </p:sp>
      <p:sp>
        <p:nvSpPr>
          <p:cNvPr id="3" name="テキスト プレースホルダー 2">
            <a:extLst>
              <a:ext uri="{FF2B5EF4-FFF2-40B4-BE49-F238E27FC236}">
                <a16:creationId xmlns:a16="http://schemas.microsoft.com/office/drawing/2014/main" id="{B2E93A32-B2D8-4170-0F15-A2A23B369FDF}"/>
              </a:ext>
            </a:extLst>
          </p:cNvPr>
          <p:cNvSpPr>
            <a:spLocks noGrp="1"/>
          </p:cNvSpPr>
          <p:nvPr>
            <p:ph type="body" sz="quarter" idx="10"/>
          </p:nvPr>
        </p:nvSpPr>
        <p:spPr>
          <a:xfrm>
            <a:off x="1775952" y="1088975"/>
            <a:ext cx="10080112" cy="1260014"/>
          </a:xfrm>
        </p:spPr>
        <p:txBody>
          <a:bodyPr/>
          <a:lstStyle/>
          <a:p>
            <a:r>
              <a:rPr kumimoji="1" lang="en-US" altLang="ja-JP" dirty="0"/>
              <a:t>CPU </a:t>
            </a:r>
            <a:r>
              <a:rPr kumimoji="1" lang="ja-JP" altLang="en-US" dirty="0"/>
              <a:t>や </a:t>
            </a:r>
            <a:r>
              <a:rPr kumimoji="1" lang="en-US" altLang="ja-JP" dirty="0"/>
              <a:t>GPU</a:t>
            </a:r>
            <a:r>
              <a:rPr lang="ja-JP" altLang="en-US" dirty="0"/>
              <a:t> は工場の流れ作業のような方法でプログラムを実行している</a:t>
            </a:r>
            <a:endParaRPr kumimoji="1" lang="en-US" altLang="ja-JP" dirty="0"/>
          </a:p>
          <a:p>
            <a:pPr lvl="1"/>
            <a:r>
              <a:rPr kumimoji="1" lang="ja-JP" altLang="en-US" dirty="0"/>
              <a:t>カレーを効率よく流れ作業で作るのとおおよそ同じ</a:t>
            </a:r>
          </a:p>
        </p:txBody>
      </p:sp>
      <p:grpSp>
        <p:nvGrpSpPr>
          <p:cNvPr id="4" name="グループ化 3">
            <a:extLst>
              <a:ext uri="{FF2B5EF4-FFF2-40B4-BE49-F238E27FC236}">
                <a16:creationId xmlns:a16="http://schemas.microsoft.com/office/drawing/2014/main" id="{34E172BA-FA63-9BF1-DCEE-68B11DB45B87}"/>
              </a:ext>
            </a:extLst>
          </p:cNvPr>
          <p:cNvGrpSpPr/>
          <p:nvPr/>
        </p:nvGrpSpPr>
        <p:grpSpPr>
          <a:xfrm>
            <a:off x="4025977" y="5409022"/>
            <a:ext cx="1562400" cy="576064"/>
            <a:chOff x="971600" y="5445224"/>
            <a:chExt cx="7200800" cy="576064"/>
          </a:xfrm>
        </p:grpSpPr>
        <p:sp>
          <p:nvSpPr>
            <p:cNvPr id="5" name="平行四辺形 4">
              <a:extLst>
                <a:ext uri="{FF2B5EF4-FFF2-40B4-BE49-F238E27FC236}">
                  <a16:creationId xmlns:a16="http://schemas.microsoft.com/office/drawing/2014/main" id="{B9198E6F-4FE2-7118-D1A0-A3FE17C19554}"/>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a:extLst>
                <a:ext uri="{FF2B5EF4-FFF2-40B4-BE49-F238E27FC236}">
                  <a16:creationId xmlns:a16="http://schemas.microsoft.com/office/drawing/2014/main" id="{03634F43-164B-2E05-7D1C-234C21B3A699}"/>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a:extLst>
              <a:ext uri="{FF2B5EF4-FFF2-40B4-BE49-F238E27FC236}">
                <a16:creationId xmlns:a16="http://schemas.microsoft.com/office/drawing/2014/main" id="{5282F611-58D4-B50D-F0C3-BF6F0CBA5F78}"/>
              </a:ext>
            </a:extLst>
          </p:cNvPr>
          <p:cNvGrpSpPr/>
          <p:nvPr/>
        </p:nvGrpSpPr>
        <p:grpSpPr>
          <a:xfrm>
            <a:off x="5466137" y="5409022"/>
            <a:ext cx="1562400" cy="576064"/>
            <a:chOff x="971600" y="5445224"/>
            <a:chExt cx="7200800" cy="576064"/>
          </a:xfrm>
        </p:grpSpPr>
        <p:sp>
          <p:nvSpPr>
            <p:cNvPr id="8" name="平行四辺形 7">
              <a:extLst>
                <a:ext uri="{FF2B5EF4-FFF2-40B4-BE49-F238E27FC236}">
                  <a16:creationId xmlns:a16="http://schemas.microsoft.com/office/drawing/2014/main" id="{845AAA7E-2941-4956-9233-14FCE5B64430}"/>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a:extLst>
                <a:ext uri="{FF2B5EF4-FFF2-40B4-BE49-F238E27FC236}">
                  <a16:creationId xmlns:a16="http://schemas.microsoft.com/office/drawing/2014/main" id="{982A5884-B403-7D2A-5F2C-5A5A7A566913}"/>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a:extLst>
              <a:ext uri="{FF2B5EF4-FFF2-40B4-BE49-F238E27FC236}">
                <a16:creationId xmlns:a16="http://schemas.microsoft.com/office/drawing/2014/main" id="{4DD29E8A-E8D3-4225-5FA1-DB2F8E5DF6D0}"/>
              </a:ext>
            </a:extLst>
          </p:cNvPr>
          <p:cNvGrpSpPr/>
          <p:nvPr/>
        </p:nvGrpSpPr>
        <p:grpSpPr>
          <a:xfrm>
            <a:off x="6906297" y="5409022"/>
            <a:ext cx="1562400" cy="576064"/>
            <a:chOff x="971600" y="5445224"/>
            <a:chExt cx="7200800" cy="576064"/>
          </a:xfrm>
        </p:grpSpPr>
        <p:sp>
          <p:nvSpPr>
            <p:cNvPr id="11" name="平行四辺形 10">
              <a:extLst>
                <a:ext uri="{FF2B5EF4-FFF2-40B4-BE49-F238E27FC236}">
                  <a16:creationId xmlns:a16="http://schemas.microsoft.com/office/drawing/2014/main" id="{469F273D-2E75-8361-EA09-A44C28C3F1A0}"/>
                </a:ext>
              </a:extLst>
            </p:cNvPr>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a:extLst>
                <a:ext uri="{FF2B5EF4-FFF2-40B4-BE49-F238E27FC236}">
                  <a16:creationId xmlns:a16="http://schemas.microsoft.com/office/drawing/2014/main" id="{300C381A-A96B-00E4-F0BD-592F2ECB2F1A}"/>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a:extLst>
              <a:ext uri="{FF2B5EF4-FFF2-40B4-BE49-F238E27FC236}">
                <a16:creationId xmlns:a16="http://schemas.microsoft.com/office/drawing/2014/main" id="{C22B9119-9BC6-EFCF-21E3-F7E4E17C3B70}"/>
              </a:ext>
            </a:extLst>
          </p:cNvPr>
          <p:cNvGrpSpPr/>
          <p:nvPr/>
        </p:nvGrpSpPr>
        <p:grpSpPr>
          <a:xfrm>
            <a:off x="8346457" y="5409022"/>
            <a:ext cx="1584176" cy="576064"/>
            <a:chOff x="971600" y="5445224"/>
            <a:chExt cx="7200800" cy="576064"/>
          </a:xfrm>
        </p:grpSpPr>
        <p:sp>
          <p:nvSpPr>
            <p:cNvPr id="14" name="平行四辺形 13">
              <a:extLst>
                <a:ext uri="{FF2B5EF4-FFF2-40B4-BE49-F238E27FC236}">
                  <a16:creationId xmlns:a16="http://schemas.microsoft.com/office/drawing/2014/main" id="{050C7959-FCFC-9E78-DCBE-25F6FDD5E24B}"/>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a:extLst>
                <a:ext uri="{FF2B5EF4-FFF2-40B4-BE49-F238E27FC236}">
                  <a16:creationId xmlns:a16="http://schemas.microsoft.com/office/drawing/2014/main" id="{311358FB-5557-2611-CE02-1FA894DA16E9}"/>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a:extLst>
              <a:ext uri="{FF2B5EF4-FFF2-40B4-BE49-F238E27FC236}">
                <a16:creationId xmlns:a16="http://schemas.microsoft.com/office/drawing/2014/main" id="{93F25F56-60F6-FEAC-3481-1F9CFE25B688}"/>
              </a:ext>
            </a:extLst>
          </p:cNvPr>
          <p:cNvSpPr/>
          <p:nvPr/>
        </p:nvSpPr>
        <p:spPr>
          <a:xfrm>
            <a:off x="3987817" y="4544479"/>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a:extLst>
              <a:ext uri="{FF2B5EF4-FFF2-40B4-BE49-F238E27FC236}">
                <a16:creationId xmlns:a16="http://schemas.microsoft.com/office/drawing/2014/main" id="{B7F44392-0D77-F842-6BEC-31A79DB6E273}"/>
              </a:ext>
            </a:extLst>
          </p:cNvPr>
          <p:cNvSpPr/>
          <p:nvPr/>
        </p:nvSpPr>
        <p:spPr>
          <a:xfrm>
            <a:off x="5427977" y="4544479"/>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a:extLst>
              <a:ext uri="{FF2B5EF4-FFF2-40B4-BE49-F238E27FC236}">
                <a16:creationId xmlns:a16="http://schemas.microsoft.com/office/drawing/2014/main" id="{C4159BE9-A776-313C-18C4-74489499E6EE}"/>
              </a:ext>
            </a:extLst>
          </p:cNvPr>
          <p:cNvSpPr/>
          <p:nvPr/>
        </p:nvSpPr>
        <p:spPr>
          <a:xfrm>
            <a:off x="6870024" y="4563063"/>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a:extLst>
              <a:ext uri="{FF2B5EF4-FFF2-40B4-BE49-F238E27FC236}">
                <a16:creationId xmlns:a16="http://schemas.microsoft.com/office/drawing/2014/main" id="{B7D9463F-265D-1AE9-01E8-BF1E4D5F24A1}"/>
              </a:ext>
            </a:extLst>
          </p:cNvPr>
          <p:cNvSpPr/>
          <p:nvPr/>
        </p:nvSpPr>
        <p:spPr>
          <a:xfrm>
            <a:off x="8310184" y="4563063"/>
            <a:ext cx="937991" cy="738664"/>
          </a:xfrm>
          <a:prstGeom prst="rect">
            <a:avLst/>
          </a:prstGeom>
        </p:spPr>
        <p:txBody>
          <a:bodyPr wrap="square">
            <a:spAutoFit/>
          </a:bodyPr>
          <a:lstStyle/>
          <a:p>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7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cxnSp>
        <p:nvCxnSpPr>
          <p:cNvPr id="20" name="直線矢印コネクタ 19">
            <a:extLst>
              <a:ext uri="{FF2B5EF4-FFF2-40B4-BE49-F238E27FC236}">
                <a16:creationId xmlns:a16="http://schemas.microsoft.com/office/drawing/2014/main" id="{EBAAD116-9738-6814-A9AD-BC2535ACA2E0}"/>
              </a:ext>
            </a:extLst>
          </p:cNvPr>
          <p:cNvCxnSpPr/>
          <p:nvPr/>
        </p:nvCxnSpPr>
        <p:spPr bwMode="auto">
          <a:xfrm>
            <a:off x="4025977" y="6219031"/>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21" name="正方形/長方形 20">
            <a:extLst>
              <a:ext uri="{FF2B5EF4-FFF2-40B4-BE49-F238E27FC236}">
                <a16:creationId xmlns:a16="http://schemas.microsoft.com/office/drawing/2014/main" id="{81CCD94D-4215-00B0-23DB-7D5E81ECFE6C}"/>
              </a:ext>
            </a:extLst>
          </p:cNvPr>
          <p:cNvSpPr/>
          <p:nvPr/>
        </p:nvSpPr>
        <p:spPr bwMode="auto">
          <a:xfrm>
            <a:off x="2855964" y="3879005"/>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75000"/>
                    <a:lumOff val="25000"/>
                  </a:schemeClr>
                </a:solidFill>
              </a:rPr>
              <a:t>レシピ</a:t>
            </a:r>
          </a:p>
        </p:txBody>
      </p:sp>
      <p:sp>
        <p:nvSpPr>
          <p:cNvPr id="22" name="Freeform 25">
            <a:extLst>
              <a:ext uri="{FF2B5EF4-FFF2-40B4-BE49-F238E27FC236}">
                <a16:creationId xmlns:a16="http://schemas.microsoft.com/office/drawing/2014/main" id="{761C2B6B-FF9C-0FD9-C4E1-12B77163445C}"/>
              </a:ext>
            </a:extLst>
          </p:cNvPr>
          <p:cNvSpPr>
            <a:spLocks/>
          </p:cNvSpPr>
          <p:nvPr/>
        </p:nvSpPr>
        <p:spPr bwMode="auto">
          <a:xfrm>
            <a:off x="5645995" y="3248998"/>
            <a:ext cx="4032448" cy="648072"/>
          </a:xfrm>
          <a:custGeom>
            <a:avLst/>
            <a:gdLst>
              <a:gd name="T0" fmla="*/ 720725 w 1588"/>
              <a:gd name="T1" fmla="*/ 539750 h 340"/>
              <a:gd name="T2" fmla="*/ 720725 w 1588"/>
              <a:gd name="T3" fmla="*/ 360363 h 340"/>
              <a:gd name="T4" fmla="*/ 1800225 w 1588"/>
              <a:gd name="T5" fmla="*/ 360363 h 340"/>
              <a:gd name="T6" fmla="*/ 1800225 w 1588"/>
              <a:gd name="T7" fmla="*/ 539750 h 340"/>
              <a:gd name="T8" fmla="*/ 2520950 w 1588"/>
              <a:gd name="T9" fmla="*/ 539750 h 340"/>
              <a:gd name="T10" fmla="*/ 2520950 w 1588"/>
              <a:gd name="T11" fmla="*/ 0 h 340"/>
              <a:gd name="T12" fmla="*/ 0 w 1588"/>
              <a:gd name="T13" fmla="*/ 0 h 340"/>
              <a:gd name="T14" fmla="*/ 0 w 1588"/>
              <a:gd name="T15" fmla="*/ 539750 h 340"/>
              <a:gd name="T16" fmla="*/ 720725 w 1588"/>
              <a:gd name="T17" fmla="*/ 539750 h 3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588" h="340">
                <a:moveTo>
                  <a:pt x="454" y="340"/>
                </a:moveTo>
                <a:lnTo>
                  <a:pt x="454" y="227"/>
                </a:lnTo>
                <a:lnTo>
                  <a:pt x="1134" y="227"/>
                </a:lnTo>
                <a:lnTo>
                  <a:pt x="1134" y="340"/>
                </a:lnTo>
                <a:lnTo>
                  <a:pt x="1588" y="340"/>
                </a:lnTo>
                <a:lnTo>
                  <a:pt x="1588" y="0"/>
                </a:lnTo>
                <a:lnTo>
                  <a:pt x="0" y="0"/>
                </a:lnTo>
                <a:lnTo>
                  <a:pt x="0" y="340"/>
                </a:lnTo>
                <a:lnTo>
                  <a:pt x="454" y="340"/>
                </a:lnTo>
                <a:close/>
              </a:path>
            </a:pathLst>
          </a:custGeom>
          <a:ln>
            <a:headEnd/>
            <a:tailEnd/>
          </a:ln>
        </p:spPr>
        <p:style>
          <a:lnRef idx="1">
            <a:schemeClr val="accent3"/>
          </a:lnRef>
          <a:fillRef idx="2">
            <a:schemeClr val="accent3"/>
          </a:fillRef>
          <a:effectRef idx="1">
            <a:schemeClr val="accent3"/>
          </a:effectRef>
          <a:fontRef idx="minor">
            <a:schemeClr val="dk1"/>
          </a:fontRef>
        </p:style>
        <p:txBody>
          <a:bodyP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dirty="0">
                <a:solidFill>
                  <a:schemeClr val="tx1">
                    <a:lumMod val="75000"/>
                    <a:lumOff val="25000"/>
                  </a:schemeClr>
                </a:solidFill>
              </a:rPr>
              <a:t>キッチン台</a:t>
            </a:r>
          </a:p>
        </p:txBody>
      </p:sp>
      <p:sp>
        <p:nvSpPr>
          <p:cNvPr id="23" name="AutoShape 5">
            <a:extLst>
              <a:ext uri="{FF2B5EF4-FFF2-40B4-BE49-F238E27FC236}">
                <a16:creationId xmlns:a16="http://schemas.microsoft.com/office/drawing/2014/main" id="{C2977841-5AB0-2A4E-16AF-4A3577B8F138}"/>
              </a:ext>
            </a:extLst>
          </p:cNvPr>
          <p:cNvSpPr>
            <a:spLocks noChangeArrowheads="1"/>
          </p:cNvSpPr>
          <p:nvPr/>
        </p:nvSpPr>
        <p:spPr bwMode="auto">
          <a:xfrm rot="-5400000">
            <a:off x="7266175" y="3933074"/>
            <a:ext cx="864096" cy="648072"/>
          </a:xfrm>
          <a:custGeom>
            <a:avLst/>
            <a:gdLst>
              <a:gd name="T0" fmla="*/ 787598 w 21600"/>
              <a:gd name="T1" fmla="*/ 180181 h 21600"/>
              <a:gd name="T2" fmla="*/ 450056 w 21600"/>
              <a:gd name="T3" fmla="*/ 360362 h 21600"/>
              <a:gd name="T4" fmla="*/ 112514 w 21600"/>
              <a:gd name="T5" fmla="*/ 180181 h 21600"/>
              <a:gd name="T6" fmla="*/ 45005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none" anchor="ctr"/>
          <a:lstStyle>
            <a:defPPr>
              <a:defRPr lang="ja-JP"/>
            </a:defPPr>
            <a:lvl1pPr marL="0" algn="l" defTabSz="914400" rtl="0" eaLnBrk="1" latinLnBrk="0" hangingPunct="1">
              <a:defRPr kumimoji="1" sz="1800" kern="1200">
                <a:solidFill>
                  <a:schemeClr val="dk1"/>
                </a:solidFill>
                <a:latin typeface="+mn-lt"/>
                <a:ea typeface="+mn-ea"/>
                <a:cs typeface="+mn-cs"/>
              </a:defRPr>
            </a:lvl1pPr>
            <a:lvl2pPr marL="457200" algn="l" defTabSz="914400" rtl="0" eaLnBrk="1" latinLnBrk="0" hangingPunct="1">
              <a:defRPr kumimoji="1" sz="1800" kern="1200">
                <a:solidFill>
                  <a:schemeClr val="dk1"/>
                </a:solidFill>
                <a:latin typeface="+mn-lt"/>
                <a:ea typeface="+mn-ea"/>
                <a:cs typeface="+mn-cs"/>
              </a:defRPr>
            </a:lvl2pPr>
            <a:lvl3pPr marL="914400" algn="l" defTabSz="914400" rtl="0" eaLnBrk="1" latinLnBrk="0" hangingPunct="1">
              <a:defRPr kumimoji="1" sz="1800" kern="1200">
                <a:solidFill>
                  <a:schemeClr val="dk1"/>
                </a:solidFill>
                <a:latin typeface="+mn-lt"/>
                <a:ea typeface="+mn-ea"/>
                <a:cs typeface="+mn-cs"/>
              </a:defRPr>
            </a:lvl3pPr>
            <a:lvl4pPr marL="1371600" algn="l" defTabSz="914400" rtl="0" eaLnBrk="1" latinLnBrk="0" hangingPunct="1">
              <a:defRPr kumimoji="1" sz="1800" kern="1200">
                <a:solidFill>
                  <a:schemeClr val="dk1"/>
                </a:solidFill>
                <a:latin typeface="+mn-lt"/>
                <a:ea typeface="+mn-ea"/>
                <a:cs typeface="+mn-cs"/>
              </a:defRPr>
            </a:lvl4pPr>
            <a:lvl5pPr marL="1828800" algn="l" defTabSz="914400" rtl="0" eaLnBrk="1" latinLnBrk="0" hangingPunct="1">
              <a:defRPr kumimoji="1" sz="1800" kern="1200">
                <a:solidFill>
                  <a:schemeClr val="dk1"/>
                </a:solidFill>
                <a:latin typeface="+mn-lt"/>
                <a:ea typeface="+mn-ea"/>
                <a:cs typeface="+mn-cs"/>
              </a:defRPr>
            </a:lvl5pPr>
            <a:lvl6pPr marL="2286000" algn="l" defTabSz="914400" rtl="0" eaLnBrk="1" latinLnBrk="0" hangingPunct="1">
              <a:defRPr kumimoji="1" sz="1800" kern="1200">
                <a:solidFill>
                  <a:schemeClr val="dk1"/>
                </a:solidFill>
                <a:latin typeface="+mn-lt"/>
                <a:ea typeface="+mn-ea"/>
                <a:cs typeface="+mn-cs"/>
              </a:defRPr>
            </a:lvl6pPr>
            <a:lvl7pPr marL="2743200" algn="l" defTabSz="914400" rtl="0" eaLnBrk="1" latinLnBrk="0" hangingPunct="1">
              <a:defRPr kumimoji="1" sz="1800" kern="1200">
                <a:solidFill>
                  <a:schemeClr val="dk1"/>
                </a:solidFill>
                <a:latin typeface="+mn-lt"/>
                <a:ea typeface="+mn-ea"/>
                <a:cs typeface="+mn-cs"/>
              </a:defRPr>
            </a:lvl7pPr>
            <a:lvl8pPr marL="3200400" algn="l" defTabSz="914400" rtl="0" eaLnBrk="1" latinLnBrk="0" hangingPunct="1">
              <a:defRPr kumimoji="1" sz="1800" kern="1200">
                <a:solidFill>
                  <a:schemeClr val="dk1"/>
                </a:solidFill>
                <a:latin typeface="+mn-lt"/>
                <a:ea typeface="+mn-ea"/>
                <a:cs typeface="+mn-cs"/>
              </a:defRPr>
            </a:lvl8pPr>
            <a:lvl9pPr marL="3657600" algn="l" defTabSz="914400" rtl="0" eaLnBrk="1" latinLnBrk="0" hangingPunct="1">
              <a:defRPr kumimoji="1" sz="1800" kern="1200">
                <a:solidFill>
                  <a:schemeClr val="dk1"/>
                </a:solidFill>
                <a:latin typeface="+mn-lt"/>
                <a:ea typeface="+mn-ea"/>
                <a:cs typeface="+mn-cs"/>
              </a:defRPr>
            </a:lvl9pPr>
          </a:lstStyle>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コンロ</a:t>
            </a:r>
            <a:endPar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まな板</a:t>
            </a:r>
          </a:p>
        </p:txBody>
      </p:sp>
      <p:grpSp>
        <p:nvGrpSpPr>
          <p:cNvPr id="24" name="グループ化 23">
            <a:extLst>
              <a:ext uri="{FF2B5EF4-FFF2-40B4-BE49-F238E27FC236}">
                <a16:creationId xmlns:a16="http://schemas.microsoft.com/office/drawing/2014/main" id="{E369FD79-58A2-2EEF-CEEF-2FBA169DC03C}"/>
              </a:ext>
            </a:extLst>
          </p:cNvPr>
          <p:cNvGrpSpPr/>
          <p:nvPr/>
        </p:nvGrpSpPr>
        <p:grpSpPr>
          <a:xfrm>
            <a:off x="5934027" y="3969078"/>
            <a:ext cx="1008112" cy="432048"/>
            <a:chOff x="3563888" y="2708920"/>
            <a:chExt cx="1296144" cy="432048"/>
          </a:xfrm>
        </p:grpSpPr>
        <p:sp>
          <p:nvSpPr>
            <p:cNvPr id="25" name="Freeform 9">
              <a:extLst>
                <a:ext uri="{FF2B5EF4-FFF2-40B4-BE49-F238E27FC236}">
                  <a16:creationId xmlns:a16="http://schemas.microsoft.com/office/drawing/2014/main" id="{F8A10A21-F5DE-2A53-52EF-72101C911B28}"/>
                </a:ext>
              </a:extLst>
            </p:cNvPr>
            <p:cNvSpPr>
              <a:spLocks/>
            </p:cNvSpPr>
            <p:nvPr/>
          </p:nvSpPr>
          <p:spPr bwMode="auto">
            <a:xfrm>
              <a:off x="4211960" y="2708920"/>
              <a:ext cx="648072" cy="144016"/>
            </a:xfrm>
            <a:custGeom>
              <a:avLst/>
              <a:gdLst>
                <a:gd name="T0" fmla="*/ 0 w 170"/>
                <a:gd name="T1" fmla="*/ 0 h 170"/>
                <a:gd name="T2" fmla="*/ 0 w 170"/>
                <a:gd name="T3" fmla="*/ 269875 h 170"/>
                <a:gd name="T4" fmla="*/ 269875 w 170"/>
                <a:gd name="T5" fmla="*/ 26987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sp>
          <p:nvSpPr>
            <p:cNvPr id="26" name="Freeform 10">
              <a:extLst>
                <a:ext uri="{FF2B5EF4-FFF2-40B4-BE49-F238E27FC236}">
                  <a16:creationId xmlns:a16="http://schemas.microsoft.com/office/drawing/2014/main" id="{F7EA4B9C-6FF6-CA61-82A9-6A0281108D51}"/>
                </a:ext>
              </a:extLst>
            </p:cNvPr>
            <p:cNvSpPr>
              <a:spLocks/>
            </p:cNvSpPr>
            <p:nvPr/>
          </p:nvSpPr>
          <p:spPr bwMode="auto">
            <a:xfrm>
              <a:off x="3563888" y="2708920"/>
              <a:ext cx="1296144" cy="43204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a:tailEnd type="triangle" w="med" len="med"/>
            </a:ln>
          </p:spPr>
          <p:style>
            <a:lnRef idx="3">
              <a:schemeClr val="accent3"/>
            </a:lnRef>
            <a:fillRef idx="0">
              <a:schemeClr val="accent3"/>
            </a:fillRef>
            <a:effectRef idx="2">
              <a:schemeClr val="accent3"/>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sp>
        <p:nvSpPr>
          <p:cNvPr id="27" name="Freeform 8">
            <a:extLst>
              <a:ext uri="{FF2B5EF4-FFF2-40B4-BE49-F238E27FC236}">
                <a16:creationId xmlns:a16="http://schemas.microsoft.com/office/drawing/2014/main" id="{03AAEBE6-4B2B-7AE8-3E4C-3C9295361A58}"/>
              </a:ext>
            </a:extLst>
          </p:cNvPr>
          <p:cNvSpPr>
            <a:spLocks/>
          </p:cNvSpPr>
          <p:nvPr/>
        </p:nvSpPr>
        <p:spPr bwMode="auto">
          <a:xfrm>
            <a:off x="8382299" y="3969078"/>
            <a:ext cx="720080" cy="288032"/>
          </a:xfrm>
          <a:custGeom>
            <a:avLst/>
            <a:gdLst>
              <a:gd name="T0" fmla="*/ 0 w 227"/>
              <a:gd name="T1" fmla="*/ 541338 h 1021"/>
              <a:gd name="T2" fmla="*/ 719138 w 227"/>
              <a:gd name="T3" fmla="*/ 541338 h 1021"/>
              <a:gd name="T4" fmla="*/ 719138 w 227"/>
              <a:gd name="T5" fmla="*/ 0 h 1021"/>
              <a:gd name="T6" fmla="*/ 0 60000 65536"/>
              <a:gd name="T7" fmla="*/ 0 60000 65536"/>
              <a:gd name="T8" fmla="*/ 0 60000 65536"/>
            </a:gdLst>
            <a:ahLst/>
            <a:cxnLst>
              <a:cxn ang="T6">
                <a:pos x="T0" y="T1"/>
              </a:cxn>
              <a:cxn ang="T7">
                <a:pos x="T2" y="T3"/>
              </a:cxn>
              <a:cxn ang="T8">
                <a:pos x="T4" y="T5"/>
              </a:cxn>
            </a:cxnLst>
            <a:rect l="0" t="0" r="r" b="b"/>
            <a:pathLst>
              <a:path w="227" h="1021">
                <a:moveTo>
                  <a:pt x="0" y="1021"/>
                </a:moveTo>
                <a:lnTo>
                  <a:pt x="227" y="1021"/>
                </a:lnTo>
                <a:lnTo>
                  <a:pt x="227" y="0"/>
                </a:lnTo>
              </a:path>
            </a:pathLst>
          </a:custGeom>
          <a:ln w="50800">
            <a:solidFill>
              <a:schemeClr val="accent3"/>
            </a:solidFill>
            <a:headEnd/>
            <a:tailEnd type="triangle" w="med" len="med"/>
          </a:ln>
        </p:spPr>
        <p:style>
          <a:lnRef idx="3">
            <a:schemeClr val="accent4"/>
          </a:lnRef>
          <a:fillRef idx="0">
            <a:schemeClr val="accent4"/>
          </a:fillRef>
          <a:effectRef idx="2">
            <a:schemeClr val="accent4"/>
          </a:effectRef>
          <a:fontRef idx="minor">
            <a:schemeClr val="tx1"/>
          </a:fontRef>
        </p:style>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endParaRPr lang="ja-JP" altLang="en-US"/>
          </a:p>
        </p:txBody>
      </p:sp>
      <p:grpSp>
        <p:nvGrpSpPr>
          <p:cNvPr id="28" name="グループ化 27">
            <a:extLst>
              <a:ext uri="{FF2B5EF4-FFF2-40B4-BE49-F238E27FC236}">
                <a16:creationId xmlns:a16="http://schemas.microsoft.com/office/drawing/2014/main" id="{CA83BDCA-A800-3846-520A-F1E353A82FE0}"/>
              </a:ext>
            </a:extLst>
          </p:cNvPr>
          <p:cNvGrpSpPr/>
          <p:nvPr/>
        </p:nvGrpSpPr>
        <p:grpSpPr>
          <a:xfrm>
            <a:off x="2945966" y="4869015"/>
            <a:ext cx="720009" cy="360004"/>
            <a:chOff x="6372020" y="3699004"/>
            <a:chExt cx="720009" cy="360004"/>
          </a:xfrm>
        </p:grpSpPr>
        <p:sp>
          <p:nvSpPr>
            <p:cNvPr id="29" name="角丸四角形 41">
              <a:extLst>
                <a:ext uri="{FF2B5EF4-FFF2-40B4-BE49-F238E27FC236}">
                  <a16:creationId xmlns:a16="http://schemas.microsoft.com/office/drawing/2014/main" id="{47DF82C1-7A6A-53ED-F1A5-3E3C286D232E}"/>
                </a:ext>
              </a:extLst>
            </p:cNvPr>
            <p:cNvSpPr/>
            <p:nvPr/>
          </p:nvSpPr>
          <p:spPr bwMode="auto">
            <a:xfrm>
              <a:off x="6372021"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a:t>
              </a:r>
              <a:endParaRPr lang="ja-JP" altLang="en-US" dirty="0">
                <a:latin typeface="Arial Narrow" panose="020B0606020202030204" pitchFamily="34" charset="0"/>
              </a:endParaRPr>
            </a:p>
          </p:txBody>
        </p:sp>
        <p:sp>
          <p:nvSpPr>
            <p:cNvPr id="30" name="角丸四角形 43">
              <a:extLst>
                <a:ext uri="{FF2B5EF4-FFF2-40B4-BE49-F238E27FC236}">
                  <a16:creationId xmlns:a16="http://schemas.microsoft.com/office/drawing/2014/main" id="{2183BC4E-9703-E766-E182-E85977D658A1}"/>
                </a:ext>
              </a:extLst>
            </p:cNvPr>
            <p:cNvSpPr/>
            <p:nvPr/>
          </p:nvSpPr>
          <p:spPr bwMode="auto">
            <a:xfrm>
              <a:off x="6372020"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a:t>
              </a:r>
              <a:endParaRPr lang="ja-JP" altLang="en-US" dirty="0">
                <a:latin typeface="Arial Narrow" panose="020B0606020202030204" pitchFamily="34" charset="0"/>
              </a:endParaRPr>
            </a:p>
          </p:txBody>
        </p:sp>
      </p:grpSp>
      <p:sp>
        <p:nvSpPr>
          <p:cNvPr id="31" name="正方形/長方形 30">
            <a:extLst>
              <a:ext uri="{FF2B5EF4-FFF2-40B4-BE49-F238E27FC236}">
                <a16:creationId xmlns:a16="http://schemas.microsoft.com/office/drawing/2014/main" id="{076CFB20-1565-98BB-B8E4-0960859FFFB8}"/>
              </a:ext>
            </a:extLst>
          </p:cNvPr>
          <p:cNvSpPr/>
          <p:nvPr/>
        </p:nvSpPr>
        <p:spPr bwMode="auto">
          <a:xfrm>
            <a:off x="2585961" y="4329010"/>
            <a:ext cx="1260014" cy="1710019"/>
          </a:xfrm>
          <a:prstGeom prst="rect">
            <a:avLst/>
          </a:prstGeom>
          <a:ln>
            <a:headEnd/>
            <a:tailEnd type="non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150000"/>
              </a:lnSpc>
            </a:pPr>
            <a:r>
              <a:rPr lang="en-US" altLang="ja-JP" sz="1400" dirty="0">
                <a:solidFill>
                  <a:schemeClr val="tx1"/>
                </a:solidFill>
                <a:latin typeface="Arial Narrow" panose="020B0606020202030204" pitchFamily="34" charset="0"/>
              </a:rPr>
              <a:t>1. </a:t>
            </a:r>
            <a:r>
              <a:rPr lang="ja-JP" altLang="en-US" sz="1400" dirty="0">
                <a:solidFill>
                  <a:schemeClr val="tx1"/>
                </a:solidFill>
                <a:latin typeface="Arial Narrow" panose="020B0606020202030204" pitchFamily="34" charset="0"/>
              </a:rPr>
              <a:t>人参を切る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2. </a:t>
            </a:r>
            <a:r>
              <a:rPr lang="ja-JP" altLang="en-US" sz="1400" dirty="0">
                <a:solidFill>
                  <a:schemeClr val="tx1"/>
                </a:solidFill>
                <a:latin typeface="Arial Narrow" panose="020B0606020202030204" pitchFamily="34" charset="0"/>
              </a:rPr>
              <a:t>玉葱を切る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3. </a:t>
            </a:r>
            <a:r>
              <a:rPr lang="ja-JP" altLang="en-US" sz="1400" dirty="0">
                <a:solidFill>
                  <a:schemeClr val="tx1"/>
                </a:solidFill>
                <a:latin typeface="Arial Narrow" panose="020B0606020202030204" pitchFamily="34" charset="0"/>
              </a:rPr>
              <a:t>肉を切る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4. </a:t>
            </a:r>
            <a:r>
              <a:rPr lang="ja-JP" altLang="en-US" sz="1400" dirty="0">
                <a:solidFill>
                  <a:schemeClr val="tx1"/>
                </a:solidFill>
                <a:latin typeface="Arial Narrow" panose="020B0606020202030204" pitchFamily="34" charset="0"/>
              </a:rPr>
              <a:t>芋を切る</a:t>
            </a:r>
            <a:endParaRPr lang="en-US" altLang="ja-JP" sz="1400" dirty="0">
              <a:solidFill>
                <a:schemeClr val="tx1"/>
              </a:solidFill>
              <a:latin typeface="Arial Narrow" panose="020B0606020202030204" pitchFamily="34" charset="0"/>
            </a:endParaRPr>
          </a:p>
          <a:p>
            <a:pPr>
              <a:lnSpc>
                <a:spcPct val="150000"/>
              </a:lnSpc>
            </a:pPr>
            <a:r>
              <a:rPr lang="en-US" altLang="ja-JP" sz="1400" dirty="0">
                <a:solidFill>
                  <a:schemeClr val="tx1"/>
                </a:solidFill>
                <a:latin typeface="Arial Narrow" panose="020B0606020202030204" pitchFamily="34" charset="0"/>
              </a:rPr>
              <a:t>5. </a:t>
            </a:r>
            <a:r>
              <a:rPr lang="ja-JP" altLang="en-US" sz="1400" dirty="0">
                <a:solidFill>
                  <a:schemeClr val="tx1"/>
                </a:solidFill>
                <a:latin typeface="Arial Narrow" panose="020B0606020202030204" pitchFamily="34" charset="0"/>
              </a:rPr>
              <a:t>炒める</a:t>
            </a:r>
          </a:p>
        </p:txBody>
      </p:sp>
      <p:sp>
        <p:nvSpPr>
          <p:cNvPr id="32" name="角丸四角形 45">
            <a:extLst>
              <a:ext uri="{FF2B5EF4-FFF2-40B4-BE49-F238E27FC236}">
                <a16:creationId xmlns:a16="http://schemas.microsoft.com/office/drawing/2014/main" id="{5BC5A7BD-5FCE-A810-B09B-E5C430DF5CC3}"/>
              </a:ext>
            </a:extLst>
          </p:cNvPr>
          <p:cNvSpPr/>
          <p:nvPr/>
        </p:nvSpPr>
        <p:spPr bwMode="auto">
          <a:xfrm>
            <a:off x="5832014" y="5229020"/>
            <a:ext cx="720008"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kumimoji="1" lang="ja-JP" altLang="en-US" sz="1100" dirty="0">
                <a:solidFill>
                  <a:schemeClr val="bg1"/>
                </a:solidFill>
                <a:latin typeface="Arial Narrow" panose="020B0606020202030204" pitchFamily="34" charset="0"/>
              </a:rPr>
              <a:t>人参切る</a:t>
            </a:r>
          </a:p>
        </p:txBody>
      </p:sp>
      <p:sp>
        <p:nvSpPr>
          <p:cNvPr id="33" name="角丸四角形 46">
            <a:extLst>
              <a:ext uri="{FF2B5EF4-FFF2-40B4-BE49-F238E27FC236}">
                <a16:creationId xmlns:a16="http://schemas.microsoft.com/office/drawing/2014/main" id="{98355DB9-A001-794B-AFD3-79D9E9AD119E}"/>
              </a:ext>
            </a:extLst>
          </p:cNvPr>
          <p:cNvSpPr/>
          <p:nvPr/>
        </p:nvSpPr>
        <p:spPr bwMode="auto">
          <a:xfrm>
            <a:off x="4391998" y="5229020"/>
            <a:ext cx="720008" cy="360004"/>
          </a:xfrm>
          <a:prstGeom prst="roundRect">
            <a:avLst/>
          </a:prstGeom>
          <a:ln>
            <a:headEnd/>
            <a:tailEnd type="triangle" w="sm" len="med"/>
          </a:ln>
        </p:spPr>
        <p:style>
          <a:lnRef idx="3">
            <a:schemeClr val="lt1"/>
          </a:lnRef>
          <a:fillRef idx="1">
            <a:schemeClr val="accent4"/>
          </a:fillRef>
          <a:effectRef idx="1">
            <a:schemeClr val="accent4"/>
          </a:effectRef>
          <a:fontRef idx="minor">
            <a:schemeClr val="lt1"/>
          </a:fontRef>
        </p:style>
        <p:txBody>
          <a:bodyPr wrap="none" rtlCol="0" anchor="ctr"/>
          <a:lstStyle/>
          <a:p>
            <a:pPr algn="ctr"/>
            <a:r>
              <a:rPr lang="ja-JP" altLang="en-US" sz="1100" dirty="0">
                <a:solidFill>
                  <a:schemeClr val="bg1"/>
                </a:solidFill>
                <a:latin typeface="Arial Narrow" panose="020B0606020202030204" pitchFamily="34" charset="0"/>
              </a:rPr>
              <a:t>玉葱切る</a:t>
            </a:r>
            <a:endParaRPr kumimoji="1" lang="ja-JP" altLang="en-US" sz="1100" dirty="0">
              <a:solidFill>
                <a:schemeClr val="bg1"/>
              </a:solidFill>
              <a:latin typeface="Arial Narrow" panose="020B0606020202030204" pitchFamily="34" charset="0"/>
            </a:endParaRPr>
          </a:p>
        </p:txBody>
      </p:sp>
      <p:sp>
        <p:nvSpPr>
          <p:cNvPr id="34" name="角丸四角形吹き出し 42">
            <a:extLst>
              <a:ext uri="{FF2B5EF4-FFF2-40B4-BE49-F238E27FC236}">
                <a16:creationId xmlns:a16="http://schemas.microsoft.com/office/drawing/2014/main" id="{2303F440-0508-43E5-F9DB-DD735102D30E}"/>
              </a:ext>
            </a:extLst>
          </p:cNvPr>
          <p:cNvSpPr/>
          <p:nvPr/>
        </p:nvSpPr>
        <p:spPr bwMode="auto">
          <a:xfrm>
            <a:off x="8976032" y="4239010"/>
            <a:ext cx="1080012" cy="522648"/>
          </a:xfrm>
          <a:prstGeom prst="wedgeRoundRectCallout">
            <a:avLst>
              <a:gd name="adj1" fmla="val -46134"/>
              <a:gd name="adj2" fmla="val 94815"/>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台に</a:t>
            </a:r>
            <a:endParaRPr lang="en-US" altLang="ja-JP" sz="1400" dirty="0">
              <a:solidFill>
                <a:schemeClr val="tx1">
                  <a:lumMod val="65000"/>
                  <a:lumOff val="35000"/>
                </a:schemeClr>
              </a:solidFill>
              <a:latin typeface="Arial Narrow" panose="020B0606020202030204" pitchFamily="34" charset="0"/>
            </a:endParaRPr>
          </a:p>
          <a:p>
            <a:r>
              <a:rPr lang="ja-JP" altLang="en-US" sz="1400" dirty="0">
                <a:solidFill>
                  <a:schemeClr val="tx1">
                    <a:lumMod val="65000"/>
                    <a:lumOff val="35000"/>
                  </a:schemeClr>
                </a:solidFill>
                <a:latin typeface="Arial Narrow" panose="020B0606020202030204" pitchFamily="34" charset="0"/>
              </a:rPr>
              <a:t>戻す係です！</a:t>
            </a:r>
          </a:p>
        </p:txBody>
      </p:sp>
      <p:sp>
        <p:nvSpPr>
          <p:cNvPr id="35" name="角丸四角形吹き出し 44">
            <a:extLst>
              <a:ext uri="{FF2B5EF4-FFF2-40B4-BE49-F238E27FC236}">
                <a16:creationId xmlns:a16="http://schemas.microsoft.com/office/drawing/2014/main" id="{B4E22FCA-C2D4-DAD2-5E93-A9C5E5CB45C2}"/>
              </a:ext>
            </a:extLst>
          </p:cNvPr>
          <p:cNvSpPr/>
          <p:nvPr/>
        </p:nvSpPr>
        <p:spPr bwMode="auto">
          <a:xfrm>
            <a:off x="6096000" y="4239010"/>
            <a:ext cx="1080012" cy="522648"/>
          </a:xfrm>
          <a:prstGeom prst="wedgeRoundRectCallout">
            <a:avLst>
              <a:gd name="adj1" fmla="val -41466"/>
              <a:gd name="adj2" fmla="val 84351"/>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材料</a:t>
            </a:r>
            <a:br>
              <a:rPr lang="en-US" altLang="ja-JP" sz="1400" dirty="0">
                <a:solidFill>
                  <a:schemeClr val="tx1">
                    <a:lumMod val="65000"/>
                    <a:lumOff val="35000"/>
                  </a:schemeClr>
                </a:solidFill>
                <a:latin typeface="Arial Narrow" panose="020B0606020202030204" pitchFamily="34" charset="0"/>
              </a:rPr>
            </a:br>
            <a:r>
              <a:rPr lang="ja-JP" altLang="en-US" sz="1400" dirty="0">
                <a:solidFill>
                  <a:schemeClr val="tx1">
                    <a:lumMod val="65000"/>
                    <a:lumOff val="35000"/>
                  </a:schemeClr>
                </a:solidFill>
                <a:latin typeface="Arial Narrow" panose="020B0606020202030204" pitchFamily="34" charset="0"/>
              </a:rPr>
              <a:t>取る係です！</a:t>
            </a:r>
          </a:p>
        </p:txBody>
      </p:sp>
      <p:sp>
        <p:nvSpPr>
          <p:cNvPr id="36" name="角丸四角形吹き出し 44">
            <a:extLst>
              <a:ext uri="{FF2B5EF4-FFF2-40B4-BE49-F238E27FC236}">
                <a16:creationId xmlns:a16="http://schemas.microsoft.com/office/drawing/2014/main" id="{7AD24FC7-4798-A8E6-F21E-AC7B1968700A}"/>
              </a:ext>
            </a:extLst>
          </p:cNvPr>
          <p:cNvSpPr/>
          <p:nvPr/>
        </p:nvSpPr>
        <p:spPr bwMode="auto">
          <a:xfrm>
            <a:off x="4475982" y="4419012"/>
            <a:ext cx="1440016" cy="342645"/>
          </a:xfrm>
          <a:prstGeom prst="wedgeRoundRectCallout">
            <a:avLst>
              <a:gd name="adj1" fmla="val -41466"/>
              <a:gd name="adj2" fmla="val 84351"/>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レシピを読むで</a:t>
            </a:r>
          </a:p>
        </p:txBody>
      </p:sp>
      <p:sp>
        <p:nvSpPr>
          <p:cNvPr id="37" name="角丸四角形吹き出し 44">
            <a:extLst>
              <a:ext uri="{FF2B5EF4-FFF2-40B4-BE49-F238E27FC236}">
                <a16:creationId xmlns:a16="http://schemas.microsoft.com/office/drawing/2014/main" id="{F91D0948-D207-D12F-A1DC-3572D99328F0}"/>
              </a:ext>
            </a:extLst>
          </p:cNvPr>
          <p:cNvSpPr/>
          <p:nvPr/>
        </p:nvSpPr>
        <p:spPr bwMode="auto">
          <a:xfrm>
            <a:off x="7446015" y="4509012"/>
            <a:ext cx="1170013" cy="342645"/>
          </a:xfrm>
          <a:prstGeom prst="wedgeRoundRectCallout">
            <a:avLst>
              <a:gd name="adj1" fmla="val -41466"/>
              <a:gd name="adj2" fmla="val 84351"/>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シェフです！</a:t>
            </a:r>
          </a:p>
        </p:txBody>
      </p:sp>
    </p:spTree>
    <p:extLst>
      <p:ext uri="{BB962C8B-B14F-4D97-AF65-F5344CB8AC3E}">
        <p14:creationId xmlns:p14="http://schemas.microsoft.com/office/powerpoint/2010/main" val="3341228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9CAA808-C9C7-7EF6-6396-2AE8E51E4757}"/>
              </a:ext>
            </a:extLst>
          </p:cNvPr>
          <p:cNvSpPr>
            <a:spLocks noGrp="1"/>
          </p:cNvSpPr>
          <p:nvPr>
            <p:ph type="title"/>
          </p:nvPr>
        </p:nvSpPr>
        <p:spPr/>
        <p:txBody>
          <a:bodyPr/>
          <a:lstStyle/>
          <a:p>
            <a:r>
              <a:rPr lang="ja-JP" altLang="en-US" dirty="0">
                <a:latin typeface="+mn-ea"/>
              </a:rPr>
              <a:t>６～７回目 分岐予測</a:t>
            </a:r>
            <a:endParaRPr kumimoji="1" lang="ja-JP" altLang="en-US" dirty="0"/>
          </a:p>
        </p:txBody>
      </p:sp>
      <p:sp>
        <p:nvSpPr>
          <p:cNvPr id="3" name="テキスト プレースホルダー 2">
            <a:extLst>
              <a:ext uri="{FF2B5EF4-FFF2-40B4-BE49-F238E27FC236}">
                <a16:creationId xmlns:a16="http://schemas.microsoft.com/office/drawing/2014/main" id="{8618D3D5-89C4-B483-795B-2E4B1C2AFE57}"/>
              </a:ext>
            </a:extLst>
          </p:cNvPr>
          <p:cNvSpPr>
            <a:spLocks noGrp="1"/>
          </p:cNvSpPr>
          <p:nvPr>
            <p:ph type="body" sz="quarter" idx="10"/>
          </p:nvPr>
        </p:nvSpPr>
        <p:spPr>
          <a:xfrm>
            <a:off x="785941" y="1628980"/>
            <a:ext cx="10080112" cy="810009"/>
          </a:xfrm>
        </p:spPr>
        <p:txBody>
          <a:bodyPr/>
          <a:lstStyle/>
          <a:p>
            <a:r>
              <a:rPr kumimoji="1" lang="ja-JP" altLang="en-US" dirty="0"/>
              <a:t>命令パイプラインを効率よく回すための予測の仕組みを解説</a:t>
            </a:r>
            <a:endParaRPr kumimoji="1" lang="en-US" altLang="ja-JP" dirty="0"/>
          </a:p>
          <a:p>
            <a:pPr lvl="1"/>
            <a:r>
              <a:rPr lang="ja-JP" altLang="en-US" dirty="0"/>
              <a:t>分岐の行く方向を予測する</a:t>
            </a:r>
            <a:endParaRPr lang="en-US" altLang="ja-JP" dirty="0"/>
          </a:p>
          <a:p>
            <a:r>
              <a:rPr lang="en-US" altLang="ja-JP" dirty="0"/>
              <a:t>Championship Branch Prediction (CBP) </a:t>
            </a:r>
            <a:r>
              <a:rPr lang="ja-JP" altLang="en-US" dirty="0"/>
              <a:t>に優勝したのでそのあたりも触れたい</a:t>
            </a:r>
            <a:endParaRPr lang="en-US" altLang="ja-JP" dirty="0"/>
          </a:p>
          <a:p>
            <a:pPr lvl="1"/>
            <a:r>
              <a:rPr lang="ja-JP" altLang="en-US" dirty="0"/>
              <a:t>分岐予測器のアルゴリズムを競う大会</a:t>
            </a:r>
            <a:endParaRPr kumimoji="1" lang="ja-JP" altLang="en-US" dirty="0"/>
          </a:p>
        </p:txBody>
      </p:sp>
      <p:grpSp>
        <p:nvGrpSpPr>
          <p:cNvPr id="4" name="グループ化 3">
            <a:extLst>
              <a:ext uri="{FF2B5EF4-FFF2-40B4-BE49-F238E27FC236}">
                <a16:creationId xmlns:a16="http://schemas.microsoft.com/office/drawing/2014/main" id="{9554D53C-BABF-AAB7-CA4A-AECD5F27019F}"/>
              </a:ext>
            </a:extLst>
          </p:cNvPr>
          <p:cNvGrpSpPr/>
          <p:nvPr/>
        </p:nvGrpSpPr>
        <p:grpSpPr>
          <a:xfrm>
            <a:off x="1955954" y="5319021"/>
            <a:ext cx="1562400" cy="576064"/>
            <a:chOff x="971600" y="5445224"/>
            <a:chExt cx="7200800" cy="576064"/>
          </a:xfrm>
        </p:grpSpPr>
        <p:sp>
          <p:nvSpPr>
            <p:cNvPr id="5" name="平行四辺形 4">
              <a:extLst>
                <a:ext uri="{FF2B5EF4-FFF2-40B4-BE49-F238E27FC236}">
                  <a16:creationId xmlns:a16="http://schemas.microsoft.com/office/drawing/2014/main" id="{80090B97-40C2-75B6-8A52-A645EEFD9D3D}"/>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 name="平行四辺形 5">
              <a:extLst>
                <a:ext uri="{FF2B5EF4-FFF2-40B4-BE49-F238E27FC236}">
                  <a16:creationId xmlns:a16="http://schemas.microsoft.com/office/drawing/2014/main" id="{9DDB37F5-A4AB-C3B6-2F15-0CED066BC619}"/>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7" name="グループ化 6">
            <a:extLst>
              <a:ext uri="{FF2B5EF4-FFF2-40B4-BE49-F238E27FC236}">
                <a16:creationId xmlns:a16="http://schemas.microsoft.com/office/drawing/2014/main" id="{D911D91C-2E39-8D90-9597-EED65A39A8DB}"/>
              </a:ext>
            </a:extLst>
          </p:cNvPr>
          <p:cNvGrpSpPr/>
          <p:nvPr/>
        </p:nvGrpSpPr>
        <p:grpSpPr>
          <a:xfrm>
            <a:off x="3396114" y="5319021"/>
            <a:ext cx="1562400" cy="576064"/>
            <a:chOff x="971600" y="5445224"/>
            <a:chExt cx="7200800" cy="576064"/>
          </a:xfrm>
        </p:grpSpPr>
        <p:sp>
          <p:nvSpPr>
            <p:cNvPr id="8" name="平行四辺形 7">
              <a:extLst>
                <a:ext uri="{FF2B5EF4-FFF2-40B4-BE49-F238E27FC236}">
                  <a16:creationId xmlns:a16="http://schemas.microsoft.com/office/drawing/2014/main" id="{4C823308-CBB5-5425-148C-9BAA3EEEB40C}"/>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9" name="平行四辺形 8">
              <a:extLst>
                <a:ext uri="{FF2B5EF4-FFF2-40B4-BE49-F238E27FC236}">
                  <a16:creationId xmlns:a16="http://schemas.microsoft.com/office/drawing/2014/main" id="{21D229DD-0186-0F1D-295A-822A0DDABEA6}"/>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10" name="グループ化 9">
            <a:extLst>
              <a:ext uri="{FF2B5EF4-FFF2-40B4-BE49-F238E27FC236}">
                <a16:creationId xmlns:a16="http://schemas.microsoft.com/office/drawing/2014/main" id="{2BB75F9A-EA45-10D6-9E58-069548F613DA}"/>
              </a:ext>
            </a:extLst>
          </p:cNvPr>
          <p:cNvGrpSpPr/>
          <p:nvPr/>
        </p:nvGrpSpPr>
        <p:grpSpPr>
          <a:xfrm>
            <a:off x="4836274" y="5319021"/>
            <a:ext cx="1562400" cy="576064"/>
            <a:chOff x="971600" y="5445224"/>
            <a:chExt cx="7200800" cy="576064"/>
          </a:xfrm>
        </p:grpSpPr>
        <p:sp>
          <p:nvSpPr>
            <p:cNvPr id="11" name="平行四辺形 10">
              <a:extLst>
                <a:ext uri="{FF2B5EF4-FFF2-40B4-BE49-F238E27FC236}">
                  <a16:creationId xmlns:a16="http://schemas.microsoft.com/office/drawing/2014/main" id="{40244029-96D2-CF77-AAEA-E1D74A6FBB38}"/>
                </a:ext>
              </a:extLst>
            </p:cNvPr>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2" name="平行四辺形 11">
              <a:extLst>
                <a:ext uri="{FF2B5EF4-FFF2-40B4-BE49-F238E27FC236}">
                  <a16:creationId xmlns:a16="http://schemas.microsoft.com/office/drawing/2014/main" id="{38B4B189-C3F4-24E2-67CA-4F25236DFE6B}"/>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grpSp>
        <p:nvGrpSpPr>
          <p:cNvPr id="13" name="グループ化 12">
            <a:extLst>
              <a:ext uri="{FF2B5EF4-FFF2-40B4-BE49-F238E27FC236}">
                <a16:creationId xmlns:a16="http://schemas.microsoft.com/office/drawing/2014/main" id="{E914AA24-ABDF-0C15-D85F-C2B91B6B1186}"/>
              </a:ext>
            </a:extLst>
          </p:cNvPr>
          <p:cNvGrpSpPr/>
          <p:nvPr/>
        </p:nvGrpSpPr>
        <p:grpSpPr>
          <a:xfrm>
            <a:off x="6276434" y="5319021"/>
            <a:ext cx="1584176" cy="576064"/>
            <a:chOff x="971600" y="5445224"/>
            <a:chExt cx="7200800" cy="576064"/>
          </a:xfrm>
        </p:grpSpPr>
        <p:sp>
          <p:nvSpPr>
            <p:cNvPr id="14" name="平行四辺形 13">
              <a:extLst>
                <a:ext uri="{FF2B5EF4-FFF2-40B4-BE49-F238E27FC236}">
                  <a16:creationId xmlns:a16="http://schemas.microsoft.com/office/drawing/2014/main" id="{0DDB2B06-D0BE-4F53-CA72-8F2BF714293F}"/>
                </a:ext>
              </a:extLst>
            </p:cNvPr>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5" name="平行四辺形 14">
              <a:extLst>
                <a:ext uri="{FF2B5EF4-FFF2-40B4-BE49-F238E27FC236}">
                  <a16:creationId xmlns:a16="http://schemas.microsoft.com/office/drawing/2014/main" id="{3DAD5F69-795B-A35B-53BA-658C93C23F5D}"/>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grpSp>
      <p:sp>
        <p:nvSpPr>
          <p:cNvPr id="16" name="正方形/長方形 15">
            <a:extLst>
              <a:ext uri="{FF2B5EF4-FFF2-40B4-BE49-F238E27FC236}">
                <a16:creationId xmlns:a16="http://schemas.microsoft.com/office/drawing/2014/main" id="{9C57B327-AAE6-0E0B-7D15-8048CA07075B}"/>
              </a:ext>
            </a:extLst>
          </p:cNvPr>
          <p:cNvSpPr/>
          <p:nvPr/>
        </p:nvSpPr>
        <p:spPr>
          <a:xfrm>
            <a:off x="1917793" y="4454478"/>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a:extLst>
              <a:ext uri="{FF2B5EF4-FFF2-40B4-BE49-F238E27FC236}">
                <a16:creationId xmlns:a16="http://schemas.microsoft.com/office/drawing/2014/main" id="{86CB06CD-10AD-11F8-7292-A35B0BD2CC3B}"/>
              </a:ext>
            </a:extLst>
          </p:cNvPr>
          <p:cNvSpPr/>
          <p:nvPr/>
        </p:nvSpPr>
        <p:spPr>
          <a:xfrm>
            <a:off x="3357953" y="4454478"/>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a:extLst>
              <a:ext uri="{FF2B5EF4-FFF2-40B4-BE49-F238E27FC236}">
                <a16:creationId xmlns:a16="http://schemas.microsoft.com/office/drawing/2014/main" id="{5759D1DB-CC42-F8FF-9D95-5C4E3CFF5EFE}"/>
              </a:ext>
            </a:extLst>
          </p:cNvPr>
          <p:cNvSpPr/>
          <p:nvPr/>
        </p:nvSpPr>
        <p:spPr>
          <a:xfrm>
            <a:off x="4800000" y="4473062"/>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a:extLst>
              <a:ext uri="{FF2B5EF4-FFF2-40B4-BE49-F238E27FC236}">
                <a16:creationId xmlns:a16="http://schemas.microsoft.com/office/drawing/2014/main" id="{B762CF9C-AC14-9DA7-389E-8B758393C940}"/>
              </a:ext>
            </a:extLst>
          </p:cNvPr>
          <p:cNvSpPr/>
          <p:nvPr/>
        </p:nvSpPr>
        <p:spPr>
          <a:xfrm>
            <a:off x="6240160" y="4473062"/>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cxnSp>
        <p:nvCxnSpPr>
          <p:cNvPr id="20" name="直線矢印コネクタ 19">
            <a:extLst>
              <a:ext uri="{FF2B5EF4-FFF2-40B4-BE49-F238E27FC236}">
                <a16:creationId xmlns:a16="http://schemas.microsoft.com/office/drawing/2014/main" id="{A3D068CE-D181-228A-D556-A8868CBA7736}"/>
              </a:ext>
            </a:extLst>
          </p:cNvPr>
          <p:cNvCxnSpPr/>
          <p:nvPr/>
        </p:nvCxnSpPr>
        <p:spPr bwMode="auto">
          <a:xfrm>
            <a:off x="1955954" y="6129030"/>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21" name="角丸四角形 89">
            <a:extLst>
              <a:ext uri="{FF2B5EF4-FFF2-40B4-BE49-F238E27FC236}">
                <a16:creationId xmlns:a16="http://schemas.microsoft.com/office/drawing/2014/main" id="{9CFC4687-DC97-6BC5-6FFE-65A07641101E}"/>
              </a:ext>
            </a:extLst>
          </p:cNvPr>
          <p:cNvSpPr/>
          <p:nvPr/>
        </p:nvSpPr>
        <p:spPr bwMode="auto">
          <a:xfrm>
            <a:off x="3845975" y="5139019"/>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dirty="0">
                <a:latin typeface="Arial Narrow" panose="020B0606020202030204" pitchFamily="34" charset="0"/>
              </a:rPr>
              <a:t>if a &gt; 0</a:t>
            </a:r>
            <a:endParaRPr kumimoji="1" lang="ja-JP" altLang="en-US" dirty="0">
              <a:latin typeface="Arial Narrow" panose="020B0606020202030204" pitchFamily="34" charset="0"/>
            </a:endParaRPr>
          </a:p>
        </p:txBody>
      </p:sp>
      <p:sp>
        <p:nvSpPr>
          <p:cNvPr id="22" name="正方形/長方形 21">
            <a:extLst>
              <a:ext uri="{FF2B5EF4-FFF2-40B4-BE49-F238E27FC236}">
                <a16:creationId xmlns:a16="http://schemas.microsoft.com/office/drawing/2014/main" id="{5AFF3638-5E98-C5F6-BF3F-FD79E8B33C4C}"/>
              </a:ext>
            </a:extLst>
          </p:cNvPr>
          <p:cNvSpPr/>
          <p:nvPr/>
        </p:nvSpPr>
        <p:spPr bwMode="auto">
          <a:xfrm>
            <a:off x="605939" y="4599013"/>
            <a:ext cx="1152128"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80000"/>
              </a:lnSpc>
            </a:pPr>
            <a:r>
              <a:rPr lang="en-US" altLang="ja-JP" sz="2400" b="1" dirty="0">
                <a:solidFill>
                  <a:schemeClr val="tx2"/>
                </a:solidFill>
                <a:latin typeface="Arial Narrow" panose="020B0606020202030204" pitchFamily="34" charset="0"/>
              </a:rPr>
              <a:t>if a &gt; 0:</a:t>
            </a:r>
          </a:p>
          <a:p>
            <a:pPr>
              <a:lnSpc>
                <a:spcPct val="80000"/>
              </a:lnSpc>
            </a:pPr>
            <a:r>
              <a:rPr lang="en-US" altLang="ja-JP" sz="2400" dirty="0">
                <a:solidFill>
                  <a:schemeClr val="bg1"/>
                </a:solidFill>
                <a:latin typeface="Arial Narrow" panose="020B0606020202030204" pitchFamily="34" charset="0"/>
              </a:rPr>
              <a:t>    a=a+1</a:t>
            </a:r>
          </a:p>
          <a:p>
            <a:pPr>
              <a:lnSpc>
                <a:spcPct val="80000"/>
              </a:lnSpc>
            </a:pPr>
            <a:r>
              <a:rPr lang="en-US" altLang="ja-JP" sz="2400" dirty="0">
                <a:solidFill>
                  <a:schemeClr val="bg1"/>
                </a:solidFill>
                <a:latin typeface="Arial Narrow" panose="020B0606020202030204" pitchFamily="34" charset="0"/>
              </a:rPr>
              <a:t>else:</a:t>
            </a:r>
          </a:p>
          <a:p>
            <a:pPr>
              <a:lnSpc>
                <a:spcPct val="80000"/>
              </a:lnSpc>
            </a:pPr>
            <a:r>
              <a:rPr lang="en-US" altLang="ja-JP" sz="2400" dirty="0">
                <a:solidFill>
                  <a:schemeClr val="bg1"/>
                </a:solidFill>
                <a:latin typeface="Arial Narrow" panose="020B0606020202030204" pitchFamily="34" charset="0"/>
              </a:rPr>
              <a:t>    </a:t>
            </a:r>
            <a:r>
              <a:rPr lang="en-US" altLang="ja-JP" sz="2400" dirty="0">
                <a:solidFill>
                  <a:schemeClr val="tx2"/>
                </a:solidFill>
                <a:latin typeface="Arial Narrow" panose="020B0606020202030204" pitchFamily="34" charset="0"/>
              </a:rPr>
              <a:t>a=a-1</a:t>
            </a:r>
          </a:p>
          <a:p>
            <a:pPr>
              <a:lnSpc>
                <a:spcPct val="80000"/>
              </a:lnSpc>
            </a:pPr>
            <a:r>
              <a:rPr lang="ja-JP" altLang="en-US" sz="2000" dirty="0">
                <a:solidFill>
                  <a:schemeClr val="bg1"/>
                </a:solidFill>
                <a:latin typeface="Arial Narrow" panose="020B0606020202030204" pitchFamily="34" charset="0"/>
              </a:rPr>
              <a:t>  </a:t>
            </a:r>
          </a:p>
        </p:txBody>
      </p:sp>
      <p:sp>
        <p:nvSpPr>
          <p:cNvPr id="23" name="正方形/長方形 22">
            <a:extLst>
              <a:ext uri="{FF2B5EF4-FFF2-40B4-BE49-F238E27FC236}">
                <a16:creationId xmlns:a16="http://schemas.microsoft.com/office/drawing/2014/main" id="{ACF06221-47AF-6559-14B8-7EC42B3131DF}"/>
              </a:ext>
            </a:extLst>
          </p:cNvPr>
          <p:cNvSpPr/>
          <p:nvPr/>
        </p:nvSpPr>
        <p:spPr bwMode="auto">
          <a:xfrm>
            <a:off x="875942" y="4149008"/>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1600" dirty="0">
                <a:solidFill>
                  <a:schemeClr val="tx1">
                    <a:lumMod val="65000"/>
                    <a:lumOff val="35000"/>
                  </a:schemeClr>
                </a:solidFill>
              </a:rPr>
              <a:t>プログラム</a:t>
            </a:r>
          </a:p>
        </p:txBody>
      </p:sp>
      <p:sp>
        <p:nvSpPr>
          <p:cNvPr id="24" name="角丸四角形 23">
            <a:extLst>
              <a:ext uri="{FF2B5EF4-FFF2-40B4-BE49-F238E27FC236}">
                <a16:creationId xmlns:a16="http://schemas.microsoft.com/office/drawing/2014/main" id="{5DC0E077-0A35-981E-890C-BAF941F12EAA}"/>
              </a:ext>
            </a:extLst>
          </p:cNvPr>
          <p:cNvSpPr/>
          <p:nvPr/>
        </p:nvSpPr>
        <p:spPr bwMode="auto">
          <a:xfrm>
            <a:off x="2405959" y="5139019"/>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kumimoji="1" lang="en-US" altLang="ja-JP" dirty="0">
                <a:latin typeface="Arial Narrow" panose="020B0606020202030204" pitchFamily="34" charset="0"/>
              </a:rPr>
              <a:t>a=a-1</a:t>
            </a:r>
            <a:endParaRPr kumimoji="1" lang="ja-JP" altLang="en-US" dirty="0">
              <a:latin typeface="Arial Narrow" panose="020B0606020202030204" pitchFamily="34" charset="0"/>
            </a:endParaRPr>
          </a:p>
        </p:txBody>
      </p:sp>
      <p:sp>
        <p:nvSpPr>
          <p:cNvPr id="25" name="角丸四角形吹き出し 3">
            <a:extLst>
              <a:ext uri="{FF2B5EF4-FFF2-40B4-BE49-F238E27FC236}">
                <a16:creationId xmlns:a16="http://schemas.microsoft.com/office/drawing/2014/main" id="{B3434C80-C570-CD9E-3E22-254C77CD5FDE}"/>
              </a:ext>
            </a:extLst>
          </p:cNvPr>
          <p:cNvSpPr/>
          <p:nvPr/>
        </p:nvSpPr>
        <p:spPr bwMode="auto">
          <a:xfrm>
            <a:off x="2405959" y="3519001"/>
            <a:ext cx="2520028" cy="612648"/>
          </a:xfrm>
          <a:prstGeom prst="wedgeRoundRectCallout">
            <a:avLst>
              <a:gd name="adj1" fmla="val -43365"/>
              <a:gd name="adj2" fmla="val 13472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err="1">
                <a:solidFill>
                  <a:schemeClr val="tx1">
                    <a:lumMod val="65000"/>
                    <a:lumOff val="35000"/>
                  </a:schemeClr>
                </a:solidFill>
                <a:latin typeface="Arial Narrow" panose="020B0606020202030204" pitchFamily="34" charset="0"/>
              </a:rPr>
              <a:t>わいの</a:t>
            </a:r>
            <a:r>
              <a:rPr kumimoji="1" lang="ja-JP" altLang="en-US" dirty="0">
                <a:solidFill>
                  <a:schemeClr val="tx1">
                    <a:lumMod val="65000"/>
                    <a:lumOff val="35000"/>
                  </a:schemeClr>
                </a:solidFill>
                <a:latin typeface="Arial Narrow" panose="020B0606020202030204" pitchFamily="34" charset="0"/>
              </a:rPr>
              <a:t>予想では </a:t>
            </a:r>
            <a:r>
              <a:rPr kumimoji="1" lang="en-US" altLang="ja-JP" dirty="0">
                <a:solidFill>
                  <a:schemeClr val="tx1">
                    <a:lumMod val="65000"/>
                    <a:lumOff val="35000"/>
                  </a:schemeClr>
                </a:solidFill>
                <a:latin typeface="Arial Narrow" panose="020B0606020202030204" pitchFamily="34" charset="0"/>
              </a:rPr>
              <a:t>else </a:t>
            </a:r>
            <a:r>
              <a:rPr kumimoji="1" lang="ja-JP" altLang="en-US" dirty="0">
                <a:solidFill>
                  <a:schemeClr val="tx1">
                    <a:lumMod val="65000"/>
                    <a:lumOff val="35000"/>
                  </a:schemeClr>
                </a:solidFill>
                <a:latin typeface="Arial Narrow" panose="020B0606020202030204" pitchFamily="34" charset="0"/>
              </a:rPr>
              <a:t>や</a:t>
            </a:r>
            <a:endParaRPr kumimoji="1" lang="en-US" altLang="ja-JP" dirty="0">
              <a:solidFill>
                <a:schemeClr val="tx1">
                  <a:lumMod val="65000"/>
                  <a:lumOff val="35000"/>
                </a:schemeClr>
              </a:solidFill>
              <a:latin typeface="Arial Narrow" panose="020B0606020202030204" pitchFamily="34" charset="0"/>
            </a:endParaRPr>
          </a:p>
        </p:txBody>
      </p:sp>
      <p:sp>
        <p:nvSpPr>
          <p:cNvPr id="26" name="角丸四角形吹き出し 26">
            <a:extLst>
              <a:ext uri="{FF2B5EF4-FFF2-40B4-BE49-F238E27FC236}">
                <a16:creationId xmlns:a16="http://schemas.microsoft.com/office/drawing/2014/main" id="{6776DFA3-5AA3-D8A1-0734-B278213D77D0}"/>
              </a:ext>
            </a:extLst>
          </p:cNvPr>
          <p:cNvSpPr/>
          <p:nvPr/>
        </p:nvSpPr>
        <p:spPr bwMode="auto">
          <a:xfrm>
            <a:off x="6906009" y="3519001"/>
            <a:ext cx="1980022" cy="612648"/>
          </a:xfrm>
          <a:prstGeom prst="wedgeRoundRectCallout">
            <a:avLst>
              <a:gd name="adj1" fmla="val -43365"/>
              <a:gd name="adj2" fmla="val 134720"/>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dirty="0">
                <a:solidFill>
                  <a:schemeClr val="tx1">
                    <a:lumMod val="65000"/>
                    <a:lumOff val="35000"/>
                  </a:schemeClr>
                </a:solidFill>
                <a:latin typeface="Arial Narrow" panose="020B0606020202030204" pitchFamily="34" charset="0"/>
              </a:rPr>
              <a:t>ほんまかいな</a:t>
            </a:r>
            <a:endParaRPr kumimoji="1" lang="en-US" altLang="ja-JP" dirty="0">
              <a:solidFill>
                <a:schemeClr val="tx1">
                  <a:lumMod val="65000"/>
                  <a:lumOff val="35000"/>
                </a:schemeClr>
              </a:solidFill>
              <a:latin typeface="Arial Narrow" panose="020B0606020202030204" pitchFamily="34" charset="0"/>
            </a:endParaRPr>
          </a:p>
          <a:p>
            <a:r>
              <a:rPr kumimoji="1" lang="ja-JP" altLang="en-US" dirty="0">
                <a:solidFill>
                  <a:schemeClr val="tx1">
                    <a:lumMod val="65000"/>
                    <a:lumOff val="35000"/>
                  </a:schemeClr>
                </a:solidFill>
                <a:latin typeface="Arial Narrow" panose="020B0606020202030204" pitchFamily="34" charset="0"/>
              </a:rPr>
              <a:t>後でたしかめるで</a:t>
            </a:r>
          </a:p>
        </p:txBody>
      </p:sp>
      <p:sp>
        <p:nvSpPr>
          <p:cNvPr id="27" name="正方形/長方形 26">
            <a:extLst>
              <a:ext uri="{FF2B5EF4-FFF2-40B4-BE49-F238E27FC236}">
                <a16:creationId xmlns:a16="http://schemas.microsoft.com/office/drawing/2014/main" id="{4D9143A2-AD6B-8305-E931-9538DCADE039}"/>
              </a:ext>
            </a:extLst>
          </p:cNvPr>
          <p:cNvSpPr/>
          <p:nvPr/>
        </p:nvSpPr>
        <p:spPr bwMode="auto">
          <a:xfrm>
            <a:off x="5465993" y="4419011"/>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1600" dirty="0">
                <a:solidFill>
                  <a:schemeClr val="accent2"/>
                </a:solidFill>
              </a:rPr>
              <a:t>ｳｿｸｻｰ</a:t>
            </a:r>
          </a:p>
        </p:txBody>
      </p:sp>
      <p:sp>
        <p:nvSpPr>
          <p:cNvPr id="28" name="正方形/長方形 27">
            <a:extLst>
              <a:ext uri="{FF2B5EF4-FFF2-40B4-BE49-F238E27FC236}">
                <a16:creationId xmlns:a16="http://schemas.microsoft.com/office/drawing/2014/main" id="{D9DF03D8-20A7-129E-EF79-DB098AF0A422}"/>
              </a:ext>
            </a:extLst>
          </p:cNvPr>
          <p:cNvSpPr/>
          <p:nvPr/>
        </p:nvSpPr>
        <p:spPr bwMode="auto">
          <a:xfrm>
            <a:off x="4115978" y="4419011"/>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kumimoji="1" lang="ja-JP" altLang="en-US" sz="1600" dirty="0">
                <a:solidFill>
                  <a:schemeClr val="accent3">
                    <a:lumMod val="75000"/>
                  </a:schemeClr>
                </a:solidFill>
              </a:rPr>
              <a:t>ﾎﾝﾄｶﾅｰ</a:t>
            </a:r>
          </a:p>
        </p:txBody>
      </p:sp>
      <p:pic>
        <p:nvPicPr>
          <p:cNvPr id="29" name="図 28" descr="文字の書かれた紙&#10;&#10;AI 生成コンテンツは誤りを含む可能性があります。">
            <a:extLst>
              <a:ext uri="{FF2B5EF4-FFF2-40B4-BE49-F238E27FC236}">
                <a16:creationId xmlns:a16="http://schemas.microsoft.com/office/drawing/2014/main" id="{1FD90C29-C366-D1E9-EF8C-EDB0FCDEF1BB}"/>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9246035" y="2618991"/>
            <a:ext cx="2774252" cy="3699003"/>
          </a:xfrm>
          <a:prstGeom prst="rect">
            <a:avLst/>
          </a:prstGeom>
        </p:spPr>
      </p:pic>
    </p:spTree>
    <p:extLst>
      <p:ext uri="{BB962C8B-B14F-4D97-AF65-F5344CB8AC3E}">
        <p14:creationId xmlns:p14="http://schemas.microsoft.com/office/powerpoint/2010/main" val="40477002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FACCC4-F6B0-61BF-E5C9-7DE6E62EC343}"/>
              </a:ext>
            </a:extLst>
          </p:cNvPr>
          <p:cNvSpPr>
            <a:spLocks noGrp="1"/>
          </p:cNvSpPr>
          <p:nvPr>
            <p:ph type="title"/>
          </p:nvPr>
        </p:nvSpPr>
        <p:spPr/>
        <p:txBody>
          <a:bodyPr/>
          <a:lstStyle/>
          <a:p>
            <a:r>
              <a:rPr lang="ja-JP" altLang="en-US" dirty="0">
                <a:latin typeface="+mn-ea"/>
              </a:rPr>
              <a:t>８回目 メモリ</a:t>
            </a:r>
            <a:endParaRPr kumimoji="1" lang="ja-JP" altLang="en-US" dirty="0"/>
          </a:p>
        </p:txBody>
      </p:sp>
      <p:sp>
        <p:nvSpPr>
          <p:cNvPr id="3" name="テキスト プレースホルダー 2">
            <a:extLst>
              <a:ext uri="{FF2B5EF4-FFF2-40B4-BE49-F238E27FC236}">
                <a16:creationId xmlns:a16="http://schemas.microsoft.com/office/drawing/2014/main" id="{EFD88C7E-ADE7-6964-3F09-8D2A250F2C3D}"/>
              </a:ext>
            </a:extLst>
          </p:cNvPr>
          <p:cNvSpPr>
            <a:spLocks noGrp="1"/>
          </p:cNvSpPr>
          <p:nvPr>
            <p:ph type="body" sz="quarter" idx="10"/>
          </p:nvPr>
        </p:nvSpPr>
        <p:spPr>
          <a:xfrm>
            <a:off x="1055944" y="1088974"/>
            <a:ext cx="10080112" cy="2430027"/>
          </a:xfrm>
        </p:spPr>
        <p:txBody>
          <a:bodyPr/>
          <a:lstStyle/>
          <a:p>
            <a:r>
              <a:rPr kumimoji="1" lang="en-US" altLang="ja-JP" dirty="0"/>
              <a:t>SRAM </a:t>
            </a:r>
            <a:r>
              <a:rPr kumimoji="1" lang="ja-JP" altLang="en-US" dirty="0"/>
              <a:t>や </a:t>
            </a:r>
            <a:r>
              <a:rPr kumimoji="1" lang="en-US" altLang="ja-JP" dirty="0"/>
              <a:t>DRAM </a:t>
            </a:r>
            <a:r>
              <a:rPr kumimoji="1" lang="ja-JP" altLang="en-US" dirty="0"/>
              <a:t>などのメモリの構造を説明</a:t>
            </a:r>
            <a:endParaRPr kumimoji="1" lang="en-US" altLang="ja-JP" dirty="0"/>
          </a:p>
          <a:p>
            <a:pPr lvl="1"/>
            <a:r>
              <a:rPr lang="ja-JP" altLang="en-US" dirty="0"/>
              <a:t>基本的な構造や特性など</a:t>
            </a:r>
            <a:endParaRPr kumimoji="1" lang="en-US" altLang="ja-JP" dirty="0"/>
          </a:p>
          <a:p>
            <a:pPr lvl="1"/>
            <a:r>
              <a:rPr kumimoji="1" lang="ja-JP" altLang="en-US" dirty="0"/>
              <a:t>チップ写真によくある「田」の字構造がなぜできるのか</a:t>
            </a:r>
            <a:endParaRPr kumimoji="1" lang="en-US" altLang="ja-JP" dirty="0"/>
          </a:p>
          <a:p>
            <a:pPr lvl="2"/>
            <a:r>
              <a:rPr lang="en-US" altLang="ja-JP" dirty="0"/>
              <a:t>Teja Singh et al., Zen: An Energy-Efficient High-Performance ×86 Core </a:t>
            </a:r>
            <a:r>
              <a:rPr lang="ja-JP" altLang="en-US" dirty="0"/>
              <a:t>より</a:t>
            </a:r>
            <a:endParaRPr kumimoji="1" lang="ja-JP" altLang="en-US" dirty="0"/>
          </a:p>
        </p:txBody>
      </p:sp>
      <p:pic>
        <p:nvPicPr>
          <p:cNvPr id="4" name="図 3">
            <a:extLst>
              <a:ext uri="{FF2B5EF4-FFF2-40B4-BE49-F238E27FC236}">
                <a16:creationId xmlns:a16="http://schemas.microsoft.com/office/drawing/2014/main" id="{B6CEDFAB-2B0E-F266-86F2-1A60069B9C9C}"/>
              </a:ext>
            </a:extLst>
          </p:cNvPr>
          <p:cNvPicPr>
            <a:picLocks noChangeAspect="1"/>
          </p:cNvPicPr>
          <p:nvPr/>
        </p:nvPicPr>
        <p:blipFill>
          <a:blip r:embed="rId2"/>
          <a:stretch>
            <a:fillRect/>
          </a:stretch>
        </p:blipFill>
        <p:spPr>
          <a:xfrm>
            <a:off x="6906009" y="3338999"/>
            <a:ext cx="3991235" cy="3165010"/>
          </a:xfrm>
          <a:prstGeom prst="rect">
            <a:avLst/>
          </a:prstGeom>
        </p:spPr>
      </p:pic>
      <p:pic>
        <p:nvPicPr>
          <p:cNvPr id="5" name="図 4">
            <a:extLst>
              <a:ext uri="{FF2B5EF4-FFF2-40B4-BE49-F238E27FC236}">
                <a16:creationId xmlns:a16="http://schemas.microsoft.com/office/drawing/2014/main" id="{2935E8CA-A4FD-29D3-D7A1-1CBF597BBFD8}"/>
              </a:ext>
            </a:extLst>
          </p:cNvPr>
          <p:cNvPicPr>
            <a:picLocks noChangeAspect="1"/>
          </p:cNvPicPr>
          <p:nvPr/>
        </p:nvPicPr>
        <p:blipFill>
          <a:blip r:embed="rId3"/>
          <a:stretch>
            <a:fillRect/>
          </a:stretch>
        </p:blipFill>
        <p:spPr>
          <a:xfrm>
            <a:off x="1145945" y="3519001"/>
            <a:ext cx="5226177" cy="2928244"/>
          </a:xfrm>
          <a:prstGeom prst="rect">
            <a:avLst/>
          </a:prstGeom>
        </p:spPr>
      </p:pic>
    </p:spTree>
    <p:extLst>
      <p:ext uri="{BB962C8B-B14F-4D97-AF65-F5344CB8AC3E}">
        <p14:creationId xmlns:p14="http://schemas.microsoft.com/office/powerpoint/2010/main" val="19777288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1FA519-B0D3-BA66-0A63-553312469577}"/>
              </a:ext>
            </a:extLst>
          </p:cNvPr>
          <p:cNvSpPr>
            <a:spLocks noGrp="1"/>
          </p:cNvSpPr>
          <p:nvPr>
            <p:ph type="title"/>
          </p:nvPr>
        </p:nvSpPr>
        <p:spPr/>
        <p:txBody>
          <a:bodyPr/>
          <a:lstStyle/>
          <a:p>
            <a:r>
              <a:rPr lang="ja-JP" altLang="en-US" dirty="0">
                <a:latin typeface="+mn-ea"/>
              </a:rPr>
              <a:t>９～１１回目 命令の並列実行，命令スケジューリング</a:t>
            </a:r>
            <a:endParaRPr kumimoji="1" lang="ja-JP" altLang="en-US" dirty="0"/>
          </a:p>
        </p:txBody>
      </p:sp>
      <p:sp>
        <p:nvSpPr>
          <p:cNvPr id="3" name="テキスト プレースホルダー 2">
            <a:extLst>
              <a:ext uri="{FF2B5EF4-FFF2-40B4-BE49-F238E27FC236}">
                <a16:creationId xmlns:a16="http://schemas.microsoft.com/office/drawing/2014/main" id="{90AF65C2-3077-D766-D9B7-5BF2899AF653}"/>
              </a:ext>
            </a:extLst>
          </p:cNvPr>
          <p:cNvSpPr>
            <a:spLocks noGrp="1"/>
          </p:cNvSpPr>
          <p:nvPr>
            <p:ph type="body" sz="quarter" idx="10"/>
          </p:nvPr>
        </p:nvSpPr>
        <p:spPr>
          <a:xfrm>
            <a:off x="695940" y="2258987"/>
            <a:ext cx="7740086" cy="1170013"/>
          </a:xfrm>
        </p:spPr>
        <p:txBody>
          <a:bodyPr/>
          <a:lstStyle/>
          <a:p>
            <a:r>
              <a:rPr kumimoji="1" lang="en-US" altLang="ja-JP" dirty="0"/>
              <a:t>CPU </a:t>
            </a:r>
            <a:r>
              <a:rPr kumimoji="1" lang="ja-JP" altLang="en-US" dirty="0"/>
              <a:t>において命令を並列に実行して性能をあげる方法を説明</a:t>
            </a:r>
            <a:endParaRPr kumimoji="1" lang="en-US" altLang="ja-JP" dirty="0"/>
          </a:p>
          <a:p>
            <a:pPr lvl="1"/>
            <a:r>
              <a:rPr kumimoji="1" lang="en-US" altLang="ja-JP" dirty="0"/>
              <a:t>Out-of-order </a:t>
            </a:r>
            <a:r>
              <a:rPr kumimoji="1" lang="ja-JP" altLang="en-US" dirty="0"/>
              <a:t>スーパスカラ・プロセッサの基本を説明</a:t>
            </a:r>
            <a:endParaRPr kumimoji="1" lang="en-US" altLang="ja-JP" dirty="0"/>
          </a:p>
          <a:p>
            <a:r>
              <a:rPr lang="ja-JP" altLang="en-US" dirty="0"/>
              <a:t>１つのカレーを並列処理で</a:t>
            </a:r>
            <a:br>
              <a:rPr lang="en-US" altLang="ja-JP" dirty="0"/>
            </a:br>
            <a:r>
              <a:rPr lang="ja-JP" altLang="en-US" dirty="0"/>
              <a:t>高速に作るのは難しいみたいな話をする</a:t>
            </a:r>
            <a:endParaRPr lang="en-US" altLang="ja-JP" dirty="0"/>
          </a:p>
          <a:p>
            <a:pPr lvl="1"/>
            <a:r>
              <a:rPr lang="ja-JP" altLang="en-US" dirty="0"/>
              <a:t>「</a:t>
            </a:r>
            <a:r>
              <a:rPr lang="en-US" altLang="ja-JP" dirty="0"/>
              <a:t>2.</a:t>
            </a:r>
            <a:r>
              <a:rPr lang="ja-JP" altLang="en-US" dirty="0"/>
              <a:t>野菜を炒める」 は</a:t>
            </a:r>
            <a:br>
              <a:rPr lang="en-US" altLang="ja-JP" dirty="0"/>
            </a:br>
            <a:r>
              <a:rPr lang="ja-JP" altLang="en-US" dirty="0"/>
              <a:t>「</a:t>
            </a:r>
            <a:r>
              <a:rPr lang="en-US" altLang="ja-JP" dirty="0"/>
              <a:t>1.</a:t>
            </a:r>
            <a:r>
              <a:rPr lang="ja-JP" altLang="en-US" dirty="0"/>
              <a:t>野菜を切る」を先にやる必要がある</a:t>
            </a:r>
            <a:endParaRPr lang="en-US" altLang="ja-JP" dirty="0"/>
          </a:p>
          <a:p>
            <a:pPr lvl="1"/>
            <a:r>
              <a:rPr lang="ja-JP" altLang="en-US" dirty="0"/>
              <a:t>「</a:t>
            </a:r>
            <a:r>
              <a:rPr lang="en-US" altLang="ja-JP" dirty="0"/>
              <a:t>2.</a:t>
            </a:r>
            <a:r>
              <a:rPr lang="ja-JP" altLang="en-US" dirty="0"/>
              <a:t>野菜を炒める」と</a:t>
            </a:r>
            <a:br>
              <a:rPr lang="en-US" altLang="ja-JP" dirty="0"/>
            </a:br>
            <a:r>
              <a:rPr lang="ja-JP" altLang="en-US" dirty="0"/>
              <a:t>「</a:t>
            </a:r>
            <a:r>
              <a:rPr lang="en-US" altLang="ja-JP" dirty="0"/>
              <a:t>3.</a:t>
            </a:r>
            <a:r>
              <a:rPr lang="ja-JP" altLang="en-US" dirty="0"/>
              <a:t>肉を切る」は並列にできる</a:t>
            </a:r>
            <a:endParaRPr kumimoji="1" lang="ja-JP" altLang="en-US" dirty="0"/>
          </a:p>
        </p:txBody>
      </p:sp>
      <p:sp>
        <p:nvSpPr>
          <p:cNvPr id="4" name="正方形/長方形 3">
            <a:extLst>
              <a:ext uri="{FF2B5EF4-FFF2-40B4-BE49-F238E27FC236}">
                <a16:creationId xmlns:a16="http://schemas.microsoft.com/office/drawing/2014/main" id="{8E9F5303-C432-6029-7E65-87A20A341008}"/>
              </a:ext>
            </a:extLst>
          </p:cNvPr>
          <p:cNvSpPr/>
          <p:nvPr/>
        </p:nvSpPr>
        <p:spPr bwMode="auto">
          <a:xfrm>
            <a:off x="6186017" y="2348988"/>
            <a:ext cx="1440000" cy="360004"/>
          </a:xfrm>
          <a:prstGeom prst="rect">
            <a:avLst/>
          </a:prstGeom>
          <a:solidFill>
            <a:schemeClr val="accent3">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3">
                    <a:lumMod val="50000"/>
                  </a:schemeClr>
                </a:solidFill>
              </a:rPr>
              <a:t>1.</a:t>
            </a:r>
            <a:r>
              <a:rPr lang="ja-JP" altLang="en-US" sz="1600" dirty="0">
                <a:solidFill>
                  <a:schemeClr val="accent3">
                    <a:lumMod val="50000"/>
                  </a:schemeClr>
                </a:solidFill>
              </a:rPr>
              <a:t>野菜を切る</a:t>
            </a:r>
          </a:p>
        </p:txBody>
      </p:sp>
      <p:sp>
        <p:nvSpPr>
          <p:cNvPr id="5" name="正方形/長方形 4">
            <a:extLst>
              <a:ext uri="{FF2B5EF4-FFF2-40B4-BE49-F238E27FC236}">
                <a16:creationId xmlns:a16="http://schemas.microsoft.com/office/drawing/2014/main" id="{85D40F70-5067-18CF-BE42-0043B4AEE2A6}"/>
              </a:ext>
            </a:extLst>
          </p:cNvPr>
          <p:cNvSpPr/>
          <p:nvPr/>
        </p:nvSpPr>
        <p:spPr bwMode="auto">
          <a:xfrm>
            <a:off x="6186017" y="2708992"/>
            <a:ext cx="1440000" cy="360004"/>
          </a:xfrm>
          <a:prstGeom prst="rect">
            <a:avLst/>
          </a:prstGeom>
          <a:solidFill>
            <a:srgbClr val="4F6228"/>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bg1"/>
                </a:solidFill>
              </a:rPr>
              <a:t>2.</a:t>
            </a:r>
            <a:r>
              <a:rPr lang="ja-JP" altLang="en-US" sz="1400" dirty="0">
                <a:solidFill>
                  <a:schemeClr val="bg1"/>
                </a:solidFill>
              </a:rPr>
              <a:t>野菜を炒める</a:t>
            </a:r>
          </a:p>
        </p:txBody>
      </p:sp>
      <p:sp>
        <p:nvSpPr>
          <p:cNvPr id="6" name="正方形/長方形 5">
            <a:extLst>
              <a:ext uri="{FF2B5EF4-FFF2-40B4-BE49-F238E27FC236}">
                <a16:creationId xmlns:a16="http://schemas.microsoft.com/office/drawing/2014/main" id="{672FD5DA-8835-3154-F858-0790AC6EDEF7}"/>
              </a:ext>
            </a:extLst>
          </p:cNvPr>
          <p:cNvSpPr/>
          <p:nvPr/>
        </p:nvSpPr>
        <p:spPr bwMode="auto">
          <a:xfrm>
            <a:off x="6186017" y="3068996"/>
            <a:ext cx="1440000" cy="360004"/>
          </a:xfrm>
          <a:prstGeom prst="rect">
            <a:avLst/>
          </a:prstGeom>
          <a:solidFill>
            <a:schemeClr val="accent2">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2">
                    <a:lumMod val="50000"/>
                  </a:schemeClr>
                </a:solidFill>
              </a:rPr>
              <a:t>3.</a:t>
            </a:r>
            <a:r>
              <a:rPr lang="ja-JP" altLang="en-US" sz="1600" dirty="0">
                <a:solidFill>
                  <a:schemeClr val="accent2">
                    <a:lumMod val="50000"/>
                  </a:schemeClr>
                </a:solidFill>
              </a:rPr>
              <a:t>肉を切る</a:t>
            </a:r>
          </a:p>
        </p:txBody>
      </p:sp>
      <p:sp>
        <p:nvSpPr>
          <p:cNvPr id="7" name="正方形/長方形 6">
            <a:extLst>
              <a:ext uri="{FF2B5EF4-FFF2-40B4-BE49-F238E27FC236}">
                <a16:creationId xmlns:a16="http://schemas.microsoft.com/office/drawing/2014/main" id="{91FCB4B6-B742-B90C-286F-E98DA65A5E2E}"/>
              </a:ext>
            </a:extLst>
          </p:cNvPr>
          <p:cNvSpPr/>
          <p:nvPr/>
        </p:nvSpPr>
        <p:spPr bwMode="auto">
          <a:xfrm>
            <a:off x="6186017" y="3429000"/>
            <a:ext cx="1440000" cy="360004"/>
          </a:xfrm>
          <a:prstGeom prst="rect">
            <a:avLst/>
          </a:prstGeom>
          <a:solidFill>
            <a:schemeClr val="accent2">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4.</a:t>
            </a:r>
            <a:r>
              <a:rPr lang="ja-JP" altLang="en-US" sz="1600" dirty="0">
                <a:solidFill>
                  <a:schemeClr val="bg1"/>
                </a:solidFill>
              </a:rPr>
              <a:t>肉を炒める</a:t>
            </a:r>
          </a:p>
        </p:txBody>
      </p:sp>
      <p:sp>
        <p:nvSpPr>
          <p:cNvPr id="8" name="正方形/長方形 7">
            <a:extLst>
              <a:ext uri="{FF2B5EF4-FFF2-40B4-BE49-F238E27FC236}">
                <a16:creationId xmlns:a16="http://schemas.microsoft.com/office/drawing/2014/main" id="{D5A37AC8-0DBD-036A-AAF7-86F91EACF0FA}"/>
              </a:ext>
            </a:extLst>
          </p:cNvPr>
          <p:cNvSpPr/>
          <p:nvPr/>
        </p:nvSpPr>
        <p:spPr bwMode="auto">
          <a:xfrm>
            <a:off x="6186017" y="3789004"/>
            <a:ext cx="1440000" cy="360004"/>
          </a:xfrm>
          <a:prstGeom prst="rect">
            <a:avLst/>
          </a:prstGeom>
          <a:solidFill>
            <a:srgbClr val="632523"/>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5.</a:t>
            </a:r>
            <a:r>
              <a:rPr lang="ja-JP" altLang="en-US" sz="1600" dirty="0">
                <a:solidFill>
                  <a:schemeClr val="bg1"/>
                </a:solidFill>
              </a:rPr>
              <a:t>煮込む</a:t>
            </a:r>
          </a:p>
        </p:txBody>
      </p:sp>
      <p:sp>
        <p:nvSpPr>
          <p:cNvPr id="9" name="正方形/長方形 8">
            <a:extLst>
              <a:ext uri="{FF2B5EF4-FFF2-40B4-BE49-F238E27FC236}">
                <a16:creationId xmlns:a16="http://schemas.microsoft.com/office/drawing/2014/main" id="{42A56AAB-056F-196C-C073-36892C1FDCC9}"/>
              </a:ext>
            </a:extLst>
          </p:cNvPr>
          <p:cNvSpPr/>
          <p:nvPr/>
        </p:nvSpPr>
        <p:spPr bwMode="auto">
          <a:xfrm>
            <a:off x="6186017" y="4149008"/>
            <a:ext cx="1440000" cy="360004"/>
          </a:xfrm>
          <a:prstGeom prst="rect">
            <a:avLst/>
          </a:prstGeom>
          <a:solidFill>
            <a:srgbClr val="6633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bg1"/>
                </a:solidFill>
              </a:rPr>
              <a:t>6.</a:t>
            </a:r>
            <a:r>
              <a:rPr lang="ja-JP" altLang="en-US" sz="1400" dirty="0">
                <a:solidFill>
                  <a:schemeClr val="bg1"/>
                </a:solidFill>
              </a:rPr>
              <a:t>ルーを入れる</a:t>
            </a:r>
          </a:p>
        </p:txBody>
      </p:sp>
      <p:sp>
        <p:nvSpPr>
          <p:cNvPr id="10" name="正方形/長方形 9">
            <a:extLst>
              <a:ext uri="{FF2B5EF4-FFF2-40B4-BE49-F238E27FC236}">
                <a16:creationId xmlns:a16="http://schemas.microsoft.com/office/drawing/2014/main" id="{0BA0D90D-D7C5-477E-9F86-C276AF1717A8}"/>
              </a:ext>
            </a:extLst>
          </p:cNvPr>
          <p:cNvSpPr/>
          <p:nvPr/>
        </p:nvSpPr>
        <p:spPr bwMode="auto">
          <a:xfrm>
            <a:off x="6186017" y="4509012"/>
            <a:ext cx="1440000" cy="360004"/>
          </a:xfrm>
          <a:prstGeom prst="rect">
            <a:avLst/>
          </a:prstGeom>
          <a:solidFill>
            <a:schemeClr val="accent6">
              <a:lumMod val="60000"/>
              <a:lumOff val="40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2">
                    <a:lumMod val="50000"/>
                  </a:schemeClr>
                </a:solidFill>
              </a:rPr>
              <a:t>7.</a:t>
            </a:r>
            <a:r>
              <a:rPr lang="ja-JP" altLang="en-US" sz="1600" dirty="0">
                <a:solidFill>
                  <a:schemeClr val="accent2">
                    <a:lumMod val="50000"/>
                  </a:schemeClr>
                </a:solidFill>
              </a:rPr>
              <a:t>コメを研ぐ</a:t>
            </a:r>
          </a:p>
        </p:txBody>
      </p:sp>
      <p:sp>
        <p:nvSpPr>
          <p:cNvPr id="11" name="正方形/長方形 10">
            <a:extLst>
              <a:ext uri="{FF2B5EF4-FFF2-40B4-BE49-F238E27FC236}">
                <a16:creationId xmlns:a16="http://schemas.microsoft.com/office/drawing/2014/main" id="{DE26A883-D005-9EE3-E110-224C2E3A323B}"/>
              </a:ext>
            </a:extLst>
          </p:cNvPr>
          <p:cNvSpPr/>
          <p:nvPr/>
        </p:nvSpPr>
        <p:spPr bwMode="auto">
          <a:xfrm>
            <a:off x="6186017" y="4869016"/>
            <a:ext cx="1440000" cy="360004"/>
          </a:xfrm>
          <a:prstGeom prst="rect">
            <a:avLst/>
          </a:prstGeom>
          <a:solidFill>
            <a:schemeClr val="accent6">
              <a:lumMod val="75000"/>
            </a:schemeClr>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8.</a:t>
            </a:r>
            <a:r>
              <a:rPr lang="ja-JP" altLang="en-US" sz="1600" dirty="0">
                <a:solidFill>
                  <a:schemeClr val="bg1"/>
                </a:solidFill>
              </a:rPr>
              <a:t>コメを炊く</a:t>
            </a:r>
          </a:p>
        </p:txBody>
      </p:sp>
      <p:sp>
        <p:nvSpPr>
          <p:cNvPr id="12" name="正方形/長方形 11">
            <a:extLst>
              <a:ext uri="{FF2B5EF4-FFF2-40B4-BE49-F238E27FC236}">
                <a16:creationId xmlns:a16="http://schemas.microsoft.com/office/drawing/2014/main" id="{51242BFF-72FF-F39B-DD0B-730414AA6FB8}"/>
              </a:ext>
            </a:extLst>
          </p:cNvPr>
          <p:cNvSpPr/>
          <p:nvPr/>
        </p:nvSpPr>
        <p:spPr bwMode="auto">
          <a:xfrm>
            <a:off x="6186017" y="5229020"/>
            <a:ext cx="1440000" cy="360004"/>
          </a:xfrm>
          <a:prstGeom prst="rect">
            <a:avLst/>
          </a:prstGeom>
          <a:solidFill>
            <a:srgbClr val="CC9900"/>
          </a:solid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bg1"/>
                </a:solidFill>
              </a:rPr>
              <a:t>9.</a:t>
            </a:r>
            <a:r>
              <a:rPr lang="ja-JP" altLang="en-US" sz="1600" dirty="0">
                <a:solidFill>
                  <a:schemeClr val="bg1"/>
                </a:solidFill>
              </a:rPr>
              <a:t>もりつける</a:t>
            </a:r>
          </a:p>
        </p:txBody>
      </p:sp>
      <p:grpSp>
        <p:nvGrpSpPr>
          <p:cNvPr id="14" name="グループ化 13">
            <a:extLst>
              <a:ext uri="{FF2B5EF4-FFF2-40B4-BE49-F238E27FC236}">
                <a16:creationId xmlns:a16="http://schemas.microsoft.com/office/drawing/2014/main" id="{DEF6D44E-E7FC-0A8D-D675-ACC4E79489C3}"/>
              </a:ext>
            </a:extLst>
          </p:cNvPr>
          <p:cNvGrpSpPr/>
          <p:nvPr/>
        </p:nvGrpSpPr>
        <p:grpSpPr>
          <a:xfrm>
            <a:off x="7896020" y="4059007"/>
            <a:ext cx="1562400" cy="576064"/>
            <a:chOff x="971600" y="5445224"/>
            <a:chExt cx="7200800" cy="576064"/>
          </a:xfrm>
        </p:grpSpPr>
        <p:sp>
          <p:nvSpPr>
            <p:cNvPr id="15" name="平行四辺形 14">
              <a:extLst>
                <a:ext uri="{FF2B5EF4-FFF2-40B4-BE49-F238E27FC236}">
                  <a16:creationId xmlns:a16="http://schemas.microsoft.com/office/drawing/2014/main" id="{58F3091B-1C0A-5240-4BA0-FF336EBF84C1}"/>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6" name="平行四辺形 15">
              <a:extLst>
                <a:ext uri="{FF2B5EF4-FFF2-40B4-BE49-F238E27FC236}">
                  <a16:creationId xmlns:a16="http://schemas.microsoft.com/office/drawing/2014/main" id="{AE2FE508-0831-41CE-476C-0F0B27DD7DEB}"/>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7" name="グループ化 16">
            <a:extLst>
              <a:ext uri="{FF2B5EF4-FFF2-40B4-BE49-F238E27FC236}">
                <a16:creationId xmlns:a16="http://schemas.microsoft.com/office/drawing/2014/main" id="{BAD08C45-8278-73B9-C2AD-5AC1B60A48CE}"/>
              </a:ext>
            </a:extLst>
          </p:cNvPr>
          <p:cNvGrpSpPr/>
          <p:nvPr/>
        </p:nvGrpSpPr>
        <p:grpSpPr>
          <a:xfrm>
            <a:off x="10146045" y="2348988"/>
            <a:ext cx="1562400" cy="576064"/>
            <a:chOff x="971600" y="5445224"/>
            <a:chExt cx="7200800" cy="576064"/>
          </a:xfrm>
        </p:grpSpPr>
        <p:sp>
          <p:nvSpPr>
            <p:cNvPr id="18" name="平行四辺形 17">
              <a:extLst>
                <a:ext uri="{FF2B5EF4-FFF2-40B4-BE49-F238E27FC236}">
                  <a16:creationId xmlns:a16="http://schemas.microsoft.com/office/drawing/2014/main" id="{F2D46A82-B8FA-DDA9-1C40-C158CBE290C3}"/>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 name="平行四辺形 18">
              <a:extLst>
                <a:ext uri="{FF2B5EF4-FFF2-40B4-BE49-F238E27FC236}">
                  <a16:creationId xmlns:a16="http://schemas.microsoft.com/office/drawing/2014/main" id="{1BD7B405-E5A2-97FC-886E-450B1004321C}"/>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0" name="グループ化 19">
            <a:extLst>
              <a:ext uri="{FF2B5EF4-FFF2-40B4-BE49-F238E27FC236}">
                <a16:creationId xmlns:a16="http://schemas.microsoft.com/office/drawing/2014/main" id="{A0D0784C-A29B-74DA-8BA7-810FC53968D4}"/>
              </a:ext>
            </a:extLst>
          </p:cNvPr>
          <p:cNvGrpSpPr/>
          <p:nvPr/>
        </p:nvGrpSpPr>
        <p:grpSpPr>
          <a:xfrm>
            <a:off x="10092173" y="4094957"/>
            <a:ext cx="1562400" cy="576064"/>
            <a:chOff x="971600" y="5445224"/>
            <a:chExt cx="7200800" cy="576064"/>
          </a:xfrm>
        </p:grpSpPr>
        <p:sp>
          <p:nvSpPr>
            <p:cNvPr id="21" name="平行四辺形 20">
              <a:extLst>
                <a:ext uri="{FF2B5EF4-FFF2-40B4-BE49-F238E27FC236}">
                  <a16:creationId xmlns:a16="http://schemas.microsoft.com/office/drawing/2014/main" id="{720ADE38-111D-0584-2E8F-68627FC82841}"/>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2" name="平行四辺形 21">
              <a:extLst>
                <a:ext uri="{FF2B5EF4-FFF2-40B4-BE49-F238E27FC236}">
                  <a16:creationId xmlns:a16="http://schemas.microsoft.com/office/drawing/2014/main" id="{F1438189-D2E0-9851-686F-293688BA9353}"/>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3" name="グループ化 22">
            <a:extLst>
              <a:ext uri="{FF2B5EF4-FFF2-40B4-BE49-F238E27FC236}">
                <a16:creationId xmlns:a16="http://schemas.microsoft.com/office/drawing/2014/main" id="{1F6BC254-7F62-9A39-A64A-B62563D4AA17}"/>
              </a:ext>
            </a:extLst>
          </p:cNvPr>
          <p:cNvGrpSpPr/>
          <p:nvPr/>
        </p:nvGrpSpPr>
        <p:grpSpPr>
          <a:xfrm>
            <a:off x="10056332" y="5949028"/>
            <a:ext cx="1584176" cy="576064"/>
            <a:chOff x="971600" y="5445224"/>
            <a:chExt cx="7200800" cy="576064"/>
          </a:xfrm>
        </p:grpSpPr>
        <p:sp>
          <p:nvSpPr>
            <p:cNvPr id="24" name="平行四辺形 23">
              <a:extLst>
                <a:ext uri="{FF2B5EF4-FFF2-40B4-BE49-F238E27FC236}">
                  <a16:creationId xmlns:a16="http://schemas.microsoft.com/office/drawing/2014/main" id="{BCAF609E-7928-CC0F-5E74-DC7CEA2EA182}"/>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5" name="平行四辺形 24">
              <a:extLst>
                <a:ext uri="{FF2B5EF4-FFF2-40B4-BE49-F238E27FC236}">
                  <a16:creationId xmlns:a16="http://schemas.microsoft.com/office/drawing/2014/main" id="{C2DD2DDE-D19C-FA94-E27B-F8497353F5A2}"/>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26" name="正方形/長方形 25">
            <a:extLst>
              <a:ext uri="{FF2B5EF4-FFF2-40B4-BE49-F238E27FC236}">
                <a16:creationId xmlns:a16="http://schemas.microsoft.com/office/drawing/2014/main" id="{748BED93-385D-40F5-037B-F06DCB956C9A}"/>
              </a:ext>
            </a:extLst>
          </p:cNvPr>
          <p:cNvSpPr/>
          <p:nvPr/>
        </p:nvSpPr>
        <p:spPr>
          <a:xfrm>
            <a:off x="7857860" y="3194464"/>
            <a:ext cx="1028171"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7" name="正方形/長方形 26">
            <a:extLst>
              <a:ext uri="{FF2B5EF4-FFF2-40B4-BE49-F238E27FC236}">
                <a16:creationId xmlns:a16="http://schemas.microsoft.com/office/drawing/2014/main" id="{323AD755-EAB0-51BD-C9E9-23C074E94D55}"/>
              </a:ext>
            </a:extLst>
          </p:cNvPr>
          <p:cNvSpPr/>
          <p:nvPr/>
        </p:nvSpPr>
        <p:spPr>
          <a:xfrm>
            <a:off x="10107885" y="1484445"/>
            <a:ext cx="937991"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8" name="正方形/長方形 27">
            <a:extLst>
              <a:ext uri="{FF2B5EF4-FFF2-40B4-BE49-F238E27FC236}">
                <a16:creationId xmlns:a16="http://schemas.microsoft.com/office/drawing/2014/main" id="{016FF167-7AE9-660B-472E-30A877009978}"/>
              </a:ext>
            </a:extLst>
          </p:cNvPr>
          <p:cNvSpPr/>
          <p:nvPr/>
        </p:nvSpPr>
        <p:spPr>
          <a:xfrm>
            <a:off x="10055900" y="3248998"/>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9" name="正方形/長方形 28">
            <a:extLst>
              <a:ext uri="{FF2B5EF4-FFF2-40B4-BE49-F238E27FC236}">
                <a16:creationId xmlns:a16="http://schemas.microsoft.com/office/drawing/2014/main" id="{6D1E5229-C63F-8497-7212-1D42D059ADF2}"/>
              </a:ext>
            </a:extLst>
          </p:cNvPr>
          <p:cNvSpPr/>
          <p:nvPr/>
        </p:nvSpPr>
        <p:spPr>
          <a:xfrm>
            <a:off x="10020059" y="5103069"/>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0" name="角丸四角形 45">
            <a:extLst>
              <a:ext uri="{FF2B5EF4-FFF2-40B4-BE49-F238E27FC236}">
                <a16:creationId xmlns:a16="http://schemas.microsoft.com/office/drawing/2014/main" id="{33B494FA-EF5C-7BC9-7A3E-B9708CFF3E86}"/>
              </a:ext>
            </a:extLst>
          </p:cNvPr>
          <p:cNvSpPr/>
          <p:nvPr/>
        </p:nvSpPr>
        <p:spPr bwMode="auto">
          <a:xfrm>
            <a:off x="10511922" y="2168986"/>
            <a:ext cx="720008" cy="360004"/>
          </a:xfrm>
          <a:prstGeom prst="roundRect">
            <a:avLst/>
          </a:prstGeom>
          <a:solidFill>
            <a:srgbClr val="D99694"/>
          </a:solidFill>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kumimoji="1" lang="ja-JP" altLang="en-US" sz="1400" b="1" dirty="0">
                <a:solidFill>
                  <a:schemeClr val="bg1"/>
                </a:solidFill>
                <a:latin typeface="Arial Narrow" panose="020B0606020202030204" pitchFamily="34" charset="0"/>
              </a:rPr>
              <a:t>肉切る</a:t>
            </a:r>
          </a:p>
        </p:txBody>
      </p:sp>
      <p:sp>
        <p:nvSpPr>
          <p:cNvPr id="31" name="角丸四角形 46">
            <a:extLst>
              <a:ext uri="{FF2B5EF4-FFF2-40B4-BE49-F238E27FC236}">
                <a16:creationId xmlns:a16="http://schemas.microsoft.com/office/drawing/2014/main" id="{9A7D0946-DBBE-DB69-94ED-48980E48E531}"/>
              </a:ext>
            </a:extLst>
          </p:cNvPr>
          <p:cNvSpPr/>
          <p:nvPr/>
        </p:nvSpPr>
        <p:spPr bwMode="auto">
          <a:xfrm>
            <a:off x="8262041" y="3879005"/>
            <a:ext cx="720008" cy="360004"/>
          </a:xfrm>
          <a:prstGeom prst="roundRect">
            <a:avLst/>
          </a:prstGeom>
          <a:solidFill>
            <a:srgbClr val="632523"/>
          </a:solidFill>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kumimoji="1" lang="ja-JP" altLang="en-US" sz="1400" b="1" dirty="0">
                <a:solidFill>
                  <a:schemeClr val="bg1"/>
                </a:solidFill>
                <a:latin typeface="Arial Narrow" panose="020B0606020202030204" pitchFamily="34" charset="0"/>
              </a:rPr>
              <a:t>煮込み</a:t>
            </a:r>
          </a:p>
        </p:txBody>
      </p:sp>
      <p:sp>
        <p:nvSpPr>
          <p:cNvPr id="32" name="角丸四角形吹き出し 42">
            <a:extLst>
              <a:ext uri="{FF2B5EF4-FFF2-40B4-BE49-F238E27FC236}">
                <a16:creationId xmlns:a16="http://schemas.microsoft.com/office/drawing/2014/main" id="{8BD651F1-6915-7F7F-C8B9-131531F29042}"/>
              </a:ext>
            </a:extLst>
          </p:cNvPr>
          <p:cNvSpPr/>
          <p:nvPr/>
        </p:nvSpPr>
        <p:spPr bwMode="auto">
          <a:xfrm>
            <a:off x="10685907" y="4869016"/>
            <a:ext cx="1080012" cy="432647"/>
          </a:xfrm>
          <a:prstGeom prst="wedgeRoundRectCallout">
            <a:avLst>
              <a:gd name="adj1" fmla="val -46134"/>
              <a:gd name="adj2" fmla="val 94815"/>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煮ます！</a:t>
            </a:r>
          </a:p>
        </p:txBody>
      </p:sp>
      <p:sp>
        <p:nvSpPr>
          <p:cNvPr id="33" name="角丸四角形吹き出し 44">
            <a:extLst>
              <a:ext uri="{FF2B5EF4-FFF2-40B4-BE49-F238E27FC236}">
                <a16:creationId xmlns:a16="http://schemas.microsoft.com/office/drawing/2014/main" id="{68C61FAA-807A-591F-13B8-F74140C6B0D9}"/>
              </a:ext>
            </a:extLst>
          </p:cNvPr>
          <p:cNvSpPr/>
          <p:nvPr/>
        </p:nvSpPr>
        <p:spPr bwMode="auto">
          <a:xfrm>
            <a:off x="10775908" y="1268976"/>
            <a:ext cx="1080012" cy="432647"/>
          </a:xfrm>
          <a:prstGeom prst="wedgeRoundRectCallout">
            <a:avLst>
              <a:gd name="adj1" fmla="val -41466"/>
              <a:gd name="adj2" fmla="val 84351"/>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切ります！</a:t>
            </a:r>
          </a:p>
        </p:txBody>
      </p:sp>
      <p:sp>
        <p:nvSpPr>
          <p:cNvPr id="34" name="角丸四角形吹き出し 44">
            <a:extLst>
              <a:ext uri="{FF2B5EF4-FFF2-40B4-BE49-F238E27FC236}">
                <a16:creationId xmlns:a16="http://schemas.microsoft.com/office/drawing/2014/main" id="{D5F5BD2E-85D2-7D9B-FDA0-5046F8EC943F}"/>
              </a:ext>
            </a:extLst>
          </p:cNvPr>
          <p:cNvSpPr/>
          <p:nvPr/>
        </p:nvSpPr>
        <p:spPr bwMode="auto">
          <a:xfrm>
            <a:off x="8256024" y="2528990"/>
            <a:ext cx="1800020" cy="702650"/>
          </a:xfrm>
          <a:prstGeom prst="wedgeRoundRectCallout">
            <a:avLst>
              <a:gd name="adj1" fmla="val -34939"/>
              <a:gd name="adj2" fmla="val 73728"/>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これ今やっても</a:t>
            </a:r>
            <a:endParaRPr lang="en-US" altLang="ja-JP" sz="1400" dirty="0">
              <a:solidFill>
                <a:schemeClr val="tx1">
                  <a:lumMod val="65000"/>
                  <a:lumOff val="35000"/>
                </a:schemeClr>
              </a:solidFill>
              <a:latin typeface="Arial Narrow" panose="020B0606020202030204" pitchFamily="34" charset="0"/>
            </a:endParaRPr>
          </a:p>
          <a:p>
            <a:r>
              <a:rPr lang="ja-JP" altLang="en-US" sz="1400" dirty="0">
                <a:solidFill>
                  <a:schemeClr val="tx1">
                    <a:lumMod val="65000"/>
                    <a:lumOff val="35000"/>
                  </a:schemeClr>
                </a:solidFill>
                <a:latin typeface="Arial Narrow" panose="020B0606020202030204" pitchFamily="34" charset="0"/>
              </a:rPr>
              <a:t>ええんかな？（ｱｶﾝ</a:t>
            </a:r>
          </a:p>
        </p:txBody>
      </p:sp>
      <p:sp>
        <p:nvSpPr>
          <p:cNvPr id="35" name="角丸四角形吹き出し 44">
            <a:extLst>
              <a:ext uri="{FF2B5EF4-FFF2-40B4-BE49-F238E27FC236}">
                <a16:creationId xmlns:a16="http://schemas.microsoft.com/office/drawing/2014/main" id="{DA089A3B-AF0E-5F2F-2779-1FF7F6FD88A7}"/>
              </a:ext>
            </a:extLst>
          </p:cNvPr>
          <p:cNvSpPr/>
          <p:nvPr/>
        </p:nvSpPr>
        <p:spPr bwMode="auto">
          <a:xfrm>
            <a:off x="10776052" y="3194947"/>
            <a:ext cx="1025852" cy="342645"/>
          </a:xfrm>
          <a:prstGeom prst="wedgeRoundRectCallout">
            <a:avLst>
              <a:gd name="adj1" fmla="val -41466"/>
              <a:gd name="adj2" fmla="val 84351"/>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炒めます！</a:t>
            </a:r>
          </a:p>
        </p:txBody>
      </p:sp>
      <p:sp>
        <p:nvSpPr>
          <p:cNvPr id="36" name="角丸四角形 45">
            <a:extLst>
              <a:ext uri="{FF2B5EF4-FFF2-40B4-BE49-F238E27FC236}">
                <a16:creationId xmlns:a16="http://schemas.microsoft.com/office/drawing/2014/main" id="{9BFB390C-680A-2699-E649-560B1EA1A0C5}"/>
              </a:ext>
            </a:extLst>
          </p:cNvPr>
          <p:cNvSpPr/>
          <p:nvPr/>
        </p:nvSpPr>
        <p:spPr bwMode="auto">
          <a:xfrm>
            <a:off x="10506049" y="3969006"/>
            <a:ext cx="720008" cy="360004"/>
          </a:xfrm>
          <a:prstGeom prst="roundRect">
            <a:avLst/>
          </a:prstGeom>
          <a:solidFill>
            <a:srgbClr val="4F6228"/>
          </a:solidFill>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kumimoji="1" lang="ja-JP" altLang="en-US" sz="1400" b="1" dirty="0">
                <a:solidFill>
                  <a:schemeClr val="bg1"/>
                </a:solidFill>
                <a:latin typeface="Arial Narrow" panose="020B0606020202030204" pitchFamily="34" charset="0"/>
              </a:rPr>
              <a:t>野菜炒る</a:t>
            </a:r>
          </a:p>
        </p:txBody>
      </p:sp>
      <p:sp>
        <p:nvSpPr>
          <p:cNvPr id="37" name="矢印: 右 36">
            <a:extLst>
              <a:ext uri="{FF2B5EF4-FFF2-40B4-BE49-F238E27FC236}">
                <a16:creationId xmlns:a16="http://schemas.microsoft.com/office/drawing/2014/main" id="{7542BA08-9949-496C-7951-3B125FE471E7}"/>
              </a:ext>
            </a:extLst>
          </p:cNvPr>
          <p:cNvSpPr/>
          <p:nvPr/>
        </p:nvSpPr>
        <p:spPr bwMode="auto">
          <a:xfrm>
            <a:off x="9426037" y="3519001"/>
            <a:ext cx="450005" cy="630007"/>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Tree>
    <p:extLst>
      <p:ext uri="{BB962C8B-B14F-4D97-AF65-F5344CB8AC3E}">
        <p14:creationId xmlns:p14="http://schemas.microsoft.com/office/powerpoint/2010/main" val="9184165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92FE6F-9B79-6829-3679-D986BC377A8E}"/>
              </a:ext>
            </a:extLst>
          </p:cNvPr>
          <p:cNvSpPr>
            <a:spLocks noGrp="1"/>
          </p:cNvSpPr>
          <p:nvPr>
            <p:ph type="title"/>
          </p:nvPr>
        </p:nvSpPr>
        <p:spPr/>
        <p:txBody>
          <a:bodyPr/>
          <a:lstStyle/>
          <a:p>
            <a:r>
              <a:rPr lang="ja-JP" altLang="en-US" dirty="0">
                <a:latin typeface="+mn-ea"/>
              </a:rPr>
              <a:t>１１回目 </a:t>
            </a:r>
            <a:r>
              <a:rPr lang="en-US" altLang="ja-JP" dirty="0">
                <a:latin typeface="+mn-ea"/>
              </a:rPr>
              <a:t>GPU </a:t>
            </a:r>
            <a:endParaRPr kumimoji="1" lang="ja-JP" altLang="en-US" dirty="0"/>
          </a:p>
        </p:txBody>
      </p:sp>
      <p:sp>
        <p:nvSpPr>
          <p:cNvPr id="3" name="テキスト プレースホルダー 2">
            <a:extLst>
              <a:ext uri="{FF2B5EF4-FFF2-40B4-BE49-F238E27FC236}">
                <a16:creationId xmlns:a16="http://schemas.microsoft.com/office/drawing/2014/main" id="{A48872A4-93A8-5100-EE7F-A4D7CA2AD649}"/>
              </a:ext>
            </a:extLst>
          </p:cNvPr>
          <p:cNvSpPr>
            <a:spLocks noGrp="1"/>
          </p:cNvSpPr>
          <p:nvPr>
            <p:ph type="body" sz="quarter" idx="10"/>
          </p:nvPr>
        </p:nvSpPr>
        <p:spPr>
          <a:xfrm>
            <a:off x="1325947" y="1358977"/>
            <a:ext cx="10440116" cy="810009"/>
          </a:xfrm>
        </p:spPr>
        <p:txBody>
          <a:bodyPr/>
          <a:lstStyle/>
          <a:p>
            <a:r>
              <a:rPr lang="en-US" altLang="ja-JP" dirty="0"/>
              <a:t>GPU </a:t>
            </a:r>
            <a:r>
              <a:rPr lang="ja-JP" altLang="en-US" dirty="0"/>
              <a:t>における回路量あたりの性能向上を説明</a:t>
            </a:r>
            <a:endParaRPr lang="en-US" altLang="ja-JP" dirty="0"/>
          </a:p>
          <a:p>
            <a:pPr lvl="1"/>
            <a:r>
              <a:rPr lang="en-US" altLang="ja-JP" dirty="0"/>
              <a:t>SIMD </a:t>
            </a:r>
            <a:r>
              <a:rPr lang="ja-JP" altLang="en-US" dirty="0"/>
              <a:t>による制御部の共有などによる</a:t>
            </a:r>
            <a:endParaRPr lang="en-US" altLang="ja-JP" dirty="0"/>
          </a:p>
          <a:p>
            <a:pPr lvl="2"/>
            <a:r>
              <a:rPr lang="ja-JP" altLang="en-US" dirty="0"/>
              <a:t>レシピを読んで複数人のシェフに同じ調理をお願いするみたいな話</a:t>
            </a:r>
            <a:endParaRPr lang="en-US" altLang="ja-JP" dirty="0"/>
          </a:p>
          <a:p>
            <a:pPr lvl="1"/>
            <a:r>
              <a:rPr lang="ja-JP" altLang="en-US" dirty="0"/>
              <a:t>各社の </a:t>
            </a:r>
            <a:r>
              <a:rPr lang="en-US" altLang="ja-JP" dirty="0"/>
              <a:t>GPU </a:t>
            </a:r>
            <a:r>
              <a:rPr lang="ja-JP" altLang="en-US" dirty="0"/>
              <a:t>のやり方の違いなど</a:t>
            </a:r>
            <a:endParaRPr lang="en-US" altLang="ja-JP" dirty="0"/>
          </a:p>
        </p:txBody>
      </p:sp>
      <p:pic>
        <p:nvPicPr>
          <p:cNvPr id="4" name="図 3">
            <a:extLst>
              <a:ext uri="{FF2B5EF4-FFF2-40B4-BE49-F238E27FC236}">
                <a16:creationId xmlns:a16="http://schemas.microsoft.com/office/drawing/2014/main" id="{77F9F07F-CA3C-4E18-FB62-E15E4EAF9701}"/>
              </a:ext>
            </a:extLst>
          </p:cNvPr>
          <p:cNvPicPr>
            <a:picLocks noChangeAspect="1"/>
          </p:cNvPicPr>
          <p:nvPr/>
        </p:nvPicPr>
        <p:blipFill>
          <a:blip r:embed="rId2"/>
          <a:stretch>
            <a:fillRect/>
          </a:stretch>
        </p:blipFill>
        <p:spPr>
          <a:xfrm>
            <a:off x="5645995" y="2708992"/>
            <a:ext cx="6435291" cy="3735562"/>
          </a:xfrm>
          <a:prstGeom prst="rect">
            <a:avLst/>
          </a:prstGeom>
        </p:spPr>
      </p:pic>
      <p:sp>
        <p:nvSpPr>
          <p:cNvPr id="5" name="平行四辺形 4">
            <a:extLst>
              <a:ext uri="{FF2B5EF4-FFF2-40B4-BE49-F238E27FC236}">
                <a16:creationId xmlns:a16="http://schemas.microsoft.com/office/drawing/2014/main" id="{D4A9B524-8EF1-4155-07AD-72E867F68891}"/>
              </a:ext>
            </a:extLst>
          </p:cNvPr>
          <p:cNvSpPr/>
          <p:nvPr/>
        </p:nvSpPr>
        <p:spPr bwMode="auto">
          <a:xfrm>
            <a:off x="1145945" y="4511633"/>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正方形/長方形 5">
            <a:extLst>
              <a:ext uri="{FF2B5EF4-FFF2-40B4-BE49-F238E27FC236}">
                <a16:creationId xmlns:a16="http://schemas.microsoft.com/office/drawing/2014/main" id="{0569ED6D-D9B9-7F96-E3FB-58DE9AC07160}"/>
              </a:ext>
            </a:extLst>
          </p:cNvPr>
          <p:cNvSpPr/>
          <p:nvPr/>
        </p:nvSpPr>
        <p:spPr>
          <a:xfrm>
            <a:off x="1595950" y="3701624"/>
            <a:ext cx="1440016"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 name="平行四辺形 6">
            <a:extLst>
              <a:ext uri="{FF2B5EF4-FFF2-40B4-BE49-F238E27FC236}">
                <a16:creationId xmlns:a16="http://schemas.microsoft.com/office/drawing/2014/main" id="{03C6CEFC-7EFE-B26D-278A-23C6C805D53D}"/>
              </a:ext>
            </a:extLst>
          </p:cNvPr>
          <p:cNvSpPr/>
          <p:nvPr/>
        </p:nvSpPr>
        <p:spPr bwMode="auto">
          <a:xfrm>
            <a:off x="2765963" y="3881626"/>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 name="正方形/長方形 7">
            <a:extLst>
              <a:ext uri="{FF2B5EF4-FFF2-40B4-BE49-F238E27FC236}">
                <a16:creationId xmlns:a16="http://schemas.microsoft.com/office/drawing/2014/main" id="{81C81243-E811-3896-9CD1-9973BCDCA67A}"/>
              </a:ext>
            </a:extLst>
          </p:cNvPr>
          <p:cNvSpPr/>
          <p:nvPr/>
        </p:nvSpPr>
        <p:spPr>
          <a:xfrm>
            <a:off x="3125967" y="3071617"/>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9" name="角丸四角形吹き出し 44">
            <a:extLst>
              <a:ext uri="{FF2B5EF4-FFF2-40B4-BE49-F238E27FC236}">
                <a16:creationId xmlns:a16="http://schemas.microsoft.com/office/drawing/2014/main" id="{1CF07CF3-7C94-0B1A-5D68-32E2434E734B}"/>
              </a:ext>
            </a:extLst>
          </p:cNvPr>
          <p:cNvSpPr/>
          <p:nvPr/>
        </p:nvSpPr>
        <p:spPr bwMode="auto">
          <a:xfrm>
            <a:off x="2045955" y="2891615"/>
            <a:ext cx="990011" cy="522648"/>
          </a:xfrm>
          <a:prstGeom prst="wedgeRoundRectCallout">
            <a:avLst>
              <a:gd name="adj1" fmla="val -32299"/>
              <a:gd name="adj2" fmla="val 154333"/>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炒め</a:t>
            </a:r>
            <a:r>
              <a:rPr lang="ja-JP" altLang="en-US" sz="1400" b="1" dirty="0">
                <a:solidFill>
                  <a:schemeClr val="accent5"/>
                </a:solidFill>
                <a:latin typeface="Arial Narrow" panose="020B0606020202030204" pitchFamily="34" charset="0"/>
              </a:rPr>
              <a:t>３つ</a:t>
            </a:r>
            <a:br>
              <a:rPr lang="en-US" altLang="ja-JP" sz="1400" dirty="0">
                <a:solidFill>
                  <a:schemeClr val="tx1">
                    <a:lumMod val="65000"/>
                    <a:lumOff val="35000"/>
                  </a:schemeClr>
                </a:solidFill>
                <a:latin typeface="Arial Narrow" panose="020B0606020202030204" pitchFamily="34" charset="0"/>
              </a:rPr>
            </a:br>
            <a:r>
              <a:rPr lang="ja-JP" altLang="en-US" sz="1400" dirty="0">
                <a:solidFill>
                  <a:schemeClr val="tx1">
                    <a:lumMod val="65000"/>
                    <a:lumOff val="35000"/>
                  </a:schemeClr>
                </a:solidFill>
                <a:latin typeface="Arial Narrow" panose="020B0606020202030204" pitchFamily="34" charset="0"/>
              </a:rPr>
              <a:t>たのむで！</a:t>
            </a:r>
          </a:p>
        </p:txBody>
      </p:sp>
      <p:sp>
        <p:nvSpPr>
          <p:cNvPr id="10" name="角丸四角形吹き出し 44">
            <a:extLst>
              <a:ext uri="{FF2B5EF4-FFF2-40B4-BE49-F238E27FC236}">
                <a16:creationId xmlns:a16="http://schemas.microsoft.com/office/drawing/2014/main" id="{4337DB50-C140-4907-0FC1-DF4BDD3DF0DF}"/>
              </a:ext>
            </a:extLst>
          </p:cNvPr>
          <p:cNvSpPr/>
          <p:nvPr/>
        </p:nvSpPr>
        <p:spPr bwMode="auto">
          <a:xfrm>
            <a:off x="3845975" y="2891615"/>
            <a:ext cx="720008" cy="324054"/>
          </a:xfrm>
          <a:prstGeom prst="wedgeRoundRectCallout">
            <a:avLst>
              <a:gd name="adj1" fmla="val -41466"/>
              <a:gd name="adj2" fmla="val 84351"/>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200" dirty="0">
                <a:solidFill>
                  <a:schemeClr val="tx1">
                    <a:lumMod val="65000"/>
                    <a:lumOff val="35000"/>
                  </a:schemeClr>
                </a:solidFill>
                <a:latin typeface="Arial Narrow" panose="020B0606020202030204" pitchFamily="34" charset="0"/>
              </a:rPr>
              <a:t>はーい</a:t>
            </a:r>
          </a:p>
        </p:txBody>
      </p:sp>
      <p:sp>
        <p:nvSpPr>
          <p:cNvPr id="11" name="平行四辺形 10">
            <a:extLst>
              <a:ext uri="{FF2B5EF4-FFF2-40B4-BE49-F238E27FC236}">
                <a16:creationId xmlns:a16="http://schemas.microsoft.com/office/drawing/2014/main" id="{9991C9BC-4704-8700-E21E-0579C87AD0A7}"/>
              </a:ext>
            </a:extLst>
          </p:cNvPr>
          <p:cNvSpPr/>
          <p:nvPr/>
        </p:nvSpPr>
        <p:spPr bwMode="auto">
          <a:xfrm>
            <a:off x="2765963" y="4511633"/>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a:extLst>
              <a:ext uri="{FF2B5EF4-FFF2-40B4-BE49-F238E27FC236}">
                <a16:creationId xmlns:a16="http://schemas.microsoft.com/office/drawing/2014/main" id="{A3519AE0-F4C7-8507-251F-F6BD83B4D1C7}"/>
              </a:ext>
            </a:extLst>
          </p:cNvPr>
          <p:cNvSpPr/>
          <p:nvPr/>
        </p:nvSpPr>
        <p:spPr bwMode="auto">
          <a:xfrm>
            <a:off x="2675962" y="5150602"/>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cxnSp>
        <p:nvCxnSpPr>
          <p:cNvPr id="13" name="直線矢印コネクタ 12">
            <a:extLst>
              <a:ext uri="{FF2B5EF4-FFF2-40B4-BE49-F238E27FC236}">
                <a16:creationId xmlns:a16="http://schemas.microsoft.com/office/drawing/2014/main" id="{72D9ABF2-94F9-DD9B-FC2F-793AB068C3C9}"/>
              </a:ext>
            </a:extLst>
          </p:cNvPr>
          <p:cNvCxnSpPr>
            <a:cxnSpLocks/>
          </p:cNvCxnSpPr>
          <p:nvPr/>
        </p:nvCxnSpPr>
        <p:spPr bwMode="auto">
          <a:xfrm flipV="1">
            <a:off x="2495960" y="4151629"/>
            <a:ext cx="540006" cy="450005"/>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14" name="直線矢印コネクタ 13">
            <a:extLst>
              <a:ext uri="{FF2B5EF4-FFF2-40B4-BE49-F238E27FC236}">
                <a16:creationId xmlns:a16="http://schemas.microsoft.com/office/drawing/2014/main" id="{E060BCF5-33E2-29BA-DCAB-E08075D4BE20}"/>
              </a:ext>
            </a:extLst>
          </p:cNvPr>
          <p:cNvCxnSpPr>
            <a:cxnSpLocks/>
          </p:cNvCxnSpPr>
          <p:nvPr/>
        </p:nvCxnSpPr>
        <p:spPr bwMode="auto">
          <a:xfrm>
            <a:off x="2495960" y="4781636"/>
            <a:ext cx="540006" cy="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cxnSp>
        <p:nvCxnSpPr>
          <p:cNvPr id="15" name="直線矢印コネクタ 14">
            <a:extLst>
              <a:ext uri="{FF2B5EF4-FFF2-40B4-BE49-F238E27FC236}">
                <a16:creationId xmlns:a16="http://schemas.microsoft.com/office/drawing/2014/main" id="{EC295BBA-AD31-BE67-FACF-7553FEAF1663}"/>
              </a:ext>
            </a:extLst>
          </p:cNvPr>
          <p:cNvCxnSpPr>
            <a:cxnSpLocks/>
          </p:cNvCxnSpPr>
          <p:nvPr/>
        </p:nvCxnSpPr>
        <p:spPr bwMode="auto">
          <a:xfrm>
            <a:off x="2495960" y="4871637"/>
            <a:ext cx="540006" cy="540006"/>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16" name="四角形: 角を丸くする 15">
            <a:extLst>
              <a:ext uri="{FF2B5EF4-FFF2-40B4-BE49-F238E27FC236}">
                <a16:creationId xmlns:a16="http://schemas.microsoft.com/office/drawing/2014/main" id="{58781EF5-21A7-030B-BF0D-7A1676970819}"/>
              </a:ext>
            </a:extLst>
          </p:cNvPr>
          <p:cNvSpPr/>
          <p:nvPr/>
        </p:nvSpPr>
        <p:spPr bwMode="auto">
          <a:xfrm>
            <a:off x="875942" y="2711613"/>
            <a:ext cx="3960044" cy="3330037"/>
          </a:xfrm>
          <a:prstGeom prst="roundRect">
            <a:avLst>
              <a:gd name="adj" fmla="val 9008"/>
            </a:avLst>
          </a:prstGeom>
          <a:noFill/>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7" name="正方形/長方形 16">
            <a:extLst>
              <a:ext uri="{FF2B5EF4-FFF2-40B4-BE49-F238E27FC236}">
                <a16:creationId xmlns:a16="http://schemas.microsoft.com/office/drawing/2014/main" id="{2CDCBF61-98F1-56DB-8764-93671E817113}"/>
              </a:ext>
            </a:extLst>
          </p:cNvPr>
          <p:cNvSpPr/>
          <p:nvPr/>
        </p:nvSpPr>
        <p:spPr bwMode="auto">
          <a:xfrm>
            <a:off x="1775952" y="6131651"/>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b="1" dirty="0">
                <a:solidFill>
                  <a:schemeClr val="accent5"/>
                </a:solidFill>
                <a:latin typeface="+mn-ea"/>
              </a:rPr>
              <a:t>SIMD </a:t>
            </a:r>
            <a:r>
              <a:rPr lang="ja-JP" altLang="en-US" b="1" dirty="0">
                <a:solidFill>
                  <a:schemeClr val="accent5"/>
                </a:solidFill>
                <a:latin typeface="+mn-ea"/>
              </a:rPr>
              <a:t>プロセッサ</a:t>
            </a:r>
          </a:p>
        </p:txBody>
      </p:sp>
      <p:sp>
        <p:nvSpPr>
          <p:cNvPr id="18" name="正方形/長方形 17">
            <a:extLst>
              <a:ext uri="{FF2B5EF4-FFF2-40B4-BE49-F238E27FC236}">
                <a16:creationId xmlns:a16="http://schemas.microsoft.com/office/drawing/2014/main" id="{C2BA7C1F-CA13-94FB-8729-BA25872BF563}"/>
              </a:ext>
            </a:extLst>
          </p:cNvPr>
          <p:cNvSpPr/>
          <p:nvPr/>
        </p:nvSpPr>
        <p:spPr bwMode="auto">
          <a:xfrm>
            <a:off x="875942" y="2981616"/>
            <a:ext cx="450005" cy="360004"/>
          </a:xfrm>
          <a:prstGeom prst="rect">
            <a:avLst/>
          </a:prstGeom>
          <a:noFill/>
          <a:ln>
            <a:no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b="1" dirty="0">
                <a:solidFill>
                  <a:schemeClr val="accent5"/>
                </a:solidFill>
                <a:latin typeface="+mn-ea"/>
              </a:rPr>
              <a:t>SIMD </a:t>
            </a:r>
            <a:r>
              <a:rPr lang="ja-JP" altLang="en-US" b="1" dirty="0">
                <a:solidFill>
                  <a:schemeClr val="accent5"/>
                </a:solidFill>
                <a:latin typeface="+mn-ea"/>
              </a:rPr>
              <a:t>命令</a:t>
            </a:r>
          </a:p>
        </p:txBody>
      </p:sp>
    </p:spTree>
    <p:extLst>
      <p:ext uri="{BB962C8B-B14F-4D97-AF65-F5344CB8AC3E}">
        <p14:creationId xmlns:p14="http://schemas.microsoft.com/office/powerpoint/2010/main" val="20611746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5D208F-AF7B-8A65-C8E0-80B5AE413B92}"/>
              </a:ext>
            </a:extLst>
          </p:cNvPr>
          <p:cNvSpPr>
            <a:spLocks noGrp="1"/>
          </p:cNvSpPr>
          <p:nvPr>
            <p:ph type="title"/>
          </p:nvPr>
        </p:nvSpPr>
        <p:spPr/>
        <p:txBody>
          <a:bodyPr/>
          <a:lstStyle/>
          <a:p>
            <a:r>
              <a:rPr lang="ja-JP" altLang="en-US" dirty="0">
                <a:latin typeface="+mn-ea"/>
              </a:rPr>
              <a:t>１２回目 キャッシュ</a:t>
            </a:r>
            <a:endParaRPr kumimoji="1" lang="ja-JP" altLang="en-US" dirty="0"/>
          </a:p>
        </p:txBody>
      </p:sp>
      <p:sp>
        <p:nvSpPr>
          <p:cNvPr id="3" name="テキスト プレースホルダー 2">
            <a:extLst>
              <a:ext uri="{FF2B5EF4-FFF2-40B4-BE49-F238E27FC236}">
                <a16:creationId xmlns:a16="http://schemas.microsoft.com/office/drawing/2014/main" id="{B709E04C-9C70-91C8-ECC3-8BA697EA1978}"/>
              </a:ext>
            </a:extLst>
          </p:cNvPr>
          <p:cNvSpPr>
            <a:spLocks noGrp="1"/>
          </p:cNvSpPr>
          <p:nvPr>
            <p:ph type="body" sz="quarter" idx="10"/>
          </p:nvPr>
        </p:nvSpPr>
        <p:spPr>
          <a:xfrm>
            <a:off x="1775952" y="1088974"/>
            <a:ext cx="10080112" cy="630007"/>
          </a:xfrm>
        </p:spPr>
        <p:txBody>
          <a:bodyPr/>
          <a:lstStyle/>
          <a:p>
            <a:r>
              <a:rPr kumimoji="1" lang="ja-JP" altLang="en-US" dirty="0"/>
              <a:t>キャッシュの方式の基本的な構造や，実際のハードへの影響を説明</a:t>
            </a:r>
          </a:p>
        </p:txBody>
      </p:sp>
      <p:graphicFrame>
        <p:nvGraphicFramePr>
          <p:cNvPr id="5" name="グラフ 4">
            <a:extLst>
              <a:ext uri="{FF2B5EF4-FFF2-40B4-BE49-F238E27FC236}">
                <a16:creationId xmlns:a16="http://schemas.microsoft.com/office/drawing/2014/main" id="{5604A74F-75F0-FB47-1075-7F357B12F8E3}"/>
              </a:ext>
            </a:extLst>
          </p:cNvPr>
          <p:cNvGraphicFramePr>
            <a:graphicFrameLocks/>
          </p:cNvGraphicFramePr>
          <p:nvPr>
            <p:extLst>
              <p:ext uri="{D42A27DB-BD31-4B8C-83A1-F6EECF244321}">
                <p14:modId xmlns:p14="http://schemas.microsoft.com/office/powerpoint/2010/main" val="3210937329"/>
              </p:ext>
            </p:extLst>
          </p:nvPr>
        </p:nvGraphicFramePr>
        <p:xfrm>
          <a:off x="1865953" y="1988984"/>
          <a:ext cx="8550095" cy="4680052"/>
        </p:xfrm>
        <a:graphic>
          <a:graphicData uri="http://schemas.openxmlformats.org/drawingml/2006/chart">
            <c:chart xmlns:c="http://schemas.openxmlformats.org/drawingml/2006/chart" xmlns:r="http://schemas.openxmlformats.org/officeDocument/2006/relationships" r:id="rId2"/>
          </a:graphicData>
        </a:graphic>
      </p:graphicFrame>
      <p:cxnSp>
        <p:nvCxnSpPr>
          <p:cNvPr id="6" name="直線矢印コネクタ 5">
            <a:extLst>
              <a:ext uri="{FF2B5EF4-FFF2-40B4-BE49-F238E27FC236}">
                <a16:creationId xmlns:a16="http://schemas.microsoft.com/office/drawing/2014/main" id="{E26ED828-0C6A-754A-C33F-2DC7672C58A5}"/>
              </a:ext>
            </a:extLst>
          </p:cNvPr>
          <p:cNvCxnSpPr/>
          <p:nvPr/>
        </p:nvCxnSpPr>
        <p:spPr bwMode="auto">
          <a:xfrm>
            <a:off x="2765963" y="5319020"/>
            <a:ext cx="1260014" cy="0"/>
          </a:xfrm>
          <a:prstGeom prst="straightConnector1">
            <a:avLst/>
          </a:prstGeom>
          <a:ln>
            <a:headEnd type="triangle"/>
            <a:tailEnd type="triangle"/>
          </a:ln>
        </p:spPr>
        <p:style>
          <a:lnRef idx="1">
            <a:schemeClr val="accent6"/>
          </a:lnRef>
          <a:fillRef idx="0">
            <a:schemeClr val="accent6"/>
          </a:fillRef>
          <a:effectRef idx="0">
            <a:schemeClr val="accent6"/>
          </a:effectRef>
          <a:fontRef idx="minor">
            <a:schemeClr val="tx1"/>
          </a:fontRef>
        </p:style>
      </p:cxnSp>
      <p:sp>
        <p:nvSpPr>
          <p:cNvPr id="7" name="正方形/長方形 6">
            <a:extLst>
              <a:ext uri="{FF2B5EF4-FFF2-40B4-BE49-F238E27FC236}">
                <a16:creationId xmlns:a16="http://schemas.microsoft.com/office/drawing/2014/main" id="{BA7BE900-D891-08E1-8DA3-64E0A9D58DAD}"/>
              </a:ext>
            </a:extLst>
          </p:cNvPr>
          <p:cNvSpPr/>
          <p:nvPr/>
        </p:nvSpPr>
        <p:spPr bwMode="auto">
          <a:xfrm>
            <a:off x="3035966" y="4959016"/>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accent6"/>
                </a:solidFill>
                <a:latin typeface="+mn-ea"/>
              </a:rPr>
              <a:t>L1(32KB)</a:t>
            </a:r>
            <a:endParaRPr kumimoji="1" lang="ja-JP" altLang="en-US" sz="1600" dirty="0">
              <a:solidFill>
                <a:schemeClr val="accent6"/>
              </a:solidFill>
              <a:latin typeface="+mn-ea"/>
            </a:endParaRPr>
          </a:p>
        </p:txBody>
      </p:sp>
      <p:cxnSp>
        <p:nvCxnSpPr>
          <p:cNvPr id="8" name="直線矢印コネクタ 7">
            <a:extLst>
              <a:ext uri="{FF2B5EF4-FFF2-40B4-BE49-F238E27FC236}">
                <a16:creationId xmlns:a16="http://schemas.microsoft.com/office/drawing/2014/main" id="{34FB8309-8B92-0194-8089-E19460CF364F}"/>
              </a:ext>
            </a:extLst>
          </p:cNvPr>
          <p:cNvCxnSpPr/>
          <p:nvPr/>
        </p:nvCxnSpPr>
        <p:spPr bwMode="auto">
          <a:xfrm>
            <a:off x="4025977" y="4869015"/>
            <a:ext cx="450005" cy="0"/>
          </a:xfrm>
          <a:prstGeom prst="straightConnector1">
            <a:avLst/>
          </a:prstGeom>
          <a:ln>
            <a:headEnd type="triangle"/>
            <a:tailEnd type="triangle"/>
          </a:ln>
        </p:spPr>
        <p:style>
          <a:lnRef idx="1">
            <a:schemeClr val="accent6"/>
          </a:lnRef>
          <a:fillRef idx="0">
            <a:schemeClr val="accent6"/>
          </a:fillRef>
          <a:effectRef idx="0">
            <a:schemeClr val="accent6"/>
          </a:effectRef>
          <a:fontRef idx="minor">
            <a:schemeClr val="tx1"/>
          </a:fontRef>
        </p:style>
      </p:cxnSp>
      <p:sp>
        <p:nvSpPr>
          <p:cNvPr id="9" name="正方形/長方形 8">
            <a:extLst>
              <a:ext uri="{FF2B5EF4-FFF2-40B4-BE49-F238E27FC236}">
                <a16:creationId xmlns:a16="http://schemas.microsoft.com/office/drawing/2014/main" id="{187F043E-40F3-4EE9-F43A-C0F5EFFA40F5}"/>
              </a:ext>
            </a:extLst>
          </p:cNvPr>
          <p:cNvSpPr/>
          <p:nvPr/>
        </p:nvSpPr>
        <p:spPr bwMode="auto">
          <a:xfrm>
            <a:off x="3845975" y="4509011"/>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accent6"/>
                </a:solidFill>
                <a:latin typeface="+mn-ea"/>
              </a:rPr>
              <a:t>&lt; 32KB×2</a:t>
            </a:r>
            <a:endParaRPr kumimoji="1" lang="ja-JP" altLang="en-US" sz="1600" dirty="0">
              <a:solidFill>
                <a:schemeClr val="accent6"/>
              </a:solidFill>
              <a:latin typeface="+mn-ea"/>
            </a:endParaRPr>
          </a:p>
        </p:txBody>
      </p:sp>
      <p:cxnSp>
        <p:nvCxnSpPr>
          <p:cNvPr id="10" name="直線矢印コネクタ 9">
            <a:extLst>
              <a:ext uri="{FF2B5EF4-FFF2-40B4-BE49-F238E27FC236}">
                <a16:creationId xmlns:a16="http://schemas.microsoft.com/office/drawing/2014/main" id="{51CCE17D-502C-0AAD-3755-ACB757BF51F8}"/>
              </a:ext>
            </a:extLst>
          </p:cNvPr>
          <p:cNvCxnSpPr/>
          <p:nvPr/>
        </p:nvCxnSpPr>
        <p:spPr bwMode="auto">
          <a:xfrm>
            <a:off x="4475982" y="5319020"/>
            <a:ext cx="810009" cy="0"/>
          </a:xfrm>
          <a:prstGeom prst="straightConnector1">
            <a:avLst/>
          </a:prstGeom>
          <a:ln>
            <a:headEnd type="triangle"/>
            <a:tailEnd type="triangle"/>
          </a:ln>
        </p:spPr>
        <p:style>
          <a:lnRef idx="1">
            <a:schemeClr val="accent6"/>
          </a:lnRef>
          <a:fillRef idx="0">
            <a:schemeClr val="accent6"/>
          </a:fillRef>
          <a:effectRef idx="0">
            <a:schemeClr val="accent6"/>
          </a:effectRef>
          <a:fontRef idx="minor">
            <a:schemeClr val="tx1"/>
          </a:fontRef>
        </p:style>
      </p:cxnSp>
      <p:sp>
        <p:nvSpPr>
          <p:cNvPr id="11" name="正方形/長方形 10">
            <a:extLst>
              <a:ext uri="{FF2B5EF4-FFF2-40B4-BE49-F238E27FC236}">
                <a16:creationId xmlns:a16="http://schemas.microsoft.com/office/drawing/2014/main" id="{2302259C-59CD-DB99-9BA5-CBBDD78EBCF5}"/>
              </a:ext>
            </a:extLst>
          </p:cNvPr>
          <p:cNvSpPr/>
          <p:nvPr/>
        </p:nvSpPr>
        <p:spPr bwMode="auto">
          <a:xfrm>
            <a:off x="4565983" y="5409021"/>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accent6"/>
                </a:solidFill>
                <a:latin typeface="+mn-ea"/>
              </a:rPr>
              <a:t>L</a:t>
            </a:r>
            <a:r>
              <a:rPr kumimoji="1" lang="ja-JP" altLang="en-US" sz="1600" dirty="0">
                <a:solidFill>
                  <a:schemeClr val="accent6"/>
                </a:solidFill>
                <a:latin typeface="+mn-ea"/>
              </a:rPr>
              <a:t>２</a:t>
            </a:r>
            <a:r>
              <a:rPr kumimoji="1" lang="en-US" altLang="ja-JP" sz="1600" dirty="0">
                <a:solidFill>
                  <a:schemeClr val="accent6"/>
                </a:solidFill>
                <a:latin typeface="+mn-ea"/>
              </a:rPr>
              <a:t>(256KB)</a:t>
            </a:r>
            <a:endParaRPr kumimoji="1" lang="ja-JP" altLang="en-US" sz="1600" dirty="0">
              <a:solidFill>
                <a:schemeClr val="accent6"/>
              </a:solidFill>
              <a:latin typeface="+mn-ea"/>
            </a:endParaRPr>
          </a:p>
        </p:txBody>
      </p:sp>
      <p:cxnSp>
        <p:nvCxnSpPr>
          <p:cNvPr id="12" name="直線矢印コネクタ 11">
            <a:extLst>
              <a:ext uri="{FF2B5EF4-FFF2-40B4-BE49-F238E27FC236}">
                <a16:creationId xmlns:a16="http://schemas.microsoft.com/office/drawing/2014/main" id="{DFC46415-095E-7746-7212-0B991B472B54}"/>
              </a:ext>
            </a:extLst>
          </p:cNvPr>
          <p:cNvCxnSpPr/>
          <p:nvPr/>
        </p:nvCxnSpPr>
        <p:spPr bwMode="auto">
          <a:xfrm>
            <a:off x="5285991" y="3699002"/>
            <a:ext cx="450005" cy="0"/>
          </a:xfrm>
          <a:prstGeom prst="straightConnector1">
            <a:avLst/>
          </a:prstGeom>
          <a:ln>
            <a:headEnd type="triangle"/>
            <a:tailEnd type="triangle"/>
          </a:ln>
        </p:spPr>
        <p:style>
          <a:lnRef idx="1">
            <a:schemeClr val="accent6"/>
          </a:lnRef>
          <a:fillRef idx="0">
            <a:schemeClr val="accent6"/>
          </a:fillRef>
          <a:effectRef idx="0">
            <a:schemeClr val="accent6"/>
          </a:effectRef>
          <a:fontRef idx="minor">
            <a:schemeClr val="tx1"/>
          </a:fontRef>
        </p:style>
      </p:cxnSp>
      <p:sp>
        <p:nvSpPr>
          <p:cNvPr id="13" name="正方形/長方形 12">
            <a:extLst>
              <a:ext uri="{FF2B5EF4-FFF2-40B4-BE49-F238E27FC236}">
                <a16:creationId xmlns:a16="http://schemas.microsoft.com/office/drawing/2014/main" id="{701A70F8-9F7A-BB8B-A095-91F1D21F4E5C}"/>
              </a:ext>
            </a:extLst>
          </p:cNvPr>
          <p:cNvSpPr/>
          <p:nvPr/>
        </p:nvSpPr>
        <p:spPr bwMode="auto">
          <a:xfrm>
            <a:off x="5105989" y="3338998"/>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accent6"/>
                </a:solidFill>
                <a:latin typeface="+mn-ea"/>
              </a:rPr>
              <a:t> &lt; 256KB×2</a:t>
            </a:r>
            <a:endParaRPr kumimoji="1" lang="ja-JP" altLang="en-US" sz="1600" dirty="0">
              <a:solidFill>
                <a:schemeClr val="accent6"/>
              </a:solidFill>
              <a:latin typeface="+mn-ea"/>
            </a:endParaRPr>
          </a:p>
        </p:txBody>
      </p:sp>
      <p:cxnSp>
        <p:nvCxnSpPr>
          <p:cNvPr id="14" name="直線矢印コネクタ 13">
            <a:extLst>
              <a:ext uri="{FF2B5EF4-FFF2-40B4-BE49-F238E27FC236}">
                <a16:creationId xmlns:a16="http://schemas.microsoft.com/office/drawing/2014/main" id="{C3CCDBAC-B233-E2D2-F9EC-4EC79153B70A}"/>
              </a:ext>
            </a:extLst>
          </p:cNvPr>
          <p:cNvCxnSpPr/>
          <p:nvPr/>
        </p:nvCxnSpPr>
        <p:spPr bwMode="auto">
          <a:xfrm>
            <a:off x="5735996" y="4239008"/>
            <a:ext cx="1620018" cy="0"/>
          </a:xfrm>
          <a:prstGeom prst="straightConnector1">
            <a:avLst/>
          </a:prstGeom>
          <a:ln>
            <a:headEnd type="triangle"/>
            <a:tailEnd type="triangle"/>
          </a:ln>
        </p:spPr>
        <p:style>
          <a:lnRef idx="1">
            <a:schemeClr val="accent6"/>
          </a:lnRef>
          <a:fillRef idx="0">
            <a:schemeClr val="accent6"/>
          </a:fillRef>
          <a:effectRef idx="0">
            <a:schemeClr val="accent6"/>
          </a:effectRef>
          <a:fontRef idx="minor">
            <a:schemeClr val="tx1"/>
          </a:fontRef>
        </p:style>
      </p:cxnSp>
      <p:sp>
        <p:nvSpPr>
          <p:cNvPr id="15" name="正方形/長方形 14">
            <a:extLst>
              <a:ext uri="{FF2B5EF4-FFF2-40B4-BE49-F238E27FC236}">
                <a16:creationId xmlns:a16="http://schemas.microsoft.com/office/drawing/2014/main" id="{234F6E2C-7C55-E825-0A2F-24450606322C}"/>
              </a:ext>
            </a:extLst>
          </p:cNvPr>
          <p:cNvSpPr/>
          <p:nvPr/>
        </p:nvSpPr>
        <p:spPr bwMode="auto">
          <a:xfrm>
            <a:off x="6186001" y="4239008"/>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accent6"/>
                </a:solidFill>
                <a:latin typeface="+mn-ea"/>
              </a:rPr>
              <a:t>L3 (8MB?)</a:t>
            </a:r>
            <a:endParaRPr kumimoji="1" lang="ja-JP" altLang="en-US" sz="1600" dirty="0">
              <a:solidFill>
                <a:schemeClr val="accent6"/>
              </a:solidFill>
              <a:latin typeface="+mn-ea"/>
            </a:endParaRPr>
          </a:p>
        </p:txBody>
      </p:sp>
    </p:spTree>
    <p:extLst>
      <p:ext uri="{BB962C8B-B14F-4D97-AF65-F5344CB8AC3E}">
        <p14:creationId xmlns:p14="http://schemas.microsoft.com/office/powerpoint/2010/main" val="19891855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68BE3C-0252-363E-AF8E-9E9563E05529}"/>
              </a:ext>
            </a:extLst>
          </p:cNvPr>
          <p:cNvSpPr>
            <a:spLocks noGrp="1"/>
          </p:cNvSpPr>
          <p:nvPr>
            <p:ph type="title"/>
          </p:nvPr>
        </p:nvSpPr>
        <p:spPr/>
        <p:txBody>
          <a:bodyPr/>
          <a:lstStyle/>
          <a:p>
            <a:r>
              <a:rPr lang="ja-JP" altLang="en-US" dirty="0">
                <a:latin typeface="+mn-ea"/>
              </a:rPr>
              <a:t>１３回目 保護機構とアタック</a:t>
            </a:r>
            <a:endParaRPr kumimoji="1" lang="ja-JP" altLang="en-US" dirty="0"/>
          </a:p>
        </p:txBody>
      </p:sp>
      <p:sp>
        <p:nvSpPr>
          <p:cNvPr id="3" name="テキスト プレースホルダー 2">
            <a:extLst>
              <a:ext uri="{FF2B5EF4-FFF2-40B4-BE49-F238E27FC236}">
                <a16:creationId xmlns:a16="http://schemas.microsoft.com/office/drawing/2014/main" id="{C111C8DA-4DF8-D426-1DE2-702836FD395F}"/>
              </a:ext>
            </a:extLst>
          </p:cNvPr>
          <p:cNvSpPr>
            <a:spLocks noGrp="1"/>
          </p:cNvSpPr>
          <p:nvPr>
            <p:ph type="body" sz="quarter" idx="10"/>
          </p:nvPr>
        </p:nvSpPr>
        <p:spPr>
          <a:xfrm>
            <a:off x="1775952" y="1088975"/>
            <a:ext cx="10080112" cy="1080012"/>
          </a:xfrm>
        </p:spPr>
        <p:txBody>
          <a:bodyPr/>
          <a:lstStyle/>
          <a:p>
            <a:r>
              <a:rPr kumimoji="1" lang="ja-JP" altLang="en-US" dirty="0"/>
              <a:t>特権命令やメモリ保護などの機構の基本を説明</a:t>
            </a:r>
            <a:endParaRPr kumimoji="1" lang="en-US" altLang="ja-JP" dirty="0"/>
          </a:p>
          <a:p>
            <a:r>
              <a:rPr kumimoji="1" lang="en-US" altLang="ja-JP" dirty="0"/>
              <a:t>CPU </a:t>
            </a:r>
            <a:r>
              <a:rPr kumimoji="1" lang="ja-JP" altLang="en-US" dirty="0"/>
              <a:t>の投機実行に</a:t>
            </a:r>
            <a:r>
              <a:rPr kumimoji="1" lang="ja-JP" altLang="en-US"/>
              <a:t>関わる脆弱性</a:t>
            </a:r>
            <a:r>
              <a:rPr lang="ja-JP" altLang="en-US"/>
              <a:t>を利用した攻撃なども解説</a:t>
            </a:r>
            <a:endParaRPr kumimoji="1" lang="ja-JP" altLang="en-US" dirty="0"/>
          </a:p>
        </p:txBody>
      </p:sp>
      <p:pic>
        <p:nvPicPr>
          <p:cNvPr id="4" name="図 3">
            <a:extLst>
              <a:ext uri="{FF2B5EF4-FFF2-40B4-BE49-F238E27FC236}">
                <a16:creationId xmlns:a16="http://schemas.microsoft.com/office/drawing/2014/main" id="{952E0BBB-68A2-CCFF-A88B-358259436694}"/>
              </a:ext>
            </a:extLst>
          </p:cNvPr>
          <p:cNvPicPr>
            <a:picLocks noChangeAspect="1"/>
          </p:cNvPicPr>
          <p:nvPr/>
        </p:nvPicPr>
        <p:blipFill>
          <a:blip r:embed="rId2"/>
          <a:stretch>
            <a:fillRect/>
          </a:stretch>
        </p:blipFill>
        <p:spPr>
          <a:xfrm>
            <a:off x="1775953" y="2673120"/>
            <a:ext cx="7972852" cy="3932517"/>
          </a:xfrm>
          <a:prstGeom prst="rect">
            <a:avLst/>
          </a:prstGeom>
        </p:spPr>
      </p:pic>
    </p:spTree>
    <p:extLst>
      <p:ext uri="{BB962C8B-B14F-4D97-AF65-F5344CB8AC3E}">
        <p14:creationId xmlns:p14="http://schemas.microsoft.com/office/powerpoint/2010/main" val="3741156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7AF890-4203-4515-B43A-FF112214F355}"/>
              </a:ext>
            </a:extLst>
          </p:cNvPr>
          <p:cNvSpPr>
            <a:spLocks noGrp="1"/>
          </p:cNvSpPr>
          <p:nvPr>
            <p:ph type="title"/>
          </p:nvPr>
        </p:nvSpPr>
        <p:spPr/>
        <p:txBody>
          <a:bodyPr/>
          <a:lstStyle/>
          <a:p>
            <a:r>
              <a:rPr kumimoji="1" lang="ja-JP" altLang="en-US" dirty="0"/>
              <a:t>講義資料</a:t>
            </a:r>
          </a:p>
        </p:txBody>
      </p:sp>
      <p:sp>
        <p:nvSpPr>
          <p:cNvPr id="3" name="テキスト プレースホルダー 2">
            <a:extLst>
              <a:ext uri="{FF2B5EF4-FFF2-40B4-BE49-F238E27FC236}">
                <a16:creationId xmlns:a16="http://schemas.microsoft.com/office/drawing/2014/main" id="{9C8A0301-0323-46F3-A505-913FB8B15F71}"/>
              </a:ext>
            </a:extLst>
          </p:cNvPr>
          <p:cNvSpPr>
            <a:spLocks noGrp="1"/>
          </p:cNvSpPr>
          <p:nvPr>
            <p:ph type="body" sz="quarter" idx="10"/>
          </p:nvPr>
        </p:nvSpPr>
        <p:spPr>
          <a:xfrm>
            <a:off x="1865954" y="1088975"/>
            <a:ext cx="8550095" cy="5219751"/>
          </a:xfrm>
        </p:spPr>
        <p:txBody>
          <a:bodyPr/>
          <a:lstStyle/>
          <a:p>
            <a:r>
              <a:rPr kumimoji="1" lang="ja-JP" altLang="en-US" dirty="0"/>
              <a:t>下記で公開しています</a:t>
            </a:r>
            <a:endParaRPr kumimoji="1" lang="en-US" altLang="ja-JP" dirty="0"/>
          </a:p>
          <a:p>
            <a:pPr lvl="1"/>
            <a:r>
              <a:rPr kumimoji="1" lang="en-US" altLang="ja-JP" dirty="0">
                <a:hlinkClick r:id="rId2"/>
              </a:rPr>
              <a:t>https://github.com/shioyadan/advanced-computer-organization</a:t>
            </a:r>
            <a:endParaRPr kumimoji="1" lang="en-US" altLang="ja-JP" dirty="0"/>
          </a:p>
          <a:p>
            <a:pPr lvl="1"/>
            <a:r>
              <a:rPr kumimoji="1" lang="ja-JP" altLang="en-US" dirty="0"/>
              <a:t>よくわからない部分への質問や，タイポや間違いの指摘は </a:t>
            </a:r>
            <a:r>
              <a:rPr kumimoji="1" lang="en-US" altLang="ja-JP" dirty="0"/>
              <a:t>issue </a:t>
            </a:r>
            <a:r>
              <a:rPr kumimoji="1" lang="ja-JP" altLang="en-US" dirty="0"/>
              <a:t>を投げてもらうのもありです</a:t>
            </a:r>
            <a:endParaRPr lang="en-US" altLang="ja-JP" dirty="0"/>
          </a:p>
          <a:p>
            <a:r>
              <a:rPr kumimoji="1" lang="ja-JP" altLang="en-US" dirty="0"/>
              <a:t>内容のアップデート予定</a:t>
            </a:r>
            <a:endParaRPr kumimoji="1" lang="en-US" altLang="ja-JP" dirty="0"/>
          </a:p>
          <a:p>
            <a:pPr lvl="1"/>
            <a:r>
              <a:rPr kumimoji="1" lang="ja-JP" altLang="en-US" dirty="0"/>
              <a:t>前回講義時（２年前）と比べて実物に関わる経験が増えた</a:t>
            </a:r>
            <a:endParaRPr kumimoji="1" lang="en-US" altLang="ja-JP" dirty="0"/>
          </a:p>
          <a:p>
            <a:pPr lvl="1"/>
            <a:r>
              <a:rPr kumimoji="1" lang="ja-JP" altLang="en-US" dirty="0"/>
              <a:t>特に </a:t>
            </a:r>
            <a:r>
              <a:rPr kumimoji="1" lang="en-US" altLang="ja-JP" dirty="0"/>
              <a:t>GPU </a:t>
            </a:r>
            <a:r>
              <a:rPr kumimoji="1" lang="ja-JP" altLang="en-US" dirty="0"/>
              <a:t>や機械学習ハードに対する解像度が上がった</a:t>
            </a:r>
            <a:endParaRPr kumimoji="1" lang="en-US" altLang="ja-JP" dirty="0"/>
          </a:p>
          <a:p>
            <a:pPr lvl="2"/>
            <a:r>
              <a:rPr kumimoji="1" lang="ja-JP" altLang="en-US" dirty="0"/>
              <a:t>これらの知見を反映させたい</a:t>
            </a:r>
          </a:p>
        </p:txBody>
      </p:sp>
    </p:spTree>
    <p:extLst>
      <p:ext uri="{BB962C8B-B14F-4D97-AF65-F5344CB8AC3E}">
        <p14:creationId xmlns:p14="http://schemas.microsoft.com/office/powerpoint/2010/main" val="2619813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DF382D1A-75A6-42FA-A5FD-2C3977DEE3C2}"/>
              </a:ext>
            </a:extLst>
          </p:cNvPr>
          <p:cNvSpPr>
            <a:spLocks noGrp="1"/>
          </p:cNvSpPr>
          <p:nvPr>
            <p:ph type="title"/>
          </p:nvPr>
        </p:nvSpPr>
        <p:spPr/>
        <p:txBody>
          <a:bodyPr/>
          <a:lstStyle/>
          <a:p>
            <a:r>
              <a:rPr lang="ja-JP" altLang="en-US" dirty="0"/>
              <a:t>参考図書など</a:t>
            </a:r>
          </a:p>
        </p:txBody>
      </p:sp>
      <p:sp>
        <p:nvSpPr>
          <p:cNvPr id="5" name="テキスト プレースホルダー 4">
            <a:extLst>
              <a:ext uri="{FF2B5EF4-FFF2-40B4-BE49-F238E27FC236}">
                <a16:creationId xmlns:a16="http://schemas.microsoft.com/office/drawing/2014/main" id="{583A6225-977F-46CE-9963-768DD30F9FFC}"/>
              </a:ext>
            </a:extLst>
          </p:cNvPr>
          <p:cNvSpPr>
            <a:spLocks noGrp="1"/>
          </p:cNvSpPr>
          <p:nvPr>
            <p:ph type="body" sz="quarter" idx="10"/>
          </p:nvPr>
        </p:nvSpPr>
        <p:spPr/>
        <p:txBody>
          <a:bodyPr/>
          <a:lstStyle/>
          <a:p>
            <a:pPr algn="l"/>
            <a:r>
              <a:rPr lang="ja-JP" altLang="en-US" b="0" i="0" u="none" strike="noStrike" dirty="0">
                <a:solidFill>
                  <a:srgbClr val="0F1111"/>
                </a:solidFill>
                <a:effectLst/>
                <a:latin typeface="Hiragino Kaku Gothic ProN"/>
              </a:rPr>
              <a:t>デイビッド </a:t>
            </a:r>
            <a:r>
              <a:rPr lang="en-US" altLang="ja-JP" b="0" i="0" u="none" strike="noStrike" dirty="0">
                <a:solidFill>
                  <a:srgbClr val="0F1111"/>
                </a:solidFill>
                <a:effectLst/>
                <a:latin typeface="Hiragino Kaku Gothic ProN"/>
              </a:rPr>
              <a:t>A </a:t>
            </a:r>
            <a:r>
              <a:rPr lang="ja-JP" altLang="en-US" b="0" i="0" u="none" strike="noStrike" dirty="0">
                <a:solidFill>
                  <a:srgbClr val="0F1111"/>
                </a:solidFill>
                <a:effectLst/>
                <a:latin typeface="Hiragino Kaku Gothic ProN"/>
              </a:rPr>
              <a:t>パターソン，ジョン Ｌ ヘネシー：</a:t>
            </a:r>
            <a:br>
              <a:rPr lang="en-US" altLang="ja-JP" b="0" i="0" u="none" strike="noStrike" dirty="0">
                <a:solidFill>
                  <a:srgbClr val="0F1111"/>
                </a:solidFill>
                <a:effectLst/>
                <a:latin typeface="Hiragino Kaku Gothic ProN"/>
              </a:rPr>
            </a:br>
            <a:r>
              <a:rPr lang="ja-JP" altLang="en-US" b="0" i="0" u="none" strike="noStrike" dirty="0">
                <a:solidFill>
                  <a:srgbClr val="0F1111"/>
                </a:solidFill>
                <a:effectLst/>
                <a:latin typeface="Hiragino Kaku Gothic ProN"/>
              </a:rPr>
              <a:t>「コンピュータの構成と設計 」</a:t>
            </a:r>
            <a:endParaRPr lang="en-US" altLang="ja-JP" b="0" i="0" u="none" strike="noStrike" dirty="0">
              <a:solidFill>
                <a:srgbClr val="0F1111"/>
              </a:solidFill>
              <a:effectLst/>
              <a:latin typeface="Hiragino Kaku Gothic ProN"/>
            </a:endParaRPr>
          </a:p>
          <a:p>
            <a:pPr lvl="1"/>
            <a:r>
              <a:rPr lang="ja-JP" altLang="en-US" b="0" i="0" u="none" strike="noStrike" dirty="0">
                <a:solidFill>
                  <a:srgbClr val="0F1111"/>
                </a:solidFill>
                <a:effectLst/>
                <a:latin typeface="Hiragino Kaku Gothic ProN"/>
              </a:rPr>
              <a:t>通称「パタヘネ」</a:t>
            </a:r>
            <a:endParaRPr lang="en-US" altLang="ja-JP" b="0" i="0" u="none" strike="noStrike" dirty="0">
              <a:solidFill>
                <a:srgbClr val="0F1111"/>
              </a:solidFill>
              <a:effectLst/>
              <a:latin typeface="Hiragino Kaku Gothic ProN"/>
            </a:endParaRPr>
          </a:p>
          <a:p>
            <a:r>
              <a:rPr lang="ja-JP" altLang="en-US" b="0" i="0" u="none" strike="noStrike" dirty="0">
                <a:solidFill>
                  <a:srgbClr val="0F1111"/>
                </a:solidFill>
                <a:effectLst/>
                <a:latin typeface="Hiragino Kaku Gothic ProN"/>
              </a:rPr>
              <a:t>ジョン Ｌ ヘネシー，デイビッド </a:t>
            </a:r>
            <a:r>
              <a:rPr lang="en-US" altLang="ja-JP" b="0" i="0" u="none" strike="noStrike" dirty="0">
                <a:solidFill>
                  <a:srgbClr val="0F1111"/>
                </a:solidFill>
                <a:effectLst/>
                <a:latin typeface="Hiragino Kaku Gothic ProN"/>
              </a:rPr>
              <a:t>A </a:t>
            </a:r>
            <a:r>
              <a:rPr lang="ja-JP" altLang="en-US" b="0" i="0" u="none" strike="noStrike" dirty="0">
                <a:solidFill>
                  <a:srgbClr val="0F1111"/>
                </a:solidFill>
                <a:effectLst/>
                <a:latin typeface="Hiragino Kaku Gothic ProN"/>
              </a:rPr>
              <a:t>パターソン：</a:t>
            </a:r>
            <a:br>
              <a:rPr lang="en-US" altLang="ja-JP" b="0" i="0" u="none" strike="noStrike" dirty="0">
                <a:solidFill>
                  <a:srgbClr val="0F1111"/>
                </a:solidFill>
                <a:effectLst/>
                <a:latin typeface="Hiragino Kaku Gothic ProN"/>
              </a:rPr>
            </a:br>
            <a:r>
              <a:rPr lang="ja-JP" altLang="en-US" b="0" i="0" u="none" strike="noStrike" dirty="0">
                <a:solidFill>
                  <a:srgbClr val="0F1111"/>
                </a:solidFill>
                <a:effectLst/>
                <a:latin typeface="Hiragino Kaku Gothic ProN"/>
              </a:rPr>
              <a:t>「コンピュータアーキテクチャ 定量的アプローチ」</a:t>
            </a:r>
            <a:endParaRPr lang="en-US" altLang="ja-JP" b="0" i="0" u="none" strike="noStrike" dirty="0">
              <a:solidFill>
                <a:srgbClr val="0F1111"/>
              </a:solidFill>
              <a:effectLst/>
              <a:latin typeface="Hiragino Kaku Gothic ProN"/>
            </a:endParaRPr>
          </a:p>
          <a:p>
            <a:pPr lvl="1"/>
            <a:r>
              <a:rPr lang="ja-JP" altLang="en-US" b="0" i="0" u="none" strike="noStrike" dirty="0">
                <a:solidFill>
                  <a:srgbClr val="0F1111"/>
                </a:solidFill>
                <a:effectLst/>
                <a:latin typeface="Hiragino Kaku Gothic ProN"/>
              </a:rPr>
              <a:t>通称「ヘネパタ」（著者順が逆）</a:t>
            </a:r>
            <a:endParaRPr lang="en-US" altLang="ja-JP" b="0" i="0" u="none" strike="noStrike" dirty="0">
              <a:solidFill>
                <a:srgbClr val="0F1111"/>
              </a:solidFill>
              <a:effectLst/>
              <a:latin typeface="Hiragino Kaku Gothic ProN"/>
            </a:endParaRPr>
          </a:p>
          <a:p>
            <a:pPr lvl="1"/>
            <a:r>
              <a:rPr lang="ja-JP" altLang="en-US" b="0" i="0" u="none" strike="noStrike" dirty="0">
                <a:solidFill>
                  <a:srgbClr val="0F1111"/>
                </a:solidFill>
                <a:effectLst/>
                <a:latin typeface="Hiragino Kaku Gothic ProN"/>
              </a:rPr>
              <a:t>こっちの方が発展的内容</a:t>
            </a:r>
          </a:p>
          <a:p>
            <a:r>
              <a:rPr lang="ja-JP" altLang="en-US" b="0" i="0" dirty="0">
                <a:solidFill>
                  <a:srgbClr val="0F1111"/>
                </a:solidFill>
                <a:effectLst/>
                <a:latin typeface="Hiragino Kaku Gothic ProN"/>
              </a:rPr>
              <a:t>安藤秀樹：</a:t>
            </a:r>
            <a:br>
              <a:rPr lang="en-US" altLang="ja-JP" b="0" i="0" dirty="0">
                <a:solidFill>
                  <a:srgbClr val="0F1111"/>
                </a:solidFill>
                <a:effectLst/>
                <a:latin typeface="Hiragino Kaku Gothic ProN"/>
              </a:rPr>
            </a:br>
            <a:r>
              <a:rPr lang="ja-JP" altLang="en-US" b="0" i="0" dirty="0">
                <a:solidFill>
                  <a:srgbClr val="0F1111"/>
                </a:solidFill>
                <a:effectLst/>
                <a:latin typeface="Hiragino Kaku Gothic ProN"/>
              </a:rPr>
              <a:t>「</a:t>
            </a:r>
            <a:r>
              <a:rPr lang="ja-JP" altLang="en-US" dirty="0"/>
              <a:t>命令レベル並列処理</a:t>
            </a:r>
            <a:r>
              <a:rPr lang="en-US" altLang="ja-JP" dirty="0"/>
              <a:t>―</a:t>
            </a:r>
            <a:r>
              <a:rPr lang="ja-JP" altLang="en-US" dirty="0"/>
              <a:t>プロセッサアーキテクチャとコンパイラ</a:t>
            </a:r>
            <a:br>
              <a:rPr lang="en-US" altLang="ja-JP" dirty="0"/>
            </a:br>
            <a:r>
              <a:rPr lang="ja-JP" altLang="en-US" dirty="0"/>
              <a:t>　 </a:t>
            </a:r>
            <a:r>
              <a:rPr lang="en-US" altLang="ja-JP" dirty="0"/>
              <a:t>(</a:t>
            </a:r>
            <a:r>
              <a:rPr lang="ja-JP" altLang="en-US" dirty="0"/>
              <a:t>並列処理シリーズ</a:t>
            </a:r>
            <a:r>
              <a:rPr lang="en-US" altLang="ja-JP" dirty="0"/>
              <a:t>)</a:t>
            </a:r>
            <a:r>
              <a:rPr lang="ja-JP" altLang="en-US" dirty="0"/>
              <a:t>」</a:t>
            </a:r>
            <a:endParaRPr lang="en-US" altLang="ja-JP" dirty="0"/>
          </a:p>
          <a:p>
            <a:pPr lvl="1"/>
            <a:r>
              <a:rPr lang="ja-JP" altLang="en-US" dirty="0"/>
              <a:t>主にスーパスカラプロセッサと </a:t>
            </a:r>
            <a:r>
              <a:rPr lang="en-US" altLang="ja-JP" dirty="0"/>
              <a:t>VLIW </a:t>
            </a:r>
            <a:r>
              <a:rPr lang="ja-JP" altLang="en-US" dirty="0"/>
              <a:t>を扱う</a:t>
            </a:r>
            <a:endParaRPr lang="en-US" altLang="ja-JP" dirty="0"/>
          </a:p>
        </p:txBody>
      </p:sp>
      <p:sp>
        <p:nvSpPr>
          <p:cNvPr id="2" name="スライド番号プレースホルダー 1">
            <a:extLst>
              <a:ext uri="{FF2B5EF4-FFF2-40B4-BE49-F238E27FC236}">
                <a16:creationId xmlns:a16="http://schemas.microsoft.com/office/drawing/2014/main" id="{61762442-D481-40B2-9F5F-0639038B1C4E}"/>
              </a:ext>
            </a:extLst>
          </p:cNvPr>
          <p:cNvSpPr>
            <a:spLocks noGrp="1"/>
          </p:cNvSpPr>
          <p:nvPr>
            <p:ph type="sldNum" sz="quarter" idx="4294967295"/>
          </p:nvPr>
        </p:nvSpPr>
        <p:spPr>
          <a:xfrm>
            <a:off x="10055226" y="6308726"/>
            <a:ext cx="612775" cy="549275"/>
          </a:xfrm>
        </p:spPr>
        <p:txBody>
          <a:bodyPr/>
          <a:lstStyle/>
          <a:p>
            <a:fld id="{D2D8002D-B5B0-4BAC-B1F6-782DDCCE6D9C}" type="slidenum">
              <a:rPr kumimoji="1" lang="ja-JP" altLang="en-US" smtClean="0"/>
              <a:pPr/>
              <a:t>33</a:t>
            </a:fld>
            <a:endParaRPr kumimoji="1" lang="ja-JP" altLang="en-US"/>
          </a:p>
        </p:txBody>
      </p:sp>
    </p:spTree>
    <p:extLst>
      <p:ext uri="{BB962C8B-B14F-4D97-AF65-F5344CB8AC3E}">
        <p14:creationId xmlns:p14="http://schemas.microsoft.com/office/powerpoint/2010/main" val="35313671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他の講義との関係</a:t>
            </a:r>
          </a:p>
        </p:txBody>
      </p:sp>
      <p:sp>
        <p:nvSpPr>
          <p:cNvPr id="3" name="テキスト プレースホルダー 2"/>
          <p:cNvSpPr>
            <a:spLocks noGrp="1"/>
          </p:cNvSpPr>
          <p:nvPr>
            <p:ph type="body" sz="quarter" idx="10"/>
          </p:nvPr>
        </p:nvSpPr>
        <p:spPr/>
        <p:txBody>
          <a:bodyPr/>
          <a:lstStyle/>
          <a:p>
            <a:r>
              <a:rPr kumimoji="1" lang="ja-JP" altLang="en-US" dirty="0"/>
              <a:t>各地の学部：</a:t>
            </a:r>
            <a:endParaRPr kumimoji="1" lang="en-US" altLang="ja-JP" dirty="0"/>
          </a:p>
          <a:p>
            <a:pPr lvl="1"/>
            <a:r>
              <a:rPr kumimoji="1" lang="ja-JP" altLang="en-US" dirty="0"/>
              <a:t>論理回路，ディジタル回路</a:t>
            </a:r>
            <a:endParaRPr kumimoji="1" lang="en-US" altLang="ja-JP" dirty="0"/>
          </a:p>
          <a:p>
            <a:pPr lvl="1"/>
            <a:r>
              <a:rPr kumimoji="1" lang="ja-JP" altLang="en-US" dirty="0"/>
              <a:t>コンピュータ・アーキテクチャ，計算機アーキテクチャ</a:t>
            </a:r>
            <a:endParaRPr kumimoji="1" lang="en-US" altLang="ja-JP" dirty="0"/>
          </a:p>
          <a:p>
            <a:r>
              <a:rPr kumimoji="1" lang="ja-JP" altLang="en-US" dirty="0"/>
              <a:t>大学院：東大だと，下記の先生方が近い内容を扱っているはず</a:t>
            </a:r>
            <a:endParaRPr kumimoji="1" lang="en-US" altLang="ja-JP" dirty="0"/>
          </a:p>
          <a:p>
            <a:pPr lvl="1"/>
            <a:r>
              <a:rPr kumimoji="1" lang="ja-JP" altLang="en-US" dirty="0"/>
              <a:t>電子情報</a:t>
            </a:r>
            <a:r>
              <a:rPr lang="ja-JP" altLang="en-US" dirty="0"/>
              <a:t>学</a:t>
            </a:r>
            <a:r>
              <a:rPr kumimoji="1" lang="ja-JP" altLang="en-US" dirty="0"/>
              <a:t>（入江先生，門本先生）</a:t>
            </a:r>
            <a:endParaRPr kumimoji="1" lang="en-US" altLang="ja-JP" dirty="0"/>
          </a:p>
          <a:p>
            <a:pPr lvl="1"/>
            <a:r>
              <a:rPr lang="ja-JP" altLang="en-US" dirty="0"/>
              <a:t>システム情報学（中村先生，高瀬先生）</a:t>
            </a:r>
            <a:endParaRPr kumimoji="1" lang="en-US" altLang="ja-JP" dirty="0"/>
          </a:p>
          <a:p>
            <a:pPr lvl="1"/>
            <a:r>
              <a:rPr lang="ja-JP" altLang="en-US" dirty="0"/>
              <a:t>コンピュータ科学（</a:t>
            </a:r>
            <a:r>
              <a:rPr lang="ja-JP" altLang="en-US" b="0" i="0" dirty="0">
                <a:solidFill>
                  <a:srgbClr val="1D1C1D"/>
                </a:solidFill>
                <a:effectLst/>
                <a:latin typeface="NotoSansJP"/>
              </a:rPr>
              <a:t>中田先生，</a:t>
            </a:r>
            <a:r>
              <a:rPr lang="ja-JP" altLang="en-US" dirty="0"/>
              <a:t>高前田先生）</a:t>
            </a:r>
            <a:endParaRPr lang="en-US" altLang="ja-JP" dirty="0"/>
          </a:p>
          <a:p>
            <a:pPr lvl="1"/>
            <a:endParaRPr kumimoji="1" lang="en-US" altLang="ja-JP" dirty="0"/>
          </a:p>
        </p:txBody>
      </p:sp>
    </p:spTree>
    <p:extLst>
      <p:ext uri="{BB962C8B-B14F-4D97-AF65-F5344CB8AC3E}">
        <p14:creationId xmlns:p14="http://schemas.microsoft.com/office/powerpoint/2010/main" val="36939320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成績</a:t>
            </a:r>
          </a:p>
        </p:txBody>
      </p:sp>
      <p:sp>
        <p:nvSpPr>
          <p:cNvPr id="3" name="テキスト プレースホルダー 2"/>
          <p:cNvSpPr>
            <a:spLocks noGrp="1"/>
          </p:cNvSpPr>
          <p:nvPr>
            <p:ph type="body" sz="quarter" idx="10"/>
          </p:nvPr>
        </p:nvSpPr>
        <p:spPr/>
        <p:txBody>
          <a:bodyPr/>
          <a:lstStyle/>
          <a:p>
            <a:r>
              <a:rPr kumimoji="1" lang="ja-JP" altLang="en-US" dirty="0"/>
              <a:t>出席感想とレポート･･･ で主につけていました</a:t>
            </a:r>
            <a:endParaRPr kumimoji="1" lang="en-US" altLang="ja-JP" dirty="0"/>
          </a:p>
          <a:p>
            <a:r>
              <a:rPr kumimoji="1" lang="ja-JP" altLang="en-US" dirty="0"/>
              <a:t>今年は変える予定</a:t>
            </a:r>
            <a:endParaRPr kumimoji="1" lang="en-US" altLang="ja-JP" dirty="0"/>
          </a:p>
          <a:p>
            <a:pPr lvl="1"/>
            <a:r>
              <a:rPr kumimoji="1" lang="en-US" altLang="ja-JP" dirty="0"/>
              <a:t>LLM </a:t>
            </a:r>
            <a:r>
              <a:rPr kumimoji="1" lang="ja-JP" altLang="en-US" dirty="0"/>
              <a:t>がレポート課題を難しくしてしまった</a:t>
            </a:r>
            <a:endParaRPr kumimoji="1" lang="en-US" altLang="ja-JP" dirty="0"/>
          </a:p>
          <a:p>
            <a:pPr lvl="1"/>
            <a:r>
              <a:rPr kumimoji="1" lang="ja-JP" altLang="en-US" dirty="0"/>
              <a:t>別の選択課題も出そうと考えています</a:t>
            </a:r>
            <a:endParaRPr kumimoji="1" lang="en-US" altLang="ja-JP" dirty="0"/>
          </a:p>
          <a:p>
            <a:pPr lvl="2"/>
            <a:r>
              <a:rPr kumimoji="1" lang="ja-JP" altLang="en-US" dirty="0"/>
              <a:t>プログラムの特性の解析など</a:t>
            </a:r>
            <a:endParaRPr kumimoji="1" lang="en-US" altLang="ja-JP" dirty="0"/>
          </a:p>
        </p:txBody>
      </p:sp>
    </p:spTree>
    <p:extLst>
      <p:ext uri="{BB962C8B-B14F-4D97-AF65-F5344CB8AC3E}">
        <p14:creationId xmlns:p14="http://schemas.microsoft.com/office/powerpoint/2010/main" val="12488569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52B37D-4EC8-FAC9-29E8-02BF964D82ED}"/>
              </a:ext>
            </a:extLst>
          </p:cNvPr>
          <p:cNvSpPr>
            <a:spLocks noGrp="1"/>
          </p:cNvSpPr>
          <p:nvPr>
            <p:ph type="title"/>
          </p:nvPr>
        </p:nvSpPr>
        <p:spPr/>
        <p:txBody>
          <a:bodyPr/>
          <a:lstStyle/>
          <a:p>
            <a:r>
              <a:rPr kumimoji="1" lang="ja-JP" altLang="en-US" dirty="0"/>
              <a:t>来週 </a:t>
            </a:r>
            <a:r>
              <a:rPr kumimoji="1" lang="en-US" altLang="ja-JP" dirty="0"/>
              <a:t>4/13 </a:t>
            </a:r>
            <a:r>
              <a:rPr kumimoji="1" lang="ja-JP" altLang="en-US" dirty="0"/>
              <a:t>は入学式により休講です</a:t>
            </a:r>
            <a:endParaRPr kumimoji="1" lang="en-US" dirty="0"/>
          </a:p>
        </p:txBody>
      </p:sp>
      <p:sp>
        <p:nvSpPr>
          <p:cNvPr id="3" name="テキスト プレースホルダー 2">
            <a:extLst>
              <a:ext uri="{FF2B5EF4-FFF2-40B4-BE49-F238E27FC236}">
                <a16:creationId xmlns:a16="http://schemas.microsoft.com/office/drawing/2014/main" id="{8C07C2A2-87EB-871A-CE65-E0440C076033}"/>
              </a:ext>
            </a:extLst>
          </p:cNvPr>
          <p:cNvSpPr>
            <a:spLocks noGrp="1"/>
          </p:cNvSpPr>
          <p:nvPr>
            <p:ph type="body" sz="quarter" idx="10"/>
          </p:nvPr>
        </p:nvSpPr>
        <p:spPr/>
        <p:txBody>
          <a:bodyPr/>
          <a:lstStyle/>
          <a:p>
            <a:r>
              <a:rPr kumimoji="1" lang="ja-JP" altLang="en-US" dirty="0"/>
              <a:t>次回は </a:t>
            </a:r>
            <a:r>
              <a:rPr kumimoji="1" lang="en-US" altLang="ja-JP" dirty="0"/>
              <a:t>4/20 </a:t>
            </a:r>
            <a:r>
              <a:rPr kumimoji="1" lang="ja-JP" altLang="en-US" dirty="0"/>
              <a:t>です</a:t>
            </a:r>
            <a:endParaRPr kumimoji="1" lang="en-US" dirty="0"/>
          </a:p>
        </p:txBody>
      </p:sp>
    </p:spTree>
    <p:extLst>
      <p:ext uri="{BB962C8B-B14F-4D97-AF65-F5344CB8AC3E}">
        <p14:creationId xmlns:p14="http://schemas.microsoft.com/office/powerpoint/2010/main" val="30511128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コメントの提出</a:t>
            </a:r>
            <a:endParaRPr kumimoji="1" lang="ja-JP" altLang="en-US" dirty="0"/>
          </a:p>
        </p:txBody>
      </p:sp>
      <p:sp>
        <p:nvSpPr>
          <p:cNvPr id="3" name="テキスト プレースホルダー 2"/>
          <p:cNvSpPr>
            <a:spLocks noGrp="1"/>
          </p:cNvSpPr>
          <p:nvPr>
            <p:ph type="body" sz="quarter" idx="10"/>
          </p:nvPr>
        </p:nvSpPr>
        <p:spPr>
          <a:xfrm>
            <a:off x="875942" y="1268976"/>
            <a:ext cx="10620118" cy="5219751"/>
          </a:xfrm>
        </p:spPr>
        <p:txBody>
          <a:bodyPr/>
          <a:lstStyle/>
          <a:p>
            <a:r>
              <a:rPr lang="ja-JP" altLang="en-US" sz="1800" dirty="0"/>
              <a:t>コメントの提出</a:t>
            </a:r>
            <a:endParaRPr lang="en-US" altLang="ja-JP" sz="1800" dirty="0"/>
          </a:p>
          <a:p>
            <a:pPr lvl="1"/>
            <a:r>
              <a:rPr lang="en-US" altLang="ja-JP" sz="1800" dirty="0"/>
              <a:t>UTOL </a:t>
            </a:r>
            <a:r>
              <a:rPr lang="ja-JP" altLang="en-US" sz="1800" dirty="0"/>
              <a:t>の出席欄に感想や質問，後述のアンケートの回答を書いてください</a:t>
            </a:r>
            <a:endParaRPr lang="en-US" altLang="ja-JP" sz="1800" dirty="0"/>
          </a:p>
          <a:p>
            <a:pPr lvl="1"/>
            <a:r>
              <a:rPr lang="ja-JP" altLang="en-US" sz="1800" dirty="0"/>
              <a:t>パスワード：</a:t>
            </a:r>
            <a:r>
              <a:rPr lang="en-US" altLang="ja-JP" sz="1800" dirty="0"/>
              <a:t>arc</a:t>
            </a:r>
          </a:p>
          <a:p>
            <a:r>
              <a:rPr lang="ja-JP" altLang="en-US" sz="1800" dirty="0"/>
              <a:t>下記について，それぞれ知っているかどうかを出席欄のコメントに書いて下さい</a:t>
            </a:r>
            <a:endParaRPr lang="en-US" altLang="ja-JP" sz="1800" dirty="0"/>
          </a:p>
          <a:p>
            <a:pPr marL="817200" lvl="1" indent="-457200">
              <a:buFont typeface="+mj-lt"/>
              <a:buAutoNum type="arabicPeriod"/>
            </a:pPr>
            <a:r>
              <a:rPr lang="ja-JP" altLang="en-US" sz="1800" dirty="0"/>
              <a:t>組み合わせ回路と順序回路</a:t>
            </a:r>
            <a:endParaRPr lang="en-US" altLang="ja-JP" sz="1800" dirty="0"/>
          </a:p>
          <a:p>
            <a:pPr marL="817200" lvl="1" indent="-457200">
              <a:buFont typeface="+mj-lt"/>
              <a:buAutoNum type="arabicPeriod"/>
            </a:pPr>
            <a:r>
              <a:rPr lang="ja-JP" altLang="en-US" sz="1800" dirty="0"/>
              <a:t>命令とは何か</a:t>
            </a:r>
            <a:endParaRPr lang="en-US" altLang="ja-JP" sz="1800" dirty="0"/>
          </a:p>
          <a:p>
            <a:pPr marL="817200" lvl="1" indent="-457200">
              <a:buFont typeface="+mj-lt"/>
              <a:buAutoNum type="arabicPeriod"/>
            </a:pPr>
            <a:r>
              <a:rPr lang="ja-JP" altLang="en-US" sz="1800" dirty="0"/>
              <a:t>命令パイプライン</a:t>
            </a:r>
            <a:endParaRPr lang="en-US" altLang="ja-JP" sz="1800" dirty="0"/>
          </a:p>
          <a:p>
            <a:pPr marL="817200" lvl="1" indent="-457200">
              <a:buFont typeface="+mj-lt"/>
              <a:buAutoNum type="arabicPeriod"/>
            </a:pPr>
            <a:r>
              <a:rPr lang="ja-JP" altLang="en-US" sz="1800" dirty="0"/>
              <a:t>キャッシュ</a:t>
            </a:r>
            <a:endParaRPr lang="en-US" altLang="ja-JP" sz="1800" dirty="0"/>
          </a:p>
          <a:p>
            <a:pPr marL="817200" lvl="1" indent="-457200">
              <a:buFont typeface="+mj-lt"/>
              <a:buAutoNum type="arabicPeriod"/>
            </a:pPr>
            <a:r>
              <a:rPr lang="ja-JP" altLang="en-US" sz="1800" dirty="0"/>
              <a:t>スーパスカラ</a:t>
            </a:r>
            <a:endParaRPr lang="en-US" altLang="ja-JP" sz="1800" dirty="0"/>
          </a:p>
          <a:p>
            <a:r>
              <a:rPr lang="ja-JP" altLang="en-US" sz="1800" dirty="0"/>
              <a:t>備考：</a:t>
            </a:r>
            <a:endParaRPr lang="en-US" altLang="ja-JP" sz="1800" dirty="0"/>
          </a:p>
          <a:p>
            <a:pPr lvl="1"/>
            <a:r>
              <a:rPr lang="ja-JP" altLang="en-US" sz="1800" dirty="0"/>
              <a:t>回答は「わかる」「聞いたことがある」「しらない 」等でお願いします</a:t>
            </a:r>
            <a:endParaRPr lang="en-US" altLang="ja-JP" sz="1800" dirty="0"/>
          </a:p>
        </p:txBody>
      </p:sp>
    </p:spTree>
    <p:extLst>
      <p:ext uri="{BB962C8B-B14F-4D97-AF65-F5344CB8AC3E}">
        <p14:creationId xmlns:p14="http://schemas.microsoft.com/office/powerpoint/2010/main" val="17294929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その他 備考</a:t>
            </a:r>
            <a:endParaRPr kumimoji="1" lang="ja-JP" altLang="en-US" dirty="0"/>
          </a:p>
        </p:txBody>
      </p:sp>
      <p:sp>
        <p:nvSpPr>
          <p:cNvPr id="3" name="テキスト プレースホルダー 2"/>
          <p:cNvSpPr>
            <a:spLocks noGrp="1"/>
          </p:cNvSpPr>
          <p:nvPr>
            <p:ph type="body" sz="quarter" idx="10"/>
          </p:nvPr>
        </p:nvSpPr>
        <p:spPr>
          <a:xfrm>
            <a:off x="875942" y="1268976"/>
            <a:ext cx="10620118" cy="5219751"/>
          </a:xfrm>
        </p:spPr>
        <p:txBody>
          <a:bodyPr/>
          <a:lstStyle/>
          <a:p>
            <a:r>
              <a:rPr lang="ja-JP" altLang="en-US" sz="1800" dirty="0"/>
              <a:t>この講義は前述のキーワードががあんまわかんない人向けの説明から始まります</a:t>
            </a:r>
            <a:endParaRPr lang="en-US" altLang="ja-JP" sz="1800" dirty="0"/>
          </a:p>
          <a:p>
            <a:r>
              <a:rPr lang="ja-JP" altLang="en-US" sz="1800" dirty="0"/>
              <a:t>その他コメントや，「こう言う話題も取り上げて欲しい」や質問などもあればお願いします</a:t>
            </a:r>
            <a:endParaRPr lang="en-US" altLang="ja-JP" sz="1800" dirty="0"/>
          </a:p>
        </p:txBody>
      </p:sp>
    </p:spTree>
    <p:extLst>
      <p:ext uri="{BB962C8B-B14F-4D97-AF65-F5344CB8AC3E}">
        <p14:creationId xmlns:p14="http://schemas.microsoft.com/office/powerpoint/2010/main" val="13021923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cerulean">
  <a:themeElements>
    <a:clrScheme name="ユーザー定義 3">
      <a:dk1>
        <a:sysClr val="windowText" lastClr="000000"/>
      </a:dk1>
      <a:lt1>
        <a:sysClr val="window" lastClr="FFFFFF"/>
      </a:lt1>
      <a:dk2>
        <a:srgbClr val="F4EB00"/>
      </a:dk2>
      <a:lt2>
        <a:srgbClr val="C4FF4A"/>
      </a:lt2>
      <a:accent1>
        <a:srgbClr val="5782B5"/>
      </a:accent1>
      <a:accent2>
        <a:srgbClr val="B65A58"/>
      </a:accent2>
      <a:accent3>
        <a:srgbClr val="81945C"/>
      </a:accent3>
      <a:accent4>
        <a:srgbClr val="5C6994"/>
      </a:accent4>
      <a:accent5>
        <a:srgbClr val="4E8EA2"/>
      </a:accent5>
      <a:accent6>
        <a:srgbClr val="C77D63"/>
      </a:accent6>
      <a:hlink>
        <a:srgbClr val="3A3AC6"/>
      </a:hlink>
      <a:folHlink>
        <a:srgbClr val="631D63"/>
      </a:folHlink>
    </a:clrScheme>
    <a:fontScheme name="メイリオ-SegoeUI">
      <a:majorFont>
        <a:latin typeface="Segoe UI"/>
        <a:ea typeface="メイリオ"/>
        <a:cs typeface=""/>
      </a:majorFont>
      <a:minorFont>
        <a:latin typeface="Segoe UI"/>
        <a:ea typeface="メイリオ"/>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a:tailEnd type="triangle" w="sm" len="med"/>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kumimoji="1" dirty="0" smtClean="0">
            <a:solidFill>
              <a:schemeClr val="tx1">
                <a:lumMod val="75000"/>
                <a:lumOff val="25000"/>
              </a:schemeClr>
            </a:solidFill>
            <a:latin typeface="+mn-ea"/>
          </a:defRPr>
        </a:defPPr>
      </a:lstStyle>
      <a:style>
        <a:lnRef idx="1">
          <a:schemeClr val="accent5"/>
        </a:lnRef>
        <a:fillRef idx="2">
          <a:schemeClr val="accent5"/>
        </a:fillRef>
        <a:effectRef idx="1">
          <a:schemeClr val="accent5"/>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Verdana" pitchFamily="34" charset="0"/>
            <a:ea typeface="HG丸ｺﾞｼｯｸM-PRO" pitchFamily="50" charset="-128"/>
          </a:defRPr>
        </a:defPPr>
      </a:lstStyle>
    </a:lnDef>
  </a:objectDefaults>
  <a:extraClrSchemeLst>
    <a:extraClrScheme>
      <a:clrScheme name="colorful water rev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lorful water rev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lorful water rev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lorful water rev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lorful water rev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lorful water rev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lorful water rev 8">
        <a:dk1>
          <a:srgbClr val="000000"/>
        </a:dk1>
        <a:lt1>
          <a:srgbClr val="FFFFFF"/>
        </a:lt1>
        <a:dk2>
          <a:srgbClr val="000000"/>
        </a:dk2>
        <a:lt2>
          <a:srgbClr val="808080"/>
        </a:lt2>
        <a:accent1>
          <a:srgbClr val="9999FF"/>
        </a:accent1>
        <a:accent2>
          <a:srgbClr val="3333CC"/>
        </a:accent2>
        <a:accent3>
          <a:srgbClr val="FFFFFF"/>
        </a:accent3>
        <a:accent4>
          <a:srgbClr val="000000"/>
        </a:accent4>
        <a:accent5>
          <a:srgbClr val="CACA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9">
        <a:dk1>
          <a:srgbClr val="000000"/>
        </a:dk1>
        <a:lt1>
          <a:srgbClr val="FFFFFF"/>
        </a:lt1>
        <a:dk2>
          <a:srgbClr val="000000"/>
        </a:dk2>
        <a:lt2>
          <a:srgbClr val="808080"/>
        </a:lt2>
        <a:accent1>
          <a:srgbClr val="9999FF"/>
        </a:accent1>
        <a:accent2>
          <a:srgbClr val="FF0000"/>
        </a:accent2>
        <a:accent3>
          <a:srgbClr val="FFFFFF"/>
        </a:accent3>
        <a:accent4>
          <a:srgbClr val="000000"/>
        </a:accent4>
        <a:accent5>
          <a:srgbClr val="CACAFF"/>
        </a:accent5>
        <a:accent6>
          <a:srgbClr val="E70000"/>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ulean" id="{B42443E9-F396-466A-92C3-7ED6F4EBC01F}" vid="{0CE6AD82-9598-49D5-BEEF-3DCDCFA8BED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cerulean</Template>
  <TotalTime>50573</TotalTime>
  <Words>2806</Words>
  <Application>Microsoft Office PowerPoint</Application>
  <PresentationFormat>ワイド画面</PresentationFormat>
  <Paragraphs>440</Paragraphs>
  <Slides>38</Slides>
  <Notes>1</Notes>
  <HiddenSlides>0</HiddenSlides>
  <MMClips>0</MMClips>
  <ScaleCrop>false</ScaleCrop>
  <HeadingPairs>
    <vt:vector size="6" baseType="variant">
      <vt:variant>
        <vt:lpstr>使用されているフォント</vt:lpstr>
      </vt:variant>
      <vt:variant>
        <vt:i4>12</vt:i4>
      </vt:variant>
      <vt:variant>
        <vt:lpstr>テーマ</vt:lpstr>
      </vt:variant>
      <vt:variant>
        <vt:i4>1</vt:i4>
      </vt:variant>
      <vt:variant>
        <vt:lpstr>スライド タイトル</vt:lpstr>
      </vt:variant>
      <vt:variant>
        <vt:i4>38</vt:i4>
      </vt:variant>
    </vt:vector>
  </HeadingPairs>
  <TitlesOfParts>
    <vt:vector size="51" baseType="lpstr">
      <vt:lpstr>HG丸ｺﾞｼｯｸM-PRO</vt:lpstr>
      <vt:lpstr>Hiragino Kaku Gothic ProN</vt:lpstr>
      <vt:lpstr>MeiryoKe_PGothic</vt:lpstr>
      <vt:lpstr>ＭＳ Ｐゴシック</vt:lpstr>
      <vt:lpstr>NotoSansJP</vt:lpstr>
      <vt:lpstr>メイリオ</vt:lpstr>
      <vt:lpstr>Arial Narrow</vt:lpstr>
      <vt:lpstr>Calibri</vt:lpstr>
      <vt:lpstr>Consolas</vt:lpstr>
      <vt:lpstr>Segoe UI</vt:lpstr>
      <vt:lpstr>Times New Roman</vt:lpstr>
      <vt:lpstr>Wingdings</vt:lpstr>
      <vt:lpstr>cerulean</vt:lpstr>
      <vt:lpstr>先進計算機構成論 第１回 導入</vt:lpstr>
      <vt:lpstr>自己紹介</vt:lpstr>
      <vt:lpstr>すこし考えてみよう</vt:lpstr>
      <vt:lpstr>Apple M1  写真は https://www.anandtech.com/show/16226/apple-silicon-m1-a14-deep-dive より</vt:lpstr>
      <vt:lpstr>いろいろなユニットの箱がかかれているが，これは何なのか？ Apple A18P/M4 CPU と NVIDIA GPU (Turing)</vt:lpstr>
      <vt:lpstr>先進計算機構成論</vt:lpstr>
      <vt:lpstr>コンピュータや CPU，GPU 等についてのニュースや解説記事など</vt:lpstr>
      <vt:lpstr>ほかにも GPU について</vt:lpstr>
      <vt:lpstr>必要な予備知識</vt:lpstr>
      <vt:lpstr>参考</vt:lpstr>
      <vt:lpstr>コンピュータ・アーキテクチャ</vt:lpstr>
      <vt:lpstr>コンピュータ・アーキテクチャ</vt:lpstr>
      <vt:lpstr>コンピュータ・アーキテクチャ</vt:lpstr>
      <vt:lpstr>他の分野との関係：ソフトとハードの境界にある</vt:lpstr>
      <vt:lpstr>この講義の内容</vt:lpstr>
      <vt:lpstr>キーワード</vt:lpstr>
      <vt:lpstr>補足：CPU と GPU </vt:lpstr>
      <vt:lpstr>コンピュータの基本的な構造</vt:lpstr>
      <vt:lpstr>いろいろなプロセッサ</vt:lpstr>
      <vt:lpstr>対象プログラムの違い</vt:lpstr>
      <vt:lpstr>基本構造の違い</vt:lpstr>
      <vt:lpstr>講義内容との関係 紫：共通，青：CPU，緑：GPU</vt:lpstr>
      <vt:lpstr>２～３回目：コンピュータの基本</vt:lpstr>
      <vt:lpstr>３～４回目：回路と遅延，消費電力</vt:lpstr>
      <vt:lpstr>４～５回目 命令パイプライン</vt:lpstr>
      <vt:lpstr>６～７回目 分岐予測</vt:lpstr>
      <vt:lpstr>８回目 メモリ</vt:lpstr>
      <vt:lpstr>９～１１回目 命令の並列実行，命令スケジューリング</vt:lpstr>
      <vt:lpstr>１１回目 GPU </vt:lpstr>
      <vt:lpstr>１２回目 キャッシュ</vt:lpstr>
      <vt:lpstr>１３回目 保護機構とアタック</vt:lpstr>
      <vt:lpstr>講義資料</vt:lpstr>
      <vt:lpstr>参考図書など</vt:lpstr>
      <vt:lpstr>他の講義との関係</vt:lpstr>
      <vt:lpstr>成績</vt:lpstr>
      <vt:lpstr>来週 4/13 は入学式により休講です</vt:lpstr>
      <vt:lpstr>コメントの提出</vt:lpstr>
      <vt:lpstr>その他 備考</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shioya</dc:creator>
  <cp:lastModifiedBy>塩谷　亮太</cp:lastModifiedBy>
  <cp:revision>8652</cp:revision>
  <cp:lastPrinted>2014-12-10T13:40:48Z</cp:lastPrinted>
  <dcterms:created xsi:type="dcterms:W3CDTF">2014-11-17T10:53:59Z</dcterms:created>
  <dcterms:modified xsi:type="dcterms:W3CDTF">2026-04-06T05:32:38Z</dcterms:modified>
</cp:coreProperties>
</file>