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8" r:id="rId1"/>
  </p:sldMasterIdLst>
  <p:notesMasterIdLst>
    <p:notesMasterId r:id="rId117"/>
  </p:notesMasterIdLst>
  <p:sldIdLst>
    <p:sldId id="440" r:id="rId2"/>
    <p:sldId id="740" r:id="rId3"/>
    <p:sldId id="824" r:id="rId4"/>
    <p:sldId id="816" r:id="rId5"/>
    <p:sldId id="891" r:id="rId6"/>
    <p:sldId id="291" r:id="rId7"/>
    <p:sldId id="580" r:id="rId8"/>
    <p:sldId id="274" r:id="rId9"/>
    <p:sldId id="804" r:id="rId10"/>
    <p:sldId id="814" r:id="rId11"/>
    <p:sldId id="815" r:id="rId12"/>
    <p:sldId id="817" r:id="rId13"/>
    <p:sldId id="807" r:id="rId14"/>
    <p:sldId id="818" r:id="rId15"/>
    <p:sldId id="819" r:id="rId16"/>
    <p:sldId id="826" r:id="rId17"/>
    <p:sldId id="827" r:id="rId18"/>
    <p:sldId id="828" r:id="rId19"/>
    <p:sldId id="829" r:id="rId20"/>
    <p:sldId id="830" r:id="rId21"/>
    <p:sldId id="831" r:id="rId22"/>
    <p:sldId id="832" r:id="rId23"/>
    <p:sldId id="833" r:id="rId24"/>
    <p:sldId id="834" r:id="rId25"/>
    <p:sldId id="835" r:id="rId26"/>
    <p:sldId id="836" r:id="rId27"/>
    <p:sldId id="837" r:id="rId28"/>
    <p:sldId id="838" r:id="rId29"/>
    <p:sldId id="839" r:id="rId30"/>
    <p:sldId id="840" r:id="rId31"/>
    <p:sldId id="841" r:id="rId32"/>
    <p:sldId id="842" r:id="rId33"/>
    <p:sldId id="843" r:id="rId34"/>
    <p:sldId id="844" r:id="rId35"/>
    <p:sldId id="845" r:id="rId36"/>
    <p:sldId id="846" r:id="rId37"/>
    <p:sldId id="847" r:id="rId38"/>
    <p:sldId id="848" r:id="rId39"/>
    <p:sldId id="849" r:id="rId40"/>
    <p:sldId id="850" r:id="rId41"/>
    <p:sldId id="820" r:id="rId42"/>
    <p:sldId id="851" r:id="rId43"/>
    <p:sldId id="852" r:id="rId44"/>
    <p:sldId id="853" r:id="rId45"/>
    <p:sldId id="854" r:id="rId46"/>
    <p:sldId id="855" r:id="rId47"/>
    <p:sldId id="856" r:id="rId48"/>
    <p:sldId id="857" r:id="rId49"/>
    <p:sldId id="858" r:id="rId50"/>
    <p:sldId id="859" r:id="rId51"/>
    <p:sldId id="860" r:id="rId52"/>
    <p:sldId id="861" r:id="rId53"/>
    <p:sldId id="862" r:id="rId54"/>
    <p:sldId id="863" r:id="rId55"/>
    <p:sldId id="864" r:id="rId56"/>
    <p:sldId id="821" r:id="rId57"/>
    <p:sldId id="865" r:id="rId58"/>
    <p:sldId id="866" r:id="rId59"/>
    <p:sldId id="867" r:id="rId60"/>
    <p:sldId id="868" r:id="rId61"/>
    <p:sldId id="822" r:id="rId62"/>
    <p:sldId id="869" r:id="rId63"/>
    <p:sldId id="870" r:id="rId64"/>
    <p:sldId id="871" r:id="rId65"/>
    <p:sldId id="872" r:id="rId66"/>
    <p:sldId id="873" r:id="rId67"/>
    <p:sldId id="874" r:id="rId68"/>
    <p:sldId id="875" r:id="rId69"/>
    <p:sldId id="876" r:id="rId70"/>
    <p:sldId id="877" r:id="rId71"/>
    <p:sldId id="878" r:id="rId72"/>
    <p:sldId id="879" r:id="rId73"/>
    <p:sldId id="880" r:id="rId74"/>
    <p:sldId id="881" r:id="rId75"/>
    <p:sldId id="882" r:id="rId76"/>
    <p:sldId id="883" r:id="rId77"/>
    <p:sldId id="884" r:id="rId78"/>
    <p:sldId id="885" r:id="rId79"/>
    <p:sldId id="886" r:id="rId80"/>
    <p:sldId id="887" r:id="rId81"/>
    <p:sldId id="888" r:id="rId82"/>
    <p:sldId id="889" r:id="rId83"/>
    <p:sldId id="890" r:id="rId84"/>
    <p:sldId id="892" r:id="rId85"/>
    <p:sldId id="894" r:id="rId86"/>
    <p:sldId id="895" r:id="rId87"/>
    <p:sldId id="897" r:id="rId88"/>
    <p:sldId id="898" r:id="rId89"/>
    <p:sldId id="896" r:id="rId90"/>
    <p:sldId id="901" r:id="rId91"/>
    <p:sldId id="902" r:id="rId92"/>
    <p:sldId id="903" r:id="rId93"/>
    <p:sldId id="904" r:id="rId94"/>
    <p:sldId id="905" r:id="rId95"/>
    <p:sldId id="906" r:id="rId96"/>
    <p:sldId id="899" r:id="rId97"/>
    <p:sldId id="900" r:id="rId98"/>
    <p:sldId id="907" r:id="rId99"/>
    <p:sldId id="908" r:id="rId100"/>
    <p:sldId id="909" r:id="rId101"/>
    <p:sldId id="722" r:id="rId102"/>
    <p:sldId id="910" r:id="rId103"/>
    <p:sldId id="911" r:id="rId104"/>
    <p:sldId id="912" r:id="rId105"/>
    <p:sldId id="913" r:id="rId106"/>
    <p:sldId id="914" r:id="rId107"/>
    <p:sldId id="915" r:id="rId108"/>
    <p:sldId id="916" r:id="rId109"/>
    <p:sldId id="917" r:id="rId110"/>
    <p:sldId id="918" r:id="rId111"/>
    <p:sldId id="919" r:id="rId112"/>
    <p:sldId id="920" r:id="rId113"/>
    <p:sldId id="921" r:id="rId114"/>
    <p:sldId id="922" r:id="rId115"/>
    <p:sldId id="923" r:id="rId1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AF2F2"/>
    <a:srgbClr val="E8F5F8"/>
    <a:srgbClr val="9933FF"/>
    <a:srgbClr val="FF9900"/>
    <a:srgbClr val="009999"/>
    <a:srgbClr val="4E4EF6"/>
    <a:srgbClr val="006699"/>
    <a:srgbClr val="FFFFFF"/>
    <a:srgbClr val="31869D"/>
    <a:srgbClr val="4444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ABFCF23-3B69-468F-B69F-88F6DE6A72F2}" styleName="中間スタイル 1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00" autoAdjust="0"/>
    <p:restoredTop sz="96862" autoAdjust="0"/>
  </p:normalViewPr>
  <p:slideViewPr>
    <p:cSldViewPr>
      <p:cViewPr varScale="1">
        <p:scale>
          <a:sx n="148" d="100"/>
          <a:sy n="148" d="100"/>
        </p:scale>
        <p:origin x="108" y="368"/>
      </p:cViewPr>
      <p:guideLst>
        <p:guide orient="horz" pos="2160"/>
        <p:guide pos="3840"/>
      </p:guideLst>
    </p:cSldViewPr>
  </p:slideViewPr>
  <p:outlineViewPr>
    <p:cViewPr>
      <p:scale>
        <a:sx n="33" d="100"/>
        <a:sy n="33" d="100"/>
      </p:scale>
      <p:origin x="0" y="-22210"/>
    </p:cViewPr>
  </p:outlineViewPr>
  <p:notesTextViewPr>
    <p:cViewPr>
      <p:scale>
        <a:sx n="100" d="100"/>
        <a:sy n="100" d="100"/>
      </p:scale>
      <p:origin x="0" y="0"/>
    </p:cViewPr>
  </p:notesTextViewPr>
  <p:notesViewPr>
    <p:cSldViewPr>
      <p:cViewPr varScale="1">
        <p:scale>
          <a:sx n="65" d="100"/>
          <a:sy n="65" d="100"/>
        </p:scale>
        <p:origin x="2386" y="62"/>
      </p:cViewPr>
      <p:guideLst/>
    </p:cSldViewPr>
  </p:notes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E53D4-1A7B-4FFE-8A95-4265B045F058}" type="datetimeFigureOut">
              <a:rPr kumimoji="1" lang="ja-JP" altLang="en-US" smtClean="0"/>
              <a:t>2026/7/27</a:t>
            </a:fld>
            <a:endParaRPr kumimoji="1" lang="ja-JP" altLang="en-US"/>
          </a:p>
        </p:txBody>
      </p:sp>
      <p:sp>
        <p:nvSpPr>
          <p:cNvPr id="4" name="スライド イメージ プレースホルダー 3"/>
          <p:cNvSpPr>
            <a:spLocks noGrp="1" noRot="1" noChangeAspect="1"/>
          </p:cNvSpPr>
          <p:nvPr>
            <p:ph type="sldImg" idx="2"/>
          </p:nvPr>
        </p:nvSpPr>
        <p:spPr>
          <a:xfrm>
            <a:off x="-50800" y="161925"/>
            <a:ext cx="6959600" cy="39147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5F4D4-1F28-49A5-8AEE-E46B08553EC4}" type="slidenum">
              <a:rPr kumimoji="1" lang="ja-JP" altLang="en-US" smtClean="0"/>
              <a:t>‹#›</a:t>
            </a:fld>
            <a:endParaRPr kumimoji="1" lang="ja-JP" altLang="en-US"/>
          </a:p>
        </p:txBody>
      </p:sp>
    </p:spTree>
    <p:extLst>
      <p:ext uri="{BB962C8B-B14F-4D97-AF65-F5344CB8AC3E}">
        <p14:creationId xmlns:p14="http://schemas.microsoft.com/office/powerpoint/2010/main" val="16921233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1</a:t>
            </a:fld>
            <a:endParaRPr kumimoji="1" lang="ja-JP" altLang="en-US"/>
          </a:p>
        </p:txBody>
      </p:sp>
    </p:spTree>
    <p:extLst>
      <p:ext uri="{BB962C8B-B14F-4D97-AF65-F5344CB8AC3E}">
        <p14:creationId xmlns:p14="http://schemas.microsoft.com/office/powerpoint/2010/main" val="3548328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7</a:t>
            </a:fld>
            <a:endParaRPr kumimoji="1" lang="ja-JP" altLang="en-US"/>
          </a:p>
        </p:txBody>
      </p:sp>
    </p:spTree>
    <p:extLst>
      <p:ext uri="{BB962C8B-B14F-4D97-AF65-F5344CB8AC3E}">
        <p14:creationId xmlns:p14="http://schemas.microsoft.com/office/powerpoint/2010/main" val="2181631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r>
              <a:rPr kumimoji="1" lang="ja-JP" altLang="en-US" dirty="0"/>
              <a:t>現在の </a:t>
            </a:r>
            <a:r>
              <a:rPr kumimoji="1" lang="en-US" altLang="ja-JP" dirty="0"/>
              <a:t>CPU </a:t>
            </a:r>
            <a:r>
              <a:rPr kumimoji="1" lang="ja-JP" altLang="en-US" dirty="0"/>
              <a:t>は一般に </a:t>
            </a:r>
            <a:r>
              <a:rPr kumimoji="1" lang="en-US" altLang="ja-JP" dirty="0"/>
              <a:t>CMOS </a:t>
            </a:r>
            <a:r>
              <a:rPr kumimoji="1" lang="ja-JP" altLang="en-US" dirty="0"/>
              <a:t>ゲートというものでできているのですが，</a:t>
            </a:r>
            <a:endParaRPr kumimoji="1" lang="en-US" altLang="ja-JP" dirty="0"/>
          </a:p>
          <a:p>
            <a:r>
              <a:rPr kumimoji="1" lang="ja-JP" altLang="en-US" dirty="0"/>
              <a:t>おもいっきり細かいことを省くと，</a:t>
            </a:r>
            <a:endParaRPr kumimoji="1" lang="en-US" altLang="ja-JP" dirty="0"/>
          </a:p>
          <a:p>
            <a:endParaRPr kumimoji="1" lang="en-US" altLang="ja-JP" dirty="0"/>
          </a:p>
          <a:p>
            <a:r>
              <a:rPr kumimoji="1" lang="ja-JP" altLang="en-US" dirty="0"/>
              <a:t>これは入力にコンデンサがついていて，</a:t>
            </a:r>
            <a:endParaRPr kumimoji="1" lang="en-US" altLang="ja-JP" dirty="0"/>
          </a:p>
          <a:p>
            <a:r>
              <a:rPr kumimoji="1" lang="ja-JP" altLang="en-US" dirty="0"/>
              <a:t>これに連動して動くスイッチが出力を決めるものとなっています．</a:t>
            </a:r>
            <a:endParaRPr kumimoji="1" lang="en-US" altLang="ja-JP" dirty="0"/>
          </a:p>
          <a:p>
            <a:endParaRPr kumimoji="1" lang="en-US" altLang="ja-JP" dirty="0"/>
          </a:p>
          <a:p>
            <a:r>
              <a:rPr kumimoji="1" lang="ja-JP" altLang="en-US" dirty="0"/>
              <a:t>たとえば </a:t>
            </a:r>
            <a:r>
              <a:rPr kumimoji="1" lang="en-US" altLang="ja-JP" dirty="0"/>
              <a:t>NOT </a:t>
            </a:r>
            <a:r>
              <a:rPr kumimoji="1" lang="ja-JP" altLang="en-US" dirty="0"/>
              <a:t>ゲートは，入力に高電位がかかると，</a:t>
            </a:r>
            <a:endParaRPr kumimoji="1" lang="en-US" altLang="ja-JP" dirty="0"/>
          </a:p>
          <a:p>
            <a:r>
              <a:rPr kumimoji="1" lang="ja-JP" altLang="en-US" dirty="0"/>
              <a:t>下のスイッチが </a:t>
            </a:r>
            <a:r>
              <a:rPr kumimoji="1" lang="en-US" altLang="ja-JP" dirty="0"/>
              <a:t>ON </a:t>
            </a:r>
            <a:r>
              <a:rPr kumimoji="1" lang="ja-JP" altLang="en-US" dirty="0"/>
              <a:t>になって，出力がグラウンドに</a:t>
            </a:r>
            <a:endParaRPr kumimoji="1" lang="en-US" altLang="ja-JP" dirty="0"/>
          </a:p>
          <a:p>
            <a:r>
              <a:rPr kumimoji="1" lang="ja-JP" altLang="en-US" dirty="0"/>
              <a:t>つながるので低電位になって </a:t>
            </a:r>
            <a:r>
              <a:rPr kumimoji="1" lang="en-US" altLang="ja-JP" dirty="0"/>
              <a:t>NOT </a:t>
            </a:r>
            <a:r>
              <a:rPr kumimoji="1" lang="ja-JP" altLang="en-US" dirty="0"/>
              <a:t>回路ができると．</a:t>
            </a:r>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8</a:t>
            </a:fld>
            <a:endParaRPr kumimoji="1" lang="ja-JP" altLang="en-US"/>
          </a:p>
        </p:txBody>
      </p:sp>
    </p:spTree>
    <p:extLst>
      <p:ext uri="{BB962C8B-B14F-4D97-AF65-F5344CB8AC3E}">
        <p14:creationId xmlns:p14="http://schemas.microsoft.com/office/powerpoint/2010/main" val="499314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DBA5E-F813-D50B-6483-0A25DAB2448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2AEB1A0-16B4-1F34-78A2-8D95FAD5F20A}"/>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BF1DB0F2-8BEA-0593-0BC4-90B138D7E9B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21C65AC-0D40-6EC5-D57B-941650F1F858}"/>
              </a:ext>
            </a:extLst>
          </p:cNvPr>
          <p:cNvSpPr>
            <a:spLocks noGrp="1"/>
          </p:cNvSpPr>
          <p:nvPr>
            <p:ph type="sldNum" sz="quarter" idx="10"/>
          </p:nvPr>
        </p:nvSpPr>
        <p:spPr/>
        <p:txBody>
          <a:bodyPr/>
          <a:lstStyle/>
          <a:p>
            <a:fld id="{47424CC0-69D8-4EA1-A40C-A993AA6D964C}" type="slidenum">
              <a:rPr kumimoji="1" lang="ja-JP" altLang="en-US" smtClean="0"/>
              <a:t>12</a:t>
            </a:fld>
            <a:endParaRPr kumimoji="1" lang="ja-JP" altLang="en-US"/>
          </a:p>
        </p:txBody>
      </p:sp>
    </p:spTree>
    <p:extLst>
      <p:ext uri="{BB962C8B-B14F-4D97-AF65-F5344CB8AC3E}">
        <p14:creationId xmlns:p14="http://schemas.microsoft.com/office/powerpoint/2010/main" val="3957074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2AA3F-3C8F-F24F-B5C1-FC0AFE2DA1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E1381C-869D-601B-11E2-B79CAFCEFE7D}"/>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235B1982-66E3-FC6A-473F-C1D501B93EB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3A4DA95-3E79-13F3-4523-8A59EB84E045}"/>
              </a:ext>
            </a:extLst>
          </p:cNvPr>
          <p:cNvSpPr>
            <a:spLocks noGrp="1"/>
          </p:cNvSpPr>
          <p:nvPr>
            <p:ph type="sldNum" sz="quarter" idx="10"/>
          </p:nvPr>
        </p:nvSpPr>
        <p:spPr/>
        <p:txBody>
          <a:bodyPr/>
          <a:lstStyle/>
          <a:p>
            <a:fld id="{47424CC0-69D8-4EA1-A40C-A993AA6D964C}" type="slidenum">
              <a:rPr kumimoji="1" lang="ja-JP" altLang="en-US" smtClean="0"/>
              <a:t>35</a:t>
            </a:fld>
            <a:endParaRPr kumimoji="1" lang="ja-JP" altLang="en-US"/>
          </a:p>
        </p:txBody>
      </p:sp>
    </p:spTree>
    <p:extLst>
      <p:ext uri="{BB962C8B-B14F-4D97-AF65-F5344CB8AC3E}">
        <p14:creationId xmlns:p14="http://schemas.microsoft.com/office/powerpoint/2010/main" val="4017827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D0489-8BF4-B985-3F98-2EDE372708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54B88B0-3DB6-3B63-0527-7539401AFBA2}"/>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9E7CE948-D01A-5C2C-A7DE-C2FC4FFED75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E3A71FB-1BF7-FA73-63D9-E8746780A085}"/>
              </a:ext>
            </a:extLst>
          </p:cNvPr>
          <p:cNvSpPr>
            <a:spLocks noGrp="1"/>
          </p:cNvSpPr>
          <p:nvPr>
            <p:ph type="sldNum" sz="quarter" idx="10"/>
          </p:nvPr>
        </p:nvSpPr>
        <p:spPr/>
        <p:txBody>
          <a:bodyPr/>
          <a:lstStyle/>
          <a:p>
            <a:fld id="{47424CC0-69D8-4EA1-A40C-A993AA6D964C}" type="slidenum">
              <a:rPr kumimoji="1" lang="ja-JP" altLang="en-US" smtClean="0"/>
              <a:t>56</a:t>
            </a:fld>
            <a:endParaRPr kumimoji="1" lang="ja-JP" altLang="en-US"/>
          </a:p>
        </p:txBody>
      </p:sp>
    </p:spTree>
    <p:extLst>
      <p:ext uri="{BB962C8B-B14F-4D97-AF65-F5344CB8AC3E}">
        <p14:creationId xmlns:p14="http://schemas.microsoft.com/office/powerpoint/2010/main" val="1130811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C404A-B791-9C03-E112-C58588DB0D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9D4EAF7-7C94-07F4-E215-59A70F368395}"/>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DE3CC5BD-F880-1A0C-59F5-CA3093486AE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FA7EC4F-33DC-CD96-4D7F-7002604FBD6A}"/>
              </a:ext>
            </a:extLst>
          </p:cNvPr>
          <p:cNvSpPr>
            <a:spLocks noGrp="1"/>
          </p:cNvSpPr>
          <p:nvPr>
            <p:ph type="sldNum" sz="quarter" idx="10"/>
          </p:nvPr>
        </p:nvSpPr>
        <p:spPr/>
        <p:txBody>
          <a:bodyPr/>
          <a:lstStyle/>
          <a:p>
            <a:fld id="{47424CC0-69D8-4EA1-A40C-A993AA6D964C}" type="slidenum">
              <a:rPr kumimoji="1" lang="ja-JP" altLang="en-US" smtClean="0"/>
              <a:t>61</a:t>
            </a:fld>
            <a:endParaRPr kumimoji="1" lang="ja-JP" altLang="en-US"/>
          </a:p>
        </p:txBody>
      </p:sp>
    </p:spTree>
    <p:extLst>
      <p:ext uri="{BB962C8B-B14F-4D97-AF65-F5344CB8AC3E}">
        <p14:creationId xmlns:p14="http://schemas.microsoft.com/office/powerpoint/2010/main" val="4271026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B3F85-2059-F31C-D80D-56E555F513F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D8E4D7E-F3D5-11E8-2220-73109D3E3966}"/>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FA5C7CD5-E442-1832-37BD-6281EFC3164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675B5DE-02E3-85C9-F186-FD59E5006883}"/>
              </a:ext>
            </a:extLst>
          </p:cNvPr>
          <p:cNvSpPr>
            <a:spLocks noGrp="1"/>
          </p:cNvSpPr>
          <p:nvPr>
            <p:ph type="sldNum" sz="quarter" idx="10"/>
          </p:nvPr>
        </p:nvSpPr>
        <p:spPr/>
        <p:txBody>
          <a:bodyPr/>
          <a:lstStyle/>
          <a:p>
            <a:fld id="{47424CC0-69D8-4EA1-A40C-A993AA6D964C}" type="slidenum">
              <a:rPr kumimoji="1" lang="ja-JP" altLang="en-US" smtClean="0"/>
              <a:t>75</a:t>
            </a:fld>
            <a:endParaRPr kumimoji="1" lang="ja-JP" altLang="en-US"/>
          </a:p>
        </p:txBody>
      </p:sp>
    </p:spTree>
    <p:extLst>
      <p:ext uri="{BB962C8B-B14F-4D97-AF65-F5344CB8AC3E}">
        <p14:creationId xmlns:p14="http://schemas.microsoft.com/office/powerpoint/2010/main" val="4245714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ABFB3-0CEB-21DA-DE77-079FDE0418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C93E4-0132-EF0C-95E1-189D78E96FFF}"/>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6847BD8C-A859-3171-BCD5-89FEA3856E8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731024-477D-73C1-0A56-86AA12E8FB1A}"/>
              </a:ext>
            </a:extLst>
          </p:cNvPr>
          <p:cNvSpPr>
            <a:spLocks noGrp="1"/>
          </p:cNvSpPr>
          <p:nvPr>
            <p:ph type="sldNum" sz="quarter" idx="10"/>
          </p:nvPr>
        </p:nvSpPr>
        <p:spPr/>
        <p:txBody>
          <a:bodyPr/>
          <a:lstStyle/>
          <a:p>
            <a:fld id="{47424CC0-69D8-4EA1-A40C-A993AA6D964C}" type="slidenum">
              <a:rPr kumimoji="1" lang="ja-JP" altLang="en-US" smtClean="0"/>
              <a:t>76</a:t>
            </a:fld>
            <a:endParaRPr kumimoji="1" lang="ja-JP" altLang="en-US"/>
          </a:p>
        </p:txBody>
      </p:sp>
    </p:spTree>
    <p:extLst>
      <p:ext uri="{BB962C8B-B14F-4D97-AF65-F5344CB8AC3E}">
        <p14:creationId xmlns:p14="http://schemas.microsoft.com/office/powerpoint/2010/main" val="3754402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ABFB3-0CEB-21DA-DE77-079FDE0418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C93E4-0132-EF0C-95E1-189D78E96FFF}"/>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6847BD8C-A859-3171-BCD5-89FEA3856E8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731024-477D-73C1-0A56-86AA12E8FB1A}"/>
              </a:ext>
            </a:extLst>
          </p:cNvPr>
          <p:cNvSpPr>
            <a:spLocks noGrp="1"/>
          </p:cNvSpPr>
          <p:nvPr>
            <p:ph type="sldNum" sz="quarter" idx="10"/>
          </p:nvPr>
        </p:nvSpPr>
        <p:spPr/>
        <p:txBody>
          <a:bodyPr/>
          <a:lstStyle/>
          <a:p>
            <a:fld id="{47424CC0-69D8-4EA1-A40C-A993AA6D964C}" type="slidenum">
              <a:rPr kumimoji="1" lang="ja-JP" altLang="en-US" smtClean="0"/>
              <a:t>77</a:t>
            </a:fld>
            <a:endParaRPr kumimoji="1" lang="ja-JP" altLang="en-US"/>
          </a:p>
        </p:txBody>
      </p:sp>
    </p:spTree>
    <p:extLst>
      <p:ext uri="{BB962C8B-B14F-4D97-AF65-F5344CB8AC3E}">
        <p14:creationId xmlns:p14="http://schemas.microsoft.com/office/powerpoint/2010/main" val="40196574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1E5DC-594D-AD3E-3ECF-B6BEFFD922E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150CD88-592C-C390-EE58-8BC61339019C}"/>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DE3D62A4-B02F-3703-28E9-60916A01B66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3B51E0E-EB70-B225-8614-DD2D869693A4}"/>
              </a:ext>
            </a:extLst>
          </p:cNvPr>
          <p:cNvSpPr>
            <a:spLocks noGrp="1"/>
          </p:cNvSpPr>
          <p:nvPr>
            <p:ph type="sldNum" sz="quarter" idx="10"/>
          </p:nvPr>
        </p:nvSpPr>
        <p:spPr/>
        <p:txBody>
          <a:bodyPr/>
          <a:lstStyle/>
          <a:p>
            <a:fld id="{47424CC0-69D8-4EA1-A40C-A993AA6D964C}" type="slidenum">
              <a:rPr kumimoji="1" lang="ja-JP" altLang="en-US" smtClean="0"/>
              <a:t>92</a:t>
            </a:fld>
            <a:endParaRPr kumimoji="1" lang="ja-JP" altLang="en-US"/>
          </a:p>
        </p:txBody>
      </p:sp>
    </p:spTree>
    <p:extLst>
      <p:ext uri="{BB962C8B-B14F-4D97-AF65-F5344CB8AC3E}">
        <p14:creationId xmlns:p14="http://schemas.microsoft.com/office/powerpoint/2010/main" val="3170243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0EC2E-DE6B-060F-5D6E-D54AC7B009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759F33F-A072-6969-41C2-2DB9B4D5F614}"/>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DCF872B8-1272-8B7E-DE3A-CDE11CB8EAB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A7549B2-47EF-D1A0-FB99-F30962781D00}"/>
              </a:ext>
            </a:extLst>
          </p:cNvPr>
          <p:cNvSpPr>
            <a:spLocks noGrp="1"/>
          </p:cNvSpPr>
          <p:nvPr>
            <p:ph type="sldNum" sz="quarter" idx="10"/>
          </p:nvPr>
        </p:nvSpPr>
        <p:spPr/>
        <p:txBody>
          <a:bodyPr/>
          <a:lstStyle/>
          <a:p>
            <a:fld id="{47424CC0-69D8-4EA1-A40C-A993AA6D964C}" type="slidenum">
              <a:rPr kumimoji="1" lang="ja-JP" altLang="en-US" smtClean="0"/>
              <a:t>93</a:t>
            </a:fld>
            <a:endParaRPr kumimoji="1" lang="ja-JP" altLang="en-US"/>
          </a:p>
        </p:txBody>
      </p:sp>
    </p:spTree>
    <p:extLst>
      <p:ext uri="{BB962C8B-B14F-4D97-AF65-F5344CB8AC3E}">
        <p14:creationId xmlns:p14="http://schemas.microsoft.com/office/powerpoint/2010/main" val="1601666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F89CF-5E37-FD39-F13E-02980C53EF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F934DE-67E9-ECAA-751F-F5A7D2B1C672}"/>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BF978A70-3E7E-BF29-2D17-A661F6E0014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CE4C2C3-4304-37C3-85ED-3CAADAE64618}"/>
              </a:ext>
            </a:extLst>
          </p:cNvPr>
          <p:cNvSpPr>
            <a:spLocks noGrp="1"/>
          </p:cNvSpPr>
          <p:nvPr>
            <p:ph type="sldNum" sz="quarter" idx="10"/>
          </p:nvPr>
        </p:nvSpPr>
        <p:spPr/>
        <p:txBody>
          <a:bodyPr/>
          <a:lstStyle/>
          <a:p>
            <a:fld id="{47424CC0-69D8-4EA1-A40C-A993AA6D964C}" type="slidenum">
              <a:rPr kumimoji="1" lang="ja-JP" altLang="en-US" smtClean="0"/>
              <a:t>94</a:t>
            </a:fld>
            <a:endParaRPr kumimoji="1" lang="ja-JP" altLang="en-US"/>
          </a:p>
        </p:txBody>
      </p:sp>
    </p:spTree>
    <p:extLst>
      <p:ext uri="{BB962C8B-B14F-4D97-AF65-F5344CB8AC3E}">
        <p14:creationId xmlns:p14="http://schemas.microsoft.com/office/powerpoint/2010/main" val="1867177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EAB3C-F28B-47E5-1CE9-18DCBA9D11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BE9A365-310B-2D8D-21E0-08FC26D54611}"/>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E9922552-9387-E517-AEB2-628CF8EE1B6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04B714A-B062-A8A4-AE39-3D819C54E4A6}"/>
              </a:ext>
            </a:extLst>
          </p:cNvPr>
          <p:cNvSpPr>
            <a:spLocks noGrp="1"/>
          </p:cNvSpPr>
          <p:nvPr>
            <p:ph type="sldNum" sz="quarter" idx="10"/>
          </p:nvPr>
        </p:nvSpPr>
        <p:spPr/>
        <p:txBody>
          <a:bodyPr/>
          <a:lstStyle/>
          <a:p>
            <a:fld id="{47424CC0-69D8-4EA1-A40C-A993AA6D964C}" type="slidenum">
              <a:rPr kumimoji="1" lang="ja-JP" altLang="en-US" smtClean="0"/>
              <a:t>95</a:t>
            </a:fld>
            <a:endParaRPr kumimoji="1" lang="ja-JP" altLang="en-US"/>
          </a:p>
        </p:txBody>
      </p:sp>
    </p:spTree>
    <p:extLst>
      <p:ext uri="{BB962C8B-B14F-4D97-AF65-F5344CB8AC3E}">
        <p14:creationId xmlns:p14="http://schemas.microsoft.com/office/powerpoint/2010/main" val="15131656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C0805-5AA6-2889-D382-40E457A684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D22C30-7980-05E1-D49A-496A5A960403}"/>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1A378356-B08E-ADF8-CE03-CA903BA7D66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D322E08-6F3F-5EF1-560E-866C6ECB6CF5}"/>
              </a:ext>
            </a:extLst>
          </p:cNvPr>
          <p:cNvSpPr>
            <a:spLocks noGrp="1"/>
          </p:cNvSpPr>
          <p:nvPr>
            <p:ph type="sldNum" sz="quarter" idx="10"/>
          </p:nvPr>
        </p:nvSpPr>
        <p:spPr/>
        <p:txBody>
          <a:bodyPr/>
          <a:lstStyle/>
          <a:p>
            <a:fld id="{47424CC0-69D8-4EA1-A40C-A993AA6D964C}" type="slidenum">
              <a:rPr kumimoji="1" lang="ja-JP" altLang="en-US" smtClean="0"/>
              <a:t>97</a:t>
            </a:fld>
            <a:endParaRPr kumimoji="1" lang="ja-JP" altLang="en-US"/>
          </a:p>
        </p:txBody>
      </p:sp>
    </p:spTree>
    <p:extLst>
      <p:ext uri="{BB962C8B-B14F-4D97-AF65-F5344CB8AC3E}">
        <p14:creationId xmlns:p14="http://schemas.microsoft.com/office/powerpoint/2010/main" val="2208167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35943" y="278965"/>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255957" y="4149008"/>
            <a:ext cx="9600107"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sp>
        <p:nvSpPr>
          <p:cNvPr id="5" name="正方形/長方形 4"/>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6" name="直線コネクタ 5"/>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2" name="正方形/長方形 1">
            <a:extLst>
              <a:ext uri="{FF2B5EF4-FFF2-40B4-BE49-F238E27FC236}">
                <a16:creationId xmlns:a16="http://schemas.microsoft.com/office/drawing/2014/main" id="{813827C5-4275-31A2-853D-AD2CF14BBA98}"/>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3" name="直線コネクタ 2">
            <a:extLst>
              <a:ext uri="{FF2B5EF4-FFF2-40B4-BE49-F238E27FC236}">
                <a16:creationId xmlns:a16="http://schemas.microsoft.com/office/drawing/2014/main" id="{7B0AFE8A-4F74-BD8B-20D9-616B7AE7DADC}"/>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4" name="正方形/長方形 3">
            <a:extLst>
              <a:ext uri="{FF2B5EF4-FFF2-40B4-BE49-F238E27FC236}">
                <a16:creationId xmlns:a16="http://schemas.microsoft.com/office/drawing/2014/main" id="{11CAED90-8BCF-EEF7-7551-9410E8F2C2C7}"/>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7" name="直線コネクタ 6">
            <a:extLst>
              <a:ext uri="{FF2B5EF4-FFF2-40B4-BE49-F238E27FC236}">
                <a16:creationId xmlns:a16="http://schemas.microsoft.com/office/drawing/2014/main" id="{AA6324B9-77F8-EC31-6C3B-5D9B58641456}"/>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8" name="正方形/長方形 7">
            <a:extLst>
              <a:ext uri="{FF2B5EF4-FFF2-40B4-BE49-F238E27FC236}">
                <a16:creationId xmlns:a16="http://schemas.microsoft.com/office/drawing/2014/main" id="{7F3D3427-5051-5379-015F-3E42D5A44B63}"/>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9" name="直線コネクタ 8">
            <a:extLst>
              <a:ext uri="{FF2B5EF4-FFF2-40B4-BE49-F238E27FC236}">
                <a16:creationId xmlns:a16="http://schemas.microsoft.com/office/drawing/2014/main" id="{AED9C875-ACB9-9A82-3D2E-F8FE4B2ACA89}"/>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0" name="正方形/長方形 9">
            <a:extLst>
              <a:ext uri="{FF2B5EF4-FFF2-40B4-BE49-F238E27FC236}">
                <a16:creationId xmlns:a16="http://schemas.microsoft.com/office/drawing/2014/main" id="{3BFBD119-9076-BF7C-BD08-925CA913FF2C}"/>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1" name="直線コネクタ 10">
            <a:extLst>
              <a:ext uri="{FF2B5EF4-FFF2-40B4-BE49-F238E27FC236}">
                <a16:creationId xmlns:a16="http://schemas.microsoft.com/office/drawing/2014/main" id="{DD8AB707-DF2C-A333-49BD-B518A1D16921}"/>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2" name="正方形/長方形 11">
            <a:extLst>
              <a:ext uri="{FF2B5EF4-FFF2-40B4-BE49-F238E27FC236}">
                <a16:creationId xmlns:a16="http://schemas.microsoft.com/office/drawing/2014/main" id="{F35DEA87-3111-62FA-4EC7-0AD84F069EAF}"/>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3" name="直線コネクタ 12">
            <a:extLst>
              <a:ext uri="{FF2B5EF4-FFF2-40B4-BE49-F238E27FC236}">
                <a16:creationId xmlns:a16="http://schemas.microsoft.com/office/drawing/2014/main" id="{85E03A68-7ED4-41E0-532F-2B44665BCBCA}"/>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4" name="正方形/長方形 13">
            <a:extLst>
              <a:ext uri="{FF2B5EF4-FFF2-40B4-BE49-F238E27FC236}">
                <a16:creationId xmlns:a16="http://schemas.microsoft.com/office/drawing/2014/main" id="{4A24F767-FA26-C866-507F-01791519F368}"/>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5" name="直線コネクタ 14">
            <a:extLst>
              <a:ext uri="{FF2B5EF4-FFF2-40B4-BE49-F238E27FC236}">
                <a16:creationId xmlns:a16="http://schemas.microsoft.com/office/drawing/2014/main" id="{38E68845-EB2D-EE38-5889-988B24D97BDB}"/>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6" name="正方形/長方形 15">
            <a:extLst>
              <a:ext uri="{FF2B5EF4-FFF2-40B4-BE49-F238E27FC236}">
                <a16:creationId xmlns:a16="http://schemas.microsoft.com/office/drawing/2014/main" id="{47F277F3-AE92-5D11-0D1E-467B017A25A7}"/>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7" name="直線コネクタ 16">
            <a:extLst>
              <a:ext uri="{FF2B5EF4-FFF2-40B4-BE49-F238E27FC236}">
                <a16:creationId xmlns:a16="http://schemas.microsoft.com/office/drawing/2014/main" id="{2805FD21-9F7D-18C8-080F-5B5500934327}"/>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8" name="正方形/長方形 17">
            <a:extLst>
              <a:ext uri="{FF2B5EF4-FFF2-40B4-BE49-F238E27FC236}">
                <a16:creationId xmlns:a16="http://schemas.microsoft.com/office/drawing/2014/main" id="{6B4ABD85-BC66-BB01-C141-099CEF24BE5C}"/>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9" name="直線コネクタ 18">
            <a:extLst>
              <a:ext uri="{FF2B5EF4-FFF2-40B4-BE49-F238E27FC236}">
                <a16:creationId xmlns:a16="http://schemas.microsoft.com/office/drawing/2014/main" id="{857B707E-B4ED-CD2A-AC8B-D3ED99482C8B}"/>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20" name="正方形/長方形 19">
            <a:extLst>
              <a:ext uri="{FF2B5EF4-FFF2-40B4-BE49-F238E27FC236}">
                <a16:creationId xmlns:a16="http://schemas.microsoft.com/office/drawing/2014/main" id="{E208B079-DAB0-15CC-9FEF-BBC8F09FC621}"/>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22" name="直線コネクタ 21">
            <a:extLst>
              <a:ext uri="{FF2B5EF4-FFF2-40B4-BE49-F238E27FC236}">
                <a16:creationId xmlns:a16="http://schemas.microsoft.com/office/drawing/2014/main" id="{B82A9ED7-B981-51DB-2952-5D218C661795}"/>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23" name="正方形/長方形 22">
            <a:extLst>
              <a:ext uri="{FF2B5EF4-FFF2-40B4-BE49-F238E27FC236}">
                <a16:creationId xmlns:a16="http://schemas.microsoft.com/office/drawing/2014/main" id="{8B1C306B-81B9-609E-E871-CA06757A88C0}"/>
              </a:ext>
            </a:extLst>
          </p:cNvPr>
          <p:cNvSpPr/>
          <p:nvPr userDrawn="1"/>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24" name="直線コネクタ 23">
            <a:extLst>
              <a:ext uri="{FF2B5EF4-FFF2-40B4-BE49-F238E27FC236}">
                <a16:creationId xmlns:a16="http://schemas.microsoft.com/office/drawing/2014/main" id="{D4C2DC82-BBEB-100E-4FC6-FD5AEE549A14}"/>
              </a:ext>
            </a:extLst>
          </p:cNvPr>
          <p:cNvCxnSpPr/>
          <p:nvPr userDrawn="1"/>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2078286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730097" cy="5219751"/>
          </a:xfrm>
        </p:spPr>
        <p:txBody>
          <a:bodyPr/>
          <a:lstStyle>
            <a:lvl2pPr>
              <a:buClr>
                <a:schemeClr val="accent5">
                  <a:lumMod val="60000"/>
                  <a:lumOff val="40000"/>
                </a:schemeClr>
              </a:buClr>
              <a:defRPr/>
            </a:lvl2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2" name="Rectangle 20">
            <a:extLst>
              <a:ext uri="{FF2B5EF4-FFF2-40B4-BE49-F238E27FC236}">
                <a16:creationId xmlns:a16="http://schemas.microsoft.com/office/drawing/2014/main" id="{7D04F621-C209-E75B-F5AE-4EC68827B138}"/>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3" name="Rectangle 20">
            <a:extLst>
              <a:ext uri="{FF2B5EF4-FFF2-40B4-BE49-F238E27FC236}">
                <a16:creationId xmlns:a16="http://schemas.microsoft.com/office/drawing/2014/main" id="{C404F010-FD53-825B-58ED-3AB5C6FF9F3B}"/>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4" name="Rectangle 20">
            <a:extLst>
              <a:ext uri="{FF2B5EF4-FFF2-40B4-BE49-F238E27FC236}">
                <a16:creationId xmlns:a16="http://schemas.microsoft.com/office/drawing/2014/main" id="{09277AEF-3306-EB14-319D-C9936A20E391}"/>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7" name="Rectangle 20">
            <a:extLst>
              <a:ext uri="{FF2B5EF4-FFF2-40B4-BE49-F238E27FC236}">
                <a16:creationId xmlns:a16="http://schemas.microsoft.com/office/drawing/2014/main" id="{5F8EB56A-100F-AF7A-C776-9434171D2CF6}"/>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9" name="Rectangle 20">
            <a:extLst>
              <a:ext uri="{FF2B5EF4-FFF2-40B4-BE49-F238E27FC236}">
                <a16:creationId xmlns:a16="http://schemas.microsoft.com/office/drawing/2014/main" id="{21464E23-801D-B360-03E1-8AB3FB913351}"/>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0" name="Rectangle 20">
            <a:extLst>
              <a:ext uri="{FF2B5EF4-FFF2-40B4-BE49-F238E27FC236}">
                <a16:creationId xmlns:a16="http://schemas.microsoft.com/office/drawing/2014/main" id="{81270656-CD82-6EA3-336A-BF27E9713A0A}"/>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1" name="Rectangle 20">
            <a:extLst>
              <a:ext uri="{FF2B5EF4-FFF2-40B4-BE49-F238E27FC236}">
                <a16:creationId xmlns:a16="http://schemas.microsoft.com/office/drawing/2014/main" id="{8B74BD12-FE4A-7592-F482-564B7CB45DC4}"/>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3" name="Rectangle 20">
            <a:extLst>
              <a:ext uri="{FF2B5EF4-FFF2-40B4-BE49-F238E27FC236}">
                <a16:creationId xmlns:a16="http://schemas.microsoft.com/office/drawing/2014/main" id="{4AE287FC-9A2D-646E-63FD-F371B5A6F195}"/>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4" name="Rectangle 20">
            <a:extLst>
              <a:ext uri="{FF2B5EF4-FFF2-40B4-BE49-F238E27FC236}">
                <a16:creationId xmlns:a16="http://schemas.microsoft.com/office/drawing/2014/main" id="{CF205A66-4801-FAEF-1396-B7E897579D2D}"/>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5" name="Rectangle 20">
            <a:extLst>
              <a:ext uri="{FF2B5EF4-FFF2-40B4-BE49-F238E27FC236}">
                <a16:creationId xmlns:a16="http://schemas.microsoft.com/office/drawing/2014/main" id="{E4336D4E-B3DB-4E9A-1E31-EEFD91CF9DFF}"/>
              </a:ext>
            </a:extLst>
          </p:cNvPr>
          <p:cNvSpPr txBox="1">
            <a:spLocks noChangeArrowheads="1"/>
          </p:cNvSpPr>
          <p:nvPr userDrawn="1"/>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24852431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セクションタイトル">
    <p:bg>
      <p:bgPr>
        <a:solidFill>
          <a:schemeClr val="accent5"/>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cxnSp>
        <p:nvCxnSpPr>
          <p:cNvPr id="4" name="直線コネクタ 3"/>
          <p:cNvCxnSpPr>
            <a:cxnSpLocks/>
          </p:cNvCxnSpPr>
          <p:nvPr userDrawn="1"/>
        </p:nvCxnSpPr>
        <p:spPr bwMode="auto">
          <a:xfrm>
            <a:off x="1775952" y="3068996"/>
            <a:ext cx="8640096"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spTree>
    <p:extLst>
      <p:ext uri="{BB962C8B-B14F-4D97-AF65-F5344CB8AC3E}">
        <p14:creationId xmlns:p14="http://schemas.microsoft.com/office/powerpoint/2010/main" val="1565019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1_セクションタイトル">
    <p:bg>
      <p:bgPr>
        <a:solidFill>
          <a:schemeClr val="accent4"/>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1775952" y="2168986"/>
            <a:ext cx="8640096" cy="900010"/>
          </a:xfrm>
        </p:spPr>
        <p:txBody>
          <a:bodyPr anchor="b"/>
          <a:lstStyle>
            <a:lvl1pPr algn="ctr">
              <a:defRPr sz="3200" b="0"/>
            </a:lvl1pPr>
          </a:lstStyle>
          <a:p>
            <a:r>
              <a:rPr kumimoji="1" lang="ja-JP" altLang="en-US" dirty="0"/>
              <a:t>マスター タイトルの書式設定</a:t>
            </a:r>
          </a:p>
        </p:txBody>
      </p:sp>
      <p:cxnSp>
        <p:nvCxnSpPr>
          <p:cNvPr id="4" name="直線コネクタ 3"/>
          <p:cNvCxnSpPr>
            <a:cxnSpLocks/>
          </p:cNvCxnSpPr>
          <p:nvPr userDrawn="1"/>
        </p:nvCxnSpPr>
        <p:spPr bwMode="auto">
          <a:xfrm>
            <a:off x="1775952" y="3068996"/>
            <a:ext cx="8640096"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spTree>
    <p:extLst>
      <p:ext uri="{BB962C8B-B14F-4D97-AF65-F5344CB8AC3E}">
        <p14:creationId xmlns:p14="http://schemas.microsoft.com/office/powerpoint/2010/main" val="2722486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2" y="1088975"/>
            <a:ext cx="10080112"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22"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
        <p:nvSpPr>
          <p:cNvPr id="6" name="正方形/長方形 5"/>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3" name="正方形/長方形 2">
            <a:extLst>
              <a:ext uri="{FF2B5EF4-FFF2-40B4-BE49-F238E27FC236}">
                <a16:creationId xmlns:a16="http://schemas.microsoft.com/office/drawing/2014/main" id="{20B7F19E-FA20-B8CB-C604-8C1C29606C6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正方形/長方形 3">
            <a:extLst>
              <a:ext uri="{FF2B5EF4-FFF2-40B4-BE49-F238E27FC236}">
                <a16:creationId xmlns:a16="http://schemas.microsoft.com/office/drawing/2014/main" id="{725FB03B-A980-D697-F9FB-906D55B002FA}"/>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5" name="正方形/長方形 4">
            <a:extLst>
              <a:ext uri="{FF2B5EF4-FFF2-40B4-BE49-F238E27FC236}">
                <a16:creationId xmlns:a16="http://schemas.microsoft.com/office/drawing/2014/main" id="{2D5F1A73-A3EB-E252-17CF-30B89F3C7AE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7" name="正方形/長方形 6">
            <a:extLst>
              <a:ext uri="{FF2B5EF4-FFF2-40B4-BE49-F238E27FC236}">
                <a16:creationId xmlns:a16="http://schemas.microsoft.com/office/drawing/2014/main" id="{95778E54-A5E7-1B8D-DD56-A347FE5638C8}"/>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8" name="正方形/長方形 7">
            <a:extLst>
              <a:ext uri="{FF2B5EF4-FFF2-40B4-BE49-F238E27FC236}">
                <a16:creationId xmlns:a16="http://schemas.microsoft.com/office/drawing/2014/main" id="{0CA006FA-2EAF-700F-1F1E-1AD9A8AD1F46}"/>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9" name="正方形/長方形 8">
            <a:extLst>
              <a:ext uri="{FF2B5EF4-FFF2-40B4-BE49-F238E27FC236}">
                <a16:creationId xmlns:a16="http://schemas.microsoft.com/office/drawing/2014/main" id="{47ED5B20-1F5A-CCD9-B341-F10DC8DB9BD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10" name="正方形/長方形 9">
            <a:extLst>
              <a:ext uri="{FF2B5EF4-FFF2-40B4-BE49-F238E27FC236}">
                <a16:creationId xmlns:a16="http://schemas.microsoft.com/office/drawing/2014/main" id="{513A4EA7-B0C7-F2FA-C2FF-AF0641317DDD}"/>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11" name="正方形/長方形 10">
            <a:extLst>
              <a:ext uri="{FF2B5EF4-FFF2-40B4-BE49-F238E27FC236}">
                <a16:creationId xmlns:a16="http://schemas.microsoft.com/office/drawing/2014/main" id="{2C3F1916-7D9A-A0C8-BED1-38D0AECBED5E}"/>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12" name="正方形/長方形 11">
            <a:extLst>
              <a:ext uri="{FF2B5EF4-FFF2-40B4-BE49-F238E27FC236}">
                <a16:creationId xmlns:a16="http://schemas.microsoft.com/office/drawing/2014/main" id="{C777E1F9-3302-41CA-7596-74879D2A9087}"/>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13" name="正方形/長方形 12">
            <a:extLst>
              <a:ext uri="{FF2B5EF4-FFF2-40B4-BE49-F238E27FC236}">
                <a16:creationId xmlns:a16="http://schemas.microsoft.com/office/drawing/2014/main" id="{48786A92-7816-1DB7-ABF9-241BAD3C51FA}"/>
              </a:ext>
            </a:extLst>
          </p:cNvPr>
          <p:cNvSpPr/>
          <p:nvPr userDrawn="1"/>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276645579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Lst>
  <p:hf hdr="0" ftr="0" dt="0"/>
  <p:txStyles>
    <p:titleStyle>
      <a:lvl1pPr algn="l" rtl="0" eaLnBrk="1" fontAlgn="base" hangingPunct="1">
        <a:spcBef>
          <a:spcPct val="0"/>
        </a:spcBef>
        <a:spcAft>
          <a:spcPct val="0"/>
        </a:spcAft>
        <a:defRPr kumimoji="1" sz="28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5">
            <a:lumMod val="60000"/>
            <a:lumOff val="40000"/>
          </a:schemeClr>
        </a:buClr>
        <a:buSzPct val="9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5">
            <a:lumMod val="60000"/>
            <a:lumOff val="40000"/>
          </a:schemeClr>
        </a:buClr>
        <a:buSzPct val="70000"/>
        <a:buFont typeface="Segoe UI" panose="020B0502040204020203" pitchFamily="34" charset="0"/>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chemeClr val="accent5">
            <a:lumMod val="60000"/>
            <a:lumOff val="40000"/>
          </a:schemeClr>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hyperlink" Target="https://sites.cs.ucsb.edu/~tyang/class/240a17/slides/SIMD.pdf" TargetMode="External"/><Relationship Id="rId4" Type="http://schemas.openxmlformats.org/officeDocument/2006/relationships/hyperlink" Target="https://developer.mozilla.org/en-US/docs/Glossary/SIMD"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n.wikichip.org/wiki/File:Bulldozer_Die_Shot.jpg" TargetMode="External"/><Relationship Id="rId1" Type="http://schemas.openxmlformats.org/officeDocument/2006/relationships/slideLayout" Target="../slideLayouts/slideLayout2.xml"/><Relationship Id="rId4" Type="http://schemas.microsoft.com/office/2007/relationships/hdphoto" Target="../media/hdphoto1.wdp"/></Relationships>
</file>

<file path=ppt/slides/_rels/slide4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docs.google.com/spreadsheets/d/18ln8SKIGRK5_6NymgdB9oLbTJCFwx0iFI-vUs6WFyuE/edit?gid=1076260513#gid=1076260513"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dl.acm.org/doi/10.1145/3725843.3756041"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www.nvidia.com/ja-jp/data-center/tensor-cores/"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safari.ethz.ch/architecture/fall2018/lib/exe/fetch.php?media=comparch-fall2018-lecture7-simdandgpu-afterlecture.pdf" TargetMode="External"/><Relationship Id="rId2" Type="http://schemas.openxmlformats.org/officeDocument/2006/relationships/hyperlink" Target="https://team.inria.fr/pacap/members/collange/"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hyperlink" Target="https://www.opencompute.org/documents/ocp-microscaling-formats-mx-v1-0-spec-final-pdf" TargetMode="Externa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hyperlink" Target="https://docs.google.com/spreadsheets/d/1k83-YtfDNx_Ak40dVgQflaGyh97C2KRbWH-WpvMG5tM/edit?usp=sharing" TargetMode="Externa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865953" y="1988985"/>
            <a:ext cx="8460094" cy="630007"/>
          </a:xfrm>
        </p:spPr>
        <p:txBody>
          <a:bodyPr/>
          <a:lstStyle/>
          <a:p>
            <a:r>
              <a:rPr lang="ja-JP" altLang="en-US" dirty="0"/>
              <a:t>先進計算機構成論 </a:t>
            </a:r>
            <a:r>
              <a:rPr lang="en-US" altLang="ja-JP" dirty="0"/>
              <a:t>12</a:t>
            </a:r>
            <a:endParaRPr lang="ja-JP" altLang="en-US" dirty="0"/>
          </a:p>
        </p:txBody>
      </p:sp>
      <p:sp>
        <p:nvSpPr>
          <p:cNvPr id="6" name="サブタイトル 2"/>
          <p:cNvSpPr txBox="1">
            <a:spLocks/>
          </p:cNvSpPr>
          <p:nvPr/>
        </p:nvSpPr>
        <p:spPr bwMode="auto">
          <a:xfrm>
            <a:off x="2405960" y="3699003"/>
            <a:ext cx="7650085" cy="5400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marL="0" indent="0" algn="r" rtl="0" eaLnBrk="1" fontAlgn="base" hangingPunct="1">
              <a:lnSpc>
                <a:spcPct val="150000"/>
              </a:lnSpc>
              <a:spcBef>
                <a:spcPts val="0"/>
              </a:spcBef>
              <a:spcAft>
                <a:spcPts val="0"/>
              </a:spcAft>
              <a:buClr>
                <a:schemeClr val="accent5"/>
              </a:buClr>
              <a:buFont typeface="Wingdings" pitchFamily="2" charset="2"/>
              <a:buNone/>
              <a:tabLst>
                <a:tab pos="2057400" algn="l"/>
              </a:tabLst>
              <a:defRPr kumimoji="1" sz="2000">
                <a:solidFill>
                  <a:schemeClr val="bg1"/>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algn="ctr">
              <a:lnSpc>
                <a:spcPct val="100000"/>
              </a:lnSpc>
            </a:pPr>
            <a:r>
              <a:rPr lang="ja-JP" altLang="en-US" kern="0" dirty="0"/>
              <a:t>東京大学大学院 情報理工学系研究科 創造情報学専攻</a:t>
            </a:r>
            <a:endParaRPr lang="en-US" altLang="ja-JP" kern="0" dirty="0"/>
          </a:p>
          <a:p>
            <a:pPr algn="ctr">
              <a:lnSpc>
                <a:spcPct val="100000"/>
              </a:lnSpc>
            </a:pPr>
            <a:r>
              <a:rPr lang="ja-JP" altLang="en-US" kern="0" dirty="0"/>
              <a:t>塩谷 亮太 </a:t>
            </a:r>
            <a:endParaRPr lang="en-US" altLang="ja-JP" kern="0" dirty="0"/>
          </a:p>
          <a:p>
            <a:pPr algn="ctr">
              <a:lnSpc>
                <a:spcPct val="100000"/>
              </a:lnSpc>
            </a:pPr>
            <a:r>
              <a:rPr lang="en-US" altLang="ja-JP" kern="0" dirty="0"/>
              <a:t>shioya@ci.i.u-tokyo.ac.jp</a:t>
            </a:r>
            <a:endParaRPr lang="ja-JP" altLang="en-US" kern="0" dirty="0"/>
          </a:p>
        </p:txBody>
      </p:sp>
    </p:spTree>
    <p:extLst>
      <p:ext uri="{BB962C8B-B14F-4D97-AF65-F5344CB8AC3E}">
        <p14:creationId xmlns:p14="http://schemas.microsoft.com/office/powerpoint/2010/main" val="101780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1B5CE-103F-E7D4-71CD-5F82553F6E3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8D30C46-AF0D-578E-0D7C-D4EC472058CC}"/>
              </a:ext>
            </a:extLst>
          </p:cNvPr>
          <p:cNvSpPr>
            <a:spLocks noGrp="1"/>
          </p:cNvSpPr>
          <p:nvPr>
            <p:ph type="title"/>
          </p:nvPr>
        </p:nvSpPr>
        <p:spPr>
          <a:xfrm>
            <a:off x="1415948" y="0"/>
            <a:ext cx="10776052" cy="908972"/>
          </a:xfrm>
        </p:spPr>
        <p:txBody>
          <a:bodyPr/>
          <a:lstStyle/>
          <a:p>
            <a:r>
              <a:rPr kumimoji="1" lang="ja-JP" altLang="en-US" dirty="0"/>
              <a:t>本日の</a:t>
            </a:r>
            <a:r>
              <a:rPr lang="ja-JP" altLang="en-US" dirty="0"/>
              <a:t>話題</a:t>
            </a:r>
            <a:r>
              <a:rPr kumimoji="1" lang="ja-JP" altLang="en-US" dirty="0"/>
              <a:t>：</a:t>
            </a:r>
            <a:r>
              <a:rPr kumimoji="1" lang="en-US" altLang="ja-JP" dirty="0"/>
              <a:t>Graphics Processing Unit</a:t>
            </a:r>
            <a:r>
              <a:rPr kumimoji="1" lang="ja-JP" altLang="en-US" dirty="0"/>
              <a:t>（</a:t>
            </a:r>
            <a:r>
              <a:rPr kumimoji="1" lang="en-US" altLang="ja-JP" dirty="0"/>
              <a:t>GPU</a:t>
            </a:r>
            <a:r>
              <a:rPr kumimoji="1" lang="ja-JP" altLang="en-US" dirty="0"/>
              <a:t>）</a:t>
            </a:r>
          </a:p>
        </p:txBody>
      </p:sp>
      <p:sp>
        <p:nvSpPr>
          <p:cNvPr id="3" name="テキスト プレースホルダー 2">
            <a:extLst>
              <a:ext uri="{FF2B5EF4-FFF2-40B4-BE49-F238E27FC236}">
                <a16:creationId xmlns:a16="http://schemas.microsoft.com/office/drawing/2014/main" id="{7D3CF643-4EE9-12EC-A831-304716F0B742}"/>
              </a:ext>
            </a:extLst>
          </p:cNvPr>
          <p:cNvSpPr>
            <a:spLocks noGrp="1"/>
          </p:cNvSpPr>
          <p:nvPr>
            <p:ph type="body" sz="quarter" idx="10"/>
          </p:nvPr>
        </p:nvSpPr>
        <p:spPr/>
        <p:txBody>
          <a:bodyPr/>
          <a:lstStyle/>
          <a:p>
            <a:r>
              <a:rPr kumimoji="1" lang="en-US" altLang="ja-JP" dirty="0"/>
              <a:t>GPU</a:t>
            </a:r>
          </a:p>
          <a:p>
            <a:pPr lvl="1"/>
            <a:r>
              <a:rPr kumimoji="1" lang="ja-JP" altLang="en-US" dirty="0"/>
              <a:t>もともとはグラフィックを高速に処理するためにあった</a:t>
            </a:r>
            <a:endParaRPr kumimoji="1" lang="en-US" altLang="ja-JP" dirty="0"/>
          </a:p>
          <a:p>
            <a:r>
              <a:rPr lang="en-US" altLang="ja-JP" dirty="0">
                <a:solidFill>
                  <a:schemeClr val="accent5"/>
                </a:solidFill>
              </a:rPr>
              <a:t>GP-GPU</a:t>
            </a:r>
            <a:r>
              <a:rPr lang="ja-JP" altLang="en-US" dirty="0">
                <a:solidFill>
                  <a:schemeClr val="accent5"/>
                </a:solidFill>
              </a:rPr>
              <a:t>（</a:t>
            </a:r>
            <a:r>
              <a:rPr lang="en-US" altLang="ja-JP" dirty="0">
                <a:solidFill>
                  <a:schemeClr val="accent5"/>
                </a:solidFill>
              </a:rPr>
              <a:t>General Purpose computing on GPU</a:t>
            </a:r>
            <a:r>
              <a:rPr lang="ja-JP" altLang="en-US" dirty="0">
                <a:solidFill>
                  <a:schemeClr val="accent5"/>
                </a:solidFill>
              </a:rPr>
              <a:t>）</a:t>
            </a:r>
            <a:endParaRPr lang="en-US" altLang="ja-JP" dirty="0">
              <a:solidFill>
                <a:schemeClr val="accent5"/>
              </a:solidFill>
            </a:endParaRPr>
          </a:p>
          <a:p>
            <a:pPr lvl="1"/>
            <a:r>
              <a:rPr kumimoji="1" lang="ja-JP" altLang="en-US" dirty="0"/>
              <a:t>グラフィック以外に，汎用の計算に </a:t>
            </a:r>
            <a:r>
              <a:rPr kumimoji="1" lang="en-US" altLang="ja-JP" dirty="0"/>
              <a:t>GPU </a:t>
            </a:r>
            <a:r>
              <a:rPr kumimoji="1" lang="ja-JP" altLang="en-US" dirty="0"/>
              <a:t>を使用する使い方</a:t>
            </a:r>
            <a:endParaRPr kumimoji="1" lang="en-US" altLang="ja-JP" dirty="0"/>
          </a:p>
          <a:p>
            <a:pPr lvl="1"/>
            <a:r>
              <a:rPr lang="ja-JP" altLang="en-US" dirty="0">
                <a:solidFill>
                  <a:schemeClr val="accent5"/>
                </a:solidFill>
              </a:rPr>
              <a:t>大量の単純な処理の繰り返しが得意</a:t>
            </a:r>
            <a:endParaRPr lang="en-US" altLang="ja-JP" dirty="0">
              <a:solidFill>
                <a:schemeClr val="accent5"/>
              </a:solidFill>
            </a:endParaRPr>
          </a:p>
          <a:p>
            <a:pPr lvl="2"/>
            <a:r>
              <a:rPr lang="ja-JP" altLang="en-US" dirty="0"/>
              <a:t>行列積 → 機械学習，科学技術計算</a:t>
            </a:r>
            <a:endParaRPr lang="en-US" altLang="ja-JP" dirty="0"/>
          </a:p>
          <a:p>
            <a:pPr lvl="2"/>
            <a:r>
              <a:rPr kumimoji="1" lang="ja-JP" altLang="en-US" dirty="0"/>
              <a:t>仮想通貨のマイニング</a:t>
            </a:r>
            <a:endParaRPr kumimoji="1" lang="en-US" altLang="ja-JP" dirty="0"/>
          </a:p>
          <a:p>
            <a:r>
              <a:rPr lang="ja-JP" altLang="en-US" dirty="0"/>
              <a:t>この講義では </a:t>
            </a:r>
            <a:r>
              <a:rPr lang="en-US" altLang="ja-JP" dirty="0"/>
              <a:t>GP-GPU </a:t>
            </a:r>
            <a:r>
              <a:rPr lang="ja-JP" altLang="en-US" dirty="0"/>
              <a:t>での使用を前提として説明</a:t>
            </a:r>
            <a:endParaRPr lang="en-US" altLang="ja-JP" dirty="0"/>
          </a:p>
          <a:p>
            <a:pPr lvl="1"/>
            <a:r>
              <a:rPr lang="ja-JP" altLang="en-US" dirty="0"/>
              <a:t>以降で「</a:t>
            </a:r>
            <a:r>
              <a:rPr lang="en-US" altLang="ja-JP" dirty="0"/>
              <a:t>GPU</a:t>
            </a:r>
            <a:r>
              <a:rPr lang="ja-JP" altLang="en-US" dirty="0"/>
              <a:t>」と言った場合，</a:t>
            </a:r>
            <a:r>
              <a:rPr lang="en-US" altLang="ja-JP" dirty="0"/>
              <a:t>GP-GPU </a:t>
            </a:r>
            <a:r>
              <a:rPr lang="ja-JP" altLang="en-US" dirty="0"/>
              <a:t>での使用を仮定</a:t>
            </a:r>
            <a:endParaRPr lang="en-US" altLang="ja-JP" dirty="0"/>
          </a:p>
          <a:p>
            <a:pPr lvl="1"/>
            <a:r>
              <a:rPr lang="ja-JP" altLang="en-US" dirty="0"/>
              <a:t>グラフィックのための機能には基本触れない</a:t>
            </a:r>
            <a:endParaRPr lang="en-US" altLang="ja-JP" dirty="0"/>
          </a:p>
        </p:txBody>
      </p:sp>
    </p:spTree>
    <p:extLst>
      <p:ext uri="{BB962C8B-B14F-4D97-AF65-F5344CB8AC3E}">
        <p14:creationId xmlns:p14="http://schemas.microsoft.com/office/powerpoint/2010/main" val="15769329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FF2E6-FEAA-4032-8A9B-C56ADB0FDEF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431125-6EBA-2932-C56E-A0BD3A7F8BF9}"/>
              </a:ext>
            </a:extLst>
          </p:cNvPr>
          <p:cNvSpPr>
            <a:spLocks noGrp="1"/>
          </p:cNvSpPr>
          <p:nvPr>
            <p:ph type="title"/>
          </p:nvPr>
        </p:nvSpPr>
        <p:spPr/>
        <p:txBody>
          <a:bodyPr/>
          <a:lstStyle/>
          <a:p>
            <a:r>
              <a:rPr kumimoji="1" lang="ja-JP" altLang="en-US" dirty="0"/>
              <a:t>目標</a:t>
            </a:r>
          </a:p>
        </p:txBody>
      </p:sp>
      <p:sp>
        <p:nvSpPr>
          <p:cNvPr id="3" name="テキスト プレースホルダー 2">
            <a:extLst>
              <a:ext uri="{FF2B5EF4-FFF2-40B4-BE49-F238E27FC236}">
                <a16:creationId xmlns:a16="http://schemas.microsoft.com/office/drawing/2014/main" id="{07F08FFE-1221-F60B-46F7-0DBB68240B53}"/>
              </a:ext>
            </a:extLst>
          </p:cNvPr>
          <p:cNvSpPr>
            <a:spLocks noGrp="1"/>
          </p:cNvSpPr>
          <p:nvPr>
            <p:ph type="body" sz="quarter" idx="10"/>
          </p:nvPr>
        </p:nvSpPr>
        <p:spPr>
          <a:xfrm>
            <a:off x="1055944" y="1088974"/>
            <a:ext cx="10260114" cy="5490061"/>
          </a:xfrm>
        </p:spPr>
        <p:txBody>
          <a:bodyPr/>
          <a:lstStyle/>
          <a:p>
            <a:r>
              <a:rPr lang="ja-JP" altLang="en-US" dirty="0"/>
              <a:t>目的：以下を大ざっぱにでも理解する</a:t>
            </a:r>
            <a:endParaRPr lang="en-US" altLang="ja-JP" dirty="0"/>
          </a:p>
          <a:p>
            <a:pPr lvl="1"/>
            <a:r>
              <a:rPr lang="en-US" altLang="ja-JP" dirty="0"/>
              <a:t>GPU </a:t>
            </a:r>
            <a:r>
              <a:rPr lang="ja-JP" altLang="en-US" dirty="0"/>
              <a:t>は </a:t>
            </a:r>
            <a:r>
              <a:rPr lang="en-US" altLang="ja-JP" dirty="0"/>
              <a:t>CPU </a:t>
            </a:r>
            <a:r>
              <a:rPr lang="ja-JP" altLang="en-US" dirty="0"/>
              <a:t>とは何が違うのか？</a:t>
            </a:r>
            <a:endParaRPr lang="en-US" altLang="ja-JP" dirty="0"/>
          </a:p>
          <a:p>
            <a:pPr lvl="1"/>
            <a:r>
              <a:rPr lang="ja-JP" altLang="en-US" dirty="0"/>
              <a:t>なぜ </a:t>
            </a:r>
            <a:r>
              <a:rPr lang="en-US" altLang="ja-JP" dirty="0"/>
              <a:t>GPU </a:t>
            </a:r>
            <a:r>
              <a:rPr lang="ja-JP" altLang="en-US" dirty="0"/>
              <a:t>やアクセラレータは，</a:t>
            </a:r>
            <a:r>
              <a:rPr lang="en-US" altLang="ja-JP" dirty="0"/>
              <a:t>AI </a:t>
            </a:r>
            <a:r>
              <a:rPr lang="ja-JP" altLang="en-US" dirty="0"/>
              <a:t>で高速で効率が良いのか？</a:t>
            </a:r>
            <a:endParaRPr lang="en-US" altLang="ja-JP" dirty="0"/>
          </a:p>
          <a:p>
            <a:r>
              <a:rPr lang="ja-JP" altLang="en-US" dirty="0"/>
              <a:t>「</a:t>
            </a:r>
            <a:r>
              <a:rPr lang="en-US" altLang="ja-JP" dirty="0"/>
              <a:t>GPU </a:t>
            </a:r>
            <a:r>
              <a:rPr lang="ja-JP" altLang="en-US" dirty="0"/>
              <a:t>は </a:t>
            </a:r>
            <a:r>
              <a:rPr lang="en-US" altLang="ja-JP" dirty="0"/>
              <a:t>CPU </a:t>
            </a:r>
            <a:r>
              <a:rPr lang="ja-JP" altLang="en-US" dirty="0"/>
              <a:t>より単純な小さいコアをよりたくさん積んでいるため性能が高い」</a:t>
            </a:r>
            <a:endParaRPr lang="en-US" altLang="ja-JP" dirty="0"/>
          </a:p>
          <a:p>
            <a:pPr lvl="1"/>
            <a:r>
              <a:rPr lang="ja-JP" altLang="en-US" dirty="0"/>
              <a:t>しかし･･･</a:t>
            </a:r>
            <a:endParaRPr lang="en-US" altLang="ja-JP" dirty="0"/>
          </a:p>
          <a:p>
            <a:pPr lvl="2"/>
            <a:r>
              <a:rPr lang="ja-JP" altLang="en-US" dirty="0"/>
              <a:t>なぜ </a:t>
            </a:r>
            <a:r>
              <a:rPr lang="en-US" altLang="ja-JP" dirty="0"/>
              <a:t>GPU </a:t>
            </a:r>
            <a:r>
              <a:rPr lang="ja-JP" altLang="en-US" dirty="0"/>
              <a:t>では小さく単純にできる？ </a:t>
            </a:r>
            <a:endParaRPr lang="en-US" altLang="ja-JP" dirty="0"/>
          </a:p>
          <a:p>
            <a:pPr lvl="2"/>
            <a:r>
              <a:rPr lang="ja-JP" altLang="en-US" dirty="0"/>
              <a:t>そもそも「小さい」とか「単純」とはどういうこと？</a:t>
            </a:r>
            <a:endParaRPr lang="en-US" altLang="ja-JP" dirty="0"/>
          </a:p>
          <a:p>
            <a:r>
              <a:rPr lang="ja-JP" altLang="en-US" dirty="0"/>
              <a:t>これらの疑問に答えられるようにしたい</a:t>
            </a:r>
            <a:endParaRPr lang="en-US" altLang="ja-JP" dirty="0"/>
          </a:p>
        </p:txBody>
      </p:sp>
    </p:spTree>
    <p:extLst>
      <p:ext uri="{BB962C8B-B14F-4D97-AF65-F5344CB8AC3E}">
        <p14:creationId xmlns:p14="http://schemas.microsoft.com/office/powerpoint/2010/main" val="23052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A7C04E-F5D7-8435-6FA0-AC1E292E3787}"/>
              </a:ext>
            </a:extLst>
          </p:cNvPr>
          <p:cNvSpPr>
            <a:spLocks noGrp="1"/>
          </p:cNvSpPr>
          <p:nvPr>
            <p:ph type="title"/>
          </p:nvPr>
        </p:nvSpPr>
        <p:spPr/>
        <p:txBody>
          <a:bodyPr/>
          <a:lstStyle/>
          <a:p>
            <a:r>
              <a:rPr kumimoji="1" lang="ja-JP" altLang="en-US" dirty="0"/>
              <a:t>もくじ</a:t>
            </a:r>
          </a:p>
        </p:txBody>
      </p:sp>
      <p:sp>
        <p:nvSpPr>
          <p:cNvPr id="3" name="テキスト プレースホルダー 2">
            <a:extLst>
              <a:ext uri="{FF2B5EF4-FFF2-40B4-BE49-F238E27FC236}">
                <a16:creationId xmlns:a16="http://schemas.microsoft.com/office/drawing/2014/main" id="{EC4757C3-365D-B5BA-D2FE-B91F298892CE}"/>
              </a:ext>
            </a:extLst>
          </p:cNvPr>
          <p:cNvSpPr>
            <a:spLocks noGrp="1"/>
          </p:cNvSpPr>
          <p:nvPr>
            <p:ph type="body" sz="quarter" idx="10"/>
          </p:nvPr>
        </p:nvSpPr>
        <p:spPr/>
        <p:txBody>
          <a:bodyPr/>
          <a:lstStyle/>
          <a:p>
            <a:pPr marL="457200" indent="-457200">
              <a:buFont typeface="+mj-lt"/>
              <a:buAutoNum type="arabicPeriod"/>
            </a:pPr>
            <a:r>
              <a:rPr lang="ja-JP" altLang="en-US" dirty="0"/>
              <a:t>これまでの振り返りとエネルギー効率</a:t>
            </a:r>
            <a:endParaRPr lang="en-US" altLang="ja-JP" dirty="0"/>
          </a:p>
          <a:p>
            <a:pPr marL="817200" lvl="1" indent="-457200">
              <a:buFont typeface="+mj-lt"/>
              <a:buAutoNum type="arabicPeriod"/>
            </a:pPr>
            <a:r>
              <a:rPr lang="en-US" altLang="ja-JP" dirty="0"/>
              <a:t>CPU </a:t>
            </a:r>
            <a:r>
              <a:rPr lang="ja-JP" altLang="en-US" dirty="0"/>
              <a:t>の動作</a:t>
            </a:r>
            <a:endParaRPr lang="en-US" altLang="ja-JP" dirty="0"/>
          </a:p>
          <a:p>
            <a:pPr marL="817200" lvl="1" indent="-457200">
              <a:buFont typeface="+mj-lt"/>
              <a:buAutoNum type="arabicPeriod"/>
            </a:pPr>
            <a:r>
              <a:rPr kumimoji="1" lang="ja-JP" altLang="en-US" dirty="0"/>
              <a:t>命令パイプライン</a:t>
            </a:r>
            <a:endParaRPr kumimoji="1" lang="en-US" altLang="ja-JP" dirty="0"/>
          </a:p>
          <a:p>
            <a:pPr marL="817200" lvl="1" indent="-457200">
              <a:buFont typeface="+mj-lt"/>
              <a:buAutoNum type="arabicPeriod"/>
            </a:pPr>
            <a:r>
              <a:rPr kumimoji="1" lang="en-US" altLang="ja-JP" dirty="0"/>
              <a:t>CMOS </a:t>
            </a:r>
            <a:r>
              <a:rPr kumimoji="1" lang="ja-JP" altLang="en-US" dirty="0"/>
              <a:t>回路の消費エネルギー</a:t>
            </a:r>
            <a:endParaRPr kumimoji="1" lang="en-US" altLang="ja-JP" dirty="0"/>
          </a:p>
          <a:p>
            <a:pPr marL="457200" indent="-457200">
              <a:buFont typeface="+mj-lt"/>
              <a:buAutoNum type="arabicPeriod"/>
            </a:pPr>
            <a:r>
              <a:rPr kumimoji="1" lang="en-US" altLang="ja-JP" dirty="0"/>
              <a:t>GPU </a:t>
            </a:r>
            <a:r>
              <a:rPr kumimoji="1" lang="ja-JP" altLang="en-US" dirty="0"/>
              <a:t>の</a:t>
            </a:r>
            <a:r>
              <a:rPr lang="ja-JP" altLang="en-US" dirty="0"/>
              <a:t>基本的な構造とプログラミング・モデル</a:t>
            </a:r>
            <a:endParaRPr lang="en-US" altLang="ja-JP" dirty="0"/>
          </a:p>
          <a:p>
            <a:pPr marL="457200" indent="-457200">
              <a:buFont typeface="+mj-lt"/>
              <a:buAutoNum type="arabicPeriod"/>
            </a:pPr>
            <a:r>
              <a:rPr lang="ja-JP" altLang="en-US" dirty="0"/>
              <a:t>（</a:t>
            </a:r>
            <a:r>
              <a:rPr lang="en-US" altLang="ja-JP" dirty="0"/>
              <a:t>AI</a:t>
            </a:r>
            <a:r>
              <a:rPr lang="ja-JP" altLang="en-US" dirty="0"/>
              <a:t>）アクセラレータ</a:t>
            </a:r>
          </a:p>
        </p:txBody>
      </p:sp>
    </p:spTree>
    <p:extLst>
      <p:ext uri="{BB962C8B-B14F-4D97-AF65-F5344CB8AC3E}">
        <p14:creationId xmlns:p14="http://schemas.microsoft.com/office/powerpoint/2010/main" val="19236301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05AC6214-E921-42EF-FDE1-2B487B16718F}"/>
              </a:ext>
            </a:extLst>
          </p:cNvPr>
          <p:cNvSpPr>
            <a:spLocks noGrp="1"/>
          </p:cNvSpPr>
          <p:nvPr>
            <p:ph type="title" idx="4294967295"/>
          </p:nvPr>
        </p:nvSpPr>
        <p:spPr>
          <a:xfrm>
            <a:off x="1775952" y="2168986"/>
            <a:ext cx="8640096" cy="900010"/>
          </a:xfrm>
        </p:spPr>
        <p:txBody>
          <a:bodyPr/>
          <a:lstStyle/>
          <a:p>
            <a:r>
              <a:rPr lang="ja-JP" altLang="en-US" dirty="0"/>
              <a:t>これまでの振り返りとエネルギー効率の定義</a:t>
            </a:r>
          </a:p>
        </p:txBody>
      </p:sp>
    </p:spTree>
    <p:extLst>
      <p:ext uri="{BB962C8B-B14F-4D97-AF65-F5344CB8AC3E}">
        <p14:creationId xmlns:p14="http://schemas.microsoft.com/office/powerpoint/2010/main" val="1687767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CPU </a:t>
            </a:r>
            <a:r>
              <a:rPr kumimoji="1" lang="ja-JP" altLang="en-US" dirty="0"/>
              <a:t>の動作は料理に似ている（第１回）</a:t>
            </a:r>
          </a:p>
        </p:txBody>
      </p:sp>
      <p:sp>
        <p:nvSpPr>
          <p:cNvPr id="3" name="コンテンツ プレースホルダー 2"/>
          <p:cNvSpPr>
            <a:spLocks noGrp="1"/>
          </p:cNvSpPr>
          <p:nvPr>
            <p:ph type="body" sz="quarter" idx="10"/>
          </p:nvPr>
        </p:nvSpPr>
        <p:spPr>
          <a:xfrm>
            <a:off x="2135957" y="1088975"/>
            <a:ext cx="8010089" cy="1620018"/>
          </a:xfrm>
          <a:prstGeom prst="rect">
            <a:avLst/>
          </a:prstGeom>
        </p:spPr>
        <p:txBody>
          <a:bodyPr/>
          <a:lstStyle/>
          <a:p>
            <a:pPr marL="546462" indent="-457200"/>
            <a:r>
              <a:rPr lang="ja-JP" altLang="en-US" dirty="0"/>
              <a:t>レシピをみながら料理をするのに似ている</a:t>
            </a:r>
            <a:endParaRPr lang="en-US" altLang="ja-JP" dirty="0"/>
          </a:p>
          <a:p>
            <a:pPr marL="906462" lvl="1" indent="-457200"/>
            <a:r>
              <a:rPr lang="ja-JP" altLang="en-US" dirty="0"/>
              <a:t>レシピの各手順が命令</a:t>
            </a:r>
            <a:endParaRPr lang="en-US" altLang="ja-JP" dirty="0"/>
          </a:p>
          <a:p>
            <a:pPr marL="906462" lvl="1" indent="-457200"/>
            <a:r>
              <a:rPr lang="ja-JP" altLang="en-US" b="1" dirty="0">
                <a:solidFill>
                  <a:schemeClr val="accent5"/>
                </a:solidFill>
              </a:rPr>
              <a:t>「今何個目の手順を見てるか」，を憶えているのかが </a:t>
            </a:r>
            <a:r>
              <a:rPr lang="en-US" altLang="ja-JP" b="1" dirty="0">
                <a:solidFill>
                  <a:schemeClr val="accent5"/>
                </a:solidFill>
              </a:rPr>
              <a:t>PC </a:t>
            </a:r>
          </a:p>
          <a:p>
            <a:pPr marL="906462" lvl="1" indent="-457200"/>
            <a:r>
              <a:rPr lang="ja-JP" altLang="en-US" dirty="0"/>
              <a:t>ひとつひとつ手順を取り出して，指示に従って処理</a:t>
            </a:r>
            <a:endParaRPr lang="en-US" altLang="ja-JP" dirty="0"/>
          </a:p>
        </p:txBody>
      </p:sp>
      <p:sp>
        <p:nvSpPr>
          <p:cNvPr id="4" name="正方形/長方形 3"/>
          <p:cNvSpPr/>
          <p:nvPr/>
        </p:nvSpPr>
        <p:spPr bwMode="auto">
          <a:xfrm>
            <a:off x="5195990" y="3429000"/>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3">
                    <a:lumMod val="50000"/>
                  </a:schemeClr>
                </a:solidFill>
              </a:rPr>
              <a:t>1.</a:t>
            </a:r>
            <a:r>
              <a:rPr lang="ja-JP" altLang="en-US" sz="1600" dirty="0">
                <a:solidFill>
                  <a:schemeClr val="accent3">
                    <a:lumMod val="50000"/>
                  </a:schemeClr>
                </a:solidFill>
              </a:rPr>
              <a:t>野菜を切る</a:t>
            </a:r>
          </a:p>
        </p:txBody>
      </p:sp>
      <p:sp>
        <p:nvSpPr>
          <p:cNvPr id="5" name="正方形/長方形 4"/>
          <p:cNvSpPr/>
          <p:nvPr/>
        </p:nvSpPr>
        <p:spPr bwMode="auto">
          <a:xfrm>
            <a:off x="5195990" y="3789004"/>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2.</a:t>
            </a:r>
            <a:r>
              <a:rPr lang="ja-JP" altLang="en-US" sz="1400" dirty="0">
                <a:solidFill>
                  <a:schemeClr val="bg1"/>
                </a:solidFill>
              </a:rPr>
              <a:t>野菜を炒める</a:t>
            </a:r>
          </a:p>
        </p:txBody>
      </p:sp>
      <p:sp>
        <p:nvSpPr>
          <p:cNvPr id="6" name="正方形/長方形 5"/>
          <p:cNvSpPr/>
          <p:nvPr/>
        </p:nvSpPr>
        <p:spPr bwMode="auto">
          <a:xfrm>
            <a:off x="5195990" y="4149008"/>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3.</a:t>
            </a:r>
            <a:r>
              <a:rPr lang="ja-JP" altLang="en-US" sz="1600" dirty="0">
                <a:solidFill>
                  <a:schemeClr val="accent2">
                    <a:lumMod val="50000"/>
                  </a:schemeClr>
                </a:solidFill>
              </a:rPr>
              <a:t>肉を切る</a:t>
            </a:r>
          </a:p>
        </p:txBody>
      </p:sp>
      <p:sp>
        <p:nvSpPr>
          <p:cNvPr id="7" name="正方形/長方形 6"/>
          <p:cNvSpPr/>
          <p:nvPr/>
        </p:nvSpPr>
        <p:spPr bwMode="auto">
          <a:xfrm>
            <a:off x="5195990" y="4509012"/>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4.</a:t>
            </a:r>
            <a:r>
              <a:rPr lang="ja-JP" altLang="en-US" sz="1600" dirty="0">
                <a:solidFill>
                  <a:schemeClr val="bg1"/>
                </a:solidFill>
              </a:rPr>
              <a:t>肉を炒める</a:t>
            </a:r>
          </a:p>
        </p:txBody>
      </p:sp>
      <p:sp>
        <p:nvSpPr>
          <p:cNvPr id="8" name="正方形/長方形 7"/>
          <p:cNvSpPr/>
          <p:nvPr/>
        </p:nvSpPr>
        <p:spPr bwMode="auto">
          <a:xfrm>
            <a:off x="5195990" y="4869016"/>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5.</a:t>
            </a:r>
            <a:r>
              <a:rPr lang="ja-JP" altLang="en-US" sz="1600" dirty="0">
                <a:solidFill>
                  <a:schemeClr val="bg1"/>
                </a:solidFill>
              </a:rPr>
              <a:t>煮込む</a:t>
            </a:r>
          </a:p>
        </p:txBody>
      </p:sp>
      <p:sp>
        <p:nvSpPr>
          <p:cNvPr id="9" name="正方形/長方形 8"/>
          <p:cNvSpPr/>
          <p:nvPr/>
        </p:nvSpPr>
        <p:spPr bwMode="auto">
          <a:xfrm>
            <a:off x="5195990" y="5229020"/>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6.</a:t>
            </a:r>
            <a:r>
              <a:rPr lang="ja-JP" altLang="en-US" sz="1400" dirty="0">
                <a:solidFill>
                  <a:schemeClr val="bg1"/>
                </a:solidFill>
              </a:rPr>
              <a:t>ルーを入れる</a:t>
            </a:r>
          </a:p>
        </p:txBody>
      </p:sp>
      <p:sp>
        <p:nvSpPr>
          <p:cNvPr id="10" name="正方形/長方形 9"/>
          <p:cNvSpPr/>
          <p:nvPr/>
        </p:nvSpPr>
        <p:spPr bwMode="auto">
          <a:xfrm>
            <a:off x="5195990" y="5589024"/>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7.</a:t>
            </a:r>
            <a:r>
              <a:rPr lang="ja-JP" altLang="en-US" sz="1600" dirty="0">
                <a:solidFill>
                  <a:schemeClr val="accent2">
                    <a:lumMod val="50000"/>
                  </a:schemeClr>
                </a:solidFill>
              </a:rPr>
              <a:t>コメを研ぐ</a:t>
            </a:r>
          </a:p>
        </p:txBody>
      </p:sp>
      <p:sp>
        <p:nvSpPr>
          <p:cNvPr id="11" name="正方形/長方形 10"/>
          <p:cNvSpPr/>
          <p:nvPr/>
        </p:nvSpPr>
        <p:spPr bwMode="auto">
          <a:xfrm>
            <a:off x="5195990" y="5949028"/>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8.</a:t>
            </a:r>
            <a:r>
              <a:rPr lang="ja-JP" altLang="en-US" sz="1600" dirty="0">
                <a:solidFill>
                  <a:schemeClr val="bg1"/>
                </a:solidFill>
              </a:rPr>
              <a:t>コメを炊く</a:t>
            </a:r>
          </a:p>
        </p:txBody>
      </p:sp>
      <p:sp>
        <p:nvSpPr>
          <p:cNvPr id="12" name="正方形/長方形 11"/>
          <p:cNvSpPr/>
          <p:nvPr/>
        </p:nvSpPr>
        <p:spPr bwMode="auto">
          <a:xfrm>
            <a:off x="5195990" y="6309032"/>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9.</a:t>
            </a:r>
            <a:r>
              <a:rPr lang="ja-JP" altLang="en-US" sz="1600" dirty="0">
                <a:solidFill>
                  <a:schemeClr val="bg1"/>
                </a:solidFill>
              </a:rPr>
              <a:t>もりつける</a:t>
            </a:r>
          </a:p>
        </p:txBody>
      </p:sp>
      <p:grpSp>
        <p:nvGrpSpPr>
          <p:cNvPr id="13" name="グループ化 12"/>
          <p:cNvGrpSpPr/>
          <p:nvPr/>
        </p:nvGrpSpPr>
        <p:grpSpPr>
          <a:xfrm rot="5400000">
            <a:off x="3080965" y="4824017"/>
            <a:ext cx="3330038" cy="540006"/>
            <a:chOff x="3533396" y="3248998"/>
            <a:chExt cx="3330038" cy="540006"/>
          </a:xfrm>
        </p:grpSpPr>
        <p:cxnSp>
          <p:nvCxnSpPr>
            <p:cNvPr id="14" name="直線コネクタ 13"/>
            <p:cNvCxnSpPr/>
            <p:nvPr/>
          </p:nvCxnSpPr>
          <p:spPr bwMode="auto">
            <a:xfrm rot="16200000">
              <a:off x="5198415" y="1853981"/>
              <a:ext cx="0" cy="3330038"/>
            </a:xfrm>
            <a:prstGeom prst="line">
              <a:avLst/>
            </a:prstGeom>
            <a:noFill/>
            <a:ln w="12700" cap="flat" cmpd="sng" algn="ctr">
              <a:solidFill>
                <a:schemeClr val="accent6"/>
              </a:solidFill>
              <a:prstDash val="solid"/>
              <a:round/>
              <a:headEnd type="none" w="med" len="med"/>
              <a:tailEnd type="none" w="med" len="med"/>
            </a:ln>
            <a:effectLst/>
          </p:spPr>
        </p:cxnSp>
        <p:cxnSp>
          <p:nvCxnSpPr>
            <p:cNvPr id="15" name="直線コネクタ 14"/>
            <p:cNvCxnSpPr/>
            <p:nvPr/>
          </p:nvCxnSpPr>
          <p:spPr bwMode="auto">
            <a:xfrm flipH="1" flipV="1">
              <a:off x="6593430" y="3248998"/>
              <a:ext cx="270003" cy="270003"/>
            </a:xfrm>
            <a:prstGeom prst="line">
              <a:avLst/>
            </a:prstGeom>
            <a:noFill/>
            <a:ln w="12700" cap="flat" cmpd="sng" algn="ctr">
              <a:solidFill>
                <a:schemeClr val="accent6"/>
              </a:solidFill>
              <a:prstDash val="solid"/>
              <a:round/>
              <a:headEnd type="none" w="med" len="med"/>
              <a:tailEnd type="none" w="med" len="med"/>
            </a:ln>
            <a:effectLst/>
          </p:spPr>
        </p:cxnSp>
        <p:cxnSp>
          <p:nvCxnSpPr>
            <p:cNvPr id="16" name="直線コネクタ 15"/>
            <p:cNvCxnSpPr/>
            <p:nvPr/>
          </p:nvCxnSpPr>
          <p:spPr bwMode="auto">
            <a:xfrm flipH="1">
              <a:off x="6593430" y="3519001"/>
              <a:ext cx="270004" cy="270003"/>
            </a:xfrm>
            <a:prstGeom prst="line">
              <a:avLst/>
            </a:prstGeom>
            <a:noFill/>
            <a:ln w="12700" cap="flat" cmpd="sng" algn="ctr">
              <a:solidFill>
                <a:schemeClr val="accent6"/>
              </a:solidFill>
              <a:prstDash val="solid"/>
              <a:round/>
              <a:headEnd type="none" w="med" len="med"/>
              <a:tailEnd type="none" w="med" len="med"/>
            </a:ln>
            <a:effectLst/>
          </p:spPr>
        </p:cxnSp>
      </p:grpSp>
      <p:sp>
        <p:nvSpPr>
          <p:cNvPr id="17" name="テキスト ボックス 16"/>
          <p:cNvSpPr txBox="1"/>
          <p:nvPr/>
        </p:nvSpPr>
        <p:spPr>
          <a:xfrm>
            <a:off x="4745985" y="2888994"/>
            <a:ext cx="1620018" cy="369332"/>
          </a:xfrm>
          <a:prstGeom prst="rect">
            <a:avLst/>
          </a:prstGeom>
          <a:noFill/>
        </p:spPr>
        <p:txBody>
          <a:bodyPr wrap="none" rtlCol="0">
            <a:noAutofit/>
          </a:bodyPr>
          <a:lstStyle/>
          <a:p>
            <a:r>
              <a:rPr lang="ja-JP" altLang="en-US" sz="2400" dirty="0">
                <a:solidFill>
                  <a:srgbClr val="5E6363"/>
                </a:solidFill>
              </a:rPr>
              <a:t>カレーのレシピ</a:t>
            </a:r>
          </a:p>
        </p:txBody>
      </p:sp>
    </p:spTree>
    <p:extLst>
      <p:ext uri="{BB962C8B-B14F-4D97-AF65-F5344CB8AC3E}">
        <p14:creationId xmlns:p14="http://schemas.microsoft.com/office/powerpoint/2010/main" val="35018201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命令パイプライン（第３回）</a:t>
            </a:r>
            <a:endParaRPr kumimoji="1" lang="ja-JP" altLang="en-US" dirty="0"/>
          </a:p>
        </p:txBody>
      </p:sp>
      <p:sp>
        <p:nvSpPr>
          <p:cNvPr id="58" name="コンテンツ プレースホルダー 57"/>
          <p:cNvSpPr>
            <a:spLocks noGrp="1"/>
          </p:cNvSpPr>
          <p:nvPr>
            <p:ph idx="4294967295"/>
          </p:nvPr>
        </p:nvSpPr>
        <p:spPr>
          <a:xfrm>
            <a:off x="1775953" y="4689015"/>
            <a:ext cx="8730097" cy="1369161"/>
          </a:xfrm>
          <a:prstGeom prst="rect">
            <a:avLst/>
          </a:prstGeom>
        </p:spPr>
        <p:txBody>
          <a:bodyPr/>
          <a:lstStyle/>
          <a:p>
            <a:pPr lvl="1"/>
            <a:r>
              <a:rPr lang="en-US" altLang="ja-JP"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dirty="0"/>
              <a:t>      </a:t>
            </a:r>
            <a:r>
              <a:rPr lang="ja-JP" altLang="en-US" dirty="0"/>
              <a:t>が命令をメモリから読み出す</a:t>
            </a:r>
            <a:endParaRPr lang="en-US" altLang="ja-JP" dirty="0"/>
          </a:p>
          <a:p>
            <a:pPr lvl="1"/>
            <a:r>
              <a:rPr lang="ja-JP" altLang="en-US" dirty="0"/>
              <a:t> </a:t>
            </a:r>
            <a:r>
              <a:rPr lang="en-US" altLang="ja-JP"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dirty="0"/>
              <a:t>   </a:t>
            </a:r>
            <a:r>
              <a:rPr lang="ja-JP" altLang="en-US" dirty="0"/>
              <a:t>がレジスタ・ファイルから入力の値を読み出す</a:t>
            </a:r>
            <a:endParaRPr lang="en-US" altLang="ja-JP" dirty="0"/>
          </a:p>
          <a:p>
            <a:pPr lvl="1"/>
            <a:r>
              <a:rPr lang="ja-JP" altLang="en-US" dirty="0"/>
              <a:t> </a:t>
            </a:r>
            <a:r>
              <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dirty="0"/>
              <a:t> </a:t>
            </a:r>
            <a:r>
              <a:rPr lang="ja-JP" altLang="en-US" dirty="0"/>
              <a:t>　が演算器（</a:t>
            </a:r>
            <a:r>
              <a:rPr lang="en-US" altLang="ja-JP" dirty="0"/>
              <a:t>FU</a:t>
            </a:r>
            <a:r>
              <a:rPr lang="ja-JP" altLang="en-US" dirty="0"/>
              <a:t>）で計算する</a:t>
            </a:r>
            <a:endParaRPr lang="en-US" altLang="ja-JP" dirty="0"/>
          </a:p>
          <a:p>
            <a:pPr lvl="1"/>
            <a:r>
              <a:rPr lang="ja-JP" altLang="en-US" dirty="0"/>
              <a:t> </a:t>
            </a:r>
            <a:r>
              <a:rPr lang="el-GR"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dirty="0"/>
              <a:t>がレジスタ・ファイルに結果を書き込む</a:t>
            </a:r>
            <a:endParaRPr lang="en-US" altLang="ja-JP"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7" name="正方形/長方形 96"/>
          <p:cNvSpPr/>
          <p:nvPr/>
        </p:nvSpPr>
        <p:spPr bwMode="auto">
          <a:xfrm>
            <a:off x="2045956" y="189898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命令メモリ</a:t>
            </a:r>
          </a:p>
        </p:txBody>
      </p:sp>
      <p:sp>
        <p:nvSpPr>
          <p:cNvPr id="30" name="Freeform 25"/>
          <p:cNvSpPr>
            <a:spLocks/>
          </p:cNvSpPr>
          <p:nvPr/>
        </p:nvSpPr>
        <p:spPr bwMode="auto">
          <a:xfrm>
            <a:off x="4745985"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レジスタ・ファイル</a:t>
            </a:r>
          </a:p>
        </p:txBody>
      </p:sp>
      <p:sp>
        <p:nvSpPr>
          <p:cNvPr id="31" name="AutoShape 5"/>
          <p:cNvSpPr>
            <a:spLocks noChangeArrowheads="1"/>
          </p:cNvSpPr>
          <p:nvPr/>
        </p:nvSpPr>
        <p:spPr bwMode="auto">
          <a:xfrm rot="-5400000">
            <a:off x="6366165" y="1683049"/>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FU</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32" name="グループ化 31"/>
          <p:cNvGrpSpPr/>
          <p:nvPr/>
        </p:nvGrpSpPr>
        <p:grpSpPr>
          <a:xfrm>
            <a:off x="5034017" y="1719053"/>
            <a:ext cx="1008112" cy="432048"/>
            <a:chOff x="3563888" y="2708920"/>
            <a:chExt cx="1296144" cy="432048"/>
          </a:xfrm>
        </p:grpSpPr>
        <p:sp>
          <p:nvSpPr>
            <p:cNvPr id="33" name="Freeform 9"/>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p:cNvSpPr>
            <a:spLocks/>
          </p:cNvSpPr>
          <p:nvPr/>
        </p:nvSpPr>
        <p:spPr bwMode="auto">
          <a:xfrm>
            <a:off x="7482289" y="1719053"/>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nvGrpSpPr>
          <p:cNvPr id="41" name="グループ化 40"/>
          <p:cNvGrpSpPr/>
          <p:nvPr/>
        </p:nvGrpSpPr>
        <p:grpSpPr>
          <a:xfrm>
            <a:off x="2135957" y="2978995"/>
            <a:ext cx="720009" cy="360004"/>
            <a:chOff x="6372020" y="3699004"/>
            <a:chExt cx="720009" cy="360004"/>
          </a:xfrm>
        </p:grpSpPr>
        <p:sp>
          <p:nvSpPr>
            <p:cNvPr id="42" name="角丸四角形 41"/>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sp>
          <p:nvSpPr>
            <p:cNvPr id="44" name="角丸四角形 43"/>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grpSp>
      <p:sp>
        <p:nvSpPr>
          <p:cNvPr id="96" name="正方形/長方形 95"/>
          <p:cNvSpPr/>
          <p:nvPr/>
        </p:nvSpPr>
        <p:spPr bwMode="auto">
          <a:xfrm>
            <a:off x="1775952" y="2438990"/>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lang="en-US" altLang="ja-JP" sz="2000" dirty="0">
                <a:solidFill>
                  <a:schemeClr val="bg1"/>
                </a:solidFill>
                <a:latin typeface="Arial Narrow" panose="020B0606020202030204" pitchFamily="34" charset="0"/>
              </a:rPr>
              <a:t>b=a+1</a:t>
            </a:r>
          </a:p>
          <a:p>
            <a:pPr>
              <a:lnSpc>
                <a:spcPct val="80000"/>
              </a:lnSpc>
            </a:pPr>
            <a:r>
              <a:rPr lang="en-US" altLang="ja-JP" sz="2000" dirty="0">
                <a:solidFill>
                  <a:schemeClr val="bg1"/>
                </a:solidFill>
                <a:latin typeface="Arial Narrow" panose="020B0606020202030204" pitchFamily="34" charset="0"/>
              </a:rPr>
              <a:t>c=b-1</a:t>
            </a:r>
          </a:p>
          <a:p>
            <a:pPr>
              <a:lnSpc>
                <a:spcPct val="80000"/>
              </a:lnSpc>
            </a:pPr>
            <a:r>
              <a:rPr lang="en-US" altLang="ja-JP" sz="2000" dirty="0">
                <a:solidFill>
                  <a:schemeClr val="bg1"/>
                </a:solidFill>
                <a:latin typeface="Arial Narrow" panose="020B0606020202030204" pitchFamily="34" charset="0"/>
              </a:rPr>
              <a:t>d=c+2</a:t>
            </a:r>
          </a:p>
          <a:p>
            <a:pPr>
              <a:lnSpc>
                <a:spcPct val="80000"/>
              </a:lnSpc>
            </a:pPr>
            <a:r>
              <a:rPr lang="en-US" altLang="ja-JP" sz="2000" dirty="0">
                <a:solidFill>
                  <a:schemeClr val="bg1"/>
                </a:solidFill>
                <a:latin typeface="Arial Narrow" panose="020B0606020202030204" pitchFamily="34" charset="0"/>
              </a:rPr>
              <a:t>e=…</a:t>
            </a:r>
          </a:p>
          <a:p>
            <a:pPr>
              <a:lnSpc>
                <a:spcPct val="80000"/>
              </a:lnSpc>
            </a:pPr>
            <a:r>
              <a:rPr lang="en-US" altLang="ja-JP" sz="2000" dirty="0">
                <a:solidFill>
                  <a:schemeClr val="bg1"/>
                </a:solidFill>
                <a:latin typeface="Arial Narrow" panose="020B0606020202030204" pitchFamily="34" charset="0"/>
              </a:rPr>
              <a:t>…</a:t>
            </a:r>
            <a:endParaRPr lang="ja-JP" altLang="en-US" sz="2000" dirty="0">
              <a:solidFill>
                <a:schemeClr val="bg1"/>
              </a:solidFill>
              <a:latin typeface="Arial Narrow" panose="020B0606020202030204" pitchFamily="34" charset="0"/>
            </a:endParaRPr>
          </a:p>
        </p:txBody>
      </p:sp>
      <p:sp>
        <p:nvSpPr>
          <p:cNvPr id="43" name="角丸四角形吹き出し 42"/>
          <p:cNvSpPr/>
          <p:nvPr/>
        </p:nvSpPr>
        <p:spPr bwMode="auto">
          <a:xfrm>
            <a:off x="8076022" y="2078985"/>
            <a:ext cx="1440016" cy="342645"/>
          </a:xfrm>
          <a:prstGeom prst="wedgeRoundRectCallout">
            <a:avLst>
              <a:gd name="adj1" fmla="val -46134"/>
              <a:gd name="adj2" fmla="val 94815"/>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65000"/>
                    <a:lumOff val="35000"/>
                  </a:schemeClr>
                </a:solidFill>
                <a:latin typeface="Arial Narrow" panose="020B0606020202030204" pitchFamily="34" charset="0"/>
              </a:rPr>
              <a:t>結果を書きます！</a:t>
            </a:r>
          </a:p>
        </p:txBody>
      </p:sp>
      <p:sp>
        <p:nvSpPr>
          <p:cNvPr id="45" name="角丸四角形吹き出し 44"/>
          <p:cNvSpPr/>
          <p:nvPr/>
        </p:nvSpPr>
        <p:spPr bwMode="auto">
          <a:xfrm>
            <a:off x="5195990" y="2078984"/>
            <a:ext cx="1170013" cy="342645"/>
          </a:xfrm>
          <a:prstGeom prst="wedgeRoundRectCallout">
            <a:avLst>
              <a:gd name="adj1" fmla="val -41466"/>
              <a:gd name="adj2" fmla="val 84351"/>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65000"/>
                    <a:lumOff val="35000"/>
                  </a:schemeClr>
                </a:solidFill>
                <a:latin typeface="Arial Narrow" panose="020B0606020202030204" pitchFamily="34" charset="0"/>
              </a:rPr>
              <a:t>入力読みます！</a:t>
            </a:r>
          </a:p>
        </p:txBody>
      </p:sp>
      <p:sp>
        <p:nvSpPr>
          <p:cNvPr id="4" name="角丸四角形吹き出し 44">
            <a:extLst>
              <a:ext uri="{FF2B5EF4-FFF2-40B4-BE49-F238E27FC236}">
                <a16:creationId xmlns:a16="http://schemas.microsoft.com/office/drawing/2014/main" id="{F48F0C35-8E74-4764-1A96-ED52AF5CA426}"/>
              </a:ext>
            </a:extLst>
          </p:cNvPr>
          <p:cNvSpPr/>
          <p:nvPr/>
        </p:nvSpPr>
        <p:spPr bwMode="auto">
          <a:xfrm>
            <a:off x="3575972" y="2078985"/>
            <a:ext cx="1170013" cy="342645"/>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65000"/>
                    <a:lumOff val="35000"/>
                  </a:schemeClr>
                </a:solidFill>
                <a:latin typeface="Arial Narrow" panose="020B0606020202030204" pitchFamily="34" charset="0"/>
              </a:rPr>
              <a:t>命令を読むで</a:t>
            </a:r>
          </a:p>
        </p:txBody>
      </p:sp>
      <p:sp>
        <p:nvSpPr>
          <p:cNvPr id="5" name="角丸四角形 45">
            <a:extLst>
              <a:ext uri="{FF2B5EF4-FFF2-40B4-BE49-F238E27FC236}">
                <a16:creationId xmlns:a16="http://schemas.microsoft.com/office/drawing/2014/main" id="{7FF0CD6D-AD85-0058-EE34-07B6E5742E6A}"/>
              </a:ext>
            </a:extLst>
          </p:cNvPr>
          <p:cNvSpPr/>
          <p:nvPr/>
        </p:nvSpPr>
        <p:spPr bwMode="auto">
          <a:xfrm>
            <a:off x="4932004"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solidFill>
                  <a:schemeClr val="bg1"/>
                </a:solidFill>
                <a:latin typeface="Arial Narrow" panose="020B0606020202030204" pitchFamily="34" charset="0"/>
              </a:rPr>
              <a:t>b=a+1</a:t>
            </a:r>
            <a:endParaRPr kumimoji="1" lang="ja-JP" altLang="en-US" dirty="0">
              <a:solidFill>
                <a:schemeClr val="bg1"/>
              </a:solidFill>
              <a:latin typeface="Arial Narrow" panose="020B0606020202030204" pitchFamily="34" charset="0"/>
            </a:endParaRPr>
          </a:p>
        </p:txBody>
      </p:sp>
      <p:sp>
        <p:nvSpPr>
          <p:cNvPr id="6" name="角丸四角形 46">
            <a:extLst>
              <a:ext uri="{FF2B5EF4-FFF2-40B4-BE49-F238E27FC236}">
                <a16:creationId xmlns:a16="http://schemas.microsoft.com/office/drawing/2014/main" id="{481D9CA3-D3B1-1E81-4BF5-42CE1C8531CC}"/>
              </a:ext>
            </a:extLst>
          </p:cNvPr>
          <p:cNvSpPr/>
          <p:nvPr/>
        </p:nvSpPr>
        <p:spPr bwMode="auto">
          <a:xfrm>
            <a:off x="3491988"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solidFill>
                  <a:schemeClr val="bg1"/>
                </a:solidFill>
                <a:latin typeface="Arial Narrow" panose="020B0606020202030204" pitchFamily="34" charset="0"/>
              </a:rPr>
              <a:t>c=b-1</a:t>
            </a:r>
            <a:endParaRPr kumimoji="1" lang="ja-JP" altLang="en-US" dirty="0">
              <a:solidFill>
                <a:schemeClr val="bg1"/>
              </a:solidFill>
              <a:latin typeface="Arial Narrow" panose="020B0606020202030204" pitchFamily="34" charset="0"/>
            </a:endParaRPr>
          </a:p>
        </p:txBody>
      </p:sp>
      <p:sp>
        <p:nvSpPr>
          <p:cNvPr id="7" name="角丸四角形吹き出し 44">
            <a:extLst>
              <a:ext uri="{FF2B5EF4-FFF2-40B4-BE49-F238E27FC236}">
                <a16:creationId xmlns:a16="http://schemas.microsoft.com/office/drawing/2014/main" id="{63D669BC-E2D3-8C3D-3D28-5BB9D4821832}"/>
              </a:ext>
            </a:extLst>
          </p:cNvPr>
          <p:cNvSpPr/>
          <p:nvPr/>
        </p:nvSpPr>
        <p:spPr bwMode="auto">
          <a:xfrm>
            <a:off x="6636006" y="2078985"/>
            <a:ext cx="1170013"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65000"/>
                    <a:lumOff val="35000"/>
                  </a:schemeClr>
                </a:solidFill>
                <a:latin typeface="Arial Narrow" panose="020B0606020202030204" pitchFamily="34" charset="0"/>
              </a:rPr>
              <a:t>計算します！</a:t>
            </a:r>
          </a:p>
        </p:txBody>
      </p:sp>
      <p:cxnSp>
        <p:nvCxnSpPr>
          <p:cNvPr id="9" name="直線矢印コネクタ 8">
            <a:extLst>
              <a:ext uri="{FF2B5EF4-FFF2-40B4-BE49-F238E27FC236}">
                <a16:creationId xmlns:a16="http://schemas.microsoft.com/office/drawing/2014/main" id="{FF259F9E-0E64-43B6-0FA7-3065632126D9}"/>
              </a:ext>
            </a:extLst>
          </p:cNvPr>
          <p:cNvCxnSpPr>
            <a:cxnSpLocks/>
          </p:cNvCxnSpPr>
          <p:nvPr/>
        </p:nvCxnSpPr>
        <p:spPr bwMode="auto">
          <a:xfrm>
            <a:off x="2405959" y="3068996"/>
            <a:ext cx="990011"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6586131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CMOS </a:t>
            </a:r>
            <a:r>
              <a:rPr kumimoji="1" lang="ja-JP" altLang="en-US" dirty="0"/>
              <a:t>回路におけるスイッチングの消費エネルギー</a:t>
            </a:r>
            <a:r>
              <a:rPr lang="ja-JP" altLang="en-US" dirty="0"/>
              <a:t>（第２回）</a:t>
            </a:r>
            <a:endParaRPr kumimoji="1" lang="ja-JP" altLang="en-US" dirty="0"/>
          </a:p>
        </p:txBody>
      </p:sp>
      <p:sp>
        <p:nvSpPr>
          <p:cNvPr id="3" name="テキスト プレースホルダー 2"/>
          <p:cNvSpPr>
            <a:spLocks noGrp="1"/>
          </p:cNvSpPr>
          <p:nvPr>
            <p:ph type="body" sz="quarter" idx="10"/>
          </p:nvPr>
        </p:nvSpPr>
        <p:spPr>
          <a:xfrm>
            <a:off x="2225957" y="4779323"/>
            <a:ext cx="8262041" cy="1439709"/>
          </a:xfrm>
        </p:spPr>
        <p:txBody>
          <a:bodyPr/>
          <a:lstStyle/>
          <a:p>
            <a:r>
              <a:rPr lang="en-US" altLang="ja-JP" dirty="0">
                <a:solidFill>
                  <a:schemeClr val="accent5"/>
                </a:solidFill>
              </a:rPr>
              <a:t>CMOS </a:t>
            </a:r>
            <a:r>
              <a:rPr lang="ja-JP" altLang="en-US" dirty="0">
                <a:solidFill>
                  <a:schemeClr val="accent5"/>
                </a:solidFill>
              </a:rPr>
              <a:t>回路は，コンデンサに連動したスイッチとみなせる</a:t>
            </a:r>
            <a:br>
              <a:rPr lang="en-US" altLang="ja-JP" dirty="0">
                <a:solidFill>
                  <a:schemeClr val="accent5"/>
                </a:solidFill>
              </a:rPr>
            </a:br>
            <a:r>
              <a:rPr lang="ja-JP" altLang="en-US" dirty="0"/>
              <a:t>（</a:t>
            </a:r>
            <a:r>
              <a:rPr lang="en-US" altLang="ja-JP" dirty="0"/>
              <a:t>MOS </a:t>
            </a:r>
            <a:r>
              <a:rPr lang="ja-JP" altLang="en-US" dirty="0"/>
              <a:t>構造のゲートのところがコンデンサになってる</a:t>
            </a:r>
            <a:endParaRPr lang="en-US" altLang="ja-JP" dirty="0"/>
          </a:p>
          <a:p>
            <a:pPr lvl="1"/>
            <a:r>
              <a:rPr lang="ja-JP" altLang="en-US" dirty="0"/>
              <a:t>コンデンサが充電状態：下のスイッチが</a:t>
            </a:r>
            <a:r>
              <a:rPr lang="en-US" altLang="ja-JP" dirty="0"/>
              <a:t>ON</a:t>
            </a:r>
          </a:p>
          <a:p>
            <a:pPr lvl="1"/>
            <a:r>
              <a:rPr lang="ja-JP" altLang="en-US" dirty="0"/>
              <a:t>コンデンサが放電状態：上のスイッチが</a:t>
            </a:r>
            <a:r>
              <a:rPr lang="en-US" altLang="ja-JP" dirty="0"/>
              <a:t>ON</a:t>
            </a:r>
          </a:p>
          <a:p>
            <a:r>
              <a:rPr lang="ja-JP" altLang="en-US" dirty="0"/>
              <a:t>主に計算で消費されるエネルギー：</a:t>
            </a:r>
            <a:endParaRPr lang="en-US" altLang="ja-JP" dirty="0"/>
          </a:p>
          <a:p>
            <a:pPr lvl="1"/>
            <a:r>
              <a:rPr lang="ja-JP" altLang="en-US" dirty="0">
                <a:solidFill>
                  <a:schemeClr val="accent5"/>
                </a:solidFill>
              </a:rPr>
              <a:t>スイッチを </a:t>
            </a:r>
            <a:r>
              <a:rPr lang="en-US" altLang="ja-JP" dirty="0">
                <a:solidFill>
                  <a:schemeClr val="accent5"/>
                </a:solidFill>
              </a:rPr>
              <a:t>ON/OFF </a:t>
            </a:r>
            <a:r>
              <a:rPr lang="ja-JP" altLang="en-US" dirty="0">
                <a:solidFill>
                  <a:schemeClr val="accent5"/>
                </a:solidFill>
              </a:rPr>
              <a:t>するためのコンデンサへの充放電で消費</a:t>
            </a:r>
            <a:endParaRPr lang="en-US" altLang="ja-JP" dirty="0">
              <a:solidFill>
                <a:schemeClr val="accent5"/>
              </a:solidFill>
            </a:endParaRPr>
          </a:p>
          <a:p>
            <a:pPr lvl="1"/>
            <a:endParaRPr lang="en-US" altLang="ja-JP" dirty="0"/>
          </a:p>
        </p:txBody>
      </p:sp>
      <p:grpSp>
        <p:nvGrpSpPr>
          <p:cNvPr id="214" name="グループ化 213">
            <a:extLst>
              <a:ext uri="{FF2B5EF4-FFF2-40B4-BE49-F238E27FC236}">
                <a16:creationId xmlns:a16="http://schemas.microsoft.com/office/drawing/2014/main" id="{4138FE45-F132-8B96-CFAB-DC4E53E8D20F}"/>
              </a:ext>
            </a:extLst>
          </p:cNvPr>
          <p:cNvGrpSpPr/>
          <p:nvPr/>
        </p:nvGrpSpPr>
        <p:grpSpPr>
          <a:xfrm rot="5400000">
            <a:off x="9882942" y="2265889"/>
            <a:ext cx="67531" cy="337533"/>
            <a:chOff x="3401870" y="728700"/>
            <a:chExt cx="180020" cy="405045"/>
          </a:xfrm>
        </p:grpSpPr>
        <p:cxnSp>
          <p:nvCxnSpPr>
            <p:cNvPr id="216" name="直線コネクタ 215">
              <a:extLst>
                <a:ext uri="{FF2B5EF4-FFF2-40B4-BE49-F238E27FC236}">
                  <a16:creationId xmlns:a16="http://schemas.microsoft.com/office/drawing/2014/main" id="{2344D971-E8D2-B33A-E0EC-C60C729F1422}"/>
                </a:ext>
              </a:extLst>
            </p:cNvPr>
            <p:cNvCxnSpPr/>
            <p:nvPr/>
          </p:nvCxnSpPr>
          <p:spPr>
            <a:xfrm>
              <a:off x="3401870" y="77370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17" name="直線コネクタ 216">
              <a:extLst>
                <a:ext uri="{FF2B5EF4-FFF2-40B4-BE49-F238E27FC236}">
                  <a16:creationId xmlns:a16="http://schemas.microsoft.com/office/drawing/2014/main" id="{4A2ACF78-DD22-1B82-736F-7EFA9A625C1E}"/>
                </a:ext>
              </a:extLst>
            </p:cNvPr>
            <p:cNvCxnSpPr/>
            <p:nvPr/>
          </p:nvCxnSpPr>
          <p:spPr>
            <a:xfrm flipV="1">
              <a:off x="3401870" y="81871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18" name="直線コネクタ 217">
              <a:extLst>
                <a:ext uri="{FF2B5EF4-FFF2-40B4-BE49-F238E27FC236}">
                  <a16:creationId xmlns:a16="http://schemas.microsoft.com/office/drawing/2014/main" id="{95BC2369-1B8B-E105-7C3C-CA0D9DF55463}"/>
                </a:ext>
              </a:extLst>
            </p:cNvPr>
            <p:cNvCxnSpPr/>
            <p:nvPr/>
          </p:nvCxnSpPr>
          <p:spPr>
            <a:xfrm>
              <a:off x="3401870" y="86371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1" name="直線コネクタ 220">
              <a:extLst>
                <a:ext uri="{FF2B5EF4-FFF2-40B4-BE49-F238E27FC236}">
                  <a16:creationId xmlns:a16="http://schemas.microsoft.com/office/drawing/2014/main" id="{95AB4AE5-80E2-79E3-6D41-973C5A045ED9}"/>
                </a:ext>
              </a:extLst>
            </p:cNvPr>
            <p:cNvCxnSpPr/>
            <p:nvPr/>
          </p:nvCxnSpPr>
          <p:spPr>
            <a:xfrm flipV="1">
              <a:off x="3401870" y="90872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2" name="直線コネクタ 221">
              <a:extLst>
                <a:ext uri="{FF2B5EF4-FFF2-40B4-BE49-F238E27FC236}">
                  <a16:creationId xmlns:a16="http://schemas.microsoft.com/office/drawing/2014/main" id="{1CAF3471-7138-37B0-55BD-F231B215AF15}"/>
                </a:ext>
              </a:extLst>
            </p:cNvPr>
            <p:cNvCxnSpPr/>
            <p:nvPr/>
          </p:nvCxnSpPr>
          <p:spPr>
            <a:xfrm>
              <a:off x="3401870" y="95372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3" name="直線コネクタ 222">
              <a:extLst>
                <a:ext uri="{FF2B5EF4-FFF2-40B4-BE49-F238E27FC236}">
                  <a16:creationId xmlns:a16="http://schemas.microsoft.com/office/drawing/2014/main" id="{52032321-6285-DD06-62D8-5F8EC4DC7637}"/>
                </a:ext>
              </a:extLst>
            </p:cNvPr>
            <p:cNvCxnSpPr/>
            <p:nvPr/>
          </p:nvCxnSpPr>
          <p:spPr>
            <a:xfrm flipV="1">
              <a:off x="3401870" y="99873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4" name="直線コネクタ 223">
              <a:extLst>
                <a:ext uri="{FF2B5EF4-FFF2-40B4-BE49-F238E27FC236}">
                  <a16:creationId xmlns:a16="http://schemas.microsoft.com/office/drawing/2014/main" id="{FF34AF2C-A663-62BD-DA70-B2AC227EF82D}"/>
                </a:ext>
              </a:extLst>
            </p:cNvPr>
            <p:cNvCxnSpPr/>
            <p:nvPr/>
          </p:nvCxnSpPr>
          <p:spPr>
            <a:xfrm>
              <a:off x="3401870" y="104373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9" name="直線コネクタ 228">
              <a:extLst>
                <a:ext uri="{FF2B5EF4-FFF2-40B4-BE49-F238E27FC236}">
                  <a16:creationId xmlns:a16="http://schemas.microsoft.com/office/drawing/2014/main" id="{7749C55D-5F99-9DAF-2FD1-1028A491BC1A}"/>
                </a:ext>
              </a:extLst>
            </p:cNvPr>
            <p:cNvCxnSpPr/>
            <p:nvPr/>
          </p:nvCxnSpPr>
          <p:spPr>
            <a:xfrm flipV="1">
              <a:off x="3491880" y="1088741"/>
              <a:ext cx="90010" cy="45004"/>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35" name="直線コネクタ 234">
              <a:extLst>
                <a:ext uri="{FF2B5EF4-FFF2-40B4-BE49-F238E27FC236}">
                  <a16:creationId xmlns:a16="http://schemas.microsoft.com/office/drawing/2014/main" id="{40EA7DEE-4031-D044-6822-92B2F837D793}"/>
                </a:ext>
              </a:extLst>
            </p:cNvPr>
            <p:cNvCxnSpPr/>
            <p:nvPr/>
          </p:nvCxnSpPr>
          <p:spPr>
            <a:xfrm flipV="1">
              <a:off x="3401870" y="728700"/>
              <a:ext cx="9001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238" name="グループ化 237">
            <a:extLst>
              <a:ext uri="{FF2B5EF4-FFF2-40B4-BE49-F238E27FC236}">
                <a16:creationId xmlns:a16="http://schemas.microsoft.com/office/drawing/2014/main" id="{4BE8AD4E-358E-5B39-51F8-17D80E5A1BE9}"/>
              </a:ext>
            </a:extLst>
          </p:cNvPr>
          <p:cNvGrpSpPr/>
          <p:nvPr/>
        </p:nvGrpSpPr>
        <p:grpSpPr>
          <a:xfrm>
            <a:off x="9184609" y="2708993"/>
            <a:ext cx="270012" cy="450012"/>
            <a:chOff x="5787000" y="1944000"/>
            <a:chExt cx="270012" cy="450012"/>
          </a:xfrm>
        </p:grpSpPr>
        <p:cxnSp>
          <p:nvCxnSpPr>
            <p:cNvPr id="239" name="直線コネクタ 238">
              <a:extLst>
                <a:ext uri="{FF2B5EF4-FFF2-40B4-BE49-F238E27FC236}">
                  <a16:creationId xmlns:a16="http://schemas.microsoft.com/office/drawing/2014/main" id="{3DE128E8-BC46-9AB8-8A84-D7A13B825D34}"/>
                </a:ext>
              </a:extLst>
            </p:cNvPr>
            <p:cNvCxnSpPr/>
            <p:nvPr/>
          </p:nvCxnSpPr>
          <p:spPr>
            <a:xfrm>
              <a:off x="5787000" y="1989000"/>
              <a:ext cx="225004" cy="360003"/>
            </a:xfrm>
            <a:prstGeom prst="line">
              <a:avLst/>
            </a:prstGeom>
            <a:ln w="38100"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40" name="円/楕円 92">
              <a:extLst>
                <a:ext uri="{FF2B5EF4-FFF2-40B4-BE49-F238E27FC236}">
                  <a16:creationId xmlns:a16="http://schemas.microsoft.com/office/drawing/2014/main" id="{A0C04820-DDD6-09F2-A6FF-5C1AE884DB15}"/>
                </a:ext>
              </a:extLst>
            </p:cNvPr>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sp>
          <p:nvSpPr>
            <p:cNvPr id="241" name="円/楕円 93">
              <a:extLst>
                <a:ext uri="{FF2B5EF4-FFF2-40B4-BE49-F238E27FC236}">
                  <a16:creationId xmlns:a16="http://schemas.microsoft.com/office/drawing/2014/main" id="{B4661E23-D377-483F-EF1D-B4A26F504485}"/>
                </a:ext>
              </a:extLst>
            </p:cNvPr>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grpSp>
        <p:nvGrpSpPr>
          <p:cNvPr id="242" name="グループ化 241">
            <a:extLst>
              <a:ext uri="{FF2B5EF4-FFF2-40B4-BE49-F238E27FC236}">
                <a16:creationId xmlns:a16="http://schemas.microsoft.com/office/drawing/2014/main" id="{A28DBAEE-9030-18B9-9739-D9C07801D640}"/>
              </a:ext>
            </a:extLst>
          </p:cNvPr>
          <p:cNvGrpSpPr/>
          <p:nvPr/>
        </p:nvGrpSpPr>
        <p:grpSpPr>
          <a:xfrm>
            <a:off x="9364611" y="1718982"/>
            <a:ext cx="90012" cy="450012"/>
            <a:chOff x="5967000" y="1944000"/>
            <a:chExt cx="90012" cy="450012"/>
          </a:xfrm>
        </p:grpSpPr>
        <p:cxnSp>
          <p:nvCxnSpPr>
            <p:cNvPr id="243" name="直線コネクタ 242">
              <a:extLst>
                <a:ext uri="{FF2B5EF4-FFF2-40B4-BE49-F238E27FC236}">
                  <a16:creationId xmlns:a16="http://schemas.microsoft.com/office/drawing/2014/main" id="{D87A0057-A518-6145-C1E1-34827C7A4C20}"/>
                </a:ext>
              </a:extLst>
            </p:cNvPr>
            <p:cNvCxnSpPr>
              <a:stCxn id="245" idx="0"/>
            </p:cNvCxnSpPr>
            <p:nvPr/>
          </p:nvCxnSpPr>
          <p:spPr>
            <a:xfrm>
              <a:off x="5967000" y="1989006"/>
              <a:ext cx="45004" cy="359997"/>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44" name="円/楕円 96">
              <a:extLst>
                <a:ext uri="{FF2B5EF4-FFF2-40B4-BE49-F238E27FC236}">
                  <a16:creationId xmlns:a16="http://schemas.microsoft.com/office/drawing/2014/main" id="{ED154FF6-A2F9-661C-F733-AD79ED0512AD}"/>
                </a:ext>
              </a:extLst>
            </p:cNvPr>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sp>
          <p:nvSpPr>
            <p:cNvPr id="245" name="円/楕円 97">
              <a:extLst>
                <a:ext uri="{FF2B5EF4-FFF2-40B4-BE49-F238E27FC236}">
                  <a16:creationId xmlns:a16="http://schemas.microsoft.com/office/drawing/2014/main" id="{69652A70-473A-D5D4-4DEC-8777F01182F5}"/>
                </a:ext>
              </a:extLst>
            </p:cNvPr>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grpSp>
        <p:nvGrpSpPr>
          <p:cNvPr id="246" name="グループ化 152">
            <a:extLst>
              <a:ext uri="{FF2B5EF4-FFF2-40B4-BE49-F238E27FC236}">
                <a16:creationId xmlns:a16="http://schemas.microsoft.com/office/drawing/2014/main" id="{443D5170-9D50-BD1A-5D0E-B9046AEB39D9}"/>
              </a:ext>
            </a:extLst>
          </p:cNvPr>
          <p:cNvGrpSpPr/>
          <p:nvPr/>
        </p:nvGrpSpPr>
        <p:grpSpPr>
          <a:xfrm>
            <a:off x="9291755" y="3429000"/>
            <a:ext cx="180002" cy="90001"/>
            <a:chOff x="3643306" y="4500570"/>
            <a:chExt cx="428628" cy="144464"/>
          </a:xfrm>
        </p:grpSpPr>
        <p:cxnSp>
          <p:nvCxnSpPr>
            <p:cNvPr id="247" name="直線コネクタ 246">
              <a:extLst>
                <a:ext uri="{FF2B5EF4-FFF2-40B4-BE49-F238E27FC236}">
                  <a16:creationId xmlns:a16="http://schemas.microsoft.com/office/drawing/2014/main" id="{C61662E3-2627-8284-3638-5430E43B8EB9}"/>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48" name="直線コネクタ 247">
              <a:extLst>
                <a:ext uri="{FF2B5EF4-FFF2-40B4-BE49-F238E27FC236}">
                  <a16:creationId xmlns:a16="http://schemas.microsoft.com/office/drawing/2014/main" id="{E0C0BFFC-29D8-F86E-2972-FA6441633D6D}"/>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49" name="直線コネクタ 248">
              <a:extLst>
                <a:ext uri="{FF2B5EF4-FFF2-40B4-BE49-F238E27FC236}">
                  <a16:creationId xmlns:a16="http://schemas.microsoft.com/office/drawing/2014/main" id="{99904DC4-4C9A-F183-C1DD-B89A501637FB}"/>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250" name="直線コネクタ 249">
            <a:extLst>
              <a:ext uri="{FF2B5EF4-FFF2-40B4-BE49-F238E27FC236}">
                <a16:creationId xmlns:a16="http://schemas.microsoft.com/office/drawing/2014/main" id="{B45F574F-2413-4CA9-C0A8-DDF8B59799DF}"/>
              </a:ext>
            </a:extLst>
          </p:cNvPr>
          <p:cNvCxnSpPr/>
          <p:nvPr/>
        </p:nvCxnSpPr>
        <p:spPr>
          <a:xfrm flipV="1">
            <a:off x="9381756" y="3158998"/>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251" name="グループ化 250">
            <a:extLst>
              <a:ext uri="{FF2B5EF4-FFF2-40B4-BE49-F238E27FC236}">
                <a16:creationId xmlns:a16="http://schemas.microsoft.com/office/drawing/2014/main" id="{D9BC83A5-1DF9-A020-A9D6-46E7C6AAFA68}"/>
              </a:ext>
            </a:extLst>
          </p:cNvPr>
          <p:cNvGrpSpPr/>
          <p:nvPr/>
        </p:nvGrpSpPr>
        <p:grpSpPr>
          <a:xfrm>
            <a:off x="9291755" y="1358978"/>
            <a:ext cx="180020" cy="360033"/>
            <a:chOff x="4481992" y="1268760"/>
            <a:chExt cx="180020" cy="360033"/>
          </a:xfrm>
        </p:grpSpPr>
        <p:cxnSp>
          <p:nvCxnSpPr>
            <p:cNvPr id="252" name="直線コネクタ 251">
              <a:extLst>
                <a:ext uri="{FF2B5EF4-FFF2-40B4-BE49-F238E27FC236}">
                  <a16:creationId xmlns:a16="http://schemas.microsoft.com/office/drawing/2014/main" id="{499FD040-4CE1-2FF1-7A31-D85896D0CD0F}"/>
                </a:ext>
              </a:extLst>
            </p:cNvPr>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3" name="直線コネクタ 252">
              <a:extLst>
                <a:ext uri="{FF2B5EF4-FFF2-40B4-BE49-F238E27FC236}">
                  <a16:creationId xmlns:a16="http://schemas.microsoft.com/office/drawing/2014/main" id="{500066DF-652C-90AB-E7BF-C4E15C0FDDDB}"/>
                </a:ext>
              </a:extLst>
            </p:cNvPr>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54" name="直線コネクタ 253">
            <a:extLst>
              <a:ext uri="{FF2B5EF4-FFF2-40B4-BE49-F238E27FC236}">
                <a16:creationId xmlns:a16="http://schemas.microsoft.com/office/drawing/2014/main" id="{F3EA1980-BEC1-DF05-B977-9787F65A1F4D}"/>
              </a:ext>
            </a:extLst>
          </p:cNvPr>
          <p:cNvCxnSpPr/>
          <p:nvPr/>
        </p:nvCxnSpPr>
        <p:spPr>
          <a:xfrm flipV="1">
            <a:off x="9381756" y="2168987"/>
            <a:ext cx="1" cy="540006"/>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55" name="直線コネクタ 254">
            <a:extLst>
              <a:ext uri="{FF2B5EF4-FFF2-40B4-BE49-F238E27FC236}">
                <a16:creationId xmlns:a16="http://schemas.microsoft.com/office/drawing/2014/main" id="{C8A97C3B-A04C-7E05-6D25-AF41C1514611}"/>
              </a:ext>
            </a:extLst>
          </p:cNvPr>
          <p:cNvCxnSpPr/>
          <p:nvPr/>
        </p:nvCxnSpPr>
        <p:spPr>
          <a:xfrm flipH="1">
            <a:off x="9381756" y="2438990"/>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256" name="グループ化 255">
            <a:extLst>
              <a:ext uri="{FF2B5EF4-FFF2-40B4-BE49-F238E27FC236}">
                <a16:creationId xmlns:a16="http://schemas.microsoft.com/office/drawing/2014/main" id="{8EFD628E-2952-3604-3FEB-0D801AEA1420}"/>
              </a:ext>
            </a:extLst>
          </p:cNvPr>
          <p:cNvGrpSpPr/>
          <p:nvPr/>
        </p:nvGrpSpPr>
        <p:grpSpPr>
          <a:xfrm rot="10800000">
            <a:off x="8436026" y="2258988"/>
            <a:ext cx="90012" cy="360048"/>
            <a:chOff x="2051664" y="1988808"/>
            <a:chExt cx="90012" cy="360048"/>
          </a:xfrm>
        </p:grpSpPr>
        <p:cxnSp>
          <p:nvCxnSpPr>
            <p:cNvPr id="257" name="直線コネクタ 256">
              <a:extLst>
                <a:ext uri="{FF2B5EF4-FFF2-40B4-BE49-F238E27FC236}">
                  <a16:creationId xmlns:a16="http://schemas.microsoft.com/office/drawing/2014/main" id="{080F79D0-AAF6-C5C7-4395-59E8FCA9B32B}"/>
                </a:ext>
              </a:extLst>
            </p:cNvPr>
            <p:cNvCxnSpPr/>
            <p:nvPr/>
          </p:nvCxnSpPr>
          <p:spPr>
            <a:xfrm flipH="1">
              <a:off x="2051664"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8" name="直線コネクタ 257">
              <a:extLst>
                <a:ext uri="{FF2B5EF4-FFF2-40B4-BE49-F238E27FC236}">
                  <a16:creationId xmlns:a16="http://schemas.microsoft.com/office/drawing/2014/main" id="{1CDCD20B-6498-EDBD-101A-1CD451DAD6CF}"/>
                </a:ext>
              </a:extLst>
            </p:cNvPr>
            <p:cNvCxnSpPr/>
            <p:nvPr/>
          </p:nvCxnSpPr>
          <p:spPr>
            <a:xfrm flipH="1">
              <a:off x="2141676"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259" name="グループ化 152">
            <a:extLst>
              <a:ext uri="{FF2B5EF4-FFF2-40B4-BE49-F238E27FC236}">
                <a16:creationId xmlns:a16="http://schemas.microsoft.com/office/drawing/2014/main" id="{21CA831F-038C-0B3C-03E8-BF953732331E}"/>
              </a:ext>
            </a:extLst>
          </p:cNvPr>
          <p:cNvGrpSpPr/>
          <p:nvPr/>
        </p:nvGrpSpPr>
        <p:grpSpPr>
          <a:xfrm>
            <a:off x="8706029" y="3429001"/>
            <a:ext cx="180002" cy="90001"/>
            <a:chOff x="3643306" y="4500570"/>
            <a:chExt cx="428628" cy="144464"/>
          </a:xfrm>
        </p:grpSpPr>
        <p:cxnSp>
          <p:nvCxnSpPr>
            <p:cNvPr id="260" name="直線コネクタ 259">
              <a:extLst>
                <a:ext uri="{FF2B5EF4-FFF2-40B4-BE49-F238E27FC236}">
                  <a16:creationId xmlns:a16="http://schemas.microsoft.com/office/drawing/2014/main" id="{5997A6C3-A637-FF4C-DC5D-7F1B92858AE0}"/>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61" name="直線コネクタ 260">
              <a:extLst>
                <a:ext uri="{FF2B5EF4-FFF2-40B4-BE49-F238E27FC236}">
                  <a16:creationId xmlns:a16="http://schemas.microsoft.com/office/drawing/2014/main" id="{E214D065-1B98-516A-8CC8-ADCABC018C93}"/>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62" name="直線コネクタ 261">
              <a:extLst>
                <a:ext uri="{FF2B5EF4-FFF2-40B4-BE49-F238E27FC236}">
                  <a16:creationId xmlns:a16="http://schemas.microsoft.com/office/drawing/2014/main" id="{740DD007-BE3E-B548-2C92-E8399CDDBE03}"/>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263" name="フリーフォーム 115">
            <a:extLst>
              <a:ext uri="{FF2B5EF4-FFF2-40B4-BE49-F238E27FC236}">
                <a16:creationId xmlns:a16="http://schemas.microsoft.com/office/drawing/2014/main" id="{4705686F-3BE7-85FC-E8E8-6A5C6CE8605F}"/>
              </a:ext>
            </a:extLst>
          </p:cNvPr>
          <p:cNvSpPr/>
          <p:nvPr/>
        </p:nvSpPr>
        <p:spPr bwMode="auto">
          <a:xfrm rot="5400000" flipH="1">
            <a:off x="8166022" y="2798993"/>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dirty="0">
              <a:ln>
                <a:noFill/>
              </a:ln>
              <a:solidFill>
                <a:schemeClr val="tx1"/>
              </a:solidFill>
              <a:effectLst/>
              <a:latin typeface="Arial Narrow" pitchFamily="34" charset="0"/>
              <a:ea typeface="メイリオ" pitchFamily="50" charset="-128"/>
            </a:endParaRPr>
          </a:p>
        </p:txBody>
      </p:sp>
      <p:cxnSp>
        <p:nvCxnSpPr>
          <p:cNvPr id="264" name="直線コネクタ 263">
            <a:extLst>
              <a:ext uri="{FF2B5EF4-FFF2-40B4-BE49-F238E27FC236}">
                <a16:creationId xmlns:a16="http://schemas.microsoft.com/office/drawing/2014/main" id="{B318F468-6168-803F-F8EF-70207D14D222}"/>
              </a:ext>
            </a:extLst>
          </p:cNvPr>
          <p:cNvCxnSpPr/>
          <p:nvPr/>
        </p:nvCxnSpPr>
        <p:spPr>
          <a:xfrm>
            <a:off x="8256024" y="2438990"/>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5" name="直線コネクタ 264">
            <a:extLst>
              <a:ext uri="{FF2B5EF4-FFF2-40B4-BE49-F238E27FC236}">
                <a16:creationId xmlns:a16="http://schemas.microsoft.com/office/drawing/2014/main" id="{D8FBC1A8-15AD-E0C2-7889-8A5AD1DB91AF}"/>
              </a:ext>
            </a:extLst>
          </p:cNvPr>
          <p:cNvCxnSpPr/>
          <p:nvPr/>
        </p:nvCxnSpPr>
        <p:spPr>
          <a:xfrm>
            <a:off x="7716018" y="2438990"/>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66" name="正方形/長方形 265">
            <a:extLst>
              <a:ext uri="{FF2B5EF4-FFF2-40B4-BE49-F238E27FC236}">
                <a16:creationId xmlns:a16="http://schemas.microsoft.com/office/drawing/2014/main" id="{0310D5FD-9B50-50C0-1786-C0F2D7ADE33B}"/>
              </a:ext>
            </a:extLst>
          </p:cNvPr>
          <p:cNvSpPr/>
          <p:nvPr/>
        </p:nvSpPr>
        <p:spPr bwMode="auto">
          <a:xfrm>
            <a:off x="8526027" y="998974"/>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2000" dirty="0">
                <a:solidFill>
                  <a:schemeClr val="tx1">
                    <a:lumMod val="75000"/>
                    <a:lumOff val="25000"/>
                  </a:schemeClr>
                </a:solidFill>
              </a:rPr>
              <a:t>電源</a:t>
            </a:r>
          </a:p>
        </p:txBody>
      </p:sp>
      <p:cxnSp>
        <p:nvCxnSpPr>
          <p:cNvPr id="267" name="直線コネクタ 266">
            <a:extLst>
              <a:ext uri="{FF2B5EF4-FFF2-40B4-BE49-F238E27FC236}">
                <a16:creationId xmlns:a16="http://schemas.microsoft.com/office/drawing/2014/main" id="{A9AD57C0-8778-6E8F-3F22-A563F7907E4F}"/>
              </a:ext>
            </a:extLst>
          </p:cNvPr>
          <p:cNvCxnSpPr/>
          <p:nvPr/>
        </p:nvCxnSpPr>
        <p:spPr>
          <a:xfrm>
            <a:off x="10084619" y="2438990"/>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268" name="グループ化 267">
            <a:extLst>
              <a:ext uri="{FF2B5EF4-FFF2-40B4-BE49-F238E27FC236}">
                <a16:creationId xmlns:a16="http://schemas.microsoft.com/office/drawing/2014/main" id="{16C56780-7D35-5D7B-09E5-429CE94A1EE5}"/>
              </a:ext>
            </a:extLst>
          </p:cNvPr>
          <p:cNvGrpSpPr/>
          <p:nvPr/>
        </p:nvGrpSpPr>
        <p:grpSpPr>
          <a:xfrm rot="10800000">
            <a:off x="11316058" y="2258988"/>
            <a:ext cx="90012" cy="360048"/>
            <a:chOff x="2051664" y="1988808"/>
            <a:chExt cx="90012" cy="360048"/>
          </a:xfrm>
        </p:grpSpPr>
        <p:cxnSp>
          <p:nvCxnSpPr>
            <p:cNvPr id="269" name="直線コネクタ 268">
              <a:extLst>
                <a:ext uri="{FF2B5EF4-FFF2-40B4-BE49-F238E27FC236}">
                  <a16:creationId xmlns:a16="http://schemas.microsoft.com/office/drawing/2014/main" id="{E22D757A-D2EE-D171-190C-CBE47181E54E}"/>
                </a:ext>
              </a:extLst>
            </p:cNvPr>
            <p:cNvCxnSpPr/>
            <p:nvPr/>
          </p:nvCxnSpPr>
          <p:spPr>
            <a:xfrm flipH="1">
              <a:off x="2051664"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70" name="直線コネクタ 269">
              <a:extLst>
                <a:ext uri="{FF2B5EF4-FFF2-40B4-BE49-F238E27FC236}">
                  <a16:creationId xmlns:a16="http://schemas.microsoft.com/office/drawing/2014/main" id="{FF8B9CDE-AD5D-6999-1BCF-24F33246D53F}"/>
                </a:ext>
              </a:extLst>
            </p:cNvPr>
            <p:cNvCxnSpPr/>
            <p:nvPr/>
          </p:nvCxnSpPr>
          <p:spPr>
            <a:xfrm flipH="1">
              <a:off x="2141676"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271" name="グループ化 152">
            <a:extLst>
              <a:ext uri="{FF2B5EF4-FFF2-40B4-BE49-F238E27FC236}">
                <a16:creationId xmlns:a16="http://schemas.microsoft.com/office/drawing/2014/main" id="{6EA351C3-FCCB-F75E-1B1F-507E555136E2}"/>
              </a:ext>
            </a:extLst>
          </p:cNvPr>
          <p:cNvGrpSpPr/>
          <p:nvPr/>
        </p:nvGrpSpPr>
        <p:grpSpPr>
          <a:xfrm>
            <a:off x="11586061" y="3429001"/>
            <a:ext cx="180002" cy="90001"/>
            <a:chOff x="3643306" y="4500570"/>
            <a:chExt cx="428628" cy="144464"/>
          </a:xfrm>
        </p:grpSpPr>
        <p:cxnSp>
          <p:nvCxnSpPr>
            <p:cNvPr id="272" name="直線コネクタ 271">
              <a:extLst>
                <a:ext uri="{FF2B5EF4-FFF2-40B4-BE49-F238E27FC236}">
                  <a16:creationId xmlns:a16="http://schemas.microsoft.com/office/drawing/2014/main" id="{89FA3FE1-720F-04E8-4C56-4FEB1440C8AE}"/>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73" name="直線コネクタ 272">
              <a:extLst>
                <a:ext uri="{FF2B5EF4-FFF2-40B4-BE49-F238E27FC236}">
                  <a16:creationId xmlns:a16="http://schemas.microsoft.com/office/drawing/2014/main" id="{495B62DC-4855-6B26-250C-C7A0EC51CF3C}"/>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74" name="直線コネクタ 273">
              <a:extLst>
                <a:ext uri="{FF2B5EF4-FFF2-40B4-BE49-F238E27FC236}">
                  <a16:creationId xmlns:a16="http://schemas.microsoft.com/office/drawing/2014/main" id="{CFCFE16D-EACB-2D19-7F7B-03CFC47F898E}"/>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275" name="フリーフォーム 155">
            <a:extLst>
              <a:ext uri="{FF2B5EF4-FFF2-40B4-BE49-F238E27FC236}">
                <a16:creationId xmlns:a16="http://schemas.microsoft.com/office/drawing/2014/main" id="{F695B2BA-4E60-9D18-CD38-1016BF21E0BB}"/>
              </a:ext>
            </a:extLst>
          </p:cNvPr>
          <p:cNvSpPr/>
          <p:nvPr/>
        </p:nvSpPr>
        <p:spPr bwMode="auto">
          <a:xfrm rot="5400000" flipH="1">
            <a:off x="11046054" y="2798993"/>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dirty="0">
              <a:ln>
                <a:noFill/>
              </a:ln>
              <a:solidFill>
                <a:schemeClr val="tx1"/>
              </a:solidFill>
              <a:effectLst/>
              <a:latin typeface="Arial Narrow" pitchFamily="34" charset="0"/>
              <a:ea typeface="メイリオ" pitchFamily="50" charset="-128"/>
            </a:endParaRPr>
          </a:p>
        </p:txBody>
      </p:sp>
      <p:cxnSp>
        <p:nvCxnSpPr>
          <p:cNvPr id="276" name="直線コネクタ 275">
            <a:extLst>
              <a:ext uri="{FF2B5EF4-FFF2-40B4-BE49-F238E27FC236}">
                <a16:creationId xmlns:a16="http://schemas.microsoft.com/office/drawing/2014/main" id="{47B57984-C040-C905-082A-5ECF4793B7EA}"/>
              </a:ext>
            </a:extLst>
          </p:cNvPr>
          <p:cNvCxnSpPr/>
          <p:nvPr/>
        </p:nvCxnSpPr>
        <p:spPr>
          <a:xfrm>
            <a:off x="11136056" y="2438990"/>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7" name="直線コネクタ 276">
            <a:extLst>
              <a:ext uri="{FF2B5EF4-FFF2-40B4-BE49-F238E27FC236}">
                <a16:creationId xmlns:a16="http://schemas.microsoft.com/office/drawing/2014/main" id="{BACD9FFC-92AD-AE7C-D075-4223AF5A301C}"/>
              </a:ext>
            </a:extLst>
          </p:cNvPr>
          <p:cNvCxnSpPr/>
          <p:nvPr/>
        </p:nvCxnSpPr>
        <p:spPr>
          <a:xfrm>
            <a:off x="10596050" y="2438990"/>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78" name="曲折矢印 160">
            <a:extLst>
              <a:ext uri="{FF2B5EF4-FFF2-40B4-BE49-F238E27FC236}">
                <a16:creationId xmlns:a16="http://schemas.microsoft.com/office/drawing/2014/main" id="{5CF6907F-5BAB-6A46-9EA1-8071FEFCF1EF}"/>
              </a:ext>
            </a:extLst>
          </p:cNvPr>
          <p:cNvSpPr/>
          <p:nvPr/>
        </p:nvSpPr>
        <p:spPr bwMode="auto">
          <a:xfrm rot="10800000" flipH="1">
            <a:off x="9544614" y="1628980"/>
            <a:ext cx="1620018" cy="72000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79" name="曲折矢印 171">
            <a:extLst>
              <a:ext uri="{FF2B5EF4-FFF2-40B4-BE49-F238E27FC236}">
                <a16:creationId xmlns:a16="http://schemas.microsoft.com/office/drawing/2014/main" id="{0E1A1E00-36FE-75B6-E0DA-E6EE61A029B2}"/>
              </a:ext>
            </a:extLst>
          </p:cNvPr>
          <p:cNvSpPr/>
          <p:nvPr/>
        </p:nvSpPr>
        <p:spPr bwMode="auto">
          <a:xfrm rot="16200000" flipH="1">
            <a:off x="9859617" y="2213988"/>
            <a:ext cx="810009" cy="162001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nvGrpSpPr>
          <p:cNvPr id="4" name="グループ化 3">
            <a:extLst>
              <a:ext uri="{FF2B5EF4-FFF2-40B4-BE49-F238E27FC236}">
                <a16:creationId xmlns:a16="http://schemas.microsoft.com/office/drawing/2014/main" id="{2E3D043B-8921-48BB-8716-2573B7046D39}"/>
              </a:ext>
            </a:extLst>
          </p:cNvPr>
          <p:cNvGrpSpPr/>
          <p:nvPr/>
        </p:nvGrpSpPr>
        <p:grpSpPr>
          <a:xfrm rot="10800000">
            <a:off x="4385873" y="2618990"/>
            <a:ext cx="270036" cy="360048"/>
            <a:chOff x="1871640" y="1988808"/>
            <a:chExt cx="270036" cy="360048"/>
          </a:xfrm>
        </p:grpSpPr>
        <p:cxnSp>
          <p:nvCxnSpPr>
            <p:cNvPr id="5" name="直線コネクタ 4">
              <a:extLst>
                <a:ext uri="{FF2B5EF4-FFF2-40B4-BE49-F238E27FC236}">
                  <a16:creationId xmlns:a16="http://schemas.microsoft.com/office/drawing/2014/main" id="{E0F7A921-CD99-2AB6-ED46-61313B958459}"/>
                </a:ext>
              </a:extLst>
            </p:cNvPr>
            <p:cNvCxnSpPr/>
            <p:nvPr/>
          </p:nvCxnSpPr>
          <p:spPr>
            <a:xfrm>
              <a:off x="18716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BCB21FD5-E8EB-040D-A60C-EC04354FE39F}"/>
                </a:ext>
              </a:extLst>
            </p:cNvPr>
            <p:cNvCxnSpPr/>
            <p:nvPr/>
          </p:nvCxnSpPr>
          <p:spPr>
            <a:xfrm flipH="1">
              <a:off x="2051664"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D54486CB-8EBA-841E-23BD-AE07954C7872}"/>
                </a:ext>
              </a:extLst>
            </p:cNvPr>
            <p:cNvCxnSpPr/>
            <p:nvPr/>
          </p:nvCxnSpPr>
          <p:spPr>
            <a:xfrm>
              <a:off x="18716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09BB2687-37D8-E3BE-03A3-4884CEDCC5B2}"/>
                </a:ext>
              </a:extLst>
            </p:cNvPr>
            <p:cNvCxnSpPr/>
            <p:nvPr/>
          </p:nvCxnSpPr>
          <p:spPr>
            <a:xfrm flipH="1">
              <a:off x="2141676"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9" name="グループ化 8">
            <a:extLst>
              <a:ext uri="{FF2B5EF4-FFF2-40B4-BE49-F238E27FC236}">
                <a16:creationId xmlns:a16="http://schemas.microsoft.com/office/drawing/2014/main" id="{DBDCF0C7-F179-D3B2-7BC5-013CEEC00B57}"/>
              </a:ext>
            </a:extLst>
          </p:cNvPr>
          <p:cNvGrpSpPr/>
          <p:nvPr/>
        </p:nvGrpSpPr>
        <p:grpSpPr>
          <a:xfrm rot="16200000">
            <a:off x="3839401" y="2265454"/>
            <a:ext cx="726521" cy="353582"/>
            <a:chOff x="2675342" y="2348879"/>
            <a:chExt cx="906547" cy="360041"/>
          </a:xfrm>
        </p:grpSpPr>
        <p:sp>
          <p:nvSpPr>
            <p:cNvPr id="10" name="フリーフォーム 31">
              <a:extLst>
                <a:ext uri="{FF2B5EF4-FFF2-40B4-BE49-F238E27FC236}">
                  <a16:creationId xmlns:a16="http://schemas.microsoft.com/office/drawing/2014/main" id="{D634D1F8-317A-6893-AF62-16B4B575688E}"/>
                </a:ext>
              </a:extLst>
            </p:cNvPr>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11" name="フリーフォーム 32">
              <a:extLst>
                <a:ext uri="{FF2B5EF4-FFF2-40B4-BE49-F238E27FC236}">
                  <a16:creationId xmlns:a16="http://schemas.microsoft.com/office/drawing/2014/main" id="{70658170-7B64-E296-26CF-08E78BB025D6}"/>
                </a:ext>
              </a:extLst>
            </p:cNvPr>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pic>
        <p:nvPicPr>
          <p:cNvPr id="12" name="Picture 28" descr="NOT">
            <a:extLst>
              <a:ext uri="{FF2B5EF4-FFF2-40B4-BE49-F238E27FC236}">
                <a16:creationId xmlns:a16="http://schemas.microsoft.com/office/drawing/2014/main" id="{56F8A902-1EBF-C846-776E-E971D3ECA278}"/>
              </a:ext>
            </a:extLst>
          </p:cNvPr>
          <p:cNvPicPr>
            <a:picLocks noChangeAspect="1" noChangeArrowheads="1"/>
          </p:cNvPicPr>
          <p:nvPr/>
        </p:nvPicPr>
        <p:blipFill>
          <a:blip r:embed="rId3"/>
          <a:srcRect/>
          <a:stretch>
            <a:fillRect/>
          </a:stretch>
        </p:blipFill>
        <p:spPr bwMode="auto">
          <a:xfrm>
            <a:off x="605938" y="2078985"/>
            <a:ext cx="717550" cy="720725"/>
          </a:xfrm>
          <a:prstGeom prst="rect">
            <a:avLst/>
          </a:prstGeom>
          <a:noFill/>
        </p:spPr>
      </p:pic>
      <p:cxnSp>
        <p:nvCxnSpPr>
          <p:cNvPr id="13" name="直線コネクタ 12">
            <a:extLst>
              <a:ext uri="{FF2B5EF4-FFF2-40B4-BE49-F238E27FC236}">
                <a16:creationId xmlns:a16="http://schemas.microsoft.com/office/drawing/2014/main" id="{F7B18AEC-CEC8-5604-ECBD-140769AF624C}"/>
              </a:ext>
            </a:extLst>
          </p:cNvPr>
          <p:cNvCxnSpPr/>
          <p:nvPr/>
        </p:nvCxnSpPr>
        <p:spPr>
          <a:xfrm flipH="1" flipV="1">
            <a:off x="245935" y="2438988"/>
            <a:ext cx="450293" cy="98"/>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49AFA7FF-0B90-43C4-226A-145C664227BD}"/>
              </a:ext>
            </a:extLst>
          </p:cNvPr>
          <p:cNvCxnSpPr>
            <a:cxnSpLocks/>
          </p:cNvCxnSpPr>
          <p:nvPr/>
        </p:nvCxnSpPr>
        <p:spPr>
          <a:xfrm flipH="1">
            <a:off x="1235946" y="2438988"/>
            <a:ext cx="1170013" cy="0"/>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15" name="グループ化 152">
            <a:extLst>
              <a:ext uri="{FF2B5EF4-FFF2-40B4-BE49-F238E27FC236}">
                <a16:creationId xmlns:a16="http://schemas.microsoft.com/office/drawing/2014/main" id="{405D8347-8633-CA4B-3C66-538D0D309A85}"/>
              </a:ext>
            </a:extLst>
          </p:cNvPr>
          <p:cNvGrpSpPr/>
          <p:nvPr/>
        </p:nvGrpSpPr>
        <p:grpSpPr>
          <a:xfrm>
            <a:off x="4565875" y="3248997"/>
            <a:ext cx="180002" cy="90001"/>
            <a:chOff x="3643306" y="4500570"/>
            <a:chExt cx="428628" cy="144464"/>
          </a:xfrm>
        </p:grpSpPr>
        <p:cxnSp>
          <p:nvCxnSpPr>
            <p:cNvPr id="16" name="直線コネクタ 15">
              <a:extLst>
                <a:ext uri="{FF2B5EF4-FFF2-40B4-BE49-F238E27FC236}">
                  <a16:creationId xmlns:a16="http://schemas.microsoft.com/office/drawing/2014/main" id="{0BB796D2-2963-29CF-E757-DBE7D77DD057}"/>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7" name="直線コネクタ 16">
              <a:extLst>
                <a:ext uri="{FF2B5EF4-FFF2-40B4-BE49-F238E27FC236}">
                  <a16:creationId xmlns:a16="http://schemas.microsoft.com/office/drawing/2014/main" id="{D0453ED8-F825-2591-8EC1-B3DA71D6AAF4}"/>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8" name="直線コネクタ 17">
              <a:extLst>
                <a:ext uri="{FF2B5EF4-FFF2-40B4-BE49-F238E27FC236}">
                  <a16:creationId xmlns:a16="http://schemas.microsoft.com/office/drawing/2014/main" id="{5872F517-7626-9C29-58D0-B99AE29E0439}"/>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19" name="直線コネクタ 18">
            <a:extLst>
              <a:ext uri="{FF2B5EF4-FFF2-40B4-BE49-F238E27FC236}">
                <a16:creationId xmlns:a16="http://schemas.microsoft.com/office/drawing/2014/main" id="{3D88B108-A14B-966A-F8E0-DFB95C963AF6}"/>
              </a:ext>
            </a:extLst>
          </p:cNvPr>
          <p:cNvCxnSpPr/>
          <p:nvPr/>
        </p:nvCxnSpPr>
        <p:spPr>
          <a:xfrm flipV="1">
            <a:off x="4655877" y="2978995"/>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20" name="グループ化 19">
            <a:extLst>
              <a:ext uri="{FF2B5EF4-FFF2-40B4-BE49-F238E27FC236}">
                <a16:creationId xmlns:a16="http://schemas.microsoft.com/office/drawing/2014/main" id="{79C062D5-BC64-DC61-91BC-718CC9E9FDB1}"/>
              </a:ext>
            </a:extLst>
          </p:cNvPr>
          <p:cNvGrpSpPr/>
          <p:nvPr/>
        </p:nvGrpSpPr>
        <p:grpSpPr>
          <a:xfrm rot="10800000">
            <a:off x="4295873" y="1898982"/>
            <a:ext cx="360048" cy="360048"/>
            <a:chOff x="4662012" y="908664"/>
            <a:chExt cx="360048" cy="360048"/>
          </a:xfrm>
        </p:grpSpPr>
        <p:cxnSp>
          <p:nvCxnSpPr>
            <p:cNvPr id="21" name="直線コネクタ 20">
              <a:extLst>
                <a:ext uri="{FF2B5EF4-FFF2-40B4-BE49-F238E27FC236}">
                  <a16:creationId xmlns:a16="http://schemas.microsoft.com/office/drawing/2014/main" id="{503CBE0A-5F33-BB12-2CBA-8240F1DAB348}"/>
                </a:ext>
              </a:extLst>
            </p:cNvPr>
            <p:cNvCxnSpPr/>
            <p:nvPr/>
          </p:nvCxnSpPr>
          <p:spPr>
            <a:xfrm>
              <a:off x="4662012" y="908664"/>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9DD03AD2-AB37-4002-59BA-A58A0B7EBE4A}"/>
                </a:ext>
              </a:extLst>
            </p:cNvPr>
            <p:cNvCxnSpPr/>
            <p:nvPr/>
          </p:nvCxnSpPr>
          <p:spPr>
            <a:xfrm flipH="1">
              <a:off x="4842036"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32D830BB-510D-E6E2-B074-5125514AD484}"/>
                </a:ext>
              </a:extLst>
            </p:cNvPr>
            <p:cNvCxnSpPr/>
            <p:nvPr/>
          </p:nvCxnSpPr>
          <p:spPr>
            <a:xfrm>
              <a:off x="4662012" y="1268712"/>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9CBFEBD8-EDEF-737B-23C2-4D8C0895FF43}"/>
                </a:ext>
              </a:extLst>
            </p:cNvPr>
            <p:cNvCxnSpPr/>
            <p:nvPr/>
          </p:nvCxnSpPr>
          <p:spPr>
            <a:xfrm flipH="1">
              <a:off x="4932048"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5" name="円/楕円 27">
              <a:extLst>
                <a:ext uri="{FF2B5EF4-FFF2-40B4-BE49-F238E27FC236}">
                  <a16:creationId xmlns:a16="http://schemas.microsoft.com/office/drawing/2014/main" id="{30F5F5BA-C966-85B1-43EA-04FE1727A64E}"/>
                </a:ext>
              </a:extLst>
            </p:cNvPr>
            <p:cNvSpPr/>
            <p:nvPr/>
          </p:nvSpPr>
          <p:spPr>
            <a:xfrm flipH="1">
              <a:off x="4932048" y="1043682"/>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26" name="直線コネクタ 25">
            <a:extLst>
              <a:ext uri="{FF2B5EF4-FFF2-40B4-BE49-F238E27FC236}">
                <a16:creationId xmlns:a16="http://schemas.microsoft.com/office/drawing/2014/main" id="{5805063F-2722-FC01-EFB2-7FB5A52A824C}"/>
              </a:ext>
            </a:extLst>
          </p:cNvPr>
          <p:cNvCxnSpPr/>
          <p:nvPr/>
        </p:nvCxnSpPr>
        <p:spPr>
          <a:xfrm flipV="1">
            <a:off x="3485863" y="2438988"/>
            <a:ext cx="539898" cy="18"/>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27" name="グループ化 26">
            <a:extLst>
              <a:ext uri="{FF2B5EF4-FFF2-40B4-BE49-F238E27FC236}">
                <a16:creationId xmlns:a16="http://schemas.microsoft.com/office/drawing/2014/main" id="{4C79B2F4-8AEE-2DA5-5E2A-991667BDCBC8}"/>
              </a:ext>
            </a:extLst>
          </p:cNvPr>
          <p:cNvGrpSpPr/>
          <p:nvPr/>
        </p:nvGrpSpPr>
        <p:grpSpPr>
          <a:xfrm rot="16200000" flipV="1">
            <a:off x="4610875" y="2303987"/>
            <a:ext cx="360004" cy="270003"/>
            <a:chOff x="2675342" y="2348879"/>
            <a:chExt cx="906547" cy="360041"/>
          </a:xfrm>
        </p:grpSpPr>
        <p:sp>
          <p:nvSpPr>
            <p:cNvPr id="28" name="フリーフォーム 51">
              <a:extLst>
                <a:ext uri="{FF2B5EF4-FFF2-40B4-BE49-F238E27FC236}">
                  <a16:creationId xmlns:a16="http://schemas.microsoft.com/office/drawing/2014/main" id="{D5201598-CF2B-E4CD-A1B5-0267D5540335}"/>
                </a:ext>
              </a:extLst>
            </p:cNvPr>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29" name="フリーフォーム 52">
              <a:extLst>
                <a:ext uri="{FF2B5EF4-FFF2-40B4-BE49-F238E27FC236}">
                  <a16:creationId xmlns:a16="http://schemas.microsoft.com/office/drawing/2014/main" id="{48DD9E65-6406-A8F1-E721-BC959647C6E6}"/>
                </a:ext>
              </a:extLst>
            </p:cNvPr>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cxnSp>
        <p:nvCxnSpPr>
          <p:cNvPr id="30" name="直線コネクタ 29">
            <a:extLst>
              <a:ext uri="{FF2B5EF4-FFF2-40B4-BE49-F238E27FC236}">
                <a16:creationId xmlns:a16="http://schemas.microsoft.com/office/drawing/2014/main" id="{E56279F9-1BC2-D122-D3AA-BD085D8047CB}"/>
              </a:ext>
            </a:extLst>
          </p:cNvPr>
          <p:cNvCxnSpPr/>
          <p:nvPr/>
        </p:nvCxnSpPr>
        <p:spPr>
          <a:xfrm flipH="1">
            <a:off x="4925879" y="2438988"/>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31" name="グループ化 30">
            <a:extLst>
              <a:ext uri="{FF2B5EF4-FFF2-40B4-BE49-F238E27FC236}">
                <a16:creationId xmlns:a16="http://schemas.microsoft.com/office/drawing/2014/main" id="{B1BF6D1B-52F5-4E3F-8C32-BEFEB2CC2BC5}"/>
              </a:ext>
            </a:extLst>
          </p:cNvPr>
          <p:cNvGrpSpPr/>
          <p:nvPr/>
        </p:nvGrpSpPr>
        <p:grpSpPr>
          <a:xfrm>
            <a:off x="4565875" y="1538979"/>
            <a:ext cx="180020" cy="360033"/>
            <a:chOff x="4481992" y="1268760"/>
            <a:chExt cx="180020" cy="360033"/>
          </a:xfrm>
        </p:grpSpPr>
        <p:cxnSp>
          <p:nvCxnSpPr>
            <p:cNvPr id="32" name="直線コネクタ 31">
              <a:extLst>
                <a:ext uri="{FF2B5EF4-FFF2-40B4-BE49-F238E27FC236}">
                  <a16:creationId xmlns:a16="http://schemas.microsoft.com/office/drawing/2014/main" id="{7B5D43B5-7713-CBE6-4D3C-41FF70B222C7}"/>
                </a:ext>
              </a:extLst>
            </p:cNvPr>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635E4920-541B-7EAA-E5E4-5C7C120434BF}"/>
                </a:ext>
              </a:extLst>
            </p:cNvPr>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34" name="右矢印 58">
            <a:extLst>
              <a:ext uri="{FF2B5EF4-FFF2-40B4-BE49-F238E27FC236}">
                <a16:creationId xmlns:a16="http://schemas.microsoft.com/office/drawing/2014/main" id="{374CD998-6920-65C4-2B9F-A3A11DD21823}"/>
              </a:ext>
            </a:extLst>
          </p:cNvPr>
          <p:cNvSpPr/>
          <p:nvPr/>
        </p:nvSpPr>
        <p:spPr bwMode="auto">
          <a:xfrm>
            <a:off x="2585961" y="2168986"/>
            <a:ext cx="720008" cy="630007"/>
          </a:xfrm>
          <a:prstGeom prst="rightArrow">
            <a:avLst/>
          </a:prstGeom>
          <a:solidFill>
            <a:schemeClr val="accent5">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a:p>
        </p:txBody>
      </p:sp>
      <p:sp>
        <p:nvSpPr>
          <p:cNvPr id="35" name="右矢印 97">
            <a:extLst>
              <a:ext uri="{FF2B5EF4-FFF2-40B4-BE49-F238E27FC236}">
                <a16:creationId xmlns:a16="http://schemas.microsoft.com/office/drawing/2014/main" id="{C1E1FE4F-358F-B7FE-4641-13352AF10B2B}"/>
              </a:ext>
            </a:extLst>
          </p:cNvPr>
          <p:cNvSpPr/>
          <p:nvPr/>
        </p:nvSpPr>
        <p:spPr bwMode="auto">
          <a:xfrm>
            <a:off x="6816008" y="2168986"/>
            <a:ext cx="720008" cy="630007"/>
          </a:xfrm>
          <a:prstGeom prst="rightArrow">
            <a:avLst/>
          </a:prstGeom>
          <a:solidFill>
            <a:schemeClr val="accent5">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a:p>
        </p:txBody>
      </p:sp>
      <p:pic>
        <p:nvPicPr>
          <p:cNvPr id="36" name="Picture 28" descr="NOT">
            <a:extLst>
              <a:ext uri="{FF2B5EF4-FFF2-40B4-BE49-F238E27FC236}">
                <a16:creationId xmlns:a16="http://schemas.microsoft.com/office/drawing/2014/main" id="{7717F183-FE7F-DFA7-0FD4-2618A38417AC}"/>
              </a:ext>
            </a:extLst>
          </p:cNvPr>
          <p:cNvPicPr>
            <a:picLocks noChangeAspect="1" noChangeArrowheads="1"/>
          </p:cNvPicPr>
          <p:nvPr/>
        </p:nvPicPr>
        <p:blipFill>
          <a:blip r:embed="rId3"/>
          <a:srcRect/>
          <a:stretch>
            <a:fillRect/>
          </a:stretch>
        </p:blipFill>
        <p:spPr bwMode="auto">
          <a:xfrm>
            <a:off x="1505948" y="2078985"/>
            <a:ext cx="717550" cy="720725"/>
          </a:xfrm>
          <a:prstGeom prst="rect">
            <a:avLst/>
          </a:prstGeom>
          <a:noFill/>
        </p:spPr>
      </p:pic>
      <p:grpSp>
        <p:nvGrpSpPr>
          <p:cNvPr id="38" name="グループ化 37">
            <a:extLst>
              <a:ext uri="{FF2B5EF4-FFF2-40B4-BE49-F238E27FC236}">
                <a16:creationId xmlns:a16="http://schemas.microsoft.com/office/drawing/2014/main" id="{7229B79E-20E6-CE3C-C304-4D8E67C61F92}"/>
              </a:ext>
            </a:extLst>
          </p:cNvPr>
          <p:cNvGrpSpPr/>
          <p:nvPr/>
        </p:nvGrpSpPr>
        <p:grpSpPr>
          <a:xfrm rot="10800000">
            <a:off x="5825889" y="2618990"/>
            <a:ext cx="270036" cy="360048"/>
            <a:chOff x="1871640" y="1988808"/>
            <a:chExt cx="270036" cy="360048"/>
          </a:xfrm>
        </p:grpSpPr>
        <p:cxnSp>
          <p:nvCxnSpPr>
            <p:cNvPr id="39" name="直線コネクタ 38">
              <a:extLst>
                <a:ext uri="{FF2B5EF4-FFF2-40B4-BE49-F238E27FC236}">
                  <a16:creationId xmlns:a16="http://schemas.microsoft.com/office/drawing/2014/main" id="{B962978D-5E46-B02A-4866-8377DE41B7B1}"/>
                </a:ext>
              </a:extLst>
            </p:cNvPr>
            <p:cNvCxnSpPr/>
            <p:nvPr/>
          </p:nvCxnSpPr>
          <p:spPr>
            <a:xfrm>
              <a:off x="18716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D1A5A474-81B0-A66B-1407-3DF1D3C654A2}"/>
                </a:ext>
              </a:extLst>
            </p:cNvPr>
            <p:cNvCxnSpPr/>
            <p:nvPr/>
          </p:nvCxnSpPr>
          <p:spPr>
            <a:xfrm flipH="1">
              <a:off x="2051664"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86ACF16A-F81C-2F8D-515E-59B3E88D9A5F}"/>
                </a:ext>
              </a:extLst>
            </p:cNvPr>
            <p:cNvCxnSpPr/>
            <p:nvPr/>
          </p:nvCxnSpPr>
          <p:spPr>
            <a:xfrm>
              <a:off x="18716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BCF62F2E-DAB9-B4CE-693C-5F25B03B095B}"/>
                </a:ext>
              </a:extLst>
            </p:cNvPr>
            <p:cNvCxnSpPr/>
            <p:nvPr/>
          </p:nvCxnSpPr>
          <p:spPr>
            <a:xfrm flipH="1">
              <a:off x="2141676"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43" name="グループ化 42">
            <a:extLst>
              <a:ext uri="{FF2B5EF4-FFF2-40B4-BE49-F238E27FC236}">
                <a16:creationId xmlns:a16="http://schemas.microsoft.com/office/drawing/2014/main" id="{30EC738D-778A-B88F-B932-4C4954ADDBE9}"/>
              </a:ext>
            </a:extLst>
          </p:cNvPr>
          <p:cNvGrpSpPr/>
          <p:nvPr/>
        </p:nvGrpSpPr>
        <p:grpSpPr>
          <a:xfrm rot="16200000">
            <a:off x="5279417" y="2265454"/>
            <a:ext cx="726521" cy="353582"/>
            <a:chOff x="2675342" y="2348879"/>
            <a:chExt cx="906547" cy="360041"/>
          </a:xfrm>
        </p:grpSpPr>
        <p:sp>
          <p:nvSpPr>
            <p:cNvPr id="44" name="フリーフォーム 31">
              <a:extLst>
                <a:ext uri="{FF2B5EF4-FFF2-40B4-BE49-F238E27FC236}">
                  <a16:creationId xmlns:a16="http://schemas.microsoft.com/office/drawing/2014/main" id="{9028DD98-E6C1-0389-9A4F-769CBF417E9A}"/>
                </a:ext>
              </a:extLst>
            </p:cNvPr>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45" name="フリーフォーム 32">
              <a:extLst>
                <a:ext uri="{FF2B5EF4-FFF2-40B4-BE49-F238E27FC236}">
                  <a16:creationId xmlns:a16="http://schemas.microsoft.com/office/drawing/2014/main" id="{520ADF19-FF40-EA81-CBAF-7207B07A3255}"/>
                </a:ext>
              </a:extLst>
            </p:cNvPr>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grpSp>
        <p:nvGrpSpPr>
          <p:cNvPr id="46" name="グループ化 152">
            <a:extLst>
              <a:ext uri="{FF2B5EF4-FFF2-40B4-BE49-F238E27FC236}">
                <a16:creationId xmlns:a16="http://schemas.microsoft.com/office/drawing/2014/main" id="{33F258AA-CB87-1CBD-F76D-9F4920F1294A}"/>
              </a:ext>
            </a:extLst>
          </p:cNvPr>
          <p:cNvGrpSpPr/>
          <p:nvPr/>
        </p:nvGrpSpPr>
        <p:grpSpPr>
          <a:xfrm>
            <a:off x="6005891" y="3248997"/>
            <a:ext cx="180002" cy="90001"/>
            <a:chOff x="3643306" y="4500570"/>
            <a:chExt cx="428628" cy="144464"/>
          </a:xfrm>
        </p:grpSpPr>
        <p:cxnSp>
          <p:nvCxnSpPr>
            <p:cNvPr id="47" name="直線コネクタ 46">
              <a:extLst>
                <a:ext uri="{FF2B5EF4-FFF2-40B4-BE49-F238E27FC236}">
                  <a16:creationId xmlns:a16="http://schemas.microsoft.com/office/drawing/2014/main" id="{F4D0B76A-1126-E2B6-0624-5AF53B66718C}"/>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48" name="直線コネクタ 47">
              <a:extLst>
                <a:ext uri="{FF2B5EF4-FFF2-40B4-BE49-F238E27FC236}">
                  <a16:creationId xmlns:a16="http://schemas.microsoft.com/office/drawing/2014/main" id="{2F4BC102-4ACC-5824-BBC9-821B4A1BCFCE}"/>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49" name="直線コネクタ 48">
              <a:extLst>
                <a:ext uri="{FF2B5EF4-FFF2-40B4-BE49-F238E27FC236}">
                  <a16:creationId xmlns:a16="http://schemas.microsoft.com/office/drawing/2014/main" id="{27EAE194-1F40-7037-413B-2ED820886740}"/>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50" name="直線コネクタ 49">
            <a:extLst>
              <a:ext uri="{FF2B5EF4-FFF2-40B4-BE49-F238E27FC236}">
                <a16:creationId xmlns:a16="http://schemas.microsoft.com/office/drawing/2014/main" id="{C78BB951-F9E5-B545-52FC-484475358BF2}"/>
              </a:ext>
            </a:extLst>
          </p:cNvPr>
          <p:cNvCxnSpPr/>
          <p:nvPr/>
        </p:nvCxnSpPr>
        <p:spPr>
          <a:xfrm flipV="1">
            <a:off x="6095893" y="2978995"/>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51" name="グループ化 50">
            <a:extLst>
              <a:ext uri="{FF2B5EF4-FFF2-40B4-BE49-F238E27FC236}">
                <a16:creationId xmlns:a16="http://schemas.microsoft.com/office/drawing/2014/main" id="{3F67A68D-80C5-E875-4E54-7A8F18B50567}"/>
              </a:ext>
            </a:extLst>
          </p:cNvPr>
          <p:cNvGrpSpPr/>
          <p:nvPr/>
        </p:nvGrpSpPr>
        <p:grpSpPr>
          <a:xfrm rot="10800000">
            <a:off x="5735889" y="1898982"/>
            <a:ext cx="360048" cy="360048"/>
            <a:chOff x="4662012" y="908664"/>
            <a:chExt cx="360048" cy="360048"/>
          </a:xfrm>
        </p:grpSpPr>
        <p:cxnSp>
          <p:nvCxnSpPr>
            <p:cNvPr id="52" name="直線コネクタ 51">
              <a:extLst>
                <a:ext uri="{FF2B5EF4-FFF2-40B4-BE49-F238E27FC236}">
                  <a16:creationId xmlns:a16="http://schemas.microsoft.com/office/drawing/2014/main" id="{5686F2B3-8708-189F-6DAB-3B0F93FDC0A2}"/>
                </a:ext>
              </a:extLst>
            </p:cNvPr>
            <p:cNvCxnSpPr/>
            <p:nvPr/>
          </p:nvCxnSpPr>
          <p:spPr>
            <a:xfrm>
              <a:off x="4662012" y="908664"/>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8A8E56BF-49DB-BAEA-EBCF-3CC0780DC98C}"/>
                </a:ext>
              </a:extLst>
            </p:cNvPr>
            <p:cNvCxnSpPr/>
            <p:nvPr/>
          </p:nvCxnSpPr>
          <p:spPr>
            <a:xfrm flipH="1">
              <a:off x="4842036"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2CCCAF93-C344-BF4C-403D-F444919DA17F}"/>
                </a:ext>
              </a:extLst>
            </p:cNvPr>
            <p:cNvCxnSpPr/>
            <p:nvPr/>
          </p:nvCxnSpPr>
          <p:spPr>
            <a:xfrm>
              <a:off x="4662012" y="1268712"/>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E87A4B5-8057-2FCE-DAF8-74F6AFAECDC1}"/>
                </a:ext>
              </a:extLst>
            </p:cNvPr>
            <p:cNvCxnSpPr/>
            <p:nvPr/>
          </p:nvCxnSpPr>
          <p:spPr>
            <a:xfrm flipH="1">
              <a:off x="4932048"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56" name="円/楕円 27">
              <a:extLst>
                <a:ext uri="{FF2B5EF4-FFF2-40B4-BE49-F238E27FC236}">
                  <a16:creationId xmlns:a16="http://schemas.microsoft.com/office/drawing/2014/main" id="{86FFF8D3-60ED-7A80-DDCB-4140D51FDBBC}"/>
                </a:ext>
              </a:extLst>
            </p:cNvPr>
            <p:cNvSpPr/>
            <p:nvPr/>
          </p:nvSpPr>
          <p:spPr>
            <a:xfrm flipH="1">
              <a:off x="4932048" y="1043682"/>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57" name="直線コネクタ 56">
            <a:extLst>
              <a:ext uri="{FF2B5EF4-FFF2-40B4-BE49-F238E27FC236}">
                <a16:creationId xmlns:a16="http://schemas.microsoft.com/office/drawing/2014/main" id="{2A98A88F-CE62-44A1-CF4A-EA2ADCAF4591}"/>
              </a:ext>
            </a:extLst>
          </p:cNvPr>
          <p:cNvCxnSpPr/>
          <p:nvPr/>
        </p:nvCxnSpPr>
        <p:spPr>
          <a:xfrm flipV="1">
            <a:off x="4925879" y="2438988"/>
            <a:ext cx="539898" cy="18"/>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58" name="グループ化 57">
            <a:extLst>
              <a:ext uri="{FF2B5EF4-FFF2-40B4-BE49-F238E27FC236}">
                <a16:creationId xmlns:a16="http://schemas.microsoft.com/office/drawing/2014/main" id="{3B09C89B-AC7A-564E-011D-641D95992366}"/>
              </a:ext>
            </a:extLst>
          </p:cNvPr>
          <p:cNvGrpSpPr/>
          <p:nvPr/>
        </p:nvGrpSpPr>
        <p:grpSpPr>
          <a:xfrm rot="16200000" flipV="1">
            <a:off x="6050891" y="2303987"/>
            <a:ext cx="360004" cy="270003"/>
            <a:chOff x="2675342" y="2348879"/>
            <a:chExt cx="906547" cy="360041"/>
          </a:xfrm>
        </p:grpSpPr>
        <p:sp>
          <p:nvSpPr>
            <p:cNvPr id="59" name="フリーフォーム 51">
              <a:extLst>
                <a:ext uri="{FF2B5EF4-FFF2-40B4-BE49-F238E27FC236}">
                  <a16:creationId xmlns:a16="http://schemas.microsoft.com/office/drawing/2014/main" id="{14F0A00E-8AAA-9805-A4D1-48059CB56AC0}"/>
                </a:ext>
              </a:extLst>
            </p:cNvPr>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60" name="フリーフォーム 52">
              <a:extLst>
                <a:ext uri="{FF2B5EF4-FFF2-40B4-BE49-F238E27FC236}">
                  <a16:creationId xmlns:a16="http://schemas.microsoft.com/office/drawing/2014/main" id="{FF1CA129-3445-126D-7B4C-51A02B31344C}"/>
                </a:ext>
              </a:extLst>
            </p:cNvPr>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cxnSp>
        <p:nvCxnSpPr>
          <p:cNvPr id="61" name="直線コネクタ 60">
            <a:extLst>
              <a:ext uri="{FF2B5EF4-FFF2-40B4-BE49-F238E27FC236}">
                <a16:creationId xmlns:a16="http://schemas.microsoft.com/office/drawing/2014/main" id="{CD903319-9127-2BFA-2231-D77C6F019C10}"/>
              </a:ext>
            </a:extLst>
          </p:cNvPr>
          <p:cNvCxnSpPr/>
          <p:nvPr/>
        </p:nvCxnSpPr>
        <p:spPr>
          <a:xfrm flipH="1">
            <a:off x="6365895" y="2438988"/>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62" name="グループ化 61">
            <a:extLst>
              <a:ext uri="{FF2B5EF4-FFF2-40B4-BE49-F238E27FC236}">
                <a16:creationId xmlns:a16="http://schemas.microsoft.com/office/drawing/2014/main" id="{45553225-7B77-892E-72DB-C03AEDCBBDE4}"/>
              </a:ext>
            </a:extLst>
          </p:cNvPr>
          <p:cNvGrpSpPr/>
          <p:nvPr/>
        </p:nvGrpSpPr>
        <p:grpSpPr>
          <a:xfrm>
            <a:off x="6005891" y="1538979"/>
            <a:ext cx="180020" cy="360033"/>
            <a:chOff x="4481992" y="1268760"/>
            <a:chExt cx="180020" cy="360033"/>
          </a:xfrm>
        </p:grpSpPr>
        <p:cxnSp>
          <p:nvCxnSpPr>
            <p:cNvPr id="63" name="直線コネクタ 62">
              <a:extLst>
                <a:ext uri="{FF2B5EF4-FFF2-40B4-BE49-F238E27FC236}">
                  <a16:creationId xmlns:a16="http://schemas.microsoft.com/office/drawing/2014/main" id="{F685664C-E527-4A80-6FDA-83AC2277EF20}"/>
                </a:ext>
              </a:extLst>
            </p:cNvPr>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2" name="直線コネクタ 191">
              <a:extLst>
                <a:ext uri="{FF2B5EF4-FFF2-40B4-BE49-F238E27FC236}">
                  <a16:creationId xmlns:a16="http://schemas.microsoft.com/office/drawing/2014/main" id="{AC687CAA-FD6A-AECB-7841-910B161A65F0}"/>
                </a:ext>
              </a:extLst>
            </p:cNvPr>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93" name="曲折矢印 160">
            <a:extLst>
              <a:ext uri="{FF2B5EF4-FFF2-40B4-BE49-F238E27FC236}">
                <a16:creationId xmlns:a16="http://schemas.microsoft.com/office/drawing/2014/main" id="{B7C6D678-8F9B-A044-0F56-D9920092127E}"/>
              </a:ext>
            </a:extLst>
          </p:cNvPr>
          <p:cNvSpPr/>
          <p:nvPr/>
        </p:nvSpPr>
        <p:spPr bwMode="auto">
          <a:xfrm rot="10800000" flipH="1">
            <a:off x="4835986" y="1538978"/>
            <a:ext cx="630007" cy="72000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94" name="曲折矢印 171">
            <a:extLst>
              <a:ext uri="{FF2B5EF4-FFF2-40B4-BE49-F238E27FC236}">
                <a16:creationId xmlns:a16="http://schemas.microsoft.com/office/drawing/2014/main" id="{FDEF550E-5638-CDDB-AC89-BCCF067D8B82}"/>
              </a:ext>
            </a:extLst>
          </p:cNvPr>
          <p:cNvSpPr/>
          <p:nvPr/>
        </p:nvSpPr>
        <p:spPr bwMode="auto">
          <a:xfrm rot="16200000" flipH="1">
            <a:off x="4655984" y="2618992"/>
            <a:ext cx="810009" cy="630007"/>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7" name="正方形/長方形 36">
            <a:extLst>
              <a:ext uri="{FF2B5EF4-FFF2-40B4-BE49-F238E27FC236}">
                <a16:creationId xmlns:a16="http://schemas.microsoft.com/office/drawing/2014/main" id="{FA1C8BE8-B588-289F-5270-76C8163A829B}"/>
              </a:ext>
            </a:extLst>
          </p:cNvPr>
          <p:cNvSpPr/>
          <p:nvPr/>
        </p:nvSpPr>
        <p:spPr bwMode="auto">
          <a:xfrm>
            <a:off x="7806019" y="2528990"/>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2000" dirty="0">
                <a:solidFill>
                  <a:schemeClr val="tx1">
                    <a:lumMod val="75000"/>
                    <a:lumOff val="25000"/>
                  </a:schemeClr>
                </a:solidFill>
              </a:rPr>
              <a:t>コンデンサ</a:t>
            </a:r>
          </a:p>
        </p:txBody>
      </p:sp>
    </p:spTree>
    <p:extLst>
      <p:ext uri="{BB962C8B-B14F-4D97-AF65-F5344CB8AC3E}">
        <p14:creationId xmlns:p14="http://schemas.microsoft.com/office/powerpoint/2010/main" val="15114894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20DA14-088E-E4A8-9DF1-D943987ADAE6}"/>
              </a:ext>
            </a:extLst>
          </p:cNvPr>
          <p:cNvSpPr>
            <a:spLocks noGrp="1"/>
          </p:cNvSpPr>
          <p:nvPr>
            <p:ph type="title"/>
          </p:nvPr>
        </p:nvSpPr>
        <p:spPr/>
        <p:txBody>
          <a:bodyPr/>
          <a:lstStyle/>
          <a:p>
            <a:r>
              <a:rPr kumimoji="1" lang="ja-JP" altLang="en-US" dirty="0"/>
              <a:t>これも水流で考える</a:t>
            </a:r>
            <a:endParaRPr kumimoji="1" lang="en-US" dirty="0"/>
          </a:p>
        </p:txBody>
      </p:sp>
      <p:sp>
        <p:nvSpPr>
          <p:cNvPr id="3" name="テキスト プレースホルダー 2">
            <a:extLst>
              <a:ext uri="{FF2B5EF4-FFF2-40B4-BE49-F238E27FC236}">
                <a16:creationId xmlns:a16="http://schemas.microsoft.com/office/drawing/2014/main" id="{890EE345-485C-03AB-4F9D-6EC7336BF1A2}"/>
              </a:ext>
            </a:extLst>
          </p:cNvPr>
          <p:cNvSpPr>
            <a:spLocks noGrp="1"/>
          </p:cNvSpPr>
          <p:nvPr>
            <p:ph type="body" sz="quarter" idx="10"/>
          </p:nvPr>
        </p:nvSpPr>
        <p:spPr>
          <a:xfrm>
            <a:off x="515938" y="1268976"/>
            <a:ext cx="5040056" cy="1620018"/>
          </a:xfrm>
        </p:spPr>
        <p:txBody>
          <a:bodyPr/>
          <a:lstStyle/>
          <a:p>
            <a:r>
              <a:rPr lang="ja-JP" altLang="en-US" dirty="0"/>
              <a:t>電流を流して失われるエネルギー</a:t>
            </a:r>
            <a:endParaRPr lang="en-US" altLang="ja-JP" dirty="0"/>
          </a:p>
          <a:p>
            <a:pPr lvl="1"/>
            <a:r>
              <a:rPr lang="ja-JP" altLang="en-US" dirty="0"/>
              <a:t>コンデンサに溜まる</a:t>
            </a:r>
            <a:br>
              <a:rPr lang="en-US" altLang="ja-JP" dirty="0"/>
            </a:br>
            <a:r>
              <a:rPr lang="ja-JP" altLang="en-US" dirty="0"/>
              <a:t>電荷の量：</a:t>
            </a:r>
            <a:r>
              <a:rPr lang="en-US" altLang="ja-JP" dirty="0"/>
              <a:t>	Q</a:t>
            </a:r>
          </a:p>
          <a:p>
            <a:pPr lvl="1"/>
            <a:r>
              <a:rPr lang="ja-JP" altLang="en-US" dirty="0"/>
              <a:t>電圧：</a:t>
            </a:r>
            <a:r>
              <a:rPr lang="en-US" altLang="ja-JP" dirty="0"/>
              <a:t>	V</a:t>
            </a:r>
          </a:p>
          <a:p>
            <a:pPr lvl="1"/>
            <a:r>
              <a:rPr lang="ja-JP" altLang="en-US" dirty="0"/>
              <a:t>消費エネルギー：</a:t>
            </a:r>
            <a:r>
              <a:rPr lang="en-US" altLang="ja-JP" dirty="0"/>
              <a:t>Q × V</a:t>
            </a:r>
            <a:endParaRPr kumimoji="1" lang="en-US" altLang="ja-JP" dirty="0"/>
          </a:p>
        </p:txBody>
      </p:sp>
      <p:grpSp>
        <p:nvGrpSpPr>
          <p:cNvPr id="280" name="グループ化 279">
            <a:extLst>
              <a:ext uri="{FF2B5EF4-FFF2-40B4-BE49-F238E27FC236}">
                <a16:creationId xmlns:a16="http://schemas.microsoft.com/office/drawing/2014/main" id="{87E8DC6F-0E26-5AA1-1C84-D3C528E58F6D}"/>
              </a:ext>
            </a:extLst>
          </p:cNvPr>
          <p:cNvGrpSpPr/>
          <p:nvPr/>
        </p:nvGrpSpPr>
        <p:grpSpPr>
          <a:xfrm rot="5400000">
            <a:off x="2952866" y="4875918"/>
            <a:ext cx="67531" cy="337533"/>
            <a:chOff x="3401870" y="728700"/>
            <a:chExt cx="180020" cy="405045"/>
          </a:xfrm>
        </p:grpSpPr>
        <p:cxnSp>
          <p:nvCxnSpPr>
            <p:cNvPr id="281" name="直線コネクタ 280">
              <a:extLst>
                <a:ext uri="{FF2B5EF4-FFF2-40B4-BE49-F238E27FC236}">
                  <a16:creationId xmlns:a16="http://schemas.microsoft.com/office/drawing/2014/main" id="{DF7AD983-6064-C52B-288A-AEA968F7945E}"/>
                </a:ext>
              </a:extLst>
            </p:cNvPr>
            <p:cNvCxnSpPr/>
            <p:nvPr/>
          </p:nvCxnSpPr>
          <p:spPr>
            <a:xfrm>
              <a:off x="3401870" y="77370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2" name="直線コネクタ 281">
              <a:extLst>
                <a:ext uri="{FF2B5EF4-FFF2-40B4-BE49-F238E27FC236}">
                  <a16:creationId xmlns:a16="http://schemas.microsoft.com/office/drawing/2014/main" id="{F53F85C4-DD11-47DA-A52D-ACCB5B1A0C64}"/>
                </a:ext>
              </a:extLst>
            </p:cNvPr>
            <p:cNvCxnSpPr/>
            <p:nvPr/>
          </p:nvCxnSpPr>
          <p:spPr>
            <a:xfrm flipV="1">
              <a:off x="3401870" y="81871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3" name="直線コネクタ 282">
              <a:extLst>
                <a:ext uri="{FF2B5EF4-FFF2-40B4-BE49-F238E27FC236}">
                  <a16:creationId xmlns:a16="http://schemas.microsoft.com/office/drawing/2014/main" id="{4143C739-3F32-CF6B-3160-F3F55691CD25}"/>
                </a:ext>
              </a:extLst>
            </p:cNvPr>
            <p:cNvCxnSpPr/>
            <p:nvPr/>
          </p:nvCxnSpPr>
          <p:spPr>
            <a:xfrm>
              <a:off x="3401870" y="86371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4" name="直線コネクタ 283">
              <a:extLst>
                <a:ext uri="{FF2B5EF4-FFF2-40B4-BE49-F238E27FC236}">
                  <a16:creationId xmlns:a16="http://schemas.microsoft.com/office/drawing/2014/main" id="{37E6B02B-EDC7-ACFD-20BD-01D999F264ED}"/>
                </a:ext>
              </a:extLst>
            </p:cNvPr>
            <p:cNvCxnSpPr/>
            <p:nvPr/>
          </p:nvCxnSpPr>
          <p:spPr>
            <a:xfrm flipV="1">
              <a:off x="3401870" y="90872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5" name="直線コネクタ 284">
              <a:extLst>
                <a:ext uri="{FF2B5EF4-FFF2-40B4-BE49-F238E27FC236}">
                  <a16:creationId xmlns:a16="http://schemas.microsoft.com/office/drawing/2014/main" id="{B18458F7-DE9C-C9CA-CFAE-D0F61A8B488C}"/>
                </a:ext>
              </a:extLst>
            </p:cNvPr>
            <p:cNvCxnSpPr/>
            <p:nvPr/>
          </p:nvCxnSpPr>
          <p:spPr>
            <a:xfrm>
              <a:off x="3401870" y="95372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6" name="直線コネクタ 285">
              <a:extLst>
                <a:ext uri="{FF2B5EF4-FFF2-40B4-BE49-F238E27FC236}">
                  <a16:creationId xmlns:a16="http://schemas.microsoft.com/office/drawing/2014/main" id="{6423D681-AF69-FA83-9F88-886EBBE5AAB5}"/>
                </a:ext>
              </a:extLst>
            </p:cNvPr>
            <p:cNvCxnSpPr/>
            <p:nvPr/>
          </p:nvCxnSpPr>
          <p:spPr>
            <a:xfrm flipV="1">
              <a:off x="3401870" y="99873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7" name="直線コネクタ 286">
              <a:extLst>
                <a:ext uri="{FF2B5EF4-FFF2-40B4-BE49-F238E27FC236}">
                  <a16:creationId xmlns:a16="http://schemas.microsoft.com/office/drawing/2014/main" id="{DAF8C162-9238-1283-AF90-D59A1528A454}"/>
                </a:ext>
              </a:extLst>
            </p:cNvPr>
            <p:cNvCxnSpPr/>
            <p:nvPr/>
          </p:nvCxnSpPr>
          <p:spPr>
            <a:xfrm>
              <a:off x="3401870" y="104373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8" name="直線コネクタ 287">
              <a:extLst>
                <a:ext uri="{FF2B5EF4-FFF2-40B4-BE49-F238E27FC236}">
                  <a16:creationId xmlns:a16="http://schemas.microsoft.com/office/drawing/2014/main" id="{C224398F-A115-38BE-FFC4-40BE2170766F}"/>
                </a:ext>
              </a:extLst>
            </p:cNvPr>
            <p:cNvCxnSpPr/>
            <p:nvPr/>
          </p:nvCxnSpPr>
          <p:spPr>
            <a:xfrm flipV="1">
              <a:off x="3491880" y="1088741"/>
              <a:ext cx="90010" cy="45004"/>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9" name="直線コネクタ 288">
              <a:extLst>
                <a:ext uri="{FF2B5EF4-FFF2-40B4-BE49-F238E27FC236}">
                  <a16:creationId xmlns:a16="http://schemas.microsoft.com/office/drawing/2014/main" id="{66F2480F-913F-2BA9-3173-7E2956321836}"/>
                </a:ext>
              </a:extLst>
            </p:cNvPr>
            <p:cNvCxnSpPr/>
            <p:nvPr/>
          </p:nvCxnSpPr>
          <p:spPr>
            <a:xfrm flipV="1">
              <a:off x="3401870" y="728700"/>
              <a:ext cx="9001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290" name="グループ化 289">
            <a:extLst>
              <a:ext uri="{FF2B5EF4-FFF2-40B4-BE49-F238E27FC236}">
                <a16:creationId xmlns:a16="http://schemas.microsoft.com/office/drawing/2014/main" id="{A9D15278-5ECA-1FE2-752D-70FDC3658919}"/>
              </a:ext>
            </a:extLst>
          </p:cNvPr>
          <p:cNvGrpSpPr/>
          <p:nvPr/>
        </p:nvGrpSpPr>
        <p:grpSpPr>
          <a:xfrm>
            <a:off x="2254533" y="5319022"/>
            <a:ext cx="270012" cy="450012"/>
            <a:chOff x="5787000" y="1944000"/>
            <a:chExt cx="270012" cy="450012"/>
          </a:xfrm>
        </p:grpSpPr>
        <p:cxnSp>
          <p:nvCxnSpPr>
            <p:cNvPr id="291" name="直線コネクタ 290">
              <a:extLst>
                <a:ext uri="{FF2B5EF4-FFF2-40B4-BE49-F238E27FC236}">
                  <a16:creationId xmlns:a16="http://schemas.microsoft.com/office/drawing/2014/main" id="{5C4C3ECF-EC47-5396-8C7A-3045D7BB3F35}"/>
                </a:ext>
              </a:extLst>
            </p:cNvPr>
            <p:cNvCxnSpPr/>
            <p:nvPr/>
          </p:nvCxnSpPr>
          <p:spPr>
            <a:xfrm>
              <a:off x="5787000" y="1989000"/>
              <a:ext cx="225004" cy="360003"/>
            </a:xfrm>
            <a:prstGeom prst="line">
              <a:avLst/>
            </a:prstGeom>
            <a:ln w="38100"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92" name="円/楕円 92">
              <a:extLst>
                <a:ext uri="{FF2B5EF4-FFF2-40B4-BE49-F238E27FC236}">
                  <a16:creationId xmlns:a16="http://schemas.microsoft.com/office/drawing/2014/main" id="{0BEF045E-7B98-29EF-2E79-5AE46A16A7F9}"/>
                </a:ext>
              </a:extLst>
            </p:cNvPr>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sp>
          <p:nvSpPr>
            <p:cNvPr id="293" name="円/楕円 93">
              <a:extLst>
                <a:ext uri="{FF2B5EF4-FFF2-40B4-BE49-F238E27FC236}">
                  <a16:creationId xmlns:a16="http://schemas.microsoft.com/office/drawing/2014/main" id="{6D4AA102-FD31-D78B-51A8-ACCBEB325519}"/>
                </a:ext>
              </a:extLst>
            </p:cNvPr>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grpSp>
        <p:nvGrpSpPr>
          <p:cNvPr id="294" name="グループ化 293">
            <a:extLst>
              <a:ext uri="{FF2B5EF4-FFF2-40B4-BE49-F238E27FC236}">
                <a16:creationId xmlns:a16="http://schemas.microsoft.com/office/drawing/2014/main" id="{AA8D6560-CAC6-AAD5-F707-C974AAE396A8}"/>
              </a:ext>
            </a:extLst>
          </p:cNvPr>
          <p:cNvGrpSpPr/>
          <p:nvPr/>
        </p:nvGrpSpPr>
        <p:grpSpPr>
          <a:xfrm>
            <a:off x="2434535" y="4329011"/>
            <a:ext cx="90012" cy="450012"/>
            <a:chOff x="5967000" y="1944000"/>
            <a:chExt cx="90012" cy="450012"/>
          </a:xfrm>
        </p:grpSpPr>
        <p:cxnSp>
          <p:nvCxnSpPr>
            <p:cNvPr id="295" name="直線コネクタ 294">
              <a:extLst>
                <a:ext uri="{FF2B5EF4-FFF2-40B4-BE49-F238E27FC236}">
                  <a16:creationId xmlns:a16="http://schemas.microsoft.com/office/drawing/2014/main" id="{50AC0D7D-0236-FDE7-4D3C-F3F04D04D22A}"/>
                </a:ext>
              </a:extLst>
            </p:cNvPr>
            <p:cNvCxnSpPr>
              <a:stCxn id="297" idx="0"/>
            </p:cNvCxnSpPr>
            <p:nvPr/>
          </p:nvCxnSpPr>
          <p:spPr>
            <a:xfrm>
              <a:off x="5967000" y="1989006"/>
              <a:ext cx="45004" cy="359997"/>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96" name="円/楕円 96">
              <a:extLst>
                <a:ext uri="{FF2B5EF4-FFF2-40B4-BE49-F238E27FC236}">
                  <a16:creationId xmlns:a16="http://schemas.microsoft.com/office/drawing/2014/main" id="{85F2BBD3-C88C-9C1F-745E-4EB1184327F9}"/>
                </a:ext>
              </a:extLst>
            </p:cNvPr>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sp>
          <p:nvSpPr>
            <p:cNvPr id="297" name="円/楕円 97">
              <a:extLst>
                <a:ext uri="{FF2B5EF4-FFF2-40B4-BE49-F238E27FC236}">
                  <a16:creationId xmlns:a16="http://schemas.microsoft.com/office/drawing/2014/main" id="{3D16C544-A10C-3448-8EF7-EC1371A07EDE}"/>
                </a:ext>
              </a:extLst>
            </p:cNvPr>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grpSp>
        <p:nvGrpSpPr>
          <p:cNvPr id="298" name="グループ化 152">
            <a:extLst>
              <a:ext uri="{FF2B5EF4-FFF2-40B4-BE49-F238E27FC236}">
                <a16:creationId xmlns:a16="http://schemas.microsoft.com/office/drawing/2014/main" id="{0739F56B-5C3A-54C9-9E14-36FE0224CFC0}"/>
              </a:ext>
            </a:extLst>
          </p:cNvPr>
          <p:cNvGrpSpPr/>
          <p:nvPr/>
        </p:nvGrpSpPr>
        <p:grpSpPr>
          <a:xfrm>
            <a:off x="2361679" y="6039029"/>
            <a:ext cx="180002" cy="90001"/>
            <a:chOff x="3643306" y="4500570"/>
            <a:chExt cx="428628" cy="144464"/>
          </a:xfrm>
        </p:grpSpPr>
        <p:cxnSp>
          <p:nvCxnSpPr>
            <p:cNvPr id="299" name="直線コネクタ 298">
              <a:extLst>
                <a:ext uri="{FF2B5EF4-FFF2-40B4-BE49-F238E27FC236}">
                  <a16:creationId xmlns:a16="http://schemas.microsoft.com/office/drawing/2014/main" id="{EB41CCC5-9CC5-CEE5-C9B0-EB0CD2A1C0EE}"/>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300" name="直線コネクタ 299">
              <a:extLst>
                <a:ext uri="{FF2B5EF4-FFF2-40B4-BE49-F238E27FC236}">
                  <a16:creationId xmlns:a16="http://schemas.microsoft.com/office/drawing/2014/main" id="{092FA289-7A20-5BD0-C842-6AA473A2A55A}"/>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301" name="直線コネクタ 300">
              <a:extLst>
                <a:ext uri="{FF2B5EF4-FFF2-40B4-BE49-F238E27FC236}">
                  <a16:creationId xmlns:a16="http://schemas.microsoft.com/office/drawing/2014/main" id="{84517D28-6AD4-9B7F-B0B3-8D7230DF3570}"/>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302" name="直線コネクタ 301">
            <a:extLst>
              <a:ext uri="{FF2B5EF4-FFF2-40B4-BE49-F238E27FC236}">
                <a16:creationId xmlns:a16="http://schemas.microsoft.com/office/drawing/2014/main" id="{AA9E3ECD-EDF9-FDBE-83F7-D75CA2565765}"/>
              </a:ext>
            </a:extLst>
          </p:cNvPr>
          <p:cNvCxnSpPr/>
          <p:nvPr/>
        </p:nvCxnSpPr>
        <p:spPr>
          <a:xfrm flipV="1">
            <a:off x="2451680" y="5769027"/>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303" name="グループ化 302">
            <a:extLst>
              <a:ext uri="{FF2B5EF4-FFF2-40B4-BE49-F238E27FC236}">
                <a16:creationId xmlns:a16="http://schemas.microsoft.com/office/drawing/2014/main" id="{15AF2F72-4C77-7745-D183-09408F44659E}"/>
              </a:ext>
            </a:extLst>
          </p:cNvPr>
          <p:cNvGrpSpPr/>
          <p:nvPr/>
        </p:nvGrpSpPr>
        <p:grpSpPr>
          <a:xfrm>
            <a:off x="2361679" y="3969007"/>
            <a:ext cx="180020" cy="360033"/>
            <a:chOff x="4481992" y="1268760"/>
            <a:chExt cx="180020" cy="360033"/>
          </a:xfrm>
        </p:grpSpPr>
        <p:cxnSp>
          <p:nvCxnSpPr>
            <p:cNvPr id="304" name="直線コネクタ 303">
              <a:extLst>
                <a:ext uri="{FF2B5EF4-FFF2-40B4-BE49-F238E27FC236}">
                  <a16:creationId xmlns:a16="http://schemas.microsoft.com/office/drawing/2014/main" id="{357ED39B-76C3-7EB1-FF28-C79A1AC6008F}"/>
                </a:ext>
              </a:extLst>
            </p:cNvPr>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5" name="直線コネクタ 304">
              <a:extLst>
                <a:ext uri="{FF2B5EF4-FFF2-40B4-BE49-F238E27FC236}">
                  <a16:creationId xmlns:a16="http://schemas.microsoft.com/office/drawing/2014/main" id="{7D98FA10-EA04-450A-FADA-F9AAD6F79EF0}"/>
                </a:ext>
              </a:extLst>
            </p:cNvPr>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306" name="直線コネクタ 305">
            <a:extLst>
              <a:ext uri="{FF2B5EF4-FFF2-40B4-BE49-F238E27FC236}">
                <a16:creationId xmlns:a16="http://schemas.microsoft.com/office/drawing/2014/main" id="{3D75AA5D-6DF6-320B-0B7C-974634C79DED}"/>
              </a:ext>
            </a:extLst>
          </p:cNvPr>
          <p:cNvCxnSpPr/>
          <p:nvPr/>
        </p:nvCxnSpPr>
        <p:spPr>
          <a:xfrm flipV="1">
            <a:off x="2451680" y="4779016"/>
            <a:ext cx="1" cy="540006"/>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07" name="直線コネクタ 306">
            <a:extLst>
              <a:ext uri="{FF2B5EF4-FFF2-40B4-BE49-F238E27FC236}">
                <a16:creationId xmlns:a16="http://schemas.microsoft.com/office/drawing/2014/main" id="{D4932EC2-5DDE-89AA-1AB4-2D83BB9A922C}"/>
              </a:ext>
            </a:extLst>
          </p:cNvPr>
          <p:cNvCxnSpPr/>
          <p:nvPr/>
        </p:nvCxnSpPr>
        <p:spPr>
          <a:xfrm flipH="1">
            <a:off x="2451680" y="5049019"/>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308" name="直線コネクタ 307">
            <a:extLst>
              <a:ext uri="{FF2B5EF4-FFF2-40B4-BE49-F238E27FC236}">
                <a16:creationId xmlns:a16="http://schemas.microsoft.com/office/drawing/2014/main" id="{4793DF6F-C92A-00A1-4A06-84B12AEE3008}"/>
              </a:ext>
            </a:extLst>
          </p:cNvPr>
          <p:cNvCxnSpPr/>
          <p:nvPr/>
        </p:nvCxnSpPr>
        <p:spPr>
          <a:xfrm>
            <a:off x="3154543" y="5049019"/>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309" name="グループ化 308">
            <a:extLst>
              <a:ext uri="{FF2B5EF4-FFF2-40B4-BE49-F238E27FC236}">
                <a16:creationId xmlns:a16="http://schemas.microsoft.com/office/drawing/2014/main" id="{730E735F-F7AA-63B9-A053-B66F73F798F0}"/>
              </a:ext>
            </a:extLst>
          </p:cNvPr>
          <p:cNvGrpSpPr/>
          <p:nvPr/>
        </p:nvGrpSpPr>
        <p:grpSpPr>
          <a:xfrm rot="10800000">
            <a:off x="4385982" y="4869017"/>
            <a:ext cx="90012" cy="360048"/>
            <a:chOff x="2051664" y="1988808"/>
            <a:chExt cx="90012" cy="360048"/>
          </a:xfrm>
        </p:grpSpPr>
        <p:cxnSp>
          <p:nvCxnSpPr>
            <p:cNvPr id="310" name="直線コネクタ 309">
              <a:extLst>
                <a:ext uri="{FF2B5EF4-FFF2-40B4-BE49-F238E27FC236}">
                  <a16:creationId xmlns:a16="http://schemas.microsoft.com/office/drawing/2014/main" id="{996C040B-55F9-425E-1C38-0D8571FA73EF}"/>
                </a:ext>
              </a:extLst>
            </p:cNvPr>
            <p:cNvCxnSpPr/>
            <p:nvPr/>
          </p:nvCxnSpPr>
          <p:spPr>
            <a:xfrm flipH="1">
              <a:off x="2051664"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558BD19C-2B4E-BF39-280F-163671FB853B}"/>
                </a:ext>
              </a:extLst>
            </p:cNvPr>
            <p:cNvCxnSpPr/>
            <p:nvPr/>
          </p:nvCxnSpPr>
          <p:spPr>
            <a:xfrm flipH="1">
              <a:off x="2141676"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312" name="グループ化 152">
            <a:extLst>
              <a:ext uri="{FF2B5EF4-FFF2-40B4-BE49-F238E27FC236}">
                <a16:creationId xmlns:a16="http://schemas.microsoft.com/office/drawing/2014/main" id="{2F2EF359-4E98-934C-7FBA-837B38391708}"/>
              </a:ext>
            </a:extLst>
          </p:cNvPr>
          <p:cNvGrpSpPr/>
          <p:nvPr/>
        </p:nvGrpSpPr>
        <p:grpSpPr>
          <a:xfrm>
            <a:off x="4655985" y="6039030"/>
            <a:ext cx="180002" cy="90001"/>
            <a:chOff x="3643306" y="4500570"/>
            <a:chExt cx="428628" cy="144464"/>
          </a:xfrm>
        </p:grpSpPr>
        <p:cxnSp>
          <p:nvCxnSpPr>
            <p:cNvPr id="313" name="直線コネクタ 312">
              <a:extLst>
                <a:ext uri="{FF2B5EF4-FFF2-40B4-BE49-F238E27FC236}">
                  <a16:creationId xmlns:a16="http://schemas.microsoft.com/office/drawing/2014/main" id="{9320B463-434A-1EE3-637C-084FBD59C12C}"/>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314" name="直線コネクタ 313">
              <a:extLst>
                <a:ext uri="{FF2B5EF4-FFF2-40B4-BE49-F238E27FC236}">
                  <a16:creationId xmlns:a16="http://schemas.microsoft.com/office/drawing/2014/main" id="{593CF2E2-0ABE-F3E2-4814-AC2617AB82DE}"/>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315" name="直線コネクタ 314">
              <a:extLst>
                <a:ext uri="{FF2B5EF4-FFF2-40B4-BE49-F238E27FC236}">
                  <a16:creationId xmlns:a16="http://schemas.microsoft.com/office/drawing/2014/main" id="{BD0C2A32-191C-7101-D348-A2B1E425D311}"/>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316" name="フリーフォーム 155">
            <a:extLst>
              <a:ext uri="{FF2B5EF4-FFF2-40B4-BE49-F238E27FC236}">
                <a16:creationId xmlns:a16="http://schemas.microsoft.com/office/drawing/2014/main" id="{DC12DBC4-79C1-2ECC-9CAF-082B2D212B8F}"/>
              </a:ext>
            </a:extLst>
          </p:cNvPr>
          <p:cNvSpPr/>
          <p:nvPr/>
        </p:nvSpPr>
        <p:spPr bwMode="auto">
          <a:xfrm rot="5400000" flipH="1">
            <a:off x="4115978" y="5409022"/>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dirty="0">
              <a:ln>
                <a:noFill/>
              </a:ln>
              <a:solidFill>
                <a:schemeClr val="tx1"/>
              </a:solidFill>
              <a:effectLst/>
              <a:latin typeface="Arial Narrow" pitchFamily="34" charset="0"/>
              <a:ea typeface="メイリオ" pitchFamily="50" charset="-128"/>
            </a:endParaRPr>
          </a:p>
        </p:txBody>
      </p:sp>
      <p:cxnSp>
        <p:nvCxnSpPr>
          <p:cNvPr id="317" name="直線コネクタ 316">
            <a:extLst>
              <a:ext uri="{FF2B5EF4-FFF2-40B4-BE49-F238E27FC236}">
                <a16:creationId xmlns:a16="http://schemas.microsoft.com/office/drawing/2014/main" id="{7119E46E-DBE0-A4A2-B9A0-336536D0CDC4}"/>
              </a:ext>
            </a:extLst>
          </p:cNvPr>
          <p:cNvCxnSpPr/>
          <p:nvPr/>
        </p:nvCxnSpPr>
        <p:spPr>
          <a:xfrm>
            <a:off x="4205980" y="5049019"/>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8" name="直線コネクタ 317">
            <a:extLst>
              <a:ext uri="{FF2B5EF4-FFF2-40B4-BE49-F238E27FC236}">
                <a16:creationId xmlns:a16="http://schemas.microsoft.com/office/drawing/2014/main" id="{3B48B560-27BD-FCA8-1245-97E2D372FD80}"/>
              </a:ext>
            </a:extLst>
          </p:cNvPr>
          <p:cNvCxnSpPr/>
          <p:nvPr/>
        </p:nvCxnSpPr>
        <p:spPr>
          <a:xfrm>
            <a:off x="3665974" y="5049019"/>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9" name="曲折矢印 160">
            <a:extLst>
              <a:ext uri="{FF2B5EF4-FFF2-40B4-BE49-F238E27FC236}">
                <a16:creationId xmlns:a16="http://schemas.microsoft.com/office/drawing/2014/main" id="{2672CB96-5080-6803-8F74-5863D97CD442}"/>
              </a:ext>
            </a:extLst>
          </p:cNvPr>
          <p:cNvSpPr/>
          <p:nvPr/>
        </p:nvSpPr>
        <p:spPr bwMode="auto">
          <a:xfrm rot="10800000" flipH="1">
            <a:off x="2614538" y="4239009"/>
            <a:ext cx="1620018" cy="72000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20" name="曲折矢印 171">
            <a:extLst>
              <a:ext uri="{FF2B5EF4-FFF2-40B4-BE49-F238E27FC236}">
                <a16:creationId xmlns:a16="http://schemas.microsoft.com/office/drawing/2014/main" id="{080DDE31-04F4-F263-2407-846F213FF42F}"/>
              </a:ext>
            </a:extLst>
          </p:cNvPr>
          <p:cNvSpPr/>
          <p:nvPr/>
        </p:nvSpPr>
        <p:spPr bwMode="auto">
          <a:xfrm rot="16200000" flipH="1">
            <a:off x="2929541" y="4824017"/>
            <a:ext cx="810009" cy="162001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21" name="直線矢印コネクタ 320">
            <a:extLst>
              <a:ext uri="{FF2B5EF4-FFF2-40B4-BE49-F238E27FC236}">
                <a16:creationId xmlns:a16="http://schemas.microsoft.com/office/drawing/2014/main" id="{AFEDDBC4-E157-7478-2B43-5766B11C21FD}"/>
              </a:ext>
            </a:extLst>
          </p:cNvPr>
          <p:cNvCxnSpPr>
            <a:cxnSpLocks/>
          </p:cNvCxnSpPr>
          <p:nvPr/>
        </p:nvCxnSpPr>
        <p:spPr bwMode="auto">
          <a:xfrm flipV="1">
            <a:off x="1145945" y="3969006"/>
            <a:ext cx="0" cy="2070023"/>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322" name="正方形/長方形 321">
            <a:extLst>
              <a:ext uri="{FF2B5EF4-FFF2-40B4-BE49-F238E27FC236}">
                <a16:creationId xmlns:a16="http://schemas.microsoft.com/office/drawing/2014/main" id="{D507C77C-D674-7399-3C9B-C86FA48079DA}"/>
              </a:ext>
            </a:extLst>
          </p:cNvPr>
          <p:cNvSpPr/>
          <p:nvPr/>
        </p:nvSpPr>
        <p:spPr bwMode="auto">
          <a:xfrm>
            <a:off x="1145945" y="4689014"/>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電圧 </a:t>
            </a:r>
            <a:r>
              <a:rPr lang="en-US" altLang="ja-JP" sz="2400" b="1" dirty="0">
                <a:solidFill>
                  <a:schemeClr val="accent5"/>
                </a:solidFill>
              </a:rPr>
              <a:t>V</a:t>
            </a:r>
            <a:endParaRPr lang="ja-JP" altLang="en-US" sz="2400" b="1" dirty="0">
              <a:solidFill>
                <a:schemeClr val="accent5"/>
              </a:solidFill>
            </a:endParaRPr>
          </a:p>
        </p:txBody>
      </p:sp>
      <p:sp>
        <p:nvSpPr>
          <p:cNvPr id="323" name="テキスト プレースホルダー 2">
            <a:extLst>
              <a:ext uri="{FF2B5EF4-FFF2-40B4-BE49-F238E27FC236}">
                <a16:creationId xmlns:a16="http://schemas.microsoft.com/office/drawing/2014/main" id="{6D99E2F8-FAED-FD94-08E9-ACE839D1F43C}"/>
              </a:ext>
            </a:extLst>
          </p:cNvPr>
          <p:cNvSpPr txBox="1">
            <a:spLocks/>
          </p:cNvSpPr>
          <p:nvPr/>
        </p:nvSpPr>
        <p:spPr bwMode="auto">
          <a:xfrm>
            <a:off x="6005999" y="818971"/>
            <a:ext cx="6120068" cy="25200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10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solidFill>
                  <a:schemeClr val="accent5"/>
                </a:solidFill>
              </a:rPr>
              <a:t>水を高いところから流すとその分</a:t>
            </a:r>
            <a:br>
              <a:rPr lang="en-US" altLang="ja-JP" kern="0" dirty="0">
                <a:solidFill>
                  <a:schemeClr val="accent5"/>
                </a:solidFill>
              </a:rPr>
            </a:br>
            <a:r>
              <a:rPr lang="ja-JP" altLang="en-US" kern="0" dirty="0">
                <a:solidFill>
                  <a:schemeClr val="accent5"/>
                </a:solidFill>
              </a:rPr>
              <a:t>位置エネルギーが失われる</a:t>
            </a:r>
            <a:endParaRPr lang="en-US" altLang="ja-JP" kern="0" dirty="0">
              <a:solidFill>
                <a:schemeClr val="accent5"/>
              </a:solidFill>
            </a:endParaRPr>
          </a:p>
          <a:p>
            <a:pPr lvl="1"/>
            <a:r>
              <a:rPr lang="ja-JP" altLang="en-US" kern="0" dirty="0"/>
              <a:t>水の総量：</a:t>
            </a:r>
            <a:r>
              <a:rPr lang="en-US" altLang="ja-JP" kern="0" dirty="0"/>
              <a:t>	Q </a:t>
            </a:r>
          </a:p>
          <a:p>
            <a:pPr lvl="1"/>
            <a:r>
              <a:rPr lang="ja-JP" altLang="en-US" kern="0" dirty="0"/>
              <a:t>排水口から給水口高さ：</a:t>
            </a:r>
            <a:r>
              <a:rPr lang="en-US" altLang="ja-JP" kern="0" dirty="0"/>
              <a:t>	V</a:t>
            </a:r>
          </a:p>
          <a:p>
            <a:pPr lvl="1"/>
            <a:r>
              <a:rPr lang="ja-JP" altLang="en-US" kern="0" dirty="0"/>
              <a:t>エネルギー：</a:t>
            </a:r>
            <a:r>
              <a:rPr lang="en-US" altLang="ja-JP" kern="0" dirty="0"/>
              <a:t>		Q × V</a:t>
            </a:r>
          </a:p>
        </p:txBody>
      </p:sp>
      <p:sp>
        <p:nvSpPr>
          <p:cNvPr id="324" name="正方形/長方形 323">
            <a:extLst>
              <a:ext uri="{FF2B5EF4-FFF2-40B4-BE49-F238E27FC236}">
                <a16:creationId xmlns:a16="http://schemas.microsoft.com/office/drawing/2014/main" id="{9C43E815-980B-E3A1-F2DC-9F20C495658F}"/>
              </a:ext>
            </a:extLst>
          </p:cNvPr>
          <p:cNvSpPr/>
          <p:nvPr/>
        </p:nvSpPr>
        <p:spPr bwMode="auto">
          <a:xfrm>
            <a:off x="2855964" y="4149008"/>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電荷 </a:t>
            </a:r>
            <a:r>
              <a:rPr lang="en-US" altLang="ja-JP" sz="2400" b="1" dirty="0">
                <a:solidFill>
                  <a:schemeClr val="accent5"/>
                </a:solidFill>
              </a:rPr>
              <a:t>Q</a:t>
            </a:r>
            <a:endParaRPr lang="ja-JP" altLang="en-US" sz="2400" b="1" dirty="0">
              <a:solidFill>
                <a:schemeClr val="accent5"/>
              </a:solidFill>
            </a:endParaRPr>
          </a:p>
        </p:txBody>
      </p:sp>
      <p:sp>
        <p:nvSpPr>
          <p:cNvPr id="195" name="正方形/長方形 194">
            <a:extLst>
              <a:ext uri="{FF2B5EF4-FFF2-40B4-BE49-F238E27FC236}">
                <a16:creationId xmlns:a16="http://schemas.microsoft.com/office/drawing/2014/main" id="{69ADAA46-7843-83CD-E4A6-892F5B114C07}"/>
              </a:ext>
            </a:extLst>
          </p:cNvPr>
          <p:cNvSpPr/>
          <p:nvPr/>
        </p:nvSpPr>
        <p:spPr bwMode="auto">
          <a:xfrm rot="5400000">
            <a:off x="10641050" y="5454021"/>
            <a:ext cx="450005" cy="540006"/>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kumimoji="1" lang="en-US" b="1" dirty="0">
              <a:solidFill>
                <a:schemeClr val="accent5"/>
              </a:solidFill>
              <a:latin typeface="+mn-ea"/>
            </a:endParaRPr>
          </a:p>
        </p:txBody>
      </p:sp>
      <p:sp>
        <p:nvSpPr>
          <p:cNvPr id="196" name="正方形/長方形 195">
            <a:extLst>
              <a:ext uri="{FF2B5EF4-FFF2-40B4-BE49-F238E27FC236}">
                <a16:creationId xmlns:a16="http://schemas.microsoft.com/office/drawing/2014/main" id="{B34BB83F-F0B6-237A-AFFB-74726E317C03}"/>
              </a:ext>
            </a:extLst>
          </p:cNvPr>
          <p:cNvSpPr/>
          <p:nvPr/>
        </p:nvSpPr>
        <p:spPr bwMode="auto">
          <a:xfrm rot="5400000">
            <a:off x="9156034" y="4149006"/>
            <a:ext cx="180002" cy="1260014"/>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97" name="正方形/長方形 196">
            <a:extLst>
              <a:ext uri="{FF2B5EF4-FFF2-40B4-BE49-F238E27FC236}">
                <a16:creationId xmlns:a16="http://schemas.microsoft.com/office/drawing/2014/main" id="{F0EC0528-E386-1042-E444-B178F3BA5C06}"/>
              </a:ext>
            </a:extLst>
          </p:cNvPr>
          <p:cNvSpPr/>
          <p:nvPr/>
        </p:nvSpPr>
        <p:spPr bwMode="auto">
          <a:xfrm rot="5400000">
            <a:off x="7716018" y="4779015"/>
            <a:ext cx="162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98" name="正方形/長方形 197">
            <a:extLst>
              <a:ext uri="{FF2B5EF4-FFF2-40B4-BE49-F238E27FC236}">
                <a16:creationId xmlns:a16="http://schemas.microsoft.com/office/drawing/2014/main" id="{A4E60E53-A25F-F374-06FA-D386F8A81515}"/>
              </a:ext>
            </a:extLst>
          </p:cNvPr>
          <p:cNvSpPr/>
          <p:nvPr/>
        </p:nvSpPr>
        <p:spPr bwMode="auto">
          <a:xfrm rot="5400000">
            <a:off x="8121022" y="5364020"/>
            <a:ext cx="180002" cy="810009"/>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99" name="直線コネクタ 198">
            <a:extLst>
              <a:ext uri="{FF2B5EF4-FFF2-40B4-BE49-F238E27FC236}">
                <a16:creationId xmlns:a16="http://schemas.microsoft.com/office/drawing/2014/main" id="{C565A5A1-87A4-D066-3EE7-DC6686F80D68}"/>
              </a:ext>
            </a:extLst>
          </p:cNvPr>
          <p:cNvCxnSpPr>
            <a:cxnSpLocks/>
          </p:cNvCxnSpPr>
          <p:nvPr/>
        </p:nvCxnSpPr>
        <p:spPr bwMode="auto">
          <a:xfrm>
            <a:off x="7086013" y="5679025"/>
            <a:ext cx="1350015" cy="0"/>
          </a:xfrm>
          <a:prstGeom prst="line">
            <a:avLst/>
          </a:prstGeom>
          <a:noFill/>
          <a:ln w="19050" cap="flat" cmpd="sng" algn="ctr">
            <a:solidFill>
              <a:schemeClr val="tx1"/>
            </a:solidFill>
            <a:prstDash val="solid"/>
            <a:round/>
            <a:headEnd type="none" w="med" len="med"/>
            <a:tailEnd type="none" w="med" len="med"/>
          </a:ln>
          <a:effectLst/>
        </p:spPr>
      </p:cxnSp>
      <p:sp>
        <p:nvSpPr>
          <p:cNvPr id="200" name="正方形/長方形 199">
            <a:extLst>
              <a:ext uri="{FF2B5EF4-FFF2-40B4-BE49-F238E27FC236}">
                <a16:creationId xmlns:a16="http://schemas.microsoft.com/office/drawing/2014/main" id="{57198E50-BCCA-E0C6-EF3E-BB6EE2F8D9E3}"/>
              </a:ext>
            </a:extLst>
          </p:cNvPr>
          <p:cNvSpPr/>
          <p:nvPr/>
        </p:nvSpPr>
        <p:spPr bwMode="auto">
          <a:xfrm rot="5400000">
            <a:off x="7761018" y="3203996"/>
            <a:ext cx="180002" cy="153001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01" name="直線コネクタ 200">
            <a:extLst>
              <a:ext uri="{FF2B5EF4-FFF2-40B4-BE49-F238E27FC236}">
                <a16:creationId xmlns:a16="http://schemas.microsoft.com/office/drawing/2014/main" id="{3F4AF910-66B8-752A-E499-D755E2967242}"/>
              </a:ext>
            </a:extLst>
          </p:cNvPr>
          <p:cNvCxnSpPr>
            <a:cxnSpLocks/>
          </p:cNvCxnSpPr>
          <p:nvPr/>
        </p:nvCxnSpPr>
        <p:spPr bwMode="auto">
          <a:xfrm>
            <a:off x="7086011" y="3879004"/>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202" name="直線コネクタ 201">
            <a:extLst>
              <a:ext uri="{FF2B5EF4-FFF2-40B4-BE49-F238E27FC236}">
                <a16:creationId xmlns:a16="http://schemas.microsoft.com/office/drawing/2014/main" id="{AD647D95-3F7E-3D80-2B76-C7DE16A41164}"/>
              </a:ext>
            </a:extLst>
          </p:cNvPr>
          <p:cNvCxnSpPr>
            <a:cxnSpLocks/>
          </p:cNvCxnSpPr>
          <p:nvPr/>
        </p:nvCxnSpPr>
        <p:spPr bwMode="auto">
          <a:xfrm>
            <a:off x="7086011" y="4059006"/>
            <a:ext cx="1350017" cy="0"/>
          </a:xfrm>
          <a:prstGeom prst="line">
            <a:avLst/>
          </a:prstGeom>
          <a:noFill/>
          <a:ln w="19050" cap="flat" cmpd="sng" algn="ctr">
            <a:solidFill>
              <a:schemeClr val="tx1"/>
            </a:solidFill>
            <a:prstDash val="solid"/>
            <a:round/>
            <a:headEnd type="none" w="med" len="med"/>
            <a:tailEnd type="none" w="med" len="med"/>
          </a:ln>
          <a:effectLst/>
        </p:spPr>
      </p:cxnSp>
      <p:cxnSp>
        <p:nvCxnSpPr>
          <p:cNvPr id="203" name="直線コネクタ 202">
            <a:extLst>
              <a:ext uri="{FF2B5EF4-FFF2-40B4-BE49-F238E27FC236}">
                <a16:creationId xmlns:a16="http://schemas.microsoft.com/office/drawing/2014/main" id="{C4198C8C-FB73-B190-9AA7-6FE9090897DB}"/>
              </a:ext>
            </a:extLst>
          </p:cNvPr>
          <p:cNvCxnSpPr>
            <a:cxnSpLocks/>
          </p:cNvCxnSpPr>
          <p:nvPr/>
        </p:nvCxnSpPr>
        <p:spPr bwMode="auto">
          <a:xfrm>
            <a:off x="8436563" y="4059005"/>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204" name="直線コネクタ 203">
            <a:extLst>
              <a:ext uri="{FF2B5EF4-FFF2-40B4-BE49-F238E27FC236}">
                <a16:creationId xmlns:a16="http://schemas.microsoft.com/office/drawing/2014/main" id="{76125E77-0888-3659-C242-5F2E1C86EF2A}"/>
              </a:ext>
            </a:extLst>
          </p:cNvPr>
          <p:cNvCxnSpPr>
            <a:cxnSpLocks/>
          </p:cNvCxnSpPr>
          <p:nvPr/>
        </p:nvCxnSpPr>
        <p:spPr bwMode="auto">
          <a:xfrm>
            <a:off x="8616565" y="4869014"/>
            <a:ext cx="0" cy="990369"/>
          </a:xfrm>
          <a:prstGeom prst="line">
            <a:avLst/>
          </a:prstGeom>
          <a:noFill/>
          <a:ln w="19050" cap="flat" cmpd="sng" algn="ctr">
            <a:solidFill>
              <a:schemeClr val="tx1"/>
            </a:solidFill>
            <a:prstDash val="solid"/>
            <a:round/>
            <a:headEnd type="none" w="med" len="med"/>
            <a:tailEnd type="none" w="med" len="med"/>
          </a:ln>
          <a:effectLst/>
        </p:spPr>
      </p:cxnSp>
      <p:cxnSp>
        <p:nvCxnSpPr>
          <p:cNvPr id="205" name="直線コネクタ 204">
            <a:extLst>
              <a:ext uri="{FF2B5EF4-FFF2-40B4-BE49-F238E27FC236}">
                <a16:creationId xmlns:a16="http://schemas.microsoft.com/office/drawing/2014/main" id="{420AC317-7BA2-0D61-6884-966A2C8B8C20}"/>
              </a:ext>
            </a:extLst>
          </p:cNvPr>
          <p:cNvCxnSpPr>
            <a:cxnSpLocks/>
          </p:cNvCxnSpPr>
          <p:nvPr/>
        </p:nvCxnSpPr>
        <p:spPr bwMode="auto">
          <a:xfrm>
            <a:off x="8616028" y="3879003"/>
            <a:ext cx="0" cy="810009"/>
          </a:xfrm>
          <a:prstGeom prst="line">
            <a:avLst/>
          </a:prstGeom>
          <a:noFill/>
          <a:ln w="19050" cap="flat" cmpd="sng" algn="ctr">
            <a:solidFill>
              <a:schemeClr val="tx1"/>
            </a:solidFill>
            <a:prstDash val="solid"/>
            <a:round/>
            <a:headEnd type="none" w="med" len="med"/>
            <a:tailEnd type="none" w="med" len="med"/>
          </a:ln>
          <a:effectLst/>
        </p:spPr>
      </p:cxnSp>
      <p:cxnSp>
        <p:nvCxnSpPr>
          <p:cNvPr id="206" name="直線コネクタ 205">
            <a:extLst>
              <a:ext uri="{FF2B5EF4-FFF2-40B4-BE49-F238E27FC236}">
                <a16:creationId xmlns:a16="http://schemas.microsoft.com/office/drawing/2014/main" id="{776C10FA-E52C-09B5-32B3-D7965355EEAE}"/>
              </a:ext>
            </a:extLst>
          </p:cNvPr>
          <p:cNvCxnSpPr>
            <a:cxnSpLocks/>
          </p:cNvCxnSpPr>
          <p:nvPr/>
        </p:nvCxnSpPr>
        <p:spPr bwMode="auto">
          <a:xfrm>
            <a:off x="8616028" y="4869014"/>
            <a:ext cx="1260013" cy="0"/>
          </a:xfrm>
          <a:prstGeom prst="line">
            <a:avLst/>
          </a:prstGeom>
          <a:noFill/>
          <a:ln w="19050" cap="flat" cmpd="sng" algn="ctr">
            <a:solidFill>
              <a:schemeClr val="tx1"/>
            </a:solidFill>
            <a:prstDash val="solid"/>
            <a:round/>
            <a:headEnd type="none" w="med" len="med"/>
            <a:tailEnd type="none" w="med" len="med"/>
          </a:ln>
          <a:effectLst/>
        </p:spPr>
      </p:cxnSp>
      <p:cxnSp>
        <p:nvCxnSpPr>
          <p:cNvPr id="207" name="直線コネクタ 206">
            <a:extLst>
              <a:ext uri="{FF2B5EF4-FFF2-40B4-BE49-F238E27FC236}">
                <a16:creationId xmlns:a16="http://schemas.microsoft.com/office/drawing/2014/main" id="{75BF3679-9326-1CD1-29D9-047F978E45D5}"/>
              </a:ext>
            </a:extLst>
          </p:cNvPr>
          <p:cNvCxnSpPr>
            <a:cxnSpLocks/>
          </p:cNvCxnSpPr>
          <p:nvPr/>
        </p:nvCxnSpPr>
        <p:spPr bwMode="auto">
          <a:xfrm>
            <a:off x="8616028" y="4689012"/>
            <a:ext cx="1260013" cy="0"/>
          </a:xfrm>
          <a:prstGeom prst="line">
            <a:avLst/>
          </a:prstGeom>
          <a:noFill/>
          <a:ln w="19050" cap="flat" cmpd="sng" algn="ctr">
            <a:solidFill>
              <a:schemeClr val="tx1"/>
            </a:solidFill>
            <a:prstDash val="solid"/>
            <a:round/>
            <a:headEnd type="none" w="med" len="med"/>
            <a:tailEnd type="none" w="med" len="med"/>
          </a:ln>
          <a:effectLst/>
        </p:spPr>
      </p:cxnSp>
      <p:sp>
        <p:nvSpPr>
          <p:cNvPr id="208" name="正方形/長方形 207">
            <a:extLst>
              <a:ext uri="{FF2B5EF4-FFF2-40B4-BE49-F238E27FC236}">
                <a16:creationId xmlns:a16="http://schemas.microsoft.com/office/drawing/2014/main" id="{A238DBCB-C4BC-BA18-74E5-AA14B1E5DDD3}"/>
              </a:ext>
            </a:extLst>
          </p:cNvPr>
          <p:cNvSpPr/>
          <p:nvPr/>
        </p:nvSpPr>
        <p:spPr bwMode="auto">
          <a:xfrm rot="5400000">
            <a:off x="10056041" y="3519000"/>
            <a:ext cx="180003" cy="900011"/>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09" name="正方形/長方形 208">
            <a:extLst>
              <a:ext uri="{FF2B5EF4-FFF2-40B4-BE49-F238E27FC236}">
                <a16:creationId xmlns:a16="http://schemas.microsoft.com/office/drawing/2014/main" id="{98124E3C-6CE2-AA56-329C-FC7CFE186B5F}"/>
              </a:ext>
            </a:extLst>
          </p:cNvPr>
          <p:cNvSpPr/>
          <p:nvPr/>
        </p:nvSpPr>
        <p:spPr bwMode="auto">
          <a:xfrm rot="5400000">
            <a:off x="10641049" y="3654002"/>
            <a:ext cx="450005" cy="540006"/>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kumimoji="1" lang="en-US" b="1" dirty="0">
              <a:solidFill>
                <a:schemeClr val="accent5"/>
              </a:solidFill>
              <a:latin typeface="+mn-ea"/>
            </a:endParaRPr>
          </a:p>
        </p:txBody>
      </p:sp>
      <p:sp>
        <p:nvSpPr>
          <p:cNvPr id="210" name="正方形/長方形 209">
            <a:extLst>
              <a:ext uri="{FF2B5EF4-FFF2-40B4-BE49-F238E27FC236}">
                <a16:creationId xmlns:a16="http://schemas.microsoft.com/office/drawing/2014/main" id="{DAB034C7-29DC-556F-6A14-678D3D4B8208}"/>
              </a:ext>
            </a:extLst>
          </p:cNvPr>
          <p:cNvSpPr/>
          <p:nvPr/>
        </p:nvSpPr>
        <p:spPr bwMode="auto">
          <a:xfrm rot="5400000">
            <a:off x="8796031" y="4779014"/>
            <a:ext cx="1980020"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11" name="正方形/長方形 210">
            <a:extLst>
              <a:ext uri="{FF2B5EF4-FFF2-40B4-BE49-F238E27FC236}">
                <a16:creationId xmlns:a16="http://schemas.microsoft.com/office/drawing/2014/main" id="{BCB41931-84AB-04D7-B021-AC4FE29EDBDA}"/>
              </a:ext>
            </a:extLst>
          </p:cNvPr>
          <p:cNvSpPr/>
          <p:nvPr/>
        </p:nvSpPr>
        <p:spPr bwMode="auto">
          <a:xfrm rot="5400000">
            <a:off x="10146044" y="5409021"/>
            <a:ext cx="180003" cy="720008"/>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12" name="直線コネクタ 211">
            <a:extLst>
              <a:ext uri="{FF2B5EF4-FFF2-40B4-BE49-F238E27FC236}">
                <a16:creationId xmlns:a16="http://schemas.microsoft.com/office/drawing/2014/main" id="{5F88F3A6-F785-7717-0887-B6DA171FF214}"/>
              </a:ext>
            </a:extLst>
          </p:cNvPr>
          <p:cNvCxnSpPr>
            <a:cxnSpLocks/>
          </p:cNvCxnSpPr>
          <p:nvPr/>
        </p:nvCxnSpPr>
        <p:spPr bwMode="auto">
          <a:xfrm>
            <a:off x="9696040" y="3879003"/>
            <a:ext cx="900009" cy="1"/>
          </a:xfrm>
          <a:prstGeom prst="line">
            <a:avLst/>
          </a:prstGeom>
          <a:noFill/>
          <a:ln w="19050" cap="flat" cmpd="sng" algn="ctr">
            <a:solidFill>
              <a:schemeClr val="tx1"/>
            </a:solidFill>
            <a:prstDash val="solid"/>
            <a:round/>
            <a:headEnd type="none" w="med" len="med"/>
            <a:tailEnd type="none" w="med" len="med"/>
          </a:ln>
          <a:effectLst/>
        </p:spPr>
      </p:cxnSp>
      <p:cxnSp>
        <p:nvCxnSpPr>
          <p:cNvPr id="213" name="直線コネクタ 212">
            <a:extLst>
              <a:ext uri="{FF2B5EF4-FFF2-40B4-BE49-F238E27FC236}">
                <a16:creationId xmlns:a16="http://schemas.microsoft.com/office/drawing/2014/main" id="{D76169E5-4312-FA0E-491A-C8755980B1C3}"/>
              </a:ext>
            </a:extLst>
          </p:cNvPr>
          <p:cNvCxnSpPr>
            <a:cxnSpLocks/>
          </p:cNvCxnSpPr>
          <p:nvPr/>
        </p:nvCxnSpPr>
        <p:spPr bwMode="auto">
          <a:xfrm>
            <a:off x="9876042" y="4059005"/>
            <a:ext cx="720007" cy="0"/>
          </a:xfrm>
          <a:prstGeom prst="line">
            <a:avLst/>
          </a:prstGeom>
          <a:noFill/>
          <a:ln w="19050" cap="flat" cmpd="sng" algn="ctr">
            <a:solidFill>
              <a:schemeClr val="tx1"/>
            </a:solidFill>
            <a:prstDash val="solid"/>
            <a:round/>
            <a:headEnd type="none" w="med" len="med"/>
            <a:tailEnd type="none" w="med" len="med"/>
          </a:ln>
          <a:effectLst/>
        </p:spPr>
      </p:cxnSp>
      <p:cxnSp>
        <p:nvCxnSpPr>
          <p:cNvPr id="214" name="直線コネクタ 213">
            <a:extLst>
              <a:ext uri="{FF2B5EF4-FFF2-40B4-BE49-F238E27FC236}">
                <a16:creationId xmlns:a16="http://schemas.microsoft.com/office/drawing/2014/main" id="{92838338-A702-5853-13C4-431777104C04}"/>
              </a:ext>
            </a:extLst>
          </p:cNvPr>
          <p:cNvCxnSpPr>
            <a:cxnSpLocks/>
          </p:cNvCxnSpPr>
          <p:nvPr/>
        </p:nvCxnSpPr>
        <p:spPr bwMode="auto">
          <a:xfrm>
            <a:off x="9876042" y="5679025"/>
            <a:ext cx="720008" cy="0"/>
          </a:xfrm>
          <a:prstGeom prst="line">
            <a:avLst/>
          </a:prstGeom>
          <a:noFill/>
          <a:ln w="19050" cap="flat" cmpd="sng" algn="ctr">
            <a:solidFill>
              <a:schemeClr val="tx1"/>
            </a:solidFill>
            <a:prstDash val="solid"/>
            <a:round/>
            <a:headEnd type="none" w="med" len="med"/>
            <a:tailEnd type="none" w="med" len="med"/>
          </a:ln>
          <a:effectLst/>
        </p:spPr>
      </p:cxnSp>
      <p:cxnSp>
        <p:nvCxnSpPr>
          <p:cNvPr id="216" name="直線コネクタ 215">
            <a:extLst>
              <a:ext uri="{FF2B5EF4-FFF2-40B4-BE49-F238E27FC236}">
                <a16:creationId xmlns:a16="http://schemas.microsoft.com/office/drawing/2014/main" id="{5740E7D0-AD62-B21C-5D3C-99AD82BB3C62}"/>
              </a:ext>
            </a:extLst>
          </p:cNvPr>
          <p:cNvCxnSpPr>
            <a:cxnSpLocks/>
          </p:cNvCxnSpPr>
          <p:nvPr/>
        </p:nvCxnSpPr>
        <p:spPr bwMode="auto">
          <a:xfrm>
            <a:off x="9696040" y="5859028"/>
            <a:ext cx="900010" cy="0"/>
          </a:xfrm>
          <a:prstGeom prst="line">
            <a:avLst/>
          </a:prstGeom>
          <a:noFill/>
          <a:ln w="19050" cap="flat" cmpd="sng" algn="ctr">
            <a:solidFill>
              <a:schemeClr val="tx1"/>
            </a:solidFill>
            <a:prstDash val="solid"/>
            <a:round/>
            <a:headEnd type="none" w="med" len="med"/>
            <a:tailEnd type="none" w="med" len="med"/>
          </a:ln>
          <a:effectLst/>
        </p:spPr>
      </p:cxnSp>
      <p:cxnSp>
        <p:nvCxnSpPr>
          <p:cNvPr id="217" name="直線コネクタ 216">
            <a:extLst>
              <a:ext uri="{FF2B5EF4-FFF2-40B4-BE49-F238E27FC236}">
                <a16:creationId xmlns:a16="http://schemas.microsoft.com/office/drawing/2014/main" id="{41C3B22A-4C91-3384-E1E8-C6BED95BD659}"/>
              </a:ext>
            </a:extLst>
          </p:cNvPr>
          <p:cNvCxnSpPr>
            <a:cxnSpLocks/>
          </p:cNvCxnSpPr>
          <p:nvPr/>
        </p:nvCxnSpPr>
        <p:spPr bwMode="auto">
          <a:xfrm>
            <a:off x="9876580" y="4059005"/>
            <a:ext cx="0" cy="1620375"/>
          </a:xfrm>
          <a:prstGeom prst="line">
            <a:avLst/>
          </a:prstGeom>
          <a:noFill/>
          <a:ln w="19050" cap="flat" cmpd="sng" algn="ctr">
            <a:solidFill>
              <a:schemeClr val="tx1"/>
            </a:solidFill>
            <a:prstDash val="solid"/>
            <a:round/>
            <a:headEnd type="none" w="med" len="med"/>
            <a:tailEnd type="none" w="med" len="med"/>
          </a:ln>
          <a:effectLst/>
        </p:spPr>
      </p:cxnSp>
      <p:cxnSp>
        <p:nvCxnSpPr>
          <p:cNvPr id="218" name="直線コネクタ 217">
            <a:extLst>
              <a:ext uri="{FF2B5EF4-FFF2-40B4-BE49-F238E27FC236}">
                <a16:creationId xmlns:a16="http://schemas.microsoft.com/office/drawing/2014/main" id="{A721DBC9-E621-E602-67EA-8A2A289FA354}"/>
              </a:ext>
            </a:extLst>
          </p:cNvPr>
          <p:cNvCxnSpPr>
            <a:cxnSpLocks/>
          </p:cNvCxnSpPr>
          <p:nvPr/>
        </p:nvCxnSpPr>
        <p:spPr bwMode="auto">
          <a:xfrm>
            <a:off x="9696041" y="3879003"/>
            <a:ext cx="0" cy="810009"/>
          </a:xfrm>
          <a:prstGeom prst="line">
            <a:avLst/>
          </a:prstGeom>
          <a:noFill/>
          <a:ln w="19050" cap="flat" cmpd="sng" algn="ctr">
            <a:solidFill>
              <a:schemeClr val="tx1"/>
            </a:solidFill>
            <a:prstDash val="solid"/>
            <a:round/>
            <a:headEnd type="none" w="med" len="med"/>
            <a:tailEnd type="none" w="med" len="med"/>
          </a:ln>
          <a:effectLst/>
        </p:spPr>
      </p:cxnSp>
      <p:cxnSp>
        <p:nvCxnSpPr>
          <p:cNvPr id="221" name="直線コネクタ 220">
            <a:extLst>
              <a:ext uri="{FF2B5EF4-FFF2-40B4-BE49-F238E27FC236}">
                <a16:creationId xmlns:a16="http://schemas.microsoft.com/office/drawing/2014/main" id="{294EA157-B60E-A2EA-66C9-059A1CB85EF7}"/>
              </a:ext>
            </a:extLst>
          </p:cNvPr>
          <p:cNvCxnSpPr>
            <a:cxnSpLocks/>
          </p:cNvCxnSpPr>
          <p:nvPr/>
        </p:nvCxnSpPr>
        <p:spPr bwMode="auto">
          <a:xfrm>
            <a:off x="9696040" y="4869014"/>
            <a:ext cx="0" cy="990011"/>
          </a:xfrm>
          <a:prstGeom prst="line">
            <a:avLst/>
          </a:prstGeom>
          <a:noFill/>
          <a:ln w="19050" cap="flat" cmpd="sng" algn="ctr">
            <a:solidFill>
              <a:schemeClr val="tx1"/>
            </a:solidFill>
            <a:prstDash val="solid"/>
            <a:round/>
            <a:headEnd type="none" w="med" len="med"/>
            <a:tailEnd type="none" w="med" len="med"/>
          </a:ln>
          <a:effectLst/>
        </p:spPr>
      </p:cxnSp>
      <p:cxnSp>
        <p:nvCxnSpPr>
          <p:cNvPr id="222" name="直線コネクタ 221">
            <a:extLst>
              <a:ext uri="{FF2B5EF4-FFF2-40B4-BE49-F238E27FC236}">
                <a16:creationId xmlns:a16="http://schemas.microsoft.com/office/drawing/2014/main" id="{B5979755-4DFA-247F-AB57-FA62B4847658}"/>
              </a:ext>
            </a:extLst>
          </p:cNvPr>
          <p:cNvCxnSpPr>
            <a:cxnSpLocks/>
          </p:cNvCxnSpPr>
          <p:nvPr/>
        </p:nvCxnSpPr>
        <p:spPr bwMode="auto">
          <a:xfrm>
            <a:off x="10596051" y="4149007"/>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223" name="直線コネクタ 222">
            <a:extLst>
              <a:ext uri="{FF2B5EF4-FFF2-40B4-BE49-F238E27FC236}">
                <a16:creationId xmlns:a16="http://schemas.microsoft.com/office/drawing/2014/main" id="{89508F3D-3834-0202-9C62-49A90C98474D}"/>
              </a:ext>
            </a:extLst>
          </p:cNvPr>
          <p:cNvCxnSpPr>
            <a:cxnSpLocks/>
          </p:cNvCxnSpPr>
          <p:nvPr/>
        </p:nvCxnSpPr>
        <p:spPr bwMode="auto">
          <a:xfrm>
            <a:off x="10596051" y="3699001"/>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224" name="直線コネクタ 223">
            <a:extLst>
              <a:ext uri="{FF2B5EF4-FFF2-40B4-BE49-F238E27FC236}">
                <a16:creationId xmlns:a16="http://schemas.microsoft.com/office/drawing/2014/main" id="{5113F590-B548-6949-E3AE-E10A442F2A53}"/>
              </a:ext>
            </a:extLst>
          </p:cNvPr>
          <p:cNvCxnSpPr>
            <a:cxnSpLocks/>
          </p:cNvCxnSpPr>
          <p:nvPr/>
        </p:nvCxnSpPr>
        <p:spPr bwMode="auto">
          <a:xfrm>
            <a:off x="11136057" y="3699001"/>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229" name="直線コネクタ 228">
            <a:extLst>
              <a:ext uri="{FF2B5EF4-FFF2-40B4-BE49-F238E27FC236}">
                <a16:creationId xmlns:a16="http://schemas.microsoft.com/office/drawing/2014/main" id="{77832C8D-3BE7-B8E8-6E9E-CBB9376DD179}"/>
              </a:ext>
            </a:extLst>
          </p:cNvPr>
          <p:cNvCxnSpPr>
            <a:cxnSpLocks/>
          </p:cNvCxnSpPr>
          <p:nvPr/>
        </p:nvCxnSpPr>
        <p:spPr bwMode="auto">
          <a:xfrm flipV="1">
            <a:off x="10866052" y="4149007"/>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234" name="正方形/長方形 233">
            <a:extLst>
              <a:ext uri="{FF2B5EF4-FFF2-40B4-BE49-F238E27FC236}">
                <a16:creationId xmlns:a16="http://schemas.microsoft.com/office/drawing/2014/main" id="{9940A13E-748C-763E-C03D-029DF097A465}"/>
              </a:ext>
            </a:extLst>
          </p:cNvPr>
          <p:cNvSpPr/>
          <p:nvPr/>
        </p:nvSpPr>
        <p:spPr bwMode="auto">
          <a:xfrm rot="5400000">
            <a:off x="10596049" y="4509011"/>
            <a:ext cx="540006"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35" name="正方形/長方形 234">
            <a:extLst>
              <a:ext uri="{FF2B5EF4-FFF2-40B4-BE49-F238E27FC236}">
                <a16:creationId xmlns:a16="http://schemas.microsoft.com/office/drawing/2014/main" id="{167A0D73-6749-FBD3-15C1-E7A7AA6F50B2}"/>
              </a:ext>
            </a:extLst>
          </p:cNvPr>
          <p:cNvSpPr/>
          <p:nvPr/>
        </p:nvSpPr>
        <p:spPr bwMode="auto">
          <a:xfrm rot="5400000" flipH="1">
            <a:off x="10821051" y="5004014"/>
            <a:ext cx="90001"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38" name="直線コネクタ 237">
            <a:extLst>
              <a:ext uri="{FF2B5EF4-FFF2-40B4-BE49-F238E27FC236}">
                <a16:creationId xmlns:a16="http://schemas.microsoft.com/office/drawing/2014/main" id="{480AF2F8-AFE1-25B3-D1DC-99571E61C118}"/>
              </a:ext>
            </a:extLst>
          </p:cNvPr>
          <p:cNvCxnSpPr>
            <a:cxnSpLocks/>
          </p:cNvCxnSpPr>
          <p:nvPr/>
        </p:nvCxnSpPr>
        <p:spPr bwMode="auto">
          <a:xfrm flipH="1">
            <a:off x="10956055" y="4869013"/>
            <a:ext cx="3"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239" name="直線コネクタ 238">
            <a:extLst>
              <a:ext uri="{FF2B5EF4-FFF2-40B4-BE49-F238E27FC236}">
                <a16:creationId xmlns:a16="http://schemas.microsoft.com/office/drawing/2014/main" id="{45AF0A52-377B-F5CD-4BFD-2D44D599DD7D}"/>
              </a:ext>
            </a:extLst>
          </p:cNvPr>
          <p:cNvCxnSpPr>
            <a:cxnSpLocks/>
          </p:cNvCxnSpPr>
          <p:nvPr/>
        </p:nvCxnSpPr>
        <p:spPr bwMode="auto">
          <a:xfrm flipH="1">
            <a:off x="10776054" y="4869013"/>
            <a:ext cx="5"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240" name="直線コネクタ 239">
            <a:extLst>
              <a:ext uri="{FF2B5EF4-FFF2-40B4-BE49-F238E27FC236}">
                <a16:creationId xmlns:a16="http://schemas.microsoft.com/office/drawing/2014/main" id="{F4634990-B472-E2D3-8EF6-8A9212C6BBD7}"/>
              </a:ext>
            </a:extLst>
          </p:cNvPr>
          <p:cNvCxnSpPr>
            <a:cxnSpLocks/>
          </p:cNvCxnSpPr>
          <p:nvPr/>
        </p:nvCxnSpPr>
        <p:spPr bwMode="auto">
          <a:xfrm flipV="1">
            <a:off x="10596050" y="4059005"/>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241" name="直線コネクタ 240">
            <a:extLst>
              <a:ext uri="{FF2B5EF4-FFF2-40B4-BE49-F238E27FC236}">
                <a16:creationId xmlns:a16="http://schemas.microsoft.com/office/drawing/2014/main" id="{EE226509-FEC2-FB70-12B9-F6FB26788CFF}"/>
              </a:ext>
            </a:extLst>
          </p:cNvPr>
          <p:cNvCxnSpPr>
            <a:cxnSpLocks/>
          </p:cNvCxnSpPr>
          <p:nvPr/>
        </p:nvCxnSpPr>
        <p:spPr bwMode="auto">
          <a:xfrm>
            <a:off x="10596050" y="5949027"/>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242" name="直線コネクタ 241">
            <a:extLst>
              <a:ext uri="{FF2B5EF4-FFF2-40B4-BE49-F238E27FC236}">
                <a16:creationId xmlns:a16="http://schemas.microsoft.com/office/drawing/2014/main" id="{B03EA33C-ED29-8867-1A10-60D4945EBD1E}"/>
              </a:ext>
            </a:extLst>
          </p:cNvPr>
          <p:cNvCxnSpPr>
            <a:cxnSpLocks/>
          </p:cNvCxnSpPr>
          <p:nvPr/>
        </p:nvCxnSpPr>
        <p:spPr bwMode="auto">
          <a:xfrm>
            <a:off x="10596050" y="5499021"/>
            <a:ext cx="0" cy="180002"/>
          </a:xfrm>
          <a:prstGeom prst="line">
            <a:avLst/>
          </a:prstGeom>
          <a:noFill/>
          <a:ln w="19050" cap="rnd" cmpd="sng" algn="ctr">
            <a:solidFill>
              <a:schemeClr val="accent5"/>
            </a:solidFill>
            <a:prstDash val="solid"/>
            <a:round/>
            <a:headEnd type="none" w="med" len="med"/>
            <a:tailEnd type="none" w="med" len="med"/>
          </a:ln>
          <a:effectLst/>
        </p:spPr>
      </p:cxnSp>
      <p:cxnSp>
        <p:nvCxnSpPr>
          <p:cNvPr id="243" name="直線コネクタ 242">
            <a:extLst>
              <a:ext uri="{FF2B5EF4-FFF2-40B4-BE49-F238E27FC236}">
                <a16:creationId xmlns:a16="http://schemas.microsoft.com/office/drawing/2014/main" id="{7F83F46C-6666-D15B-CEED-F30504B8B1B9}"/>
              </a:ext>
            </a:extLst>
          </p:cNvPr>
          <p:cNvCxnSpPr>
            <a:cxnSpLocks/>
          </p:cNvCxnSpPr>
          <p:nvPr/>
        </p:nvCxnSpPr>
        <p:spPr bwMode="auto">
          <a:xfrm>
            <a:off x="11136056" y="5499021"/>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244" name="直線コネクタ 243">
            <a:extLst>
              <a:ext uri="{FF2B5EF4-FFF2-40B4-BE49-F238E27FC236}">
                <a16:creationId xmlns:a16="http://schemas.microsoft.com/office/drawing/2014/main" id="{0E166CE5-53F0-F5E2-CDEE-B556F5123684}"/>
              </a:ext>
            </a:extLst>
          </p:cNvPr>
          <p:cNvCxnSpPr>
            <a:cxnSpLocks/>
          </p:cNvCxnSpPr>
          <p:nvPr/>
        </p:nvCxnSpPr>
        <p:spPr bwMode="auto">
          <a:xfrm flipV="1">
            <a:off x="10866051" y="5949027"/>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245" name="正方形/長方形 244">
            <a:extLst>
              <a:ext uri="{FF2B5EF4-FFF2-40B4-BE49-F238E27FC236}">
                <a16:creationId xmlns:a16="http://schemas.microsoft.com/office/drawing/2014/main" id="{6090911E-9672-3D87-1A81-C49FAFE9B57B}"/>
              </a:ext>
            </a:extLst>
          </p:cNvPr>
          <p:cNvSpPr/>
          <p:nvPr/>
        </p:nvSpPr>
        <p:spPr bwMode="auto">
          <a:xfrm rot="5400000">
            <a:off x="10776050" y="6129029"/>
            <a:ext cx="180002" cy="180001"/>
          </a:xfrm>
          <a:prstGeom prst="rect">
            <a:avLst/>
          </a:prstGeom>
          <a:solidFill>
            <a:schemeClr val="tx1">
              <a:lumMod val="50000"/>
              <a:lumOff val="50000"/>
            </a:schemeClr>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46" name="正方形/長方形 245">
            <a:extLst>
              <a:ext uri="{FF2B5EF4-FFF2-40B4-BE49-F238E27FC236}">
                <a16:creationId xmlns:a16="http://schemas.microsoft.com/office/drawing/2014/main" id="{9679E1EB-5C1D-243B-05B4-033977FD0C4E}"/>
              </a:ext>
            </a:extLst>
          </p:cNvPr>
          <p:cNvSpPr/>
          <p:nvPr/>
        </p:nvSpPr>
        <p:spPr bwMode="auto">
          <a:xfrm rot="5400000" flipH="1">
            <a:off x="10641046" y="6624032"/>
            <a:ext cx="450004" cy="180001"/>
          </a:xfrm>
          <a:prstGeom prst="rect">
            <a:avLst/>
          </a:prstGeom>
          <a:solidFill>
            <a:schemeClr val="tx1">
              <a:lumMod val="50000"/>
              <a:lumOff val="50000"/>
            </a:schemeClr>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47" name="直線コネクタ 246">
            <a:extLst>
              <a:ext uri="{FF2B5EF4-FFF2-40B4-BE49-F238E27FC236}">
                <a16:creationId xmlns:a16="http://schemas.microsoft.com/office/drawing/2014/main" id="{5014F2C1-D0EB-9C2F-A461-68AE521CE7F9}"/>
              </a:ext>
            </a:extLst>
          </p:cNvPr>
          <p:cNvCxnSpPr>
            <a:cxnSpLocks/>
          </p:cNvCxnSpPr>
          <p:nvPr/>
        </p:nvCxnSpPr>
        <p:spPr bwMode="auto">
          <a:xfrm flipH="1">
            <a:off x="10956050" y="6309029"/>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248" name="直線コネクタ 247">
            <a:extLst>
              <a:ext uri="{FF2B5EF4-FFF2-40B4-BE49-F238E27FC236}">
                <a16:creationId xmlns:a16="http://schemas.microsoft.com/office/drawing/2014/main" id="{3AD0EFEA-883D-4F4D-E672-55EC37B752FE}"/>
              </a:ext>
            </a:extLst>
          </p:cNvPr>
          <p:cNvCxnSpPr>
            <a:cxnSpLocks/>
          </p:cNvCxnSpPr>
          <p:nvPr/>
        </p:nvCxnSpPr>
        <p:spPr bwMode="auto">
          <a:xfrm flipH="1">
            <a:off x="10776049" y="6309029"/>
            <a:ext cx="5"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249" name="直線コネクタ 248">
            <a:extLst>
              <a:ext uri="{FF2B5EF4-FFF2-40B4-BE49-F238E27FC236}">
                <a16:creationId xmlns:a16="http://schemas.microsoft.com/office/drawing/2014/main" id="{B3203003-3B30-FBAF-EFA9-CD27EA9CDBDB}"/>
              </a:ext>
            </a:extLst>
          </p:cNvPr>
          <p:cNvCxnSpPr>
            <a:cxnSpLocks/>
          </p:cNvCxnSpPr>
          <p:nvPr/>
        </p:nvCxnSpPr>
        <p:spPr bwMode="auto">
          <a:xfrm>
            <a:off x="10596050" y="5859025"/>
            <a:ext cx="0" cy="90001"/>
          </a:xfrm>
          <a:prstGeom prst="line">
            <a:avLst/>
          </a:prstGeom>
          <a:noFill/>
          <a:ln w="19050" cap="rnd" cmpd="sng" algn="ctr">
            <a:solidFill>
              <a:schemeClr val="accent5"/>
            </a:solidFill>
            <a:prstDash val="solid"/>
            <a:round/>
            <a:headEnd type="none" w="med" len="med"/>
            <a:tailEnd type="none" w="med" len="med"/>
          </a:ln>
          <a:effectLst/>
        </p:spPr>
      </p:cxnSp>
      <p:cxnSp>
        <p:nvCxnSpPr>
          <p:cNvPr id="250" name="直線コネクタ 249">
            <a:extLst>
              <a:ext uri="{FF2B5EF4-FFF2-40B4-BE49-F238E27FC236}">
                <a16:creationId xmlns:a16="http://schemas.microsoft.com/office/drawing/2014/main" id="{FE0C17FB-4D8E-8084-7A24-9397B1A57498}"/>
              </a:ext>
            </a:extLst>
          </p:cNvPr>
          <p:cNvCxnSpPr>
            <a:cxnSpLocks/>
          </p:cNvCxnSpPr>
          <p:nvPr/>
        </p:nvCxnSpPr>
        <p:spPr bwMode="auto">
          <a:xfrm>
            <a:off x="7086011" y="5859025"/>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251" name="直線矢印コネクタ 250">
            <a:extLst>
              <a:ext uri="{FF2B5EF4-FFF2-40B4-BE49-F238E27FC236}">
                <a16:creationId xmlns:a16="http://schemas.microsoft.com/office/drawing/2014/main" id="{10ADA7A1-D94D-B8A3-C47F-2E9FE1757003}"/>
              </a:ext>
            </a:extLst>
          </p:cNvPr>
          <p:cNvCxnSpPr>
            <a:cxnSpLocks/>
          </p:cNvCxnSpPr>
          <p:nvPr/>
        </p:nvCxnSpPr>
        <p:spPr bwMode="auto">
          <a:xfrm flipV="1">
            <a:off x="6816008" y="4149006"/>
            <a:ext cx="0" cy="1440016"/>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252" name="正方形/長方形 251">
            <a:extLst>
              <a:ext uri="{FF2B5EF4-FFF2-40B4-BE49-F238E27FC236}">
                <a16:creationId xmlns:a16="http://schemas.microsoft.com/office/drawing/2014/main" id="{0886D4D6-9B7A-D60B-9F1C-13C9CBE26D53}"/>
              </a:ext>
            </a:extLst>
          </p:cNvPr>
          <p:cNvSpPr/>
          <p:nvPr/>
        </p:nvSpPr>
        <p:spPr bwMode="auto">
          <a:xfrm>
            <a:off x="5555994" y="4599011"/>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高さ</a:t>
            </a:r>
            <a:r>
              <a:rPr lang="en-US" altLang="ja-JP" sz="2400" b="1" dirty="0">
                <a:solidFill>
                  <a:schemeClr val="accent5"/>
                </a:solidFill>
              </a:rPr>
              <a:t> V </a:t>
            </a:r>
            <a:endParaRPr lang="ja-JP" altLang="en-US" sz="2400" b="1" dirty="0">
              <a:solidFill>
                <a:schemeClr val="accent5"/>
              </a:solidFill>
            </a:endParaRPr>
          </a:p>
        </p:txBody>
      </p:sp>
      <p:sp>
        <p:nvSpPr>
          <p:cNvPr id="253" name="正方形/長方形 252">
            <a:extLst>
              <a:ext uri="{FF2B5EF4-FFF2-40B4-BE49-F238E27FC236}">
                <a16:creationId xmlns:a16="http://schemas.microsoft.com/office/drawing/2014/main" id="{D62E33A1-273E-B9D2-CB3C-8F98EBDDC9AA}"/>
              </a:ext>
            </a:extLst>
          </p:cNvPr>
          <p:cNvSpPr/>
          <p:nvPr/>
        </p:nvSpPr>
        <p:spPr bwMode="auto">
          <a:xfrm rot="5400000">
            <a:off x="7446013" y="3519001"/>
            <a:ext cx="540006"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54" name="正方形/長方形 253">
            <a:extLst>
              <a:ext uri="{FF2B5EF4-FFF2-40B4-BE49-F238E27FC236}">
                <a16:creationId xmlns:a16="http://schemas.microsoft.com/office/drawing/2014/main" id="{067BEE8A-DCA7-3EC4-8341-52BC851B82B7}"/>
              </a:ext>
            </a:extLst>
          </p:cNvPr>
          <p:cNvSpPr/>
          <p:nvPr/>
        </p:nvSpPr>
        <p:spPr bwMode="auto">
          <a:xfrm rot="5400000" flipH="1">
            <a:off x="7671015" y="4014004"/>
            <a:ext cx="90001"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55" name="直線コネクタ 254">
            <a:extLst>
              <a:ext uri="{FF2B5EF4-FFF2-40B4-BE49-F238E27FC236}">
                <a16:creationId xmlns:a16="http://schemas.microsoft.com/office/drawing/2014/main" id="{C12649F1-784A-54C7-DFD1-C1AEFE3DFA04}"/>
              </a:ext>
            </a:extLst>
          </p:cNvPr>
          <p:cNvCxnSpPr>
            <a:cxnSpLocks/>
          </p:cNvCxnSpPr>
          <p:nvPr/>
        </p:nvCxnSpPr>
        <p:spPr bwMode="auto">
          <a:xfrm flipH="1">
            <a:off x="7806019" y="3879003"/>
            <a:ext cx="3"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256" name="直線コネクタ 255">
            <a:extLst>
              <a:ext uri="{FF2B5EF4-FFF2-40B4-BE49-F238E27FC236}">
                <a16:creationId xmlns:a16="http://schemas.microsoft.com/office/drawing/2014/main" id="{E64EB19C-76C3-7116-DD39-E05422BA5696}"/>
              </a:ext>
            </a:extLst>
          </p:cNvPr>
          <p:cNvCxnSpPr>
            <a:cxnSpLocks/>
          </p:cNvCxnSpPr>
          <p:nvPr/>
        </p:nvCxnSpPr>
        <p:spPr bwMode="auto">
          <a:xfrm flipH="1">
            <a:off x="7626018" y="3879003"/>
            <a:ext cx="5"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sp>
        <p:nvSpPr>
          <p:cNvPr id="257" name="正方形/長方形 256">
            <a:extLst>
              <a:ext uri="{FF2B5EF4-FFF2-40B4-BE49-F238E27FC236}">
                <a16:creationId xmlns:a16="http://schemas.microsoft.com/office/drawing/2014/main" id="{833B8AB7-4C1D-38A8-4AE9-2E8C14B3BE49}"/>
              </a:ext>
            </a:extLst>
          </p:cNvPr>
          <p:cNvSpPr/>
          <p:nvPr/>
        </p:nvSpPr>
        <p:spPr bwMode="auto">
          <a:xfrm rot="5400000">
            <a:off x="7446014" y="5589023"/>
            <a:ext cx="540006"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58" name="正方形/長方形 257">
            <a:extLst>
              <a:ext uri="{FF2B5EF4-FFF2-40B4-BE49-F238E27FC236}">
                <a16:creationId xmlns:a16="http://schemas.microsoft.com/office/drawing/2014/main" id="{369DBE60-83BC-65D6-C2C4-968E4B0EB4E6}"/>
              </a:ext>
            </a:extLst>
          </p:cNvPr>
          <p:cNvSpPr/>
          <p:nvPr/>
        </p:nvSpPr>
        <p:spPr bwMode="auto">
          <a:xfrm rot="5400000" flipH="1">
            <a:off x="7671016" y="6084026"/>
            <a:ext cx="90001"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59" name="直線コネクタ 258">
            <a:extLst>
              <a:ext uri="{FF2B5EF4-FFF2-40B4-BE49-F238E27FC236}">
                <a16:creationId xmlns:a16="http://schemas.microsoft.com/office/drawing/2014/main" id="{DDF68151-B63C-EC67-E3AE-D35291300DDA}"/>
              </a:ext>
            </a:extLst>
          </p:cNvPr>
          <p:cNvCxnSpPr>
            <a:cxnSpLocks/>
          </p:cNvCxnSpPr>
          <p:nvPr/>
        </p:nvCxnSpPr>
        <p:spPr bwMode="auto">
          <a:xfrm flipH="1">
            <a:off x="7806020" y="5949025"/>
            <a:ext cx="3"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260" name="直線コネクタ 259">
            <a:extLst>
              <a:ext uri="{FF2B5EF4-FFF2-40B4-BE49-F238E27FC236}">
                <a16:creationId xmlns:a16="http://schemas.microsoft.com/office/drawing/2014/main" id="{01B5B3BD-CAD6-8A4B-7EFF-16F971E64CD1}"/>
              </a:ext>
            </a:extLst>
          </p:cNvPr>
          <p:cNvCxnSpPr>
            <a:cxnSpLocks/>
          </p:cNvCxnSpPr>
          <p:nvPr/>
        </p:nvCxnSpPr>
        <p:spPr bwMode="auto">
          <a:xfrm flipH="1">
            <a:off x="7626019" y="5949025"/>
            <a:ext cx="5"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sp>
        <p:nvSpPr>
          <p:cNvPr id="261" name="正方形/長方形 260">
            <a:extLst>
              <a:ext uri="{FF2B5EF4-FFF2-40B4-BE49-F238E27FC236}">
                <a16:creationId xmlns:a16="http://schemas.microsoft.com/office/drawing/2014/main" id="{7B96C343-EB4C-3988-15E2-FE85F43B86F7}"/>
              </a:ext>
            </a:extLst>
          </p:cNvPr>
          <p:cNvSpPr/>
          <p:nvPr/>
        </p:nvSpPr>
        <p:spPr bwMode="auto">
          <a:xfrm>
            <a:off x="6186001" y="3338998"/>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給水量 </a:t>
            </a:r>
            <a:r>
              <a:rPr lang="en-US" altLang="ja-JP" sz="2400" b="1" dirty="0">
                <a:solidFill>
                  <a:schemeClr val="accent5"/>
                </a:solidFill>
              </a:rPr>
              <a:t>Q</a:t>
            </a:r>
            <a:endParaRPr lang="ja-JP" altLang="en-US" sz="2400" b="1" dirty="0">
              <a:solidFill>
                <a:schemeClr val="accent5"/>
              </a:solidFill>
            </a:endParaRPr>
          </a:p>
        </p:txBody>
      </p:sp>
      <p:cxnSp>
        <p:nvCxnSpPr>
          <p:cNvPr id="262" name="直線矢印コネクタ 261">
            <a:extLst>
              <a:ext uri="{FF2B5EF4-FFF2-40B4-BE49-F238E27FC236}">
                <a16:creationId xmlns:a16="http://schemas.microsoft.com/office/drawing/2014/main" id="{172F368D-41E1-A131-BA32-B00C09C1569F}"/>
              </a:ext>
            </a:extLst>
          </p:cNvPr>
          <p:cNvCxnSpPr>
            <a:cxnSpLocks/>
          </p:cNvCxnSpPr>
          <p:nvPr/>
        </p:nvCxnSpPr>
        <p:spPr bwMode="auto">
          <a:xfrm>
            <a:off x="6996010" y="3969005"/>
            <a:ext cx="630007"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263" name="曲折矢印 160">
            <a:extLst>
              <a:ext uri="{FF2B5EF4-FFF2-40B4-BE49-F238E27FC236}">
                <a16:creationId xmlns:a16="http://schemas.microsoft.com/office/drawing/2014/main" id="{00712136-428D-77BA-3546-B000ACF22785}"/>
              </a:ext>
            </a:extLst>
          </p:cNvPr>
          <p:cNvSpPr/>
          <p:nvPr/>
        </p:nvSpPr>
        <p:spPr bwMode="auto">
          <a:xfrm rot="10800000" flipH="1">
            <a:off x="8436027" y="3879004"/>
            <a:ext cx="1620018" cy="72000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64" name="曲折矢印 171">
            <a:extLst>
              <a:ext uri="{FF2B5EF4-FFF2-40B4-BE49-F238E27FC236}">
                <a16:creationId xmlns:a16="http://schemas.microsoft.com/office/drawing/2014/main" id="{35C1A55D-FD56-4E7A-B8F5-2A05DFA72A0F}"/>
              </a:ext>
            </a:extLst>
          </p:cNvPr>
          <p:cNvSpPr/>
          <p:nvPr/>
        </p:nvSpPr>
        <p:spPr bwMode="auto">
          <a:xfrm rot="16200000" flipH="1">
            <a:off x="8751030" y="4464012"/>
            <a:ext cx="810009" cy="162001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34388214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9D2EBBB5-4CD5-0E45-FF40-DD253B5BC6AF}"/>
              </a:ext>
            </a:extLst>
          </p:cNvPr>
          <p:cNvSpPr>
            <a:spLocks noGrp="1"/>
          </p:cNvSpPr>
          <p:nvPr>
            <p:ph type="title"/>
          </p:nvPr>
        </p:nvSpPr>
        <p:spPr/>
        <p:txBody>
          <a:bodyPr/>
          <a:lstStyle/>
          <a:p>
            <a:r>
              <a:rPr lang="ja-JP" altLang="en-US" dirty="0"/>
              <a:t>振り返りからわかること</a:t>
            </a:r>
            <a:endParaRPr lang="en-US" dirty="0"/>
          </a:p>
        </p:txBody>
      </p:sp>
      <p:sp>
        <p:nvSpPr>
          <p:cNvPr id="5" name="テキスト プレースホルダー 4">
            <a:extLst>
              <a:ext uri="{FF2B5EF4-FFF2-40B4-BE49-F238E27FC236}">
                <a16:creationId xmlns:a16="http://schemas.microsoft.com/office/drawing/2014/main" id="{E3ABECA1-C68D-FD5E-4A24-617BDDF75987}"/>
              </a:ext>
            </a:extLst>
          </p:cNvPr>
          <p:cNvSpPr>
            <a:spLocks noGrp="1"/>
          </p:cNvSpPr>
          <p:nvPr>
            <p:ph type="body" sz="quarter" idx="10"/>
          </p:nvPr>
        </p:nvSpPr>
        <p:spPr/>
        <p:txBody>
          <a:bodyPr/>
          <a:lstStyle/>
          <a:p>
            <a:pPr marL="457200" indent="-457200">
              <a:buFont typeface="+mj-lt"/>
              <a:buAutoNum type="arabicPeriod"/>
            </a:pPr>
            <a:r>
              <a:rPr lang="en-US" altLang="ja-JP" dirty="0">
                <a:solidFill>
                  <a:schemeClr val="accent6"/>
                </a:solidFill>
              </a:rPr>
              <a:t>CPU </a:t>
            </a:r>
            <a:r>
              <a:rPr lang="ja-JP" altLang="en-US" dirty="0">
                <a:solidFill>
                  <a:schemeClr val="accent6"/>
                </a:solidFill>
              </a:rPr>
              <a:t>の動作はカレーを作るのに似ている（第１回，第３回）</a:t>
            </a:r>
            <a:endParaRPr lang="en-US" altLang="ja-JP" dirty="0">
              <a:solidFill>
                <a:schemeClr val="accent6"/>
              </a:solidFill>
            </a:endParaRPr>
          </a:p>
          <a:p>
            <a:pPr lvl="1"/>
            <a:r>
              <a:rPr lang="ja-JP" altLang="en-US" dirty="0"/>
              <a:t>命令を読んで，レジスタを読んで，計算し，レジスタに戻す</a:t>
            </a:r>
            <a:endParaRPr lang="en-US" altLang="ja-JP" dirty="0"/>
          </a:p>
          <a:p>
            <a:pPr lvl="1"/>
            <a:r>
              <a:rPr lang="ja-JP" altLang="en-US" dirty="0"/>
              <a:t>流れ作業によって効率を上げている</a:t>
            </a:r>
            <a:endParaRPr lang="en-US" altLang="ja-JP" dirty="0"/>
          </a:p>
          <a:p>
            <a:pPr marL="457200" indent="-457200">
              <a:buFont typeface="+mj-lt"/>
              <a:buAutoNum type="arabicPeriod"/>
            </a:pPr>
            <a:r>
              <a:rPr lang="ja-JP" altLang="en-US" dirty="0">
                <a:solidFill>
                  <a:schemeClr val="accent6"/>
                </a:solidFill>
              </a:rPr>
              <a:t>消費電力は回路の大きさに比例する（第２回）</a:t>
            </a:r>
            <a:endParaRPr lang="en-US" altLang="ja-JP" dirty="0">
              <a:solidFill>
                <a:schemeClr val="accent6"/>
              </a:solidFill>
            </a:endParaRPr>
          </a:p>
          <a:p>
            <a:pPr lvl="1"/>
            <a:r>
              <a:rPr lang="ja-JP" altLang="en-US" dirty="0"/>
              <a:t>主に計算で消費されるエネルギー：</a:t>
            </a:r>
            <a:endParaRPr lang="en-US" altLang="ja-JP" dirty="0"/>
          </a:p>
          <a:p>
            <a:pPr lvl="2"/>
            <a:r>
              <a:rPr lang="ja-JP" altLang="en-US" dirty="0"/>
              <a:t>スイッチを </a:t>
            </a:r>
            <a:r>
              <a:rPr lang="en-US" altLang="ja-JP" dirty="0"/>
              <a:t>ON/OFF </a:t>
            </a:r>
            <a:r>
              <a:rPr lang="ja-JP" altLang="en-US" dirty="0"/>
              <a:t>するためのコンデンサへの充放電で消費</a:t>
            </a:r>
            <a:endParaRPr lang="en-US" altLang="ja-JP" dirty="0"/>
          </a:p>
          <a:p>
            <a:pPr lvl="1"/>
            <a:r>
              <a:rPr lang="ja-JP" altLang="en-US" dirty="0"/>
              <a:t>回路の大きさ→コンデンサの総容量</a:t>
            </a:r>
            <a:endParaRPr lang="en-US" altLang="ja-JP" dirty="0"/>
          </a:p>
          <a:p>
            <a:pPr lvl="2"/>
            <a:r>
              <a:rPr lang="ja-JP" altLang="en-US" dirty="0"/>
              <a:t>水タンクの総量が大きくなるイメージ</a:t>
            </a:r>
            <a:endParaRPr lang="en-US" altLang="ja-JP" dirty="0"/>
          </a:p>
          <a:p>
            <a:r>
              <a:rPr lang="ja-JP" altLang="en-US" dirty="0"/>
              <a:t>これらをもとに，エネルギー効率とアーキテクチャを見ていく</a:t>
            </a:r>
            <a:endParaRPr lang="en-US" altLang="ja-JP" dirty="0"/>
          </a:p>
        </p:txBody>
      </p:sp>
    </p:spTree>
    <p:extLst>
      <p:ext uri="{BB962C8B-B14F-4D97-AF65-F5344CB8AC3E}">
        <p14:creationId xmlns:p14="http://schemas.microsoft.com/office/powerpoint/2010/main" val="42266088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9D2EBBB5-4CD5-0E45-FF40-DD253B5BC6AF}"/>
              </a:ext>
            </a:extLst>
          </p:cNvPr>
          <p:cNvSpPr>
            <a:spLocks noGrp="1"/>
          </p:cNvSpPr>
          <p:nvPr>
            <p:ph type="title"/>
          </p:nvPr>
        </p:nvSpPr>
        <p:spPr/>
        <p:txBody>
          <a:bodyPr/>
          <a:lstStyle/>
          <a:p>
            <a:r>
              <a:rPr lang="en-US" altLang="ja-JP" dirty="0"/>
              <a:t>CPU </a:t>
            </a:r>
            <a:r>
              <a:rPr lang="ja-JP" altLang="en-US" dirty="0"/>
              <a:t>や </a:t>
            </a:r>
            <a:r>
              <a:rPr lang="en-US" altLang="ja-JP" dirty="0"/>
              <a:t>GPU </a:t>
            </a:r>
            <a:r>
              <a:rPr lang="ja-JP" altLang="en-US" dirty="0"/>
              <a:t>などの「エネルギー効率」とは</a:t>
            </a:r>
            <a:br>
              <a:rPr lang="en-US" altLang="ja-JP" dirty="0"/>
            </a:br>
            <a:r>
              <a:rPr lang="ja-JP" altLang="en-US" sz="2000" dirty="0"/>
              <a:t>牧野先生の </a:t>
            </a:r>
            <a:r>
              <a:rPr lang="en-US" altLang="ja-JP" sz="2000" dirty="0"/>
              <a:t>Principles of High-Performance Processor Design </a:t>
            </a:r>
            <a:r>
              <a:rPr lang="ja-JP" altLang="en-US" sz="2000" dirty="0"/>
              <a:t>より</a:t>
            </a:r>
            <a:endParaRPr lang="en-US" dirty="0"/>
          </a:p>
        </p:txBody>
      </p:sp>
      <mc:AlternateContent xmlns:mc="http://schemas.openxmlformats.org/markup-compatibility/2006">
        <mc:Choice xmlns:a14="http://schemas.microsoft.com/office/drawing/2010/main" Requires="a14">
          <p:sp>
            <p:nvSpPr>
              <p:cNvPr id="5" name="テキスト プレースホルダー 4">
                <a:extLst>
                  <a:ext uri="{FF2B5EF4-FFF2-40B4-BE49-F238E27FC236}">
                    <a16:creationId xmlns:a16="http://schemas.microsoft.com/office/drawing/2014/main" id="{E3ABECA1-C68D-FD5E-4A24-617BDDF75987}"/>
                  </a:ext>
                </a:extLst>
              </p:cNvPr>
              <p:cNvSpPr>
                <a:spLocks noGrp="1"/>
              </p:cNvSpPr>
              <p:nvPr>
                <p:ph type="body" sz="quarter" idx="10"/>
              </p:nvPr>
            </p:nvSpPr>
            <p:spPr>
              <a:xfrm>
                <a:off x="1325947" y="1088974"/>
                <a:ext cx="10350115" cy="5490061"/>
              </a:xfrm>
            </p:spPr>
            <p:txBody>
              <a:bodyPr/>
              <a:lstStyle/>
              <a:p>
                <a14:m>
                  <m:oMath xmlns:m="http://schemas.openxmlformats.org/officeDocument/2006/math">
                    <m:r>
                      <m:rPr>
                        <m:nor/>
                      </m:rPr>
                      <a:rPr lang="ja-JP" altLang="en-US" dirty="0" smtClean="0"/>
                      <m:t>効率 </m:t>
                    </m:r>
                    <m:r>
                      <a:rPr lang="en-US" altLang="ja-JP" i="1" dirty="0">
                        <a:latin typeface="Cambria Math" panose="02040503050406030204" pitchFamily="18" charset="0"/>
                      </a:rPr>
                      <m:t>𝜂</m:t>
                    </m:r>
                    <m:r>
                      <a:rPr lang="en-US" altLang="ja-JP" i="1" dirty="0">
                        <a:latin typeface="Cambria Math" panose="02040503050406030204" pitchFamily="18" charset="0"/>
                      </a:rPr>
                      <m:t>=</m:t>
                    </m:r>
                    <m:f>
                      <m:fPr>
                        <m:ctrlPr>
                          <a:rPr lang="en-US" altLang="ja-JP" i="1" dirty="0">
                            <a:latin typeface="Cambria Math" panose="02040503050406030204" pitchFamily="18" charset="0"/>
                          </a:rPr>
                        </m:ctrlPr>
                      </m:fPr>
                      <m:num>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𝑃</m:t>
                            </m:r>
                          </m:e>
                          <m:sub>
                            <m:r>
                              <a:rPr lang="en-US" altLang="ja-JP" b="0" i="1" dirty="0" smtClean="0">
                                <a:latin typeface="Cambria Math" panose="02040503050406030204" pitchFamily="18" charset="0"/>
                              </a:rPr>
                              <m:t>𝑚𝑖𝑛</m:t>
                            </m:r>
                          </m:sub>
                        </m:sSub>
                      </m:num>
                      <m:den>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𝑃</m:t>
                            </m:r>
                          </m:e>
                          <m:sub>
                            <m:r>
                              <a:rPr lang="en-US" altLang="ja-JP" i="1" dirty="0">
                                <a:latin typeface="Cambria Math" panose="02040503050406030204" pitchFamily="18" charset="0"/>
                              </a:rPr>
                              <m:t>𝑎𝑐𝑡𝑢𝑎</m:t>
                            </m:r>
                            <m:r>
                              <a:rPr lang="en-US" altLang="ja-JP" i="1" dirty="0" err="1">
                                <a:latin typeface="Cambria Math" panose="02040503050406030204" pitchFamily="18" charset="0"/>
                              </a:rPr>
                              <m:t>𝑙</m:t>
                            </m:r>
                          </m:sub>
                        </m:sSub>
                      </m:den>
                    </m:f>
                    <m:r>
                      <a:rPr lang="en-US" altLang="ja-JP" b="0" i="1" dirty="0" smtClean="0">
                        <a:latin typeface="Cambria Math" panose="02040503050406030204" pitchFamily="18" charset="0"/>
                      </a:rPr>
                      <m:t>=</m:t>
                    </m:r>
                    <m:f>
                      <m:fPr>
                        <m:ctrlPr>
                          <a:rPr lang="en-US" altLang="ja-JP" i="1" dirty="0">
                            <a:latin typeface="Cambria Math" panose="02040503050406030204" pitchFamily="18" charset="0"/>
                          </a:rPr>
                        </m:ctrlPr>
                      </m:fPr>
                      <m:num>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𝑃</m:t>
                            </m:r>
                          </m:e>
                          <m:sub>
                            <m:r>
                              <a:rPr lang="en-US" altLang="ja-JP" b="0" i="1" dirty="0" smtClean="0">
                                <a:latin typeface="Cambria Math" panose="02040503050406030204" pitchFamily="18" charset="0"/>
                              </a:rPr>
                              <m:t>𝑚𝑖𝑛</m:t>
                            </m:r>
                          </m:sub>
                        </m:sSub>
                      </m:num>
                      <m:den>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𝑃</m:t>
                            </m:r>
                          </m:e>
                          <m:sub>
                            <m:r>
                              <a:rPr lang="en-US" altLang="ja-JP" b="0" i="1" dirty="0" smtClean="0">
                                <a:latin typeface="Cambria Math" panose="02040503050406030204" pitchFamily="18" charset="0"/>
                              </a:rPr>
                              <m:t>𝑚𝑖𝑛</m:t>
                            </m:r>
                          </m:sub>
                        </m:sSub>
                        <m:r>
                          <a:rPr lang="en-US" altLang="ja-JP" b="0" i="1" dirty="0" smtClean="0">
                            <a:latin typeface="Cambria Math" panose="02040503050406030204" pitchFamily="18" charset="0"/>
                          </a:rPr>
                          <m:t>+</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𝑃</m:t>
                            </m:r>
                          </m:e>
                          <m:sub>
                            <m:r>
                              <a:rPr lang="en-US" altLang="ja-JP" b="0" i="1" dirty="0" smtClean="0">
                                <a:latin typeface="Cambria Math" panose="02040503050406030204" pitchFamily="18" charset="0"/>
                              </a:rPr>
                              <m:t>𝑜𝑣𝑒𝑟h𝑒𝑎𝑑</m:t>
                            </m:r>
                          </m:sub>
                        </m:sSub>
                      </m:den>
                    </m:f>
                  </m:oMath>
                </a14:m>
                <a:endParaRPr lang="en-US" altLang="ja-JP" dirty="0"/>
              </a:p>
              <a:p>
                <a14:m>
                  <m:oMath xmlns:m="http://schemas.openxmlformats.org/officeDocument/2006/math">
                    <m:sSub>
                      <m:sSubPr>
                        <m:ctrlPr>
                          <a:rPr lang="en-US" altLang="ja-JP" b="0" i="1" dirty="0" smtClean="0">
                            <a:latin typeface="Cambria Math" panose="02040503050406030204" pitchFamily="18" charset="0"/>
                          </a:rPr>
                        </m:ctrlPr>
                      </m:sSubPr>
                      <m:e>
                        <m:r>
                          <a:rPr lang="en-US" altLang="ja-JP" i="1" dirty="0" smtClean="0">
                            <a:latin typeface="Cambria Math" panose="02040503050406030204" pitchFamily="18" charset="0"/>
                          </a:rPr>
                          <m:t>𝑃</m:t>
                        </m:r>
                      </m:e>
                      <m:sub>
                        <m:r>
                          <a:rPr lang="en-US" altLang="ja-JP" b="0" i="1" dirty="0" smtClean="0">
                            <a:latin typeface="Cambria Math" panose="02040503050406030204" pitchFamily="18" charset="0"/>
                          </a:rPr>
                          <m:t>𝑚𝑖𝑛</m:t>
                        </m:r>
                      </m:sub>
                    </m:sSub>
                    <m:r>
                      <a:rPr lang="en-US" altLang="ja-JP" i="1" dirty="0" smtClean="0">
                        <a:latin typeface="Cambria Math" panose="02040503050406030204" pitchFamily="18" charset="0"/>
                      </a:rPr>
                      <m:t>=</m:t>
                    </m:r>
                  </m:oMath>
                </a14:m>
                <a:r>
                  <a:rPr lang="en-US" altLang="ja-JP" dirty="0"/>
                  <a:t> </a:t>
                </a:r>
                <a:r>
                  <a:rPr lang="ja-JP" altLang="en-US" dirty="0"/>
                  <a:t>そのアプリケーション内の「演算」を行うのに最低必要なエネルギー</a:t>
                </a:r>
                <a:endParaRPr lang="en-US" altLang="ja-JP" dirty="0"/>
              </a:p>
              <a:p>
                <a:pPr lvl="1"/>
                <a:r>
                  <a:rPr lang="ja-JP" altLang="en-US" dirty="0"/>
                  <a:t>たとえば行列積であれば，乗算や加算そのものに必要なエネルギー</a:t>
                </a:r>
                <a:endParaRPr lang="en-US" altLang="ja-JP" dirty="0"/>
              </a:p>
              <a:p>
                <a14:m>
                  <m:oMath xmlns:m="http://schemas.openxmlformats.org/officeDocument/2006/math">
                    <m:sSub>
                      <m:sSubPr>
                        <m:ctrlPr>
                          <a:rPr lang="en-US" altLang="ja-JP" i="1" dirty="0" smtClean="0">
                            <a:latin typeface="Cambria Math" panose="02040503050406030204" pitchFamily="18" charset="0"/>
                          </a:rPr>
                        </m:ctrlPr>
                      </m:sSubPr>
                      <m:e>
                        <m:r>
                          <a:rPr lang="en-US" altLang="ja-JP" i="1" dirty="0" smtClean="0">
                            <a:latin typeface="Cambria Math" panose="02040503050406030204" pitchFamily="18" charset="0"/>
                          </a:rPr>
                          <m:t>𝑃</m:t>
                        </m:r>
                      </m:e>
                      <m:sub>
                        <m:r>
                          <a:rPr lang="en-US" altLang="ja-JP" i="1" dirty="0" smtClean="0">
                            <a:latin typeface="Cambria Math" panose="02040503050406030204" pitchFamily="18" charset="0"/>
                          </a:rPr>
                          <m:t>𝑎𝑐𝑡𝑢𝑎</m:t>
                        </m:r>
                        <m:r>
                          <a:rPr lang="en-US" altLang="ja-JP" i="1" dirty="0" err="1">
                            <a:latin typeface="Cambria Math" panose="02040503050406030204" pitchFamily="18" charset="0"/>
                          </a:rPr>
                          <m:t>𝑙</m:t>
                        </m:r>
                      </m:sub>
                    </m:sSub>
                    <m:r>
                      <a:rPr lang="en-US" altLang="ja-JP" i="1" dirty="0">
                        <a:latin typeface="Cambria Math" panose="02040503050406030204" pitchFamily="18" charset="0"/>
                      </a:rPr>
                      <m:t>=</m:t>
                    </m:r>
                  </m:oMath>
                </a14:m>
                <a:r>
                  <a:rPr lang="ja-JP" altLang="en-US" dirty="0"/>
                  <a:t> 実際にチップで消費されたエネルギー</a:t>
                </a:r>
                <a:endParaRPr lang="en-US" altLang="ja-JP" dirty="0"/>
              </a:p>
              <a:p>
                <a:pPr lvl="1"/>
                <a:r>
                  <a:rPr lang="ja-JP" altLang="en-US" dirty="0"/>
                  <a:t>命令を読み出したり，レジスタを読み書きしたりなどのに必要な追加のエネルギー </a:t>
                </a:r>
                <a14:m>
                  <m:oMath xmlns:m="http://schemas.openxmlformats.org/officeDocument/2006/math">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𝑃</m:t>
                        </m:r>
                      </m:e>
                      <m:sub>
                        <m:r>
                          <a:rPr lang="en-US" altLang="ja-JP" i="1" dirty="0">
                            <a:latin typeface="Cambria Math" panose="02040503050406030204" pitchFamily="18" charset="0"/>
                          </a:rPr>
                          <m:t>𝑜𝑣𝑒𝑟h𝑒𝑎𝑑</m:t>
                        </m:r>
                      </m:sub>
                    </m:sSub>
                  </m:oMath>
                </a14:m>
                <a:r>
                  <a:rPr lang="ja-JP" altLang="en-US" dirty="0"/>
                  <a:t> がのってくる</a:t>
                </a:r>
                <a:endParaRPr lang="en-US" altLang="ja-JP" dirty="0"/>
              </a:p>
              <a:p>
                <a:pPr lvl="1"/>
                <a:endParaRPr lang="en-US" altLang="ja-JP" dirty="0"/>
              </a:p>
              <a:p>
                <a:r>
                  <a:rPr lang="ja-JP" altLang="en-US" dirty="0"/>
                  <a:t>「エネルギー効率」を上げるのに取り得る方針：</a:t>
                </a:r>
                <a:endParaRPr lang="en-US" altLang="ja-JP" dirty="0"/>
              </a:p>
              <a:p>
                <a:pPr lvl="1"/>
                <a14:m>
                  <m:oMath xmlns:m="http://schemas.openxmlformats.org/officeDocument/2006/math">
                    <m:sSub>
                      <m:sSubPr>
                        <m:ctrlPr>
                          <a:rPr lang="en-US" altLang="ja-JP" i="1" dirty="0" smtClean="0">
                            <a:solidFill>
                              <a:schemeClr val="accent6"/>
                            </a:solidFill>
                            <a:latin typeface="Cambria Math" panose="02040503050406030204" pitchFamily="18" charset="0"/>
                          </a:rPr>
                        </m:ctrlPr>
                      </m:sSubPr>
                      <m:e>
                        <m:r>
                          <a:rPr lang="en-US" altLang="ja-JP" i="1" dirty="0">
                            <a:solidFill>
                              <a:schemeClr val="accent6"/>
                            </a:solidFill>
                            <a:latin typeface="Cambria Math" panose="02040503050406030204" pitchFamily="18" charset="0"/>
                          </a:rPr>
                          <m:t>𝑃</m:t>
                        </m:r>
                      </m:e>
                      <m:sub>
                        <m:r>
                          <a:rPr lang="en-US" altLang="ja-JP" i="1" dirty="0">
                            <a:solidFill>
                              <a:schemeClr val="accent6"/>
                            </a:solidFill>
                            <a:latin typeface="Cambria Math" panose="02040503050406030204" pitchFamily="18" charset="0"/>
                          </a:rPr>
                          <m:t>𝑜𝑣𝑒𝑟h𝑒𝑎𝑑</m:t>
                        </m:r>
                      </m:sub>
                    </m:sSub>
                  </m:oMath>
                </a14:m>
                <a:r>
                  <a:rPr lang="en-US" altLang="ja-JP" dirty="0">
                    <a:solidFill>
                      <a:schemeClr val="accent6"/>
                    </a:solidFill>
                  </a:rPr>
                  <a:t> </a:t>
                </a:r>
                <a:r>
                  <a:rPr lang="ja-JP" altLang="en-US" dirty="0">
                    <a:solidFill>
                      <a:schemeClr val="accent6"/>
                    </a:solidFill>
                  </a:rPr>
                  <a:t>を減らす</a:t>
                </a:r>
                <a:endParaRPr lang="en-US" altLang="ja-JP" dirty="0">
                  <a:solidFill>
                    <a:schemeClr val="accent6"/>
                  </a:solidFill>
                </a:endParaRPr>
              </a:p>
              <a:p>
                <a:pPr lvl="1"/>
                <a:r>
                  <a:rPr lang="ja-JP" altLang="en-US" dirty="0"/>
                  <a:t>（全体のエネルギーを減らすなら，</a:t>
                </a:r>
                <a14:m>
                  <m:oMath xmlns:m="http://schemas.openxmlformats.org/officeDocument/2006/math">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𝑃</m:t>
                        </m:r>
                      </m:e>
                      <m:sub>
                        <m:r>
                          <a:rPr lang="en-US" altLang="ja-JP" i="1" dirty="0">
                            <a:latin typeface="Cambria Math" panose="02040503050406030204" pitchFamily="18" charset="0"/>
                          </a:rPr>
                          <m:t>𝑚𝑖𝑛</m:t>
                        </m:r>
                      </m:sub>
                    </m:sSub>
                  </m:oMath>
                </a14:m>
                <a:r>
                  <a:rPr lang="en-US" altLang="ja-JP" dirty="0"/>
                  <a:t> </a:t>
                </a:r>
                <a:r>
                  <a:rPr lang="ja-JP" altLang="en-US" dirty="0"/>
                  <a:t>自体を減らす方向もある（付録に記載）</a:t>
                </a:r>
                <a:endParaRPr lang="en-US" altLang="ja-JP" dirty="0"/>
              </a:p>
            </p:txBody>
          </p:sp>
        </mc:Choice>
        <mc:Fallback>
          <p:sp>
            <p:nvSpPr>
              <p:cNvPr id="5" name="テキスト プレースホルダー 4">
                <a:extLst>
                  <a:ext uri="{FF2B5EF4-FFF2-40B4-BE49-F238E27FC236}">
                    <a16:creationId xmlns:a16="http://schemas.microsoft.com/office/drawing/2014/main" id="{E3ABECA1-C68D-FD5E-4A24-617BDDF75987}"/>
                  </a:ext>
                </a:extLst>
              </p:cNvPr>
              <p:cNvSpPr>
                <a:spLocks noGrp="1" noRot="1" noChangeAspect="1" noMove="1" noResize="1" noEditPoints="1" noAdjustHandles="1" noChangeArrowheads="1" noChangeShapeType="1" noTextEdit="1"/>
              </p:cNvSpPr>
              <p:nvPr>
                <p:ph type="body" sz="quarter" idx="10"/>
              </p:nvPr>
            </p:nvSpPr>
            <p:spPr>
              <a:xfrm>
                <a:off x="1325947" y="1088974"/>
                <a:ext cx="10350115" cy="5490061"/>
              </a:xfrm>
              <a:blipFill>
                <a:blip r:embed="rId2"/>
                <a:stretch>
                  <a:fillRect l="-530" r="-354"/>
                </a:stretch>
              </a:blipFill>
            </p:spPr>
            <p:txBody>
              <a:bodyPr/>
              <a:lstStyle/>
              <a:p>
                <a:r>
                  <a:rPr lang="ja-JP" altLang="en-US">
                    <a:noFill/>
                  </a:rPr>
                  <a:t> </a:t>
                </a:r>
              </a:p>
            </p:txBody>
          </p:sp>
        </mc:Fallback>
      </mc:AlternateContent>
      <p:sp>
        <p:nvSpPr>
          <p:cNvPr id="2" name="スライド番号プレースホルダー 1">
            <a:extLst>
              <a:ext uri="{FF2B5EF4-FFF2-40B4-BE49-F238E27FC236}">
                <a16:creationId xmlns:a16="http://schemas.microsoft.com/office/drawing/2014/main" id="{802B3EBD-6E1A-86D9-62A7-3C0F52D6BB7C}"/>
              </a:ext>
            </a:extLst>
          </p:cNvPr>
          <p:cNvSpPr>
            <a:spLocks noGrp="1"/>
          </p:cNvSpPr>
          <p:nvPr>
            <p:ph type="sldNum" sz="quarter" idx="4294967295"/>
          </p:nvPr>
        </p:nvSpPr>
        <p:spPr>
          <a:xfrm>
            <a:off x="11376025" y="6308725"/>
            <a:ext cx="815975" cy="549275"/>
          </a:xfrm>
        </p:spPr>
        <p:txBody>
          <a:bodyPr/>
          <a:lstStyle/>
          <a:p>
            <a:fld id="{D2D8002D-B5B0-4BAC-B1F6-782DDCCE6D9C}" type="slidenum">
              <a:rPr kumimoji="1" lang="ja-JP" altLang="en-US" smtClean="0"/>
              <a:pPr/>
              <a:t>11</a:t>
            </a:fld>
            <a:endParaRPr kumimoji="1" lang="ja-JP" altLang="en-US"/>
          </a:p>
        </p:txBody>
      </p:sp>
    </p:spTree>
    <p:extLst>
      <p:ext uri="{BB962C8B-B14F-4D97-AF65-F5344CB8AC3E}">
        <p14:creationId xmlns:p14="http://schemas.microsoft.com/office/powerpoint/2010/main" val="38790071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E3803-34D0-D3B5-3336-043DE0CDBC4C}"/>
            </a:ext>
          </a:extLst>
        </p:cNvPr>
        <p:cNvGrpSpPr/>
        <p:nvPr/>
      </p:nvGrpSpPr>
      <p:grpSpPr>
        <a:xfrm>
          <a:off x="0" y="0"/>
          <a:ext cx="0" cy="0"/>
          <a:chOff x="0" y="0"/>
          <a:chExt cx="0" cy="0"/>
        </a:xfrm>
      </p:grpSpPr>
      <p:grpSp>
        <p:nvGrpSpPr>
          <p:cNvPr id="34" name="グループ化 33">
            <a:extLst>
              <a:ext uri="{FF2B5EF4-FFF2-40B4-BE49-F238E27FC236}">
                <a16:creationId xmlns:a16="http://schemas.microsoft.com/office/drawing/2014/main" id="{D97FD011-C3C4-F12A-A329-996601258692}"/>
              </a:ext>
            </a:extLst>
          </p:cNvPr>
          <p:cNvGrpSpPr/>
          <p:nvPr/>
        </p:nvGrpSpPr>
        <p:grpSpPr>
          <a:xfrm>
            <a:off x="5105989" y="3158997"/>
            <a:ext cx="1562400" cy="576064"/>
            <a:chOff x="971600" y="5445224"/>
            <a:chExt cx="7200800" cy="576064"/>
          </a:xfrm>
        </p:grpSpPr>
        <p:sp>
          <p:nvSpPr>
            <p:cNvPr id="35" name="平行四辺形 34">
              <a:extLst>
                <a:ext uri="{FF2B5EF4-FFF2-40B4-BE49-F238E27FC236}">
                  <a16:creationId xmlns:a16="http://schemas.microsoft.com/office/drawing/2014/main" id="{F9DE36D6-5B37-658C-9F29-479507C00D5B}"/>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a:extLst>
                <a:ext uri="{FF2B5EF4-FFF2-40B4-BE49-F238E27FC236}">
                  <a16:creationId xmlns:a16="http://schemas.microsoft.com/office/drawing/2014/main" id="{DA3A49B9-3298-D89C-09A6-2C20D7FF28C4}"/>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a:extLst>
              <a:ext uri="{FF2B5EF4-FFF2-40B4-BE49-F238E27FC236}">
                <a16:creationId xmlns:a16="http://schemas.microsoft.com/office/drawing/2014/main" id="{DAB430A2-3390-5101-FE8C-34AEBD6A8F04}"/>
              </a:ext>
            </a:extLst>
          </p:cNvPr>
          <p:cNvGrpSpPr/>
          <p:nvPr/>
        </p:nvGrpSpPr>
        <p:grpSpPr>
          <a:xfrm>
            <a:off x="6546149" y="3158997"/>
            <a:ext cx="1562400" cy="576064"/>
            <a:chOff x="971600" y="5445224"/>
            <a:chExt cx="7200800" cy="576064"/>
          </a:xfrm>
        </p:grpSpPr>
        <p:sp>
          <p:nvSpPr>
            <p:cNvPr id="50" name="平行四辺形 49">
              <a:extLst>
                <a:ext uri="{FF2B5EF4-FFF2-40B4-BE49-F238E27FC236}">
                  <a16:creationId xmlns:a16="http://schemas.microsoft.com/office/drawing/2014/main" id="{95014CA7-2851-24F2-492B-B925BD5D13A7}"/>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a:extLst>
                <a:ext uri="{FF2B5EF4-FFF2-40B4-BE49-F238E27FC236}">
                  <a16:creationId xmlns:a16="http://schemas.microsoft.com/office/drawing/2014/main" id="{4305907B-EA5E-7937-8C60-6CEFFB82C84E}"/>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a:extLst>
              <a:ext uri="{FF2B5EF4-FFF2-40B4-BE49-F238E27FC236}">
                <a16:creationId xmlns:a16="http://schemas.microsoft.com/office/drawing/2014/main" id="{A6FB4544-DA54-E683-DC01-CF290D44FEA8}"/>
              </a:ext>
            </a:extLst>
          </p:cNvPr>
          <p:cNvGrpSpPr/>
          <p:nvPr/>
        </p:nvGrpSpPr>
        <p:grpSpPr>
          <a:xfrm>
            <a:off x="7986309" y="3158997"/>
            <a:ext cx="1562400" cy="576064"/>
            <a:chOff x="971600" y="5445224"/>
            <a:chExt cx="7200800" cy="576064"/>
          </a:xfrm>
        </p:grpSpPr>
        <p:sp>
          <p:nvSpPr>
            <p:cNvPr id="53" name="平行四辺形 52">
              <a:extLst>
                <a:ext uri="{FF2B5EF4-FFF2-40B4-BE49-F238E27FC236}">
                  <a16:creationId xmlns:a16="http://schemas.microsoft.com/office/drawing/2014/main" id="{BBFC3A51-1D16-09F2-9977-E3B926D5A1C3}"/>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a:extLst>
                <a:ext uri="{FF2B5EF4-FFF2-40B4-BE49-F238E27FC236}">
                  <a16:creationId xmlns:a16="http://schemas.microsoft.com/office/drawing/2014/main" id="{A4621878-1F29-CA24-C1B6-85CAC35EED3F}"/>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a:extLst>
              <a:ext uri="{FF2B5EF4-FFF2-40B4-BE49-F238E27FC236}">
                <a16:creationId xmlns:a16="http://schemas.microsoft.com/office/drawing/2014/main" id="{F3A465E1-16CB-9AC9-2927-73926AC22EC4}"/>
              </a:ext>
            </a:extLst>
          </p:cNvPr>
          <p:cNvGrpSpPr/>
          <p:nvPr/>
        </p:nvGrpSpPr>
        <p:grpSpPr>
          <a:xfrm>
            <a:off x="9426469" y="3158997"/>
            <a:ext cx="1584176" cy="576064"/>
            <a:chOff x="971600" y="5445224"/>
            <a:chExt cx="7200800" cy="576064"/>
          </a:xfrm>
        </p:grpSpPr>
        <p:sp>
          <p:nvSpPr>
            <p:cNvPr id="62" name="平行四辺形 61">
              <a:extLst>
                <a:ext uri="{FF2B5EF4-FFF2-40B4-BE49-F238E27FC236}">
                  <a16:creationId xmlns:a16="http://schemas.microsoft.com/office/drawing/2014/main" id="{DDEF3484-2C15-FAA3-4D9D-01A3EB407656}"/>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a:extLst>
                <a:ext uri="{FF2B5EF4-FFF2-40B4-BE49-F238E27FC236}">
                  <a16:creationId xmlns:a16="http://schemas.microsoft.com/office/drawing/2014/main" id="{96E681E2-D7F5-C727-6575-E67DC1F3275D}"/>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a:extLst>
              <a:ext uri="{FF2B5EF4-FFF2-40B4-BE49-F238E27FC236}">
                <a16:creationId xmlns:a16="http://schemas.microsoft.com/office/drawing/2014/main" id="{8882EAE5-4DE7-5628-036B-A185B58A7AC2}"/>
              </a:ext>
            </a:extLst>
          </p:cNvPr>
          <p:cNvSpPr/>
          <p:nvPr/>
        </p:nvSpPr>
        <p:spPr>
          <a:xfrm>
            <a:off x="5067829"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a:extLst>
              <a:ext uri="{FF2B5EF4-FFF2-40B4-BE49-F238E27FC236}">
                <a16:creationId xmlns:a16="http://schemas.microsoft.com/office/drawing/2014/main" id="{BCDC73FB-C1C3-3304-37DA-E591E973594E}"/>
              </a:ext>
            </a:extLst>
          </p:cNvPr>
          <p:cNvSpPr/>
          <p:nvPr/>
        </p:nvSpPr>
        <p:spPr>
          <a:xfrm>
            <a:off x="6507989"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6B3C8D6B-7639-8D16-8C95-802DAB070D80}"/>
              </a:ext>
            </a:extLst>
          </p:cNvPr>
          <p:cNvSpPr/>
          <p:nvPr/>
        </p:nvSpPr>
        <p:spPr>
          <a:xfrm>
            <a:off x="7950036"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a:extLst>
              <a:ext uri="{FF2B5EF4-FFF2-40B4-BE49-F238E27FC236}">
                <a16:creationId xmlns:a16="http://schemas.microsoft.com/office/drawing/2014/main" id="{612BEB92-BDDA-649D-A9E4-14245C49AD7E}"/>
              </a:ext>
            </a:extLst>
          </p:cNvPr>
          <p:cNvSpPr/>
          <p:nvPr/>
        </p:nvSpPr>
        <p:spPr>
          <a:xfrm>
            <a:off x="9390196" y="2313038"/>
            <a:ext cx="937991" cy="738664"/>
          </a:xfrm>
          <a:prstGeom prst="rect">
            <a:avLst/>
          </a:prstGeom>
        </p:spPr>
        <p:txBody>
          <a:bodyPr wrap="square">
            <a:spAutoFit/>
          </a:bodyPr>
          <a:lstStyle/>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744EBA4D-C881-CB27-E29C-8FFFFDC4384D}"/>
              </a:ext>
            </a:extLst>
          </p:cNvPr>
          <p:cNvSpPr>
            <a:spLocks noGrp="1"/>
          </p:cNvSpPr>
          <p:nvPr>
            <p:ph type="title"/>
          </p:nvPr>
        </p:nvSpPr>
        <p:spPr/>
        <p:txBody>
          <a:bodyPr/>
          <a:lstStyle/>
          <a:p>
            <a:r>
              <a:rPr lang="ja-JP" altLang="en-US" dirty="0"/>
              <a:t>カレー屋さんパイプラインで考える</a:t>
            </a:r>
            <a:endParaRPr kumimoji="1" lang="ja-JP" altLang="en-US" dirty="0"/>
          </a:p>
        </p:txBody>
      </p:sp>
      <p:cxnSp>
        <p:nvCxnSpPr>
          <p:cNvPr id="67" name="直線矢印コネクタ 66">
            <a:extLst>
              <a:ext uri="{FF2B5EF4-FFF2-40B4-BE49-F238E27FC236}">
                <a16:creationId xmlns:a16="http://schemas.microsoft.com/office/drawing/2014/main" id="{AC548E2C-4E4A-EB35-847B-F4C2D84BB197}"/>
              </a:ext>
            </a:extLst>
          </p:cNvPr>
          <p:cNvCxnSpPr/>
          <p:nvPr/>
        </p:nvCxnSpPr>
        <p:spPr bwMode="auto">
          <a:xfrm>
            <a:off x="5105989"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7" name="正方形/長方形 96">
            <a:extLst>
              <a:ext uri="{FF2B5EF4-FFF2-40B4-BE49-F238E27FC236}">
                <a16:creationId xmlns:a16="http://schemas.microsoft.com/office/drawing/2014/main" id="{209213CA-DF37-9906-D32F-4D1F35E68DA9}"/>
              </a:ext>
            </a:extLst>
          </p:cNvPr>
          <p:cNvSpPr/>
          <p:nvPr/>
        </p:nvSpPr>
        <p:spPr bwMode="auto">
          <a:xfrm>
            <a:off x="3935976" y="1628980"/>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レシピ</a:t>
            </a:r>
          </a:p>
        </p:txBody>
      </p:sp>
      <p:sp>
        <p:nvSpPr>
          <p:cNvPr id="30" name="Freeform 25">
            <a:extLst>
              <a:ext uri="{FF2B5EF4-FFF2-40B4-BE49-F238E27FC236}">
                <a16:creationId xmlns:a16="http://schemas.microsoft.com/office/drawing/2014/main" id="{20EE20E7-3D09-EF3B-DF07-57A98CCBCC0C}"/>
              </a:ext>
            </a:extLst>
          </p:cNvPr>
          <p:cNvSpPr>
            <a:spLocks/>
          </p:cNvSpPr>
          <p:nvPr/>
        </p:nvSpPr>
        <p:spPr bwMode="auto">
          <a:xfrm>
            <a:off x="6726007"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キッチン台</a:t>
            </a:r>
          </a:p>
        </p:txBody>
      </p:sp>
      <p:sp>
        <p:nvSpPr>
          <p:cNvPr id="31" name="AutoShape 5">
            <a:extLst>
              <a:ext uri="{FF2B5EF4-FFF2-40B4-BE49-F238E27FC236}">
                <a16:creationId xmlns:a16="http://schemas.microsoft.com/office/drawing/2014/main" id="{CD031A8E-F26B-D847-2A70-205C64070A5C}"/>
              </a:ext>
            </a:extLst>
          </p:cNvPr>
          <p:cNvSpPr>
            <a:spLocks noChangeArrowheads="1"/>
          </p:cNvSpPr>
          <p:nvPr/>
        </p:nvSpPr>
        <p:spPr bwMode="auto">
          <a:xfrm rot="-5400000">
            <a:off x="8346187" y="1683049"/>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コンロ</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まな板</a:t>
            </a:r>
          </a:p>
        </p:txBody>
      </p:sp>
      <p:grpSp>
        <p:nvGrpSpPr>
          <p:cNvPr id="32" name="グループ化 31">
            <a:extLst>
              <a:ext uri="{FF2B5EF4-FFF2-40B4-BE49-F238E27FC236}">
                <a16:creationId xmlns:a16="http://schemas.microsoft.com/office/drawing/2014/main" id="{F856F6A6-C193-A635-3816-4DE27370E56B}"/>
              </a:ext>
            </a:extLst>
          </p:cNvPr>
          <p:cNvGrpSpPr/>
          <p:nvPr/>
        </p:nvGrpSpPr>
        <p:grpSpPr>
          <a:xfrm>
            <a:off x="7014039" y="1719053"/>
            <a:ext cx="1008112" cy="432048"/>
            <a:chOff x="3563888" y="2708920"/>
            <a:chExt cx="1296144" cy="432048"/>
          </a:xfrm>
        </p:grpSpPr>
        <p:sp>
          <p:nvSpPr>
            <p:cNvPr id="33" name="Freeform 9">
              <a:extLst>
                <a:ext uri="{FF2B5EF4-FFF2-40B4-BE49-F238E27FC236}">
                  <a16:creationId xmlns:a16="http://schemas.microsoft.com/office/drawing/2014/main" id="{D8216280-F4CC-785F-15C8-6EF85CF0125F}"/>
                </a:ext>
              </a:extLst>
            </p:cNvPr>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a:extLst>
                <a:ext uri="{FF2B5EF4-FFF2-40B4-BE49-F238E27FC236}">
                  <a16:creationId xmlns:a16="http://schemas.microsoft.com/office/drawing/2014/main" id="{40C7861E-D386-2B14-4A11-94BB4874DCC2}"/>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a:extLst>
              <a:ext uri="{FF2B5EF4-FFF2-40B4-BE49-F238E27FC236}">
                <a16:creationId xmlns:a16="http://schemas.microsoft.com/office/drawing/2014/main" id="{B36C7009-66F0-BE01-EF73-D746D5BD0E9D}"/>
              </a:ext>
            </a:extLst>
          </p:cNvPr>
          <p:cNvSpPr>
            <a:spLocks/>
          </p:cNvSpPr>
          <p:nvPr/>
        </p:nvSpPr>
        <p:spPr bwMode="auto">
          <a:xfrm>
            <a:off x="9462311" y="1719053"/>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solidFill>
              <a:schemeClr val="accent3"/>
            </a:solidFill>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nvGrpSpPr>
          <p:cNvPr id="41" name="グループ化 40">
            <a:extLst>
              <a:ext uri="{FF2B5EF4-FFF2-40B4-BE49-F238E27FC236}">
                <a16:creationId xmlns:a16="http://schemas.microsoft.com/office/drawing/2014/main" id="{55D0D3C5-43DF-F067-E49F-538853BE4EDD}"/>
              </a:ext>
            </a:extLst>
          </p:cNvPr>
          <p:cNvGrpSpPr/>
          <p:nvPr/>
        </p:nvGrpSpPr>
        <p:grpSpPr>
          <a:xfrm>
            <a:off x="4025978" y="2618990"/>
            <a:ext cx="720009" cy="360004"/>
            <a:chOff x="6372020" y="3699004"/>
            <a:chExt cx="720009" cy="360004"/>
          </a:xfrm>
        </p:grpSpPr>
        <p:sp>
          <p:nvSpPr>
            <p:cNvPr id="42" name="角丸四角形 41">
              <a:extLst>
                <a:ext uri="{FF2B5EF4-FFF2-40B4-BE49-F238E27FC236}">
                  <a16:creationId xmlns:a16="http://schemas.microsoft.com/office/drawing/2014/main" id="{E8CF087D-BC6D-5431-0402-3608F2AA47EE}"/>
                </a:ext>
              </a:extLst>
            </p:cNvPr>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sp>
          <p:nvSpPr>
            <p:cNvPr id="44" name="角丸四角形 43">
              <a:extLst>
                <a:ext uri="{FF2B5EF4-FFF2-40B4-BE49-F238E27FC236}">
                  <a16:creationId xmlns:a16="http://schemas.microsoft.com/office/drawing/2014/main" id="{0F55E946-4422-8C59-5B17-E75F20A4BEA0}"/>
                </a:ext>
              </a:extLst>
            </p:cNvPr>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grpSp>
      <p:sp>
        <p:nvSpPr>
          <p:cNvPr id="96" name="正方形/長方形 95">
            <a:extLst>
              <a:ext uri="{FF2B5EF4-FFF2-40B4-BE49-F238E27FC236}">
                <a16:creationId xmlns:a16="http://schemas.microsoft.com/office/drawing/2014/main" id="{F6703890-C1C6-8647-3AB9-8D17BF12AD99}"/>
              </a:ext>
            </a:extLst>
          </p:cNvPr>
          <p:cNvSpPr/>
          <p:nvPr/>
        </p:nvSpPr>
        <p:spPr bwMode="auto">
          <a:xfrm>
            <a:off x="3665973" y="2078985"/>
            <a:ext cx="1260014" cy="1710019"/>
          </a:xfrm>
          <a:prstGeom prst="rect">
            <a:avLst/>
          </a:prstGeom>
          <a:ln>
            <a:headEnd/>
            <a:tailEnd type="non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r>
              <a:rPr lang="en-US" altLang="ja-JP" sz="1400" dirty="0">
                <a:solidFill>
                  <a:schemeClr val="tx1"/>
                </a:solidFill>
                <a:latin typeface="Arial Narrow" panose="020B0606020202030204" pitchFamily="34" charset="0"/>
              </a:rPr>
              <a:t>1. </a:t>
            </a:r>
            <a:r>
              <a:rPr lang="ja-JP" altLang="en-US" sz="1400" dirty="0">
                <a:solidFill>
                  <a:schemeClr val="tx1"/>
                </a:solidFill>
                <a:latin typeface="Arial Narrow" panose="020B0606020202030204" pitchFamily="34" charset="0"/>
              </a:rPr>
              <a:t>人参を切る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2. </a:t>
            </a:r>
            <a:r>
              <a:rPr lang="ja-JP" altLang="en-US" sz="1400" dirty="0">
                <a:solidFill>
                  <a:schemeClr val="tx1"/>
                </a:solidFill>
                <a:latin typeface="Arial Narrow" panose="020B0606020202030204" pitchFamily="34" charset="0"/>
              </a:rPr>
              <a:t>玉葱を切る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3. </a:t>
            </a:r>
            <a:r>
              <a:rPr lang="ja-JP" altLang="en-US" sz="1400" dirty="0">
                <a:solidFill>
                  <a:schemeClr val="tx1"/>
                </a:solidFill>
                <a:latin typeface="Arial Narrow" panose="020B0606020202030204" pitchFamily="34" charset="0"/>
              </a:rPr>
              <a:t>肉を切る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4. </a:t>
            </a:r>
            <a:r>
              <a:rPr lang="ja-JP" altLang="en-US" sz="1400" dirty="0">
                <a:solidFill>
                  <a:schemeClr val="tx1"/>
                </a:solidFill>
                <a:latin typeface="Arial Narrow" panose="020B0606020202030204" pitchFamily="34" charset="0"/>
              </a:rPr>
              <a:t>芋を切る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5. </a:t>
            </a:r>
            <a:r>
              <a:rPr lang="ja-JP" altLang="en-US" sz="1400" dirty="0">
                <a:solidFill>
                  <a:schemeClr val="tx1"/>
                </a:solidFill>
                <a:latin typeface="Arial Narrow" panose="020B0606020202030204" pitchFamily="34" charset="0"/>
              </a:rPr>
              <a:t>炒める</a:t>
            </a:r>
          </a:p>
        </p:txBody>
      </p:sp>
      <p:sp>
        <p:nvSpPr>
          <p:cNvPr id="5" name="角丸四角形 45">
            <a:extLst>
              <a:ext uri="{FF2B5EF4-FFF2-40B4-BE49-F238E27FC236}">
                <a16:creationId xmlns:a16="http://schemas.microsoft.com/office/drawing/2014/main" id="{EC950FE6-1A46-9DF6-BE47-56E92BD1E651}"/>
              </a:ext>
            </a:extLst>
          </p:cNvPr>
          <p:cNvSpPr/>
          <p:nvPr/>
        </p:nvSpPr>
        <p:spPr bwMode="auto">
          <a:xfrm>
            <a:off x="6912026" y="2978995"/>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100" dirty="0">
                <a:solidFill>
                  <a:schemeClr val="bg1"/>
                </a:solidFill>
                <a:latin typeface="Arial Narrow" panose="020B0606020202030204" pitchFamily="34" charset="0"/>
              </a:rPr>
              <a:t>人参切る</a:t>
            </a:r>
          </a:p>
        </p:txBody>
      </p:sp>
      <p:sp>
        <p:nvSpPr>
          <p:cNvPr id="6" name="角丸四角形 46">
            <a:extLst>
              <a:ext uri="{FF2B5EF4-FFF2-40B4-BE49-F238E27FC236}">
                <a16:creationId xmlns:a16="http://schemas.microsoft.com/office/drawing/2014/main" id="{BD1F37F3-C3CC-AACA-57DF-C8B8749AA764}"/>
              </a:ext>
            </a:extLst>
          </p:cNvPr>
          <p:cNvSpPr/>
          <p:nvPr/>
        </p:nvSpPr>
        <p:spPr bwMode="auto">
          <a:xfrm>
            <a:off x="5472010" y="2978995"/>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dirty="0">
                <a:solidFill>
                  <a:schemeClr val="bg1"/>
                </a:solidFill>
                <a:latin typeface="Arial Narrow" panose="020B0606020202030204" pitchFamily="34" charset="0"/>
              </a:rPr>
              <a:t>玉葱切る</a:t>
            </a:r>
            <a:endParaRPr kumimoji="1" lang="ja-JP" altLang="en-US" sz="1100" dirty="0">
              <a:solidFill>
                <a:schemeClr val="bg1"/>
              </a:solidFill>
              <a:latin typeface="Arial Narrow" panose="020B0606020202030204" pitchFamily="34" charset="0"/>
            </a:endParaRPr>
          </a:p>
        </p:txBody>
      </p:sp>
      <p:sp>
        <p:nvSpPr>
          <p:cNvPr id="8" name="角丸四角形吹き出し 42">
            <a:extLst>
              <a:ext uri="{FF2B5EF4-FFF2-40B4-BE49-F238E27FC236}">
                <a16:creationId xmlns:a16="http://schemas.microsoft.com/office/drawing/2014/main" id="{BB9A8276-F346-7B5A-7079-4FF636A099A0}"/>
              </a:ext>
            </a:extLst>
          </p:cNvPr>
          <p:cNvSpPr/>
          <p:nvPr/>
        </p:nvSpPr>
        <p:spPr bwMode="auto">
          <a:xfrm>
            <a:off x="10056044" y="1988985"/>
            <a:ext cx="1080012" cy="522648"/>
          </a:xfrm>
          <a:prstGeom prst="wedgeRoundRectCallout">
            <a:avLst>
              <a:gd name="adj1" fmla="val -46134"/>
              <a:gd name="adj2" fmla="val 94815"/>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台に</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戻す係です！</a:t>
            </a:r>
          </a:p>
        </p:txBody>
      </p:sp>
      <p:sp>
        <p:nvSpPr>
          <p:cNvPr id="9" name="角丸四角形吹き出し 44">
            <a:extLst>
              <a:ext uri="{FF2B5EF4-FFF2-40B4-BE49-F238E27FC236}">
                <a16:creationId xmlns:a16="http://schemas.microsoft.com/office/drawing/2014/main" id="{43818296-D1AB-1C09-0373-8378A2CAA403}"/>
              </a:ext>
            </a:extLst>
          </p:cNvPr>
          <p:cNvSpPr/>
          <p:nvPr/>
        </p:nvSpPr>
        <p:spPr bwMode="auto">
          <a:xfrm>
            <a:off x="7176012" y="1988985"/>
            <a:ext cx="1080012" cy="522648"/>
          </a:xfrm>
          <a:prstGeom prst="wedgeRoundRectCallout">
            <a:avLst>
              <a:gd name="adj1" fmla="val -41466"/>
              <a:gd name="adj2" fmla="val 84351"/>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材料</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取る係です！</a:t>
            </a:r>
          </a:p>
        </p:txBody>
      </p:sp>
      <p:sp>
        <p:nvSpPr>
          <p:cNvPr id="10" name="角丸四角形吹き出し 44">
            <a:extLst>
              <a:ext uri="{FF2B5EF4-FFF2-40B4-BE49-F238E27FC236}">
                <a16:creationId xmlns:a16="http://schemas.microsoft.com/office/drawing/2014/main" id="{1A5410FD-512C-2007-0C47-49D67905FECD}"/>
              </a:ext>
            </a:extLst>
          </p:cNvPr>
          <p:cNvSpPr/>
          <p:nvPr/>
        </p:nvSpPr>
        <p:spPr bwMode="auto">
          <a:xfrm>
            <a:off x="5555994" y="2168987"/>
            <a:ext cx="1440016" cy="342645"/>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レシピを読むで</a:t>
            </a:r>
          </a:p>
        </p:txBody>
      </p:sp>
      <p:sp>
        <p:nvSpPr>
          <p:cNvPr id="11" name="角丸四角形吹き出し 44">
            <a:extLst>
              <a:ext uri="{FF2B5EF4-FFF2-40B4-BE49-F238E27FC236}">
                <a16:creationId xmlns:a16="http://schemas.microsoft.com/office/drawing/2014/main" id="{C0D03F15-2E18-C440-CD94-218EA7686AC3}"/>
              </a:ext>
            </a:extLst>
          </p:cNvPr>
          <p:cNvSpPr/>
          <p:nvPr/>
        </p:nvSpPr>
        <p:spPr bwMode="auto">
          <a:xfrm>
            <a:off x="8526027" y="2258987"/>
            <a:ext cx="1170013"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シェフです！</a:t>
            </a:r>
          </a:p>
        </p:txBody>
      </p:sp>
      <p:sp>
        <p:nvSpPr>
          <p:cNvPr id="12" name="正方形/長方形 11">
            <a:extLst>
              <a:ext uri="{FF2B5EF4-FFF2-40B4-BE49-F238E27FC236}">
                <a16:creationId xmlns:a16="http://schemas.microsoft.com/office/drawing/2014/main" id="{FDCD4204-EEAC-0E43-EA74-F9BADCC9AF98}"/>
              </a:ext>
            </a:extLst>
          </p:cNvPr>
          <p:cNvSpPr/>
          <p:nvPr/>
        </p:nvSpPr>
        <p:spPr>
          <a:xfrm>
            <a:off x="1151962" y="1592922"/>
            <a:ext cx="1620018"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13" name="角丸四角形吹き出し 28">
            <a:extLst>
              <a:ext uri="{FF2B5EF4-FFF2-40B4-BE49-F238E27FC236}">
                <a16:creationId xmlns:a16="http://schemas.microsoft.com/office/drawing/2014/main" id="{D417DF45-2A18-08E2-1AC8-ADEBC894312A}"/>
              </a:ext>
            </a:extLst>
          </p:cNvPr>
          <p:cNvSpPr/>
          <p:nvPr/>
        </p:nvSpPr>
        <p:spPr bwMode="auto">
          <a:xfrm>
            <a:off x="2231974" y="962915"/>
            <a:ext cx="2964016"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85000"/>
                    <a:lumOff val="15000"/>
                  </a:schemeClr>
                </a:solidFill>
                <a:latin typeface="Arial Narrow" panose="020B0606020202030204" pitchFamily="34" charset="0"/>
              </a:rPr>
              <a:t>正直，シェフ以外いらなくない？</a:t>
            </a:r>
            <a:endParaRPr kumimoji="1" lang="en-US" altLang="ja-JP" sz="1400" dirty="0">
              <a:solidFill>
                <a:schemeClr val="tx1">
                  <a:lumMod val="85000"/>
                  <a:lumOff val="15000"/>
                </a:schemeClr>
              </a:solidFill>
              <a:latin typeface="Arial Narrow" panose="020B0606020202030204" pitchFamily="34" charset="0"/>
            </a:endParaRPr>
          </a:p>
          <a:p>
            <a:r>
              <a:rPr kumimoji="1" lang="ja-JP" altLang="en-US" sz="1400" dirty="0">
                <a:solidFill>
                  <a:schemeClr val="tx1">
                    <a:lumMod val="85000"/>
                    <a:lumOff val="15000"/>
                  </a:schemeClr>
                </a:solidFill>
                <a:latin typeface="Arial Narrow" panose="020B0606020202030204" pitchFamily="34" charset="0"/>
              </a:rPr>
              <a:t>あんなでかいキッチン台いる？</a:t>
            </a:r>
          </a:p>
        </p:txBody>
      </p:sp>
      <p:sp>
        <p:nvSpPr>
          <p:cNvPr id="14" name="正方形/長方形 13">
            <a:extLst>
              <a:ext uri="{FF2B5EF4-FFF2-40B4-BE49-F238E27FC236}">
                <a16:creationId xmlns:a16="http://schemas.microsoft.com/office/drawing/2014/main" id="{9335FABA-412D-4107-0F45-51AC5205F280}"/>
              </a:ext>
            </a:extLst>
          </p:cNvPr>
          <p:cNvSpPr/>
          <p:nvPr/>
        </p:nvSpPr>
        <p:spPr bwMode="auto">
          <a:xfrm>
            <a:off x="1151962" y="1178975"/>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kumimoji="1" lang="ja-JP" altLang="en-US" sz="1600" dirty="0">
              <a:solidFill>
                <a:schemeClr val="tx1">
                  <a:lumMod val="85000"/>
                  <a:lumOff val="15000"/>
                </a:schemeClr>
              </a:solidFill>
            </a:endParaRPr>
          </a:p>
        </p:txBody>
      </p:sp>
      <mc:AlternateContent xmlns:mc="http://schemas.openxmlformats.org/markup-compatibility/2006">
        <mc:Choice xmlns:a14="http://schemas.microsoft.com/office/drawing/2010/main" Requires="a14">
          <p:sp>
            <p:nvSpPr>
              <p:cNvPr id="4" name="テキスト プレースホルダー 4">
                <a:extLst>
                  <a:ext uri="{FF2B5EF4-FFF2-40B4-BE49-F238E27FC236}">
                    <a16:creationId xmlns:a16="http://schemas.microsoft.com/office/drawing/2014/main" id="{0D254F78-A92B-CABE-51B0-7B14284292FD}"/>
                  </a:ext>
                </a:extLst>
              </p:cNvPr>
              <p:cNvSpPr>
                <a:spLocks noGrp="1"/>
              </p:cNvSpPr>
              <p:nvPr>
                <p:ph type="body" sz="quarter" idx="10"/>
              </p:nvPr>
            </p:nvSpPr>
            <p:spPr>
              <a:xfrm>
                <a:off x="245935" y="4689014"/>
                <a:ext cx="11340126" cy="1170013"/>
              </a:xfrm>
            </p:spPr>
            <p:txBody>
              <a:bodyPr/>
              <a:lstStyle/>
              <a:p>
                <a14:m>
                  <m:oMath xmlns:m="http://schemas.openxmlformats.org/officeDocument/2006/math">
                    <m:r>
                      <m:rPr>
                        <m:nor/>
                      </m:rPr>
                      <a:rPr lang="ja-JP" altLang="en-US" sz="1600" dirty="0" smtClean="0"/>
                      <m:t>効率 </m:t>
                    </m:r>
                    <m:r>
                      <a:rPr lang="en-US" altLang="ja-JP" sz="1600" i="1" dirty="0">
                        <a:latin typeface="Cambria Math" panose="02040503050406030204" pitchFamily="18" charset="0"/>
                      </a:rPr>
                      <m:t>𝜂</m:t>
                    </m:r>
                    <m:r>
                      <a:rPr lang="en-US" altLang="ja-JP" sz="1600" i="1" dirty="0">
                        <a:latin typeface="Cambria Math" panose="02040503050406030204" pitchFamily="18" charset="0"/>
                      </a:rPr>
                      <m:t>=</m:t>
                    </m:r>
                    <m:f>
                      <m:fPr>
                        <m:ctrlPr>
                          <a:rPr lang="en-US" altLang="ja-JP" sz="1600" i="1" dirty="0">
                            <a:latin typeface="Cambria Math" panose="02040503050406030204" pitchFamily="18" charset="0"/>
                          </a:rPr>
                        </m:ctrlPr>
                      </m:fPr>
                      <m:num>
                        <m:sSub>
                          <m:sSubPr>
                            <m:ctrlPr>
                              <a:rPr lang="en-US" altLang="ja-JP" sz="1600" i="1" dirty="0">
                                <a:latin typeface="Cambria Math" panose="02040503050406030204" pitchFamily="18" charset="0"/>
                              </a:rPr>
                            </m:ctrlPr>
                          </m:sSubPr>
                          <m:e>
                            <m:r>
                              <a:rPr lang="en-US" altLang="ja-JP" sz="1600" i="1" dirty="0">
                                <a:latin typeface="Cambria Math" panose="02040503050406030204" pitchFamily="18" charset="0"/>
                              </a:rPr>
                              <m:t>𝑃</m:t>
                            </m:r>
                          </m:e>
                          <m:sub>
                            <m:r>
                              <a:rPr lang="en-US" altLang="ja-JP" sz="1600" b="0" i="1" dirty="0" smtClean="0">
                                <a:latin typeface="Cambria Math" panose="02040503050406030204" pitchFamily="18" charset="0"/>
                              </a:rPr>
                              <m:t>𝑚𝑖𝑛</m:t>
                            </m:r>
                          </m:sub>
                        </m:sSub>
                      </m:num>
                      <m:den>
                        <m:sSub>
                          <m:sSubPr>
                            <m:ctrlPr>
                              <a:rPr lang="en-US" altLang="ja-JP" sz="1600" i="1" dirty="0">
                                <a:latin typeface="Cambria Math" panose="02040503050406030204" pitchFamily="18" charset="0"/>
                              </a:rPr>
                            </m:ctrlPr>
                          </m:sSubPr>
                          <m:e>
                            <m:r>
                              <a:rPr lang="en-US" altLang="ja-JP" sz="1600" i="1" dirty="0">
                                <a:latin typeface="Cambria Math" panose="02040503050406030204" pitchFamily="18" charset="0"/>
                              </a:rPr>
                              <m:t>𝑃</m:t>
                            </m:r>
                          </m:e>
                          <m:sub>
                            <m:r>
                              <a:rPr lang="en-US" altLang="ja-JP" sz="1600" i="1" dirty="0">
                                <a:latin typeface="Cambria Math" panose="02040503050406030204" pitchFamily="18" charset="0"/>
                              </a:rPr>
                              <m:t>𝑎𝑐𝑡𝑢𝑎</m:t>
                            </m:r>
                            <m:r>
                              <a:rPr lang="en-US" altLang="ja-JP" sz="1600" i="1" dirty="0" err="1">
                                <a:latin typeface="Cambria Math" panose="02040503050406030204" pitchFamily="18" charset="0"/>
                              </a:rPr>
                              <m:t>𝑙</m:t>
                            </m:r>
                          </m:sub>
                        </m:sSub>
                      </m:den>
                    </m:f>
                    <m:r>
                      <a:rPr lang="en-US" altLang="ja-JP" sz="1600" b="0" i="1" dirty="0" smtClean="0">
                        <a:latin typeface="Cambria Math" panose="02040503050406030204" pitchFamily="18" charset="0"/>
                      </a:rPr>
                      <m:t>=</m:t>
                    </m:r>
                    <m:f>
                      <m:fPr>
                        <m:ctrlPr>
                          <a:rPr lang="en-US" altLang="ja-JP" sz="1600" i="1" dirty="0">
                            <a:latin typeface="Cambria Math" panose="02040503050406030204" pitchFamily="18" charset="0"/>
                          </a:rPr>
                        </m:ctrlPr>
                      </m:fPr>
                      <m:num>
                        <m:sSub>
                          <m:sSubPr>
                            <m:ctrlPr>
                              <a:rPr lang="en-US" altLang="ja-JP" sz="1600" i="1" dirty="0">
                                <a:latin typeface="Cambria Math" panose="02040503050406030204" pitchFamily="18" charset="0"/>
                              </a:rPr>
                            </m:ctrlPr>
                          </m:sSubPr>
                          <m:e>
                            <m:r>
                              <a:rPr lang="en-US" altLang="ja-JP" sz="1600" i="1" dirty="0">
                                <a:latin typeface="Cambria Math" panose="02040503050406030204" pitchFamily="18" charset="0"/>
                              </a:rPr>
                              <m:t>𝑃</m:t>
                            </m:r>
                          </m:e>
                          <m:sub>
                            <m:r>
                              <a:rPr lang="en-US" altLang="ja-JP" sz="1600" b="0" i="1" dirty="0" smtClean="0">
                                <a:latin typeface="Cambria Math" panose="02040503050406030204" pitchFamily="18" charset="0"/>
                              </a:rPr>
                              <m:t>𝑚𝑖𝑛</m:t>
                            </m:r>
                          </m:sub>
                        </m:sSub>
                      </m:num>
                      <m:den>
                        <m:sSub>
                          <m:sSubPr>
                            <m:ctrlPr>
                              <a:rPr lang="en-US" altLang="ja-JP" sz="1600" i="1" dirty="0">
                                <a:latin typeface="Cambria Math" panose="02040503050406030204" pitchFamily="18" charset="0"/>
                              </a:rPr>
                            </m:ctrlPr>
                          </m:sSubPr>
                          <m:e>
                            <m:r>
                              <a:rPr lang="en-US" altLang="ja-JP" sz="1600" i="1" dirty="0">
                                <a:latin typeface="Cambria Math" panose="02040503050406030204" pitchFamily="18" charset="0"/>
                              </a:rPr>
                              <m:t>𝑃</m:t>
                            </m:r>
                          </m:e>
                          <m:sub>
                            <m:r>
                              <a:rPr lang="en-US" altLang="ja-JP" sz="1600" b="0" i="1" dirty="0" smtClean="0">
                                <a:latin typeface="Cambria Math" panose="02040503050406030204" pitchFamily="18" charset="0"/>
                              </a:rPr>
                              <m:t>𝑚𝑖𝑛</m:t>
                            </m:r>
                          </m:sub>
                        </m:sSub>
                        <m:r>
                          <a:rPr lang="en-US" altLang="ja-JP" sz="1600" b="0" i="1" dirty="0" smtClean="0">
                            <a:latin typeface="Cambria Math" panose="02040503050406030204" pitchFamily="18" charset="0"/>
                          </a:rPr>
                          <m:t>+</m:t>
                        </m:r>
                        <m:sSub>
                          <m:sSubPr>
                            <m:ctrlPr>
                              <a:rPr lang="en-US" altLang="ja-JP" sz="1600" i="1" dirty="0">
                                <a:latin typeface="Cambria Math" panose="02040503050406030204" pitchFamily="18" charset="0"/>
                              </a:rPr>
                            </m:ctrlPr>
                          </m:sSubPr>
                          <m:e>
                            <m:r>
                              <a:rPr lang="en-US" altLang="ja-JP" sz="1600" i="1" dirty="0">
                                <a:latin typeface="Cambria Math" panose="02040503050406030204" pitchFamily="18" charset="0"/>
                              </a:rPr>
                              <m:t>𝑃</m:t>
                            </m:r>
                          </m:e>
                          <m:sub>
                            <m:r>
                              <a:rPr lang="en-US" altLang="ja-JP" sz="1600" b="0" i="1" dirty="0" smtClean="0">
                                <a:latin typeface="Cambria Math" panose="02040503050406030204" pitchFamily="18" charset="0"/>
                              </a:rPr>
                              <m:t>𝑜𝑣𝑒𝑟h𝑒𝑎𝑑</m:t>
                            </m:r>
                          </m:sub>
                        </m:sSub>
                      </m:den>
                    </m:f>
                  </m:oMath>
                </a14:m>
                <a:endParaRPr lang="en-US" altLang="ja-JP" sz="1600" dirty="0"/>
              </a:p>
              <a:p>
                <a:pPr lvl="1"/>
                <a14:m>
                  <m:oMath xmlns:m="http://schemas.openxmlformats.org/officeDocument/2006/math">
                    <m:sSub>
                      <m:sSubPr>
                        <m:ctrlPr>
                          <a:rPr lang="en-US" altLang="ja-JP" sz="1600" i="1" dirty="0">
                            <a:latin typeface="Cambria Math" panose="02040503050406030204" pitchFamily="18" charset="0"/>
                          </a:rPr>
                        </m:ctrlPr>
                      </m:sSubPr>
                      <m:e>
                        <m:r>
                          <a:rPr lang="en-US" altLang="ja-JP" sz="1600" i="1" dirty="0">
                            <a:latin typeface="Cambria Math" panose="02040503050406030204" pitchFamily="18" charset="0"/>
                          </a:rPr>
                          <m:t>𝑃</m:t>
                        </m:r>
                      </m:e>
                      <m:sub>
                        <m:r>
                          <a:rPr lang="en-US" altLang="ja-JP" sz="1600" i="1" dirty="0">
                            <a:latin typeface="Cambria Math" panose="02040503050406030204" pitchFamily="18" charset="0"/>
                          </a:rPr>
                          <m:t>𝑚𝑖𝑛</m:t>
                        </m:r>
                      </m:sub>
                    </m:sSub>
                    <m:r>
                      <a:rPr lang="en-US" altLang="ja-JP" sz="1600" i="1" dirty="0" smtClean="0">
                        <a:latin typeface="Cambria Math" panose="02040503050406030204" pitchFamily="18" charset="0"/>
                      </a:rPr>
                      <m:t>=</m:t>
                    </m:r>
                  </m:oMath>
                </a14:m>
                <a:r>
                  <a:rPr lang="en-US" altLang="ja-JP" sz="1600" dirty="0"/>
                  <a:t> </a:t>
                </a:r>
                <a:r>
                  <a:rPr lang="ja-JP" altLang="en-US" sz="1600" dirty="0"/>
                  <a:t>材料の原価と「シェフ」の人件費（絶対にカレーを作るのに必要）</a:t>
                </a:r>
                <a:endParaRPr lang="en-US" altLang="ja-JP" sz="1600" dirty="0"/>
              </a:p>
              <a:p>
                <a:pPr lvl="1"/>
                <a14:m>
                  <m:oMath xmlns:m="http://schemas.openxmlformats.org/officeDocument/2006/math">
                    <m:sSub>
                      <m:sSubPr>
                        <m:ctrlPr>
                          <a:rPr lang="en-US" altLang="ja-JP" sz="1600" i="1" dirty="0" smtClean="0">
                            <a:latin typeface="Cambria Math" panose="02040503050406030204" pitchFamily="18" charset="0"/>
                          </a:rPr>
                        </m:ctrlPr>
                      </m:sSubPr>
                      <m:e>
                        <m:r>
                          <a:rPr lang="en-US" altLang="ja-JP" sz="1600" i="1" dirty="0" smtClean="0">
                            <a:latin typeface="Cambria Math" panose="02040503050406030204" pitchFamily="18" charset="0"/>
                          </a:rPr>
                          <m:t>𝑃</m:t>
                        </m:r>
                      </m:e>
                      <m:sub>
                        <m:r>
                          <a:rPr lang="en-US" altLang="ja-JP" sz="1600" i="1" dirty="0">
                            <a:latin typeface="Cambria Math" panose="02040503050406030204" pitchFamily="18" charset="0"/>
                          </a:rPr>
                          <m:t>𝑜𝑣𝑒𝑟h𝑒𝑎𝑑</m:t>
                        </m:r>
                      </m:sub>
                    </m:sSub>
                    <m:r>
                      <a:rPr lang="en-US" altLang="ja-JP" sz="1600" i="1" dirty="0">
                        <a:latin typeface="Cambria Math" panose="02040503050406030204" pitchFamily="18" charset="0"/>
                      </a:rPr>
                      <m:t>=</m:t>
                    </m:r>
                  </m:oMath>
                </a14:m>
                <a:r>
                  <a:rPr lang="ja-JP" altLang="en-US" sz="1600" dirty="0"/>
                  <a:t> キッチン台の設備費や他の係の人の人件費（必ずしもなくてもよい）</a:t>
                </a:r>
                <a:endParaRPr lang="en-US" altLang="ja-JP" sz="1600" dirty="0"/>
              </a:p>
              <a:p>
                <a:r>
                  <a:rPr lang="ja-JP" altLang="en-US" sz="1600" dirty="0">
                    <a:solidFill>
                      <a:schemeClr val="accent5"/>
                    </a:solidFill>
                  </a:rPr>
                  <a:t>効率を上げるのに取り得る方針：</a:t>
                </a:r>
                <a:endParaRPr lang="en-US" altLang="ja-JP" sz="1600" dirty="0">
                  <a:solidFill>
                    <a:schemeClr val="accent5"/>
                  </a:solidFill>
                </a:endParaRPr>
              </a:p>
              <a:p>
                <a:pPr lvl="1"/>
                <a14:m>
                  <m:oMath xmlns:m="http://schemas.openxmlformats.org/officeDocument/2006/math">
                    <m:sSub>
                      <m:sSubPr>
                        <m:ctrlPr>
                          <a:rPr lang="en-US" altLang="ja-JP" sz="1600" i="1" dirty="0">
                            <a:latin typeface="Cambria Math" panose="02040503050406030204" pitchFamily="18" charset="0"/>
                          </a:rPr>
                        </m:ctrlPr>
                      </m:sSubPr>
                      <m:e>
                        <m:r>
                          <a:rPr lang="en-US" altLang="ja-JP" sz="1600" i="1" dirty="0">
                            <a:latin typeface="Cambria Math" panose="02040503050406030204" pitchFamily="18" charset="0"/>
                          </a:rPr>
                          <m:t>𝑃</m:t>
                        </m:r>
                      </m:e>
                      <m:sub>
                        <m:r>
                          <a:rPr lang="en-US" altLang="ja-JP" sz="1600" i="1" dirty="0">
                            <a:latin typeface="Cambria Math" panose="02040503050406030204" pitchFamily="18" charset="0"/>
                          </a:rPr>
                          <m:t>𝑜𝑣𝑒𝑟h𝑒𝑎𝑑</m:t>
                        </m:r>
                      </m:sub>
                    </m:sSub>
                  </m:oMath>
                </a14:m>
                <a:r>
                  <a:rPr lang="en-US" altLang="ja-JP" sz="1600" dirty="0"/>
                  <a:t> </a:t>
                </a:r>
                <a:r>
                  <a:rPr lang="ja-JP" altLang="en-US" sz="1600" dirty="0"/>
                  <a:t>を減らす </a:t>
                </a:r>
                <a:r>
                  <a:rPr lang="en-US" altLang="ja-JP" sz="1600" dirty="0"/>
                  <a:t>= </a:t>
                </a:r>
                <a:r>
                  <a:rPr lang="ja-JP" altLang="en-US" sz="1600" dirty="0"/>
                  <a:t>設備を減らす，シェフ以外をなんとかしてクビにするか減らす（こっちの話をします）</a:t>
                </a:r>
                <a:endParaRPr lang="en-US" altLang="ja-JP" sz="1600" dirty="0"/>
              </a:p>
              <a:p>
                <a:pPr lvl="1"/>
                <a:r>
                  <a:rPr lang="ja-JP" altLang="en-US" sz="1600" dirty="0"/>
                  <a:t>（</a:t>
                </a:r>
                <a14:m>
                  <m:oMath xmlns:m="http://schemas.openxmlformats.org/officeDocument/2006/math">
                    <m:sSub>
                      <m:sSubPr>
                        <m:ctrlPr>
                          <a:rPr lang="en-US" altLang="ja-JP" sz="1600" i="1" dirty="0">
                            <a:latin typeface="Cambria Math" panose="02040503050406030204" pitchFamily="18" charset="0"/>
                          </a:rPr>
                        </m:ctrlPr>
                      </m:sSubPr>
                      <m:e>
                        <m:r>
                          <a:rPr lang="en-US" altLang="ja-JP" sz="1600" i="1" dirty="0">
                            <a:latin typeface="Cambria Math" panose="02040503050406030204" pitchFamily="18" charset="0"/>
                          </a:rPr>
                          <m:t>𝑃</m:t>
                        </m:r>
                      </m:e>
                      <m:sub>
                        <m:r>
                          <a:rPr lang="en-US" altLang="ja-JP" sz="1600" i="1" dirty="0">
                            <a:latin typeface="Cambria Math" panose="02040503050406030204" pitchFamily="18" charset="0"/>
                          </a:rPr>
                          <m:t>𝑚𝑖𝑛</m:t>
                        </m:r>
                      </m:sub>
                    </m:sSub>
                  </m:oMath>
                </a14:m>
                <a:r>
                  <a:rPr lang="en-US" altLang="ja-JP" sz="1600" dirty="0"/>
                  <a:t> </a:t>
                </a:r>
                <a:r>
                  <a:rPr lang="ja-JP" altLang="en-US" sz="1600" dirty="0"/>
                  <a:t>を減らす     </a:t>
                </a:r>
                <a:r>
                  <a:rPr lang="en-US" altLang="ja-JP" sz="1600" dirty="0"/>
                  <a:t>= </a:t>
                </a:r>
                <a:r>
                  <a:rPr lang="ja-JP" altLang="en-US" sz="1600" dirty="0"/>
                  <a:t>別の方法としてカレー自体の具材を減らして質を下げると，効率 </a:t>
                </a:r>
                <a14:m>
                  <m:oMath xmlns:m="http://schemas.openxmlformats.org/officeDocument/2006/math">
                    <m:r>
                      <a:rPr lang="en-US" altLang="ja-JP" sz="1600" i="1" dirty="0">
                        <a:latin typeface="Cambria Math" panose="02040503050406030204" pitchFamily="18" charset="0"/>
                      </a:rPr>
                      <m:t>𝜂</m:t>
                    </m:r>
                  </m:oMath>
                </a14:m>
                <a:r>
                  <a:rPr lang="ja-JP" altLang="en-US" sz="1600" dirty="0"/>
                  <a:t> は上がらないがトータルコストは減る</a:t>
                </a:r>
              </a:p>
            </p:txBody>
          </p:sp>
        </mc:Choice>
        <mc:Fallback>
          <p:sp>
            <p:nvSpPr>
              <p:cNvPr id="4" name="テキスト プレースホルダー 4">
                <a:extLst>
                  <a:ext uri="{FF2B5EF4-FFF2-40B4-BE49-F238E27FC236}">
                    <a16:creationId xmlns:a16="http://schemas.microsoft.com/office/drawing/2014/main" id="{0D254F78-A92B-CABE-51B0-7B14284292FD}"/>
                  </a:ext>
                </a:extLst>
              </p:cNvPr>
              <p:cNvSpPr>
                <a:spLocks noGrp="1" noRot="1" noChangeAspect="1" noMove="1" noResize="1" noEditPoints="1" noAdjustHandles="1" noChangeArrowheads="1" noChangeShapeType="1" noTextEdit="1"/>
              </p:cNvSpPr>
              <p:nvPr>
                <p:ph type="body" sz="quarter" idx="10"/>
              </p:nvPr>
            </p:nvSpPr>
            <p:spPr>
              <a:xfrm>
                <a:off x="245935" y="4689014"/>
                <a:ext cx="11340126" cy="1170013"/>
              </a:xfrm>
              <a:blipFill>
                <a:blip r:embed="rId3"/>
                <a:stretch>
                  <a:fillRect l="-215" t="-64063" b="-7864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6051958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92A684E6-1C7C-2B52-2ABA-105326B1B33A}"/>
              </a:ext>
            </a:extLst>
          </p:cNvPr>
          <p:cNvSpPr>
            <a:spLocks noGrp="1"/>
          </p:cNvSpPr>
          <p:nvPr>
            <p:ph type="ctrTitle"/>
          </p:nvPr>
        </p:nvSpPr>
        <p:spPr>
          <a:xfrm>
            <a:off x="935943" y="1988983"/>
            <a:ext cx="10560117" cy="630007"/>
          </a:xfrm>
        </p:spPr>
        <p:txBody>
          <a:bodyPr/>
          <a:lstStyle/>
          <a:p>
            <a:r>
              <a:rPr kumimoji="1" lang="en-US" altLang="ja-JP" b="1" dirty="0"/>
              <a:t>GPU </a:t>
            </a:r>
            <a:r>
              <a:rPr kumimoji="1" lang="ja-JP" altLang="en-US" b="1" dirty="0"/>
              <a:t>のアーキテクチャ</a:t>
            </a:r>
            <a:endParaRPr kumimoji="1" lang="en-US" b="1" dirty="0"/>
          </a:p>
        </p:txBody>
      </p:sp>
      <p:sp>
        <p:nvSpPr>
          <p:cNvPr id="2" name="スライド番号プレースホルダー 1">
            <a:extLst>
              <a:ext uri="{FF2B5EF4-FFF2-40B4-BE49-F238E27FC236}">
                <a16:creationId xmlns:a16="http://schemas.microsoft.com/office/drawing/2014/main" id="{01B8E476-23F0-F3C9-8AE5-F3874CA26BAD}"/>
              </a:ext>
            </a:extLst>
          </p:cNvPr>
          <p:cNvSpPr>
            <a:spLocks noGrp="1"/>
          </p:cNvSpPr>
          <p:nvPr>
            <p:ph type="sldNum" sz="quarter" idx="4294967295"/>
          </p:nvPr>
        </p:nvSpPr>
        <p:spPr>
          <a:xfrm>
            <a:off x="11376025" y="6308725"/>
            <a:ext cx="815975" cy="549275"/>
          </a:xfrm>
        </p:spPr>
        <p:txBody>
          <a:bodyPr/>
          <a:lstStyle/>
          <a:p>
            <a:pPr algn="l"/>
            <a:fld id="{D2D8002D-B5B0-4BAC-B1F6-782DDCCE6D9C}" type="slidenum">
              <a:rPr kumimoji="1" lang="ja-JP" altLang="en-US" smtClean="0">
                <a:solidFill>
                  <a:schemeClr val="bg1"/>
                </a:solidFill>
              </a:rPr>
              <a:pPr algn="l"/>
              <a:t>13</a:t>
            </a:fld>
            <a:endParaRPr kumimoji="1" lang="ja-JP" altLang="en-US" dirty="0">
              <a:solidFill>
                <a:schemeClr val="bg1"/>
              </a:solidFill>
            </a:endParaRPr>
          </a:p>
        </p:txBody>
      </p:sp>
    </p:spTree>
    <p:extLst>
      <p:ext uri="{BB962C8B-B14F-4D97-AF65-F5344CB8AC3E}">
        <p14:creationId xmlns:p14="http://schemas.microsoft.com/office/powerpoint/2010/main" val="1492976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BEDB28-4E53-16D0-B580-FD959401FD0D}"/>
              </a:ext>
            </a:extLst>
          </p:cNvPr>
          <p:cNvSpPr>
            <a:spLocks noGrp="1"/>
          </p:cNvSpPr>
          <p:nvPr>
            <p:ph type="title"/>
          </p:nvPr>
        </p:nvSpPr>
        <p:spPr/>
        <p:txBody>
          <a:bodyPr/>
          <a:lstStyle/>
          <a:p>
            <a:r>
              <a:rPr lang="en-US" altLang="ja-JP" dirty="0"/>
              <a:t>GPU </a:t>
            </a:r>
            <a:r>
              <a:rPr lang="ja-JP" altLang="en-US" dirty="0"/>
              <a:t>が対象とする処理</a:t>
            </a:r>
            <a:endParaRPr kumimoji="1" lang="ja-JP" altLang="en-US" dirty="0"/>
          </a:p>
        </p:txBody>
      </p:sp>
      <p:sp>
        <p:nvSpPr>
          <p:cNvPr id="3" name="テキスト プレースホルダー 2">
            <a:extLst>
              <a:ext uri="{FF2B5EF4-FFF2-40B4-BE49-F238E27FC236}">
                <a16:creationId xmlns:a16="http://schemas.microsoft.com/office/drawing/2014/main" id="{D5179570-C6A0-817A-26C0-253AA376B638}"/>
              </a:ext>
            </a:extLst>
          </p:cNvPr>
          <p:cNvSpPr>
            <a:spLocks noGrp="1"/>
          </p:cNvSpPr>
          <p:nvPr>
            <p:ph type="body" sz="quarter" idx="10"/>
          </p:nvPr>
        </p:nvSpPr>
        <p:spPr/>
        <p:txBody>
          <a:bodyPr/>
          <a:lstStyle/>
          <a:p>
            <a:r>
              <a:rPr kumimoji="1" lang="ja-JP" altLang="en-US" dirty="0"/>
              <a:t>大量の単純な処理の繰り返し</a:t>
            </a:r>
            <a:endParaRPr kumimoji="1" lang="en-US" altLang="ja-JP" dirty="0"/>
          </a:p>
          <a:p>
            <a:pPr lvl="1"/>
            <a:r>
              <a:rPr kumimoji="1" lang="ja-JP" altLang="en-US" dirty="0">
                <a:solidFill>
                  <a:schemeClr val="accent5"/>
                </a:solidFill>
              </a:rPr>
              <a:t>並列処理できる部分が容易にわかる</a:t>
            </a:r>
            <a:endParaRPr kumimoji="1" lang="en-US" altLang="ja-JP" dirty="0">
              <a:solidFill>
                <a:schemeClr val="accent5"/>
              </a:solidFill>
            </a:endParaRPr>
          </a:p>
          <a:p>
            <a:pPr lvl="1"/>
            <a:r>
              <a:rPr kumimoji="1" lang="ja-JP" altLang="en-US" dirty="0"/>
              <a:t>典型的な例：行列積</a:t>
            </a:r>
            <a:endParaRPr kumimoji="1" lang="en-US" altLang="ja-JP" dirty="0"/>
          </a:p>
        </p:txBody>
      </p:sp>
    </p:spTree>
    <p:extLst>
      <p:ext uri="{BB962C8B-B14F-4D97-AF65-F5344CB8AC3E}">
        <p14:creationId xmlns:p14="http://schemas.microsoft.com/office/powerpoint/2010/main" val="11814577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D48DAE84-4F32-84CC-6D49-F5491F1F611E}"/>
              </a:ext>
            </a:extLst>
          </p:cNvPr>
          <p:cNvSpPr/>
          <p:nvPr/>
        </p:nvSpPr>
        <p:spPr bwMode="auto">
          <a:xfrm>
            <a:off x="2855964" y="2169293"/>
            <a:ext cx="5580062" cy="1080012"/>
          </a:xfrm>
          <a:prstGeom prst="rect">
            <a:avLst/>
          </a:prstGeom>
          <a:solidFill>
            <a:schemeClr val="accent3">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 name="正方形/長方形 3">
            <a:extLst>
              <a:ext uri="{FF2B5EF4-FFF2-40B4-BE49-F238E27FC236}">
                <a16:creationId xmlns:a16="http://schemas.microsoft.com/office/drawing/2014/main" id="{46CBEAB2-029B-57BC-2EB8-9FD575F724DA}"/>
              </a:ext>
            </a:extLst>
          </p:cNvPr>
          <p:cNvSpPr/>
          <p:nvPr/>
        </p:nvSpPr>
        <p:spPr bwMode="auto">
          <a:xfrm>
            <a:off x="2495960" y="1719289"/>
            <a:ext cx="5940066" cy="450005"/>
          </a:xfrm>
          <a:prstGeom prst="rect">
            <a:avLst/>
          </a:prstGeom>
          <a:solidFill>
            <a:schemeClr val="accent5">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p:cNvSpPr>
            <a:spLocks noGrp="1"/>
          </p:cNvSpPr>
          <p:nvPr>
            <p:ph type="title"/>
          </p:nvPr>
        </p:nvSpPr>
        <p:spPr/>
        <p:txBody>
          <a:bodyPr/>
          <a:lstStyle/>
          <a:p>
            <a:r>
              <a:rPr kumimoji="1" lang="ja-JP" altLang="en-US" sz="2800" dirty="0"/>
              <a:t>並列処理できる部分が自明なループの例</a:t>
            </a:r>
          </a:p>
        </p:txBody>
      </p:sp>
      <p:sp>
        <p:nvSpPr>
          <p:cNvPr id="3" name="テキスト プレースホルダー 2"/>
          <p:cNvSpPr>
            <a:spLocks noGrp="1"/>
          </p:cNvSpPr>
          <p:nvPr>
            <p:ph type="body" sz="quarter" idx="10"/>
          </p:nvPr>
        </p:nvSpPr>
        <p:spPr>
          <a:xfrm>
            <a:off x="2135956" y="1268976"/>
            <a:ext cx="8280092" cy="2250025"/>
          </a:xfrm>
        </p:spPr>
        <p:txBody>
          <a:bodyPr anchor="t"/>
          <a:lstStyle/>
          <a:p>
            <a:r>
              <a:rPr kumimoji="1" lang="ja-JP" altLang="en-US" dirty="0"/>
              <a:t>ループで書いた行列積のコード</a:t>
            </a:r>
            <a:endParaRPr kumimoji="1" lang="en-US" altLang="ja-JP" dirty="0"/>
          </a:p>
          <a:p>
            <a:pPr marL="360000" lvl="1" indent="0">
              <a:buNone/>
            </a:pP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(k = 0; k &lt; 1024; k++)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最外周ループ</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(j = 0; j &lt; 1024; </a:t>
            </a:r>
            <a:r>
              <a:rPr lang="en-US" altLang="ja-JP" dirty="0" err="1">
                <a:latin typeface="Consolas" panose="020B0609020204030204" pitchFamily="49" charset="0"/>
              </a:rPr>
              <a:t>j++</a:t>
            </a:r>
            <a:r>
              <a:rPr lang="en-US" altLang="ja-JP" dirty="0">
                <a:latin typeface="Consolas" panose="020B0609020204030204" pitchFamily="49" charset="0"/>
              </a:rPr>
              <a:t>)</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a:t>
            </a:r>
            <a:r>
              <a:rPr lang="en-US" altLang="ja-JP" dirty="0" err="1">
                <a:latin typeface="Consolas" panose="020B0609020204030204" pitchFamily="49" charset="0"/>
              </a:rPr>
              <a:t>i</a:t>
            </a:r>
            <a:r>
              <a:rPr lang="en-US" altLang="ja-JP" dirty="0">
                <a:latin typeface="Consolas" panose="020B0609020204030204" pitchFamily="49" charset="0"/>
              </a:rPr>
              <a:t> = 0; </a:t>
            </a:r>
            <a:r>
              <a:rPr lang="en-US" altLang="ja-JP" dirty="0" err="1">
                <a:latin typeface="Consolas" panose="020B0609020204030204" pitchFamily="49" charset="0"/>
              </a:rPr>
              <a:t>i</a:t>
            </a:r>
            <a:r>
              <a:rPr lang="en-US" altLang="ja-JP" dirty="0">
                <a:latin typeface="Consolas" panose="020B0609020204030204" pitchFamily="49" charset="0"/>
              </a:rPr>
              <a:t> &lt; 1024; </a:t>
            </a:r>
            <a:r>
              <a:rPr lang="en-US" altLang="ja-JP" dirty="0" err="1">
                <a:latin typeface="Consolas" panose="020B0609020204030204" pitchFamily="49" charset="0"/>
              </a:rPr>
              <a:t>i</a:t>
            </a:r>
            <a:r>
              <a:rPr lang="en-US" altLang="ja-JP" dirty="0">
                <a:latin typeface="Consolas" panose="020B0609020204030204" pitchFamily="49" charset="0"/>
              </a:rPr>
              <a:t>++)</a:t>
            </a:r>
            <a:br>
              <a:rPr lang="en-US" altLang="ja-JP" dirty="0">
                <a:latin typeface="Consolas" panose="020B0609020204030204" pitchFamily="49" charset="0"/>
              </a:rPr>
            </a:br>
            <a:r>
              <a:rPr lang="en-US" altLang="ja-JP" dirty="0">
                <a:latin typeface="Consolas" panose="020B0609020204030204" pitchFamily="49" charset="0"/>
              </a:rPr>
              <a:t>      a[j][</a:t>
            </a:r>
            <a:r>
              <a:rPr lang="en-US" altLang="ja-JP" dirty="0" err="1">
                <a:latin typeface="Consolas" panose="020B0609020204030204" pitchFamily="49" charset="0"/>
              </a:rPr>
              <a:t>i</a:t>
            </a:r>
            <a:r>
              <a:rPr lang="en-US" altLang="ja-JP" dirty="0">
                <a:latin typeface="Consolas" panose="020B0609020204030204" pitchFamily="49" charset="0"/>
              </a:rPr>
              <a:t>] += b[j][k] * c[k][</a:t>
            </a:r>
            <a:r>
              <a:rPr lang="en-US" altLang="ja-JP" dirty="0" err="1">
                <a:latin typeface="Consolas" panose="020B0609020204030204" pitchFamily="49" charset="0"/>
              </a:rPr>
              <a:t>i</a:t>
            </a:r>
            <a:r>
              <a:rPr lang="en-US" altLang="ja-JP" dirty="0">
                <a:latin typeface="Consolas" panose="020B0609020204030204" pitchFamily="49" charset="0"/>
              </a:rPr>
              <a:t>];</a:t>
            </a:r>
          </a:p>
          <a:p>
            <a:pPr marL="0" indent="0">
              <a:buNone/>
            </a:pPr>
            <a:br>
              <a:rPr kumimoji="1" lang="en-US" altLang="ja-JP" dirty="0">
                <a:latin typeface="Consolas" panose="020B0609020204030204" pitchFamily="49" charset="0"/>
              </a:rPr>
            </a:br>
            <a:br>
              <a:rPr kumimoji="1" lang="en-US" altLang="ja-JP" dirty="0">
                <a:latin typeface="Consolas" panose="020B0609020204030204" pitchFamily="49" charset="0"/>
              </a:rPr>
            </a:br>
            <a:br>
              <a:rPr kumimoji="1" lang="en-US" altLang="ja-JP" dirty="0">
                <a:latin typeface="Consolas" panose="020B0609020204030204" pitchFamily="49" charset="0"/>
              </a:rPr>
            </a:br>
            <a:br>
              <a:rPr kumimoji="1" lang="en-US" altLang="ja-JP" dirty="0">
                <a:latin typeface="Consolas" panose="020B0609020204030204" pitchFamily="49" charset="0"/>
              </a:rPr>
            </a:br>
            <a:br>
              <a:rPr kumimoji="1" lang="en-US" altLang="ja-JP" dirty="0">
                <a:latin typeface="Consolas" panose="020B0609020204030204" pitchFamily="49" charset="0"/>
              </a:rPr>
            </a:br>
            <a:br>
              <a:rPr kumimoji="1" lang="en-US" altLang="ja-JP" dirty="0">
                <a:latin typeface="Consolas" panose="020B0609020204030204" pitchFamily="49" charset="0"/>
              </a:rPr>
            </a:br>
            <a:br>
              <a:rPr kumimoji="1" lang="en-US" altLang="ja-JP" dirty="0">
                <a:latin typeface="Consolas" panose="020B0609020204030204" pitchFamily="49" charset="0"/>
              </a:rPr>
            </a:br>
            <a:endParaRPr kumimoji="1" lang="ja-JP" altLang="en-US" dirty="0">
              <a:latin typeface="Consolas" panose="020B0609020204030204" pitchFamily="49" charset="0"/>
            </a:endParaRPr>
          </a:p>
        </p:txBody>
      </p:sp>
      <p:sp>
        <p:nvSpPr>
          <p:cNvPr id="8" name="テキスト プレースホルダー 2">
            <a:extLst>
              <a:ext uri="{FF2B5EF4-FFF2-40B4-BE49-F238E27FC236}">
                <a16:creationId xmlns:a16="http://schemas.microsoft.com/office/drawing/2014/main" id="{655D2D41-CBC0-C93D-F31E-1CF78B2F6B8C}"/>
              </a:ext>
            </a:extLst>
          </p:cNvPr>
          <p:cNvSpPr txBox="1">
            <a:spLocks/>
          </p:cNvSpPr>
          <p:nvPr/>
        </p:nvSpPr>
        <p:spPr bwMode="auto">
          <a:xfrm>
            <a:off x="2135956" y="3969006"/>
            <a:ext cx="8820098" cy="22500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10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latin typeface="Consolas" panose="020B0609020204030204" pitchFamily="49" charset="0"/>
              </a:rPr>
              <a:t>ループ内の乗算や加算は，明らかに並列にできる</a:t>
            </a:r>
            <a:endParaRPr lang="en-US" altLang="ja-JP" kern="0" dirty="0">
              <a:latin typeface="Consolas" panose="020B0609020204030204" pitchFamily="49" charset="0"/>
            </a:endParaRPr>
          </a:p>
          <a:p>
            <a:pPr lvl="1"/>
            <a:r>
              <a:rPr lang="ja-JP" altLang="en-US" kern="0" dirty="0">
                <a:latin typeface="Consolas" panose="020B0609020204030204" pitchFamily="49" charset="0"/>
              </a:rPr>
              <a:t>ループの各周回の乗算を並列にやって，別々に足し合わせていける</a:t>
            </a:r>
            <a:endParaRPr lang="en-US" altLang="ja-JP" kern="0" dirty="0">
              <a:latin typeface="Consolas" panose="020B0609020204030204" pitchFamily="49" charset="0"/>
            </a:endParaRPr>
          </a:p>
          <a:p>
            <a:pPr lvl="1"/>
            <a:r>
              <a:rPr lang="ja-JP" altLang="en-US" kern="0" dirty="0">
                <a:latin typeface="Consolas" panose="020B0609020204030204" pitchFamily="49" charset="0"/>
              </a:rPr>
              <a:t>（浮動小数点の場合，厳密には多少結果が変わる</a:t>
            </a:r>
            <a:endParaRPr lang="en-US" altLang="ja-JP" kern="0" dirty="0">
              <a:latin typeface="Consolas" panose="020B0609020204030204" pitchFamily="49" charset="0"/>
            </a:endParaRPr>
          </a:p>
        </p:txBody>
      </p:sp>
    </p:spTree>
    <p:extLst>
      <p:ext uri="{BB962C8B-B14F-4D97-AF65-F5344CB8AC3E}">
        <p14:creationId xmlns:p14="http://schemas.microsoft.com/office/powerpoint/2010/main" val="132837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5D1F8-F802-FC8C-1C8A-4E4F536990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B1D8EC7-DB29-3E93-96C3-F72681EE9696}"/>
              </a:ext>
            </a:extLst>
          </p:cNvPr>
          <p:cNvSpPr>
            <a:spLocks noGrp="1"/>
          </p:cNvSpPr>
          <p:nvPr>
            <p:ph type="title"/>
          </p:nvPr>
        </p:nvSpPr>
        <p:spPr/>
        <p:txBody>
          <a:bodyPr/>
          <a:lstStyle/>
          <a:p>
            <a:r>
              <a:rPr kumimoji="1" lang="ja-JP" altLang="en-US" dirty="0"/>
              <a:t>対象とする処理の違い</a:t>
            </a:r>
          </a:p>
        </p:txBody>
      </p:sp>
      <p:sp>
        <p:nvSpPr>
          <p:cNvPr id="3" name="テキスト プレースホルダー 2">
            <a:extLst>
              <a:ext uri="{FF2B5EF4-FFF2-40B4-BE49-F238E27FC236}">
                <a16:creationId xmlns:a16="http://schemas.microsoft.com/office/drawing/2014/main" id="{071825D1-3225-80FD-5BFD-9BD07AA3F78D}"/>
              </a:ext>
            </a:extLst>
          </p:cNvPr>
          <p:cNvSpPr>
            <a:spLocks noGrp="1"/>
          </p:cNvSpPr>
          <p:nvPr>
            <p:ph type="body" sz="quarter" idx="10"/>
          </p:nvPr>
        </p:nvSpPr>
        <p:spPr/>
        <p:txBody>
          <a:bodyPr/>
          <a:lstStyle/>
          <a:p>
            <a:r>
              <a:rPr lang="en-US" altLang="ja-JP" dirty="0"/>
              <a:t>CPU</a:t>
            </a:r>
            <a:r>
              <a:rPr lang="ja-JP" altLang="en-US" dirty="0"/>
              <a:t>：</a:t>
            </a:r>
            <a:endParaRPr lang="en-US" altLang="ja-JP" dirty="0"/>
          </a:p>
          <a:p>
            <a:pPr lvl="1"/>
            <a:r>
              <a:rPr lang="ja-JP" altLang="en-US" dirty="0"/>
              <a:t>単一の連続した処理</a:t>
            </a:r>
            <a:endParaRPr lang="en-US" altLang="ja-JP" dirty="0"/>
          </a:p>
          <a:p>
            <a:r>
              <a:rPr kumimoji="1" lang="en-US" altLang="ja-JP" dirty="0"/>
              <a:t>GPU</a:t>
            </a:r>
            <a:r>
              <a:rPr kumimoji="1" lang="ja-JP" altLang="en-US" dirty="0"/>
              <a:t>：</a:t>
            </a:r>
            <a:endParaRPr kumimoji="1" lang="en-US" altLang="ja-JP" dirty="0"/>
          </a:p>
          <a:p>
            <a:pPr lvl="1"/>
            <a:r>
              <a:rPr lang="ja-JP" altLang="en-US" dirty="0"/>
              <a:t>大量の単純な処理の繰り返し</a:t>
            </a:r>
            <a:endParaRPr lang="en-US" altLang="ja-JP" dirty="0"/>
          </a:p>
          <a:p>
            <a:r>
              <a:rPr lang="ja-JP" altLang="en-US" dirty="0"/>
              <a:t>ここではカレー屋さんで説明</a:t>
            </a:r>
            <a:endParaRPr lang="en-US" altLang="ja-JP" dirty="0"/>
          </a:p>
        </p:txBody>
      </p:sp>
    </p:spTree>
    <p:extLst>
      <p:ext uri="{BB962C8B-B14F-4D97-AF65-F5344CB8AC3E}">
        <p14:creationId xmlns:p14="http://schemas.microsoft.com/office/powerpoint/2010/main" val="6386910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0E536E-2DE0-FEB9-8C93-C86C41BE5F1D}"/>
              </a:ext>
            </a:extLst>
          </p:cNvPr>
          <p:cNvSpPr>
            <a:spLocks noGrp="1"/>
          </p:cNvSpPr>
          <p:nvPr>
            <p:ph type="title"/>
          </p:nvPr>
        </p:nvSpPr>
        <p:spPr>
          <a:xfrm>
            <a:off x="605939" y="0"/>
            <a:ext cx="11316058" cy="908972"/>
          </a:xfrm>
        </p:spPr>
        <p:txBody>
          <a:bodyPr/>
          <a:lstStyle/>
          <a:p>
            <a:r>
              <a:rPr lang="ja-JP" altLang="en-US" sz="2800" dirty="0"/>
              <a:t>単一の連続した処理</a:t>
            </a:r>
            <a:r>
              <a:rPr kumimoji="1" lang="en-US" altLang="ja-JP" sz="2800" dirty="0"/>
              <a:t>=</a:t>
            </a:r>
            <a:r>
              <a:rPr kumimoji="1" lang="ja-JP" altLang="en-US" sz="2800" dirty="0"/>
              <a:t>１つのカレーを速く作る場合</a:t>
            </a:r>
            <a:endParaRPr kumimoji="1" lang="en-US" sz="2800" dirty="0"/>
          </a:p>
        </p:txBody>
      </p:sp>
      <p:sp>
        <p:nvSpPr>
          <p:cNvPr id="3" name="テキスト プレースホルダー 2">
            <a:extLst>
              <a:ext uri="{FF2B5EF4-FFF2-40B4-BE49-F238E27FC236}">
                <a16:creationId xmlns:a16="http://schemas.microsoft.com/office/drawing/2014/main" id="{453B299B-312A-B24B-A7D2-B9D6C49F1FF0}"/>
              </a:ext>
            </a:extLst>
          </p:cNvPr>
          <p:cNvSpPr>
            <a:spLocks noGrp="1"/>
          </p:cNvSpPr>
          <p:nvPr>
            <p:ph type="body" sz="quarter" idx="10"/>
          </p:nvPr>
        </p:nvSpPr>
        <p:spPr>
          <a:xfrm>
            <a:off x="245935" y="1178975"/>
            <a:ext cx="6210070" cy="5490061"/>
          </a:xfrm>
        </p:spPr>
        <p:txBody>
          <a:bodyPr/>
          <a:lstStyle/>
          <a:p>
            <a:r>
              <a:rPr lang="ja-JP" altLang="en-US" dirty="0"/>
              <a:t>１つのカレーを並列処理で高速に作るのは難しい</a:t>
            </a:r>
            <a:endParaRPr lang="en-US" altLang="ja-JP" dirty="0"/>
          </a:p>
          <a:p>
            <a:pPr lvl="1"/>
            <a:r>
              <a:rPr lang="ja-JP" altLang="en-US" dirty="0"/>
              <a:t>「</a:t>
            </a:r>
            <a:r>
              <a:rPr lang="en-US" altLang="ja-JP" dirty="0"/>
              <a:t>2.</a:t>
            </a:r>
            <a:r>
              <a:rPr lang="ja-JP" altLang="en-US" dirty="0"/>
              <a:t>野菜を炒める」 は</a:t>
            </a:r>
            <a:br>
              <a:rPr lang="en-US" altLang="ja-JP" dirty="0"/>
            </a:br>
            <a:r>
              <a:rPr kumimoji="1" lang="ja-JP" altLang="en-US" dirty="0"/>
              <a:t>「</a:t>
            </a:r>
            <a:r>
              <a:rPr kumimoji="1" lang="en-US" altLang="ja-JP" dirty="0"/>
              <a:t>1.</a:t>
            </a:r>
            <a:r>
              <a:rPr kumimoji="1" lang="ja-JP" altLang="en-US" dirty="0"/>
              <a:t>野菜を切る」を先にやる必要がある</a:t>
            </a:r>
            <a:endParaRPr kumimoji="1" lang="en-US" altLang="ja-JP" dirty="0"/>
          </a:p>
          <a:p>
            <a:pPr lvl="1"/>
            <a:r>
              <a:rPr kumimoji="1" lang="ja-JP" altLang="en-US" dirty="0"/>
              <a:t>「</a:t>
            </a:r>
            <a:r>
              <a:rPr kumimoji="1" lang="en-US" altLang="ja-JP" dirty="0"/>
              <a:t>2.</a:t>
            </a:r>
            <a:r>
              <a:rPr kumimoji="1" lang="ja-JP" altLang="en-US" dirty="0"/>
              <a:t>野菜を炒める」と</a:t>
            </a:r>
            <a:br>
              <a:rPr kumimoji="1" lang="en-US" altLang="ja-JP" dirty="0"/>
            </a:br>
            <a:r>
              <a:rPr kumimoji="1" lang="ja-JP" altLang="en-US" dirty="0"/>
              <a:t>「</a:t>
            </a:r>
            <a:r>
              <a:rPr kumimoji="1" lang="en-US" altLang="ja-JP" dirty="0"/>
              <a:t>3.</a:t>
            </a:r>
            <a:r>
              <a:rPr kumimoji="1" lang="ja-JP" altLang="en-US" dirty="0"/>
              <a:t>肉を切る」は並列にできる</a:t>
            </a:r>
            <a:endParaRPr kumimoji="1" lang="en-US" altLang="ja-JP" dirty="0"/>
          </a:p>
          <a:p>
            <a:r>
              <a:rPr lang="ja-JP" altLang="en-US" dirty="0"/>
              <a:t>先頭の人がレシピを見極めて仕事を割り振れば</a:t>
            </a:r>
            <a:br>
              <a:rPr lang="en-US" altLang="ja-JP" dirty="0"/>
            </a:br>
            <a:r>
              <a:rPr lang="ja-JP" altLang="en-US" dirty="0"/>
              <a:t>ある程度できなくはない</a:t>
            </a:r>
            <a:endParaRPr lang="en-US" altLang="ja-JP" dirty="0"/>
          </a:p>
          <a:p>
            <a:pPr lvl="1"/>
            <a:r>
              <a:rPr kumimoji="1" lang="ja-JP" altLang="en-US" dirty="0"/>
              <a:t>右側に３倍の人員を割いているが，</a:t>
            </a:r>
            <a:br>
              <a:rPr kumimoji="1" lang="en-US" altLang="ja-JP" dirty="0"/>
            </a:br>
            <a:r>
              <a:rPr kumimoji="1" lang="ja-JP" altLang="en-US" dirty="0"/>
              <a:t>３倍の速さにはならない</a:t>
            </a:r>
            <a:endParaRPr kumimoji="1" lang="en-US" altLang="ja-JP" dirty="0"/>
          </a:p>
          <a:p>
            <a:pPr lvl="1"/>
            <a:r>
              <a:rPr kumimoji="1" lang="ja-JP" altLang="en-US" dirty="0"/>
              <a:t>依存があるので，先に並列処理できない</a:t>
            </a:r>
            <a:br>
              <a:rPr kumimoji="1" lang="en-US" altLang="ja-JP" dirty="0"/>
            </a:br>
            <a:r>
              <a:rPr kumimoji="1" lang="ja-JP" altLang="en-US" dirty="0"/>
              <a:t>ことが多い</a:t>
            </a:r>
            <a:endParaRPr kumimoji="1" lang="en-US" altLang="ja-JP" dirty="0"/>
          </a:p>
          <a:p>
            <a:r>
              <a:rPr kumimoji="1" lang="en-US" altLang="ja-JP" dirty="0" err="1"/>
              <a:t>OoO</a:t>
            </a:r>
            <a:r>
              <a:rPr kumimoji="1" lang="en-US" altLang="ja-JP" dirty="0"/>
              <a:t> </a:t>
            </a:r>
            <a:r>
              <a:rPr lang="ja-JP" altLang="en-US" dirty="0"/>
              <a:t>スーパスカラプロセッサはまさに上記のようなことをやっている</a:t>
            </a:r>
            <a:endParaRPr kumimoji="1" lang="en-US" dirty="0"/>
          </a:p>
        </p:txBody>
      </p:sp>
      <p:sp>
        <p:nvSpPr>
          <p:cNvPr id="4" name="正方形/長方形 3">
            <a:extLst>
              <a:ext uri="{FF2B5EF4-FFF2-40B4-BE49-F238E27FC236}">
                <a16:creationId xmlns:a16="http://schemas.microsoft.com/office/drawing/2014/main" id="{1F98BD1D-5FA2-F5C1-1E2E-A1B3BB59E7C9}"/>
              </a:ext>
            </a:extLst>
          </p:cNvPr>
          <p:cNvSpPr/>
          <p:nvPr/>
        </p:nvSpPr>
        <p:spPr bwMode="auto">
          <a:xfrm>
            <a:off x="6186017" y="2348988"/>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3">
                    <a:lumMod val="50000"/>
                  </a:schemeClr>
                </a:solidFill>
              </a:rPr>
              <a:t>1.</a:t>
            </a:r>
            <a:r>
              <a:rPr lang="ja-JP" altLang="en-US" sz="1600" dirty="0">
                <a:solidFill>
                  <a:schemeClr val="accent3">
                    <a:lumMod val="50000"/>
                  </a:schemeClr>
                </a:solidFill>
              </a:rPr>
              <a:t>野菜を切る</a:t>
            </a:r>
          </a:p>
        </p:txBody>
      </p:sp>
      <p:sp>
        <p:nvSpPr>
          <p:cNvPr id="5" name="正方形/長方形 4">
            <a:extLst>
              <a:ext uri="{FF2B5EF4-FFF2-40B4-BE49-F238E27FC236}">
                <a16:creationId xmlns:a16="http://schemas.microsoft.com/office/drawing/2014/main" id="{17ADC32A-B723-5A01-0ADF-1F798116507E}"/>
              </a:ext>
            </a:extLst>
          </p:cNvPr>
          <p:cNvSpPr/>
          <p:nvPr/>
        </p:nvSpPr>
        <p:spPr bwMode="auto">
          <a:xfrm>
            <a:off x="6186017" y="2708992"/>
            <a:ext cx="1440000" cy="360004"/>
          </a:xfrm>
          <a:prstGeom prst="rect">
            <a:avLst/>
          </a:prstGeom>
          <a:solidFill>
            <a:srgbClr val="4F6228"/>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2.</a:t>
            </a:r>
            <a:r>
              <a:rPr lang="ja-JP" altLang="en-US" sz="1400" dirty="0">
                <a:solidFill>
                  <a:schemeClr val="bg1"/>
                </a:solidFill>
              </a:rPr>
              <a:t>野菜を炒める</a:t>
            </a:r>
          </a:p>
        </p:txBody>
      </p:sp>
      <p:sp>
        <p:nvSpPr>
          <p:cNvPr id="6" name="正方形/長方形 5">
            <a:extLst>
              <a:ext uri="{FF2B5EF4-FFF2-40B4-BE49-F238E27FC236}">
                <a16:creationId xmlns:a16="http://schemas.microsoft.com/office/drawing/2014/main" id="{9FFE2260-58E1-061D-F8FF-6F3D0BB9C74B}"/>
              </a:ext>
            </a:extLst>
          </p:cNvPr>
          <p:cNvSpPr/>
          <p:nvPr/>
        </p:nvSpPr>
        <p:spPr bwMode="auto">
          <a:xfrm>
            <a:off x="6186017" y="3068996"/>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3.</a:t>
            </a:r>
            <a:r>
              <a:rPr lang="ja-JP" altLang="en-US" sz="1600" dirty="0">
                <a:solidFill>
                  <a:schemeClr val="accent2">
                    <a:lumMod val="50000"/>
                  </a:schemeClr>
                </a:solidFill>
              </a:rPr>
              <a:t>肉を切る</a:t>
            </a:r>
          </a:p>
        </p:txBody>
      </p:sp>
      <p:sp>
        <p:nvSpPr>
          <p:cNvPr id="7" name="正方形/長方形 6">
            <a:extLst>
              <a:ext uri="{FF2B5EF4-FFF2-40B4-BE49-F238E27FC236}">
                <a16:creationId xmlns:a16="http://schemas.microsoft.com/office/drawing/2014/main" id="{1BC10747-475D-CA6F-8A70-DED8B18125B8}"/>
              </a:ext>
            </a:extLst>
          </p:cNvPr>
          <p:cNvSpPr/>
          <p:nvPr/>
        </p:nvSpPr>
        <p:spPr bwMode="auto">
          <a:xfrm>
            <a:off x="6186017" y="3429000"/>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4.</a:t>
            </a:r>
            <a:r>
              <a:rPr lang="ja-JP" altLang="en-US" sz="1600" dirty="0">
                <a:solidFill>
                  <a:schemeClr val="bg1"/>
                </a:solidFill>
              </a:rPr>
              <a:t>肉を炒める</a:t>
            </a:r>
          </a:p>
        </p:txBody>
      </p:sp>
      <p:sp>
        <p:nvSpPr>
          <p:cNvPr id="8" name="正方形/長方形 7">
            <a:extLst>
              <a:ext uri="{FF2B5EF4-FFF2-40B4-BE49-F238E27FC236}">
                <a16:creationId xmlns:a16="http://schemas.microsoft.com/office/drawing/2014/main" id="{C35A30F6-E161-2AEF-207E-70C5D4D09320}"/>
              </a:ext>
            </a:extLst>
          </p:cNvPr>
          <p:cNvSpPr/>
          <p:nvPr/>
        </p:nvSpPr>
        <p:spPr bwMode="auto">
          <a:xfrm>
            <a:off x="6186017" y="3789004"/>
            <a:ext cx="1440000" cy="360004"/>
          </a:xfrm>
          <a:prstGeom prst="rect">
            <a:avLst/>
          </a:prstGeom>
          <a:solidFill>
            <a:srgbClr val="632523"/>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5.</a:t>
            </a:r>
            <a:r>
              <a:rPr lang="ja-JP" altLang="en-US" sz="1600" dirty="0">
                <a:solidFill>
                  <a:schemeClr val="bg1"/>
                </a:solidFill>
              </a:rPr>
              <a:t>煮込み</a:t>
            </a:r>
          </a:p>
        </p:txBody>
      </p:sp>
      <p:sp>
        <p:nvSpPr>
          <p:cNvPr id="9" name="正方形/長方形 8">
            <a:extLst>
              <a:ext uri="{FF2B5EF4-FFF2-40B4-BE49-F238E27FC236}">
                <a16:creationId xmlns:a16="http://schemas.microsoft.com/office/drawing/2014/main" id="{6E08064F-1D48-013F-0A30-AA6603043B3A}"/>
              </a:ext>
            </a:extLst>
          </p:cNvPr>
          <p:cNvSpPr/>
          <p:nvPr/>
        </p:nvSpPr>
        <p:spPr bwMode="auto">
          <a:xfrm>
            <a:off x="6186017" y="4149008"/>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6.</a:t>
            </a:r>
            <a:r>
              <a:rPr lang="ja-JP" altLang="en-US" sz="1400" dirty="0">
                <a:solidFill>
                  <a:schemeClr val="bg1"/>
                </a:solidFill>
              </a:rPr>
              <a:t>ルーを入れる</a:t>
            </a:r>
          </a:p>
        </p:txBody>
      </p:sp>
      <p:sp>
        <p:nvSpPr>
          <p:cNvPr id="10" name="正方形/長方形 9">
            <a:extLst>
              <a:ext uri="{FF2B5EF4-FFF2-40B4-BE49-F238E27FC236}">
                <a16:creationId xmlns:a16="http://schemas.microsoft.com/office/drawing/2014/main" id="{02636874-4CC1-EF07-7815-AF7261F73B19}"/>
              </a:ext>
            </a:extLst>
          </p:cNvPr>
          <p:cNvSpPr/>
          <p:nvPr/>
        </p:nvSpPr>
        <p:spPr bwMode="auto">
          <a:xfrm>
            <a:off x="6186017" y="4509012"/>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7.</a:t>
            </a:r>
            <a:r>
              <a:rPr lang="ja-JP" altLang="en-US" sz="1600" dirty="0">
                <a:solidFill>
                  <a:schemeClr val="accent2">
                    <a:lumMod val="50000"/>
                  </a:schemeClr>
                </a:solidFill>
              </a:rPr>
              <a:t>コメを研ぐ</a:t>
            </a:r>
          </a:p>
        </p:txBody>
      </p:sp>
      <p:sp>
        <p:nvSpPr>
          <p:cNvPr id="11" name="正方形/長方形 10">
            <a:extLst>
              <a:ext uri="{FF2B5EF4-FFF2-40B4-BE49-F238E27FC236}">
                <a16:creationId xmlns:a16="http://schemas.microsoft.com/office/drawing/2014/main" id="{3155CA02-4F72-47BC-F7FF-3C9AE766FA77}"/>
              </a:ext>
            </a:extLst>
          </p:cNvPr>
          <p:cNvSpPr/>
          <p:nvPr/>
        </p:nvSpPr>
        <p:spPr bwMode="auto">
          <a:xfrm>
            <a:off x="6186017" y="4869016"/>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8.</a:t>
            </a:r>
            <a:r>
              <a:rPr lang="ja-JP" altLang="en-US" sz="1600" dirty="0">
                <a:solidFill>
                  <a:schemeClr val="bg1"/>
                </a:solidFill>
              </a:rPr>
              <a:t>コメを炊く</a:t>
            </a:r>
          </a:p>
        </p:txBody>
      </p:sp>
      <p:sp>
        <p:nvSpPr>
          <p:cNvPr id="12" name="正方形/長方形 11">
            <a:extLst>
              <a:ext uri="{FF2B5EF4-FFF2-40B4-BE49-F238E27FC236}">
                <a16:creationId xmlns:a16="http://schemas.microsoft.com/office/drawing/2014/main" id="{7AEA6802-248E-ED5D-821A-B66B88658745}"/>
              </a:ext>
            </a:extLst>
          </p:cNvPr>
          <p:cNvSpPr/>
          <p:nvPr/>
        </p:nvSpPr>
        <p:spPr bwMode="auto">
          <a:xfrm>
            <a:off x="6186017" y="5229020"/>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9.</a:t>
            </a:r>
            <a:r>
              <a:rPr lang="ja-JP" altLang="en-US" sz="1600" dirty="0">
                <a:solidFill>
                  <a:schemeClr val="bg1"/>
                </a:solidFill>
              </a:rPr>
              <a:t>もりつける</a:t>
            </a:r>
          </a:p>
        </p:txBody>
      </p:sp>
      <p:sp>
        <p:nvSpPr>
          <p:cNvPr id="17" name="テキスト ボックス 16">
            <a:extLst>
              <a:ext uri="{FF2B5EF4-FFF2-40B4-BE49-F238E27FC236}">
                <a16:creationId xmlns:a16="http://schemas.microsoft.com/office/drawing/2014/main" id="{490D4778-5F12-E286-3DFA-22612416F9DD}"/>
              </a:ext>
            </a:extLst>
          </p:cNvPr>
          <p:cNvSpPr txBox="1"/>
          <p:nvPr/>
        </p:nvSpPr>
        <p:spPr>
          <a:xfrm>
            <a:off x="6005999" y="1898983"/>
            <a:ext cx="1620018" cy="369332"/>
          </a:xfrm>
          <a:prstGeom prst="rect">
            <a:avLst/>
          </a:prstGeom>
          <a:noFill/>
        </p:spPr>
        <p:txBody>
          <a:bodyPr wrap="none" rtlCol="0">
            <a:noAutofit/>
          </a:bodyPr>
          <a:lstStyle/>
          <a:p>
            <a:r>
              <a:rPr lang="ja-JP" altLang="en-US" dirty="0">
                <a:solidFill>
                  <a:srgbClr val="5E6363"/>
                </a:solidFill>
              </a:rPr>
              <a:t>カレーのレシピ</a:t>
            </a:r>
          </a:p>
        </p:txBody>
      </p:sp>
      <p:grpSp>
        <p:nvGrpSpPr>
          <p:cNvPr id="18" name="グループ化 17">
            <a:extLst>
              <a:ext uri="{FF2B5EF4-FFF2-40B4-BE49-F238E27FC236}">
                <a16:creationId xmlns:a16="http://schemas.microsoft.com/office/drawing/2014/main" id="{838E0A64-37FA-A901-612F-50C3F0968917}"/>
              </a:ext>
            </a:extLst>
          </p:cNvPr>
          <p:cNvGrpSpPr/>
          <p:nvPr/>
        </p:nvGrpSpPr>
        <p:grpSpPr>
          <a:xfrm>
            <a:off x="7896020" y="4059007"/>
            <a:ext cx="1562400" cy="576064"/>
            <a:chOff x="971600" y="5445224"/>
            <a:chExt cx="7200800" cy="576064"/>
          </a:xfrm>
        </p:grpSpPr>
        <p:sp>
          <p:nvSpPr>
            <p:cNvPr id="19" name="平行四辺形 18">
              <a:extLst>
                <a:ext uri="{FF2B5EF4-FFF2-40B4-BE49-F238E27FC236}">
                  <a16:creationId xmlns:a16="http://schemas.microsoft.com/office/drawing/2014/main" id="{BAD56BBD-878F-918D-F19D-D4A2C3CD0481}"/>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 name="平行四辺形 19">
              <a:extLst>
                <a:ext uri="{FF2B5EF4-FFF2-40B4-BE49-F238E27FC236}">
                  <a16:creationId xmlns:a16="http://schemas.microsoft.com/office/drawing/2014/main" id="{8A550596-151A-D829-A6FF-7578C46BB0CD}"/>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1" name="グループ化 20">
            <a:extLst>
              <a:ext uri="{FF2B5EF4-FFF2-40B4-BE49-F238E27FC236}">
                <a16:creationId xmlns:a16="http://schemas.microsoft.com/office/drawing/2014/main" id="{A798716E-1946-ECE2-A6BC-BF368E3B1243}"/>
              </a:ext>
            </a:extLst>
          </p:cNvPr>
          <p:cNvGrpSpPr/>
          <p:nvPr/>
        </p:nvGrpSpPr>
        <p:grpSpPr>
          <a:xfrm>
            <a:off x="10146045" y="2348988"/>
            <a:ext cx="1562400" cy="576064"/>
            <a:chOff x="971600" y="5445224"/>
            <a:chExt cx="7200800" cy="576064"/>
          </a:xfrm>
        </p:grpSpPr>
        <p:sp>
          <p:nvSpPr>
            <p:cNvPr id="22" name="平行四辺形 21">
              <a:extLst>
                <a:ext uri="{FF2B5EF4-FFF2-40B4-BE49-F238E27FC236}">
                  <a16:creationId xmlns:a16="http://schemas.microsoft.com/office/drawing/2014/main" id="{173486FD-6A0B-E10F-3392-3B235FF2D218}"/>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3" name="平行四辺形 22">
              <a:extLst>
                <a:ext uri="{FF2B5EF4-FFF2-40B4-BE49-F238E27FC236}">
                  <a16:creationId xmlns:a16="http://schemas.microsoft.com/office/drawing/2014/main" id="{FD6A768E-6CF9-AE6A-DF21-209033408766}"/>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4" name="グループ化 23">
            <a:extLst>
              <a:ext uri="{FF2B5EF4-FFF2-40B4-BE49-F238E27FC236}">
                <a16:creationId xmlns:a16="http://schemas.microsoft.com/office/drawing/2014/main" id="{6F885BDE-24C4-56B3-EE0F-AEADC36E8D7E}"/>
              </a:ext>
            </a:extLst>
          </p:cNvPr>
          <p:cNvGrpSpPr/>
          <p:nvPr/>
        </p:nvGrpSpPr>
        <p:grpSpPr>
          <a:xfrm>
            <a:off x="10092173" y="4094957"/>
            <a:ext cx="1562400" cy="576064"/>
            <a:chOff x="971600" y="5445224"/>
            <a:chExt cx="7200800" cy="576064"/>
          </a:xfrm>
        </p:grpSpPr>
        <p:sp>
          <p:nvSpPr>
            <p:cNvPr id="25" name="平行四辺形 24">
              <a:extLst>
                <a:ext uri="{FF2B5EF4-FFF2-40B4-BE49-F238E27FC236}">
                  <a16:creationId xmlns:a16="http://schemas.microsoft.com/office/drawing/2014/main" id="{1D9ED51F-308A-53ED-3C95-9424D8A61C18}"/>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6" name="平行四辺形 25">
              <a:extLst>
                <a:ext uri="{FF2B5EF4-FFF2-40B4-BE49-F238E27FC236}">
                  <a16:creationId xmlns:a16="http://schemas.microsoft.com/office/drawing/2014/main" id="{62C74188-C882-2AF2-1C8B-2866BB0CB44D}"/>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7" name="グループ化 26">
            <a:extLst>
              <a:ext uri="{FF2B5EF4-FFF2-40B4-BE49-F238E27FC236}">
                <a16:creationId xmlns:a16="http://schemas.microsoft.com/office/drawing/2014/main" id="{BACE328D-9C82-3456-863D-F0CF426A893F}"/>
              </a:ext>
            </a:extLst>
          </p:cNvPr>
          <p:cNvGrpSpPr/>
          <p:nvPr/>
        </p:nvGrpSpPr>
        <p:grpSpPr>
          <a:xfrm>
            <a:off x="10056332" y="5949028"/>
            <a:ext cx="1584176" cy="576064"/>
            <a:chOff x="971600" y="5445224"/>
            <a:chExt cx="7200800" cy="576064"/>
          </a:xfrm>
        </p:grpSpPr>
        <p:sp>
          <p:nvSpPr>
            <p:cNvPr id="28" name="平行四辺形 27">
              <a:extLst>
                <a:ext uri="{FF2B5EF4-FFF2-40B4-BE49-F238E27FC236}">
                  <a16:creationId xmlns:a16="http://schemas.microsoft.com/office/drawing/2014/main" id="{5032B5A3-035E-C1AA-3304-648D1B136101}"/>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9" name="平行四辺形 28">
              <a:extLst>
                <a:ext uri="{FF2B5EF4-FFF2-40B4-BE49-F238E27FC236}">
                  <a16:creationId xmlns:a16="http://schemas.microsoft.com/office/drawing/2014/main" id="{95F07827-100C-1627-EB97-B072180D481A}"/>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0" name="正方形/長方形 29">
            <a:extLst>
              <a:ext uri="{FF2B5EF4-FFF2-40B4-BE49-F238E27FC236}">
                <a16:creationId xmlns:a16="http://schemas.microsoft.com/office/drawing/2014/main" id="{9BE2291D-1DC3-BE04-4F5A-32A770393970}"/>
              </a:ext>
            </a:extLst>
          </p:cNvPr>
          <p:cNvSpPr/>
          <p:nvPr/>
        </p:nvSpPr>
        <p:spPr>
          <a:xfrm>
            <a:off x="7857860" y="3194464"/>
            <a:ext cx="1028171"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1" name="正方形/長方形 30">
            <a:extLst>
              <a:ext uri="{FF2B5EF4-FFF2-40B4-BE49-F238E27FC236}">
                <a16:creationId xmlns:a16="http://schemas.microsoft.com/office/drawing/2014/main" id="{E2000C53-794E-C246-8735-D223DFD23230}"/>
              </a:ext>
            </a:extLst>
          </p:cNvPr>
          <p:cNvSpPr/>
          <p:nvPr/>
        </p:nvSpPr>
        <p:spPr>
          <a:xfrm>
            <a:off x="10107885" y="1484445"/>
            <a:ext cx="937991"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2" name="正方形/長方形 31">
            <a:extLst>
              <a:ext uri="{FF2B5EF4-FFF2-40B4-BE49-F238E27FC236}">
                <a16:creationId xmlns:a16="http://schemas.microsoft.com/office/drawing/2014/main" id="{24EB945E-BE33-E01A-6722-E1D9B590CF25}"/>
              </a:ext>
            </a:extLst>
          </p:cNvPr>
          <p:cNvSpPr/>
          <p:nvPr/>
        </p:nvSpPr>
        <p:spPr>
          <a:xfrm>
            <a:off x="10055900" y="3248998"/>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3" name="正方形/長方形 32">
            <a:extLst>
              <a:ext uri="{FF2B5EF4-FFF2-40B4-BE49-F238E27FC236}">
                <a16:creationId xmlns:a16="http://schemas.microsoft.com/office/drawing/2014/main" id="{5FAF9744-4B9A-02D6-4003-FD625CB8B920}"/>
              </a:ext>
            </a:extLst>
          </p:cNvPr>
          <p:cNvSpPr/>
          <p:nvPr/>
        </p:nvSpPr>
        <p:spPr>
          <a:xfrm>
            <a:off x="10020059" y="5103069"/>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4" name="角丸四角形 45">
            <a:extLst>
              <a:ext uri="{FF2B5EF4-FFF2-40B4-BE49-F238E27FC236}">
                <a16:creationId xmlns:a16="http://schemas.microsoft.com/office/drawing/2014/main" id="{FADDC4DE-C3E1-8F80-B3E0-991D10739F7C}"/>
              </a:ext>
            </a:extLst>
          </p:cNvPr>
          <p:cNvSpPr/>
          <p:nvPr/>
        </p:nvSpPr>
        <p:spPr bwMode="auto">
          <a:xfrm>
            <a:off x="10511922" y="2168986"/>
            <a:ext cx="720008" cy="360004"/>
          </a:xfrm>
          <a:prstGeom prst="roundRect">
            <a:avLst/>
          </a:prstGeom>
          <a:solidFill>
            <a:srgbClr val="D99694"/>
          </a:solidFill>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ja-JP" altLang="en-US" sz="1400" b="1" dirty="0">
                <a:solidFill>
                  <a:schemeClr val="bg1"/>
                </a:solidFill>
                <a:latin typeface="Arial Narrow" panose="020B0606020202030204" pitchFamily="34" charset="0"/>
              </a:rPr>
              <a:t>肉切る</a:t>
            </a:r>
          </a:p>
        </p:txBody>
      </p:sp>
      <p:sp>
        <p:nvSpPr>
          <p:cNvPr id="35" name="角丸四角形 46">
            <a:extLst>
              <a:ext uri="{FF2B5EF4-FFF2-40B4-BE49-F238E27FC236}">
                <a16:creationId xmlns:a16="http://schemas.microsoft.com/office/drawing/2014/main" id="{AB839173-0F74-7AF3-25A1-0074FB935FE6}"/>
              </a:ext>
            </a:extLst>
          </p:cNvPr>
          <p:cNvSpPr/>
          <p:nvPr/>
        </p:nvSpPr>
        <p:spPr bwMode="auto">
          <a:xfrm>
            <a:off x="8262041" y="3879005"/>
            <a:ext cx="720008" cy="360004"/>
          </a:xfrm>
          <a:prstGeom prst="roundRect">
            <a:avLst/>
          </a:prstGeom>
          <a:solidFill>
            <a:srgbClr val="632523"/>
          </a:solidFill>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ja-JP" altLang="en-US" sz="1400" b="1" dirty="0">
                <a:solidFill>
                  <a:schemeClr val="bg1"/>
                </a:solidFill>
                <a:latin typeface="Arial Narrow" panose="020B0606020202030204" pitchFamily="34" charset="0"/>
              </a:rPr>
              <a:t>煮込み</a:t>
            </a:r>
          </a:p>
        </p:txBody>
      </p:sp>
      <p:sp>
        <p:nvSpPr>
          <p:cNvPr id="36" name="角丸四角形吹き出し 42">
            <a:extLst>
              <a:ext uri="{FF2B5EF4-FFF2-40B4-BE49-F238E27FC236}">
                <a16:creationId xmlns:a16="http://schemas.microsoft.com/office/drawing/2014/main" id="{8756A319-1A3D-8F91-B6CE-134EB67A7CB4}"/>
              </a:ext>
            </a:extLst>
          </p:cNvPr>
          <p:cNvSpPr/>
          <p:nvPr/>
        </p:nvSpPr>
        <p:spPr bwMode="auto">
          <a:xfrm>
            <a:off x="10685907" y="4869016"/>
            <a:ext cx="1080012" cy="432647"/>
          </a:xfrm>
          <a:prstGeom prst="wedgeRoundRectCallout">
            <a:avLst>
              <a:gd name="adj1" fmla="val -46134"/>
              <a:gd name="adj2" fmla="val 94815"/>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煮ます！</a:t>
            </a:r>
          </a:p>
        </p:txBody>
      </p:sp>
      <p:sp>
        <p:nvSpPr>
          <p:cNvPr id="37" name="角丸四角形吹き出し 44">
            <a:extLst>
              <a:ext uri="{FF2B5EF4-FFF2-40B4-BE49-F238E27FC236}">
                <a16:creationId xmlns:a16="http://schemas.microsoft.com/office/drawing/2014/main" id="{E77C4E71-80FB-724D-DBF5-65E287F392A1}"/>
              </a:ext>
            </a:extLst>
          </p:cNvPr>
          <p:cNvSpPr/>
          <p:nvPr/>
        </p:nvSpPr>
        <p:spPr bwMode="auto">
          <a:xfrm>
            <a:off x="10775908" y="1268976"/>
            <a:ext cx="1080012" cy="432647"/>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切ります！</a:t>
            </a:r>
          </a:p>
        </p:txBody>
      </p:sp>
      <p:sp>
        <p:nvSpPr>
          <p:cNvPr id="38" name="角丸四角形吹き出し 44">
            <a:extLst>
              <a:ext uri="{FF2B5EF4-FFF2-40B4-BE49-F238E27FC236}">
                <a16:creationId xmlns:a16="http://schemas.microsoft.com/office/drawing/2014/main" id="{4C376FDB-8147-5E12-76DD-972D7B89BAED}"/>
              </a:ext>
            </a:extLst>
          </p:cNvPr>
          <p:cNvSpPr/>
          <p:nvPr/>
        </p:nvSpPr>
        <p:spPr bwMode="auto">
          <a:xfrm>
            <a:off x="8256024" y="2528990"/>
            <a:ext cx="1800020" cy="702650"/>
          </a:xfrm>
          <a:prstGeom prst="wedgeRoundRectCallout">
            <a:avLst>
              <a:gd name="adj1" fmla="val -34939"/>
              <a:gd name="adj2" fmla="val 73728"/>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これ今やっても</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ええんかな？（ｱｶﾝ</a:t>
            </a:r>
          </a:p>
        </p:txBody>
      </p:sp>
      <p:sp>
        <p:nvSpPr>
          <p:cNvPr id="39" name="角丸四角形吹き出し 44">
            <a:extLst>
              <a:ext uri="{FF2B5EF4-FFF2-40B4-BE49-F238E27FC236}">
                <a16:creationId xmlns:a16="http://schemas.microsoft.com/office/drawing/2014/main" id="{715EA787-7BCE-7DB6-97F0-1C40F347BE94}"/>
              </a:ext>
            </a:extLst>
          </p:cNvPr>
          <p:cNvSpPr/>
          <p:nvPr/>
        </p:nvSpPr>
        <p:spPr bwMode="auto">
          <a:xfrm>
            <a:off x="10776051" y="3068997"/>
            <a:ext cx="1260015" cy="468596"/>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お肉炒めまだ</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すんでない！</a:t>
            </a:r>
          </a:p>
        </p:txBody>
      </p:sp>
      <p:sp>
        <p:nvSpPr>
          <p:cNvPr id="40" name="角丸四角形 45">
            <a:extLst>
              <a:ext uri="{FF2B5EF4-FFF2-40B4-BE49-F238E27FC236}">
                <a16:creationId xmlns:a16="http://schemas.microsoft.com/office/drawing/2014/main" id="{DF8315B5-6366-1A66-9323-8A1E3036D24C}"/>
              </a:ext>
            </a:extLst>
          </p:cNvPr>
          <p:cNvSpPr/>
          <p:nvPr/>
        </p:nvSpPr>
        <p:spPr bwMode="auto">
          <a:xfrm>
            <a:off x="10506049" y="3969006"/>
            <a:ext cx="720008" cy="360004"/>
          </a:xfrm>
          <a:prstGeom prst="roundRect">
            <a:avLst/>
          </a:prstGeom>
          <a:solidFill>
            <a:srgbClr val="4F6228"/>
          </a:solidFill>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ja-JP" altLang="en-US" sz="1400" b="1" dirty="0">
                <a:solidFill>
                  <a:schemeClr val="bg1"/>
                </a:solidFill>
                <a:latin typeface="Arial Narrow" panose="020B0606020202030204" pitchFamily="34" charset="0"/>
              </a:rPr>
              <a:t>野菜炒る</a:t>
            </a:r>
          </a:p>
        </p:txBody>
      </p:sp>
      <p:sp>
        <p:nvSpPr>
          <p:cNvPr id="41" name="矢印: 右 40">
            <a:extLst>
              <a:ext uri="{FF2B5EF4-FFF2-40B4-BE49-F238E27FC236}">
                <a16:creationId xmlns:a16="http://schemas.microsoft.com/office/drawing/2014/main" id="{62F77DA0-7052-C474-6A1F-DAF9BE1E9C09}"/>
              </a:ext>
            </a:extLst>
          </p:cNvPr>
          <p:cNvSpPr/>
          <p:nvPr/>
        </p:nvSpPr>
        <p:spPr bwMode="auto">
          <a:xfrm>
            <a:off x="9426037" y="3519001"/>
            <a:ext cx="450005" cy="630007"/>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Tree>
    <p:extLst>
      <p:ext uri="{BB962C8B-B14F-4D97-AF65-F5344CB8AC3E}">
        <p14:creationId xmlns:p14="http://schemas.microsoft.com/office/powerpoint/2010/main" val="25201473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0E536E-2DE0-FEB9-8C93-C86C41BE5F1D}"/>
              </a:ext>
            </a:extLst>
          </p:cNvPr>
          <p:cNvSpPr>
            <a:spLocks noGrp="1"/>
          </p:cNvSpPr>
          <p:nvPr>
            <p:ph type="title"/>
          </p:nvPr>
        </p:nvSpPr>
        <p:spPr>
          <a:xfrm>
            <a:off x="695940" y="0"/>
            <a:ext cx="10776052" cy="908972"/>
          </a:xfrm>
        </p:spPr>
        <p:txBody>
          <a:bodyPr/>
          <a:lstStyle/>
          <a:p>
            <a:r>
              <a:rPr lang="ja-JP" altLang="en-US" sz="2800" dirty="0"/>
              <a:t>大量の単純な処理の繰り返し</a:t>
            </a:r>
            <a:r>
              <a:rPr lang="en-US" altLang="ja-JP" sz="2800" dirty="0"/>
              <a:t> </a:t>
            </a:r>
            <a:r>
              <a:rPr kumimoji="1" lang="en-US" altLang="ja-JP" sz="2800" dirty="0"/>
              <a:t>= </a:t>
            </a:r>
            <a:r>
              <a:rPr kumimoji="1" lang="ja-JP" altLang="en-US" sz="2800" dirty="0"/>
              <a:t>カレーをたくさん作る場合</a:t>
            </a:r>
            <a:endParaRPr kumimoji="1" lang="en-US" sz="2800" dirty="0"/>
          </a:p>
        </p:txBody>
      </p:sp>
      <p:sp>
        <p:nvSpPr>
          <p:cNvPr id="3" name="テキスト プレースホルダー 2">
            <a:extLst>
              <a:ext uri="{FF2B5EF4-FFF2-40B4-BE49-F238E27FC236}">
                <a16:creationId xmlns:a16="http://schemas.microsoft.com/office/drawing/2014/main" id="{453B299B-312A-B24B-A7D2-B9D6C49F1FF0}"/>
              </a:ext>
            </a:extLst>
          </p:cNvPr>
          <p:cNvSpPr>
            <a:spLocks noGrp="1"/>
          </p:cNvSpPr>
          <p:nvPr>
            <p:ph type="body" sz="quarter" idx="10"/>
          </p:nvPr>
        </p:nvSpPr>
        <p:spPr>
          <a:xfrm>
            <a:off x="515938" y="1178975"/>
            <a:ext cx="7020078" cy="5490061"/>
          </a:xfrm>
        </p:spPr>
        <p:txBody>
          <a:bodyPr/>
          <a:lstStyle/>
          <a:p>
            <a:r>
              <a:rPr kumimoji="1" lang="ja-JP" altLang="en-US" dirty="0"/>
              <a:t>単に並べてみんなで同じ処理をすれば速くなる</a:t>
            </a:r>
            <a:endParaRPr kumimoji="1" lang="en-US" altLang="ja-JP" dirty="0"/>
          </a:p>
          <a:p>
            <a:pPr lvl="1"/>
            <a:r>
              <a:rPr lang="ja-JP" altLang="en-US" dirty="0"/>
              <a:t>ループの各周をみんなでやってくださいと言うだけ</a:t>
            </a:r>
            <a:endParaRPr kumimoji="1" lang="en-US" altLang="ja-JP" dirty="0"/>
          </a:p>
          <a:p>
            <a:pPr lvl="1"/>
            <a:r>
              <a:rPr lang="ja-JP" altLang="en-US" dirty="0"/>
              <a:t>振り分けとか考える必要もない</a:t>
            </a:r>
            <a:endParaRPr lang="en-US" altLang="ja-JP" dirty="0"/>
          </a:p>
          <a:p>
            <a:r>
              <a:rPr kumimoji="1" lang="ja-JP" altLang="en-US" dirty="0"/>
              <a:t>並べた分だけ速くなる（すごい）</a:t>
            </a:r>
            <a:endParaRPr kumimoji="1" lang="en-US" altLang="ja-JP" dirty="0"/>
          </a:p>
          <a:p>
            <a:pPr lvl="1"/>
            <a:r>
              <a:rPr lang="ja-JP" altLang="en-US" dirty="0"/>
              <a:t>右だと４倍速い</a:t>
            </a:r>
            <a:endParaRPr lang="en-US" altLang="ja-JP" dirty="0"/>
          </a:p>
          <a:p>
            <a:r>
              <a:rPr kumimoji="1" lang="en-US" altLang="ja-JP" dirty="0"/>
              <a:t>GPU </a:t>
            </a:r>
            <a:r>
              <a:rPr kumimoji="1" lang="ja-JP" altLang="en-US" dirty="0"/>
              <a:t>はそう言うことが出来るプログラムがターゲット</a:t>
            </a:r>
            <a:endParaRPr kumimoji="1" lang="en-US" altLang="ja-JP" dirty="0"/>
          </a:p>
          <a:p>
            <a:pPr lvl="1"/>
            <a:r>
              <a:rPr kumimoji="1" lang="ja-JP" altLang="en-US" dirty="0"/>
              <a:t>もともとグラフィック処理では，画面上の多数の</a:t>
            </a:r>
            <a:br>
              <a:rPr kumimoji="1" lang="en-US" altLang="ja-JP" dirty="0"/>
            </a:br>
            <a:r>
              <a:rPr kumimoji="1" lang="ja-JP" altLang="en-US" dirty="0"/>
              <a:t>ピクセルの処理がこれに該当</a:t>
            </a:r>
            <a:endParaRPr kumimoji="1" lang="en-US" altLang="ja-JP" dirty="0"/>
          </a:p>
          <a:p>
            <a:pPr lvl="1"/>
            <a:r>
              <a:rPr kumimoji="1" lang="ja-JP" altLang="en-US" dirty="0"/>
              <a:t>ピクセル間の処理は基本的に依存がない</a:t>
            </a:r>
            <a:endParaRPr kumimoji="1" lang="en-US" altLang="ja-JP" dirty="0"/>
          </a:p>
          <a:p>
            <a:pPr lvl="2"/>
            <a:r>
              <a:rPr kumimoji="1" lang="ja-JP" altLang="en-US" dirty="0"/>
              <a:t>画面の上の方と下の方は並列にやっても問題ない</a:t>
            </a:r>
            <a:endParaRPr kumimoji="1" lang="en-US" dirty="0"/>
          </a:p>
        </p:txBody>
      </p:sp>
      <p:grpSp>
        <p:nvGrpSpPr>
          <p:cNvPr id="42" name="グループ化 41">
            <a:extLst>
              <a:ext uri="{FF2B5EF4-FFF2-40B4-BE49-F238E27FC236}">
                <a16:creationId xmlns:a16="http://schemas.microsoft.com/office/drawing/2014/main" id="{FFB36817-B089-8B04-49DA-BD5E341FC994}"/>
              </a:ext>
            </a:extLst>
          </p:cNvPr>
          <p:cNvGrpSpPr/>
          <p:nvPr/>
        </p:nvGrpSpPr>
        <p:grpSpPr>
          <a:xfrm>
            <a:off x="7863637" y="1413028"/>
            <a:ext cx="630007" cy="1080012"/>
            <a:chOff x="1145945" y="1988984"/>
            <a:chExt cx="1440000" cy="3240036"/>
          </a:xfrm>
        </p:grpSpPr>
        <p:sp>
          <p:nvSpPr>
            <p:cNvPr id="4" name="正方形/長方形 3">
              <a:extLst>
                <a:ext uri="{FF2B5EF4-FFF2-40B4-BE49-F238E27FC236}">
                  <a16:creationId xmlns:a16="http://schemas.microsoft.com/office/drawing/2014/main" id="{1F98BD1D-5FA2-F5C1-1E2E-A1B3BB59E7C9}"/>
                </a:ext>
              </a:extLst>
            </p:cNvPr>
            <p:cNvSpPr/>
            <p:nvPr/>
          </p:nvSpPr>
          <p:spPr bwMode="auto">
            <a:xfrm>
              <a:off x="1145945" y="1988984"/>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3">
                    <a:lumMod val="50000"/>
                  </a:schemeClr>
                </a:solidFill>
              </a:endParaRPr>
            </a:p>
          </p:txBody>
        </p:sp>
        <p:sp>
          <p:nvSpPr>
            <p:cNvPr id="5" name="正方形/長方形 4">
              <a:extLst>
                <a:ext uri="{FF2B5EF4-FFF2-40B4-BE49-F238E27FC236}">
                  <a16:creationId xmlns:a16="http://schemas.microsoft.com/office/drawing/2014/main" id="{17ADC32A-B723-5A01-0ADF-1F798116507E}"/>
                </a:ext>
              </a:extLst>
            </p:cNvPr>
            <p:cNvSpPr/>
            <p:nvPr/>
          </p:nvSpPr>
          <p:spPr bwMode="auto">
            <a:xfrm>
              <a:off x="1145945" y="2348988"/>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6" name="正方形/長方形 5">
              <a:extLst>
                <a:ext uri="{FF2B5EF4-FFF2-40B4-BE49-F238E27FC236}">
                  <a16:creationId xmlns:a16="http://schemas.microsoft.com/office/drawing/2014/main" id="{9FFE2260-58E1-061D-F8FF-6F3D0BB9C74B}"/>
                </a:ext>
              </a:extLst>
            </p:cNvPr>
            <p:cNvSpPr/>
            <p:nvPr/>
          </p:nvSpPr>
          <p:spPr bwMode="auto">
            <a:xfrm>
              <a:off x="1145945" y="2708992"/>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7" name="正方形/長方形 6">
              <a:extLst>
                <a:ext uri="{FF2B5EF4-FFF2-40B4-BE49-F238E27FC236}">
                  <a16:creationId xmlns:a16="http://schemas.microsoft.com/office/drawing/2014/main" id="{1BC10747-475D-CA6F-8A70-DED8B18125B8}"/>
                </a:ext>
              </a:extLst>
            </p:cNvPr>
            <p:cNvSpPr/>
            <p:nvPr/>
          </p:nvSpPr>
          <p:spPr bwMode="auto">
            <a:xfrm>
              <a:off x="1145945" y="3068996"/>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8" name="正方形/長方形 7">
              <a:extLst>
                <a:ext uri="{FF2B5EF4-FFF2-40B4-BE49-F238E27FC236}">
                  <a16:creationId xmlns:a16="http://schemas.microsoft.com/office/drawing/2014/main" id="{C35A30F6-E161-2AEF-207E-70C5D4D09320}"/>
                </a:ext>
              </a:extLst>
            </p:cNvPr>
            <p:cNvSpPr/>
            <p:nvPr/>
          </p:nvSpPr>
          <p:spPr bwMode="auto">
            <a:xfrm>
              <a:off x="1145945" y="3429000"/>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9" name="正方形/長方形 8">
              <a:extLst>
                <a:ext uri="{FF2B5EF4-FFF2-40B4-BE49-F238E27FC236}">
                  <a16:creationId xmlns:a16="http://schemas.microsoft.com/office/drawing/2014/main" id="{6E08064F-1D48-013F-0A30-AA6603043B3A}"/>
                </a:ext>
              </a:extLst>
            </p:cNvPr>
            <p:cNvSpPr/>
            <p:nvPr/>
          </p:nvSpPr>
          <p:spPr bwMode="auto">
            <a:xfrm>
              <a:off x="1145945" y="3789004"/>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10" name="正方形/長方形 9">
              <a:extLst>
                <a:ext uri="{FF2B5EF4-FFF2-40B4-BE49-F238E27FC236}">
                  <a16:creationId xmlns:a16="http://schemas.microsoft.com/office/drawing/2014/main" id="{02636874-4CC1-EF07-7815-AF7261F73B19}"/>
                </a:ext>
              </a:extLst>
            </p:cNvPr>
            <p:cNvSpPr/>
            <p:nvPr/>
          </p:nvSpPr>
          <p:spPr bwMode="auto">
            <a:xfrm>
              <a:off x="1145945" y="4149008"/>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11" name="正方形/長方形 10">
              <a:extLst>
                <a:ext uri="{FF2B5EF4-FFF2-40B4-BE49-F238E27FC236}">
                  <a16:creationId xmlns:a16="http://schemas.microsoft.com/office/drawing/2014/main" id="{3155CA02-4F72-47BC-F7FF-3C9AE766FA77}"/>
                </a:ext>
              </a:extLst>
            </p:cNvPr>
            <p:cNvSpPr/>
            <p:nvPr/>
          </p:nvSpPr>
          <p:spPr bwMode="auto">
            <a:xfrm>
              <a:off x="1145945" y="4509012"/>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12" name="正方形/長方形 11">
              <a:extLst>
                <a:ext uri="{FF2B5EF4-FFF2-40B4-BE49-F238E27FC236}">
                  <a16:creationId xmlns:a16="http://schemas.microsoft.com/office/drawing/2014/main" id="{7AEA6802-248E-ED5D-821A-B66B88658745}"/>
                </a:ext>
              </a:extLst>
            </p:cNvPr>
            <p:cNvSpPr/>
            <p:nvPr/>
          </p:nvSpPr>
          <p:spPr bwMode="auto">
            <a:xfrm>
              <a:off x="1145945" y="4869016"/>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grpSp>
      <p:grpSp>
        <p:nvGrpSpPr>
          <p:cNvPr id="43" name="グループ化 42">
            <a:extLst>
              <a:ext uri="{FF2B5EF4-FFF2-40B4-BE49-F238E27FC236}">
                <a16:creationId xmlns:a16="http://schemas.microsoft.com/office/drawing/2014/main" id="{288525B9-7E1D-6EBD-91D9-543994C812FA}"/>
              </a:ext>
            </a:extLst>
          </p:cNvPr>
          <p:cNvGrpSpPr/>
          <p:nvPr/>
        </p:nvGrpSpPr>
        <p:grpSpPr>
          <a:xfrm>
            <a:off x="7863637" y="2673042"/>
            <a:ext cx="630007" cy="1080012"/>
            <a:chOff x="1145945" y="1988984"/>
            <a:chExt cx="1440000" cy="3240036"/>
          </a:xfrm>
        </p:grpSpPr>
        <p:sp>
          <p:nvSpPr>
            <p:cNvPr id="44" name="正方形/長方形 43">
              <a:extLst>
                <a:ext uri="{FF2B5EF4-FFF2-40B4-BE49-F238E27FC236}">
                  <a16:creationId xmlns:a16="http://schemas.microsoft.com/office/drawing/2014/main" id="{4DD2906A-B042-AA3A-A033-9E4DFF860741}"/>
                </a:ext>
              </a:extLst>
            </p:cNvPr>
            <p:cNvSpPr/>
            <p:nvPr/>
          </p:nvSpPr>
          <p:spPr bwMode="auto">
            <a:xfrm>
              <a:off x="1145945" y="1988984"/>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3">
                    <a:lumMod val="50000"/>
                  </a:schemeClr>
                </a:solidFill>
              </a:endParaRPr>
            </a:p>
          </p:txBody>
        </p:sp>
        <p:sp>
          <p:nvSpPr>
            <p:cNvPr id="45" name="正方形/長方形 44">
              <a:extLst>
                <a:ext uri="{FF2B5EF4-FFF2-40B4-BE49-F238E27FC236}">
                  <a16:creationId xmlns:a16="http://schemas.microsoft.com/office/drawing/2014/main" id="{C658889A-C454-75B1-C564-669847E86478}"/>
                </a:ext>
              </a:extLst>
            </p:cNvPr>
            <p:cNvSpPr/>
            <p:nvPr/>
          </p:nvSpPr>
          <p:spPr bwMode="auto">
            <a:xfrm>
              <a:off x="1145945" y="2348988"/>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46" name="正方形/長方形 45">
              <a:extLst>
                <a:ext uri="{FF2B5EF4-FFF2-40B4-BE49-F238E27FC236}">
                  <a16:creationId xmlns:a16="http://schemas.microsoft.com/office/drawing/2014/main" id="{1F3D5F0E-CE6F-F930-8A37-9CC785CE7569}"/>
                </a:ext>
              </a:extLst>
            </p:cNvPr>
            <p:cNvSpPr/>
            <p:nvPr/>
          </p:nvSpPr>
          <p:spPr bwMode="auto">
            <a:xfrm>
              <a:off x="1145945" y="2708992"/>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47" name="正方形/長方形 46">
              <a:extLst>
                <a:ext uri="{FF2B5EF4-FFF2-40B4-BE49-F238E27FC236}">
                  <a16:creationId xmlns:a16="http://schemas.microsoft.com/office/drawing/2014/main" id="{CCE4E9D0-49C7-60DD-3610-478CCFC1D684}"/>
                </a:ext>
              </a:extLst>
            </p:cNvPr>
            <p:cNvSpPr/>
            <p:nvPr/>
          </p:nvSpPr>
          <p:spPr bwMode="auto">
            <a:xfrm>
              <a:off x="1145945" y="3068996"/>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48" name="正方形/長方形 47">
              <a:extLst>
                <a:ext uri="{FF2B5EF4-FFF2-40B4-BE49-F238E27FC236}">
                  <a16:creationId xmlns:a16="http://schemas.microsoft.com/office/drawing/2014/main" id="{D7C18AB2-5659-177E-1B77-65166D18F339}"/>
                </a:ext>
              </a:extLst>
            </p:cNvPr>
            <p:cNvSpPr/>
            <p:nvPr/>
          </p:nvSpPr>
          <p:spPr bwMode="auto">
            <a:xfrm>
              <a:off x="1145945" y="3429000"/>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49" name="正方形/長方形 48">
              <a:extLst>
                <a:ext uri="{FF2B5EF4-FFF2-40B4-BE49-F238E27FC236}">
                  <a16:creationId xmlns:a16="http://schemas.microsoft.com/office/drawing/2014/main" id="{AF5D3E9A-7F40-1B34-586E-E1CAD6AE0B14}"/>
                </a:ext>
              </a:extLst>
            </p:cNvPr>
            <p:cNvSpPr/>
            <p:nvPr/>
          </p:nvSpPr>
          <p:spPr bwMode="auto">
            <a:xfrm>
              <a:off x="1145945" y="3789004"/>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50" name="正方形/長方形 49">
              <a:extLst>
                <a:ext uri="{FF2B5EF4-FFF2-40B4-BE49-F238E27FC236}">
                  <a16:creationId xmlns:a16="http://schemas.microsoft.com/office/drawing/2014/main" id="{15BEE321-A06F-6E09-F522-1B7BBE0FD999}"/>
                </a:ext>
              </a:extLst>
            </p:cNvPr>
            <p:cNvSpPr/>
            <p:nvPr/>
          </p:nvSpPr>
          <p:spPr bwMode="auto">
            <a:xfrm>
              <a:off x="1145945" y="4149008"/>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51" name="正方形/長方形 50">
              <a:extLst>
                <a:ext uri="{FF2B5EF4-FFF2-40B4-BE49-F238E27FC236}">
                  <a16:creationId xmlns:a16="http://schemas.microsoft.com/office/drawing/2014/main" id="{1AB8EED3-A6EC-1421-1060-AF619797FA0C}"/>
                </a:ext>
              </a:extLst>
            </p:cNvPr>
            <p:cNvSpPr/>
            <p:nvPr/>
          </p:nvSpPr>
          <p:spPr bwMode="auto">
            <a:xfrm>
              <a:off x="1145945" y="4509012"/>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52" name="正方形/長方形 51">
              <a:extLst>
                <a:ext uri="{FF2B5EF4-FFF2-40B4-BE49-F238E27FC236}">
                  <a16:creationId xmlns:a16="http://schemas.microsoft.com/office/drawing/2014/main" id="{9E734808-EED6-A5D8-5108-99DBEDAEC2E0}"/>
                </a:ext>
              </a:extLst>
            </p:cNvPr>
            <p:cNvSpPr/>
            <p:nvPr/>
          </p:nvSpPr>
          <p:spPr bwMode="auto">
            <a:xfrm>
              <a:off x="1145945" y="4869016"/>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grpSp>
      <p:grpSp>
        <p:nvGrpSpPr>
          <p:cNvPr id="55" name="グループ化 54">
            <a:extLst>
              <a:ext uri="{FF2B5EF4-FFF2-40B4-BE49-F238E27FC236}">
                <a16:creationId xmlns:a16="http://schemas.microsoft.com/office/drawing/2014/main" id="{43447ECB-B7FE-3984-81C8-AE885563C478}"/>
              </a:ext>
            </a:extLst>
          </p:cNvPr>
          <p:cNvGrpSpPr/>
          <p:nvPr/>
        </p:nvGrpSpPr>
        <p:grpSpPr>
          <a:xfrm>
            <a:off x="7863637" y="4023057"/>
            <a:ext cx="630007" cy="1080012"/>
            <a:chOff x="1145945" y="1988984"/>
            <a:chExt cx="1440000" cy="3240036"/>
          </a:xfrm>
        </p:grpSpPr>
        <p:sp>
          <p:nvSpPr>
            <p:cNvPr id="56" name="正方形/長方形 55">
              <a:extLst>
                <a:ext uri="{FF2B5EF4-FFF2-40B4-BE49-F238E27FC236}">
                  <a16:creationId xmlns:a16="http://schemas.microsoft.com/office/drawing/2014/main" id="{5FBBED7F-A50F-1DFE-C725-9A6C252AE26C}"/>
                </a:ext>
              </a:extLst>
            </p:cNvPr>
            <p:cNvSpPr/>
            <p:nvPr/>
          </p:nvSpPr>
          <p:spPr bwMode="auto">
            <a:xfrm>
              <a:off x="1145945" y="1988984"/>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3">
                    <a:lumMod val="50000"/>
                  </a:schemeClr>
                </a:solidFill>
              </a:endParaRPr>
            </a:p>
          </p:txBody>
        </p:sp>
        <p:sp>
          <p:nvSpPr>
            <p:cNvPr id="57" name="正方形/長方形 56">
              <a:extLst>
                <a:ext uri="{FF2B5EF4-FFF2-40B4-BE49-F238E27FC236}">
                  <a16:creationId xmlns:a16="http://schemas.microsoft.com/office/drawing/2014/main" id="{AF1DE1EC-4F8B-AEC1-0D1C-F742FF5180C1}"/>
                </a:ext>
              </a:extLst>
            </p:cNvPr>
            <p:cNvSpPr/>
            <p:nvPr/>
          </p:nvSpPr>
          <p:spPr bwMode="auto">
            <a:xfrm>
              <a:off x="1145945" y="2348988"/>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58" name="正方形/長方形 57">
              <a:extLst>
                <a:ext uri="{FF2B5EF4-FFF2-40B4-BE49-F238E27FC236}">
                  <a16:creationId xmlns:a16="http://schemas.microsoft.com/office/drawing/2014/main" id="{6CD9C6C5-EB2D-2E94-4EC8-3793CE4ACADC}"/>
                </a:ext>
              </a:extLst>
            </p:cNvPr>
            <p:cNvSpPr/>
            <p:nvPr/>
          </p:nvSpPr>
          <p:spPr bwMode="auto">
            <a:xfrm>
              <a:off x="1145945" y="2708992"/>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59" name="正方形/長方形 58">
              <a:extLst>
                <a:ext uri="{FF2B5EF4-FFF2-40B4-BE49-F238E27FC236}">
                  <a16:creationId xmlns:a16="http://schemas.microsoft.com/office/drawing/2014/main" id="{361932EE-F811-6CCA-08BF-7DD22DC0F80E}"/>
                </a:ext>
              </a:extLst>
            </p:cNvPr>
            <p:cNvSpPr/>
            <p:nvPr/>
          </p:nvSpPr>
          <p:spPr bwMode="auto">
            <a:xfrm>
              <a:off x="1145945" y="3068996"/>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60" name="正方形/長方形 59">
              <a:extLst>
                <a:ext uri="{FF2B5EF4-FFF2-40B4-BE49-F238E27FC236}">
                  <a16:creationId xmlns:a16="http://schemas.microsoft.com/office/drawing/2014/main" id="{06586AA9-6724-9019-997C-419A424C82F9}"/>
                </a:ext>
              </a:extLst>
            </p:cNvPr>
            <p:cNvSpPr/>
            <p:nvPr/>
          </p:nvSpPr>
          <p:spPr bwMode="auto">
            <a:xfrm>
              <a:off x="1145945" y="3429000"/>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61" name="正方形/長方形 60">
              <a:extLst>
                <a:ext uri="{FF2B5EF4-FFF2-40B4-BE49-F238E27FC236}">
                  <a16:creationId xmlns:a16="http://schemas.microsoft.com/office/drawing/2014/main" id="{90CD65C6-173D-038B-6DDB-CA1F63DB7195}"/>
                </a:ext>
              </a:extLst>
            </p:cNvPr>
            <p:cNvSpPr/>
            <p:nvPr/>
          </p:nvSpPr>
          <p:spPr bwMode="auto">
            <a:xfrm>
              <a:off x="1145945" y="3789004"/>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62" name="正方形/長方形 61">
              <a:extLst>
                <a:ext uri="{FF2B5EF4-FFF2-40B4-BE49-F238E27FC236}">
                  <a16:creationId xmlns:a16="http://schemas.microsoft.com/office/drawing/2014/main" id="{4E470C96-C212-DE6B-16BA-E6336319B036}"/>
                </a:ext>
              </a:extLst>
            </p:cNvPr>
            <p:cNvSpPr/>
            <p:nvPr/>
          </p:nvSpPr>
          <p:spPr bwMode="auto">
            <a:xfrm>
              <a:off x="1145945" y="4149008"/>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63" name="正方形/長方形 62">
              <a:extLst>
                <a:ext uri="{FF2B5EF4-FFF2-40B4-BE49-F238E27FC236}">
                  <a16:creationId xmlns:a16="http://schemas.microsoft.com/office/drawing/2014/main" id="{7EFE94EE-3B9B-F008-4E2E-8D832EEC93B6}"/>
                </a:ext>
              </a:extLst>
            </p:cNvPr>
            <p:cNvSpPr/>
            <p:nvPr/>
          </p:nvSpPr>
          <p:spPr bwMode="auto">
            <a:xfrm>
              <a:off x="1145945" y="4509012"/>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64" name="正方形/長方形 63">
              <a:extLst>
                <a:ext uri="{FF2B5EF4-FFF2-40B4-BE49-F238E27FC236}">
                  <a16:creationId xmlns:a16="http://schemas.microsoft.com/office/drawing/2014/main" id="{851E5576-1A6E-66F2-9C68-4E688194D2AA}"/>
                </a:ext>
              </a:extLst>
            </p:cNvPr>
            <p:cNvSpPr/>
            <p:nvPr/>
          </p:nvSpPr>
          <p:spPr bwMode="auto">
            <a:xfrm>
              <a:off x="1145945" y="4869016"/>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grpSp>
      <p:grpSp>
        <p:nvGrpSpPr>
          <p:cNvPr id="67" name="グループ化 66">
            <a:extLst>
              <a:ext uri="{FF2B5EF4-FFF2-40B4-BE49-F238E27FC236}">
                <a16:creationId xmlns:a16="http://schemas.microsoft.com/office/drawing/2014/main" id="{B7E66328-4674-0571-4312-3E44DBB58D2D}"/>
              </a:ext>
            </a:extLst>
          </p:cNvPr>
          <p:cNvGrpSpPr/>
          <p:nvPr/>
        </p:nvGrpSpPr>
        <p:grpSpPr>
          <a:xfrm>
            <a:off x="7863637" y="5319021"/>
            <a:ext cx="630007" cy="1080012"/>
            <a:chOff x="1145945" y="1988984"/>
            <a:chExt cx="1440000" cy="3240036"/>
          </a:xfrm>
        </p:grpSpPr>
        <p:sp>
          <p:nvSpPr>
            <p:cNvPr id="68" name="正方形/長方形 67">
              <a:extLst>
                <a:ext uri="{FF2B5EF4-FFF2-40B4-BE49-F238E27FC236}">
                  <a16:creationId xmlns:a16="http://schemas.microsoft.com/office/drawing/2014/main" id="{BCA21FF7-E113-5FBB-C8A6-670A4C7BD105}"/>
                </a:ext>
              </a:extLst>
            </p:cNvPr>
            <p:cNvSpPr/>
            <p:nvPr/>
          </p:nvSpPr>
          <p:spPr bwMode="auto">
            <a:xfrm>
              <a:off x="1145945" y="1988984"/>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3">
                    <a:lumMod val="50000"/>
                  </a:schemeClr>
                </a:solidFill>
              </a:endParaRPr>
            </a:p>
          </p:txBody>
        </p:sp>
        <p:sp>
          <p:nvSpPr>
            <p:cNvPr id="69" name="正方形/長方形 68">
              <a:extLst>
                <a:ext uri="{FF2B5EF4-FFF2-40B4-BE49-F238E27FC236}">
                  <a16:creationId xmlns:a16="http://schemas.microsoft.com/office/drawing/2014/main" id="{71C2D705-2AA2-3FB1-1B60-6F48FD0A9218}"/>
                </a:ext>
              </a:extLst>
            </p:cNvPr>
            <p:cNvSpPr/>
            <p:nvPr/>
          </p:nvSpPr>
          <p:spPr bwMode="auto">
            <a:xfrm>
              <a:off x="1145945" y="2348988"/>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70" name="正方形/長方形 69">
              <a:extLst>
                <a:ext uri="{FF2B5EF4-FFF2-40B4-BE49-F238E27FC236}">
                  <a16:creationId xmlns:a16="http://schemas.microsoft.com/office/drawing/2014/main" id="{1934CD63-9240-75CB-FC9E-BB38CC25DE88}"/>
                </a:ext>
              </a:extLst>
            </p:cNvPr>
            <p:cNvSpPr/>
            <p:nvPr/>
          </p:nvSpPr>
          <p:spPr bwMode="auto">
            <a:xfrm>
              <a:off x="1145945" y="2708992"/>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71" name="正方形/長方形 70">
              <a:extLst>
                <a:ext uri="{FF2B5EF4-FFF2-40B4-BE49-F238E27FC236}">
                  <a16:creationId xmlns:a16="http://schemas.microsoft.com/office/drawing/2014/main" id="{1DDBC468-8D8A-A18E-8E4F-7E1E7E71F17D}"/>
                </a:ext>
              </a:extLst>
            </p:cNvPr>
            <p:cNvSpPr/>
            <p:nvPr/>
          </p:nvSpPr>
          <p:spPr bwMode="auto">
            <a:xfrm>
              <a:off x="1145945" y="3068996"/>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72" name="正方形/長方形 71">
              <a:extLst>
                <a:ext uri="{FF2B5EF4-FFF2-40B4-BE49-F238E27FC236}">
                  <a16:creationId xmlns:a16="http://schemas.microsoft.com/office/drawing/2014/main" id="{B03BBCA8-64C5-4BAF-B798-A8B120BCEC74}"/>
                </a:ext>
              </a:extLst>
            </p:cNvPr>
            <p:cNvSpPr/>
            <p:nvPr/>
          </p:nvSpPr>
          <p:spPr bwMode="auto">
            <a:xfrm>
              <a:off x="1145945" y="3429000"/>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73" name="正方形/長方形 72">
              <a:extLst>
                <a:ext uri="{FF2B5EF4-FFF2-40B4-BE49-F238E27FC236}">
                  <a16:creationId xmlns:a16="http://schemas.microsoft.com/office/drawing/2014/main" id="{8BE30DEA-6E5B-17AF-3B7A-B3418855C088}"/>
                </a:ext>
              </a:extLst>
            </p:cNvPr>
            <p:cNvSpPr/>
            <p:nvPr/>
          </p:nvSpPr>
          <p:spPr bwMode="auto">
            <a:xfrm>
              <a:off x="1145945" y="3789004"/>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74" name="正方形/長方形 73">
              <a:extLst>
                <a:ext uri="{FF2B5EF4-FFF2-40B4-BE49-F238E27FC236}">
                  <a16:creationId xmlns:a16="http://schemas.microsoft.com/office/drawing/2014/main" id="{55E5297E-FE42-C5E5-39E0-E1A80B95C2D3}"/>
                </a:ext>
              </a:extLst>
            </p:cNvPr>
            <p:cNvSpPr/>
            <p:nvPr/>
          </p:nvSpPr>
          <p:spPr bwMode="auto">
            <a:xfrm>
              <a:off x="1145945" y="4149008"/>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75" name="正方形/長方形 74">
              <a:extLst>
                <a:ext uri="{FF2B5EF4-FFF2-40B4-BE49-F238E27FC236}">
                  <a16:creationId xmlns:a16="http://schemas.microsoft.com/office/drawing/2014/main" id="{52FA6129-6E68-3387-5BE7-C07FED769CE2}"/>
                </a:ext>
              </a:extLst>
            </p:cNvPr>
            <p:cNvSpPr/>
            <p:nvPr/>
          </p:nvSpPr>
          <p:spPr bwMode="auto">
            <a:xfrm>
              <a:off x="1145945" y="4509012"/>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76" name="正方形/長方形 75">
              <a:extLst>
                <a:ext uri="{FF2B5EF4-FFF2-40B4-BE49-F238E27FC236}">
                  <a16:creationId xmlns:a16="http://schemas.microsoft.com/office/drawing/2014/main" id="{3101A21B-8E96-F039-179E-E97C78C2A406}"/>
                </a:ext>
              </a:extLst>
            </p:cNvPr>
            <p:cNvSpPr/>
            <p:nvPr/>
          </p:nvSpPr>
          <p:spPr bwMode="auto">
            <a:xfrm>
              <a:off x="1145945" y="4869016"/>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grpSp>
      <p:sp>
        <p:nvSpPr>
          <p:cNvPr id="80" name="平行四辺形 79">
            <a:extLst>
              <a:ext uri="{FF2B5EF4-FFF2-40B4-BE49-F238E27FC236}">
                <a16:creationId xmlns:a16="http://schemas.microsoft.com/office/drawing/2014/main" id="{876A9F4C-66FC-B0AB-0A8A-0939D1F52132}"/>
              </a:ext>
            </a:extLst>
          </p:cNvPr>
          <p:cNvSpPr/>
          <p:nvPr/>
        </p:nvSpPr>
        <p:spPr bwMode="auto">
          <a:xfrm>
            <a:off x="8763647" y="1988984"/>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2" name="正方形/長方形 81">
            <a:extLst>
              <a:ext uri="{FF2B5EF4-FFF2-40B4-BE49-F238E27FC236}">
                <a16:creationId xmlns:a16="http://schemas.microsoft.com/office/drawing/2014/main" id="{708E2D2A-F7B3-4EB4-4924-D07BC77F7916}"/>
              </a:ext>
            </a:extLst>
          </p:cNvPr>
          <p:cNvSpPr/>
          <p:nvPr/>
        </p:nvSpPr>
        <p:spPr>
          <a:xfrm>
            <a:off x="9213652" y="117897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87" name="平行四辺形 86">
            <a:extLst>
              <a:ext uri="{FF2B5EF4-FFF2-40B4-BE49-F238E27FC236}">
                <a16:creationId xmlns:a16="http://schemas.microsoft.com/office/drawing/2014/main" id="{61E565E2-CE5E-7D4E-DA50-AC068A60CED9}"/>
              </a:ext>
            </a:extLst>
          </p:cNvPr>
          <p:cNvSpPr/>
          <p:nvPr/>
        </p:nvSpPr>
        <p:spPr bwMode="auto">
          <a:xfrm>
            <a:off x="10203663" y="1988984"/>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9" name="正方形/長方形 88">
            <a:extLst>
              <a:ext uri="{FF2B5EF4-FFF2-40B4-BE49-F238E27FC236}">
                <a16:creationId xmlns:a16="http://schemas.microsoft.com/office/drawing/2014/main" id="{9DC73DF9-9EED-B83E-E3B2-11E38EAB0856}"/>
              </a:ext>
            </a:extLst>
          </p:cNvPr>
          <p:cNvSpPr/>
          <p:nvPr/>
        </p:nvSpPr>
        <p:spPr>
          <a:xfrm>
            <a:off x="10563667" y="117897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92" name="平行四辺形 91">
            <a:extLst>
              <a:ext uri="{FF2B5EF4-FFF2-40B4-BE49-F238E27FC236}">
                <a16:creationId xmlns:a16="http://schemas.microsoft.com/office/drawing/2014/main" id="{1682D00A-60BD-8B0F-18C8-C56174F9EE8B}"/>
              </a:ext>
            </a:extLst>
          </p:cNvPr>
          <p:cNvSpPr/>
          <p:nvPr/>
        </p:nvSpPr>
        <p:spPr bwMode="auto">
          <a:xfrm>
            <a:off x="8763647" y="3158997"/>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3" name="平行四辺形 92">
            <a:extLst>
              <a:ext uri="{FF2B5EF4-FFF2-40B4-BE49-F238E27FC236}">
                <a16:creationId xmlns:a16="http://schemas.microsoft.com/office/drawing/2014/main" id="{307383A8-AAA1-2B52-EC53-011DDBE9C503}"/>
              </a:ext>
            </a:extLst>
          </p:cNvPr>
          <p:cNvSpPr/>
          <p:nvPr/>
        </p:nvSpPr>
        <p:spPr bwMode="auto">
          <a:xfrm>
            <a:off x="10203663" y="3158997"/>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4" name="平行四辺形 93">
            <a:extLst>
              <a:ext uri="{FF2B5EF4-FFF2-40B4-BE49-F238E27FC236}">
                <a16:creationId xmlns:a16="http://schemas.microsoft.com/office/drawing/2014/main" id="{AFF7C3A7-03F4-89A4-1974-47467594553C}"/>
              </a:ext>
            </a:extLst>
          </p:cNvPr>
          <p:cNvSpPr/>
          <p:nvPr/>
        </p:nvSpPr>
        <p:spPr bwMode="auto">
          <a:xfrm>
            <a:off x="8763647" y="450901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5" name="平行四辺形 94">
            <a:extLst>
              <a:ext uri="{FF2B5EF4-FFF2-40B4-BE49-F238E27FC236}">
                <a16:creationId xmlns:a16="http://schemas.microsoft.com/office/drawing/2014/main" id="{60153B8D-B27A-C12B-413D-27201B4E2B55}"/>
              </a:ext>
            </a:extLst>
          </p:cNvPr>
          <p:cNvSpPr/>
          <p:nvPr/>
        </p:nvSpPr>
        <p:spPr bwMode="auto">
          <a:xfrm>
            <a:off x="10203663" y="450901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6" name="平行四辺形 95">
            <a:extLst>
              <a:ext uri="{FF2B5EF4-FFF2-40B4-BE49-F238E27FC236}">
                <a16:creationId xmlns:a16="http://schemas.microsoft.com/office/drawing/2014/main" id="{64430640-ECD6-6AA8-2F2F-2EB3C7668E26}"/>
              </a:ext>
            </a:extLst>
          </p:cNvPr>
          <p:cNvSpPr/>
          <p:nvPr/>
        </p:nvSpPr>
        <p:spPr bwMode="auto">
          <a:xfrm>
            <a:off x="8763647" y="5769026"/>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7" name="平行四辺形 96">
            <a:extLst>
              <a:ext uri="{FF2B5EF4-FFF2-40B4-BE49-F238E27FC236}">
                <a16:creationId xmlns:a16="http://schemas.microsoft.com/office/drawing/2014/main" id="{7FACCAF2-3F65-5DBA-CB6C-5E945206443E}"/>
              </a:ext>
            </a:extLst>
          </p:cNvPr>
          <p:cNvSpPr/>
          <p:nvPr/>
        </p:nvSpPr>
        <p:spPr bwMode="auto">
          <a:xfrm>
            <a:off x="10203663" y="5769026"/>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3" name="テキスト ボックス 12">
            <a:extLst>
              <a:ext uri="{FF2B5EF4-FFF2-40B4-BE49-F238E27FC236}">
                <a16:creationId xmlns:a16="http://schemas.microsoft.com/office/drawing/2014/main" id="{D6E8545A-A77C-260A-34A5-CE65368E3512}"/>
              </a:ext>
            </a:extLst>
          </p:cNvPr>
          <p:cNvSpPr txBox="1"/>
          <p:nvPr/>
        </p:nvSpPr>
        <p:spPr>
          <a:xfrm>
            <a:off x="7053628" y="998973"/>
            <a:ext cx="1620018" cy="369332"/>
          </a:xfrm>
          <a:prstGeom prst="rect">
            <a:avLst/>
          </a:prstGeom>
          <a:noFill/>
        </p:spPr>
        <p:txBody>
          <a:bodyPr wrap="none" rtlCol="0">
            <a:noAutofit/>
          </a:bodyPr>
          <a:lstStyle/>
          <a:p>
            <a:r>
              <a:rPr lang="ja-JP" altLang="en-US" sz="2400" dirty="0">
                <a:solidFill>
                  <a:srgbClr val="5E6363"/>
                </a:solidFill>
              </a:rPr>
              <a:t>カレーのレシピ</a:t>
            </a:r>
          </a:p>
        </p:txBody>
      </p:sp>
      <p:cxnSp>
        <p:nvCxnSpPr>
          <p:cNvPr id="15" name="直線矢印コネクタ 14">
            <a:extLst>
              <a:ext uri="{FF2B5EF4-FFF2-40B4-BE49-F238E27FC236}">
                <a16:creationId xmlns:a16="http://schemas.microsoft.com/office/drawing/2014/main" id="{CCDD8B65-1058-1278-E4F2-AB2EE8C1AA2B}"/>
              </a:ext>
            </a:extLst>
          </p:cNvPr>
          <p:cNvCxnSpPr/>
          <p:nvPr/>
        </p:nvCxnSpPr>
        <p:spPr bwMode="auto">
          <a:xfrm>
            <a:off x="8673646" y="2168986"/>
            <a:ext cx="630007"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6" name="直線矢印コネクタ 15">
            <a:extLst>
              <a:ext uri="{FF2B5EF4-FFF2-40B4-BE49-F238E27FC236}">
                <a16:creationId xmlns:a16="http://schemas.microsoft.com/office/drawing/2014/main" id="{F3989EA2-062B-F4DF-FF65-E1E6994859D1}"/>
              </a:ext>
            </a:extLst>
          </p:cNvPr>
          <p:cNvCxnSpPr/>
          <p:nvPr/>
        </p:nvCxnSpPr>
        <p:spPr bwMode="auto">
          <a:xfrm>
            <a:off x="8673646" y="3338999"/>
            <a:ext cx="630007"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7" name="直線矢印コネクタ 16">
            <a:extLst>
              <a:ext uri="{FF2B5EF4-FFF2-40B4-BE49-F238E27FC236}">
                <a16:creationId xmlns:a16="http://schemas.microsoft.com/office/drawing/2014/main" id="{0978787B-BB30-59F8-104C-2FF36F4035F9}"/>
              </a:ext>
            </a:extLst>
          </p:cNvPr>
          <p:cNvCxnSpPr/>
          <p:nvPr/>
        </p:nvCxnSpPr>
        <p:spPr bwMode="auto">
          <a:xfrm>
            <a:off x="8673646" y="4689014"/>
            <a:ext cx="630007"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8" name="直線矢印コネクタ 17">
            <a:extLst>
              <a:ext uri="{FF2B5EF4-FFF2-40B4-BE49-F238E27FC236}">
                <a16:creationId xmlns:a16="http://schemas.microsoft.com/office/drawing/2014/main" id="{5580CE57-5F4D-D2FE-3DAA-6A0F7E982BA1}"/>
              </a:ext>
            </a:extLst>
          </p:cNvPr>
          <p:cNvCxnSpPr/>
          <p:nvPr/>
        </p:nvCxnSpPr>
        <p:spPr bwMode="auto">
          <a:xfrm>
            <a:off x="8673646" y="5949028"/>
            <a:ext cx="630007"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6319645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D48DAE84-4F32-84CC-6D49-F5491F1F611E}"/>
              </a:ext>
            </a:extLst>
          </p:cNvPr>
          <p:cNvSpPr/>
          <p:nvPr/>
        </p:nvSpPr>
        <p:spPr bwMode="auto">
          <a:xfrm>
            <a:off x="2855964" y="1899290"/>
            <a:ext cx="5580062" cy="1080012"/>
          </a:xfrm>
          <a:prstGeom prst="rect">
            <a:avLst/>
          </a:prstGeom>
          <a:solidFill>
            <a:schemeClr val="accent3">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77875371-F226-FDF4-C593-0DF7D95A2A08}"/>
              </a:ext>
            </a:extLst>
          </p:cNvPr>
          <p:cNvSpPr/>
          <p:nvPr/>
        </p:nvSpPr>
        <p:spPr bwMode="auto">
          <a:xfrm>
            <a:off x="2855964" y="5229328"/>
            <a:ext cx="5580062" cy="1170013"/>
          </a:xfrm>
          <a:prstGeom prst="rect">
            <a:avLst/>
          </a:prstGeom>
          <a:solidFill>
            <a:schemeClr val="accent3">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 name="正方形/長方形 3">
            <a:extLst>
              <a:ext uri="{FF2B5EF4-FFF2-40B4-BE49-F238E27FC236}">
                <a16:creationId xmlns:a16="http://schemas.microsoft.com/office/drawing/2014/main" id="{46CBEAB2-029B-57BC-2EB8-9FD575F724DA}"/>
              </a:ext>
            </a:extLst>
          </p:cNvPr>
          <p:cNvSpPr/>
          <p:nvPr/>
        </p:nvSpPr>
        <p:spPr bwMode="auto">
          <a:xfrm>
            <a:off x="2495960" y="1449286"/>
            <a:ext cx="5940066" cy="450005"/>
          </a:xfrm>
          <a:prstGeom prst="rect">
            <a:avLst/>
          </a:prstGeom>
          <a:solidFill>
            <a:schemeClr val="accent5">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E6B23795-FB48-8DF2-3340-A826F911F24E}"/>
              </a:ext>
            </a:extLst>
          </p:cNvPr>
          <p:cNvSpPr/>
          <p:nvPr/>
        </p:nvSpPr>
        <p:spPr bwMode="auto">
          <a:xfrm>
            <a:off x="2495960" y="4419319"/>
            <a:ext cx="5940066" cy="810009"/>
          </a:xfrm>
          <a:prstGeom prst="rect">
            <a:avLst/>
          </a:prstGeom>
          <a:solidFill>
            <a:schemeClr val="accent5">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p:cNvSpPr>
            <a:spLocks noGrp="1"/>
          </p:cNvSpPr>
          <p:nvPr>
            <p:ph type="title"/>
          </p:nvPr>
        </p:nvSpPr>
        <p:spPr/>
        <p:txBody>
          <a:bodyPr/>
          <a:lstStyle/>
          <a:p>
            <a:r>
              <a:rPr kumimoji="1" lang="ja-JP" altLang="en-US" sz="2800" dirty="0"/>
              <a:t>ループのマルチスレッド化</a:t>
            </a:r>
            <a:r>
              <a:rPr lang="ja-JP" altLang="en-US" sz="2800" dirty="0"/>
              <a:t>による並列実行</a:t>
            </a:r>
            <a:endParaRPr kumimoji="1" lang="ja-JP" altLang="en-US" sz="2800" dirty="0"/>
          </a:p>
        </p:txBody>
      </p:sp>
      <p:sp>
        <p:nvSpPr>
          <p:cNvPr id="3" name="テキスト プレースホルダー 2"/>
          <p:cNvSpPr>
            <a:spLocks noGrp="1"/>
          </p:cNvSpPr>
          <p:nvPr>
            <p:ph type="body" sz="quarter" idx="10"/>
          </p:nvPr>
        </p:nvSpPr>
        <p:spPr>
          <a:xfrm>
            <a:off x="2135956" y="1269284"/>
            <a:ext cx="8280092" cy="5219751"/>
          </a:xfrm>
        </p:spPr>
        <p:txBody>
          <a:bodyPr/>
          <a:lstStyle/>
          <a:p>
            <a:r>
              <a:rPr kumimoji="1" lang="ja-JP" altLang="en-US" dirty="0"/>
              <a:t>ループで書いた行列積のコード</a:t>
            </a:r>
            <a:endParaRPr kumimoji="1" lang="en-US" altLang="ja-JP" dirty="0"/>
          </a:p>
          <a:p>
            <a:pPr marL="360000" lvl="1" indent="0">
              <a:buNone/>
            </a:pP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(k = 0; k &lt; 1024; k++)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最外周ループ</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(j = 0; j &lt; 1024; </a:t>
            </a:r>
            <a:r>
              <a:rPr lang="en-US" altLang="ja-JP" dirty="0" err="1">
                <a:latin typeface="Consolas" panose="020B0609020204030204" pitchFamily="49" charset="0"/>
              </a:rPr>
              <a:t>j++</a:t>
            </a:r>
            <a:r>
              <a:rPr lang="en-US" altLang="ja-JP" dirty="0">
                <a:latin typeface="Consolas" panose="020B0609020204030204" pitchFamily="49" charset="0"/>
              </a:rPr>
              <a:t>)</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(i = 0; i &lt; 1024; i++)</a:t>
            </a:r>
            <a:br>
              <a:rPr lang="en-US" altLang="ja-JP" dirty="0">
                <a:latin typeface="Consolas" panose="020B0609020204030204" pitchFamily="49" charset="0"/>
              </a:rPr>
            </a:br>
            <a:r>
              <a:rPr lang="en-US" altLang="ja-JP" dirty="0">
                <a:latin typeface="Consolas" panose="020B0609020204030204" pitchFamily="49" charset="0"/>
              </a:rPr>
              <a:t>      a[j][i] += b[j][k] * c[k][i];</a:t>
            </a:r>
          </a:p>
          <a:p>
            <a:r>
              <a:rPr kumimoji="1" lang="ja-JP" altLang="en-US" dirty="0">
                <a:latin typeface="Consolas" panose="020B0609020204030204" pitchFamily="49" charset="0"/>
              </a:rPr>
              <a:t>最外周ループ部分を複数のスレッドとしてマルチスレッド化</a:t>
            </a:r>
            <a:endParaRPr kumimoji="1" lang="en-US" altLang="ja-JP" dirty="0">
              <a:latin typeface="Consolas" panose="020B0609020204030204" pitchFamily="49" charset="0"/>
            </a:endParaRPr>
          </a:p>
          <a:p>
            <a:pPr marL="360000" lvl="1" indent="0">
              <a:buNone/>
            </a:pPr>
            <a:r>
              <a:rPr lang="en-US" altLang="ja-JP" dirty="0">
                <a:solidFill>
                  <a:schemeClr val="accent3">
                    <a:lumMod val="75000"/>
                  </a:schemeClr>
                </a:solidFill>
                <a:latin typeface="Consolas" panose="020B0609020204030204" pitchFamily="49" charset="0"/>
              </a:rPr>
              <a:t>// </a:t>
            </a:r>
            <a:r>
              <a:rPr lang="en-US" altLang="ja-JP" dirty="0" err="1">
                <a:solidFill>
                  <a:schemeClr val="accent3">
                    <a:lumMod val="75000"/>
                  </a:schemeClr>
                </a:solidFill>
                <a:latin typeface="Consolas" panose="020B0609020204030204" pitchFamily="49" charset="0"/>
              </a:rPr>
              <a:t>func</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が </a:t>
            </a:r>
            <a:r>
              <a:rPr lang="en-US" altLang="ja-JP" dirty="0">
                <a:solidFill>
                  <a:schemeClr val="accent3">
                    <a:lumMod val="75000"/>
                  </a:schemeClr>
                </a:solidFill>
                <a:latin typeface="Consolas" panose="020B0609020204030204" pitchFamily="49" charset="0"/>
              </a:rPr>
              <a:t>1024 </a:t>
            </a:r>
            <a:r>
              <a:rPr lang="ja-JP" altLang="en-US" dirty="0">
                <a:solidFill>
                  <a:schemeClr val="accent3">
                    <a:lumMod val="75000"/>
                  </a:schemeClr>
                </a:solidFill>
                <a:latin typeface="Consolas" panose="020B0609020204030204" pitchFamily="49" charset="0"/>
              </a:rPr>
              <a:t>個起動されて並列に実行される</a:t>
            </a:r>
            <a:endParaRPr lang="en-US" altLang="ja-JP" dirty="0">
              <a:solidFill>
                <a:schemeClr val="accent3">
                  <a:lumMod val="75000"/>
                </a:schemeClr>
              </a:solidFill>
              <a:latin typeface="Consolas" panose="020B0609020204030204" pitchFamily="49" charset="0"/>
            </a:endParaRPr>
          </a:p>
          <a:p>
            <a:pPr marL="360000" lvl="1" indent="0">
              <a:buNone/>
            </a:pPr>
            <a:r>
              <a:rPr lang="en-US" altLang="ja-JP" dirty="0">
                <a:solidFill>
                  <a:schemeClr val="accent3">
                    <a:lumMod val="75000"/>
                  </a:schemeClr>
                </a:solidFill>
                <a:latin typeface="Consolas" panose="020B0609020204030204" pitchFamily="49" charset="0"/>
              </a:rPr>
              <a:t>// 0-1023 </a:t>
            </a:r>
            <a:r>
              <a:rPr lang="ja-JP" altLang="en-US" dirty="0">
                <a:solidFill>
                  <a:schemeClr val="accent3">
                    <a:lumMod val="75000"/>
                  </a:schemeClr>
                </a:solidFill>
                <a:latin typeface="Consolas" panose="020B0609020204030204" pitchFamily="49" charset="0"/>
              </a:rPr>
              <a:t>がスレッド </a:t>
            </a:r>
            <a:r>
              <a:rPr lang="en-US" altLang="ja-JP" dirty="0">
                <a:solidFill>
                  <a:schemeClr val="accent3">
                    <a:lumMod val="75000"/>
                  </a:schemeClr>
                </a:solidFill>
                <a:latin typeface="Consolas" panose="020B0609020204030204" pitchFamily="49" charset="0"/>
              </a:rPr>
              <a:t>ID </a:t>
            </a:r>
            <a:r>
              <a:rPr lang="ja-JP" altLang="en-US" dirty="0">
                <a:solidFill>
                  <a:schemeClr val="accent3">
                    <a:lumMod val="75000"/>
                  </a:schemeClr>
                </a:solidFill>
                <a:latin typeface="Consolas" panose="020B0609020204030204" pitchFamily="49" charset="0"/>
              </a:rPr>
              <a:t>として渡される</a:t>
            </a:r>
            <a:endParaRPr lang="en-US" altLang="ja-JP" dirty="0">
              <a:solidFill>
                <a:schemeClr val="accent3">
                  <a:lumMod val="75000"/>
                </a:schemeClr>
              </a:solidFill>
              <a:latin typeface="Consolas" panose="020B0609020204030204" pitchFamily="49" charset="0"/>
            </a:endParaRPr>
          </a:p>
          <a:p>
            <a:pPr marL="360000" lvl="1" indent="0">
              <a:buNone/>
            </a:pPr>
            <a:r>
              <a:rPr lang="en-US" altLang="ja-JP" dirty="0" err="1">
                <a:latin typeface="Consolas" panose="020B0609020204030204" pitchFamily="49" charset="0"/>
              </a:rPr>
              <a:t>func</a:t>
            </a:r>
            <a:r>
              <a:rPr lang="en-US" altLang="ja-JP" dirty="0">
                <a:latin typeface="Consolas" panose="020B0609020204030204" pitchFamily="49" charset="0"/>
              </a:rPr>
              <a:t>(</a:t>
            </a:r>
            <a:r>
              <a:rPr lang="en-US" altLang="ja-JP" dirty="0" err="1">
                <a:latin typeface="Consolas" panose="020B0609020204030204" pitchFamily="49" charset="0"/>
              </a:rPr>
              <a:t>thread_id</a:t>
            </a:r>
            <a:r>
              <a:rPr lang="en-US" altLang="ja-JP" dirty="0">
                <a:latin typeface="Consolas" panose="020B0609020204030204" pitchFamily="49" charset="0"/>
              </a:rPr>
              <a:t>) { </a:t>
            </a:r>
          </a:p>
          <a:p>
            <a:pPr marL="360000" lvl="1" indent="0">
              <a:buNone/>
            </a:pPr>
            <a:r>
              <a:rPr lang="en-US" altLang="ja-JP" dirty="0">
                <a:latin typeface="Consolas" panose="020B0609020204030204" pitchFamily="49" charset="0"/>
              </a:rPr>
              <a:t>  </a:t>
            </a:r>
            <a:r>
              <a:rPr lang="en-US" altLang="ja-JP" dirty="0">
                <a:solidFill>
                  <a:schemeClr val="accent5"/>
                </a:solidFill>
                <a:latin typeface="Consolas" panose="020B0609020204030204" pitchFamily="49" charset="0"/>
              </a:rPr>
              <a:t>k</a:t>
            </a:r>
            <a:r>
              <a:rPr lang="en-US" altLang="ja-JP" dirty="0">
                <a:latin typeface="Consolas" panose="020B0609020204030204" pitchFamily="49" charset="0"/>
              </a:rPr>
              <a:t> = </a:t>
            </a:r>
            <a:r>
              <a:rPr lang="en-US" altLang="ja-JP" dirty="0" err="1">
                <a:latin typeface="Consolas" panose="020B0609020204030204" pitchFamily="49" charset="0"/>
              </a:rPr>
              <a:t>thread_id</a:t>
            </a:r>
            <a:r>
              <a:rPr lang="en-US" altLang="ja-JP" dirty="0">
                <a:latin typeface="Consolas" panose="020B0609020204030204" pitchFamily="49" charset="0"/>
              </a:rPr>
              <a:t>;	</a:t>
            </a:r>
            <a:endParaRPr lang="en-US" altLang="ja-JP" dirty="0">
              <a:solidFill>
                <a:schemeClr val="accent3">
                  <a:lumMod val="75000"/>
                </a:schemeClr>
              </a:solidFill>
              <a:latin typeface="Consolas" panose="020B0609020204030204" pitchFamily="49" charset="0"/>
            </a:endParaRPr>
          </a:p>
          <a:p>
            <a:pPr marL="360000" lvl="1" indent="0">
              <a:buNone/>
            </a:pP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(j = 0; j &lt; 1024; </a:t>
            </a:r>
            <a:r>
              <a:rPr lang="en-US" altLang="ja-JP" dirty="0" err="1">
                <a:latin typeface="Consolas" panose="020B0609020204030204" pitchFamily="49" charset="0"/>
              </a:rPr>
              <a:t>j++</a:t>
            </a:r>
            <a:r>
              <a:rPr lang="en-US" altLang="ja-JP" dirty="0">
                <a:latin typeface="Consolas" panose="020B0609020204030204" pitchFamily="49" charset="0"/>
              </a:rPr>
              <a:t>)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ここは同じ</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(i = 0; i &lt; 1024; i++)</a:t>
            </a:r>
            <a:br>
              <a:rPr lang="en-US" altLang="ja-JP" dirty="0">
                <a:latin typeface="Consolas" panose="020B0609020204030204" pitchFamily="49" charset="0"/>
              </a:rPr>
            </a:br>
            <a:r>
              <a:rPr lang="en-US" altLang="ja-JP" dirty="0">
                <a:latin typeface="Consolas" panose="020B0609020204030204" pitchFamily="49" charset="0"/>
              </a:rPr>
              <a:t>      a[j][i] += b[j][</a:t>
            </a:r>
            <a:r>
              <a:rPr lang="en-US" altLang="ja-JP" dirty="0">
                <a:solidFill>
                  <a:schemeClr val="accent5"/>
                </a:solidFill>
                <a:latin typeface="Consolas" panose="020B0609020204030204" pitchFamily="49" charset="0"/>
              </a:rPr>
              <a:t>k</a:t>
            </a:r>
            <a:r>
              <a:rPr lang="en-US" altLang="ja-JP" dirty="0">
                <a:latin typeface="Consolas" panose="020B0609020204030204" pitchFamily="49" charset="0"/>
              </a:rPr>
              <a:t>] * c[</a:t>
            </a:r>
            <a:r>
              <a:rPr lang="en-US" altLang="ja-JP" dirty="0">
                <a:solidFill>
                  <a:schemeClr val="accent5"/>
                </a:solidFill>
                <a:latin typeface="Consolas" panose="020B0609020204030204" pitchFamily="49" charset="0"/>
              </a:rPr>
              <a:t>k</a:t>
            </a:r>
            <a:r>
              <a:rPr lang="en-US" altLang="ja-JP" dirty="0">
                <a:latin typeface="Consolas" panose="020B0609020204030204" pitchFamily="49" charset="0"/>
              </a:rPr>
              <a:t>][i];</a:t>
            </a:r>
          </a:p>
          <a:p>
            <a:pPr marL="360000" lvl="1" indent="0">
              <a:buNone/>
            </a:pPr>
            <a:r>
              <a:rPr kumimoji="1" lang="en-US" altLang="ja-JP" dirty="0">
                <a:latin typeface="Consolas" panose="020B0609020204030204" pitchFamily="49" charset="0"/>
              </a:rPr>
              <a:t>}</a:t>
            </a:r>
            <a:endParaRPr kumimoji="1" lang="ja-JP" altLang="en-US" dirty="0">
              <a:latin typeface="Consolas" panose="020B0609020204030204" pitchFamily="49" charset="0"/>
            </a:endParaRPr>
          </a:p>
        </p:txBody>
      </p:sp>
    </p:spTree>
    <p:extLst>
      <p:ext uri="{BB962C8B-B14F-4D97-AF65-F5344CB8AC3E}">
        <p14:creationId xmlns:p14="http://schemas.microsoft.com/office/powerpoint/2010/main" val="1997457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BEDB28-4E53-16D0-B580-FD959401FD0D}"/>
              </a:ext>
            </a:extLst>
          </p:cNvPr>
          <p:cNvSpPr>
            <a:spLocks noGrp="1"/>
          </p:cNvSpPr>
          <p:nvPr>
            <p:ph type="title"/>
          </p:nvPr>
        </p:nvSpPr>
        <p:spPr/>
        <p:txBody>
          <a:bodyPr/>
          <a:lstStyle/>
          <a:p>
            <a:r>
              <a:rPr kumimoji="1" lang="ja-JP" altLang="en-US" dirty="0"/>
              <a:t>マルチスレッド化による並列実行</a:t>
            </a:r>
          </a:p>
        </p:txBody>
      </p:sp>
      <p:sp>
        <p:nvSpPr>
          <p:cNvPr id="3" name="テキスト プレースホルダー 2">
            <a:extLst>
              <a:ext uri="{FF2B5EF4-FFF2-40B4-BE49-F238E27FC236}">
                <a16:creationId xmlns:a16="http://schemas.microsoft.com/office/drawing/2014/main" id="{D5179570-C6A0-817A-26C0-253AA376B638}"/>
              </a:ext>
            </a:extLst>
          </p:cNvPr>
          <p:cNvSpPr>
            <a:spLocks noGrp="1"/>
          </p:cNvSpPr>
          <p:nvPr>
            <p:ph type="body" sz="quarter" idx="10"/>
          </p:nvPr>
        </p:nvSpPr>
        <p:spPr>
          <a:xfrm>
            <a:off x="335936" y="1088974"/>
            <a:ext cx="7110079" cy="5490061"/>
          </a:xfrm>
        </p:spPr>
        <p:txBody>
          <a:bodyPr/>
          <a:lstStyle/>
          <a:p>
            <a:r>
              <a:rPr kumimoji="1" lang="ja-JP" altLang="en-US" dirty="0"/>
              <a:t>マルチスレッド化による並列実行による高速化</a:t>
            </a:r>
            <a:endParaRPr kumimoji="1" lang="en-US" altLang="ja-JP" dirty="0"/>
          </a:p>
          <a:p>
            <a:pPr lvl="1"/>
            <a:r>
              <a:rPr kumimoji="1" lang="ja-JP" altLang="en-US" dirty="0"/>
              <a:t>先ほどの例では </a:t>
            </a:r>
            <a:r>
              <a:rPr kumimoji="1" lang="en-US" altLang="ja-JP" dirty="0"/>
              <a:t>1024 </a:t>
            </a:r>
            <a:r>
              <a:rPr kumimoji="1" lang="ja-JP" altLang="en-US" dirty="0"/>
              <a:t>スレッドが同時実行される</a:t>
            </a:r>
            <a:endParaRPr kumimoji="1" lang="en-US" altLang="ja-JP" dirty="0"/>
          </a:p>
          <a:p>
            <a:r>
              <a:rPr kumimoji="1" lang="ja-JP" altLang="en-US" dirty="0"/>
              <a:t>マルチコア </a:t>
            </a:r>
            <a:r>
              <a:rPr kumimoji="1" lang="en-US" altLang="ja-JP" dirty="0"/>
              <a:t>CPU </a:t>
            </a:r>
            <a:r>
              <a:rPr kumimoji="1" lang="ja-JP" altLang="en-US" dirty="0"/>
              <a:t>でも同じなのでは？</a:t>
            </a:r>
            <a:endParaRPr kumimoji="1" lang="en-US" altLang="ja-JP" dirty="0"/>
          </a:p>
          <a:p>
            <a:pPr lvl="1"/>
            <a:r>
              <a:rPr kumimoji="1" lang="ja-JP" altLang="en-US" dirty="0"/>
              <a:t>マルチコア </a:t>
            </a:r>
            <a:r>
              <a:rPr kumimoji="1" lang="en-US" altLang="ja-JP" dirty="0"/>
              <a:t>CPU = </a:t>
            </a:r>
            <a:r>
              <a:rPr kumimoji="1" lang="ja-JP" altLang="en-US" dirty="0"/>
              <a:t>複数の </a:t>
            </a:r>
            <a:r>
              <a:rPr kumimoji="1" lang="en-US" altLang="ja-JP" dirty="0"/>
              <a:t>CPU </a:t>
            </a:r>
            <a:r>
              <a:rPr kumimoji="1" lang="ja-JP" altLang="en-US" dirty="0"/>
              <a:t>を束ねたもの</a:t>
            </a:r>
            <a:endParaRPr kumimoji="1" lang="en-US" altLang="ja-JP" dirty="0"/>
          </a:p>
          <a:p>
            <a:pPr lvl="1"/>
            <a:r>
              <a:rPr kumimoji="1" lang="ja-JP" altLang="en-US" dirty="0"/>
              <a:t>複数の </a:t>
            </a:r>
            <a:r>
              <a:rPr kumimoji="1" lang="en-US" altLang="ja-JP" dirty="0"/>
              <a:t>CPU </a:t>
            </a:r>
            <a:r>
              <a:rPr kumimoji="1" lang="ja-JP" altLang="en-US" dirty="0"/>
              <a:t>でそれぞれでスレッドを並列に実行できる</a:t>
            </a:r>
            <a:endParaRPr kumimoji="1" lang="en-US" altLang="ja-JP" dirty="0"/>
          </a:p>
        </p:txBody>
      </p:sp>
      <p:grpSp>
        <p:nvGrpSpPr>
          <p:cNvPr id="4" name="グループ化 3">
            <a:extLst>
              <a:ext uri="{FF2B5EF4-FFF2-40B4-BE49-F238E27FC236}">
                <a16:creationId xmlns:a16="http://schemas.microsoft.com/office/drawing/2014/main" id="{D974500E-527D-5021-2A7B-5F3A43215184}"/>
              </a:ext>
            </a:extLst>
          </p:cNvPr>
          <p:cNvGrpSpPr/>
          <p:nvPr/>
        </p:nvGrpSpPr>
        <p:grpSpPr>
          <a:xfrm>
            <a:off x="7806019" y="1448978"/>
            <a:ext cx="630007" cy="1080012"/>
            <a:chOff x="1145945" y="1988984"/>
            <a:chExt cx="1440000" cy="3240036"/>
          </a:xfrm>
        </p:grpSpPr>
        <p:sp>
          <p:nvSpPr>
            <p:cNvPr id="5" name="正方形/長方形 4">
              <a:extLst>
                <a:ext uri="{FF2B5EF4-FFF2-40B4-BE49-F238E27FC236}">
                  <a16:creationId xmlns:a16="http://schemas.microsoft.com/office/drawing/2014/main" id="{437AC43E-3501-09A0-6F91-FE774E744212}"/>
                </a:ext>
              </a:extLst>
            </p:cNvPr>
            <p:cNvSpPr/>
            <p:nvPr/>
          </p:nvSpPr>
          <p:spPr bwMode="auto">
            <a:xfrm>
              <a:off x="1145945" y="1988984"/>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3">
                    <a:lumMod val="50000"/>
                  </a:schemeClr>
                </a:solidFill>
              </a:endParaRPr>
            </a:p>
          </p:txBody>
        </p:sp>
        <p:sp>
          <p:nvSpPr>
            <p:cNvPr id="6" name="正方形/長方形 5">
              <a:extLst>
                <a:ext uri="{FF2B5EF4-FFF2-40B4-BE49-F238E27FC236}">
                  <a16:creationId xmlns:a16="http://schemas.microsoft.com/office/drawing/2014/main" id="{9F31A9E7-EAAA-21C7-9862-89172C2506EA}"/>
                </a:ext>
              </a:extLst>
            </p:cNvPr>
            <p:cNvSpPr/>
            <p:nvPr/>
          </p:nvSpPr>
          <p:spPr bwMode="auto">
            <a:xfrm>
              <a:off x="1145945" y="2348988"/>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7" name="正方形/長方形 6">
              <a:extLst>
                <a:ext uri="{FF2B5EF4-FFF2-40B4-BE49-F238E27FC236}">
                  <a16:creationId xmlns:a16="http://schemas.microsoft.com/office/drawing/2014/main" id="{5E4A19CB-AB1E-8855-9605-D4E9287D8F60}"/>
                </a:ext>
              </a:extLst>
            </p:cNvPr>
            <p:cNvSpPr/>
            <p:nvPr/>
          </p:nvSpPr>
          <p:spPr bwMode="auto">
            <a:xfrm>
              <a:off x="1145945" y="2708992"/>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8" name="正方形/長方形 7">
              <a:extLst>
                <a:ext uri="{FF2B5EF4-FFF2-40B4-BE49-F238E27FC236}">
                  <a16:creationId xmlns:a16="http://schemas.microsoft.com/office/drawing/2014/main" id="{52760F4F-4350-C79E-4DC9-168F70290930}"/>
                </a:ext>
              </a:extLst>
            </p:cNvPr>
            <p:cNvSpPr/>
            <p:nvPr/>
          </p:nvSpPr>
          <p:spPr bwMode="auto">
            <a:xfrm>
              <a:off x="1145945" y="3068996"/>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9" name="正方形/長方形 8">
              <a:extLst>
                <a:ext uri="{FF2B5EF4-FFF2-40B4-BE49-F238E27FC236}">
                  <a16:creationId xmlns:a16="http://schemas.microsoft.com/office/drawing/2014/main" id="{26A992C2-4133-32C9-9730-DB61DEB9F347}"/>
                </a:ext>
              </a:extLst>
            </p:cNvPr>
            <p:cNvSpPr/>
            <p:nvPr/>
          </p:nvSpPr>
          <p:spPr bwMode="auto">
            <a:xfrm>
              <a:off x="1145945" y="3429000"/>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10" name="正方形/長方形 9">
              <a:extLst>
                <a:ext uri="{FF2B5EF4-FFF2-40B4-BE49-F238E27FC236}">
                  <a16:creationId xmlns:a16="http://schemas.microsoft.com/office/drawing/2014/main" id="{80DF742F-9E50-C66A-1015-2CB02190E2D6}"/>
                </a:ext>
              </a:extLst>
            </p:cNvPr>
            <p:cNvSpPr/>
            <p:nvPr/>
          </p:nvSpPr>
          <p:spPr bwMode="auto">
            <a:xfrm>
              <a:off x="1145945" y="3789004"/>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11" name="正方形/長方形 10">
              <a:extLst>
                <a:ext uri="{FF2B5EF4-FFF2-40B4-BE49-F238E27FC236}">
                  <a16:creationId xmlns:a16="http://schemas.microsoft.com/office/drawing/2014/main" id="{9392F12E-0637-DCC3-BD8A-9DAE2E38CFBE}"/>
                </a:ext>
              </a:extLst>
            </p:cNvPr>
            <p:cNvSpPr/>
            <p:nvPr/>
          </p:nvSpPr>
          <p:spPr bwMode="auto">
            <a:xfrm>
              <a:off x="1145945" y="4149008"/>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12" name="正方形/長方形 11">
              <a:extLst>
                <a:ext uri="{FF2B5EF4-FFF2-40B4-BE49-F238E27FC236}">
                  <a16:creationId xmlns:a16="http://schemas.microsoft.com/office/drawing/2014/main" id="{B86CD5F2-B037-977B-AC02-E3A6D6C9C0FF}"/>
                </a:ext>
              </a:extLst>
            </p:cNvPr>
            <p:cNvSpPr/>
            <p:nvPr/>
          </p:nvSpPr>
          <p:spPr bwMode="auto">
            <a:xfrm>
              <a:off x="1145945" y="4509012"/>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13" name="正方形/長方形 12">
              <a:extLst>
                <a:ext uri="{FF2B5EF4-FFF2-40B4-BE49-F238E27FC236}">
                  <a16:creationId xmlns:a16="http://schemas.microsoft.com/office/drawing/2014/main" id="{EF721025-A61F-B4D1-8C2F-197910592D60}"/>
                </a:ext>
              </a:extLst>
            </p:cNvPr>
            <p:cNvSpPr/>
            <p:nvPr/>
          </p:nvSpPr>
          <p:spPr bwMode="auto">
            <a:xfrm>
              <a:off x="1145945" y="4869016"/>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grpSp>
      <p:grpSp>
        <p:nvGrpSpPr>
          <p:cNvPr id="14" name="グループ化 13">
            <a:extLst>
              <a:ext uri="{FF2B5EF4-FFF2-40B4-BE49-F238E27FC236}">
                <a16:creationId xmlns:a16="http://schemas.microsoft.com/office/drawing/2014/main" id="{D75F875D-15A9-CED6-98DA-124E54649785}"/>
              </a:ext>
            </a:extLst>
          </p:cNvPr>
          <p:cNvGrpSpPr/>
          <p:nvPr/>
        </p:nvGrpSpPr>
        <p:grpSpPr>
          <a:xfrm>
            <a:off x="7806019" y="2708992"/>
            <a:ext cx="630007" cy="1080012"/>
            <a:chOff x="1145945" y="1988984"/>
            <a:chExt cx="1440000" cy="3240036"/>
          </a:xfrm>
        </p:grpSpPr>
        <p:sp>
          <p:nvSpPr>
            <p:cNvPr id="15" name="正方形/長方形 14">
              <a:extLst>
                <a:ext uri="{FF2B5EF4-FFF2-40B4-BE49-F238E27FC236}">
                  <a16:creationId xmlns:a16="http://schemas.microsoft.com/office/drawing/2014/main" id="{4E81B40B-E530-29CB-1837-9D666C3B02B6}"/>
                </a:ext>
              </a:extLst>
            </p:cNvPr>
            <p:cNvSpPr/>
            <p:nvPr/>
          </p:nvSpPr>
          <p:spPr bwMode="auto">
            <a:xfrm>
              <a:off x="1145945" y="1988984"/>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3">
                    <a:lumMod val="50000"/>
                  </a:schemeClr>
                </a:solidFill>
              </a:endParaRPr>
            </a:p>
          </p:txBody>
        </p:sp>
        <p:sp>
          <p:nvSpPr>
            <p:cNvPr id="16" name="正方形/長方形 15">
              <a:extLst>
                <a:ext uri="{FF2B5EF4-FFF2-40B4-BE49-F238E27FC236}">
                  <a16:creationId xmlns:a16="http://schemas.microsoft.com/office/drawing/2014/main" id="{D34F474E-532B-3A50-B88D-8C24FE28A202}"/>
                </a:ext>
              </a:extLst>
            </p:cNvPr>
            <p:cNvSpPr/>
            <p:nvPr/>
          </p:nvSpPr>
          <p:spPr bwMode="auto">
            <a:xfrm>
              <a:off x="1145945" y="2348988"/>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17" name="正方形/長方形 16">
              <a:extLst>
                <a:ext uri="{FF2B5EF4-FFF2-40B4-BE49-F238E27FC236}">
                  <a16:creationId xmlns:a16="http://schemas.microsoft.com/office/drawing/2014/main" id="{A28E91A5-E634-49AD-DC97-2AB48EC5D83E}"/>
                </a:ext>
              </a:extLst>
            </p:cNvPr>
            <p:cNvSpPr/>
            <p:nvPr/>
          </p:nvSpPr>
          <p:spPr bwMode="auto">
            <a:xfrm>
              <a:off x="1145945" y="2708992"/>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18" name="正方形/長方形 17">
              <a:extLst>
                <a:ext uri="{FF2B5EF4-FFF2-40B4-BE49-F238E27FC236}">
                  <a16:creationId xmlns:a16="http://schemas.microsoft.com/office/drawing/2014/main" id="{0C5B8C29-2452-C4E9-F43A-E871A4CB53C2}"/>
                </a:ext>
              </a:extLst>
            </p:cNvPr>
            <p:cNvSpPr/>
            <p:nvPr/>
          </p:nvSpPr>
          <p:spPr bwMode="auto">
            <a:xfrm>
              <a:off x="1145945" y="3068996"/>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19" name="正方形/長方形 18">
              <a:extLst>
                <a:ext uri="{FF2B5EF4-FFF2-40B4-BE49-F238E27FC236}">
                  <a16:creationId xmlns:a16="http://schemas.microsoft.com/office/drawing/2014/main" id="{BDC11FF3-26DE-2D94-7231-60F65B7B04D3}"/>
                </a:ext>
              </a:extLst>
            </p:cNvPr>
            <p:cNvSpPr/>
            <p:nvPr/>
          </p:nvSpPr>
          <p:spPr bwMode="auto">
            <a:xfrm>
              <a:off x="1145945" y="3429000"/>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20" name="正方形/長方形 19">
              <a:extLst>
                <a:ext uri="{FF2B5EF4-FFF2-40B4-BE49-F238E27FC236}">
                  <a16:creationId xmlns:a16="http://schemas.microsoft.com/office/drawing/2014/main" id="{B37C14C1-7A91-4B07-A7F2-DD95FC3BE26D}"/>
                </a:ext>
              </a:extLst>
            </p:cNvPr>
            <p:cNvSpPr/>
            <p:nvPr/>
          </p:nvSpPr>
          <p:spPr bwMode="auto">
            <a:xfrm>
              <a:off x="1145945" y="3789004"/>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21" name="正方形/長方形 20">
              <a:extLst>
                <a:ext uri="{FF2B5EF4-FFF2-40B4-BE49-F238E27FC236}">
                  <a16:creationId xmlns:a16="http://schemas.microsoft.com/office/drawing/2014/main" id="{44A699FD-1000-0CCF-491F-753D99A854ED}"/>
                </a:ext>
              </a:extLst>
            </p:cNvPr>
            <p:cNvSpPr/>
            <p:nvPr/>
          </p:nvSpPr>
          <p:spPr bwMode="auto">
            <a:xfrm>
              <a:off x="1145945" y="4149008"/>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22" name="正方形/長方形 21">
              <a:extLst>
                <a:ext uri="{FF2B5EF4-FFF2-40B4-BE49-F238E27FC236}">
                  <a16:creationId xmlns:a16="http://schemas.microsoft.com/office/drawing/2014/main" id="{2F7E1C02-4049-2789-4B18-2FBA60EA3DFF}"/>
                </a:ext>
              </a:extLst>
            </p:cNvPr>
            <p:cNvSpPr/>
            <p:nvPr/>
          </p:nvSpPr>
          <p:spPr bwMode="auto">
            <a:xfrm>
              <a:off x="1145945" y="4509012"/>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23" name="正方形/長方形 22">
              <a:extLst>
                <a:ext uri="{FF2B5EF4-FFF2-40B4-BE49-F238E27FC236}">
                  <a16:creationId xmlns:a16="http://schemas.microsoft.com/office/drawing/2014/main" id="{C71F99C7-AE26-D395-7206-67A1DBBEB563}"/>
                </a:ext>
              </a:extLst>
            </p:cNvPr>
            <p:cNvSpPr/>
            <p:nvPr/>
          </p:nvSpPr>
          <p:spPr bwMode="auto">
            <a:xfrm>
              <a:off x="1145945" y="4869016"/>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grpSp>
      <p:grpSp>
        <p:nvGrpSpPr>
          <p:cNvPr id="24" name="グループ化 23">
            <a:extLst>
              <a:ext uri="{FF2B5EF4-FFF2-40B4-BE49-F238E27FC236}">
                <a16:creationId xmlns:a16="http://schemas.microsoft.com/office/drawing/2014/main" id="{EBCD04AB-4F96-72EB-A788-D70D186453F2}"/>
              </a:ext>
            </a:extLst>
          </p:cNvPr>
          <p:cNvGrpSpPr/>
          <p:nvPr/>
        </p:nvGrpSpPr>
        <p:grpSpPr>
          <a:xfrm>
            <a:off x="7806019" y="4059007"/>
            <a:ext cx="630007" cy="1080012"/>
            <a:chOff x="1145945" y="1988984"/>
            <a:chExt cx="1440000" cy="3240036"/>
          </a:xfrm>
        </p:grpSpPr>
        <p:sp>
          <p:nvSpPr>
            <p:cNvPr id="25" name="正方形/長方形 24">
              <a:extLst>
                <a:ext uri="{FF2B5EF4-FFF2-40B4-BE49-F238E27FC236}">
                  <a16:creationId xmlns:a16="http://schemas.microsoft.com/office/drawing/2014/main" id="{C7664637-60DE-4DEF-443B-D36D155645A2}"/>
                </a:ext>
              </a:extLst>
            </p:cNvPr>
            <p:cNvSpPr/>
            <p:nvPr/>
          </p:nvSpPr>
          <p:spPr bwMode="auto">
            <a:xfrm>
              <a:off x="1145945" y="1988984"/>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3">
                    <a:lumMod val="50000"/>
                  </a:schemeClr>
                </a:solidFill>
              </a:endParaRPr>
            </a:p>
          </p:txBody>
        </p:sp>
        <p:sp>
          <p:nvSpPr>
            <p:cNvPr id="26" name="正方形/長方形 25">
              <a:extLst>
                <a:ext uri="{FF2B5EF4-FFF2-40B4-BE49-F238E27FC236}">
                  <a16:creationId xmlns:a16="http://schemas.microsoft.com/office/drawing/2014/main" id="{915D1601-CF3A-9A16-F5DB-07E5134734EA}"/>
                </a:ext>
              </a:extLst>
            </p:cNvPr>
            <p:cNvSpPr/>
            <p:nvPr/>
          </p:nvSpPr>
          <p:spPr bwMode="auto">
            <a:xfrm>
              <a:off x="1145945" y="2348988"/>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27" name="正方形/長方形 26">
              <a:extLst>
                <a:ext uri="{FF2B5EF4-FFF2-40B4-BE49-F238E27FC236}">
                  <a16:creationId xmlns:a16="http://schemas.microsoft.com/office/drawing/2014/main" id="{80EE8840-CCD4-9642-D9C5-AD3E75C08F57}"/>
                </a:ext>
              </a:extLst>
            </p:cNvPr>
            <p:cNvSpPr/>
            <p:nvPr/>
          </p:nvSpPr>
          <p:spPr bwMode="auto">
            <a:xfrm>
              <a:off x="1145945" y="2708992"/>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28" name="正方形/長方形 27">
              <a:extLst>
                <a:ext uri="{FF2B5EF4-FFF2-40B4-BE49-F238E27FC236}">
                  <a16:creationId xmlns:a16="http://schemas.microsoft.com/office/drawing/2014/main" id="{12147C9E-0B6C-2645-3DEF-6EB4767DC6C2}"/>
                </a:ext>
              </a:extLst>
            </p:cNvPr>
            <p:cNvSpPr/>
            <p:nvPr/>
          </p:nvSpPr>
          <p:spPr bwMode="auto">
            <a:xfrm>
              <a:off x="1145945" y="3068996"/>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29" name="正方形/長方形 28">
              <a:extLst>
                <a:ext uri="{FF2B5EF4-FFF2-40B4-BE49-F238E27FC236}">
                  <a16:creationId xmlns:a16="http://schemas.microsoft.com/office/drawing/2014/main" id="{87032ED4-282A-3F5A-3779-3FF5512B7ED0}"/>
                </a:ext>
              </a:extLst>
            </p:cNvPr>
            <p:cNvSpPr/>
            <p:nvPr/>
          </p:nvSpPr>
          <p:spPr bwMode="auto">
            <a:xfrm>
              <a:off x="1145945" y="3429000"/>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30" name="正方形/長方形 29">
              <a:extLst>
                <a:ext uri="{FF2B5EF4-FFF2-40B4-BE49-F238E27FC236}">
                  <a16:creationId xmlns:a16="http://schemas.microsoft.com/office/drawing/2014/main" id="{EB481695-12F9-6049-1906-1C003FD8B14B}"/>
                </a:ext>
              </a:extLst>
            </p:cNvPr>
            <p:cNvSpPr/>
            <p:nvPr/>
          </p:nvSpPr>
          <p:spPr bwMode="auto">
            <a:xfrm>
              <a:off x="1145945" y="3789004"/>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31" name="正方形/長方形 30">
              <a:extLst>
                <a:ext uri="{FF2B5EF4-FFF2-40B4-BE49-F238E27FC236}">
                  <a16:creationId xmlns:a16="http://schemas.microsoft.com/office/drawing/2014/main" id="{D88035AC-08FA-A8B9-7083-D7B8ECA2FF30}"/>
                </a:ext>
              </a:extLst>
            </p:cNvPr>
            <p:cNvSpPr/>
            <p:nvPr/>
          </p:nvSpPr>
          <p:spPr bwMode="auto">
            <a:xfrm>
              <a:off x="1145945" y="4149008"/>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32" name="正方形/長方形 31">
              <a:extLst>
                <a:ext uri="{FF2B5EF4-FFF2-40B4-BE49-F238E27FC236}">
                  <a16:creationId xmlns:a16="http://schemas.microsoft.com/office/drawing/2014/main" id="{C516D42B-E204-DCA8-8F5E-485BFA6C91CD}"/>
                </a:ext>
              </a:extLst>
            </p:cNvPr>
            <p:cNvSpPr/>
            <p:nvPr/>
          </p:nvSpPr>
          <p:spPr bwMode="auto">
            <a:xfrm>
              <a:off x="1145945" y="4509012"/>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33" name="正方形/長方形 32">
              <a:extLst>
                <a:ext uri="{FF2B5EF4-FFF2-40B4-BE49-F238E27FC236}">
                  <a16:creationId xmlns:a16="http://schemas.microsoft.com/office/drawing/2014/main" id="{D87FCD18-E26C-4FC6-5050-2A83F75207E5}"/>
                </a:ext>
              </a:extLst>
            </p:cNvPr>
            <p:cNvSpPr/>
            <p:nvPr/>
          </p:nvSpPr>
          <p:spPr bwMode="auto">
            <a:xfrm>
              <a:off x="1145945" y="4869016"/>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grpSp>
      <p:grpSp>
        <p:nvGrpSpPr>
          <p:cNvPr id="34" name="グループ化 33">
            <a:extLst>
              <a:ext uri="{FF2B5EF4-FFF2-40B4-BE49-F238E27FC236}">
                <a16:creationId xmlns:a16="http://schemas.microsoft.com/office/drawing/2014/main" id="{4D57732E-40F5-0F47-3F7D-1B4355C481AC}"/>
              </a:ext>
            </a:extLst>
          </p:cNvPr>
          <p:cNvGrpSpPr/>
          <p:nvPr/>
        </p:nvGrpSpPr>
        <p:grpSpPr>
          <a:xfrm>
            <a:off x="7806019" y="5354971"/>
            <a:ext cx="630007" cy="1080012"/>
            <a:chOff x="1145945" y="1988984"/>
            <a:chExt cx="1440000" cy="3240036"/>
          </a:xfrm>
        </p:grpSpPr>
        <p:sp>
          <p:nvSpPr>
            <p:cNvPr id="35" name="正方形/長方形 34">
              <a:extLst>
                <a:ext uri="{FF2B5EF4-FFF2-40B4-BE49-F238E27FC236}">
                  <a16:creationId xmlns:a16="http://schemas.microsoft.com/office/drawing/2014/main" id="{42FAB588-F2CC-7C88-7F36-386D1E698D6C}"/>
                </a:ext>
              </a:extLst>
            </p:cNvPr>
            <p:cNvSpPr/>
            <p:nvPr/>
          </p:nvSpPr>
          <p:spPr bwMode="auto">
            <a:xfrm>
              <a:off x="1145945" y="1988984"/>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3">
                    <a:lumMod val="50000"/>
                  </a:schemeClr>
                </a:solidFill>
              </a:endParaRPr>
            </a:p>
          </p:txBody>
        </p:sp>
        <p:sp>
          <p:nvSpPr>
            <p:cNvPr id="36" name="正方形/長方形 35">
              <a:extLst>
                <a:ext uri="{FF2B5EF4-FFF2-40B4-BE49-F238E27FC236}">
                  <a16:creationId xmlns:a16="http://schemas.microsoft.com/office/drawing/2014/main" id="{D702E921-383D-8C0E-BC7E-E34A3570A8B6}"/>
                </a:ext>
              </a:extLst>
            </p:cNvPr>
            <p:cNvSpPr/>
            <p:nvPr/>
          </p:nvSpPr>
          <p:spPr bwMode="auto">
            <a:xfrm>
              <a:off x="1145945" y="2348988"/>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37" name="正方形/長方形 36">
              <a:extLst>
                <a:ext uri="{FF2B5EF4-FFF2-40B4-BE49-F238E27FC236}">
                  <a16:creationId xmlns:a16="http://schemas.microsoft.com/office/drawing/2014/main" id="{23E67D25-D6A2-6D5A-E64D-3D1F3105E0FD}"/>
                </a:ext>
              </a:extLst>
            </p:cNvPr>
            <p:cNvSpPr/>
            <p:nvPr/>
          </p:nvSpPr>
          <p:spPr bwMode="auto">
            <a:xfrm>
              <a:off x="1145945" y="2708992"/>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38" name="正方形/長方形 37">
              <a:extLst>
                <a:ext uri="{FF2B5EF4-FFF2-40B4-BE49-F238E27FC236}">
                  <a16:creationId xmlns:a16="http://schemas.microsoft.com/office/drawing/2014/main" id="{29D18CB9-E6CA-02DF-55CE-7E1BC1399E83}"/>
                </a:ext>
              </a:extLst>
            </p:cNvPr>
            <p:cNvSpPr/>
            <p:nvPr/>
          </p:nvSpPr>
          <p:spPr bwMode="auto">
            <a:xfrm>
              <a:off x="1145945" y="3068996"/>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39" name="正方形/長方形 38">
              <a:extLst>
                <a:ext uri="{FF2B5EF4-FFF2-40B4-BE49-F238E27FC236}">
                  <a16:creationId xmlns:a16="http://schemas.microsoft.com/office/drawing/2014/main" id="{F7727635-1C3D-053D-E519-1A00C06AC87E}"/>
                </a:ext>
              </a:extLst>
            </p:cNvPr>
            <p:cNvSpPr/>
            <p:nvPr/>
          </p:nvSpPr>
          <p:spPr bwMode="auto">
            <a:xfrm>
              <a:off x="1145945" y="3429000"/>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40" name="正方形/長方形 39">
              <a:extLst>
                <a:ext uri="{FF2B5EF4-FFF2-40B4-BE49-F238E27FC236}">
                  <a16:creationId xmlns:a16="http://schemas.microsoft.com/office/drawing/2014/main" id="{692E392F-CDF4-9520-E8C4-5265E4177AB5}"/>
                </a:ext>
              </a:extLst>
            </p:cNvPr>
            <p:cNvSpPr/>
            <p:nvPr/>
          </p:nvSpPr>
          <p:spPr bwMode="auto">
            <a:xfrm>
              <a:off x="1145945" y="3789004"/>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41" name="正方形/長方形 40">
              <a:extLst>
                <a:ext uri="{FF2B5EF4-FFF2-40B4-BE49-F238E27FC236}">
                  <a16:creationId xmlns:a16="http://schemas.microsoft.com/office/drawing/2014/main" id="{2154A26E-66CD-727E-4AB2-4A518A753001}"/>
                </a:ext>
              </a:extLst>
            </p:cNvPr>
            <p:cNvSpPr/>
            <p:nvPr/>
          </p:nvSpPr>
          <p:spPr bwMode="auto">
            <a:xfrm>
              <a:off x="1145945" y="4149008"/>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42" name="正方形/長方形 41">
              <a:extLst>
                <a:ext uri="{FF2B5EF4-FFF2-40B4-BE49-F238E27FC236}">
                  <a16:creationId xmlns:a16="http://schemas.microsoft.com/office/drawing/2014/main" id="{B708D719-537F-E357-DF41-6F1090CF337B}"/>
                </a:ext>
              </a:extLst>
            </p:cNvPr>
            <p:cNvSpPr/>
            <p:nvPr/>
          </p:nvSpPr>
          <p:spPr bwMode="auto">
            <a:xfrm>
              <a:off x="1145945" y="4509012"/>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43" name="正方形/長方形 42">
              <a:extLst>
                <a:ext uri="{FF2B5EF4-FFF2-40B4-BE49-F238E27FC236}">
                  <a16:creationId xmlns:a16="http://schemas.microsoft.com/office/drawing/2014/main" id="{CECFFB9A-9BB4-9DFD-CDF5-3C138B623B5B}"/>
                </a:ext>
              </a:extLst>
            </p:cNvPr>
            <p:cNvSpPr/>
            <p:nvPr/>
          </p:nvSpPr>
          <p:spPr bwMode="auto">
            <a:xfrm>
              <a:off x="1145945" y="4869016"/>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grpSp>
      <p:sp>
        <p:nvSpPr>
          <p:cNvPr id="44" name="平行四辺形 43">
            <a:extLst>
              <a:ext uri="{FF2B5EF4-FFF2-40B4-BE49-F238E27FC236}">
                <a16:creationId xmlns:a16="http://schemas.microsoft.com/office/drawing/2014/main" id="{65F5D9DD-B603-D820-8D7C-FB43883B786A}"/>
              </a:ext>
            </a:extLst>
          </p:cNvPr>
          <p:cNvSpPr/>
          <p:nvPr/>
        </p:nvSpPr>
        <p:spPr bwMode="auto">
          <a:xfrm>
            <a:off x="8706029" y="2024934"/>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5" name="正方形/長方形 44">
            <a:extLst>
              <a:ext uri="{FF2B5EF4-FFF2-40B4-BE49-F238E27FC236}">
                <a16:creationId xmlns:a16="http://schemas.microsoft.com/office/drawing/2014/main" id="{25918F54-CAB0-2A91-A5C0-128035C55FF5}"/>
              </a:ext>
            </a:extLst>
          </p:cNvPr>
          <p:cNvSpPr/>
          <p:nvPr/>
        </p:nvSpPr>
        <p:spPr>
          <a:xfrm>
            <a:off x="9156034" y="1214925"/>
            <a:ext cx="117001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6" name="平行四辺形 45">
            <a:extLst>
              <a:ext uri="{FF2B5EF4-FFF2-40B4-BE49-F238E27FC236}">
                <a16:creationId xmlns:a16="http://schemas.microsoft.com/office/drawing/2014/main" id="{115C224C-033E-CB26-E476-0F01E6508CC9}"/>
              </a:ext>
            </a:extLst>
          </p:cNvPr>
          <p:cNvSpPr/>
          <p:nvPr/>
        </p:nvSpPr>
        <p:spPr bwMode="auto">
          <a:xfrm>
            <a:off x="10146045" y="2024934"/>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7" name="正方形/長方形 46">
            <a:extLst>
              <a:ext uri="{FF2B5EF4-FFF2-40B4-BE49-F238E27FC236}">
                <a16:creationId xmlns:a16="http://schemas.microsoft.com/office/drawing/2014/main" id="{1F265AF9-125C-BC1F-57DB-60C7D8661B11}"/>
              </a:ext>
            </a:extLst>
          </p:cNvPr>
          <p:cNvSpPr/>
          <p:nvPr/>
        </p:nvSpPr>
        <p:spPr>
          <a:xfrm>
            <a:off x="10506049" y="121492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8" name="平行四辺形 47">
            <a:extLst>
              <a:ext uri="{FF2B5EF4-FFF2-40B4-BE49-F238E27FC236}">
                <a16:creationId xmlns:a16="http://schemas.microsoft.com/office/drawing/2014/main" id="{1881AA9A-CEB4-65BE-9654-0A3439CA01D9}"/>
              </a:ext>
            </a:extLst>
          </p:cNvPr>
          <p:cNvSpPr/>
          <p:nvPr/>
        </p:nvSpPr>
        <p:spPr bwMode="auto">
          <a:xfrm>
            <a:off x="8706029" y="3194947"/>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9" name="平行四辺形 48">
            <a:extLst>
              <a:ext uri="{FF2B5EF4-FFF2-40B4-BE49-F238E27FC236}">
                <a16:creationId xmlns:a16="http://schemas.microsoft.com/office/drawing/2014/main" id="{007D612F-1A88-94E5-F3AB-0AB93BD9597B}"/>
              </a:ext>
            </a:extLst>
          </p:cNvPr>
          <p:cNvSpPr/>
          <p:nvPr/>
        </p:nvSpPr>
        <p:spPr bwMode="auto">
          <a:xfrm>
            <a:off x="10146045" y="3194947"/>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0" name="平行四辺形 49">
            <a:extLst>
              <a:ext uri="{FF2B5EF4-FFF2-40B4-BE49-F238E27FC236}">
                <a16:creationId xmlns:a16="http://schemas.microsoft.com/office/drawing/2014/main" id="{BE3CB198-1662-891E-F15B-1D1BACBB7D0A}"/>
              </a:ext>
            </a:extLst>
          </p:cNvPr>
          <p:cNvSpPr/>
          <p:nvPr/>
        </p:nvSpPr>
        <p:spPr bwMode="auto">
          <a:xfrm>
            <a:off x="8706029" y="454496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a:extLst>
              <a:ext uri="{FF2B5EF4-FFF2-40B4-BE49-F238E27FC236}">
                <a16:creationId xmlns:a16="http://schemas.microsoft.com/office/drawing/2014/main" id="{FEA70383-595A-A9CA-AEB4-FC8AD1E17967}"/>
              </a:ext>
            </a:extLst>
          </p:cNvPr>
          <p:cNvSpPr/>
          <p:nvPr/>
        </p:nvSpPr>
        <p:spPr bwMode="auto">
          <a:xfrm>
            <a:off x="10146045" y="454496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2" name="平行四辺形 51">
            <a:extLst>
              <a:ext uri="{FF2B5EF4-FFF2-40B4-BE49-F238E27FC236}">
                <a16:creationId xmlns:a16="http://schemas.microsoft.com/office/drawing/2014/main" id="{52F3FB89-653F-D333-872F-223199B84592}"/>
              </a:ext>
            </a:extLst>
          </p:cNvPr>
          <p:cNvSpPr/>
          <p:nvPr/>
        </p:nvSpPr>
        <p:spPr bwMode="auto">
          <a:xfrm>
            <a:off x="8706029" y="5804976"/>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3" name="平行四辺形 52">
            <a:extLst>
              <a:ext uri="{FF2B5EF4-FFF2-40B4-BE49-F238E27FC236}">
                <a16:creationId xmlns:a16="http://schemas.microsoft.com/office/drawing/2014/main" id="{54A44709-0828-152A-3240-62A109FB5156}"/>
              </a:ext>
            </a:extLst>
          </p:cNvPr>
          <p:cNvSpPr/>
          <p:nvPr/>
        </p:nvSpPr>
        <p:spPr bwMode="auto">
          <a:xfrm>
            <a:off x="10146045" y="5804976"/>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cxnSp>
        <p:nvCxnSpPr>
          <p:cNvPr id="54" name="直線矢印コネクタ 53">
            <a:extLst>
              <a:ext uri="{FF2B5EF4-FFF2-40B4-BE49-F238E27FC236}">
                <a16:creationId xmlns:a16="http://schemas.microsoft.com/office/drawing/2014/main" id="{B3615979-FDFA-3803-26AD-E6B32AA0C15C}"/>
              </a:ext>
            </a:extLst>
          </p:cNvPr>
          <p:cNvCxnSpPr/>
          <p:nvPr/>
        </p:nvCxnSpPr>
        <p:spPr bwMode="auto">
          <a:xfrm>
            <a:off x="8616028" y="2168986"/>
            <a:ext cx="630007"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5" name="直線矢印コネクタ 54">
            <a:extLst>
              <a:ext uri="{FF2B5EF4-FFF2-40B4-BE49-F238E27FC236}">
                <a16:creationId xmlns:a16="http://schemas.microsoft.com/office/drawing/2014/main" id="{A1E7920A-27C0-3ACE-BCE5-06683E5466BD}"/>
              </a:ext>
            </a:extLst>
          </p:cNvPr>
          <p:cNvCxnSpPr/>
          <p:nvPr/>
        </p:nvCxnSpPr>
        <p:spPr bwMode="auto">
          <a:xfrm>
            <a:off x="8616028" y="3338999"/>
            <a:ext cx="630007"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6" name="直線矢印コネクタ 55">
            <a:extLst>
              <a:ext uri="{FF2B5EF4-FFF2-40B4-BE49-F238E27FC236}">
                <a16:creationId xmlns:a16="http://schemas.microsoft.com/office/drawing/2014/main" id="{567D25C1-073D-68C2-785A-DC802BAEAD76}"/>
              </a:ext>
            </a:extLst>
          </p:cNvPr>
          <p:cNvCxnSpPr/>
          <p:nvPr/>
        </p:nvCxnSpPr>
        <p:spPr bwMode="auto">
          <a:xfrm>
            <a:off x="8616028" y="4689014"/>
            <a:ext cx="630007"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7" name="直線矢印コネクタ 56">
            <a:extLst>
              <a:ext uri="{FF2B5EF4-FFF2-40B4-BE49-F238E27FC236}">
                <a16:creationId xmlns:a16="http://schemas.microsoft.com/office/drawing/2014/main" id="{1BF2A7FF-518D-AB74-5D2B-DCD70D996ADE}"/>
              </a:ext>
            </a:extLst>
          </p:cNvPr>
          <p:cNvCxnSpPr/>
          <p:nvPr/>
        </p:nvCxnSpPr>
        <p:spPr bwMode="auto">
          <a:xfrm>
            <a:off x="8616028" y="5949028"/>
            <a:ext cx="630007"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7591827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BEDB28-4E53-16D0-B580-FD959401FD0D}"/>
              </a:ext>
            </a:extLst>
          </p:cNvPr>
          <p:cNvSpPr>
            <a:spLocks noGrp="1"/>
          </p:cNvSpPr>
          <p:nvPr>
            <p:ph type="title"/>
          </p:nvPr>
        </p:nvSpPr>
        <p:spPr/>
        <p:txBody>
          <a:bodyPr/>
          <a:lstStyle/>
          <a:p>
            <a:r>
              <a:rPr kumimoji="1" lang="ja-JP" altLang="en-US" dirty="0"/>
              <a:t>マルチコアとの違い：回路量あたりの性能の向上</a:t>
            </a:r>
          </a:p>
        </p:txBody>
      </p:sp>
      <p:sp>
        <p:nvSpPr>
          <p:cNvPr id="3" name="テキスト プレースホルダー 2">
            <a:extLst>
              <a:ext uri="{FF2B5EF4-FFF2-40B4-BE49-F238E27FC236}">
                <a16:creationId xmlns:a16="http://schemas.microsoft.com/office/drawing/2014/main" id="{D5179570-C6A0-817A-26C0-253AA376B638}"/>
              </a:ext>
            </a:extLst>
          </p:cNvPr>
          <p:cNvSpPr>
            <a:spLocks noGrp="1"/>
          </p:cNvSpPr>
          <p:nvPr>
            <p:ph type="body" sz="quarter" idx="10"/>
          </p:nvPr>
        </p:nvSpPr>
        <p:spPr>
          <a:xfrm>
            <a:off x="1685951" y="1268976"/>
            <a:ext cx="8640096" cy="2340026"/>
          </a:xfrm>
        </p:spPr>
        <p:txBody>
          <a:bodyPr/>
          <a:lstStyle/>
          <a:p>
            <a:r>
              <a:rPr kumimoji="1" lang="en-US" altLang="ja-JP" sz="1800" dirty="0"/>
              <a:t>GPU </a:t>
            </a:r>
            <a:r>
              <a:rPr kumimoji="1" lang="ja-JP" altLang="en-US" sz="1800" dirty="0"/>
              <a:t>は</a:t>
            </a:r>
            <a:r>
              <a:rPr kumimoji="1" lang="ja-JP" altLang="en-US" sz="1800" dirty="0">
                <a:solidFill>
                  <a:schemeClr val="accent5"/>
                </a:solidFill>
              </a:rPr>
              <a:t>同じ処理をするスレッド</a:t>
            </a:r>
            <a:r>
              <a:rPr kumimoji="1" lang="ja-JP" altLang="en-US" sz="1800" dirty="0"/>
              <a:t>を多数走らせることに特化</a:t>
            </a:r>
            <a:endParaRPr kumimoji="1" lang="en-US" altLang="ja-JP" sz="1800" dirty="0"/>
          </a:p>
          <a:p>
            <a:pPr lvl="1"/>
            <a:r>
              <a:rPr kumimoji="1" lang="ja-JP" altLang="en-US" sz="1800" dirty="0"/>
              <a:t>行列積の例では，全スレッドが「同じ処理」をしている</a:t>
            </a:r>
            <a:endParaRPr kumimoji="1" lang="en-US" altLang="ja-JP" sz="1800" dirty="0"/>
          </a:p>
          <a:p>
            <a:pPr lvl="1"/>
            <a:r>
              <a:rPr kumimoji="1" lang="ja-JP" altLang="en-US" sz="1800" dirty="0"/>
              <a:t>正確には，演算（乗算と加算）は同じで，値が異なる</a:t>
            </a:r>
            <a:endParaRPr kumimoji="1" lang="en-US" altLang="ja-JP" sz="1800" dirty="0"/>
          </a:p>
          <a:p>
            <a:r>
              <a:rPr lang="ja-JP" altLang="en-US" sz="1800" dirty="0"/>
              <a:t>方針：</a:t>
            </a:r>
            <a:r>
              <a:rPr kumimoji="1" lang="ja-JP" altLang="en-US" sz="1800" dirty="0"/>
              <a:t>みんな同じ処理をしているので，それを利用して回路を簡略化</a:t>
            </a:r>
            <a:endParaRPr kumimoji="1" lang="en-US" altLang="ja-JP" sz="1800" dirty="0"/>
          </a:p>
          <a:p>
            <a:pPr lvl="1"/>
            <a:r>
              <a:rPr kumimoji="1" lang="ja-JP" altLang="en-US" sz="1800" dirty="0"/>
              <a:t>みんな同じ処理をしている </a:t>
            </a:r>
            <a:r>
              <a:rPr kumimoji="1" lang="en-US" altLang="ja-JP" sz="1800" dirty="0"/>
              <a:t>= </a:t>
            </a:r>
            <a:r>
              <a:rPr kumimoji="1" lang="ja-JP" altLang="en-US" sz="1800" dirty="0">
                <a:solidFill>
                  <a:schemeClr val="accent5"/>
                </a:solidFill>
              </a:rPr>
              <a:t>制御回路を共有できる</a:t>
            </a:r>
            <a:endParaRPr kumimoji="1" lang="en-US" altLang="ja-JP" sz="1800" dirty="0">
              <a:solidFill>
                <a:schemeClr val="accent5"/>
              </a:solidFill>
            </a:endParaRPr>
          </a:p>
          <a:p>
            <a:pPr lvl="2"/>
            <a:r>
              <a:rPr kumimoji="1" lang="ja-JP" altLang="en-US" sz="1800" dirty="0"/>
              <a:t>レシピ自体や読む係は１人で良く，みんなに同じ指示を投げる</a:t>
            </a:r>
            <a:endParaRPr kumimoji="1" lang="en-US" altLang="ja-JP" sz="1800" dirty="0"/>
          </a:p>
          <a:p>
            <a:pPr lvl="1"/>
            <a:r>
              <a:rPr kumimoji="1" lang="ja-JP" altLang="en-US" sz="1800" dirty="0"/>
              <a:t>簡略化した分，大量に載せることで性能を上げる</a:t>
            </a:r>
            <a:endParaRPr kumimoji="1" lang="en-US" altLang="ja-JP" sz="1800" dirty="0"/>
          </a:p>
        </p:txBody>
      </p:sp>
      <p:sp>
        <p:nvSpPr>
          <p:cNvPr id="4" name="平行四辺形 3">
            <a:extLst>
              <a:ext uri="{FF2B5EF4-FFF2-40B4-BE49-F238E27FC236}">
                <a16:creationId xmlns:a16="http://schemas.microsoft.com/office/drawing/2014/main" id="{8D081EFD-875B-F158-5E62-121EDC5E0896}"/>
              </a:ext>
            </a:extLst>
          </p:cNvPr>
          <p:cNvSpPr/>
          <p:nvPr/>
        </p:nvSpPr>
        <p:spPr bwMode="auto">
          <a:xfrm>
            <a:off x="2585961" y="4814965"/>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 name="正方形/長方形 4">
            <a:extLst>
              <a:ext uri="{FF2B5EF4-FFF2-40B4-BE49-F238E27FC236}">
                <a16:creationId xmlns:a16="http://schemas.microsoft.com/office/drawing/2014/main" id="{74A25396-5D59-7F93-BC3C-923DB464EFF6}"/>
              </a:ext>
            </a:extLst>
          </p:cNvPr>
          <p:cNvSpPr/>
          <p:nvPr/>
        </p:nvSpPr>
        <p:spPr>
          <a:xfrm>
            <a:off x="3035966" y="4004956"/>
            <a:ext cx="1350015"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レシピ</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 name="平行四辺形 5">
            <a:extLst>
              <a:ext uri="{FF2B5EF4-FFF2-40B4-BE49-F238E27FC236}">
                <a16:creationId xmlns:a16="http://schemas.microsoft.com/office/drawing/2014/main" id="{35C258D5-D8DA-284E-3F1A-9E77A56671D7}"/>
              </a:ext>
            </a:extLst>
          </p:cNvPr>
          <p:cNvSpPr/>
          <p:nvPr/>
        </p:nvSpPr>
        <p:spPr bwMode="auto">
          <a:xfrm>
            <a:off x="4115978" y="4814965"/>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 name="正方形/長方形 6">
            <a:extLst>
              <a:ext uri="{FF2B5EF4-FFF2-40B4-BE49-F238E27FC236}">
                <a16:creationId xmlns:a16="http://schemas.microsoft.com/office/drawing/2014/main" id="{5AF56D06-A02C-7175-D9C8-B1D48227E627}"/>
              </a:ext>
            </a:extLst>
          </p:cNvPr>
          <p:cNvSpPr/>
          <p:nvPr/>
        </p:nvSpPr>
        <p:spPr>
          <a:xfrm>
            <a:off x="4475982" y="4004956"/>
            <a:ext cx="1260014"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シェフ</a:t>
            </a:r>
            <a:b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8" name="平行四辺形 7">
            <a:extLst>
              <a:ext uri="{FF2B5EF4-FFF2-40B4-BE49-F238E27FC236}">
                <a16:creationId xmlns:a16="http://schemas.microsoft.com/office/drawing/2014/main" id="{B334BAE9-8736-7813-F56B-766938872EFA}"/>
              </a:ext>
            </a:extLst>
          </p:cNvPr>
          <p:cNvSpPr/>
          <p:nvPr/>
        </p:nvSpPr>
        <p:spPr bwMode="auto">
          <a:xfrm>
            <a:off x="2585961" y="540902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a:extLst>
              <a:ext uri="{FF2B5EF4-FFF2-40B4-BE49-F238E27FC236}">
                <a16:creationId xmlns:a16="http://schemas.microsoft.com/office/drawing/2014/main" id="{C4CF1E07-B849-CDA5-486C-AAD2A57A59FA}"/>
              </a:ext>
            </a:extLst>
          </p:cNvPr>
          <p:cNvSpPr/>
          <p:nvPr/>
        </p:nvSpPr>
        <p:spPr bwMode="auto">
          <a:xfrm>
            <a:off x="4115978" y="540902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 name="平行四辺形 9">
            <a:extLst>
              <a:ext uri="{FF2B5EF4-FFF2-40B4-BE49-F238E27FC236}">
                <a16:creationId xmlns:a16="http://schemas.microsoft.com/office/drawing/2014/main" id="{F68817C9-CA55-C924-7959-9292C5201B68}"/>
              </a:ext>
            </a:extLst>
          </p:cNvPr>
          <p:cNvSpPr/>
          <p:nvPr/>
        </p:nvSpPr>
        <p:spPr bwMode="auto">
          <a:xfrm>
            <a:off x="2585961" y="6039029"/>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1" name="平行四辺形 10">
            <a:extLst>
              <a:ext uri="{FF2B5EF4-FFF2-40B4-BE49-F238E27FC236}">
                <a16:creationId xmlns:a16="http://schemas.microsoft.com/office/drawing/2014/main" id="{54BAAC80-8C49-0708-68CF-BDA75665635A}"/>
              </a:ext>
            </a:extLst>
          </p:cNvPr>
          <p:cNvSpPr/>
          <p:nvPr/>
        </p:nvSpPr>
        <p:spPr bwMode="auto">
          <a:xfrm>
            <a:off x="4115978" y="6039029"/>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4" name="平行四辺形 13">
            <a:extLst>
              <a:ext uri="{FF2B5EF4-FFF2-40B4-BE49-F238E27FC236}">
                <a16:creationId xmlns:a16="http://schemas.microsoft.com/office/drawing/2014/main" id="{2F5D4724-C37B-3530-A6C9-B21653945453}"/>
              </a:ext>
            </a:extLst>
          </p:cNvPr>
          <p:cNvSpPr/>
          <p:nvPr/>
        </p:nvSpPr>
        <p:spPr bwMode="auto">
          <a:xfrm>
            <a:off x="7176012" y="540902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正方形/長方形 14">
            <a:extLst>
              <a:ext uri="{FF2B5EF4-FFF2-40B4-BE49-F238E27FC236}">
                <a16:creationId xmlns:a16="http://schemas.microsoft.com/office/drawing/2014/main" id="{7D2BC0DA-C036-EE13-00B0-816DD10EAEB3}"/>
              </a:ext>
            </a:extLst>
          </p:cNvPr>
          <p:cNvSpPr/>
          <p:nvPr/>
        </p:nvSpPr>
        <p:spPr>
          <a:xfrm>
            <a:off x="7626017" y="4599013"/>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6" name="平行四辺形 15">
            <a:extLst>
              <a:ext uri="{FF2B5EF4-FFF2-40B4-BE49-F238E27FC236}">
                <a16:creationId xmlns:a16="http://schemas.microsoft.com/office/drawing/2014/main" id="{CBC07AE4-CBE1-C804-A6ED-2731FCF8FB2C}"/>
              </a:ext>
            </a:extLst>
          </p:cNvPr>
          <p:cNvSpPr/>
          <p:nvPr/>
        </p:nvSpPr>
        <p:spPr bwMode="auto">
          <a:xfrm>
            <a:off x="8796030" y="4779015"/>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7" name="正方形/長方形 16">
            <a:extLst>
              <a:ext uri="{FF2B5EF4-FFF2-40B4-BE49-F238E27FC236}">
                <a16:creationId xmlns:a16="http://schemas.microsoft.com/office/drawing/2014/main" id="{2DB01E14-EEEA-E135-5C8D-3B4794D41C8D}"/>
              </a:ext>
            </a:extLst>
          </p:cNvPr>
          <p:cNvSpPr/>
          <p:nvPr/>
        </p:nvSpPr>
        <p:spPr>
          <a:xfrm>
            <a:off x="9156034" y="3969006"/>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4" name="角丸四角形吹き出し 44">
            <a:extLst>
              <a:ext uri="{FF2B5EF4-FFF2-40B4-BE49-F238E27FC236}">
                <a16:creationId xmlns:a16="http://schemas.microsoft.com/office/drawing/2014/main" id="{EEB46980-1108-98E0-A3F2-4A9205742CAD}"/>
              </a:ext>
            </a:extLst>
          </p:cNvPr>
          <p:cNvSpPr/>
          <p:nvPr/>
        </p:nvSpPr>
        <p:spPr bwMode="auto">
          <a:xfrm>
            <a:off x="7986021" y="3789004"/>
            <a:ext cx="1260014" cy="522648"/>
          </a:xfrm>
          <a:prstGeom prst="wedgeRoundRectCallout">
            <a:avLst>
              <a:gd name="adj1" fmla="val -32299"/>
              <a:gd name="adj2" fmla="val 154333"/>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次はみんな</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炒めやでー</a:t>
            </a:r>
          </a:p>
        </p:txBody>
      </p:sp>
      <p:sp>
        <p:nvSpPr>
          <p:cNvPr id="25" name="角丸四角形吹き出し 44">
            <a:extLst>
              <a:ext uri="{FF2B5EF4-FFF2-40B4-BE49-F238E27FC236}">
                <a16:creationId xmlns:a16="http://schemas.microsoft.com/office/drawing/2014/main" id="{7B30D07A-05D7-C078-A237-F3D4EC6A03ED}"/>
              </a:ext>
            </a:extLst>
          </p:cNvPr>
          <p:cNvSpPr/>
          <p:nvPr/>
        </p:nvSpPr>
        <p:spPr bwMode="auto">
          <a:xfrm>
            <a:off x="9876042" y="3789004"/>
            <a:ext cx="720008" cy="324054"/>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65000"/>
                    <a:lumOff val="35000"/>
                  </a:schemeClr>
                </a:solidFill>
                <a:latin typeface="Arial Narrow" panose="020B0606020202030204" pitchFamily="34" charset="0"/>
              </a:rPr>
              <a:t>ハーイ</a:t>
            </a:r>
          </a:p>
        </p:txBody>
      </p:sp>
      <p:sp>
        <p:nvSpPr>
          <p:cNvPr id="27" name="平行四辺形 26">
            <a:extLst>
              <a:ext uri="{FF2B5EF4-FFF2-40B4-BE49-F238E27FC236}">
                <a16:creationId xmlns:a16="http://schemas.microsoft.com/office/drawing/2014/main" id="{1B966FD2-31B2-FB91-2483-6F22EF07EB11}"/>
              </a:ext>
            </a:extLst>
          </p:cNvPr>
          <p:cNvSpPr/>
          <p:nvPr/>
        </p:nvSpPr>
        <p:spPr bwMode="auto">
          <a:xfrm>
            <a:off x="8796030" y="540902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0" name="平行四辺形 29">
            <a:extLst>
              <a:ext uri="{FF2B5EF4-FFF2-40B4-BE49-F238E27FC236}">
                <a16:creationId xmlns:a16="http://schemas.microsoft.com/office/drawing/2014/main" id="{A85CC657-0827-D606-BE7B-F42D79520019}"/>
              </a:ext>
            </a:extLst>
          </p:cNvPr>
          <p:cNvSpPr/>
          <p:nvPr/>
        </p:nvSpPr>
        <p:spPr bwMode="auto">
          <a:xfrm>
            <a:off x="8706029" y="6047991"/>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4" name="矢印: 右 33">
            <a:extLst>
              <a:ext uri="{FF2B5EF4-FFF2-40B4-BE49-F238E27FC236}">
                <a16:creationId xmlns:a16="http://schemas.microsoft.com/office/drawing/2014/main" id="{16000C7B-7471-7E0A-6A93-9E4918CCEE83}"/>
              </a:ext>
            </a:extLst>
          </p:cNvPr>
          <p:cNvSpPr/>
          <p:nvPr/>
        </p:nvSpPr>
        <p:spPr bwMode="auto">
          <a:xfrm>
            <a:off x="6366003" y="5229020"/>
            <a:ext cx="450005" cy="630007"/>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8" name="直線矢印コネクタ 17">
            <a:extLst>
              <a:ext uri="{FF2B5EF4-FFF2-40B4-BE49-F238E27FC236}">
                <a16:creationId xmlns:a16="http://schemas.microsoft.com/office/drawing/2014/main" id="{3FE50662-5218-5C45-2738-F19247C5C549}"/>
              </a:ext>
            </a:extLst>
          </p:cNvPr>
          <p:cNvCxnSpPr>
            <a:cxnSpLocks/>
          </p:cNvCxnSpPr>
          <p:nvPr/>
        </p:nvCxnSpPr>
        <p:spPr bwMode="auto">
          <a:xfrm flipV="1">
            <a:off x="8526027" y="5049018"/>
            <a:ext cx="540006" cy="450005"/>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9" name="直線矢印コネクタ 18">
            <a:extLst>
              <a:ext uri="{FF2B5EF4-FFF2-40B4-BE49-F238E27FC236}">
                <a16:creationId xmlns:a16="http://schemas.microsoft.com/office/drawing/2014/main" id="{C78A222B-C1B6-2AB3-4AD4-14CB76F6F51F}"/>
              </a:ext>
            </a:extLst>
          </p:cNvPr>
          <p:cNvCxnSpPr>
            <a:cxnSpLocks/>
          </p:cNvCxnSpPr>
          <p:nvPr/>
        </p:nvCxnSpPr>
        <p:spPr bwMode="auto">
          <a:xfrm>
            <a:off x="8526027" y="5679025"/>
            <a:ext cx="540006"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20" name="直線矢印コネクタ 19">
            <a:extLst>
              <a:ext uri="{FF2B5EF4-FFF2-40B4-BE49-F238E27FC236}">
                <a16:creationId xmlns:a16="http://schemas.microsoft.com/office/drawing/2014/main" id="{53E58F34-075A-8AC5-BF9F-386BA7268F8B}"/>
              </a:ext>
            </a:extLst>
          </p:cNvPr>
          <p:cNvCxnSpPr>
            <a:cxnSpLocks/>
          </p:cNvCxnSpPr>
          <p:nvPr/>
        </p:nvCxnSpPr>
        <p:spPr bwMode="auto">
          <a:xfrm>
            <a:off x="8526027" y="5769026"/>
            <a:ext cx="540006" cy="540006"/>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26" name="直線矢印コネクタ 25">
            <a:extLst>
              <a:ext uri="{FF2B5EF4-FFF2-40B4-BE49-F238E27FC236}">
                <a16:creationId xmlns:a16="http://schemas.microsoft.com/office/drawing/2014/main" id="{CB7995CC-806E-631A-6514-98B4488AABC9}"/>
              </a:ext>
            </a:extLst>
          </p:cNvPr>
          <p:cNvCxnSpPr>
            <a:cxnSpLocks/>
          </p:cNvCxnSpPr>
          <p:nvPr/>
        </p:nvCxnSpPr>
        <p:spPr bwMode="auto">
          <a:xfrm>
            <a:off x="3845975" y="5049018"/>
            <a:ext cx="540006"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28" name="直線矢印コネクタ 27">
            <a:extLst>
              <a:ext uri="{FF2B5EF4-FFF2-40B4-BE49-F238E27FC236}">
                <a16:creationId xmlns:a16="http://schemas.microsoft.com/office/drawing/2014/main" id="{1B321616-16CD-1148-E205-2C6FB75B298C}"/>
              </a:ext>
            </a:extLst>
          </p:cNvPr>
          <p:cNvCxnSpPr>
            <a:cxnSpLocks/>
          </p:cNvCxnSpPr>
          <p:nvPr/>
        </p:nvCxnSpPr>
        <p:spPr bwMode="auto">
          <a:xfrm>
            <a:off x="3845975" y="5679025"/>
            <a:ext cx="540006"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29" name="直線矢印コネクタ 28">
            <a:extLst>
              <a:ext uri="{FF2B5EF4-FFF2-40B4-BE49-F238E27FC236}">
                <a16:creationId xmlns:a16="http://schemas.microsoft.com/office/drawing/2014/main" id="{02240A7B-4286-20D1-1AEE-8D09E46A2098}"/>
              </a:ext>
            </a:extLst>
          </p:cNvPr>
          <p:cNvCxnSpPr>
            <a:cxnSpLocks/>
          </p:cNvCxnSpPr>
          <p:nvPr/>
        </p:nvCxnSpPr>
        <p:spPr bwMode="auto">
          <a:xfrm>
            <a:off x="3845975" y="6309032"/>
            <a:ext cx="540006"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40623313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DA3D41-08A7-E55C-4085-C0332D173B32}"/>
              </a:ext>
            </a:extLst>
          </p:cNvPr>
          <p:cNvSpPr>
            <a:spLocks noGrp="1"/>
          </p:cNvSpPr>
          <p:nvPr>
            <p:ph type="title"/>
          </p:nvPr>
        </p:nvSpPr>
        <p:spPr/>
        <p:txBody>
          <a:bodyPr/>
          <a:lstStyle/>
          <a:p>
            <a:r>
              <a:rPr kumimoji="1" lang="ja-JP" altLang="en-US"/>
              <a:t>代表的な </a:t>
            </a:r>
            <a:r>
              <a:rPr kumimoji="1" lang="en-US" altLang="ja-JP"/>
              <a:t>GPU </a:t>
            </a:r>
            <a:r>
              <a:rPr kumimoji="1" lang="ja-JP" altLang="en-US"/>
              <a:t>のアーキテクチャ</a:t>
            </a:r>
            <a:endParaRPr kumimoji="1" lang="ja-JP" altLang="en-US" dirty="0"/>
          </a:p>
        </p:txBody>
      </p:sp>
      <p:sp>
        <p:nvSpPr>
          <p:cNvPr id="3" name="テキスト プレースホルダー 2">
            <a:extLst>
              <a:ext uri="{FF2B5EF4-FFF2-40B4-BE49-F238E27FC236}">
                <a16:creationId xmlns:a16="http://schemas.microsoft.com/office/drawing/2014/main" id="{E746FE32-87F6-46A1-86D7-C680EA1CF888}"/>
              </a:ext>
            </a:extLst>
          </p:cNvPr>
          <p:cNvSpPr>
            <a:spLocks noGrp="1"/>
          </p:cNvSpPr>
          <p:nvPr>
            <p:ph type="body" sz="quarter" idx="10"/>
          </p:nvPr>
        </p:nvSpPr>
        <p:spPr>
          <a:xfrm>
            <a:off x="1955954" y="2168986"/>
            <a:ext cx="8730098" cy="2520028"/>
          </a:xfrm>
        </p:spPr>
        <p:txBody>
          <a:bodyPr/>
          <a:lstStyle/>
          <a:p>
            <a:r>
              <a:rPr lang="en-US" altLang="ja-JP" sz="1800"/>
              <a:t>GPU </a:t>
            </a:r>
            <a:r>
              <a:rPr lang="ja-JP" altLang="en-US" sz="1800"/>
              <a:t>は同じ処理をするスレッドを多数走らせることに特化</a:t>
            </a:r>
            <a:endParaRPr lang="en-US" altLang="ja-JP" sz="1800"/>
          </a:p>
          <a:p>
            <a:pPr lvl="1"/>
            <a:r>
              <a:rPr lang="ja-JP" altLang="en-US" sz="1800"/>
              <a:t>これを効率的に実現するのが </a:t>
            </a:r>
            <a:r>
              <a:rPr lang="en-US" altLang="ja-JP" sz="1800">
                <a:solidFill>
                  <a:schemeClr val="accent5"/>
                </a:solidFill>
              </a:rPr>
              <a:t>SIMD</a:t>
            </a:r>
            <a:r>
              <a:rPr lang="en-US" altLang="ja-JP" sz="1800"/>
              <a:t> </a:t>
            </a:r>
            <a:r>
              <a:rPr lang="ja-JP" altLang="en-US" sz="1800"/>
              <a:t>と呼ばれる方式</a:t>
            </a:r>
            <a:endParaRPr lang="en-US" altLang="ja-JP" sz="1800"/>
          </a:p>
          <a:p>
            <a:pPr lvl="1"/>
            <a:r>
              <a:rPr lang="en-US" altLang="ja-JP" sz="1800"/>
              <a:t>SIMD </a:t>
            </a:r>
            <a:r>
              <a:rPr lang="ja-JP" altLang="en-US" sz="1800"/>
              <a:t>は </a:t>
            </a:r>
            <a:r>
              <a:rPr lang="en-US" altLang="ja-JP" sz="1800"/>
              <a:t>GPU </a:t>
            </a:r>
            <a:r>
              <a:rPr lang="ja-JP" altLang="en-US" sz="1800"/>
              <a:t>のハードウェア方式やプログラミング・モデルの根幹に関わる</a:t>
            </a:r>
            <a:endParaRPr lang="en-US" altLang="ja-JP" sz="1800"/>
          </a:p>
          <a:p>
            <a:r>
              <a:rPr lang="ja-JP" altLang="en-US" sz="1800"/>
              <a:t>大きく分けて２つの方式</a:t>
            </a:r>
            <a:endParaRPr lang="en-US" altLang="ja-JP" sz="1800"/>
          </a:p>
          <a:p>
            <a:pPr lvl="1">
              <a:buFont typeface="+mj-lt"/>
              <a:buAutoNum type="arabicPeriod"/>
            </a:pPr>
            <a:r>
              <a:rPr lang="en-US" altLang="ja-JP" sz="1800"/>
              <a:t>NVIDIA</a:t>
            </a:r>
            <a:r>
              <a:rPr lang="ja-JP" altLang="en-US" sz="1800"/>
              <a:t>：　 </a:t>
            </a:r>
            <a:r>
              <a:rPr lang="en-US" altLang="ja-JP" sz="1800"/>
              <a:t>Single Instruction Multiple Thread (</a:t>
            </a:r>
            <a:r>
              <a:rPr lang="en-US" altLang="ja-JP" sz="1800">
                <a:solidFill>
                  <a:schemeClr val="accent5"/>
                </a:solidFill>
              </a:rPr>
              <a:t>SIMT</a:t>
            </a:r>
            <a:r>
              <a:rPr lang="en-US" altLang="ja-JP" sz="1800"/>
              <a:t>) </a:t>
            </a:r>
            <a:r>
              <a:rPr lang="ja-JP" altLang="en-US" sz="1800"/>
              <a:t>方式</a:t>
            </a:r>
            <a:endParaRPr lang="en-US" altLang="ja-JP" sz="1800"/>
          </a:p>
          <a:p>
            <a:pPr lvl="1">
              <a:buFont typeface="+mj-lt"/>
              <a:buAutoNum type="arabicPeriod"/>
            </a:pPr>
            <a:r>
              <a:rPr lang="en-US" altLang="ja-JP" sz="1800"/>
              <a:t>AMD/Intel</a:t>
            </a:r>
            <a:r>
              <a:rPr lang="ja-JP" altLang="en-US" sz="1800"/>
              <a:t>：</a:t>
            </a:r>
            <a:r>
              <a:rPr lang="en-US" altLang="ja-JP" sz="1800"/>
              <a:t>Single Instruction stream Multiple Data (</a:t>
            </a:r>
            <a:r>
              <a:rPr lang="en-US" altLang="ja-JP" sz="1800">
                <a:solidFill>
                  <a:schemeClr val="accent5"/>
                </a:solidFill>
              </a:rPr>
              <a:t>SIMD</a:t>
            </a:r>
            <a:r>
              <a:rPr lang="en-US" altLang="ja-JP" sz="1800"/>
              <a:t>) </a:t>
            </a:r>
            <a:r>
              <a:rPr lang="ja-JP" altLang="en-US" sz="1800"/>
              <a:t>方式</a:t>
            </a:r>
            <a:endParaRPr lang="en-US" altLang="ja-JP" sz="1800"/>
          </a:p>
          <a:p>
            <a:r>
              <a:rPr lang="en-US" altLang="ja-JP" sz="1800"/>
              <a:t>SIMD </a:t>
            </a:r>
            <a:r>
              <a:rPr lang="ja-JP" altLang="en-US" sz="1800"/>
              <a:t>方式から順に説明</a:t>
            </a:r>
            <a:endParaRPr lang="en-US" altLang="ja-JP" sz="1800"/>
          </a:p>
          <a:p>
            <a:pPr lvl="1"/>
            <a:r>
              <a:rPr lang="en-US" altLang="ja-JP" sz="1800"/>
              <a:t>SIMT </a:t>
            </a:r>
            <a:r>
              <a:rPr lang="ja-JP" altLang="en-US" sz="1800"/>
              <a:t>方式は </a:t>
            </a:r>
            <a:r>
              <a:rPr lang="en-US" altLang="ja-JP" sz="1800"/>
              <a:t>SIMD </a:t>
            </a:r>
            <a:r>
              <a:rPr lang="ja-JP" altLang="en-US" sz="1800"/>
              <a:t>を発展させた概念であるため</a:t>
            </a:r>
            <a:endParaRPr lang="ja-JP" altLang="en-US" sz="1800" dirty="0"/>
          </a:p>
        </p:txBody>
      </p:sp>
    </p:spTree>
    <p:extLst>
      <p:ext uri="{BB962C8B-B14F-4D97-AF65-F5344CB8AC3E}">
        <p14:creationId xmlns:p14="http://schemas.microsoft.com/office/powerpoint/2010/main" val="32256019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F28C6C-4B6B-0592-DFC2-4C563ECDF732}"/>
              </a:ext>
            </a:extLst>
          </p:cNvPr>
          <p:cNvSpPr>
            <a:spLocks noGrp="1"/>
          </p:cNvSpPr>
          <p:nvPr>
            <p:ph type="title"/>
          </p:nvPr>
        </p:nvSpPr>
        <p:spPr/>
        <p:txBody>
          <a:bodyPr/>
          <a:lstStyle/>
          <a:p>
            <a:r>
              <a:rPr kumimoji="1" lang="en-US" altLang="ja-JP" dirty="0"/>
              <a:t>GPU </a:t>
            </a:r>
            <a:r>
              <a:rPr kumimoji="1" lang="ja-JP" altLang="en-US" dirty="0"/>
              <a:t>の基本的な構造</a:t>
            </a:r>
          </a:p>
        </p:txBody>
      </p:sp>
      <p:sp>
        <p:nvSpPr>
          <p:cNvPr id="3" name="テキスト プレースホルダー 2">
            <a:extLst>
              <a:ext uri="{FF2B5EF4-FFF2-40B4-BE49-F238E27FC236}">
                <a16:creationId xmlns:a16="http://schemas.microsoft.com/office/drawing/2014/main" id="{CBA111A3-835E-F467-EC49-839674912985}"/>
              </a:ext>
            </a:extLst>
          </p:cNvPr>
          <p:cNvSpPr>
            <a:spLocks noGrp="1"/>
          </p:cNvSpPr>
          <p:nvPr>
            <p:ph type="body" sz="quarter" idx="10"/>
          </p:nvPr>
        </p:nvSpPr>
        <p:spPr/>
        <p:txBody>
          <a:bodyPr/>
          <a:lstStyle/>
          <a:p>
            <a:pPr marL="457200" indent="-457200">
              <a:buFont typeface="+mj-lt"/>
              <a:buAutoNum type="arabicPeriod"/>
            </a:pPr>
            <a:r>
              <a:rPr kumimoji="1" lang="ja-JP" altLang="en-US" dirty="0"/>
              <a:t>フリンの分類と </a:t>
            </a:r>
            <a:r>
              <a:rPr kumimoji="1" lang="en-US" altLang="ja-JP" dirty="0"/>
              <a:t>SIMD</a:t>
            </a:r>
          </a:p>
          <a:p>
            <a:pPr marL="457200" indent="-457200">
              <a:buFont typeface="+mj-lt"/>
              <a:buAutoNum type="arabicPeriod"/>
            </a:pPr>
            <a:r>
              <a:rPr lang="en-US" altLang="ja-JP" dirty="0"/>
              <a:t>GPU </a:t>
            </a:r>
            <a:r>
              <a:rPr lang="ja-JP" altLang="en-US" dirty="0"/>
              <a:t>における回路量当たりの性能向上</a:t>
            </a:r>
          </a:p>
          <a:p>
            <a:pPr marL="457200" indent="-457200">
              <a:buFont typeface="+mj-lt"/>
              <a:buAutoNum type="arabicPeriod"/>
            </a:pPr>
            <a:r>
              <a:rPr kumimoji="1" lang="en-US" altLang="ja-JP" dirty="0"/>
              <a:t>SIMD </a:t>
            </a:r>
            <a:r>
              <a:rPr kumimoji="1" lang="ja-JP" altLang="en-US" dirty="0"/>
              <a:t>プロセッサのプログラミング・モデル</a:t>
            </a:r>
          </a:p>
        </p:txBody>
      </p:sp>
    </p:spTree>
    <p:extLst>
      <p:ext uri="{BB962C8B-B14F-4D97-AF65-F5344CB8AC3E}">
        <p14:creationId xmlns:p14="http://schemas.microsoft.com/office/powerpoint/2010/main" val="7360920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6928-E4AC-D43C-5712-51ADCE7DA59C}"/>
              </a:ext>
            </a:extLst>
          </p:cNvPr>
          <p:cNvSpPr>
            <a:spLocks noGrp="1"/>
          </p:cNvSpPr>
          <p:nvPr>
            <p:ph type="title"/>
          </p:nvPr>
        </p:nvSpPr>
        <p:spPr/>
        <p:txBody>
          <a:bodyPr/>
          <a:lstStyle/>
          <a:p>
            <a:r>
              <a:rPr kumimoji="1" lang="ja-JP" altLang="en-US" dirty="0"/>
              <a:t>フリンの分類と </a:t>
            </a:r>
            <a:r>
              <a:rPr kumimoji="1" lang="en-US" altLang="ja-JP" dirty="0"/>
              <a:t>SIMD </a:t>
            </a:r>
            <a:endParaRPr kumimoji="1" lang="ja-JP" altLang="en-US" dirty="0"/>
          </a:p>
        </p:txBody>
      </p:sp>
      <p:sp>
        <p:nvSpPr>
          <p:cNvPr id="3" name="テキスト プレースホルダー 2">
            <a:extLst>
              <a:ext uri="{FF2B5EF4-FFF2-40B4-BE49-F238E27FC236}">
                <a16:creationId xmlns:a16="http://schemas.microsoft.com/office/drawing/2014/main" id="{8FD7964B-5D08-C0D0-086D-C6B016DE5D09}"/>
              </a:ext>
            </a:extLst>
          </p:cNvPr>
          <p:cNvSpPr>
            <a:spLocks noGrp="1"/>
          </p:cNvSpPr>
          <p:nvPr>
            <p:ph type="body" sz="quarter" idx="10"/>
          </p:nvPr>
        </p:nvSpPr>
        <p:spPr/>
        <p:txBody>
          <a:bodyPr/>
          <a:lstStyle/>
          <a:p>
            <a:r>
              <a:rPr kumimoji="1" lang="en-US" altLang="ja-JP" dirty="0"/>
              <a:t>Single Instruction stream/Multiple Data stream (SIMD)</a:t>
            </a:r>
          </a:p>
          <a:p>
            <a:pPr lvl="1"/>
            <a:r>
              <a:rPr kumimoji="1" lang="ja-JP" altLang="en-US" dirty="0"/>
              <a:t>コンピュータ・ハードウェアの構成方法の分類の１つ</a:t>
            </a:r>
            <a:endParaRPr kumimoji="1" lang="en-US" altLang="ja-JP" dirty="0"/>
          </a:p>
          <a:p>
            <a:pPr lvl="1"/>
            <a:r>
              <a:rPr kumimoji="1" lang="ja-JP" altLang="en-US" dirty="0"/>
              <a:t>あいだの「</a:t>
            </a:r>
            <a:r>
              <a:rPr kumimoji="1" lang="en-US" altLang="ja-JP" dirty="0"/>
              <a:t>stream</a:t>
            </a:r>
            <a:r>
              <a:rPr kumimoji="1" lang="ja-JP" altLang="en-US" dirty="0"/>
              <a:t>」は省略されることもある</a:t>
            </a:r>
            <a:endParaRPr kumimoji="1" lang="en-US" altLang="ja-JP" dirty="0"/>
          </a:p>
          <a:p>
            <a:r>
              <a:rPr kumimoji="1" lang="ja-JP" altLang="en-US" dirty="0"/>
              <a:t>フリンによる分類に由来</a:t>
            </a:r>
            <a:endParaRPr kumimoji="1" lang="en-US" altLang="ja-JP" dirty="0"/>
          </a:p>
          <a:p>
            <a:pPr lvl="1"/>
            <a:r>
              <a:rPr kumimoji="1" lang="en-US" altLang="ja-JP" dirty="0"/>
              <a:t>M. J. Flynn, "Very high-speed computing systems," in Proceedings of the IEEE, vol. 54, no. 12, pp. 1901-1909, Dec. 1966</a:t>
            </a:r>
          </a:p>
          <a:p>
            <a:r>
              <a:rPr kumimoji="1" lang="ja-JP" altLang="en-US" dirty="0"/>
              <a:t>プログラムを処理する際の</a:t>
            </a:r>
            <a:endParaRPr kumimoji="1" lang="en-US" altLang="ja-JP" dirty="0"/>
          </a:p>
          <a:p>
            <a:pPr lvl="1"/>
            <a:r>
              <a:rPr kumimoji="1" lang="ja-JP" altLang="en-US" dirty="0"/>
              <a:t>「命令の流れ」と「データの流れ」に着目</a:t>
            </a:r>
            <a:endParaRPr kumimoji="1" lang="en-US" altLang="ja-JP" dirty="0"/>
          </a:p>
          <a:p>
            <a:pPr lvl="1"/>
            <a:r>
              <a:rPr kumimoji="1" lang="ja-JP" altLang="en-US" dirty="0"/>
              <a:t>それぞれが同時に１つあるか，複数あるかで分類</a:t>
            </a:r>
            <a:endParaRPr kumimoji="1" lang="en-US" altLang="ja-JP" dirty="0"/>
          </a:p>
        </p:txBody>
      </p:sp>
    </p:spTree>
    <p:extLst>
      <p:ext uri="{BB962C8B-B14F-4D97-AF65-F5344CB8AC3E}">
        <p14:creationId xmlns:p14="http://schemas.microsoft.com/office/powerpoint/2010/main" val="31827525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フリンの分類</a:t>
            </a:r>
            <a:br>
              <a:rPr kumimoji="1" lang="en-US" altLang="ja-JP" dirty="0"/>
            </a:br>
            <a:r>
              <a:rPr lang="ja-JP" altLang="en-US" sz="1800" dirty="0"/>
              <a:t>混乱したらこの図を見返そう</a:t>
            </a:r>
            <a:endParaRPr kumimoji="1" lang="ja-JP" altLang="en-US" dirty="0"/>
          </a:p>
        </p:txBody>
      </p:sp>
      <p:sp>
        <p:nvSpPr>
          <p:cNvPr id="15" name="正方形/長方形 14">
            <a:extLst>
              <a:ext uri="{FF2B5EF4-FFF2-40B4-BE49-F238E27FC236}">
                <a16:creationId xmlns:a16="http://schemas.microsoft.com/office/drawing/2014/main" id="{B910C821-A2BE-B213-20C9-629C87ECAEF1}"/>
              </a:ext>
            </a:extLst>
          </p:cNvPr>
          <p:cNvSpPr/>
          <p:nvPr/>
        </p:nvSpPr>
        <p:spPr bwMode="auto">
          <a:xfrm>
            <a:off x="2495960" y="2708992"/>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16" name="直線矢印コネクタ 15">
            <a:extLst>
              <a:ext uri="{FF2B5EF4-FFF2-40B4-BE49-F238E27FC236}">
                <a16:creationId xmlns:a16="http://schemas.microsoft.com/office/drawing/2014/main" id="{B42BA47D-B259-ADCF-32E1-3F5201B269D2}"/>
              </a:ext>
            </a:extLst>
          </p:cNvPr>
          <p:cNvCxnSpPr>
            <a:cxnSpLocks/>
          </p:cNvCxnSpPr>
          <p:nvPr/>
        </p:nvCxnSpPr>
        <p:spPr bwMode="auto">
          <a:xfrm>
            <a:off x="2855964" y="2511121"/>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30" name="正方形/長方形 29">
            <a:extLst>
              <a:ext uri="{FF2B5EF4-FFF2-40B4-BE49-F238E27FC236}">
                <a16:creationId xmlns:a16="http://schemas.microsoft.com/office/drawing/2014/main" id="{27AE8EFA-E12A-FD1A-D117-B4A5889C93C5}"/>
              </a:ext>
            </a:extLst>
          </p:cNvPr>
          <p:cNvSpPr/>
          <p:nvPr/>
        </p:nvSpPr>
        <p:spPr bwMode="auto">
          <a:xfrm>
            <a:off x="2675962" y="2168985"/>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50" name="フリーフォーム 10">
            <a:extLst>
              <a:ext uri="{FF2B5EF4-FFF2-40B4-BE49-F238E27FC236}">
                <a16:creationId xmlns:a16="http://schemas.microsoft.com/office/drawing/2014/main" id="{44A73F9E-2E59-A8BC-335C-F545C69B1F2C}"/>
              </a:ext>
            </a:extLst>
          </p:cNvPr>
          <p:cNvSpPr>
            <a:spLocks noChangeArrowheads="1"/>
          </p:cNvSpPr>
          <p:nvPr/>
        </p:nvSpPr>
        <p:spPr bwMode="auto">
          <a:xfrm flipH="1">
            <a:off x="2495960" y="3428999"/>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51" name="直線矢印コネクタ 50">
            <a:extLst>
              <a:ext uri="{FF2B5EF4-FFF2-40B4-BE49-F238E27FC236}">
                <a16:creationId xmlns:a16="http://schemas.microsoft.com/office/drawing/2014/main" id="{DBB74B0B-52E8-D5DB-7795-6BCB65727AC1}"/>
              </a:ext>
            </a:extLst>
          </p:cNvPr>
          <p:cNvCxnSpPr>
            <a:cxnSpLocks/>
          </p:cNvCxnSpPr>
          <p:nvPr/>
        </p:nvCxnSpPr>
        <p:spPr bwMode="auto">
          <a:xfrm>
            <a:off x="2855964" y="3068996"/>
            <a:ext cx="0" cy="360003"/>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52" name="正方形/長方形 51">
            <a:extLst>
              <a:ext uri="{FF2B5EF4-FFF2-40B4-BE49-F238E27FC236}">
                <a16:creationId xmlns:a16="http://schemas.microsoft.com/office/drawing/2014/main" id="{00DA425B-A218-7EBA-CBE5-6ABAC72FFB45}"/>
              </a:ext>
            </a:extLst>
          </p:cNvPr>
          <p:cNvSpPr/>
          <p:nvPr/>
        </p:nvSpPr>
        <p:spPr bwMode="auto">
          <a:xfrm>
            <a:off x="6276002" y="2708992"/>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53" name="直線矢印コネクタ 52">
            <a:extLst>
              <a:ext uri="{FF2B5EF4-FFF2-40B4-BE49-F238E27FC236}">
                <a16:creationId xmlns:a16="http://schemas.microsoft.com/office/drawing/2014/main" id="{BEC04D6C-3B1A-1EAB-95EC-F9126CCB8309}"/>
              </a:ext>
            </a:extLst>
          </p:cNvPr>
          <p:cNvCxnSpPr>
            <a:cxnSpLocks/>
          </p:cNvCxnSpPr>
          <p:nvPr/>
        </p:nvCxnSpPr>
        <p:spPr bwMode="auto">
          <a:xfrm>
            <a:off x="6636006" y="2511121"/>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54" name="正方形/長方形 53">
            <a:extLst>
              <a:ext uri="{FF2B5EF4-FFF2-40B4-BE49-F238E27FC236}">
                <a16:creationId xmlns:a16="http://schemas.microsoft.com/office/drawing/2014/main" id="{834BCDCA-955B-D292-9D90-6F1692C1F1FD}"/>
              </a:ext>
            </a:extLst>
          </p:cNvPr>
          <p:cNvSpPr/>
          <p:nvPr/>
        </p:nvSpPr>
        <p:spPr bwMode="auto">
          <a:xfrm>
            <a:off x="6456004" y="2168985"/>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55" name="フリーフォーム 10">
            <a:extLst>
              <a:ext uri="{FF2B5EF4-FFF2-40B4-BE49-F238E27FC236}">
                <a16:creationId xmlns:a16="http://schemas.microsoft.com/office/drawing/2014/main" id="{3B6816FB-D5C1-951F-AFA5-0C0B196B66EE}"/>
              </a:ext>
            </a:extLst>
          </p:cNvPr>
          <p:cNvSpPr>
            <a:spLocks noChangeArrowheads="1"/>
          </p:cNvSpPr>
          <p:nvPr/>
        </p:nvSpPr>
        <p:spPr bwMode="auto">
          <a:xfrm flipH="1">
            <a:off x="5015988" y="3428999"/>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56" name="直線矢印コネクタ 55">
            <a:extLst>
              <a:ext uri="{FF2B5EF4-FFF2-40B4-BE49-F238E27FC236}">
                <a16:creationId xmlns:a16="http://schemas.microsoft.com/office/drawing/2014/main" id="{63F3B171-8BFC-AE3F-0A94-094749FDFCD6}"/>
              </a:ext>
            </a:extLst>
          </p:cNvPr>
          <p:cNvCxnSpPr>
            <a:cxnSpLocks/>
          </p:cNvCxnSpPr>
          <p:nvPr/>
        </p:nvCxnSpPr>
        <p:spPr bwMode="auto">
          <a:xfrm>
            <a:off x="6636006" y="3068995"/>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57" name="Freeform 10">
            <a:extLst>
              <a:ext uri="{FF2B5EF4-FFF2-40B4-BE49-F238E27FC236}">
                <a16:creationId xmlns:a16="http://schemas.microsoft.com/office/drawing/2014/main" id="{91FC0299-73A6-CA0E-0A6A-390A7A13037B}"/>
              </a:ext>
            </a:extLst>
          </p:cNvPr>
          <p:cNvSpPr>
            <a:spLocks/>
          </p:cNvSpPr>
          <p:nvPr/>
        </p:nvSpPr>
        <p:spPr bwMode="auto">
          <a:xfrm rot="5400000">
            <a:off x="5825997" y="2798993"/>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58" name="フリーフォーム 10">
            <a:extLst>
              <a:ext uri="{FF2B5EF4-FFF2-40B4-BE49-F238E27FC236}">
                <a16:creationId xmlns:a16="http://schemas.microsoft.com/office/drawing/2014/main" id="{4176E7F6-5ED3-D33B-4555-CF9B31554FBF}"/>
              </a:ext>
            </a:extLst>
          </p:cNvPr>
          <p:cNvSpPr>
            <a:spLocks noChangeArrowheads="1"/>
          </p:cNvSpPr>
          <p:nvPr/>
        </p:nvSpPr>
        <p:spPr bwMode="auto">
          <a:xfrm flipH="1">
            <a:off x="5825997" y="3428999"/>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59" name="フリーフォーム 10">
            <a:extLst>
              <a:ext uri="{FF2B5EF4-FFF2-40B4-BE49-F238E27FC236}">
                <a16:creationId xmlns:a16="http://schemas.microsoft.com/office/drawing/2014/main" id="{4AF14BF6-A88B-E908-97F4-6E7F1D2723DA}"/>
              </a:ext>
            </a:extLst>
          </p:cNvPr>
          <p:cNvSpPr>
            <a:spLocks noChangeArrowheads="1"/>
          </p:cNvSpPr>
          <p:nvPr/>
        </p:nvSpPr>
        <p:spPr bwMode="auto">
          <a:xfrm flipH="1">
            <a:off x="6636006" y="3428999"/>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60" name="フリーフォーム 10">
            <a:extLst>
              <a:ext uri="{FF2B5EF4-FFF2-40B4-BE49-F238E27FC236}">
                <a16:creationId xmlns:a16="http://schemas.microsoft.com/office/drawing/2014/main" id="{A2F2562E-EE4E-2407-F81C-7E7024A75F90}"/>
              </a:ext>
            </a:extLst>
          </p:cNvPr>
          <p:cNvSpPr>
            <a:spLocks noChangeArrowheads="1"/>
          </p:cNvSpPr>
          <p:nvPr/>
        </p:nvSpPr>
        <p:spPr bwMode="auto">
          <a:xfrm flipH="1">
            <a:off x="7446015" y="3428999"/>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61" name="Freeform 10">
            <a:extLst>
              <a:ext uri="{FF2B5EF4-FFF2-40B4-BE49-F238E27FC236}">
                <a16:creationId xmlns:a16="http://schemas.microsoft.com/office/drawing/2014/main" id="{A9E59788-9243-A055-04D1-3A872E5DA67B}"/>
              </a:ext>
            </a:extLst>
          </p:cNvPr>
          <p:cNvSpPr>
            <a:spLocks/>
          </p:cNvSpPr>
          <p:nvPr/>
        </p:nvSpPr>
        <p:spPr bwMode="auto">
          <a:xfrm rot="5400000">
            <a:off x="6231003" y="3203998"/>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62" name="Freeform 10">
            <a:extLst>
              <a:ext uri="{FF2B5EF4-FFF2-40B4-BE49-F238E27FC236}">
                <a16:creationId xmlns:a16="http://schemas.microsoft.com/office/drawing/2014/main" id="{921A573D-6A7C-9376-133D-408532B7CF04}"/>
              </a:ext>
            </a:extLst>
          </p:cNvPr>
          <p:cNvSpPr>
            <a:spLocks/>
          </p:cNvSpPr>
          <p:nvPr/>
        </p:nvSpPr>
        <p:spPr bwMode="auto">
          <a:xfrm rot="5400000" flipV="1">
            <a:off x="6681007" y="3023996"/>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63" name="Freeform 10">
            <a:extLst>
              <a:ext uri="{FF2B5EF4-FFF2-40B4-BE49-F238E27FC236}">
                <a16:creationId xmlns:a16="http://schemas.microsoft.com/office/drawing/2014/main" id="{CFB221DA-C216-6983-1BF1-909CA47BFE47}"/>
              </a:ext>
            </a:extLst>
          </p:cNvPr>
          <p:cNvSpPr>
            <a:spLocks/>
          </p:cNvSpPr>
          <p:nvPr/>
        </p:nvSpPr>
        <p:spPr bwMode="auto">
          <a:xfrm rot="5400000" flipV="1">
            <a:off x="7266015" y="2888995"/>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64" name="正方形/長方形 63">
            <a:extLst>
              <a:ext uri="{FF2B5EF4-FFF2-40B4-BE49-F238E27FC236}">
                <a16:creationId xmlns:a16="http://schemas.microsoft.com/office/drawing/2014/main" id="{A689800D-44D1-55D0-ED33-5985E102B179}"/>
              </a:ext>
            </a:extLst>
          </p:cNvPr>
          <p:cNvSpPr/>
          <p:nvPr/>
        </p:nvSpPr>
        <p:spPr bwMode="auto">
          <a:xfrm>
            <a:off x="2495961" y="1718979"/>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SISD</a:t>
            </a:r>
            <a:endParaRPr lang="ja-JP" altLang="en-US" sz="1600" dirty="0">
              <a:solidFill>
                <a:schemeClr val="tx1">
                  <a:lumMod val="75000"/>
                  <a:lumOff val="25000"/>
                </a:schemeClr>
              </a:solidFill>
              <a:latin typeface="+mn-ea"/>
            </a:endParaRPr>
          </a:p>
        </p:txBody>
      </p:sp>
      <p:sp>
        <p:nvSpPr>
          <p:cNvPr id="66" name="正方形/長方形 65">
            <a:extLst>
              <a:ext uri="{FF2B5EF4-FFF2-40B4-BE49-F238E27FC236}">
                <a16:creationId xmlns:a16="http://schemas.microsoft.com/office/drawing/2014/main" id="{047C429B-67D5-7E3B-8855-685D3AD2210B}"/>
              </a:ext>
            </a:extLst>
          </p:cNvPr>
          <p:cNvSpPr/>
          <p:nvPr/>
        </p:nvSpPr>
        <p:spPr bwMode="auto">
          <a:xfrm>
            <a:off x="5825997" y="522902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67" name="直線矢印コネクタ 66">
            <a:extLst>
              <a:ext uri="{FF2B5EF4-FFF2-40B4-BE49-F238E27FC236}">
                <a16:creationId xmlns:a16="http://schemas.microsoft.com/office/drawing/2014/main" id="{A857D8FC-F62C-8F8B-358A-06915174F125}"/>
              </a:ext>
            </a:extLst>
          </p:cNvPr>
          <p:cNvCxnSpPr>
            <a:cxnSpLocks/>
          </p:cNvCxnSpPr>
          <p:nvPr/>
        </p:nvCxnSpPr>
        <p:spPr bwMode="auto">
          <a:xfrm>
            <a:off x="6186001" y="503115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68" name="正方形/長方形 67">
            <a:extLst>
              <a:ext uri="{FF2B5EF4-FFF2-40B4-BE49-F238E27FC236}">
                <a16:creationId xmlns:a16="http://schemas.microsoft.com/office/drawing/2014/main" id="{47AF3FD2-344A-C3BE-348B-D501828132C2}"/>
              </a:ext>
            </a:extLst>
          </p:cNvPr>
          <p:cNvSpPr/>
          <p:nvPr/>
        </p:nvSpPr>
        <p:spPr bwMode="auto">
          <a:xfrm>
            <a:off x="6005999" y="468901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69" name="フリーフォーム 10">
            <a:extLst>
              <a:ext uri="{FF2B5EF4-FFF2-40B4-BE49-F238E27FC236}">
                <a16:creationId xmlns:a16="http://schemas.microsoft.com/office/drawing/2014/main" id="{DC03D7C0-6984-0109-9809-92F92314A363}"/>
              </a:ext>
            </a:extLst>
          </p:cNvPr>
          <p:cNvSpPr>
            <a:spLocks noChangeArrowheads="1"/>
          </p:cNvSpPr>
          <p:nvPr/>
        </p:nvSpPr>
        <p:spPr bwMode="auto">
          <a:xfrm flipH="1">
            <a:off x="5825997"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70" name="直線矢印コネクタ 69">
            <a:extLst>
              <a:ext uri="{FF2B5EF4-FFF2-40B4-BE49-F238E27FC236}">
                <a16:creationId xmlns:a16="http://schemas.microsoft.com/office/drawing/2014/main" id="{AC88AF91-B905-C0F7-051F-667622F6E0F0}"/>
              </a:ext>
            </a:extLst>
          </p:cNvPr>
          <p:cNvCxnSpPr>
            <a:cxnSpLocks/>
          </p:cNvCxnSpPr>
          <p:nvPr/>
        </p:nvCxnSpPr>
        <p:spPr bwMode="auto">
          <a:xfrm>
            <a:off x="6186001" y="5589024"/>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71" name="正方形/長方形 70">
            <a:extLst>
              <a:ext uri="{FF2B5EF4-FFF2-40B4-BE49-F238E27FC236}">
                <a16:creationId xmlns:a16="http://schemas.microsoft.com/office/drawing/2014/main" id="{46A0FDC3-0BA8-D2C7-285D-C06856DAC685}"/>
              </a:ext>
            </a:extLst>
          </p:cNvPr>
          <p:cNvSpPr/>
          <p:nvPr/>
        </p:nvSpPr>
        <p:spPr bwMode="auto">
          <a:xfrm>
            <a:off x="6276003" y="423900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MIMD</a:t>
            </a:r>
            <a:endParaRPr lang="ja-JP" altLang="en-US" sz="1600" dirty="0">
              <a:solidFill>
                <a:schemeClr val="tx1">
                  <a:lumMod val="75000"/>
                  <a:lumOff val="25000"/>
                </a:schemeClr>
              </a:solidFill>
              <a:latin typeface="+mn-ea"/>
            </a:endParaRPr>
          </a:p>
        </p:txBody>
      </p:sp>
      <p:sp>
        <p:nvSpPr>
          <p:cNvPr id="80" name="正方形/長方形 79">
            <a:extLst>
              <a:ext uri="{FF2B5EF4-FFF2-40B4-BE49-F238E27FC236}">
                <a16:creationId xmlns:a16="http://schemas.microsoft.com/office/drawing/2014/main" id="{4D58E3B0-ABBA-8190-8275-793E1883E468}"/>
              </a:ext>
            </a:extLst>
          </p:cNvPr>
          <p:cNvSpPr/>
          <p:nvPr/>
        </p:nvSpPr>
        <p:spPr bwMode="auto">
          <a:xfrm>
            <a:off x="5015988" y="5229020"/>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81" name="直線矢印コネクタ 80">
            <a:extLst>
              <a:ext uri="{FF2B5EF4-FFF2-40B4-BE49-F238E27FC236}">
                <a16:creationId xmlns:a16="http://schemas.microsoft.com/office/drawing/2014/main" id="{588BEAFF-1727-CAEB-FFC2-6AC63C27C0FC}"/>
              </a:ext>
            </a:extLst>
          </p:cNvPr>
          <p:cNvCxnSpPr>
            <a:cxnSpLocks/>
          </p:cNvCxnSpPr>
          <p:nvPr/>
        </p:nvCxnSpPr>
        <p:spPr bwMode="auto">
          <a:xfrm>
            <a:off x="5375992" y="5031149"/>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82" name="正方形/長方形 81">
            <a:extLst>
              <a:ext uri="{FF2B5EF4-FFF2-40B4-BE49-F238E27FC236}">
                <a16:creationId xmlns:a16="http://schemas.microsoft.com/office/drawing/2014/main" id="{93415105-490E-B18D-53AD-3B845A076FE4}"/>
              </a:ext>
            </a:extLst>
          </p:cNvPr>
          <p:cNvSpPr/>
          <p:nvPr/>
        </p:nvSpPr>
        <p:spPr bwMode="auto">
          <a:xfrm>
            <a:off x="5195990" y="4689013"/>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83" name="フリーフォーム 10">
            <a:extLst>
              <a:ext uri="{FF2B5EF4-FFF2-40B4-BE49-F238E27FC236}">
                <a16:creationId xmlns:a16="http://schemas.microsoft.com/office/drawing/2014/main" id="{680E353B-5060-9529-712B-8677C6FD8197}"/>
              </a:ext>
            </a:extLst>
          </p:cNvPr>
          <p:cNvSpPr>
            <a:spLocks noChangeArrowheads="1"/>
          </p:cNvSpPr>
          <p:nvPr/>
        </p:nvSpPr>
        <p:spPr bwMode="auto">
          <a:xfrm flipH="1">
            <a:off x="5015988" y="594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84" name="直線矢印コネクタ 83">
            <a:extLst>
              <a:ext uri="{FF2B5EF4-FFF2-40B4-BE49-F238E27FC236}">
                <a16:creationId xmlns:a16="http://schemas.microsoft.com/office/drawing/2014/main" id="{2D49EFEA-2ABF-236F-B1E1-422773546F47}"/>
              </a:ext>
            </a:extLst>
          </p:cNvPr>
          <p:cNvCxnSpPr>
            <a:cxnSpLocks/>
          </p:cNvCxnSpPr>
          <p:nvPr/>
        </p:nvCxnSpPr>
        <p:spPr bwMode="auto">
          <a:xfrm>
            <a:off x="5375992" y="5589023"/>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85" name="正方形/長方形 84">
            <a:extLst>
              <a:ext uri="{FF2B5EF4-FFF2-40B4-BE49-F238E27FC236}">
                <a16:creationId xmlns:a16="http://schemas.microsoft.com/office/drawing/2014/main" id="{E5C0DDB5-468C-D981-2B2A-FAD103FC0DC8}"/>
              </a:ext>
            </a:extLst>
          </p:cNvPr>
          <p:cNvSpPr/>
          <p:nvPr/>
        </p:nvSpPr>
        <p:spPr bwMode="auto">
          <a:xfrm>
            <a:off x="7446015" y="522902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86" name="直線矢印コネクタ 85">
            <a:extLst>
              <a:ext uri="{FF2B5EF4-FFF2-40B4-BE49-F238E27FC236}">
                <a16:creationId xmlns:a16="http://schemas.microsoft.com/office/drawing/2014/main" id="{EC8A1611-F735-8D83-B9FB-A85BE2EF91A7}"/>
              </a:ext>
            </a:extLst>
          </p:cNvPr>
          <p:cNvCxnSpPr>
            <a:cxnSpLocks/>
          </p:cNvCxnSpPr>
          <p:nvPr/>
        </p:nvCxnSpPr>
        <p:spPr bwMode="auto">
          <a:xfrm>
            <a:off x="7806019" y="503115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87" name="正方形/長方形 86">
            <a:extLst>
              <a:ext uri="{FF2B5EF4-FFF2-40B4-BE49-F238E27FC236}">
                <a16:creationId xmlns:a16="http://schemas.microsoft.com/office/drawing/2014/main" id="{DFD9099F-299E-BE21-1B61-EDF98F652371}"/>
              </a:ext>
            </a:extLst>
          </p:cNvPr>
          <p:cNvSpPr/>
          <p:nvPr/>
        </p:nvSpPr>
        <p:spPr bwMode="auto">
          <a:xfrm>
            <a:off x="7626017" y="468901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88" name="フリーフォーム 10">
            <a:extLst>
              <a:ext uri="{FF2B5EF4-FFF2-40B4-BE49-F238E27FC236}">
                <a16:creationId xmlns:a16="http://schemas.microsoft.com/office/drawing/2014/main" id="{C2B1BFFD-3626-CEA3-B393-F571A0FE7A69}"/>
              </a:ext>
            </a:extLst>
          </p:cNvPr>
          <p:cNvSpPr>
            <a:spLocks noChangeArrowheads="1"/>
          </p:cNvSpPr>
          <p:nvPr/>
        </p:nvSpPr>
        <p:spPr bwMode="auto">
          <a:xfrm flipH="1">
            <a:off x="7446015"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89" name="直線矢印コネクタ 88">
            <a:extLst>
              <a:ext uri="{FF2B5EF4-FFF2-40B4-BE49-F238E27FC236}">
                <a16:creationId xmlns:a16="http://schemas.microsoft.com/office/drawing/2014/main" id="{D83BE502-166F-455B-E5D1-77F83FB31B26}"/>
              </a:ext>
            </a:extLst>
          </p:cNvPr>
          <p:cNvCxnSpPr>
            <a:cxnSpLocks/>
          </p:cNvCxnSpPr>
          <p:nvPr/>
        </p:nvCxnSpPr>
        <p:spPr bwMode="auto">
          <a:xfrm>
            <a:off x="7806019" y="5589024"/>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0" name="正方形/長方形 89">
            <a:extLst>
              <a:ext uri="{FF2B5EF4-FFF2-40B4-BE49-F238E27FC236}">
                <a16:creationId xmlns:a16="http://schemas.microsoft.com/office/drawing/2014/main" id="{511B18CE-8B46-A9C9-A02D-418F19D9C387}"/>
              </a:ext>
            </a:extLst>
          </p:cNvPr>
          <p:cNvSpPr/>
          <p:nvPr/>
        </p:nvSpPr>
        <p:spPr bwMode="auto">
          <a:xfrm>
            <a:off x="6636006" y="5229020"/>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91" name="直線矢印コネクタ 90">
            <a:extLst>
              <a:ext uri="{FF2B5EF4-FFF2-40B4-BE49-F238E27FC236}">
                <a16:creationId xmlns:a16="http://schemas.microsoft.com/office/drawing/2014/main" id="{93052BF8-D95B-3E44-0617-A9D58DE5042A}"/>
              </a:ext>
            </a:extLst>
          </p:cNvPr>
          <p:cNvCxnSpPr>
            <a:cxnSpLocks/>
          </p:cNvCxnSpPr>
          <p:nvPr/>
        </p:nvCxnSpPr>
        <p:spPr bwMode="auto">
          <a:xfrm>
            <a:off x="6996010" y="5031149"/>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2" name="正方形/長方形 91">
            <a:extLst>
              <a:ext uri="{FF2B5EF4-FFF2-40B4-BE49-F238E27FC236}">
                <a16:creationId xmlns:a16="http://schemas.microsoft.com/office/drawing/2014/main" id="{DBABC03A-6A45-92E5-0372-666114B56D46}"/>
              </a:ext>
            </a:extLst>
          </p:cNvPr>
          <p:cNvSpPr/>
          <p:nvPr/>
        </p:nvSpPr>
        <p:spPr bwMode="auto">
          <a:xfrm>
            <a:off x="6816008" y="4689013"/>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93" name="フリーフォーム 10">
            <a:extLst>
              <a:ext uri="{FF2B5EF4-FFF2-40B4-BE49-F238E27FC236}">
                <a16:creationId xmlns:a16="http://schemas.microsoft.com/office/drawing/2014/main" id="{2629EA59-272B-CC20-6EEC-B2649468CADB}"/>
              </a:ext>
            </a:extLst>
          </p:cNvPr>
          <p:cNvSpPr>
            <a:spLocks noChangeArrowheads="1"/>
          </p:cNvSpPr>
          <p:nvPr/>
        </p:nvSpPr>
        <p:spPr bwMode="auto">
          <a:xfrm flipH="1">
            <a:off x="6636006" y="594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94" name="直線矢印コネクタ 93">
            <a:extLst>
              <a:ext uri="{FF2B5EF4-FFF2-40B4-BE49-F238E27FC236}">
                <a16:creationId xmlns:a16="http://schemas.microsoft.com/office/drawing/2014/main" id="{F6022B06-0D63-2587-5629-10866160E514}"/>
              </a:ext>
            </a:extLst>
          </p:cNvPr>
          <p:cNvCxnSpPr>
            <a:cxnSpLocks/>
          </p:cNvCxnSpPr>
          <p:nvPr/>
        </p:nvCxnSpPr>
        <p:spPr bwMode="auto">
          <a:xfrm>
            <a:off x="6996010" y="5589023"/>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5" name="正方形/長方形 94">
            <a:extLst>
              <a:ext uri="{FF2B5EF4-FFF2-40B4-BE49-F238E27FC236}">
                <a16:creationId xmlns:a16="http://schemas.microsoft.com/office/drawing/2014/main" id="{55F32294-2B71-A65F-9632-E441393E4126}"/>
              </a:ext>
            </a:extLst>
          </p:cNvPr>
          <p:cNvSpPr/>
          <p:nvPr/>
        </p:nvSpPr>
        <p:spPr bwMode="auto">
          <a:xfrm>
            <a:off x="2142308" y="5229019"/>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96" name="直線矢印コネクタ 95">
            <a:extLst>
              <a:ext uri="{FF2B5EF4-FFF2-40B4-BE49-F238E27FC236}">
                <a16:creationId xmlns:a16="http://schemas.microsoft.com/office/drawing/2014/main" id="{3CAC61E8-9A9E-32D5-42F2-6D582E82747C}"/>
              </a:ext>
            </a:extLst>
          </p:cNvPr>
          <p:cNvCxnSpPr>
            <a:cxnSpLocks/>
          </p:cNvCxnSpPr>
          <p:nvPr/>
        </p:nvCxnSpPr>
        <p:spPr bwMode="auto">
          <a:xfrm>
            <a:off x="2502312" y="5031148"/>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7" name="正方形/長方形 96">
            <a:extLst>
              <a:ext uri="{FF2B5EF4-FFF2-40B4-BE49-F238E27FC236}">
                <a16:creationId xmlns:a16="http://schemas.microsoft.com/office/drawing/2014/main" id="{6EEC328E-BC9C-5CE4-D049-F75F44BC805F}"/>
              </a:ext>
            </a:extLst>
          </p:cNvPr>
          <p:cNvSpPr/>
          <p:nvPr/>
        </p:nvSpPr>
        <p:spPr bwMode="auto">
          <a:xfrm>
            <a:off x="2322310" y="4689012"/>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100" name="正方形/長方形 99">
            <a:extLst>
              <a:ext uri="{FF2B5EF4-FFF2-40B4-BE49-F238E27FC236}">
                <a16:creationId xmlns:a16="http://schemas.microsoft.com/office/drawing/2014/main" id="{CB8514D8-10FB-D151-3EB4-F5EA8E050E23}"/>
              </a:ext>
            </a:extLst>
          </p:cNvPr>
          <p:cNvSpPr/>
          <p:nvPr/>
        </p:nvSpPr>
        <p:spPr bwMode="auto">
          <a:xfrm>
            <a:off x="2592314" y="4239006"/>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MISD</a:t>
            </a:r>
            <a:endParaRPr lang="ja-JP" altLang="en-US" sz="1600" dirty="0">
              <a:solidFill>
                <a:schemeClr val="tx1">
                  <a:lumMod val="75000"/>
                  <a:lumOff val="25000"/>
                </a:schemeClr>
              </a:solidFill>
              <a:latin typeface="+mn-ea"/>
            </a:endParaRPr>
          </a:p>
        </p:txBody>
      </p:sp>
      <p:sp>
        <p:nvSpPr>
          <p:cNvPr id="101" name="正方形/長方形 100">
            <a:extLst>
              <a:ext uri="{FF2B5EF4-FFF2-40B4-BE49-F238E27FC236}">
                <a16:creationId xmlns:a16="http://schemas.microsoft.com/office/drawing/2014/main" id="{E3EBFC20-72F5-42D0-DB5D-43ABB2E0173A}"/>
              </a:ext>
            </a:extLst>
          </p:cNvPr>
          <p:cNvSpPr/>
          <p:nvPr/>
        </p:nvSpPr>
        <p:spPr bwMode="auto">
          <a:xfrm>
            <a:off x="1332299" y="5229018"/>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102" name="直線矢印コネクタ 101">
            <a:extLst>
              <a:ext uri="{FF2B5EF4-FFF2-40B4-BE49-F238E27FC236}">
                <a16:creationId xmlns:a16="http://schemas.microsoft.com/office/drawing/2014/main" id="{73650A82-D2E3-D0E3-B8C8-B839A2E404F8}"/>
              </a:ext>
            </a:extLst>
          </p:cNvPr>
          <p:cNvCxnSpPr>
            <a:cxnSpLocks/>
          </p:cNvCxnSpPr>
          <p:nvPr/>
        </p:nvCxnSpPr>
        <p:spPr bwMode="auto">
          <a:xfrm>
            <a:off x="1692303" y="5031147"/>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03" name="正方形/長方形 102">
            <a:extLst>
              <a:ext uri="{FF2B5EF4-FFF2-40B4-BE49-F238E27FC236}">
                <a16:creationId xmlns:a16="http://schemas.microsoft.com/office/drawing/2014/main" id="{12AD0E6E-C979-8CBC-8948-9539F7A2AD11}"/>
              </a:ext>
            </a:extLst>
          </p:cNvPr>
          <p:cNvSpPr/>
          <p:nvPr/>
        </p:nvSpPr>
        <p:spPr bwMode="auto">
          <a:xfrm>
            <a:off x="1512301" y="4689011"/>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106" name="正方形/長方形 105">
            <a:extLst>
              <a:ext uri="{FF2B5EF4-FFF2-40B4-BE49-F238E27FC236}">
                <a16:creationId xmlns:a16="http://schemas.microsoft.com/office/drawing/2014/main" id="{560D0F08-D35C-D8F7-9A4B-87F7D75614E3}"/>
              </a:ext>
            </a:extLst>
          </p:cNvPr>
          <p:cNvSpPr/>
          <p:nvPr/>
        </p:nvSpPr>
        <p:spPr bwMode="auto">
          <a:xfrm>
            <a:off x="3762326" y="5229019"/>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107" name="直線矢印コネクタ 106">
            <a:extLst>
              <a:ext uri="{FF2B5EF4-FFF2-40B4-BE49-F238E27FC236}">
                <a16:creationId xmlns:a16="http://schemas.microsoft.com/office/drawing/2014/main" id="{D2EF91C3-F06D-B230-91E9-8A96056FFEB0}"/>
              </a:ext>
            </a:extLst>
          </p:cNvPr>
          <p:cNvCxnSpPr>
            <a:cxnSpLocks/>
          </p:cNvCxnSpPr>
          <p:nvPr/>
        </p:nvCxnSpPr>
        <p:spPr bwMode="auto">
          <a:xfrm>
            <a:off x="4122330" y="5031148"/>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08" name="正方形/長方形 107">
            <a:extLst>
              <a:ext uri="{FF2B5EF4-FFF2-40B4-BE49-F238E27FC236}">
                <a16:creationId xmlns:a16="http://schemas.microsoft.com/office/drawing/2014/main" id="{520313A6-2186-F241-3F3C-2908E3DE2005}"/>
              </a:ext>
            </a:extLst>
          </p:cNvPr>
          <p:cNvSpPr/>
          <p:nvPr/>
        </p:nvSpPr>
        <p:spPr bwMode="auto">
          <a:xfrm>
            <a:off x="3942328" y="4689012"/>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109" name="フリーフォーム 10">
            <a:extLst>
              <a:ext uri="{FF2B5EF4-FFF2-40B4-BE49-F238E27FC236}">
                <a16:creationId xmlns:a16="http://schemas.microsoft.com/office/drawing/2014/main" id="{CC2804DD-D60B-67B0-0FA6-A1B331F3037E}"/>
              </a:ext>
            </a:extLst>
          </p:cNvPr>
          <p:cNvSpPr>
            <a:spLocks noChangeArrowheads="1"/>
          </p:cNvSpPr>
          <p:nvPr/>
        </p:nvSpPr>
        <p:spPr bwMode="auto">
          <a:xfrm flipH="1">
            <a:off x="2495960"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110" name="直線矢印コネクタ 109">
            <a:extLst>
              <a:ext uri="{FF2B5EF4-FFF2-40B4-BE49-F238E27FC236}">
                <a16:creationId xmlns:a16="http://schemas.microsoft.com/office/drawing/2014/main" id="{E84113F0-8910-B648-4A0D-34E5FC8206D3}"/>
              </a:ext>
            </a:extLst>
          </p:cNvPr>
          <p:cNvCxnSpPr>
            <a:cxnSpLocks/>
          </p:cNvCxnSpPr>
          <p:nvPr/>
        </p:nvCxnSpPr>
        <p:spPr bwMode="auto">
          <a:xfrm>
            <a:off x="2855964" y="5679026"/>
            <a:ext cx="0" cy="270003"/>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11" name="正方形/長方形 110">
            <a:extLst>
              <a:ext uri="{FF2B5EF4-FFF2-40B4-BE49-F238E27FC236}">
                <a16:creationId xmlns:a16="http://schemas.microsoft.com/office/drawing/2014/main" id="{8ACC1F28-AE79-BC9E-5A67-23F3393CD506}"/>
              </a:ext>
            </a:extLst>
          </p:cNvPr>
          <p:cNvSpPr/>
          <p:nvPr/>
        </p:nvSpPr>
        <p:spPr bwMode="auto">
          <a:xfrm>
            <a:off x="2952317" y="5229018"/>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112" name="直線矢印コネクタ 111">
            <a:extLst>
              <a:ext uri="{FF2B5EF4-FFF2-40B4-BE49-F238E27FC236}">
                <a16:creationId xmlns:a16="http://schemas.microsoft.com/office/drawing/2014/main" id="{A13C3338-A4FE-27E8-CC71-AE62E4C12E2D}"/>
              </a:ext>
            </a:extLst>
          </p:cNvPr>
          <p:cNvCxnSpPr>
            <a:cxnSpLocks/>
          </p:cNvCxnSpPr>
          <p:nvPr/>
        </p:nvCxnSpPr>
        <p:spPr bwMode="auto">
          <a:xfrm>
            <a:off x="3312321" y="5031147"/>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13" name="正方形/長方形 112">
            <a:extLst>
              <a:ext uri="{FF2B5EF4-FFF2-40B4-BE49-F238E27FC236}">
                <a16:creationId xmlns:a16="http://schemas.microsoft.com/office/drawing/2014/main" id="{FCC12FBB-47F4-35F6-B55F-6B9B0B114752}"/>
              </a:ext>
            </a:extLst>
          </p:cNvPr>
          <p:cNvSpPr/>
          <p:nvPr/>
        </p:nvSpPr>
        <p:spPr bwMode="auto">
          <a:xfrm>
            <a:off x="3132319" y="4689011"/>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116" name="Freeform 10">
            <a:extLst>
              <a:ext uri="{FF2B5EF4-FFF2-40B4-BE49-F238E27FC236}">
                <a16:creationId xmlns:a16="http://schemas.microsoft.com/office/drawing/2014/main" id="{E8704260-0DD1-BE45-581E-98B3DDB92824}"/>
              </a:ext>
            </a:extLst>
          </p:cNvPr>
          <p:cNvSpPr>
            <a:spLocks/>
          </p:cNvSpPr>
          <p:nvPr/>
        </p:nvSpPr>
        <p:spPr bwMode="auto">
          <a:xfrm>
            <a:off x="1685951" y="5589025"/>
            <a:ext cx="1260014"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20" name="Freeform 10">
            <a:extLst>
              <a:ext uri="{FF2B5EF4-FFF2-40B4-BE49-F238E27FC236}">
                <a16:creationId xmlns:a16="http://schemas.microsoft.com/office/drawing/2014/main" id="{A6059295-CD61-F1C9-70D2-182C852DC9C8}"/>
              </a:ext>
            </a:extLst>
          </p:cNvPr>
          <p:cNvSpPr>
            <a:spLocks/>
          </p:cNvSpPr>
          <p:nvPr/>
        </p:nvSpPr>
        <p:spPr bwMode="auto">
          <a:xfrm>
            <a:off x="2495960" y="5589025"/>
            <a:ext cx="450006"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21" name="Freeform 10">
            <a:extLst>
              <a:ext uri="{FF2B5EF4-FFF2-40B4-BE49-F238E27FC236}">
                <a16:creationId xmlns:a16="http://schemas.microsoft.com/office/drawing/2014/main" id="{AC530BCF-1D78-A19D-92A6-C53062B89883}"/>
              </a:ext>
            </a:extLst>
          </p:cNvPr>
          <p:cNvSpPr>
            <a:spLocks/>
          </p:cNvSpPr>
          <p:nvPr/>
        </p:nvSpPr>
        <p:spPr bwMode="auto">
          <a:xfrm flipH="1">
            <a:off x="2945965" y="5589025"/>
            <a:ext cx="360003"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22" name="Freeform 10">
            <a:extLst>
              <a:ext uri="{FF2B5EF4-FFF2-40B4-BE49-F238E27FC236}">
                <a16:creationId xmlns:a16="http://schemas.microsoft.com/office/drawing/2014/main" id="{9E7F2EF3-2A23-1469-0C40-9AA3FDA92F91}"/>
              </a:ext>
            </a:extLst>
          </p:cNvPr>
          <p:cNvSpPr>
            <a:spLocks/>
          </p:cNvSpPr>
          <p:nvPr/>
        </p:nvSpPr>
        <p:spPr bwMode="auto">
          <a:xfrm flipH="1">
            <a:off x="3215967" y="5589025"/>
            <a:ext cx="900010"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24" name="正方形/長方形 123">
            <a:extLst>
              <a:ext uri="{FF2B5EF4-FFF2-40B4-BE49-F238E27FC236}">
                <a16:creationId xmlns:a16="http://schemas.microsoft.com/office/drawing/2014/main" id="{9CB59B56-A768-85BD-F209-FA0E21DD87B4}"/>
              </a:ext>
            </a:extLst>
          </p:cNvPr>
          <p:cNvSpPr/>
          <p:nvPr/>
        </p:nvSpPr>
        <p:spPr bwMode="auto">
          <a:xfrm>
            <a:off x="4025978" y="998973"/>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データ流の数</a:t>
            </a:r>
          </a:p>
        </p:txBody>
      </p:sp>
      <p:sp>
        <p:nvSpPr>
          <p:cNvPr id="125" name="正方形/長方形 124">
            <a:extLst>
              <a:ext uri="{FF2B5EF4-FFF2-40B4-BE49-F238E27FC236}">
                <a16:creationId xmlns:a16="http://schemas.microsoft.com/office/drawing/2014/main" id="{A4AB2979-E5FE-AC10-0312-2B22A48B77BE}"/>
              </a:ext>
            </a:extLst>
          </p:cNvPr>
          <p:cNvSpPr/>
          <p:nvPr/>
        </p:nvSpPr>
        <p:spPr bwMode="auto">
          <a:xfrm>
            <a:off x="2495961" y="1358977"/>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１つ</a:t>
            </a:r>
          </a:p>
        </p:txBody>
      </p:sp>
      <p:sp>
        <p:nvSpPr>
          <p:cNvPr id="126" name="正方形/長方形 125">
            <a:extLst>
              <a:ext uri="{FF2B5EF4-FFF2-40B4-BE49-F238E27FC236}">
                <a16:creationId xmlns:a16="http://schemas.microsoft.com/office/drawing/2014/main" id="{042925D5-D731-07F9-4A63-CF1017237829}"/>
              </a:ext>
            </a:extLst>
          </p:cNvPr>
          <p:cNvSpPr/>
          <p:nvPr/>
        </p:nvSpPr>
        <p:spPr bwMode="auto">
          <a:xfrm>
            <a:off x="6276003" y="1358977"/>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複数</a:t>
            </a:r>
          </a:p>
        </p:txBody>
      </p:sp>
      <p:sp>
        <p:nvSpPr>
          <p:cNvPr id="127" name="正方形/長方形 126">
            <a:extLst>
              <a:ext uri="{FF2B5EF4-FFF2-40B4-BE49-F238E27FC236}">
                <a16:creationId xmlns:a16="http://schemas.microsoft.com/office/drawing/2014/main" id="{2BF289BA-12E6-8E38-A80E-52390EA4FE22}"/>
              </a:ext>
            </a:extLst>
          </p:cNvPr>
          <p:cNvSpPr/>
          <p:nvPr/>
        </p:nvSpPr>
        <p:spPr bwMode="auto">
          <a:xfrm rot="16200000">
            <a:off x="200937" y="419400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命令流の数</a:t>
            </a:r>
          </a:p>
        </p:txBody>
      </p:sp>
      <p:sp>
        <p:nvSpPr>
          <p:cNvPr id="128" name="正方形/長方形 127">
            <a:extLst>
              <a:ext uri="{FF2B5EF4-FFF2-40B4-BE49-F238E27FC236}">
                <a16:creationId xmlns:a16="http://schemas.microsoft.com/office/drawing/2014/main" id="{0D80FFEB-0EC2-9FD3-AEAD-3D5391C9A6EF}"/>
              </a:ext>
            </a:extLst>
          </p:cNvPr>
          <p:cNvSpPr/>
          <p:nvPr/>
        </p:nvSpPr>
        <p:spPr bwMode="auto">
          <a:xfrm rot="16200000">
            <a:off x="650942" y="2573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１つ</a:t>
            </a:r>
          </a:p>
        </p:txBody>
      </p:sp>
      <p:sp>
        <p:nvSpPr>
          <p:cNvPr id="129" name="正方形/長方形 128">
            <a:extLst>
              <a:ext uri="{FF2B5EF4-FFF2-40B4-BE49-F238E27FC236}">
                <a16:creationId xmlns:a16="http://schemas.microsoft.com/office/drawing/2014/main" id="{04F028F8-212F-3BD2-E805-C49565998D92}"/>
              </a:ext>
            </a:extLst>
          </p:cNvPr>
          <p:cNvSpPr/>
          <p:nvPr/>
        </p:nvSpPr>
        <p:spPr bwMode="auto">
          <a:xfrm rot="16200000">
            <a:off x="740941" y="5184019"/>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複数</a:t>
            </a:r>
          </a:p>
        </p:txBody>
      </p:sp>
      <p:cxnSp>
        <p:nvCxnSpPr>
          <p:cNvPr id="131" name="直線コネクタ 130">
            <a:extLst>
              <a:ext uri="{FF2B5EF4-FFF2-40B4-BE49-F238E27FC236}">
                <a16:creationId xmlns:a16="http://schemas.microsoft.com/office/drawing/2014/main" id="{7F3DB055-BF04-0155-B158-7D2D288A1E12}"/>
              </a:ext>
            </a:extLst>
          </p:cNvPr>
          <p:cNvCxnSpPr/>
          <p:nvPr/>
        </p:nvCxnSpPr>
        <p:spPr bwMode="auto">
          <a:xfrm>
            <a:off x="605939" y="1628980"/>
            <a:ext cx="7920088" cy="0"/>
          </a:xfrm>
          <a:prstGeom prst="line">
            <a:avLst/>
          </a:prstGeom>
          <a:noFill/>
          <a:ln w="9525" cap="flat" cmpd="sng" algn="ctr">
            <a:solidFill>
              <a:schemeClr val="bg1">
                <a:lumMod val="50000"/>
              </a:schemeClr>
            </a:solidFill>
            <a:prstDash val="solid"/>
            <a:round/>
            <a:headEnd type="none" w="med" len="med"/>
            <a:tailEnd type="none" w="med" len="med"/>
          </a:ln>
          <a:effectLst/>
        </p:spPr>
      </p:cxnSp>
      <p:cxnSp>
        <p:nvCxnSpPr>
          <p:cNvPr id="132" name="直線コネクタ 131">
            <a:extLst>
              <a:ext uri="{FF2B5EF4-FFF2-40B4-BE49-F238E27FC236}">
                <a16:creationId xmlns:a16="http://schemas.microsoft.com/office/drawing/2014/main" id="{77AEB953-A53E-31F1-3DB7-27EBEF2E46D6}"/>
              </a:ext>
            </a:extLst>
          </p:cNvPr>
          <p:cNvCxnSpPr>
            <a:cxnSpLocks/>
          </p:cNvCxnSpPr>
          <p:nvPr/>
        </p:nvCxnSpPr>
        <p:spPr bwMode="auto">
          <a:xfrm flipV="1">
            <a:off x="1145945" y="1268976"/>
            <a:ext cx="0" cy="5040056"/>
          </a:xfrm>
          <a:prstGeom prst="line">
            <a:avLst/>
          </a:prstGeom>
          <a:noFill/>
          <a:ln w="9525" cap="flat" cmpd="sng" algn="ctr">
            <a:solidFill>
              <a:schemeClr val="bg1">
                <a:lumMod val="50000"/>
              </a:schemeClr>
            </a:solidFill>
            <a:prstDash val="solid"/>
            <a:round/>
            <a:headEnd type="none" w="med" len="med"/>
            <a:tailEnd type="none" w="med" len="med"/>
          </a:ln>
          <a:effectLst/>
        </p:spPr>
      </p:cxnSp>
      <p:cxnSp>
        <p:nvCxnSpPr>
          <p:cNvPr id="135" name="直線コネクタ 134">
            <a:extLst>
              <a:ext uri="{FF2B5EF4-FFF2-40B4-BE49-F238E27FC236}">
                <a16:creationId xmlns:a16="http://schemas.microsoft.com/office/drawing/2014/main" id="{2A301EE6-C023-E361-EACD-FE8BFA1AD473}"/>
              </a:ext>
            </a:extLst>
          </p:cNvPr>
          <p:cNvCxnSpPr>
            <a:cxnSpLocks/>
          </p:cNvCxnSpPr>
          <p:nvPr/>
        </p:nvCxnSpPr>
        <p:spPr bwMode="auto">
          <a:xfrm flipV="1">
            <a:off x="4745985" y="1358977"/>
            <a:ext cx="0" cy="5040056"/>
          </a:xfrm>
          <a:prstGeom prst="line">
            <a:avLst/>
          </a:prstGeom>
          <a:noFill/>
          <a:ln w="9525" cap="flat" cmpd="sng" algn="ctr">
            <a:solidFill>
              <a:schemeClr val="bg1">
                <a:lumMod val="50000"/>
              </a:schemeClr>
            </a:solidFill>
            <a:prstDash val="solid"/>
            <a:round/>
            <a:headEnd type="none" w="med" len="med"/>
            <a:tailEnd type="none" w="med" len="med"/>
          </a:ln>
          <a:effectLst/>
        </p:spPr>
      </p:cxnSp>
      <p:cxnSp>
        <p:nvCxnSpPr>
          <p:cNvPr id="136" name="直線コネクタ 135">
            <a:extLst>
              <a:ext uri="{FF2B5EF4-FFF2-40B4-BE49-F238E27FC236}">
                <a16:creationId xmlns:a16="http://schemas.microsoft.com/office/drawing/2014/main" id="{1986B10A-D68A-1B8B-1783-D488D9152E70}"/>
              </a:ext>
            </a:extLst>
          </p:cNvPr>
          <p:cNvCxnSpPr/>
          <p:nvPr/>
        </p:nvCxnSpPr>
        <p:spPr bwMode="auto">
          <a:xfrm>
            <a:off x="605939" y="4059007"/>
            <a:ext cx="7920088" cy="0"/>
          </a:xfrm>
          <a:prstGeom prst="line">
            <a:avLst/>
          </a:prstGeom>
          <a:noFill/>
          <a:ln w="9525" cap="flat" cmpd="sng" algn="ctr">
            <a:solidFill>
              <a:schemeClr val="bg1">
                <a:lumMod val="50000"/>
              </a:schemeClr>
            </a:solidFill>
            <a:prstDash val="solid"/>
            <a:round/>
            <a:headEnd type="none" w="med" len="med"/>
            <a:tailEnd type="none" w="med" len="med"/>
          </a:ln>
          <a:effectLst/>
        </p:spPr>
      </p:cxnSp>
      <p:sp>
        <p:nvSpPr>
          <p:cNvPr id="137" name="正方形/長方形 136">
            <a:extLst>
              <a:ext uri="{FF2B5EF4-FFF2-40B4-BE49-F238E27FC236}">
                <a16:creationId xmlns:a16="http://schemas.microsoft.com/office/drawing/2014/main" id="{6331EEEF-0383-DA30-49F0-F63C77C8016F}"/>
              </a:ext>
            </a:extLst>
          </p:cNvPr>
          <p:cNvSpPr/>
          <p:nvPr/>
        </p:nvSpPr>
        <p:spPr bwMode="auto">
          <a:xfrm>
            <a:off x="6276003"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5"/>
                </a:solidFill>
                <a:latin typeface="+mn-ea"/>
              </a:rPr>
              <a:t>SIMD</a:t>
            </a:r>
            <a:endParaRPr lang="ja-JP" altLang="en-US" sz="1600" b="1" dirty="0">
              <a:solidFill>
                <a:schemeClr val="accent5"/>
              </a:solidFill>
              <a:latin typeface="+mn-ea"/>
            </a:endParaRPr>
          </a:p>
        </p:txBody>
      </p:sp>
      <p:sp>
        <p:nvSpPr>
          <p:cNvPr id="138" name="正方形/長方形 137">
            <a:extLst>
              <a:ext uri="{FF2B5EF4-FFF2-40B4-BE49-F238E27FC236}">
                <a16:creationId xmlns:a16="http://schemas.microsoft.com/office/drawing/2014/main" id="{35E300DE-269C-DF7B-B1FC-2963D0538628}"/>
              </a:ext>
            </a:extLst>
          </p:cNvPr>
          <p:cNvSpPr/>
          <p:nvPr/>
        </p:nvSpPr>
        <p:spPr bwMode="auto">
          <a:xfrm>
            <a:off x="6276003" y="4239009"/>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MIMD</a:t>
            </a:r>
            <a:endParaRPr lang="ja-JP" altLang="en-US" sz="1600" dirty="0">
              <a:solidFill>
                <a:schemeClr val="tx1">
                  <a:lumMod val="75000"/>
                  <a:lumOff val="25000"/>
                </a:schemeClr>
              </a:solidFill>
              <a:latin typeface="+mn-ea"/>
            </a:endParaRPr>
          </a:p>
        </p:txBody>
      </p:sp>
      <p:sp>
        <p:nvSpPr>
          <p:cNvPr id="3" name="テキスト プレースホルダー 2">
            <a:extLst>
              <a:ext uri="{FF2B5EF4-FFF2-40B4-BE49-F238E27FC236}">
                <a16:creationId xmlns:a16="http://schemas.microsoft.com/office/drawing/2014/main" id="{B34014D9-84D8-C52A-1D1D-FB736047D829}"/>
              </a:ext>
            </a:extLst>
          </p:cNvPr>
          <p:cNvSpPr>
            <a:spLocks noGrp="1"/>
          </p:cNvSpPr>
          <p:nvPr>
            <p:ph type="body" sz="quarter" idx="10"/>
          </p:nvPr>
        </p:nvSpPr>
        <p:spPr>
          <a:xfrm>
            <a:off x="8346026" y="1178974"/>
            <a:ext cx="3690040" cy="5310059"/>
          </a:xfrm>
        </p:spPr>
        <p:txBody>
          <a:bodyPr/>
          <a:lstStyle/>
          <a:p>
            <a:r>
              <a:rPr kumimoji="1" lang="ja-JP" altLang="en-US" sz="1800" dirty="0"/>
              <a:t>カレー屋さんとの対応</a:t>
            </a:r>
            <a:endParaRPr kumimoji="1" lang="en-US" altLang="ja-JP" sz="1800" dirty="0"/>
          </a:p>
          <a:p>
            <a:pPr lvl="1"/>
            <a:r>
              <a:rPr kumimoji="1" lang="en-US" altLang="ja-JP" sz="1800" dirty="0"/>
              <a:t>PC:</a:t>
            </a:r>
            <a:r>
              <a:rPr lang="ja-JP" altLang="en-US" sz="1800" dirty="0"/>
              <a:t> レシピ上の今やってるところ（しおり）</a:t>
            </a:r>
            <a:endParaRPr lang="en-US" altLang="ja-JP" sz="1800" dirty="0"/>
          </a:p>
          <a:p>
            <a:pPr lvl="1"/>
            <a:r>
              <a:rPr kumimoji="1" lang="ja-JP" altLang="en-US" sz="1800" dirty="0"/>
              <a:t>命令メモリ：レシピ</a:t>
            </a:r>
            <a:endParaRPr kumimoji="1" lang="en-US" altLang="ja-JP" sz="1800" dirty="0"/>
          </a:p>
          <a:p>
            <a:pPr lvl="1"/>
            <a:r>
              <a:rPr kumimoji="1" lang="ja-JP" altLang="en-US" sz="1800" dirty="0"/>
              <a:t>演算器：　　シェフ</a:t>
            </a:r>
            <a:endParaRPr kumimoji="1" lang="en-US" altLang="ja-JP" sz="1800" dirty="0"/>
          </a:p>
        </p:txBody>
      </p:sp>
    </p:spTree>
    <p:extLst>
      <p:ext uri="{BB962C8B-B14F-4D97-AF65-F5344CB8AC3E}">
        <p14:creationId xmlns:p14="http://schemas.microsoft.com/office/powerpoint/2010/main" val="27379569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6928-E4AC-D43C-5712-51ADCE7DA59C}"/>
              </a:ext>
            </a:extLst>
          </p:cNvPr>
          <p:cNvSpPr>
            <a:spLocks noGrp="1"/>
          </p:cNvSpPr>
          <p:nvPr>
            <p:ph type="title"/>
          </p:nvPr>
        </p:nvSpPr>
        <p:spPr/>
        <p:txBody>
          <a:bodyPr/>
          <a:lstStyle/>
          <a:p>
            <a:r>
              <a:rPr lang="en-US" altLang="ja-JP" sz="2400" dirty="0"/>
              <a:t>SISD</a:t>
            </a:r>
            <a:r>
              <a:rPr lang="ja-JP" altLang="en-US" sz="2400" dirty="0"/>
              <a:t>（</a:t>
            </a:r>
            <a:r>
              <a:rPr lang="en-US" altLang="ja-JP" sz="2400" dirty="0"/>
              <a:t>Single Instruction stream/Single Data stream</a:t>
            </a:r>
            <a:r>
              <a:rPr lang="ja-JP" altLang="en-US" sz="2400" dirty="0"/>
              <a:t>）</a:t>
            </a:r>
          </a:p>
        </p:txBody>
      </p:sp>
      <p:sp>
        <p:nvSpPr>
          <p:cNvPr id="3" name="テキスト プレースホルダー 2">
            <a:extLst>
              <a:ext uri="{FF2B5EF4-FFF2-40B4-BE49-F238E27FC236}">
                <a16:creationId xmlns:a16="http://schemas.microsoft.com/office/drawing/2014/main" id="{8FD7964B-5D08-C0D0-086D-C6B016DE5D09}"/>
              </a:ext>
            </a:extLst>
          </p:cNvPr>
          <p:cNvSpPr>
            <a:spLocks noGrp="1"/>
          </p:cNvSpPr>
          <p:nvPr>
            <p:ph type="body" sz="quarter" idx="10"/>
          </p:nvPr>
        </p:nvSpPr>
        <p:spPr>
          <a:xfrm>
            <a:off x="1415948" y="3429000"/>
            <a:ext cx="9360104" cy="2789724"/>
          </a:xfrm>
        </p:spPr>
        <p:txBody>
          <a:bodyPr/>
          <a:lstStyle/>
          <a:p>
            <a:r>
              <a:rPr kumimoji="1" lang="ja-JP" altLang="en-US" dirty="0"/>
              <a:t>１つの命令流が１つのデータ流を処理する方式</a:t>
            </a:r>
            <a:endParaRPr kumimoji="1" lang="en-US" altLang="ja-JP" dirty="0"/>
          </a:p>
          <a:p>
            <a:pPr lvl="1"/>
            <a:r>
              <a:rPr kumimoji="1" lang="ja-JP" altLang="en-US" dirty="0"/>
              <a:t>動作：</a:t>
            </a:r>
            <a:endParaRPr kumimoji="1" lang="en-US" altLang="ja-JP" dirty="0"/>
          </a:p>
          <a:p>
            <a:pPr lvl="2"/>
            <a:r>
              <a:rPr kumimoji="1" lang="ja-JP" altLang="en-US" dirty="0"/>
              <a:t>同時に１つのプログラム（命令の流れ）を実行</a:t>
            </a:r>
            <a:endParaRPr kumimoji="1" lang="en-US" altLang="ja-JP" dirty="0"/>
          </a:p>
          <a:p>
            <a:pPr lvl="2"/>
            <a:r>
              <a:rPr kumimoji="1" lang="ja-JP" altLang="en-US" dirty="0"/>
              <a:t>それぞれの命令は１つのデータを演算</a:t>
            </a:r>
            <a:endParaRPr kumimoji="1" lang="en-US" altLang="ja-JP" dirty="0"/>
          </a:p>
          <a:p>
            <a:pPr lvl="1"/>
            <a:r>
              <a:rPr kumimoji="1" lang="ja-JP" altLang="en-US" dirty="0"/>
              <a:t>典型的にはシングルコア </a:t>
            </a:r>
            <a:r>
              <a:rPr kumimoji="1" lang="en-US" altLang="ja-JP" dirty="0"/>
              <a:t>CPU </a:t>
            </a:r>
            <a:r>
              <a:rPr kumimoji="1" lang="ja-JP" altLang="en-US" dirty="0"/>
              <a:t>がこれに該当</a:t>
            </a:r>
            <a:endParaRPr kumimoji="1" lang="en-US" altLang="ja-JP" dirty="0"/>
          </a:p>
        </p:txBody>
      </p:sp>
      <p:sp>
        <p:nvSpPr>
          <p:cNvPr id="4" name="正方形/長方形 3">
            <a:extLst>
              <a:ext uri="{FF2B5EF4-FFF2-40B4-BE49-F238E27FC236}">
                <a16:creationId xmlns:a16="http://schemas.microsoft.com/office/drawing/2014/main" id="{96450B57-95A7-C467-5A84-504393746CEF}"/>
              </a:ext>
            </a:extLst>
          </p:cNvPr>
          <p:cNvSpPr/>
          <p:nvPr/>
        </p:nvSpPr>
        <p:spPr bwMode="auto">
          <a:xfrm>
            <a:off x="5735996" y="162898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5" name="直線矢印コネクタ 4">
            <a:extLst>
              <a:ext uri="{FF2B5EF4-FFF2-40B4-BE49-F238E27FC236}">
                <a16:creationId xmlns:a16="http://schemas.microsoft.com/office/drawing/2014/main" id="{9E05AC79-A6A8-40C5-58A8-E6C08BAEE0A1}"/>
              </a:ext>
            </a:extLst>
          </p:cNvPr>
          <p:cNvCxnSpPr>
            <a:cxnSpLocks/>
          </p:cNvCxnSpPr>
          <p:nvPr/>
        </p:nvCxnSpPr>
        <p:spPr bwMode="auto">
          <a:xfrm>
            <a:off x="6096000" y="143111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6" name="正方形/長方形 5">
            <a:extLst>
              <a:ext uri="{FF2B5EF4-FFF2-40B4-BE49-F238E27FC236}">
                <a16:creationId xmlns:a16="http://schemas.microsoft.com/office/drawing/2014/main" id="{1744B6C1-1FFD-3851-A29D-E8AEA23047B7}"/>
              </a:ext>
            </a:extLst>
          </p:cNvPr>
          <p:cNvSpPr/>
          <p:nvPr/>
        </p:nvSpPr>
        <p:spPr bwMode="auto">
          <a:xfrm>
            <a:off x="5915998" y="108897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7" name="フリーフォーム 10">
            <a:extLst>
              <a:ext uri="{FF2B5EF4-FFF2-40B4-BE49-F238E27FC236}">
                <a16:creationId xmlns:a16="http://schemas.microsoft.com/office/drawing/2014/main" id="{C71BEDD6-0BF8-749C-6850-B482856556F5}"/>
              </a:ext>
            </a:extLst>
          </p:cNvPr>
          <p:cNvSpPr>
            <a:spLocks noChangeArrowheads="1"/>
          </p:cNvSpPr>
          <p:nvPr/>
        </p:nvSpPr>
        <p:spPr bwMode="auto">
          <a:xfrm flipH="1">
            <a:off x="5735996"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8" name="直線矢印コネクタ 7">
            <a:extLst>
              <a:ext uri="{FF2B5EF4-FFF2-40B4-BE49-F238E27FC236}">
                <a16:creationId xmlns:a16="http://schemas.microsoft.com/office/drawing/2014/main" id="{F99C49E6-E942-3E0C-540C-1A2B6EE09417}"/>
              </a:ext>
            </a:extLst>
          </p:cNvPr>
          <p:cNvCxnSpPr>
            <a:cxnSpLocks/>
          </p:cNvCxnSpPr>
          <p:nvPr/>
        </p:nvCxnSpPr>
        <p:spPr bwMode="auto">
          <a:xfrm>
            <a:off x="6096000" y="1988985"/>
            <a:ext cx="0" cy="360003"/>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4254024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6928-E4AC-D43C-5712-51ADCE7DA59C}"/>
              </a:ext>
            </a:extLst>
          </p:cNvPr>
          <p:cNvSpPr>
            <a:spLocks noGrp="1"/>
          </p:cNvSpPr>
          <p:nvPr>
            <p:ph type="title"/>
          </p:nvPr>
        </p:nvSpPr>
        <p:spPr/>
        <p:txBody>
          <a:bodyPr/>
          <a:lstStyle/>
          <a:p>
            <a:r>
              <a:rPr lang="en-US" altLang="ja-JP" sz="2400" dirty="0"/>
              <a:t>SIMD</a:t>
            </a:r>
            <a:r>
              <a:rPr lang="ja-JP" altLang="en-US" sz="2400" dirty="0"/>
              <a:t>（</a:t>
            </a:r>
            <a:r>
              <a:rPr lang="en-US" altLang="ja-JP" sz="2400" dirty="0"/>
              <a:t>Single Instruction stream/Multiple Data stream</a:t>
            </a:r>
            <a:r>
              <a:rPr lang="ja-JP" altLang="en-US" sz="2400" dirty="0"/>
              <a:t>）</a:t>
            </a:r>
          </a:p>
        </p:txBody>
      </p:sp>
      <p:sp>
        <p:nvSpPr>
          <p:cNvPr id="3" name="テキスト プレースホルダー 2">
            <a:extLst>
              <a:ext uri="{FF2B5EF4-FFF2-40B4-BE49-F238E27FC236}">
                <a16:creationId xmlns:a16="http://schemas.microsoft.com/office/drawing/2014/main" id="{8FD7964B-5D08-C0D0-086D-C6B016DE5D09}"/>
              </a:ext>
            </a:extLst>
          </p:cNvPr>
          <p:cNvSpPr>
            <a:spLocks noGrp="1"/>
          </p:cNvSpPr>
          <p:nvPr>
            <p:ph type="body" sz="quarter" idx="10"/>
          </p:nvPr>
        </p:nvSpPr>
        <p:spPr>
          <a:xfrm>
            <a:off x="2135956" y="3068996"/>
            <a:ext cx="8280092" cy="3329730"/>
          </a:xfrm>
        </p:spPr>
        <p:txBody>
          <a:bodyPr/>
          <a:lstStyle/>
          <a:p>
            <a:r>
              <a:rPr kumimoji="1" lang="ja-JP" altLang="en-US" dirty="0"/>
              <a:t>１つの命令の流れが複数のデータの流れを処理する方式</a:t>
            </a:r>
            <a:endParaRPr kumimoji="1" lang="en-US" altLang="ja-JP" dirty="0"/>
          </a:p>
          <a:p>
            <a:pPr lvl="1"/>
            <a:r>
              <a:rPr kumimoji="1" lang="en-US" altLang="ja-JP" dirty="0"/>
              <a:t>SIMD </a:t>
            </a:r>
            <a:r>
              <a:rPr kumimoji="1" lang="ja-JP" altLang="en-US" dirty="0"/>
              <a:t>は同時に１つのプログラム（命令の流れ）を実行</a:t>
            </a:r>
            <a:endParaRPr kumimoji="1" lang="en-US" altLang="ja-JP" dirty="0"/>
          </a:p>
          <a:p>
            <a:pPr lvl="1"/>
            <a:r>
              <a:rPr kumimoji="1" lang="ja-JP" altLang="en-US" dirty="0"/>
              <a:t>それぞれの命令は複数のデータに対して同じ演算を行う</a:t>
            </a:r>
            <a:endParaRPr kumimoji="1" lang="en-US" altLang="ja-JP" dirty="0"/>
          </a:p>
          <a:p>
            <a:r>
              <a:rPr kumimoji="1" lang="ja-JP" altLang="en-US" dirty="0"/>
              <a:t>例：４つの演算を同時に行う </a:t>
            </a:r>
            <a:r>
              <a:rPr kumimoji="1" lang="en-US" altLang="ja-JP" dirty="0"/>
              <a:t>SIMD </a:t>
            </a:r>
            <a:r>
              <a:rPr kumimoji="1" lang="ja-JP" altLang="en-US" dirty="0"/>
              <a:t>方式</a:t>
            </a:r>
            <a:endParaRPr kumimoji="1" lang="en-US" altLang="ja-JP" dirty="0"/>
          </a:p>
          <a:p>
            <a:pPr lvl="1"/>
            <a:r>
              <a:rPr kumimoji="1" lang="ja-JP" altLang="en-US" dirty="0"/>
              <a:t>解釈された命令は４つの演算器に送信</a:t>
            </a:r>
            <a:endParaRPr kumimoji="1" lang="en-US" altLang="ja-JP" dirty="0"/>
          </a:p>
          <a:p>
            <a:pPr lvl="1"/>
            <a:r>
              <a:rPr kumimoji="1" lang="ja-JP" altLang="en-US" dirty="0"/>
              <a:t>それぞれの演算器は異なる４つのデータに対して同じ演算を行う</a:t>
            </a:r>
            <a:endParaRPr kumimoji="1" lang="en-US" altLang="ja-JP" dirty="0"/>
          </a:p>
          <a:p>
            <a:pPr lvl="1"/>
            <a:r>
              <a:rPr kumimoji="1" lang="ja-JP" altLang="en-US" dirty="0"/>
              <a:t>たとえば加算命令であれば，１つの加算命令が４つの加算を行う</a:t>
            </a:r>
            <a:endParaRPr kumimoji="1" lang="en-US" altLang="ja-JP" dirty="0"/>
          </a:p>
        </p:txBody>
      </p:sp>
      <p:sp>
        <p:nvSpPr>
          <p:cNvPr id="11" name="正方形/長方形 10">
            <a:extLst>
              <a:ext uri="{FF2B5EF4-FFF2-40B4-BE49-F238E27FC236}">
                <a16:creationId xmlns:a16="http://schemas.microsoft.com/office/drawing/2014/main" id="{EAD82A13-F2E9-DFDF-3E39-C1E768267EB2}"/>
              </a:ext>
            </a:extLst>
          </p:cNvPr>
          <p:cNvSpPr/>
          <p:nvPr/>
        </p:nvSpPr>
        <p:spPr bwMode="auto">
          <a:xfrm>
            <a:off x="5735996" y="162898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12" name="直線矢印コネクタ 11">
            <a:extLst>
              <a:ext uri="{FF2B5EF4-FFF2-40B4-BE49-F238E27FC236}">
                <a16:creationId xmlns:a16="http://schemas.microsoft.com/office/drawing/2014/main" id="{5C46395C-23B3-C511-D220-21B7CB1B0ADC}"/>
              </a:ext>
            </a:extLst>
          </p:cNvPr>
          <p:cNvCxnSpPr>
            <a:cxnSpLocks/>
          </p:cNvCxnSpPr>
          <p:nvPr/>
        </p:nvCxnSpPr>
        <p:spPr bwMode="auto">
          <a:xfrm>
            <a:off x="6096000" y="143111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3" name="正方形/長方形 12">
            <a:extLst>
              <a:ext uri="{FF2B5EF4-FFF2-40B4-BE49-F238E27FC236}">
                <a16:creationId xmlns:a16="http://schemas.microsoft.com/office/drawing/2014/main" id="{45E643A2-4B4C-D5B8-3F41-4BACDC367184}"/>
              </a:ext>
            </a:extLst>
          </p:cNvPr>
          <p:cNvSpPr/>
          <p:nvPr/>
        </p:nvSpPr>
        <p:spPr bwMode="auto">
          <a:xfrm>
            <a:off x="5915998" y="108897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14" name="フリーフォーム 10">
            <a:extLst>
              <a:ext uri="{FF2B5EF4-FFF2-40B4-BE49-F238E27FC236}">
                <a16:creationId xmlns:a16="http://schemas.microsoft.com/office/drawing/2014/main" id="{755DC200-5A4C-0459-1013-55838A9CC5B2}"/>
              </a:ext>
            </a:extLst>
          </p:cNvPr>
          <p:cNvSpPr>
            <a:spLocks noChangeArrowheads="1"/>
          </p:cNvSpPr>
          <p:nvPr/>
        </p:nvSpPr>
        <p:spPr bwMode="auto">
          <a:xfrm flipH="1">
            <a:off x="4475982"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15" name="直線矢印コネクタ 14">
            <a:extLst>
              <a:ext uri="{FF2B5EF4-FFF2-40B4-BE49-F238E27FC236}">
                <a16:creationId xmlns:a16="http://schemas.microsoft.com/office/drawing/2014/main" id="{4D7A68DF-0E3F-1BCC-FF1F-A979CF4F95E3}"/>
              </a:ext>
            </a:extLst>
          </p:cNvPr>
          <p:cNvCxnSpPr>
            <a:cxnSpLocks/>
          </p:cNvCxnSpPr>
          <p:nvPr/>
        </p:nvCxnSpPr>
        <p:spPr bwMode="auto">
          <a:xfrm>
            <a:off x="6096000" y="1988984"/>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6" name="Freeform 10">
            <a:extLst>
              <a:ext uri="{FF2B5EF4-FFF2-40B4-BE49-F238E27FC236}">
                <a16:creationId xmlns:a16="http://schemas.microsoft.com/office/drawing/2014/main" id="{006D7B4A-6AA6-6003-4020-63C2897463AC}"/>
              </a:ext>
            </a:extLst>
          </p:cNvPr>
          <p:cNvSpPr>
            <a:spLocks/>
          </p:cNvSpPr>
          <p:nvPr/>
        </p:nvSpPr>
        <p:spPr bwMode="auto">
          <a:xfrm rot="5400000">
            <a:off x="5285991" y="1718982"/>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7" name="フリーフォーム 10">
            <a:extLst>
              <a:ext uri="{FF2B5EF4-FFF2-40B4-BE49-F238E27FC236}">
                <a16:creationId xmlns:a16="http://schemas.microsoft.com/office/drawing/2014/main" id="{4A6A2F69-2D60-BC96-1E63-45629E83A88B}"/>
              </a:ext>
            </a:extLst>
          </p:cNvPr>
          <p:cNvSpPr>
            <a:spLocks noChangeArrowheads="1"/>
          </p:cNvSpPr>
          <p:nvPr/>
        </p:nvSpPr>
        <p:spPr bwMode="auto">
          <a:xfrm flipH="1">
            <a:off x="5285991"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8" name="フリーフォーム 10">
            <a:extLst>
              <a:ext uri="{FF2B5EF4-FFF2-40B4-BE49-F238E27FC236}">
                <a16:creationId xmlns:a16="http://schemas.microsoft.com/office/drawing/2014/main" id="{56337C34-19B1-A28C-9E8E-A2CD907EE5CB}"/>
              </a:ext>
            </a:extLst>
          </p:cNvPr>
          <p:cNvSpPr>
            <a:spLocks noChangeArrowheads="1"/>
          </p:cNvSpPr>
          <p:nvPr/>
        </p:nvSpPr>
        <p:spPr bwMode="auto">
          <a:xfrm flipH="1">
            <a:off x="6096000"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9" name="フリーフォーム 10">
            <a:extLst>
              <a:ext uri="{FF2B5EF4-FFF2-40B4-BE49-F238E27FC236}">
                <a16:creationId xmlns:a16="http://schemas.microsoft.com/office/drawing/2014/main" id="{4B80016D-5C10-30E8-0CAA-747DADDC5B9F}"/>
              </a:ext>
            </a:extLst>
          </p:cNvPr>
          <p:cNvSpPr>
            <a:spLocks noChangeArrowheads="1"/>
          </p:cNvSpPr>
          <p:nvPr/>
        </p:nvSpPr>
        <p:spPr bwMode="auto">
          <a:xfrm flipH="1">
            <a:off x="6906009"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20" name="Freeform 10">
            <a:extLst>
              <a:ext uri="{FF2B5EF4-FFF2-40B4-BE49-F238E27FC236}">
                <a16:creationId xmlns:a16="http://schemas.microsoft.com/office/drawing/2014/main" id="{26F33265-DE1C-3F00-4F14-2752E0D7D555}"/>
              </a:ext>
            </a:extLst>
          </p:cNvPr>
          <p:cNvSpPr>
            <a:spLocks/>
          </p:cNvSpPr>
          <p:nvPr/>
        </p:nvSpPr>
        <p:spPr bwMode="auto">
          <a:xfrm rot="5400000">
            <a:off x="5690997" y="2123987"/>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1" name="Freeform 10">
            <a:extLst>
              <a:ext uri="{FF2B5EF4-FFF2-40B4-BE49-F238E27FC236}">
                <a16:creationId xmlns:a16="http://schemas.microsoft.com/office/drawing/2014/main" id="{F73DF0FE-0D02-95F2-3671-16C55F2A6542}"/>
              </a:ext>
            </a:extLst>
          </p:cNvPr>
          <p:cNvSpPr>
            <a:spLocks/>
          </p:cNvSpPr>
          <p:nvPr/>
        </p:nvSpPr>
        <p:spPr bwMode="auto">
          <a:xfrm rot="5400000" flipV="1">
            <a:off x="6141001" y="1943985"/>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2" name="Freeform 10">
            <a:extLst>
              <a:ext uri="{FF2B5EF4-FFF2-40B4-BE49-F238E27FC236}">
                <a16:creationId xmlns:a16="http://schemas.microsoft.com/office/drawing/2014/main" id="{081E256E-DA4D-C88E-6A24-A0AD829B3150}"/>
              </a:ext>
            </a:extLst>
          </p:cNvPr>
          <p:cNvSpPr>
            <a:spLocks/>
          </p:cNvSpPr>
          <p:nvPr/>
        </p:nvSpPr>
        <p:spPr bwMode="auto">
          <a:xfrm rot="5400000" flipV="1">
            <a:off x="6726009" y="1808984"/>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Tree>
    <p:extLst>
      <p:ext uri="{BB962C8B-B14F-4D97-AF65-F5344CB8AC3E}">
        <p14:creationId xmlns:p14="http://schemas.microsoft.com/office/powerpoint/2010/main" val="35546005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6928-E4AC-D43C-5712-51ADCE7DA59C}"/>
              </a:ext>
            </a:extLst>
          </p:cNvPr>
          <p:cNvSpPr>
            <a:spLocks noGrp="1"/>
          </p:cNvSpPr>
          <p:nvPr>
            <p:ph type="title"/>
          </p:nvPr>
        </p:nvSpPr>
        <p:spPr/>
        <p:txBody>
          <a:bodyPr/>
          <a:lstStyle/>
          <a:p>
            <a:r>
              <a:rPr lang="en-US" altLang="ja-JP" sz="2400" dirty="0"/>
              <a:t>SIMD</a:t>
            </a:r>
            <a:r>
              <a:rPr lang="ja-JP" altLang="en-US" sz="2400" dirty="0"/>
              <a:t>（</a:t>
            </a:r>
            <a:r>
              <a:rPr lang="en-US" altLang="ja-JP" sz="2400" dirty="0"/>
              <a:t>Single Instruction stream/Multiple Data stream</a:t>
            </a:r>
            <a:r>
              <a:rPr lang="ja-JP" altLang="en-US" sz="2400" dirty="0"/>
              <a:t>）</a:t>
            </a:r>
          </a:p>
        </p:txBody>
      </p:sp>
      <p:sp>
        <p:nvSpPr>
          <p:cNvPr id="3" name="テキスト プレースホルダー 2">
            <a:extLst>
              <a:ext uri="{FF2B5EF4-FFF2-40B4-BE49-F238E27FC236}">
                <a16:creationId xmlns:a16="http://schemas.microsoft.com/office/drawing/2014/main" id="{8FD7964B-5D08-C0D0-086D-C6B016DE5D09}"/>
              </a:ext>
            </a:extLst>
          </p:cNvPr>
          <p:cNvSpPr>
            <a:spLocks noGrp="1"/>
          </p:cNvSpPr>
          <p:nvPr>
            <p:ph type="body" sz="quarter" idx="10"/>
          </p:nvPr>
        </p:nvSpPr>
        <p:spPr>
          <a:xfrm>
            <a:off x="2135956" y="3068996"/>
            <a:ext cx="8280092" cy="3329730"/>
          </a:xfrm>
        </p:spPr>
        <p:txBody>
          <a:bodyPr/>
          <a:lstStyle/>
          <a:p>
            <a:r>
              <a:rPr kumimoji="1" lang="ja-JP" altLang="en-US" dirty="0">
                <a:solidFill>
                  <a:schemeClr val="accent5"/>
                </a:solidFill>
              </a:rPr>
              <a:t>現在の主だった </a:t>
            </a:r>
            <a:r>
              <a:rPr kumimoji="1" lang="en-US" altLang="ja-JP" dirty="0">
                <a:solidFill>
                  <a:schemeClr val="accent5"/>
                </a:solidFill>
              </a:rPr>
              <a:t>GPU </a:t>
            </a:r>
            <a:r>
              <a:rPr kumimoji="1" lang="ja-JP" altLang="en-US" dirty="0">
                <a:solidFill>
                  <a:schemeClr val="accent5"/>
                </a:solidFill>
              </a:rPr>
              <a:t>はこの </a:t>
            </a:r>
            <a:r>
              <a:rPr kumimoji="1" lang="en-US" altLang="ja-JP" dirty="0">
                <a:solidFill>
                  <a:schemeClr val="accent5"/>
                </a:solidFill>
              </a:rPr>
              <a:t>SIMD </a:t>
            </a:r>
            <a:r>
              <a:rPr kumimoji="1" lang="ja-JP" altLang="en-US" dirty="0">
                <a:solidFill>
                  <a:schemeClr val="accent5"/>
                </a:solidFill>
              </a:rPr>
              <a:t>方式をベースにしている</a:t>
            </a:r>
            <a:endParaRPr kumimoji="1" lang="en-US" altLang="ja-JP" dirty="0">
              <a:solidFill>
                <a:schemeClr val="accent5"/>
              </a:solidFill>
            </a:endParaRPr>
          </a:p>
          <a:p>
            <a:pPr lvl="1"/>
            <a:r>
              <a:rPr kumimoji="1" lang="ja-JP" altLang="en-US" dirty="0"/>
              <a:t>一部，</a:t>
            </a:r>
            <a:r>
              <a:rPr kumimoji="1" lang="en-US" altLang="ja-JP" dirty="0"/>
              <a:t>CPU </a:t>
            </a:r>
            <a:r>
              <a:rPr kumimoji="1" lang="ja-JP" altLang="en-US" dirty="0"/>
              <a:t>にもこの考えを取り入れた命令がある</a:t>
            </a:r>
            <a:r>
              <a:rPr kumimoji="1" lang="en-US" altLang="ja-JP" dirty="0"/>
              <a:t>	</a:t>
            </a:r>
          </a:p>
          <a:p>
            <a:r>
              <a:rPr kumimoji="1" lang="en-US" altLang="ja-JP" dirty="0"/>
              <a:t>GPU </a:t>
            </a:r>
            <a:r>
              <a:rPr kumimoji="1" lang="ja-JP" altLang="en-US" dirty="0"/>
              <a:t>は同じ処理を多数走らせることに特化</a:t>
            </a:r>
            <a:endParaRPr kumimoji="1" lang="en-US" altLang="ja-JP" dirty="0"/>
          </a:p>
          <a:p>
            <a:pPr lvl="1"/>
            <a:r>
              <a:rPr lang="en-US" altLang="ja-JP" dirty="0"/>
              <a:t>PC </a:t>
            </a:r>
            <a:r>
              <a:rPr lang="ja-JP" altLang="en-US" dirty="0"/>
              <a:t>や命令メモリは共有して，各演算器に配ればよい</a:t>
            </a:r>
            <a:endParaRPr kumimoji="1" lang="en-US" altLang="ja-JP" dirty="0"/>
          </a:p>
          <a:p>
            <a:pPr lvl="1"/>
            <a:endParaRPr kumimoji="1" lang="en-US" altLang="ja-JP" dirty="0"/>
          </a:p>
        </p:txBody>
      </p:sp>
      <p:sp>
        <p:nvSpPr>
          <p:cNvPr id="11" name="正方形/長方形 10">
            <a:extLst>
              <a:ext uri="{FF2B5EF4-FFF2-40B4-BE49-F238E27FC236}">
                <a16:creationId xmlns:a16="http://schemas.microsoft.com/office/drawing/2014/main" id="{EAD82A13-F2E9-DFDF-3E39-C1E768267EB2}"/>
              </a:ext>
            </a:extLst>
          </p:cNvPr>
          <p:cNvSpPr/>
          <p:nvPr/>
        </p:nvSpPr>
        <p:spPr bwMode="auto">
          <a:xfrm>
            <a:off x="5735996" y="162898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12" name="直線矢印コネクタ 11">
            <a:extLst>
              <a:ext uri="{FF2B5EF4-FFF2-40B4-BE49-F238E27FC236}">
                <a16:creationId xmlns:a16="http://schemas.microsoft.com/office/drawing/2014/main" id="{5C46395C-23B3-C511-D220-21B7CB1B0ADC}"/>
              </a:ext>
            </a:extLst>
          </p:cNvPr>
          <p:cNvCxnSpPr>
            <a:cxnSpLocks/>
          </p:cNvCxnSpPr>
          <p:nvPr/>
        </p:nvCxnSpPr>
        <p:spPr bwMode="auto">
          <a:xfrm>
            <a:off x="6096000" y="143111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3" name="正方形/長方形 12">
            <a:extLst>
              <a:ext uri="{FF2B5EF4-FFF2-40B4-BE49-F238E27FC236}">
                <a16:creationId xmlns:a16="http://schemas.microsoft.com/office/drawing/2014/main" id="{45E643A2-4B4C-D5B8-3F41-4BACDC367184}"/>
              </a:ext>
            </a:extLst>
          </p:cNvPr>
          <p:cNvSpPr/>
          <p:nvPr/>
        </p:nvSpPr>
        <p:spPr bwMode="auto">
          <a:xfrm>
            <a:off x="5915998" y="108897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14" name="フリーフォーム 10">
            <a:extLst>
              <a:ext uri="{FF2B5EF4-FFF2-40B4-BE49-F238E27FC236}">
                <a16:creationId xmlns:a16="http://schemas.microsoft.com/office/drawing/2014/main" id="{755DC200-5A4C-0459-1013-55838A9CC5B2}"/>
              </a:ext>
            </a:extLst>
          </p:cNvPr>
          <p:cNvSpPr>
            <a:spLocks noChangeArrowheads="1"/>
          </p:cNvSpPr>
          <p:nvPr/>
        </p:nvSpPr>
        <p:spPr bwMode="auto">
          <a:xfrm flipH="1">
            <a:off x="4475982"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15" name="直線矢印コネクタ 14">
            <a:extLst>
              <a:ext uri="{FF2B5EF4-FFF2-40B4-BE49-F238E27FC236}">
                <a16:creationId xmlns:a16="http://schemas.microsoft.com/office/drawing/2014/main" id="{4D7A68DF-0E3F-1BCC-FF1F-A979CF4F95E3}"/>
              </a:ext>
            </a:extLst>
          </p:cNvPr>
          <p:cNvCxnSpPr>
            <a:cxnSpLocks/>
          </p:cNvCxnSpPr>
          <p:nvPr/>
        </p:nvCxnSpPr>
        <p:spPr bwMode="auto">
          <a:xfrm>
            <a:off x="6096000" y="1988984"/>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6" name="Freeform 10">
            <a:extLst>
              <a:ext uri="{FF2B5EF4-FFF2-40B4-BE49-F238E27FC236}">
                <a16:creationId xmlns:a16="http://schemas.microsoft.com/office/drawing/2014/main" id="{006D7B4A-6AA6-6003-4020-63C2897463AC}"/>
              </a:ext>
            </a:extLst>
          </p:cNvPr>
          <p:cNvSpPr>
            <a:spLocks/>
          </p:cNvSpPr>
          <p:nvPr/>
        </p:nvSpPr>
        <p:spPr bwMode="auto">
          <a:xfrm rot="5400000">
            <a:off x="5285991" y="1718982"/>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7" name="フリーフォーム 10">
            <a:extLst>
              <a:ext uri="{FF2B5EF4-FFF2-40B4-BE49-F238E27FC236}">
                <a16:creationId xmlns:a16="http://schemas.microsoft.com/office/drawing/2014/main" id="{4A6A2F69-2D60-BC96-1E63-45629E83A88B}"/>
              </a:ext>
            </a:extLst>
          </p:cNvPr>
          <p:cNvSpPr>
            <a:spLocks noChangeArrowheads="1"/>
          </p:cNvSpPr>
          <p:nvPr/>
        </p:nvSpPr>
        <p:spPr bwMode="auto">
          <a:xfrm flipH="1">
            <a:off x="5285991"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8" name="フリーフォーム 10">
            <a:extLst>
              <a:ext uri="{FF2B5EF4-FFF2-40B4-BE49-F238E27FC236}">
                <a16:creationId xmlns:a16="http://schemas.microsoft.com/office/drawing/2014/main" id="{56337C34-19B1-A28C-9E8E-A2CD907EE5CB}"/>
              </a:ext>
            </a:extLst>
          </p:cNvPr>
          <p:cNvSpPr>
            <a:spLocks noChangeArrowheads="1"/>
          </p:cNvSpPr>
          <p:nvPr/>
        </p:nvSpPr>
        <p:spPr bwMode="auto">
          <a:xfrm flipH="1">
            <a:off x="6096000"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9" name="フリーフォーム 10">
            <a:extLst>
              <a:ext uri="{FF2B5EF4-FFF2-40B4-BE49-F238E27FC236}">
                <a16:creationId xmlns:a16="http://schemas.microsoft.com/office/drawing/2014/main" id="{4B80016D-5C10-30E8-0CAA-747DADDC5B9F}"/>
              </a:ext>
            </a:extLst>
          </p:cNvPr>
          <p:cNvSpPr>
            <a:spLocks noChangeArrowheads="1"/>
          </p:cNvSpPr>
          <p:nvPr/>
        </p:nvSpPr>
        <p:spPr bwMode="auto">
          <a:xfrm flipH="1">
            <a:off x="6906009"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20" name="Freeform 10">
            <a:extLst>
              <a:ext uri="{FF2B5EF4-FFF2-40B4-BE49-F238E27FC236}">
                <a16:creationId xmlns:a16="http://schemas.microsoft.com/office/drawing/2014/main" id="{26F33265-DE1C-3F00-4F14-2752E0D7D555}"/>
              </a:ext>
            </a:extLst>
          </p:cNvPr>
          <p:cNvSpPr>
            <a:spLocks/>
          </p:cNvSpPr>
          <p:nvPr/>
        </p:nvSpPr>
        <p:spPr bwMode="auto">
          <a:xfrm rot="5400000">
            <a:off x="5690997" y="2123987"/>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1" name="Freeform 10">
            <a:extLst>
              <a:ext uri="{FF2B5EF4-FFF2-40B4-BE49-F238E27FC236}">
                <a16:creationId xmlns:a16="http://schemas.microsoft.com/office/drawing/2014/main" id="{F73DF0FE-0D02-95F2-3671-16C55F2A6542}"/>
              </a:ext>
            </a:extLst>
          </p:cNvPr>
          <p:cNvSpPr>
            <a:spLocks/>
          </p:cNvSpPr>
          <p:nvPr/>
        </p:nvSpPr>
        <p:spPr bwMode="auto">
          <a:xfrm rot="5400000" flipV="1">
            <a:off x="6141001" y="1943985"/>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2" name="Freeform 10">
            <a:extLst>
              <a:ext uri="{FF2B5EF4-FFF2-40B4-BE49-F238E27FC236}">
                <a16:creationId xmlns:a16="http://schemas.microsoft.com/office/drawing/2014/main" id="{081E256E-DA4D-C88E-6A24-A0AD829B3150}"/>
              </a:ext>
            </a:extLst>
          </p:cNvPr>
          <p:cNvSpPr>
            <a:spLocks/>
          </p:cNvSpPr>
          <p:nvPr/>
        </p:nvSpPr>
        <p:spPr bwMode="auto">
          <a:xfrm rot="5400000" flipV="1">
            <a:off x="6726009" y="1808984"/>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Tree>
    <p:extLst>
      <p:ext uri="{BB962C8B-B14F-4D97-AF65-F5344CB8AC3E}">
        <p14:creationId xmlns:p14="http://schemas.microsoft.com/office/powerpoint/2010/main" val="36539833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6928-E4AC-D43C-5712-51ADCE7DA59C}"/>
              </a:ext>
            </a:extLst>
          </p:cNvPr>
          <p:cNvSpPr>
            <a:spLocks noGrp="1"/>
          </p:cNvSpPr>
          <p:nvPr>
            <p:ph type="title"/>
          </p:nvPr>
        </p:nvSpPr>
        <p:spPr/>
        <p:txBody>
          <a:bodyPr/>
          <a:lstStyle/>
          <a:p>
            <a:r>
              <a:rPr lang="en-US" altLang="ja-JP" sz="2400" dirty="0"/>
              <a:t>MISD</a:t>
            </a:r>
            <a:r>
              <a:rPr lang="ja-JP" altLang="en-US" sz="2400" dirty="0"/>
              <a:t>（</a:t>
            </a:r>
            <a:r>
              <a:rPr lang="en-US" altLang="ja-JP" sz="2400" dirty="0"/>
              <a:t>Multiple Instruction stream/Single Data stream</a:t>
            </a:r>
            <a:r>
              <a:rPr lang="ja-JP" altLang="en-US" sz="2400" dirty="0"/>
              <a:t>）</a:t>
            </a:r>
          </a:p>
        </p:txBody>
      </p:sp>
      <p:sp>
        <p:nvSpPr>
          <p:cNvPr id="3" name="テキスト プレースホルダー 2">
            <a:extLst>
              <a:ext uri="{FF2B5EF4-FFF2-40B4-BE49-F238E27FC236}">
                <a16:creationId xmlns:a16="http://schemas.microsoft.com/office/drawing/2014/main" id="{8FD7964B-5D08-C0D0-086D-C6B016DE5D09}"/>
              </a:ext>
            </a:extLst>
          </p:cNvPr>
          <p:cNvSpPr>
            <a:spLocks noGrp="1"/>
          </p:cNvSpPr>
          <p:nvPr>
            <p:ph type="body" sz="quarter" idx="10"/>
          </p:nvPr>
        </p:nvSpPr>
        <p:spPr>
          <a:xfrm>
            <a:off x="2135955" y="3068996"/>
            <a:ext cx="8370093" cy="3329730"/>
          </a:xfrm>
        </p:spPr>
        <p:txBody>
          <a:bodyPr/>
          <a:lstStyle/>
          <a:p>
            <a:r>
              <a:rPr kumimoji="1" lang="ja-JP" altLang="en-US" dirty="0"/>
              <a:t>複数の命令の流れが単一のデータの流れを処理する方式</a:t>
            </a:r>
            <a:endParaRPr kumimoji="1" lang="en-US" altLang="ja-JP" dirty="0"/>
          </a:p>
          <a:p>
            <a:pPr lvl="1"/>
            <a:r>
              <a:rPr kumimoji="1" lang="ja-JP" altLang="en-US" dirty="0"/>
              <a:t>分類の都合上存在していると言ってもよい</a:t>
            </a:r>
            <a:endParaRPr kumimoji="1" lang="en-US" altLang="ja-JP" dirty="0"/>
          </a:p>
          <a:p>
            <a:pPr lvl="1"/>
            <a:r>
              <a:rPr kumimoji="1" lang="ja-JP" altLang="en-US" dirty="0"/>
              <a:t>この方式の実用的なコンピュータは現在一般的ではない</a:t>
            </a:r>
            <a:endParaRPr kumimoji="1" lang="en-US" altLang="ja-JP" dirty="0"/>
          </a:p>
          <a:p>
            <a:r>
              <a:rPr kumimoji="1" lang="ja-JP" altLang="en-US" dirty="0"/>
              <a:t>「みんなで違うレシピを読んで，１人のシェフに同時に指示を</a:t>
            </a:r>
            <a:br>
              <a:rPr kumimoji="1" lang="en-US" altLang="ja-JP" dirty="0"/>
            </a:br>
            <a:r>
              <a:rPr kumimoji="1" lang="ja-JP" altLang="en-US" dirty="0"/>
              <a:t>与える」みたいなことに相当し，意味がわからない</a:t>
            </a:r>
            <a:endParaRPr kumimoji="1" lang="en-US" altLang="ja-JP" dirty="0"/>
          </a:p>
        </p:txBody>
      </p:sp>
      <p:sp>
        <p:nvSpPr>
          <p:cNvPr id="23" name="正方形/長方形 22">
            <a:extLst>
              <a:ext uri="{FF2B5EF4-FFF2-40B4-BE49-F238E27FC236}">
                <a16:creationId xmlns:a16="http://schemas.microsoft.com/office/drawing/2014/main" id="{F6792834-6C35-8967-E163-0271AC46DEB0}"/>
              </a:ext>
            </a:extLst>
          </p:cNvPr>
          <p:cNvSpPr/>
          <p:nvPr/>
        </p:nvSpPr>
        <p:spPr bwMode="auto">
          <a:xfrm>
            <a:off x="5375992" y="162898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24" name="直線矢印コネクタ 23">
            <a:extLst>
              <a:ext uri="{FF2B5EF4-FFF2-40B4-BE49-F238E27FC236}">
                <a16:creationId xmlns:a16="http://schemas.microsoft.com/office/drawing/2014/main" id="{B3EBA8FB-192C-42F2-82BD-AC5CD6411AB8}"/>
              </a:ext>
            </a:extLst>
          </p:cNvPr>
          <p:cNvCxnSpPr>
            <a:cxnSpLocks/>
          </p:cNvCxnSpPr>
          <p:nvPr/>
        </p:nvCxnSpPr>
        <p:spPr bwMode="auto">
          <a:xfrm>
            <a:off x="5735996" y="143111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25" name="正方形/長方形 24">
            <a:extLst>
              <a:ext uri="{FF2B5EF4-FFF2-40B4-BE49-F238E27FC236}">
                <a16:creationId xmlns:a16="http://schemas.microsoft.com/office/drawing/2014/main" id="{BECD8B00-C58C-58E6-1D3F-E50D08F14011}"/>
              </a:ext>
            </a:extLst>
          </p:cNvPr>
          <p:cNvSpPr/>
          <p:nvPr/>
        </p:nvSpPr>
        <p:spPr bwMode="auto">
          <a:xfrm>
            <a:off x="5555994" y="108897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27" name="正方形/長方形 26">
            <a:extLst>
              <a:ext uri="{FF2B5EF4-FFF2-40B4-BE49-F238E27FC236}">
                <a16:creationId xmlns:a16="http://schemas.microsoft.com/office/drawing/2014/main" id="{D0BC186E-CB82-CB85-CC78-2019398563AE}"/>
              </a:ext>
            </a:extLst>
          </p:cNvPr>
          <p:cNvSpPr/>
          <p:nvPr/>
        </p:nvSpPr>
        <p:spPr bwMode="auto">
          <a:xfrm>
            <a:off x="4565983" y="1628980"/>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28" name="直線矢印コネクタ 27">
            <a:extLst>
              <a:ext uri="{FF2B5EF4-FFF2-40B4-BE49-F238E27FC236}">
                <a16:creationId xmlns:a16="http://schemas.microsoft.com/office/drawing/2014/main" id="{2BBD5DF4-27A7-5EB6-544F-6A0541F4F1AD}"/>
              </a:ext>
            </a:extLst>
          </p:cNvPr>
          <p:cNvCxnSpPr>
            <a:cxnSpLocks/>
          </p:cNvCxnSpPr>
          <p:nvPr/>
        </p:nvCxnSpPr>
        <p:spPr bwMode="auto">
          <a:xfrm>
            <a:off x="4925987" y="1431109"/>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29" name="正方形/長方形 28">
            <a:extLst>
              <a:ext uri="{FF2B5EF4-FFF2-40B4-BE49-F238E27FC236}">
                <a16:creationId xmlns:a16="http://schemas.microsoft.com/office/drawing/2014/main" id="{577CE48E-0008-61BF-77C8-F2B7BF705A6F}"/>
              </a:ext>
            </a:extLst>
          </p:cNvPr>
          <p:cNvSpPr/>
          <p:nvPr/>
        </p:nvSpPr>
        <p:spPr bwMode="auto">
          <a:xfrm>
            <a:off x="4745985" y="1088973"/>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30" name="正方形/長方形 29">
            <a:extLst>
              <a:ext uri="{FF2B5EF4-FFF2-40B4-BE49-F238E27FC236}">
                <a16:creationId xmlns:a16="http://schemas.microsoft.com/office/drawing/2014/main" id="{438E4CEA-FE5E-08A3-21CE-DAB4DB7D4E0A}"/>
              </a:ext>
            </a:extLst>
          </p:cNvPr>
          <p:cNvSpPr/>
          <p:nvPr/>
        </p:nvSpPr>
        <p:spPr bwMode="auto">
          <a:xfrm>
            <a:off x="6996010" y="162898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31" name="直線矢印コネクタ 30">
            <a:extLst>
              <a:ext uri="{FF2B5EF4-FFF2-40B4-BE49-F238E27FC236}">
                <a16:creationId xmlns:a16="http://schemas.microsoft.com/office/drawing/2014/main" id="{4E701DC9-6FF8-F4D0-C89C-34E1EC4838DE}"/>
              </a:ext>
            </a:extLst>
          </p:cNvPr>
          <p:cNvCxnSpPr>
            <a:cxnSpLocks/>
          </p:cNvCxnSpPr>
          <p:nvPr/>
        </p:nvCxnSpPr>
        <p:spPr bwMode="auto">
          <a:xfrm>
            <a:off x="7356014" y="143111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32" name="正方形/長方形 31">
            <a:extLst>
              <a:ext uri="{FF2B5EF4-FFF2-40B4-BE49-F238E27FC236}">
                <a16:creationId xmlns:a16="http://schemas.microsoft.com/office/drawing/2014/main" id="{87A1D8D8-74A0-5E52-4DEF-57271B25AE9C}"/>
              </a:ext>
            </a:extLst>
          </p:cNvPr>
          <p:cNvSpPr/>
          <p:nvPr/>
        </p:nvSpPr>
        <p:spPr bwMode="auto">
          <a:xfrm>
            <a:off x="7176012" y="108897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33" name="フリーフォーム 10">
            <a:extLst>
              <a:ext uri="{FF2B5EF4-FFF2-40B4-BE49-F238E27FC236}">
                <a16:creationId xmlns:a16="http://schemas.microsoft.com/office/drawing/2014/main" id="{894832BC-B7B0-B2D9-F5F5-F7A68FFA77DF}"/>
              </a:ext>
            </a:extLst>
          </p:cNvPr>
          <p:cNvSpPr>
            <a:spLocks noChangeArrowheads="1"/>
          </p:cNvSpPr>
          <p:nvPr/>
        </p:nvSpPr>
        <p:spPr bwMode="auto">
          <a:xfrm flipH="1">
            <a:off x="5729644" y="2348990"/>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34" name="直線矢印コネクタ 33">
            <a:extLst>
              <a:ext uri="{FF2B5EF4-FFF2-40B4-BE49-F238E27FC236}">
                <a16:creationId xmlns:a16="http://schemas.microsoft.com/office/drawing/2014/main" id="{8035C271-B3F9-F743-E713-7CAEF6D402D8}"/>
              </a:ext>
            </a:extLst>
          </p:cNvPr>
          <p:cNvCxnSpPr>
            <a:cxnSpLocks/>
          </p:cNvCxnSpPr>
          <p:nvPr/>
        </p:nvCxnSpPr>
        <p:spPr bwMode="auto">
          <a:xfrm>
            <a:off x="6089648" y="2078988"/>
            <a:ext cx="0" cy="270003"/>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35" name="正方形/長方形 34">
            <a:extLst>
              <a:ext uri="{FF2B5EF4-FFF2-40B4-BE49-F238E27FC236}">
                <a16:creationId xmlns:a16="http://schemas.microsoft.com/office/drawing/2014/main" id="{F3ACA8D4-4C8C-334F-9ECC-3A8CCB9726FE}"/>
              </a:ext>
            </a:extLst>
          </p:cNvPr>
          <p:cNvSpPr/>
          <p:nvPr/>
        </p:nvSpPr>
        <p:spPr bwMode="auto">
          <a:xfrm>
            <a:off x="6186001" y="1628980"/>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36" name="直線矢印コネクタ 35">
            <a:extLst>
              <a:ext uri="{FF2B5EF4-FFF2-40B4-BE49-F238E27FC236}">
                <a16:creationId xmlns:a16="http://schemas.microsoft.com/office/drawing/2014/main" id="{33E98AC6-4CC3-E463-10D1-15A8FFEE1ABD}"/>
              </a:ext>
            </a:extLst>
          </p:cNvPr>
          <p:cNvCxnSpPr>
            <a:cxnSpLocks/>
          </p:cNvCxnSpPr>
          <p:nvPr/>
        </p:nvCxnSpPr>
        <p:spPr bwMode="auto">
          <a:xfrm>
            <a:off x="6546005" y="1431109"/>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37" name="正方形/長方形 36">
            <a:extLst>
              <a:ext uri="{FF2B5EF4-FFF2-40B4-BE49-F238E27FC236}">
                <a16:creationId xmlns:a16="http://schemas.microsoft.com/office/drawing/2014/main" id="{D10BFF17-EA71-4C33-25C8-81B4203CAF5D}"/>
              </a:ext>
            </a:extLst>
          </p:cNvPr>
          <p:cNvSpPr/>
          <p:nvPr/>
        </p:nvSpPr>
        <p:spPr bwMode="auto">
          <a:xfrm>
            <a:off x="6366003" y="1088973"/>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38" name="Freeform 10">
            <a:extLst>
              <a:ext uri="{FF2B5EF4-FFF2-40B4-BE49-F238E27FC236}">
                <a16:creationId xmlns:a16="http://schemas.microsoft.com/office/drawing/2014/main" id="{82B0CC55-CBFE-292B-73F3-A7AA923D95BF}"/>
              </a:ext>
            </a:extLst>
          </p:cNvPr>
          <p:cNvSpPr>
            <a:spLocks/>
          </p:cNvSpPr>
          <p:nvPr/>
        </p:nvSpPr>
        <p:spPr bwMode="auto">
          <a:xfrm>
            <a:off x="4919635" y="1988987"/>
            <a:ext cx="1260014"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a:extLst>
              <a:ext uri="{FF2B5EF4-FFF2-40B4-BE49-F238E27FC236}">
                <a16:creationId xmlns:a16="http://schemas.microsoft.com/office/drawing/2014/main" id="{E02BFE76-AA34-DC07-152D-6DAECA212E48}"/>
              </a:ext>
            </a:extLst>
          </p:cNvPr>
          <p:cNvSpPr>
            <a:spLocks/>
          </p:cNvSpPr>
          <p:nvPr/>
        </p:nvSpPr>
        <p:spPr bwMode="auto">
          <a:xfrm>
            <a:off x="5729644" y="1988987"/>
            <a:ext cx="450006"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40" name="Freeform 10">
            <a:extLst>
              <a:ext uri="{FF2B5EF4-FFF2-40B4-BE49-F238E27FC236}">
                <a16:creationId xmlns:a16="http://schemas.microsoft.com/office/drawing/2014/main" id="{404C84C0-AA5D-E3A3-B13E-52684FA10D47}"/>
              </a:ext>
            </a:extLst>
          </p:cNvPr>
          <p:cNvSpPr>
            <a:spLocks/>
          </p:cNvSpPr>
          <p:nvPr/>
        </p:nvSpPr>
        <p:spPr bwMode="auto">
          <a:xfrm flipH="1">
            <a:off x="6179649" y="1988987"/>
            <a:ext cx="360003"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41" name="Freeform 10">
            <a:extLst>
              <a:ext uri="{FF2B5EF4-FFF2-40B4-BE49-F238E27FC236}">
                <a16:creationId xmlns:a16="http://schemas.microsoft.com/office/drawing/2014/main" id="{A31DFD70-121B-E6EC-370E-25A90991E2DA}"/>
              </a:ext>
            </a:extLst>
          </p:cNvPr>
          <p:cNvSpPr>
            <a:spLocks/>
          </p:cNvSpPr>
          <p:nvPr/>
        </p:nvSpPr>
        <p:spPr bwMode="auto">
          <a:xfrm flipH="1">
            <a:off x="6449651" y="1988987"/>
            <a:ext cx="900010"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Tree>
    <p:extLst>
      <p:ext uri="{BB962C8B-B14F-4D97-AF65-F5344CB8AC3E}">
        <p14:creationId xmlns:p14="http://schemas.microsoft.com/office/powerpoint/2010/main" val="1709729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6928-E4AC-D43C-5712-51ADCE7DA59C}"/>
              </a:ext>
            </a:extLst>
          </p:cNvPr>
          <p:cNvSpPr>
            <a:spLocks noGrp="1"/>
          </p:cNvSpPr>
          <p:nvPr>
            <p:ph type="title"/>
          </p:nvPr>
        </p:nvSpPr>
        <p:spPr/>
        <p:txBody>
          <a:bodyPr/>
          <a:lstStyle/>
          <a:p>
            <a:r>
              <a:rPr lang="en-US" altLang="ja-JP" sz="2400" dirty="0"/>
              <a:t>MIMD</a:t>
            </a:r>
            <a:r>
              <a:rPr lang="ja-JP" altLang="en-US" sz="2400" dirty="0"/>
              <a:t>（</a:t>
            </a:r>
            <a:r>
              <a:rPr lang="en-US" altLang="ja-JP" sz="2400" dirty="0"/>
              <a:t>Multiple Instruction stream/Multiple Data stream</a:t>
            </a:r>
            <a:r>
              <a:rPr lang="ja-JP" altLang="en-US" sz="2400" dirty="0"/>
              <a:t>）</a:t>
            </a:r>
          </a:p>
        </p:txBody>
      </p:sp>
      <p:sp>
        <p:nvSpPr>
          <p:cNvPr id="3" name="テキスト プレースホルダー 2">
            <a:extLst>
              <a:ext uri="{FF2B5EF4-FFF2-40B4-BE49-F238E27FC236}">
                <a16:creationId xmlns:a16="http://schemas.microsoft.com/office/drawing/2014/main" id="{8FD7964B-5D08-C0D0-086D-C6B016DE5D09}"/>
              </a:ext>
            </a:extLst>
          </p:cNvPr>
          <p:cNvSpPr>
            <a:spLocks noGrp="1"/>
          </p:cNvSpPr>
          <p:nvPr>
            <p:ph type="body" sz="quarter" idx="10"/>
          </p:nvPr>
        </p:nvSpPr>
        <p:spPr>
          <a:xfrm>
            <a:off x="2135956" y="3068996"/>
            <a:ext cx="8280092" cy="3329730"/>
          </a:xfrm>
        </p:spPr>
        <p:txBody>
          <a:bodyPr/>
          <a:lstStyle/>
          <a:p>
            <a:r>
              <a:rPr kumimoji="1" lang="ja-JP" altLang="en-US" dirty="0"/>
              <a:t>複数の命令の流れが複数のデータの流れを処理する方式</a:t>
            </a:r>
            <a:endParaRPr kumimoji="1" lang="en-US" altLang="ja-JP" dirty="0"/>
          </a:p>
          <a:p>
            <a:pPr lvl="1"/>
            <a:r>
              <a:rPr kumimoji="1" lang="ja-JP" altLang="en-US" dirty="0"/>
              <a:t>典型的にはマルチコア化された </a:t>
            </a:r>
            <a:r>
              <a:rPr kumimoji="1" lang="en-US" altLang="ja-JP" dirty="0"/>
              <a:t>CPU </a:t>
            </a:r>
            <a:r>
              <a:rPr kumimoji="1" lang="ja-JP" altLang="en-US" dirty="0"/>
              <a:t>がこれに該当</a:t>
            </a:r>
            <a:endParaRPr kumimoji="1" lang="en-US" altLang="ja-JP" dirty="0"/>
          </a:p>
        </p:txBody>
      </p:sp>
      <p:sp>
        <p:nvSpPr>
          <p:cNvPr id="22" name="正方形/長方形 21">
            <a:extLst>
              <a:ext uri="{FF2B5EF4-FFF2-40B4-BE49-F238E27FC236}">
                <a16:creationId xmlns:a16="http://schemas.microsoft.com/office/drawing/2014/main" id="{F77B6204-6E73-06AC-8CCE-5363477E094F}"/>
              </a:ext>
            </a:extLst>
          </p:cNvPr>
          <p:cNvSpPr/>
          <p:nvPr/>
        </p:nvSpPr>
        <p:spPr bwMode="auto">
          <a:xfrm>
            <a:off x="5015988" y="162898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26" name="直線矢印コネクタ 25">
            <a:extLst>
              <a:ext uri="{FF2B5EF4-FFF2-40B4-BE49-F238E27FC236}">
                <a16:creationId xmlns:a16="http://schemas.microsoft.com/office/drawing/2014/main" id="{644CDAE1-E1C0-0DD9-11BD-C672AD18DCE6}"/>
              </a:ext>
            </a:extLst>
          </p:cNvPr>
          <p:cNvCxnSpPr>
            <a:cxnSpLocks/>
          </p:cNvCxnSpPr>
          <p:nvPr/>
        </p:nvCxnSpPr>
        <p:spPr bwMode="auto">
          <a:xfrm>
            <a:off x="5375992" y="143111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42" name="正方形/長方形 41">
            <a:extLst>
              <a:ext uri="{FF2B5EF4-FFF2-40B4-BE49-F238E27FC236}">
                <a16:creationId xmlns:a16="http://schemas.microsoft.com/office/drawing/2014/main" id="{747154B8-54DD-D7EB-1A03-0FDF630C5879}"/>
              </a:ext>
            </a:extLst>
          </p:cNvPr>
          <p:cNvSpPr/>
          <p:nvPr/>
        </p:nvSpPr>
        <p:spPr bwMode="auto">
          <a:xfrm>
            <a:off x="5195990" y="108897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43" name="フリーフォーム 10">
            <a:extLst>
              <a:ext uri="{FF2B5EF4-FFF2-40B4-BE49-F238E27FC236}">
                <a16:creationId xmlns:a16="http://schemas.microsoft.com/office/drawing/2014/main" id="{B2B75C57-15EA-475C-1AF3-A7C9A7FAFAE7}"/>
              </a:ext>
            </a:extLst>
          </p:cNvPr>
          <p:cNvSpPr>
            <a:spLocks noChangeArrowheads="1"/>
          </p:cNvSpPr>
          <p:nvPr/>
        </p:nvSpPr>
        <p:spPr bwMode="auto">
          <a:xfrm flipH="1">
            <a:off x="5015988"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44" name="直線矢印コネクタ 43">
            <a:extLst>
              <a:ext uri="{FF2B5EF4-FFF2-40B4-BE49-F238E27FC236}">
                <a16:creationId xmlns:a16="http://schemas.microsoft.com/office/drawing/2014/main" id="{AE837242-98CF-4FA2-5074-518D72E95043}"/>
              </a:ext>
            </a:extLst>
          </p:cNvPr>
          <p:cNvCxnSpPr>
            <a:cxnSpLocks/>
          </p:cNvCxnSpPr>
          <p:nvPr/>
        </p:nvCxnSpPr>
        <p:spPr bwMode="auto">
          <a:xfrm>
            <a:off x="5375992" y="1988984"/>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45" name="正方形/長方形 44">
            <a:extLst>
              <a:ext uri="{FF2B5EF4-FFF2-40B4-BE49-F238E27FC236}">
                <a16:creationId xmlns:a16="http://schemas.microsoft.com/office/drawing/2014/main" id="{37C50A8F-B543-E543-B194-A28BD7C80234}"/>
              </a:ext>
            </a:extLst>
          </p:cNvPr>
          <p:cNvSpPr/>
          <p:nvPr/>
        </p:nvSpPr>
        <p:spPr bwMode="auto">
          <a:xfrm>
            <a:off x="4205979" y="1628980"/>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46" name="直線矢印コネクタ 45">
            <a:extLst>
              <a:ext uri="{FF2B5EF4-FFF2-40B4-BE49-F238E27FC236}">
                <a16:creationId xmlns:a16="http://schemas.microsoft.com/office/drawing/2014/main" id="{F0694B87-B18F-1C6F-5A3C-A92BC9EE4320}"/>
              </a:ext>
            </a:extLst>
          </p:cNvPr>
          <p:cNvCxnSpPr>
            <a:cxnSpLocks/>
          </p:cNvCxnSpPr>
          <p:nvPr/>
        </p:nvCxnSpPr>
        <p:spPr bwMode="auto">
          <a:xfrm>
            <a:off x="4565983" y="1431109"/>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47" name="正方形/長方形 46">
            <a:extLst>
              <a:ext uri="{FF2B5EF4-FFF2-40B4-BE49-F238E27FC236}">
                <a16:creationId xmlns:a16="http://schemas.microsoft.com/office/drawing/2014/main" id="{DA8EC126-8498-007C-2949-CB32D087BEB9}"/>
              </a:ext>
            </a:extLst>
          </p:cNvPr>
          <p:cNvSpPr/>
          <p:nvPr/>
        </p:nvSpPr>
        <p:spPr bwMode="auto">
          <a:xfrm>
            <a:off x="4385981" y="1088973"/>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48" name="フリーフォーム 10">
            <a:extLst>
              <a:ext uri="{FF2B5EF4-FFF2-40B4-BE49-F238E27FC236}">
                <a16:creationId xmlns:a16="http://schemas.microsoft.com/office/drawing/2014/main" id="{8FE30F83-201A-9E5A-8D30-A11ABFB99284}"/>
              </a:ext>
            </a:extLst>
          </p:cNvPr>
          <p:cNvSpPr>
            <a:spLocks noChangeArrowheads="1"/>
          </p:cNvSpPr>
          <p:nvPr/>
        </p:nvSpPr>
        <p:spPr bwMode="auto">
          <a:xfrm flipH="1">
            <a:off x="4205979" y="234898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49" name="直線矢印コネクタ 48">
            <a:extLst>
              <a:ext uri="{FF2B5EF4-FFF2-40B4-BE49-F238E27FC236}">
                <a16:creationId xmlns:a16="http://schemas.microsoft.com/office/drawing/2014/main" id="{BC29DF41-6856-3637-3F99-ECD7BD04DECE}"/>
              </a:ext>
            </a:extLst>
          </p:cNvPr>
          <p:cNvCxnSpPr>
            <a:cxnSpLocks/>
          </p:cNvCxnSpPr>
          <p:nvPr/>
        </p:nvCxnSpPr>
        <p:spPr bwMode="auto">
          <a:xfrm>
            <a:off x="4565983" y="1988983"/>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50" name="正方形/長方形 49">
            <a:extLst>
              <a:ext uri="{FF2B5EF4-FFF2-40B4-BE49-F238E27FC236}">
                <a16:creationId xmlns:a16="http://schemas.microsoft.com/office/drawing/2014/main" id="{2EA8BA08-F030-4AC0-112C-7C123F7F721E}"/>
              </a:ext>
            </a:extLst>
          </p:cNvPr>
          <p:cNvSpPr/>
          <p:nvPr/>
        </p:nvSpPr>
        <p:spPr bwMode="auto">
          <a:xfrm>
            <a:off x="6636006" y="162898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51" name="直線矢印コネクタ 50">
            <a:extLst>
              <a:ext uri="{FF2B5EF4-FFF2-40B4-BE49-F238E27FC236}">
                <a16:creationId xmlns:a16="http://schemas.microsoft.com/office/drawing/2014/main" id="{C407411A-DD2F-09B4-6CE1-2E7D55AC300D}"/>
              </a:ext>
            </a:extLst>
          </p:cNvPr>
          <p:cNvCxnSpPr>
            <a:cxnSpLocks/>
          </p:cNvCxnSpPr>
          <p:nvPr/>
        </p:nvCxnSpPr>
        <p:spPr bwMode="auto">
          <a:xfrm>
            <a:off x="6996010" y="143111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52" name="正方形/長方形 51">
            <a:extLst>
              <a:ext uri="{FF2B5EF4-FFF2-40B4-BE49-F238E27FC236}">
                <a16:creationId xmlns:a16="http://schemas.microsoft.com/office/drawing/2014/main" id="{8F11ACE4-2BE4-CB20-2529-2F6D50CD9D3A}"/>
              </a:ext>
            </a:extLst>
          </p:cNvPr>
          <p:cNvSpPr/>
          <p:nvPr/>
        </p:nvSpPr>
        <p:spPr bwMode="auto">
          <a:xfrm>
            <a:off x="6816008" y="108897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53" name="フリーフォーム 10">
            <a:extLst>
              <a:ext uri="{FF2B5EF4-FFF2-40B4-BE49-F238E27FC236}">
                <a16:creationId xmlns:a16="http://schemas.microsoft.com/office/drawing/2014/main" id="{BDE91A7B-309D-D058-22C3-89A91B7B2524}"/>
              </a:ext>
            </a:extLst>
          </p:cNvPr>
          <p:cNvSpPr>
            <a:spLocks noChangeArrowheads="1"/>
          </p:cNvSpPr>
          <p:nvPr/>
        </p:nvSpPr>
        <p:spPr bwMode="auto">
          <a:xfrm flipH="1">
            <a:off x="6636006"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54" name="直線矢印コネクタ 53">
            <a:extLst>
              <a:ext uri="{FF2B5EF4-FFF2-40B4-BE49-F238E27FC236}">
                <a16:creationId xmlns:a16="http://schemas.microsoft.com/office/drawing/2014/main" id="{6A6A7A0C-80ED-24B9-5E72-D2837273FA1D}"/>
              </a:ext>
            </a:extLst>
          </p:cNvPr>
          <p:cNvCxnSpPr>
            <a:cxnSpLocks/>
          </p:cNvCxnSpPr>
          <p:nvPr/>
        </p:nvCxnSpPr>
        <p:spPr bwMode="auto">
          <a:xfrm>
            <a:off x="6996010" y="1988984"/>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55" name="正方形/長方形 54">
            <a:extLst>
              <a:ext uri="{FF2B5EF4-FFF2-40B4-BE49-F238E27FC236}">
                <a16:creationId xmlns:a16="http://schemas.microsoft.com/office/drawing/2014/main" id="{745CA04E-1AC3-C6F3-D23F-061102E3C657}"/>
              </a:ext>
            </a:extLst>
          </p:cNvPr>
          <p:cNvSpPr/>
          <p:nvPr/>
        </p:nvSpPr>
        <p:spPr bwMode="auto">
          <a:xfrm>
            <a:off x="5825997" y="1628980"/>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56" name="直線矢印コネクタ 55">
            <a:extLst>
              <a:ext uri="{FF2B5EF4-FFF2-40B4-BE49-F238E27FC236}">
                <a16:creationId xmlns:a16="http://schemas.microsoft.com/office/drawing/2014/main" id="{23066673-0BB4-7B6F-9A9F-66C82EECDBA5}"/>
              </a:ext>
            </a:extLst>
          </p:cNvPr>
          <p:cNvCxnSpPr>
            <a:cxnSpLocks/>
          </p:cNvCxnSpPr>
          <p:nvPr/>
        </p:nvCxnSpPr>
        <p:spPr bwMode="auto">
          <a:xfrm>
            <a:off x="6186001" y="1431109"/>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57" name="正方形/長方形 56">
            <a:extLst>
              <a:ext uri="{FF2B5EF4-FFF2-40B4-BE49-F238E27FC236}">
                <a16:creationId xmlns:a16="http://schemas.microsoft.com/office/drawing/2014/main" id="{34550578-FE90-E3EC-BF90-FD2CA2789B00}"/>
              </a:ext>
            </a:extLst>
          </p:cNvPr>
          <p:cNvSpPr/>
          <p:nvPr/>
        </p:nvSpPr>
        <p:spPr bwMode="auto">
          <a:xfrm>
            <a:off x="6005999" y="1088973"/>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58" name="フリーフォーム 10">
            <a:extLst>
              <a:ext uri="{FF2B5EF4-FFF2-40B4-BE49-F238E27FC236}">
                <a16:creationId xmlns:a16="http://schemas.microsoft.com/office/drawing/2014/main" id="{040B77BA-AAD4-6DA4-E76F-D285AF2EEB62}"/>
              </a:ext>
            </a:extLst>
          </p:cNvPr>
          <p:cNvSpPr>
            <a:spLocks noChangeArrowheads="1"/>
          </p:cNvSpPr>
          <p:nvPr/>
        </p:nvSpPr>
        <p:spPr bwMode="auto">
          <a:xfrm flipH="1">
            <a:off x="5825997" y="234898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59" name="直線矢印コネクタ 58">
            <a:extLst>
              <a:ext uri="{FF2B5EF4-FFF2-40B4-BE49-F238E27FC236}">
                <a16:creationId xmlns:a16="http://schemas.microsoft.com/office/drawing/2014/main" id="{9CADB85A-2EF1-4D15-6F55-155ED20968B6}"/>
              </a:ext>
            </a:extLst>
          </p:cNvPr>
          <p:cNvCxnSpPr>
            <a:cxnSpLocks/>
          </p:cNvCxnSpPr>
          <p:nvPr/>
        </p:nvCxnSpPr>
        <p:spPr bwMode="auto">
          <a:xfrm>
            <a:off x="6186001" y="1988983"/>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4827432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6BFB8C-2E41-AD2B-F3B9-AFED03B6523F}"/>
              </a:ext>
            </a:extLst>
          </p:cNvPr>
          <p:cNvSpPr>
            <a:spLocks noGrp="1"/>
          </p:cNvSpPr>
          <p:nvPr>
            <p:ph type="title"/>
          </p:nvPr>
        </p:nvSpPr>
        <p:spPr/>
        <p:txBody>
          <a:bodyPr/>
          <a:lstStyle/>
          <a:p>
            <a:r>
              <a:rPr kumimoji="1" lang="ja-JP" altLang="en-US" dirty="0"/>
              <a:t>フリンの分類と実際</a:t>
            </a:r>
          </a:p>
        </p:txBody>
      </p:sp>
      <p:sp>
        <p:nvSpPr>
          <p:cNvPr id="3" name="テキスト プレースホルダー 2">
            <a:extLst>
              <a:ext uri="{FF2B5EF4-FFF2-40B4-BE49-F238E27FC236}">
                <a16:creationId xmlns:a16="http://schemas.microsoft.com/office/drawing/2014/main" id="{D24C114C-4187-32BE-E497-9D9752F758BB}"/>
              </a:ext>
            </a:extLst>
          </p:cNvPr>
          <p:cNvSpPr>
            <a:spLocks noGrp="1"/>
          </p:cNvSpPr>
          <p:nvPr>
            <p:ph type="body" sz="quarter" idx="10"/>
          </p:nvPr>
        </p:nvSpPr>
        <p:spPr/>
        <p:txBody>
          <a:bodyPr/>
          <a:lstStyle/>
          <a:p>
            <a:r>
              <a:rPr kumimoji="1" lang="ja-JP" altLang="en-US" dirty="0"/>
              <a:t>現代のコンピュータをこのフリンの分類にそのまま厳密に当てはめようとするとやや無理がある</a:t>
            </a:r>
            <a:endParaRPr kumimoji="1" lang="en-US" altLang="ja-JP" dirty="0"/>
          </a:p>
          <a:p>
            <a:pPr lvl="1"/>
            <a:r>
              <a:rPr kumimoji="1" lang="ja-JP" altLang="en-US" dirty="0"/>
              <a:t>通常は複数の要素を同時に併せ持つことが多い</a:t>
            </a:r>
            <a:endParaRPr kumimoji="1" lang="en-US" altLang="ja-JP" dirty="0"/>
          </a:p>
          <a:p>
            <a:r>
              <a:rPr kumimoji="1" lang="ja-JP" altLang="en-US" dirty="0"/>
              <a:t>たとえば･･･</a:t>
            </a:r>
            <a:endParaRPr kumimoji="1" lang="en-US" altLang="ja-JP" dirty="0"/>
          </a:p>
          <a:p>
            <a:pPr lvl="1"/>
            <a:r>
              <a:rPr kumimoji="1" lang="en-US" altLang="ja-JP" dirty="0"/>
              <a:t>GPU </a:t>
            </a:r>
            <a:r>
              <a:rPr kumimoji="1" lang="ja-JP" altLang="en-US" dirty="0"/>
              <a:t>は </a:t>
            </a:r>
            <a:r>
              <a:rPr kumimoji="1" lang="en-US" altLang="ja-JP" dirty="0"/>
              <a:t>SIMD </a:t>
            </a:r>
            <a:r>
              <a:rPr kumimoji="1" lang="ja-JP" altLang="en-US" dirty="0"/>
              <a:t>方式のコアを複数備えていることが一般的</a:t>
            </a:r>
            <a:endParaRPr kumimoji="1" lang="en-US" altLang="ja-JP" dirty="0"/>
          </a:p>
          <a:p>
            <a:pPr lvl="2"/>
            <a:r>
              <a:rPr kumimoji="1" lang="en-US" altLang="ja-JP" dirty="0"/>
              <a:t>SIMD </a:t>
            </a:r>
            <a:r>
              <a:rPr kumimoji="1" lang="ja-JP" altLang="en-US" dirty="0"/>
              <a:t>と </a:t>
            </a:r>
            <a:r>
              <a:rPr kumimoji="1" lang="en-US" altLang="ja-JP" dirty="0"/>
              <a:t>MIMD </a:t>
            </a:r>
            <a:r>
              <a:rPr kumimoji="1" lang="ja-JP" altLang="en-US" dirty="0"/>
              <a:t>の要素を併せ持つ</a:t>
            </a:r>
            <a:endParaRPr kumimoji="1" lang="en-US" altLang="ja-JP" dirty="0"/>
          </a:p>
          <a:p>
            <a:pPr lvl="1"/>
            <a:r>
              <a:rPr kumimoji="1" lang="en-US" altLang="ja-JP" dirty="0"/>
              <a:t>CPU </a:t>
            </a:r>
            <a:r>
              <a:rPr kumimoji="1" lang="ja-JP" altLang="en-US" dirty="0"/>
              <a:t>では一部の命令でのみ複数のデータを同時に処理する</a:t>
            </a:r>
            <a:endParaRPr kumimoji="1" lang="en-US" altLang="ja-JP" dirty="0"/>
          </a:p>
          <a:p>
            <a:pPr lvl="2"/>
            <a:r>
              <a:rPr kumimoji="1" lang="en-US" altLang="ja-JP" dirty="0"/>
              <a:t>SISD </a:t>
            </a:r>
            <a:r>
              <a:rPr kumimoji="1" lang="ja-JP" altLang="en-US" dirty="0"/>
              <a:t>と </a:t>
            </a:r>
            <a:r>
              <a:rPr kumimoji="1" lang="en-US" altLang="ja-JP" dirty="0"/>
              <a:t>SIMD </a:t>
            </a:r>
            <a:r>
              <a:rPr kumimoji="1" lang="ja-JP" altLang="en-US" dirty="0"/>
              <a:t>の要素を併せ持つ</a:t>
            </a:r>
            <a:endParaRPr kumimoji="1" lang="en-US" altLang="ja-JP" dirty="0"/>
          </a:p>
          <a:p>
            <a:pPr lvl="2"/>
            <a:r>
              <a:rPr kumimoji="1" lang="ja-JP" altLang="en-US" dirty="0"/>
              <a:t>マルチコア化されると </a:t>
            </a:r>
            <a:r>
              <a:rPr kumimoji="1" lang="en-US" altLang="ja-JP" dirty="0"/>
              <a:t>MIMD </a:t>
            </a:r>
            <a:r>
              <a:rPr kumimoji="1" lang="ja-JP" altLang="en-US" dirty="0"/>
              <a:t>の要素もある</a:t>
            </a:r>
            <a:endParaRPr kumimoji="1" lang="en-US" altLang="ja-JP" dirty="0"/>
          </a:p>
          <a:p>
            <a:r>
              <a:rPr kumimoji="1" lang="ja-JP" altLang="en-US" dirty="0"/>
              <a:t>フリンの分類は，あくまでコンピュータをある特定の軸から見た際の分類であると考える</a:t>
            </a:r>
          </a:p>
        </p:txBody>
      </p:sp>
    </p:spTree>
    <p:extLst>
      <p:ext uri="{BB962C8B-B14F-4D97-AF65-F5344CB8AC3E}">
        <p14:creationId xmlns:p14="http://schemas.microsoft.com/office/powerpoint/2010/main" val="27778743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3E305F-E683-21A7-444E-CC570318A147}"/>
              </a:ext>
            </a:extLst>
          </p:cNvPr>
          <p:cNvSpPr>
            <a:spLocks noGrp="1"/>
          </p:cNvSpPr>
          <p:nvPr>
            <p:ph type="title"/>
          </p:nvPr>
        </p:nvSpPr>
        <p:spPr/>
        <p:txBody>
          <a:bodyPr/>
          <a:lstStyle/>
          <a:p>
            <a:r>
              <a:rPr kumimoji="1" lang="ja-JP" altLang="en-US" dirty="0"/>
              <a:t>余談：</a:t>
            </a:r>
            <a:r>
              <a:rPr kumimoji="1" lang="en-US" altLang="ja-JP" dirty="0"/>
              <a:t>SIMD </a:t>
            </a:r>
            <a:r>
              <a:rPr kumimoji="1" lang="ja-JP" altLang="en-US" dirty="0"/>
              <a:t>の発音</a:t>
            </a:r>
          </a:p>
        </p:txBody>
      </p:sp>
      <p:sp>
        <p:nvSpPr>
          <p:cNvPr id="3" name="テキスト プレースホルダー 2">
            <a:extLst>
              <a:ext uri="{FF2B5EF4-FFF2-40B4-BE49-F238E27FC236}">
                <a16:creationId xmlns:a16="http://schemas.microsoft.com/office/drawing/2014/main" id="{E4D94290-2C9F-94DD-0D8C-3689D7B5526B}"/>
              </a:ext>
            </a:extLst>
          </p:cNvPr>
          <p:cNvSpPr>
            <a:spLocks noGrp="1"/>
          </p:cNvSpPr>
          <p:nvPr>
            <p:ph type="body" sz="quarter" idx="10"/>
          </p:nvPr>
        </p:nvSpPr>
        <p:spPr>
          <a:xfrm>
            <a:off x="1865953" y="908973"/>
            <a:ext cx="8280092" cy="1530017"/>
          </a:xfrm>
        </p:spPr>
        <p:txBody>
          <a:bodyPr/>
          <a:lstStyle/>
          <a:p>
            <a:r>
              <a:rPr kumimoji="1" lang="ja-JP" altLang="en-US" dirty="0"/>
              <a:t>業界では「シムディー</a:t>
            </a:r>
            <a:r>
              <a:rPr kumimoji="1" lang="en-US" altLang="ja-JP" dirty="0"/>
              <a:t>/sim-dee</a:t>
            </a:r>
            <a:r>
              <a:rPr kumimoji="1" lang="ja-JP" altLang="en-US" dirty="0"/>
              <a:t>」と発音する</a:t>
            </a:r>
            <a:endParaRPr kumimoji="1" lang="en-US" altLang="ja-JP" dirty="0"/>
          </a:p>
          <a:p>
            <a:pPr lvl="1"/>
            <a:r>
              <a:rPr kumimoji="1" lang="ja-JP" altLang="en-US" dirty="0"/>
              <a:t>シムド と読んじゃだめ</a:t>
            </a:r>
          </a:p>
        </p:txBody>
      </p:sp>
      <p:pic>
        <p:nvPicPr>
          <p:cNvPr id="5" name="図 4">
            <a:extLst>
              <a:ext uri="{FF2B5EF4-FFF2-40B4-BE49-F238E27FC236}">
                <a16:creationId xmlns:a16="http://schemas.microsoft.com/office/drawing/2014/main" id="{C51EEBE6-2B96-8DCF-505D-A49F2CF658C5}"/>
              </a:ext>
            </a:extLst>
          </p:cNvPr>
          <p:cNvPicPr>
            <a:picLocks noChangeAspect="1"/>
          </p:cNvPicPr>
          <p:nvPr/>
        </p:nvPicPr>
        <p:blipFill>
          <a:blip r:embed="rId2"/>
          <a:stretch>
            <a:fillRect/>
          </a:stretch>
        </p:blipFill>
        <p:spPr>
          <a:xfrm>
            <a:off x="3845976" y="2438990"/>
            <a:ext cx="6102017" cy="2400863"/>
          </a:xfrm>
          <a:prstGeom prst="rect">
            <a:avLst/>
          </a:prstGeom>
        </p:spPr>
      </p:pic>
      <p:pic>
        <p:nvPicPr>
          <p:cNvPr id="7" name="図 6">
            <a:extLst>
              <a:ext uri="{FF2B5EF4-FFF2-40B4-BE49-F238E27FC236}">
                <a16:creationId xmlns:a16="http://schemas.microsoft.com/office/drawing/2014/main" id="{EDD48A1A-2680-CA86-E92E-DC5D24A08E79}"/>
              </a:ext>
            </a:extLst>
          </p:cNvPr>
          <p:cNvPicPr>
            <a:picLocks noChangeAspect="1"/>
          </p:cNvPicPr>
          <p:nvPr/>
        </p:nvPicPr>
        <p:blipFill>
          <a:blip r:embed="rId3"/>
          <a:stretch>
            <a:fillRect/>
          </a:stretch>
        </p:blipFill>
        <p:spPr>
          <a:xfrm>
            <a:off x="1865953" y="3789004"/>
            <a:ext cx="3755994" cy="2700030"/>
          </a:xfrm>
          <a:prstGeom prst="rect">
            <a:avLst/>
          </a:prstGeom>
        </p:spPr>
      </p:pic>
      <p:sp>
        <p:nvSpPr>
          <p:cNvPr id="9" name="テキスト ボックス 8">
            <a:extLst>
              <a:ext uri="{FF2B5EF4-FFF2-40B4-BE49-F238E27FC236}">
                <a16:creationId xmlns:a16="http://schemas.microsoft.com/office/drawing/2014/main" id="{09D2F3B8-5703-8E8D-5AA8-E36D565D1DED}"/>
              </a:ext>
            </a:extLst>
          </p:cNvPr>
          <p:cNvSpPr txBox="1"/>
          <p:nvPr/>
        </p:nvSpPr>
        <p:spPr>
          <a:xfrm>
            <a:off x="6067037" y="5499023"/>
            <a:ext cx="4572000" cy="1223412"/>
          </a:xfrm>
          <a:prstGeom prst="rect">
            <a:avLst/>
          </a:prstGeom>
          <a:noFill/>
        </p:spPr>
        <p:txBody>
          <a:bodyPr wrap="square">
            <a:spAutoFit/>
          </a:bodyPr>
          <a:lstStyle/>
          <a:p>
            <a:r>
              <a:rPr lang="ja-JP" altLang="en-US" sz="1050" dirty="0">
                <a:solidFill>
                  <a:schemeClr val="tx1">
                    <a:lumMod val="75000"/>
                    <a:lumOff val="25000"/>
                  </a:schemeClr>
                </a:solidFill>
              </a:rPr>
              <a:t>それぞれ以下より</a:t>
            </a:r>
            <a:endParaRPr lang="en-US" altLang="ja-JP" sz="1050" dirty="0">
              <a:solidFill>
                <a:schemeClr val="tx1">
                  <a:lumMod val="75000"/>
                  <a:lumOff val="25000"/>
                </a:schemeClr>
              </a:solidFill>
            </a:endParaRPr>
          </a:p>
          <a:p>
            <a:r>
              <a:rPr lang="en-US" altLang="ja-JP" sz="1050" dirty="0">
                <a:solidFill>
                  <a:schemeClr val="tx1">
                    <a:lumMod val="75000"/>
                    <a:lumOff val="25000"/>
                  </a:schemeClr>
                </a:solidFill>
              </a:rPr>
              <a:t>Mozilla </a:t>
            </a:r>
            <a:r>
              <a:rPr lang="ja-JP" altLang="en-US" sz="1050" dirty="0">
                <a:solidFill>
                  <a:schemeClr val="tx1">
                    <a:lumMod val="75000"/>
                    <a:lumOff val="25000"/>
                  </a:schemeClr>
                </a:solidFill>
              </a:rPr>
              <a:t>の開発者ページ</a:t>
            </a:r>
            <a:endParaRPr lang="en-US" altLang="ja-JP" sz="1050" dirty="0">
              <a:solidFill>
                <a:schemeClr val="tx1">
                  <a:lumMod val="75000"/>
                  <a:lumOff val="25000"/>
                </a:schemeClr>
              </a:solidFill>
            </a:endParaRPr>
          </a:p>
          <a:p>
            <a:r>
              <a:rPr lang="en-US" altLang="ja-JP" sz="1050" dirty="0">
                <a:solidFill>
                  <a:schemeClr val="accent5"/>
                </a:solidFill>
                <a:hlinkClick r:id="rId4">
                  <a:extLst>
                    <a:ext uri="{A12FA001-AC4F-418D-AE19-62706E023703}">
                      <ahyp:hlinkClr xmlns:ahyp="http://schemas.microsoft.com/office/drawing/2018/hyperlinkcolor" val="tx"/>
                    </a:ext>
                  </a:extLst>
                </a:hlinkClick>
              </a:rPr>
              <a:t>https://developer.mozilla.org/en-US/docs/Glossary/SIMD</a:t>
            </a:r>
            <a:br>
              <a:rPr lang="en-US" altLang="ja-JP" sz="1050" dirty="0">
                <a:solidFill>
                  <a:schemeClr val="tx1">
                    <a:lumMod val="75000"/>
                    <a:lumOff val="25000"/>
                  </a:schemeClr>
                </a:solidFill>
              </a:rPr>
            </a:br>
            <a:r>
              <a:rPr lang="en-US" altLang="ja-JP" sz="1050" dirty="0">
                <a:solidFill>
                  <a:schemeClr val="tx1">
                    <a:lumMod val="75000"/>
                    <a:lumOff val="25000"/>
                  </a:schemeClr>
                </a:solidFill>
              </a:rPr>
              <a:t>UCSB </a:t>
            </a:r>
            <a:r>
              <a:rPr lang="ja-JP" altLang="en-US" sz="1050" dirty="0">
                <a:solidFill>
                  <a:schemeClr val="tx1">
                    <a:lumMod val="75000"/>
                    <a:lumOff val="25000"/>
                  </a:schemeClr>
                </a:solidFill>
              </a:rPr>
              <a:t>の講義資料</a:t>
            </a:r>
            <a:endParaRPr lang="en-US" altLang="ja-JP" sz="1050" dirty="0">
              <a:solidFill>
                <a:schemeClr val="tx1">
                  <a:lumMod val="75000"/>
                  <a:lumOff val="25000"/>
                </a:schemeClr>
              </a:solidFill>
            </a:endParaRPr>
          </a:p>
          <a:p>
            <a:r>
              <a:rPr lang="ja-JP" altLang="en-US" sz="1050" dirty="0">
                <a:solidFill>
                  <a:schemeClr val="accent5"/>
                </a:solidFill>
                <a:hlinkClick r:id="rId5">
                  <a:extLst>
                    <a:ext uri="{A12FA001-AC4F-418D-AE19-62706E023703}">
                      <ahyp:hlinkClr xmlns:ahyp="http://schemas.microsoft.com/office/drawing/2018/hyperlinkcolor" val="tx"/>
                    </a:ext>
                  </a:extLst>
                </a:hlinkClick>
              </a:rPr>
              <a:t>https://sites.cs.ucsb.edu/~tyang/class/240a17/slides/SIMD.pdf</a:t>
            </a:r>
            <a:endParaRPr lang="en-US" altLang="ja-JP" sz="1050" dirty="0">
              <a:solidFill>
                <a:schemeClr val="accent5"/>
              </a:solidFill>
            </a:endParaRPr>
          </a:p>
          <a:p>
            <a:r>
              <a:rPr lang="ja-JP" altLang="en-US" sz="1050" dirty="0">
                <a:solidFill>
                  <a:schemeClr val="tx1">
                    <a:lumMod val="75000"/>
                    <a:lumOff val="25000"/>
                  </a:schemeClr>
                </a:solidFill>
              </a:rPr>
              <a:t>イラスト</a:t>
            </a:r>
            <a:endParaRPr lang="en-US" altLang="ja-JP" sz="1050" dirty="0">
              <a:solidFill>
                <a:schemeClr val="tx1">
                  <a:lumMod val="75000"/>
                  <a:lumOff val="25000"/>
                </a:schemeClr>
              </a:solidFill>
            </a:endParaRPr>
          </a:p>
          <a:p>
            <a:r>
              <a:rPr lang="ja-JP" altLang="en-US" sz="1050" dirty="0">
                <a:solidFill>
                  <a:schemeClr val="tx1">
                    <a:lumMod val="75000"/>
                    <a:lumOff val="25000"/>
                  </a:schemeClr>
                </a:solidFill>
              </a:rPr>
              <a:t>村上太一</a:t>
            </a:r>
            <a:r>
              <a:rPr lang="en-US" altLang="ja-JP" sz="1050" dirty="0">
                <a:solidFill>
                  <a:schemeClr val="tx1">
                    <a:lumMod val="75000"/>
                    <a:lumOff val="25000"/>
                  </a:schemeClr>
                </a:solidFill>
              </a:rPr>
              <a:t>@TIER IV</a:t>
            </a:r>
            <a:endParaRPr lang="ja-JP" altLang="en-US" sz="1050" dirty="0">
              <a:solidFill>
                <a:schemeClr val="tx1">
                  <a:lumMod val="75000"/>
                  <a:lumOff val="25000"/>
                </a:schemeClr>
              </a:solidFill>
            </a:endParaRPr>
          </a:p>
        </p:txBody>
      </p:sp>
      <p:sp>
        <p:nvSpPr>
          <p:cNvPr id="10" name="楕円 9">
            <a:extLst>
              <a:ext uri="{FF2B5EF4-FFF2-40B4-BE49-F238E27FC236}">
                <a16:creationId xmlns:a16="http://schemas.microsoft.com/office/drawing/2014/main" id="{D84BE87D-6B4C-CCBD-500D-1FF3D7058CEC}"/>
              </a:ext>
            </a:extLst>
          </p:cNvPr>
          <p:cNvSpPr/>
          <p:nvPr/>
        </p:nvSpPr>
        <p:spPr bwMode="auto">
          <a:xfrm>
            <a:off x="5735997" y="3789004"/>
            <a:ext cx="1620018" cy="270003"/>
          </a:xfrm>
          <a:prstGeom prst="ellipse">
            <a:avLst/>
          </a:prstGeom>
          <a:noFill/>
          <a:ln w="19050">
            <a:solidFill>
              <a:schemeClr val="accent5"/>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 name="楕円 10">
            <a:extLst>
              <a:ext uri="{FF2B5EF4-FFF2-40B4-BE49-F238E27FC236}">
                <a16:creationId xmlns:a16="http://schemas.microsoft.com/office/drawing/2014/main" id="{70E9E783-625E-EAC9-FB65-195A72D664DA}"/>
              </a:ext>
            </a:extLst>
          </p:cNvPr>
          <p:cNvSpPr/>
          <p:nvPr/>
        </p:nvSpPr>
        <p:spPr bwMode="auto">
          <a:xfrm>
            <a:off x="2675962" y="3969006"/>
            <a:ext cx="2160024" cy="360004"/>
          </a:xfrm>
          <a:prstGeom prst="ellipse">
            <a:avLst/>
          </a:prstGeom>
          <a:noFill/>
          <a:ln w="19050">
            <a:solidFill>
              <a:schemeClr val="accent5"/>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pic>
        <p:nvPicPr>
          <p:cNvPr id="1026" name="Picture 2">
            <a:extLst>
              <a:ext uri="{FF2B5EF4-FFF2-40B4-BE49-F238E27FC236}">
                <a16:creationId xmlns:a16="http://schemas.microsoft.com/office/drawing/2014/main" id="{DA3D5A9B-6D8E-917E-56C3-81B5A7867CD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6017" y="908973"/>
            <a:ext cx="2990776" cy="2798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16861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F28C6C-4B6B-0592-DFC2-4C563ECDF732}"/>
              </a:ext>
            </a:extLst>
          </p:cNvPr>
          <p:cNvSpPr>
            <a:spLocks noGrp="1"/>
          </p:cNvSpPr>
          <p:nvPr>
            <p:ph type="title"/>
          </p:nvPr>
        </p:nvSpPr>
        <p:spPr/>
        <p:txBody>
          <a:bodyPr/>
          <a:lstStyle/>
          <a:p>
            <a:r>
              <a:rPr kumimoji="1" lang="ja-JP" altLang="en-US" dirty="0"/>
              <a:t>もくじ</a:t>
            </a:r>
          </a:p>
        </p:txBody>
      </p:sp>
      <p:sp>
        <p:nvSpPr>
          <p:cNvPr id="3" name="テキスト プレースホルダー 2">
            <a:extLst>
              <a:ext uri="{FF2B5EF4-FFF2-40B4-BE49-F238E27FC236}">
                <a16:creationId xmlns:a16="http://schemas.microsoft.com/office/drawing/2014/main" id="{CBA111A3-835E-F467-EC49-839674912985}"/>
              </a:ext>
            </a:extLst>
          </p:cNvPr>
          <p:cNvSpPr>
            <a:spLocks noGrp="1"/>
          </p:cNvSpPr>
          <p:nvPr>
            <p:ph type="body" sz="quarter" idx="10"/>
          </p:nvPr>
        </p:nvSpPr>
        <p:spPr/>
        <p:txBody>
          <a:bodyPr/>
          <a:lstStyle/>
          <a:p>
            <a:pPr marL="457200" indent="-457200">
              <a:buFont typeface="+mj-lt"/>
              <a:buAutoNum type="arabicPeriod"/>
            </a:pPr>
            <a:r>
              <a:rPr kumimoji="1" lang="ja-JP" altLang="en-US" dirty="0"/>
              <a:t>フリンの分類と </a:t>
            </a:r>
            <a:r>
              <a:rPr kumimoji="1" lang="en-US" altLang="ja-JP" dirty="0"/>
              <a:t>SIMD</a:t>
            </a:r>
          </a:p>
          <a:p>
            <a:pPr marL="457200" indent="-457200">
              <a:buFont typeface="+mj-lt"/>
              <a:buAutoNum type="arabicPeriod"/>
            </a:pPr>
            <a:r>
              <a:rPr kumimoji="1" lang="en-US" altLang="ja-JP" dirty="0">
                <a:solidFill>
                  <a:schemeClr val="accent5"/>
                </a:solidFill>
              </a:rPr>
              <a:t>GPU </a:t>
            </a:r>
            <a:r>
              <a:rPr kumimoji="1" lang="ja-JP" altLang="en-US" dirty="0">
                <a:solidFill>
                  <a:schemeClr val="accent5"/>
                </a:solidFill>
              </a:rPr>
              <a:t>における回路量当たりの性能向上</a:t>
            </a:r>
            <a:endParaRPr kumimoji="1" lang="en-US" altLang="ja-JP" dirty="0">
              <a:solidFill>
                <a:schemeClr val="accent5"/>
              </a:solidFill>
            </a:endParaRPr>
          </a:p>
          <a:p>
            <a:pPr marL="817200" lvl="1" indent="-457200">
              <a:buFont typeface="+mj-lt"/>
              <a:buAutoNum type="arabicPeriod"/>
            </a:pPr>
            <a:r>
              <a:rPr kumimoji="1" lang="ja-JP" altLang="en-US" dirty="0"/>
              <a:t>演算器と制御部</a:t>
            </a:r>
            <a:endParaRPr kumimoji="1" lang="en-US" altLang="ja-JP" dirty="0"/>
          </a:p>
          <a:p>
            <a:pPr marL="817200" lvl="1" indent="-457200">
              <a:buFont typeface="+mj-lt"/>
              <a:buAutoNum type="arabicPeriod"/>
            </a:pPr>
            <a:r>
              <a:rPr kumimoji="1" lang="en-US" altLang="ja-JP" dirty="0"/>
              <a:t>SIMD </a:t>
            </a:r>
            <a:r>
              <a:rPr kumimoji="1" lang="ja-JP" altLang="en-US" dirty="0"/>
              <a:t>による制御部の共有</a:t>
            </a:r>
            <a:endParaRPr kumimoji="1" lang="en-US" altLang="ja-JP" dirty="0"/>
          </a:p>
          <a:p>
            <a:pPr marL="817200" lvl="1" indent="-457200">
              <a:buFont typeface="+mj-lt"/>
              <a:buAutoNum type="arabicPeriod"/>
            </a:pPr>
            <a:r>
              <a:rPr kumimoji="1" lang="ja-JP" altLang="en-US" dirty="0"/>
              <a:t>制御部自体の小型化</a:t>
            </a:r>
            <a:endParaRPr lang="en-US" altLang="ja-JP" dirty="0">
              <a:solidFill>
                <a:schemeClr val="accent5"/>
              </a:solidFill>
            </a:endParaRPr>
          </a:p>
          <a:p>
            <a:pPr marL="457200" indent="-457200">
              <a:buFont typeface="+mj-lt"/>
              <a:buAutoNum type="arabicPeriod"/>
            </a:pPr>
            <a:r>
              <a:rPr kumimoji="1" lang="en-US" altLang="ja-JP" dirty="0"/>
              <a:t>SIMD </a:t>
            </a:r>
            <a:r>
              <a:rPr kumimoji="1" lang="ja-JP" altLang="en-US" dirty="0"/>
              <a:t>プロセッサのプログラミング・モデル</a:t>
            </a:r>
          </a:p>
        </p:txBody>
      </p:sp>
    </p:spTree>
    <p:extLst>
      <p:ext uri="{BB962C8B-B14F-4D97-AF65-F5344CB8AC3E}">
        <p14:creationId xmlns:p14="http://schemas.microsoft.com/office/powerpoint/2010/main" val="3136153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6928-E4AC-D43C-5712-51ADCE7DA59C}"/>
              </a:ext>
            </a:extLst>
          </p:cNvPr>
          <p:cNvSpPr>
            <a:spLocks noGrp="1"/>
          </p:cNvSpPr>
          <p:nvPr>
            <p:ph type="title"/>
          </p:nvPr>
        </p:nvSpPr>
        <p:spPr/>
        <p:txBody>
          <a:bodyPr/>
          <a:lstStyle/>
          <a:p>
            <a:r>
              <a:rPr kumimoji="1" lang="ja-JP" altLang="en-US" dirty="0"/>
              <a:t>回路量当たりの性能の背景：演算器と制御部</a:t>
            </a:r>
          </a:p>
        </p:txBody>
      </p:sp>
      <p:sp>
        <p:nvSpPr>
          <p:cNvPr id="3" name="テキスト プレースホルダー 2">
            <a:extLst>
              <a:ext uri="{FF2B5EF4-FFF2-40B4-BE49-F238E27FC236}">
                <a16:creationId xmlns:a16="http://schemas.microsoft.com/office/drawing/2014/main" id="{8FD7964B-5D08-C0D0-086D-C6B016DE5D09}"/>
              </a:ext>
            </a:extLst>
          </p:cNvPr>
          <p:cNvSpPr>
            <a:spLocks noGrp="1"/>
          </p:cNvSpPr>
          <p:nvPr>
            <p:ph type="body" sz="quarter" idx="10"/>
          </p:nvPr>
        </p:nvSpPr>
        <p:spPr>
          <a:xfrm>
            <a:off x="1145945" y="1088973"/>
            <a:ext cx="9990111" cy="5130057"/>
          </a:xfrm>
        </p:spPr>
        <p:txBody>
          <a:bodyPr/>
          <a:lstStyle/>
          <a:p>
            <a:r>
              <a:rPr lang="en-US" altLang="ja-JP" sz="1800" dirty="0"/>
              <a:t>CPU </a:t>
            </a:r>
            <a:r>
              <a:rPr lang="ja-JP" altLang="en-US" sz="1800" dirty="0"/>
              <a:t>や </a:t>
            </a:r>
            <a:r>
              <a:rPr lang="en-US" altLang="ja-JP" sz="1800" dirty="0"/>
              <a:t>GPU </a:t>
            </a:r>
            <a:r>
              <a:rPr lang="ja-JP" altLang="en-US" sz="1800" dirty="0"/>
              <a:t>などを構成する回路を以下に分けて考える</a:t>
            </a:r>
            <a:endParaRPr lang="en-US" altLang="ja-JP" sz="1800" dirty="0"/>
          </a:p>
          <a:p>
            <a:pPr lvl="1"/>
            <a:r>
              <a:rPr lang="ja-JP" altLang="en-US" sz="1800" dirty="0"/>
              <a:t>制御部（青）</a:t>
            </a:r>
            <a:endParaRPr lang="en-US" altLang="ja-JP" sz="1800" dirty="0"/>
          </a:p>
          <a:p>
            <a:pPr lvl="2"/>
            <a:r>
              <a:rPr lang="ja-JP" altLang="en-US" sz="1800" dirty="0"/>
              <a:t>命令を解釈しそれに基づいて演算器を制御する回路</a:t>
            </a:r>
            <a:endParaRPr lang="en-US" altLang="ja-JP" sz="1800" dirty="0"/>
          </a:p>
          <a:p>
            <a:pPr lvl="2"/>
            <a:r>
              <a:rPr lang="ja-JP" altLang="en-US" sz="1800" dirty="0"/>
              <a:t>右の図だと </a:t>
            </a:r>
            <a:r>
              <a:rPr lang="en-US" altLang="ja-JP" sz="1800" dirty="0"/>
              <a:t>PC </a:t>
            </a:r>
            <a:r>
              <a:rPr lang="ja-JP" altLang="en-US" sz="1800" dirty="0"/>
              <a:t>や命令メモリ</a:t>
            </a:r>
            <a:endParaRPr lang="en-US" altLang="ja-JP" sz="1800" dirty="0"/>
          </a:p>
          <a:p>
            <a:pPr lvl="1"/>
            <a:r>
              <a:rPr lang="ja-JP" altLang="en-US" sz="1800" dirty="0"/>
              <a:t>演算器（赤）</a:t>
            </a:r>
            <a:endParaRPr lang="en-US" altLang="ja-JP" sz="1800" dirty="0"/>
          </a:p>
          <a:p>
            <a:pPr lvl="2"/>
            <a:r>
              <a:rPr lang="ja-JP" altLang="en-US" sz="1800" dirty="0"/>
              <a:t>加算や乗算などの演算そのものを行うための回路</a:t>
            </a:r>
            <a:endParaRPr lang="en-US" altLang="ja-JP" sz="1800" dirty="0"/>
          </a:p>
          <a:p>
            <a:r>
              <a:rPr lang="ja-JP" altLang="en-US" sz="1800" dirty="0"/>
              <a:t>これに基づいて回路量あたりの性能を議論</a:t>
            </a:r>
            <a:endParaRPr lang="en-US" altLang="ja-JP" sz="1800" dirty="0"/>
          </a:p>
          <a:p>
            <a:r>
              <a:rPr lang="ja-JP" altLang="en-US" sz="1800" b="1" dirty="0">
                <a:solidFill>
                  <a:schemeClr val="accent5"/>
                </a:solidFill>
              </a:rPr>
              <a:t>ポイント：演算器部分自体は </a:t>
            </a:r>
            <a:r>
              <a:rPr lang="en-US" altLang="ja-JP" sz="1800" b="1" dirty="0">
                <a:solidFill>
                  <a:schemeClr val="accent5"/>
                </a:solidFill>
              </a:rPr>
              <a:t>CPU </a:t>
            </a:r>
            <a:r>
              <a:rPr lang="ja-JP" altLang="en-US" sz="1800" b="1" dirty="0">
                <a:solidFill>
                  <a:schemeClr val="accent5"/>
                </a:solidFill>
              </a:rPr>
              <a:t>でも </a:t>
            </a:r>
            <a:r>
              <a:rPr lang="en-US" altLang="ja-JP" sz="1800" b="1" dirty="0">
                <a:solidFill>
                  <a:schemeClr val="accent5"/>
                </a:solidFill>
              </a:rPr>
              <a:t>GPU </a:t>
            </a:r>
            <a:r>
              <a:rPr lang="ja-JP" altLang="en-US" sz="1800" b="1" dirty="0">
                <a:solidFill>
                  <a:schemeClr val="accent5"/>
                </a:solidFill>
              </a:rPr>
              <a:t>でも基本的に変わらない</a:t>
            </a:r>
            <a:endParaRPr lang="en-US" altLang="ja-JP" sz="1800" b="1" dirty="0">
              <a:solidFill>
                <a:schemeClr val="accent5"/>
              </a:solidFill>
            </a:endParaRPr>
          </a:p>
          <a:p>
            <a:pPr lvl="1"/>
            <a:r>
              <a:rPr lang="en-US" altLang="ja-JP" sz="1800" dirty="0"/>
              <a:t>GPU </a:t>
            </a:r>
            <a:r>
              <a:rPr lang="ja-JP" altLang="en-US" sz="1800" dirty="0"/>
              <a:t>が効率が良い演算器を持っているなら，それは </a:t>
            </a:r>
            <a:r>
              <a:rPr lang="en-US" altLang="ja-JP" sz="1800" dirty="0"/>
              <a:t>CPU </a:t>
            </a:r>
            <a:r>
              <a:rPr lang="ja-JP" altLang="en-US" sz="1800" dirty="0"/>
              <a:t>にも持っていけるはず</a:t>
            </a:r>
            <a:endParaRPr lang="en-US" altLang="ja-JP" sz="1800" dirty="0"/>
          </a:p>
          <a:p>
            <a:pPr lvl="2"/>
            <a:r>
              <a:rPr lang="en-US" altLang="ja-JP" sz="1800" dirty="0"/>
              <a:t>AI </a:t>
            </a:r>
            <a:r>
              <a:rPr lang="ja-JP" altLang="en-US" sz="1800" dirty="0"/>
              <a:t>に特化した演算器は </a:t>
            </a:r>
            <a:r>
              <a:rPr lang="en-US" altLang="ja-JP" sz="1800" dirty="0"/>
              <a:t>CPU </a:t>
            </a:r>
            <a:r>
              <a:rPr lang="ja-JP" altLang="en-US" sz="1800" dirty="0"/>
              <a:t>にも取り入れられている</a:t>
            </a:r>
            <a:endParaRPr lang="en-US" altLang="ja-JP" sz="1800" dirty="0"/>
          </a:p>
          <a:p>
            <a:pPr lvl="1"/>
            <a:r>
              <a:rPr lang="ja-JP" altLang="en-US" sz="1800" dirty="0"/>
              <a:t>それ以外をどう減らすかが要点</a:t>
            </a:r>
            <a:endParaRPr lang="en-US" altLang="ja-JP" sz="1800" dirty="0"/>
          </a:p>
        </p:txBody>
      </p:sp>
      <p:sp>
        <p:nvSpPr>
          <p:cNvPr id="4" name="正方形/長方形 3">
            <a:extLst>
              <a:ext uri="{FF2B5EF4-FFF2-40B4-BE49-F238E27FC236}">
                <a16:creationId xmlns:a16="http://schemas.microsoft.com/office/drawing/2014/main" id="{AF3DB26E-B812-D162-28EF-7E0B7C6E0ADC}"/>
              </a:ext>
            </a:extLst>
          </p:cNvPr>
          <p:cNvSpPr/>
          <p:nvPr/>
        </p:nvSpPr>
        <p:spPr bwMode="auto">
          <a:xfrm>
            <a:off x="9696040" y="252899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5" name="直線矢印コネクタ 4">
            <a:extLst>
              <a:ext uri="{FF2B5EF4-FFF2-40B4-BE49-F238E27FC236}">
                <a16:creationId xmlns:a16="http://schemas.microsoft.com/office/drawing/2014/main" id="{E2649626-710D-0404-C85C-C2AC13A790E3}"/>
              </a:ext>
            </a:extLst>
          </p:cNvPr>
          <p:cNvCxnSpPr>
            <a:cxnSpLocks/>
          </p:cNvCxnSpPr>
          <p:nvPr/>
        </p:nvCxnSpPr>
        <p:spPr bwMode="auto">
          <a:xfrm>
            <a:off x="10056044" y="233112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6" name="正方形/長方形 5">
            <a:extLst>
              <a:ext uri="{FF2B5EF4-FFF2-40B4-BE49-F238E27FC236}">
                <a16:creationId xmlns:a16="http://schemas.microsoft.com/office/drawing/2014/main" id="{BCB63C97-3F8B-A391-D033-50FEA2F4DF09}"/>
              </a:ext>
            </a:extLst>
          </p:cNvPr>
          <p:cNvSpPr/>
          <p:nvPr/>
        </p:nvSpPr>
        <p:spPr bwMode="auto">
          <a:xfrm>
            <a:off x="9876042" y="198898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7" name="フリーフォーム 10">
            <a:extLst>
              <a:ext uri="{FF2B5EF4-FFF2-40B4-BE49-F238E27FC236}">
                <a16:creationId xmlns:a16="http://schemas.microsoft.com/office/drawing/2014/main" id="{185405A2-C00A-F9D2-D250-A8580D23200F}"/>
              </a:ext>
            </a:extLst>
          </p:cNvPr>
          <p:cNvSpPr>
            <a:spLocks noChangeArrowheads="1"/>
          </p:cNvSpPr>
          <p:nvPr/>
        </p:nvSpPr>
        <p:spPr bwMode="auto">
          <a:xfrm flipH="1">
            <a:off x="9696040" y="306899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16" name="直線矢印コネクタ 15">
            <a:extLst>
              <a:ext uri="{FF2B5EF4-FFF2-40B4-BE49-F238E27FC236}">
                <a16:creationId xmlns:a16="http://schemas.microsoft.com/office/drawing/2014/main" id="{2F06C7A3-7AC1-7814-5A39-B97C496EAE61}"/>
              </a:ext>
            </a:extLst>
          </p:cNvPr>
          <p:cNvCxnSpPr>
            <a:cxnSpLocks/>
          </p:cNvCxnSpPr>
          <p:nvPr/>
        </p:nvCxnSpPr>
        <p:spPr bwMode="auto">
          <a:xfrm>
            <a:off x="10056044" y="2888994"/>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1621716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CF3E3-D3F1-0F4E-E9B2-F3E27C16A519}"/>
            </a:ext>
          </a:extLst>
        </p:cNvPr>
        <p:cNvGrpSpPr/>
        <p:nvPr/>
      </p:nvGrpSpPr>
      <p:grpSpPr>
        <a:xfrm>
          <a:off x="0" y="0"/>
          <a:ext cx="0" cy="0"/>
          <a:chOff x="0" y="0"/>
          <a:chExt cx="0" cy="0"/>
        </a:xfrm>
      </p:grpSpPr>
      <p:grpSp>
        <p:nvGrpSpPr>
          <p:cNvPr id="34" name="グループ化 33">
            <a:extLst>
              <a:ext uri="{FF2B5EF4-FFF2-40B4-BE49-F238E27FC236}">
                <a16:creationId xmlns:a16="http://schemas.microsoft.com/office/drawing/2014/main" id="{D5A980C5-CD9F-EF2C-DBD1-3AE08B0AF73A}"/>
              </a:ext>
            </a:extLst>
          </p:cNvPr>
          <p:cNvGrpSpPr/>
          <p:nvPr/>
        </p:nvGrpSpPr>
        <p:grpSpPr>
          <a:xfrm>
            <a:off x="4745985" y="2798993"/>
            <a:ext cx="1562400" cy="576064"/>
            <a:chOff x="971600" y="5445224"/>
            <a:chExt cx="7200800" cy="576064"/>
          </a:xfrm>
        </p:grpSpPr>
        <p:sp>
          <p:nvSpPr>
            <p:cNvPr id="35" name="平行四辺形 34">
              <a:extLst>
                <a:ext uri="{FF2B5EF4-FFF2-40B4-BE49-F238E27FC236}">
                  <a16:creationId xmlns:a16="http://schemas.microsoft.com/office/drawing/2014/main" id="{CB739117-CFF5-D7BF-0D62-1A7878181E96}"/>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a:extLst>
                <a:ext uri="{FF2B5EF4-FFF2-40B4-BE49-F238E27FC236}">
                  <a16:creationId xmlns:a16="http://schemas.microsoft.com/office/drawing/2014/main" id="{9F13A914-3481-6BB3-D8C7-BE4899B3BC4A}"/>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a:extLst>
              <a:ext uri="{FF2B5EF4-FFF2-40B4-BE49-F238E27FC236}">
                <a16:creationId xmlns:a16="http://schemas.microsoft.com/office/drawing/2014/main" id="{BE156974-7A2B-E3C8-55DD-7F4E7AE5C254}"/>
              </a:ext>
            </a:extLst>
          </p:cNvPr>
          <p:cNvGrpSpPr/>
          <p:nvPr/>
        </p:nvGrpSpPr>
        <p:grpSpPr>
          <a:xfrm>
            <a:off x="6186145" y="2798993"/>
            <a:ext cx="1562400" cy="576064"/>
            <a:chOff x="971600" y="5445224"/>
            <a:chExt cx="7200800" cy="576064"/>
          </a:xfrm>
        </p:grpSpPr>
        <p:sp>
          <p:nvSpPr>
            <p:cNvPr id="50" name="平行四辺形 49">
              <a:extLst>
                <a:ext uri="{FF2B5EF4-FFF2-40B4-BE49-F238E27FC236}">
                  <a16:creationId xmlns:a16="http://schemas.microsoft.com/office/drawing/2014/main" id="{5B4A4B9B-6045-97AB-6818-FA10E3886DCF}"/>
                </a:ext>
              </a:extLst>
            </p:cNvPr>
            <p:cNvSpPr/>
            <p:nvPr/>
          </p:nvSpPr>
          <p:spPr bwMode="auto">
            <a:xfrm>
              <a:off x="971600" y="5517232"/>
              <a:ext cx="7200800"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a:extLst>
                <a:ext uri="{FF2B5EF4-FFF2-40B4-BE49-F238E27FC236}">
                  <a16:creationId xmlns:a16="http://schemas.microsoft.com/office/drawing/2014/main" id="{18FC77E9-4B4D-CF3D-EB05-4A92D38AA54E}"/>
                </a:ext>
              </a:extLst>
            </p:cNvPr>
            <p:cNvSpPr/>
            <p:nvPr/>
          </p:nvSpPr>
          <p:spPr bwMode="auto">
            <a:xfrm>
              <a:off x="971600" y="5445224"/>
              <a:ext cx="7200800"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a:extLst>
              <a:ext uri="{FF2B5EF4-FFF2-40B4-BE49-F238E27FC236}">
                <a16:creationId xmlns:a16="http://schemas.microsoft.com/office/drawing/2014/main" id="{DC261918-949D-7750-0ED4-919ECB480312}"/>
              </a:ext>
            </a:extLst>
          </p:cNvPr>
          <p:cNvSpPr/>
          <p:nvPr/>
        </p:nvSpPr>
        <p:spPr>
          <a:xfrm>
            <a:off x="4707825" y="1934450"/>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D9D28DE8-5B1B-D93F-DF26-4DFFCBF66E27}"/>
              </a:ext>
            </a:extLst>
          </p:cNvPr>
          <p:cNvSpPr/>
          <p:nvPr/>
        </p:nvSpPr>
        <p:spPr>
          <a:xfrm>
            <a:off x="6581848" y="200697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9E15B3C4-B9AC-FD05-273E-9646EDD686A8}"/>
              </a:ext>
            </a:extLst>
          </p:cNvPr>
          <p:cNvSpPr>
            <a:spLocks noGrp="1"/>
          </p:cNvSpPr>
          <p:nvPr>
            <p:ph type="title"/>
          </p:nvPr>
        </p:nvSpPr>
        <p:spPr>
          <a:xfrm>
            <a:off x="965943" y="0"/>
            <a:ext cx="10776052" cy="908972"/>
          </a:xfrm>
        </p:spPr>
        <p:txBody>
          <a:bodyPr/>
          <a:lstStyle/>
          <a:p>
            <a:r>
              <a:rPr lang="ja-JP" altLang="en-US" dirty="0"/>
              <a:t>またカレー屋さんで考えていく</a:t>
            </a:r>
            <a:endParaRPr kumimoji="1" lang="ja-JP" altLang="en-US" dirty="0"/>
          </a:p>
        </p:txBody>
      </p:sp>
      <p:cxnSp>
        <p:nvCxnSpPr>
          <p:cNvPr id="67" name="直線矢印コネクタ 66">
            <a:extLst>
              <a:ext uri="{FF2B5EF4-FFF2-40B4-BE49-F238E27FC236}">
                <a16:creationId xmlns:a16="http://schemas.microsoft.com/office/drawing/2014/main" id="{AEEB8E8C-18BD-5D03-107B-DB37A6FD0BF5}"/>
              </a:ext>
            </a:extLst>
          </p:cNvPr>
          <p:cNvCxnSpPr>
            <a:cxnSpLocks/>
          </p:cNvCxnSpPr>
          <p:nvPr/>
        </p:nvCxnSpPr>
        <p:spPr bwMode="auto">
          <a:xfrm>
            <a:off x="4745985" y="3609002"/>
            <a:ext cx="2970033"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7" name="正方形/長方形 96">
            <a:extLst>
              <a:ext uri="{FF2B5EF4-FFF2-40B4-BE49-F238E27FC236}">
                <a16:creationId xmlns:a16="http://schemas.microsoft.com/office/drawing/2014/main" id="{E4562BC2-79AA-7554-32C9-B06D97EC0D92}"/>
              </a:ext>
            </a:extLst>
          </p:cNvPr>
          <p:cNvSpPr/>
          <p:nvPr/>
        </p:nvSpPr>
        <p:spPr bwMode="auto">
          <a:xfrm>
            <a:off x="3575972" y="1268976"/>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レシピ</a:t>
            </a:r>
          </a:p>
        </p:txBody>
      </p:sp>
      <p:sp>
        <p:nvSpPr>
          <p:cNvPr id="31" name="AutoShape 5">
            <a:extLst>
              <a:ext uri="{FF2B5EF4-FFF2-40B4-BE49-F238E27FC236}">
                <a16:creationId xmlns:a16="http://schemas.microsoft.com/office/drawing/2014/main" id="{8D6395F4-092D-0657-042C-BA63EBC0D518}"/>
              </a:ext>
            </a:extLst>
          </p:cNvPr>
          <p:cNvSpPr>
            <a:spLocks noChangeArrowheads="1"/>
          </p:cNvSpPr>
          <p:nvPr/>
        </p:nvSpPr>
        <p:spPr bwMode="auto">
          <a:xfrm rot="-5400000">
            <a:off x="6527994" y="1286987"/>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コンロ</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まな板</a:t>
            </a:r>
          </a:p>
        </p:txBody>
      </p:sp>
      <p:sp>
        <p:nvSpPr>
          <p:cNvPr id="96" name="正方形/長方形 95">
            <a:extLst>
              <a:ext uri="{FF2B5EF4-FFF2-40B4-BE49-F238E27FC236}">
                <a16:creationId xmlns:a16="http://schemas.microsoft.com/office/drawing/2014/main" id="{F56A66CD-5D5D-2A6D-D683-A69CFC59456A}"/>
              </a:ext>
            </a:extLst>
          </p:cNvPr>
          <p:cNvSpPr/>
          <p:nvPr/>
        </p:nvSpPr>
        <p:spPr bwMode="auto">
          <a:xfrm>
            <a:off x="3305969" y="1718981"/>
            <a:ext cx="1260014" cy="1710019"/>
          </a:xfrm>
          <a:prstGeom prst="rect">
            <a:avLst/>
          </a:prstGeom>
          <a:ln>
            <a:headEnd/>
            <a:tailEnd type="non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r>
              <a:rPr lang="en-US" altLang="ja-JP" sz="1400" dirty="0">
                <a:solidFill>
                  <a:schemeClr val="tx1"/>
                </a:solidFill>
                <a:latin typeface="Arial Narrow" panose="020B0606020202030204" pitchFamily="34" charset="0"/>
              </a:rPr>
              <a:t>1. </a:t>
            </a:r>
            <a:r>
              <a:rPr lang="ja-JP" altLang="en-US" sz="1400" dirty="0">
                <a:solidFill>
                  <a:schemeClr val="tx1"/>
                </a:solidFill>
                <a:latin typeface="Arial Narrow" panose="020B0606020202030204" pitchFamily="34" charset="0"/>
              </a:rPr>
              <a:t>人参を切る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2. </a:t>
            </a:r>
            <a:r>
              <a:rPr lang="ja-JP" altLang="en-US" sz="1400" dirty="0">
                <a:solidFill>
                  <a:schemeClr val="tx1"/>
                </a:solidFill>
                <a:latin typeface="Arial Narrow" panose="020B0606020202030204" pitchFamily="34" charset="0"/>
              </a:rPr>
              <a:t>玉葱を切る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3. </a:t>
            </a:r>
            <a:r>
              <a:rPr lang="ja-JP" altLang="en-US" sz="1400" dirty="0">
                <a:solidFill>
                  <a:schemeClr val="tx1"/>
                </a:solidFill>
                <a:latin typeface="Arial Narrow" panose="020B0606020202030204" pitchFamily="34" charset="0"/>
              </a:rPr>
              <a:t>肉を切る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4. </a:t>
            </a:r>
            <a:r>
              <a:rPr lang="ja-JP" altLang="en-US" sz="1400" dirty="0">
                <a:solidFill>
                  <a:schemeClr val="tx1"/>
                </a:solidFill>
                <a:latin typeface="Arial Narrow" panose="020B0606020202030204" pitchFamily="34" charset="0"/>
              </a:rPr>
              <a:t>芋を切る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5. </a:t>
            </a:r>
            <a:r>
              <a:rPr lang="ja-JP" altLang="en-US" sz="1400" dirty="0">
                <a:solidFill>
                  <a:schemeClr val="tx1"/>
                </a:solidFill>
                <a:latin typeface="Arial Narrow" panose="020B0606020202030204" pitchFamily="34" charset="0"/>
              </a:rPr>
              <a:t>炒める</a:t>
            </a:r>
          </a:p>
        </p:txBody>
      </p:sp>
      <p:sp>
        <p:nvSpPr>
          <p:cNvPr id="5" name="角丸四角形 45">
            <a:extLst>
              <a:ext uri="{FF2B5EF4-FFF2-40B4-BE49-F238E27FC236}">
                <a16:creationId xmlns:a16="http://schemas.microsoft.com/office/drawing/2014/main" id="{35E1B39E-2FFE-9ACE-8E0F-7FDDB77E50CA}"/>
              </a:ext>
            </a:extLst>
          </p:cNvPr>
          <p:cNvSpPr/>
          <p:nvPr/>
        </p:nvSpPr>
        <p:spPr bwMode="auto">
          <a:xfrm>
            <a:off x="6552022" y="2618991"/>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100" dirty="0">
                <a:solidFill>
                  <a:schemeClr val="bg1"/>
                </a:solidFill>
                <a:latin typeface="Arial Narrow" panose="020B0606020202030204" pitchFamily="34" charset="0"/>
              </a:rPr>
              <a:t>人参切る</a:t>
            </a:r>
          </a:p>
        </p:txBody>
      </p:sp>
      <p:sp>
        <p:nvSpPr>
          <p:cNvPr id="6" name="角丸四角形 46">
            <a:extLst>
              <a:ext uri="{FF2B5EF4-FFF2-40B4-BE49-F238E27FC236}">
                <a16:creationId xmlns:a16="http://schemas.microsoft.com/office/drawing/2014/main" id="{51BF3743-A5E1-BCE2-C220-FF8ABB54101C}"/>
              </a:ext>
            </a:extLst>
          </p:cNvPr>
          <p:cNvSpPr/>
          <p:nvPr/>
        </p:nvSpPr>
        <p:spPr bwMode="auto">
          <a:xfrm>
            <a:off x="5112006" y="2618991"/>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dirty="0">
                <a:solidFill>
                  <a:schemeClr val="bg1"/>
                </a:solidFill>
                <a:latin typeface="Arial Narrow" panose="020B0606020202030204" pitchFamily="34" charset="0"/>
              </a:rPr>
              <a:t>玉葱切る</a:t>
            </a:r>
            <a:endParaRPr kumimoji="1" lang="ja-JP" altLang="en-US" sz="1100" dirty="0">
              <a:solidFill>
                <a:schemeClr val="bg1"/>
              </a:solidFill>
              <a:latin typeface="Arial Narrow" panose="020B0606020202030204" pitchFamily="34" charset="0"/>
            </a:endParaRPr>
          </a:p>
        </p:txBody>
      </p:sp>
      <p:sp>
        <p:nvSpPr>
          <p:cNvPr id="10" name="角丸四角形吹き出し 44">
            <a:extLst>
              <a:ext uri="{FF2B5EF4-FFF2-40B4-BE49-F238E27FC236}">
                <a16:creationId xmlns:a16="http://schemas.microsoft.com/office/drawing/2014/main" id="{E6ABAAB6-4D79-03F2-BF9D-2C67B16C2038}"/>
              </a:ext>
            </a:extLst>
          </p:cNvPr>
          <p:cNvSpPr/>
          <p:nvPr/>
        </p:nvSpPr>
        <p:spPr bwMode="auto">
          <a:xfrm>
            <a:off x="5195990" y="1808983"/>
            <a:ext cx="1440016" cy="342645"/>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レシピを読むで</a:t>
            </a:r>
          </a:p>
        </p:txBody>
      </p:sp>
      <p:sp>
        <p:nvSpPr>
          <p:cNvPr id="11" name="角丸四角形吹き出し 44">
            <a:extLst>
              <a:ext uri="{FF2B5EF4-FFF2-40B4-BE49-F238E27FC236}">
                <a16:creationId xmlns:a16="http://schemas.microsoft.com/office/drawing/2014/main" id="{882A3EBF-630A-7C29-16B1-C5835332E4E9}"/>
              </a:ext>
            </a:extLst>
          </p:cNvPr>
          <p:cNvSpPr/>
          <p:nvPr/>
        </p:nvSpPr>
        <p:spPr bwMode="auto">
          <a:xfrm>
            <a:off x="7176012" y="1808982"/>
            <a:ext cx="1170013"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シェフです！</a:t>
            </a:r>
          </a:p>
        </p:txBody>
      </p:sp>
      <p:sp>
        <p:nvSpPr>
          <p:cNvPr id="4" name="テキスト プレースホルダー 4">
            <a:extLst>
              <a:ext uri="{FF2B5EF4-FFF2-40B4-BE49-F238E27FC236}">
                <a16:creationId xmlns:a16="http://schemas.microsoft.com/office/drawing/2014/main" id="{2B3D2624-CCE4-44F5-6571-C84ABCF40885}"/>
              </a:ext>
            </a:extLst>
          </p:cNvPr>
          <p:cNvSpPr>
            <a:spLocks noGrp="1"/>
          </p:cNvSpPr>
          <p:nvPr>
            <p:ph type="body" sz="quarter" idx="10"/>
          </p:nvPr>
        </p:nvSpPr>
        <p:spPr>
          <a:xfrm>
            <a:off x="1145945" y="4599013"/>
            <a:ext cx="9630107" cy="1170013"/>
          </a:xfrm>
        </p:spPr>
        <p:txBody>
          <a:bodyPr/>
          <a:lstStyle/>
          <a:p>
            <a:r>
              <a:rPr lang="ja-JP" altLang="en-US" dirty="0"/>
              <a:t>制御部（青）：</a:t>
            </a:r>
            <a:r>
              <a:rPr lang="en-US" altLang="ja-JP" dirty="0"/>
              <a:t>PC </a:t>
            </a:r>
            <a:r>
              <a:rPr lang="ja-JP" altLang="en-US" dirty="0"/>
              <a:t>と命令メモリ</a:t>
            </a:r>
            <a:endParaRPr lang="en-US" altLang="ja-JP" dirty="0"/>
          </a:p>
          <a:p>
            <a:pPr lvl="1"/>
            <a:r>
              <a:rPr lang="ja-JP" altLang="en-US" dirty="0"/>
              <a:t>レシピと読む係の人</a:t>
            </a:r>
            <a:endParaRPr lang="en-US" altLang="ja-JP" dirty="0"/>
          </a:p>
          <a:p>
            <a:r>
              <a:rPr lang="ja-JP" altLang="en-US" dirty="0"/>
              <a:t>演算器（赤）：そこより後ろで実際に乗算や加算をしている部分</a:t>
            </a:r>
            <a:endParaRPr lang="en-US" altLang="ja-JP" dirty="0"/>
          </a:p>
          <a:p>
            <a:pPr lvl="1"/>
            <a:r>
              <a:rPr lang="ja-JP" altLang="en-US" dirty="0"/>
              <a:t>シェフの人</a:t>
            </a:r>
            <a:endParaRPr lang="en-US" altLang="ja-JP" dirty="0"/>
          </a:p>
          <a:p>
            <a:pPr lvl="1"/>
            <a:r>
              <a:rPr lang="ja-JP" altLang="en-US" dirty="0"/>
              <a:t>キッチン台や関連するスタッフは一旦ここでは忘れる</a:t>
            </a:r>
            <a:br>
              <a:rPr lang="en-US" altLang="ja-JP" dirty="0"/>
            </a:br>
            <a:r>
              <a:rPr lang="ja-JP" altLang="en-US" dirty="0"/>
              <a:t>（まだクビになったわけではないが，後で合理化のためにリストラする予定</a:t>
            </a:r>
            <a:endParaRPr lang="en-US" altLang="ja-JP" dirty="0"/>
          </a:p>
        </p:txBody>
      </p:sp>
    </p:spTree>
    <p:extLst>
      <p:ext uri="{BB962C8B-B14F-4D97-AF65-F5344CB8AC3E}">
        <p14:creationId xmlns:p14="http://schemas.microsoft.com/office/powerpoint/2010/main" val="24254933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03CD4A-C244-535A-FB8B-0A5B78E32697}"/>
              </a:ext>
            </a:extLst>
          </p:cNvPr>
          <p:cNvSpPr>
            <a:spLocks noGrp="1"/>
          </p:cNvSpPr>
          <p:nvPr>
            <p:ph type="title"/>
          </p:nvPr>
        </p:nvSpPr>
        <p:spPr/>
        <p:txBody>
          <a:bodyPr/>
          <a:lstStyle/>
          <a:p>
            <a:r>
              <a:rPr kumimoji="1" lang="en-US" altLang="ja-JP" dirty="0"/>
              <a:t>GPU </a:t>
            </a:r>
            <a:r>
              <a:rPr kumimoji="1" lang="ja-JP" altLang="en-US" dirty="0"/>
              <a:t>における回路量あたりの性能向上</a:t>
            </a:r>
          </a:p>
        </p:txBody>
      </p:sp>
      <p:sp>
        <p:nvSpPr>
          <p:cNvPr id="3" name="テキスト プレースホルダー 2">
            <a:extLst>
              <a:ext uri="{FF2B5EF4-FFF2-40B4-BE49-F238E27FC236}">
                <a16:creationId xmlns:a16="http://schemas.microsoft.com/office/drawing/2014/main" id="{9C3C3C8A-B226-6A26-A4C0-FF1CCF96FFB8}"/>
              </a:ext>
            </a:extLst>
          </p:cNvPr>
          <p:cNvSpPr>
            <a:spLocks noGrp="1"/>
          </p:cNvSpPr>
          <p:nvPr>
            <p:ph type="body" sz="quarter" idx="10"/>
          </p:nvPr>
        </p:nvSpPr>
        <p:spPr/>
        <p:txBody>
          <a:bodyPr/>
          <a:lstStyle/>
          <a:p>
            <a:pPr marL="457200" indent="-457200">
              <a:buFont typeface="+mj-lt"/>
              <a:buAutoNum type="arabicPeriod"/>
            </a:pPr>
            <a:r>
              <a:rPr kumimoji="1" lang="ja-JP" altLang="en-US" dirty="0"/>
              <a:t>制御部の共有</a:t>
            </a:r>
            <a:endParaRPr kumimoji="1" lang="en-US" altLang="ja-JP" dirty="0"/>
          </a:p>
          <a:p>
            <a:pPr marL="457200" indent="-457200">
              <a:buFont typeface="+mj-lt"/>
              <a:buAutoNum type="arabicPeriod"/>
            </a:pPr>
            <a:r>
              <a:rPr kumimoji="1" lang="ja-JP" altLang="en-US" dirty="0"/>
              <a:t>制御部の小型化</a:t>
            </a:r>
          </a:p>
        </p:txBody>
      </p:sp>
    </p:spTree>
    <p:extLst>
      <p:ext uri="{BB962C8B-B14F-4D97-AF65-F5344CB8AC3E}">
        <p14:creationId xmlns:p14="http://schemas.microsoft.com/office/powerpoint/2010/main" val="3886628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CBDD73-1375-DC92-64EE-3C8C59F7BE2A}"/>
              </a:ext>
            </a:extLst>
          </p:cNvPr>
          <p:cNvSpPr>
            <a:spLocks noGrp="1"/>
          </p:cNvSpPr>
          <p:nvPr>
            <p:ph type="title"/>
          </p:nvPr>
        </p:nvSpPr>
        <p:spPr/>
        <p:txBody>
          <a:bodyPr/>
          <a:lstStyle/>
          <a:p>
            <a:r>
              <a:rPr lang="en-US" altLang="ja-JP" sz="2400" dirty="0"/>
              <a:t>SIMD </a:t>
            </a:r>
            <a:r>
              <a:rPr lang="ja-JP" altLang="en-US" sz="2400" dirty="0"/>
              <a:t>では複数の演算器間で制御部を共有できる</a:t>
            </a:r>
            <a:endParaRPr lang="en-US" altLang="ja-JP" sz="2400" dirty="0"/>
          </a:p>
        </p:txBody>
      </p:sp>
      <p:sp>
        <p:nvSpPr>
          <p:cNvPr id="3" name="テキスト プレースホルダー 2">
            <a:extLst>
              <a:ext uri="{FF2B5EF4-FFF2-40B4-BE49-F238E27FC236}">
                <a16:creationId xmlns:a16="http://schemas.microsoft.com/office/drawing/2014/main" id="{C6767C83-B854-0082-5D73-A8F748F09C01}"/>
              </a:ext>
            </a:extLst>
          </p:cNvPr>
          <p:cNvSpPr>
            <a:spLocks noGrp="1"/>
          </p:cNvSpPr>
          <p:nvPr>
            <p:ph type="body" sz="quarter" idx="10"/>
          </p:nvPr>
        </p:nvSpPr>
        <p:spPr>
          <a:xfrm>
            <a:off x="2045955" y="3519001"/>
            <a:ext cx="8280092" cy="3240036"/>
          </a:xfrm>
        </p:spPr>
        <p:txBody>
          <a:bodyPr/>
          <a:lstStyle/>
          <a:p>
            <a:r>
              <a:rPr lang="ja-JP" altLang="en-US" sz="1800" dirty="0"/>
              <a:t>たとえば，上の図の </a:t>
            </a:r>
            <a:r>
              <a:rPr lang="en-US" altLang="ja-JP" sz="1800" dirty="0"/>
              <a:t>MIMD </a:t>
            </a:r>
            <a:r>
              <a:rPr lang="ja-JP" altLang="en-US" sz="1800" dirty="0"/>
              <a:t>と </a:t>
            </a:r>
            <a:r>
              <a:rPr lang="en-US" altLang="ja-JP" sz="1800" dirty="0"/>
              <a:t>SIMD </a:t>
            </a:r>
            <a:r>
              <a:rPr lang="ja-JP" altLang="en-US" sz="1800" dirty="0"/>
              <a:t>の場合</a:t>
            </a:r>
            <a:endParaRPr lang="en-US" altLang="ja-JP" sz="1800" dirty="0"/>
          </a:p>
          <a:p>
            <a:pPr lvl="1"/>
            <a:r>
              <a:rPr lang="en-US" altLang="ja-JP" sz="1800" dirty="0"/>
              <a:t>4</a:t>
            </a:r>
            <a:r>
              <a:rPr lang="ja-JP" altLang="en-US" sz="1800" dirty="0"/>
              <a:t>つの演算器を持ち最大で同時に</a:t>
            </a:r>
            <a:r>
              <a:rPr lang="en-US" altLang="ja-JP" sz="1800" dirty="0"/>
              <a:t>4</a:t>
            </a:r>
            <a:r>
              <a:rPr lang="ja-JP" altLang="en-US" sz="1800" dirty="0"/>
              <a:t>並列で演算ができる</a:t>
            </a:r>
            <a:endParaRPr lang="en-US" altLang="ja-JP" sz="1800" dirty="0"/>
          </a:p>
          <a:p>
            <a:pPr lvl="2"/>
            <a:r>
              <a:rPr lang="en-US" altLang="ja-JP" sz="1800" dirty="0"/>
              <a:t>= </a:t>
            </a:r>
            <a:r>
              <a:rPr lang="ja-JP" altLang="en-US" sz="1800" dirty="0"/>
              <a:t>同じ最大性能を持つ</a:t>
            </a:r>
            <a:endParaRPr lang="en-US" altLang="ja-JP" sz="1800" dirty="0"/>
          </a:p>
          <a:p>
            <a:pPr lvl="1"/>
            <a:r>
              <a:rPr lang="en-US" altLang="ja-JP" sz="1800" dirty="0"/>
              <a:t>SIMD </a:t>
            </a:r>
            <a:r>
              <a:rPr lang="ja-JP" altLang="en-US" sz="1800" dirty="0"/>
              <a:t>では１つの制御部が演算器間で共有されている</a:t>
            </a:r>
            <a:endParaRPr lang="en-US" altLang="ja-JP" sz="1800" dirty="0"/>
          </a:p>
          <a:p>
            <a:pPr lvl="2"/>
            <a:r>
              <a:rPr lang="ja-JP" altLang="en-US" sz="1800" dirty="0"/>
              <a:t>実際の </a:t>
            </a:r>
            <a:r>
              <a:rPr lang="en-US" altLang="ja-JP" sz="1800" dirty="0"/>
              <a:t>GPU </a:t>
            </a:r>
            <a:r>
              <a:rPr lang="ja-JP" altLang="en-US" sz="1800" dirty="0"/>
              <a:t>では </a:t>
            </a:r>
            <a:r>
              <a:rPr lang="en-US" altLang="ja-JP" sz="1800" dirty="0"/>
              <a:t>16 </a:t>
            </a:r>
            <a:r>
              <a:rPr lang="ja-JP" altLang="en-US" sz="1800" dirty="0"/>
              <a:t>個程度の演算器が共有されていることが多い</a:t>
            </a:r>
            <a:endParaRPr lang="en-US" altLang="ja-JP" sz="1800" dirty="0"/>
          </a:p>
        </p:txBody>
      </p:sp>
      <p:sp>
        <p:nvSpPr>
          <p:cNvPr id="68" name="正方形/長方形 67">
            <a:extLst>
              <a:ext uri="{FF2B5EF4-FFF2-40B4-BE49-F238E27FC236}">
                <a16:creationId xmlns:a16="http://schemas.microsoft.com/office/drawing/2014/main" id="{6413588E-48FF-9C57-4090-1365C1C36D9F}"/>
              </a:ext>
            </a:extLst>
          </p:cNvPr>
          <p:cNvSpPr/>
          <p:nvPr/>
        </p:nvSpPr>
        <p:spPr bwMode="auto">
          <a:xfrm>
            <a:off x="3395970" y="2168986"/>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69" name="直線矢印コネクタ 68">
            <a:extLst>
              <a:ext uri="{FF2B5EF4-FFF2-40B4-BE49-F238E27FC236}">
                <a16:creationId xmlns:a16="http://schemas.microsoft.com/office/drawing/2014/main" id="{F90CA47D-5653-E2C6-C544-023DAA8A64B3}"/>
              </a:ext>
            </a:extLst>
          </p:cNvPr>
          <p:cNvCxnSpPr>
            <a:cxnSpLocks/>
          </p:cNvCxnSpPr>
          <p:nvPr/>
        </p:nvCxnSpPr>
        <p:spPr bwMode="auto">
          <a:xfrm>
            <a:off x="3755974" y="1971115"/>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70" name="正方形/長方形 69">
            <a:extLst>
              <a:ext uri="{FF2B5EF4-FFF2-40B4-BE49-F238E27FC236}">
                <a16:creationId xmlns:a16="http://schemas.microsoft.com/office/drawing/2014/main" id="{1ED687B1-763D-311C-EA65-C754C36F1535}"/>
              </a:ext>
            </a:extLst>
          </p:cNvPr>
          <p:cNvSpPr/>
          <p:nvPr/>
        </p:nvSpPr>
        <p:spPr bwMode="auto">
          <a:xfrm>
            <a:off x="3575972" y="1628979"/>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71" name="フリーフォーム 10">
            <a:extLst>
              <a:ext uri="{FF2B5EF4-FFF2-40B4-BE49-F238E27FC236}">
                <a16:creationId xmlns:a16="http://schemas.microsoft.com/office/drawing/2014/main" id="{D2D4D808-58C6-DD09-BDDB-470476DC64C4}"/>
              </a:ext>
            </a:extLst>
          </p:cNvPr>
          <p:cNvSpPr>
            <a:spLocks noChangeArrowheads="1"/>
          </p:cNvSpPr>
          <p:nvPr/>
        </p:nvSpPr>
        <p:spPr bwMode="auto">
          <a:xfrm flipH="1">
            <a:off x="3395970" y="2888993"/>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72" name="直線矢印コネクタ 71">
            <a:extLst>
              <a:ext uri="{FF2B5EF4-FFF2-40B4-BE49-F238E27FC236}">
                <a16:creationId xmlns:a16="http://schemas.microsoft.com/office/drawing/2014/main" id="{7AB77A23-F560-7176-9A7C-5102B0D7EFBB}"/>
              </a:ext>
            </a:extLst>
          </p:cNvPr>
          <p:cNvCxnSpPr>
            <a:cxnSpLocks/>
          </p:cNvCxnSpPr>
          <p:nvPr/>
        </p:nvCxnSpPr>
        <p:spPr bwMode="auto">
          <a:xfrm>
            <a:off x="3755974" y="2528989"/>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73" name="正方形/長方形 72">
            <a:extLst>
              <a:ext uri="{FF2B5EF4-FFF2-40B4-BE49-F238E27FC236}">
                <a16:creationId xmlns:a16="http://schemas.microsoft.com/office/drawing/2014/main" id="{7F3DC10A-3A71-2DF1-077E-D67FE4673901}"/>
              </a:ext>
            </a:extLst>
          </p:cNvPr>
          <p:cNvSpPr/>
          <p:nvPr/>
        </p:nvSpPr>
        <p:spPr bwMode="auto">
          <a:xfrm>
            <a:off x="2585961" y="2168985"/>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74" name="直線矢印コネクタ 73">
            <a:extLst>
              <a:ext uri="{FF2B5EF4-FFF2-40B4-BE49-F238E27FC236}">
                <a16:creationId xmlns:a16="http://schemas.microsoft.com/office/drawing/2014/main" id="{064953B3-E90B-D477-5019-9A65E1B1915F}"/>
              </a:ext>
            </a:extLst>
          </p:cNvPr>
          <p:cNvCxnSpPr>
            <a:cxnSpLocks/>
          </p:cNvCxnSpPr>
          <p:nvPr/>
        </p:nvCxnSpPr>
        <p:spPr bwMode="auto">
          <a:xfrm>
            <a:off x="2945965" y="1971114"/>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75" name="正方形/長方形 74">
            <a:extLst>
              <a:ext uri="{FF2B5EF4-FFF2-40B4-BE49-F238E27FC236}">
                <a16:creationId xmlns:a16="http://schemas.microsoft.com/office/drawing/2014/main" id="{13E14E97-48CF-AA2A-13EC-1FEE0EAA5F7C}"/>
              </a:ext>
            </a:extLst>
          </p:cNvPr>
          <p:cNvSpPr/>
          <p:nvPr/>
        </p:nvSpPr>
        <p:spPr bwMode="auto">
          <a:xfrm>
            <a:off x="2765963" y="1628978"/>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76" name="フリーフォーム 10">
            <a:extLst>
              <a:ext uri="{FF2B5EF4-FFF2-40B4-BE49-F238E27FC236}">
                <a16:creationId xmlns:a16="http://schemas.microsoft.com/office/drawing/2014/main" id="{0629548A-BC7A-8402-594A-C5C904EBAF3E}"/>
              </a:ext>
            </a:extLst>
          </p:cNvPr>
          <p:cNvSpPr>
            <a:spLocks noChangeArrowheads="1"/>
          </p:cNvSpPr>
          <p:nvPr/>
        </p:nvSpPr>
        <p:spPr bwMode="auto">
          <a:xfrm flipH="1">
            <a:off x="2585961" y="2888992"/>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77" name="直線矢印コネクタ 76">
            <a:extLst>
              <a:ext uri="{FF2B5EF4-FFF2-40B4-BE49-F238E27FC236}">
                <a16:creationId xmlns:a16="http://schemas.microsoft.com/office/drawing/2014/main" id="{98E22468-1936-6DE5-7073-BB145475B66F}"/>
              </a:ext>
            </a:extLst>
          </p:cNvPr>
          <p:cNvCxnSpPr>
            <a:cxnSpLocks/>
          </p:cNvCxnSpPr>
          <p:nvPr/>
        </p:nvCxnSpPr>
        <p:spPr bwMode="auto">
          <a:xfrm>
            <a:off x="2945965" y="2528988"/>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78" name="正方形/長方形 77">
            <a:extLst>
              <a:ext uri="{FF2B5EF4-FFF2-40B4-BE49-F238E27FC236}">
                <a16:creationId xmlns:a16="http://schemas.microsoft.com/office/drawing/2014/main" id="{5BFA69AC-E42B-CAE5-B44C-5B494C895972}"/>
              </a:ext>
            </a:extLst>
          </p:cNvPr>
          <p:cNvSpPr/>
          <p:nvPr/>
        </p:nvSpPr>
        <p:spPr bwMode="auto">
          <a:xfrm>
            <a:off x="5015988" y="2168986"/>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79" name="直線矢印コネクタ 78">
            <a:extLst>
              <a:ext uri="{FF2B5EF4-FFF2-40B4-BE49-F238E27FC236}">
                <a16:creationId xmlns:a16="http://schemas.microsoft.com/office/drawing/2014/main" id="{0CA417E9-87DF-B23A-012E-8BECFEA925EA}"/>
              </a:ext>
            </a:extLst>
          </p:cNvPr>
          <p:cNvCxnSpPr>
            <a:cxnSpLocks/>
          </p:cNvCxnSpPr>
          <p:nvPr/>
        </p:nvCxnSpPr>
        <p:spPr bwMode="auto">
          <a:xfrm>
            <a:off x="5375992" y="1971115"/>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80" name="正方形/長方形 79">
            <a:extLst>
              <a:ext uri="{FF2B5EF4-FFF2-40B4-BE49-F238E27FC236}">
                <a16:creationId xmlns:a16="http://schemas.microsoft.com/office/drawing/2014/main" id="{3F170350-351E-F046-8C08-14C9B0A70AD1}"/>
              </a:ext>
            </a:extLst>
          </p:cNvPr>
          <p:cNvSpPr/>
          <p:nvPr/>
        </p:nvSpPr>
        <p:spPr bwMode="auto">
          <a:xfrm>
            <a:off x="5195990" y="1628979"/>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81" name="フリーフォーム 10">
            <a:extLst>
              <a:ext uri="{FF2B5EF4-FFF2-40B4-BE49-F238E27FC236}">
                <a16:creationId xmlns:a16="http://schemas.microsoft.com/office/drawing/2014/main" id="{766A6007-12FB-93FE-8E2E-70EC572B6059}"/>
              </a:ext>
            </a:extLst>
          </p:cNvPr>
          <p:cNvSpPr>
            <a:spLocks noChangeArrowheads="1"/>
          </p:cNvSpPr>
          <p:nvPr/>
        </p:nvSpPr>
        <p:spPr bwMode="auto">
          <a:xfrm flipH="1">
            <a:off x="5015988" y="2888993"/>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82" name="直線矢印コネクタ 81">
            <a:extLst>
              <a:ext uri="{FF2B5EF4-FFF2-40B4-BE49-F238E27FC236}">
                <a16:creationId xmlns:a16="http://schemas.microsoft.com/office/drawing/2014/main" id="{6D3F3651-23CA-568C-6C7F-BA8F2DF5B724}"/>
              </a:ext>
            </a:extLst>
          </p:cNvPr>
          <p:cNvCxnSpPr>
            <a:cxnSpLocks/>
          </p:cNvCxnSpPr>
          <p:nvPr/>
        </p:nvCxnSpPr>
        <p:spPr bwMode="auto">
          <a:xfrm>
            <a:off x="5375992" y="2528989"/>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83" name="正方形/長方形 82">
            <a:extLst>
              <a:ext uri="{FF2B5EF4-FFF2-40B4-BE49-F238E27FC236}">
                <a16:creationId xmlns:a16="http://schemas.microsoft.com/office/drawing/2014/main" id="{268A48F3-1CC6-DCB2-8750-0764374A5716}"/>
              </a:ext>
            </a:extLst>
          </p:cNvPr>
          <p:cNvSpPr/>
          <p:nvPr/>
        </p:nvSpPr>
        <p:spPr bwMode="auto">
          <a:xfrm>
            <a:off x="4205979" y="2168985"/>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84" name="直線矢印コネクタ 83">
            <a:extLst>
              <a:ext uri="{FF2B5EF4-FFF2-40B4-BE49-F238E27FC236}">
                <a16:creationId xmlns:a16="http://schemas.microsoft.com/office/drawing/2014/main" id="{75AD8369-045C-ADB4-9D6F-D52E12499CEE}"/>
              </a:ext>
            </a:extLst>
          </p:cNvPr>
          <p:cNvCxnSpPr>
            <a:cxnSpLocks/>
          </p:cNvCxnSpPr>
          <p:nvPr/>
        </p:nvCxnSpPr>
        <p:spPr bwMode="auto">
          <a:xfrm>
            <a:off x="4565983" y="1971114"/>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85" name="正方形/長方形 84">
            <a:extLst>
              <a:ext uri="{FF2B5EF4-FFF2-40B4-BE49-F238E27FC236}">
                <a16:creationId xmlns:a16="http://schemas.microsoft.com/office/drawing/2014/main" id="{34B2A48D-3961-53EE-77B6-29363ADA7F6D}"/>
              </a:ext>
            </a:extLst>
          </p:cNvPr>
          <p:cNvSpPr/>
          <p:nvPr/>
        </p:nvSpPr>
        <p:spPr bwMode="auto">
          <a:xfrm>
            <a:off x="4385981" y="1628978"/>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86" name="フリーフォーム 10">
            <a:extLst>
              <a:ext uri="{FF2B5EF4-FFF2-40B4-BE49-F238E27FC236}">
                <a16:creationId xmlns:a16="http://schemas.microsoft.com/office/drawing/2014/main" id="{DE4B1032-CA39-7E53-C9D8-EA6F7A7D3FFF}"/>
              </a:ext>
            </a:extLst>
          </p:cNvPr>
          <p:cNvSpPr>
            <a:spLocks noChangeArrowheads="1"/>
          </p:cNvSpPr>
          <p:nvPr/>
        </p:nvSpPr>
        <p:spPr bwMode="auto">
          <a:xfrm flipH="1">
            <a:off x="4205979" y="2888992"/>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87" name="直線矢印コネクタ 86">
            <a:extLst>
              <a:ext uri="{FF2B5EF4-FFF2-40B4-BE49-F238E27FC236}">
                <a16:creationId xmlns:a16="http://schemas.microsoft.com/office/drawing/2014/main" id="{83CC0E0B-AFB2-41F4-42DF-387EBDAF49BF}"/>
              </a:ext>
            </a:extLst>
          </p:cNvPr>
          <p:cNvCxnSpPr>
            <a:cxnSpLocks/>
          </p:cNvCxnSpPr>
          <p:nvPr/>
        </p:nvCxnSpPr>
        <p:spPr bwMode="auto">
          <a:xfrm>
            <a:off x="4565983" y="2528988"/>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88" name="正方形/長方形 87">
            <a:extLst>
              <a:ext uri="{FF2B5EF4-FFF2-40B4-BE49-F238E27FC236}">
                <a16:creationId xmlns:a16="http://schemas.microsoft.com/office/drawing/2014/main" id="{C98A5A5B-0FF0-C2E7-0485-176A065EC1F5}"/>
              </a:ext>
            </a:extLst>
          </p:cNvPr>
          <p:cNvSpPr/>
          <p:nvPr/>
        </p:nvSpPr>
        <p:spPr bwMode="auto">
          <a:xfrm>
            <a:off x="7896020" y="2168987"/>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89" name="直線矢印コネクタ 88">
            <a:extLst>
              <a:ext uri="{FF2B5EF4-FFF2-40B4-BE49-F238E27FC236}">
                <a16:creationId xmlns:a16="http://schemas.microsoft.com/office/drawing/2014/main" id="{69CDE5FD-01EA-FDDD-7A2E-05269F24A069}"/>
              </a:ext>
            </a:extLst>
          </p:cNvPr>
          <p:cNvCxnSpPr>
            <a:cxnSpLocks/>
          </p:cNvCxnSpPr>
          <p:nvPr/>
        </p:nvCxnSpPr>
        <p:spPr bwMode="auto">
          <a:xfrm>
            <a:off x="8256024" y="1971116"/>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0" name="正方形/長方形 89">
            <a:extLst>
              <a:ext uri="{FF2B5EF4-FFF2-40B4-BE49-F238E27FC236}">
                <a16:creationId xmlns:a16="http://schemas.microsoft.com/office/drawing/2014/main" id="{90E348BA-F675-BEED-3143-84545506DDC6}"/>
              </a:ext>
            </a:extLst>
          </p:cNvPr>
          <p:cNvSpPr/>
          <p:nvPr/>
        </p:nvSpPr>
        <p:spPr bwMode="auto">
          <a:xfrm>
            <a:off x="8076022" y="1628980"/>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91" name="フリーフォーム 10">
            <a:extLst>
              <a:ext uri="{FF2B5EF4-FFF2-40B4-BE49-F238E27FC236}">
                <a16:creationId xmlns:a16="http://schemas.microsoft.com/office/drawing/2014/main" id="{0F3DA154-5E49-69AE-1DF9-F84E75776CF5}"/>
              </a:ext>
            </a:extLst>
          </p:cNvPr>
          <p:cNvSpPr>
            <a:spLocks noChangeArrowheads="1"/>
          </p:cNvSpPr>
          <p:nvPr/>
        </p:nvSpPr>
        <p:spPr bwMode="auto">
          <a:xfrm flipH="1">
            <a:off x="6636006" y="2888994"/>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92" name="直線矢印コネクタ 91">
            <a:extLst>
              <a:ext uri="{FF2B5EF4-FFF2-40B4-BE49-F238E27FC236}">
                <a16:creationId xmlns:a16="http://schemas.microsoft.com/office/drawing/2014/main" id="{C8749DFA-B2E8-8339-9735-4595666F1EC7}"/>
              </a:ext>
            </a:extLst>
          </p:cNvPr>
          <p:cNvCxnSpPr>
            <a:cxnSpLocks/>
          </p:cNvCxnSpPr>
          <p:nvPr/>
        </p:nvCxnSpPr>
        <p:spPr bwMode="auto">
          <a:xfrm>
            <a:off x="8256024" y="252899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3" name="Freeform 10">
            <a:extLst>
              <a:ext uri="{FF2B5EF4-FFF2-40B4-BE49-F238E27FC236}">
                <a16:creationId xmlns:a16="http://schemas.microsoft.com/office/drawing/2014/main" id="{E8A454FC-2576-675B-DC70-B1663306218E}"/>
              </a:ext>
            </a:extLst>
          </p:cNvPr>
          <p:cNvSpPr>
            <a:spLocks/>
          </p:cNvSpPr>
          <p:nvPr/>
        </p:nvSpPr>
        <p:spPr bwMode="auto">
          <a:xfrm rot="5400000">
            <a:off x="7446015" y="2258988"/>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94" name="フリーフォーム 10">
            <a:extLst>
              <a:ext uri="{FF2B5EF4-FFF2-40B4-BE49-F238E27FC236}">
                <a16:creationId xmlns:a16="http://schemas.microsoft.com/office/drawing/2014/main" id="{09582597-9DDC-38D9-1FB6-86C0CCE2A108}"/>
              </a:ext>
            </a:extLst>
          </p:cNvPr>
          <p:cNvSpPr>
            <a:spLocks noChangeArrowheads="1"/>
          </p:cNvSpPr>
          <p:nvPr/>
        </p:nvSpPr>
        <p:spPr bwMode="auto">
          <a:xfrm flipH="1">
            <a:off x="7446015" y="2888994"/>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95" name="フリーフォーム 10">
            <a:extLst>
              <a:ext uri="{FF2B5EF4-FFF2-40B4-BE49-F238E27FC236}">
                <a16:creationId xmlns:a16="http://schemas.microsoft.com/office/drawing/2014/main" id="{3B12D0FE-8839-F013-31D5-7C9DAF8FE053}"/>
              </a:ext>
            </a:extLst>
          </p:cNvPr>
          <p:cNvSpPr>
            <a:spLocks noChangeArrowheads="1"/>
          </p:cNvSpPr>
          <p:nvPr/>
        </p:nvSpPr>
        <p:spPr bwMode="auto">
          <a:xfrm flipH="1">
            <a:off x="8256024" y="2888994"/>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96" name="フリーフォーム 10">
            <a:extLst>
              <a:ext uri="{FF2B5EF4-FFF2-40B4-BE49-F238E27FC236}">
                <a16:creationId xmlns:a16="http://schemas.microsoft.com/office/drawing/2014/main" id="{C5E13E1F-7A82-D63B-D3BF-1ED4DF98F95E}"/>
              </a:ext>
            </a:extLst>
          </p:cNvPr>
          <p:cNvSpPr>
            <a:spLocks noChangeArrowheads="1"/>
          </p:cNvSpPr>
          <p:nvPr/>
        </p:nvSpPr>
        <p:spPr bwMode="auto">
          <a:xfrm flipH="1">
            <a:off x="9066033" y="2888994"/>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97" name="Freeform 10">
            <a:extLst>
              <a:ext uri="{FF2B5EF4-FFF2-40B4-BE49-F238E27FC236}">
                <a16:creationId xmlns:a16="http://schemas.microsoft.com/office/drawing/2014/main" id="{5236172C-CA47-40A2-4C28-6C3558913091}"/>
              </a:ext>
            </a:extLst>
          </p:cNvPr>
          <p:cNvSpPr>
            <a:spLocks/>
          </p:cNvSpPr>
          <p:nvPr/>
        </p:nvSpPr>
        <p:spPr bwMode="auto">
          <a:xfrm rot="5400000">
            <a:off x="7851021" y="2663993"/>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98" name="Freeform 10">
            <a:extLst>
              <a:ext uri="{FF2B5EF4-FFF2-40B4-BE49-F238E27FC236}">
                <a16:creationId xmlns:a16="http://schemas.microsoft.com/office/drawing/2014/main" id="{888EC1B5-F661-2423-5E6D-3C9DBCC7ECDD}"/>
              </a:ext>
            </a:extLst>
          </p:cNvPr>
          <p:cNvSpPr>
            <a:spLocks/>
          </p:cNvSpPr>
          <p:nvPr/>
        </p:nvSpPr>
        <p:spPr bwMode="auto">
          <a:xfrm rot="5400000" flipV="1">
            <a:off x="8301025" y="2483991"/>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99" name="Freeform 10">
            <a:extLst>
              <a:ext uri="{FF2B5EF4-FFF2-40B4-BE49-F238E27FC236}">
                <a16:creationId xmlns:a16="http://schemas.microsoft.com/office/drawing/2014/main" id="{3D246CB8-8317-E624-145A-2F1488E4B207}"/>
              </a:ext>
            </a:extLst>
          </p:cNvPr>
          <p:cNvSpPr>
            <a:spLocks/>
          </p:cNvSpPr>
          <p:nvPr/>
        </p:nvSpPr>
        <p:spPr bwMode="auto">
          <a:xfrm rot="5400000" flipV="1">
            <a:off x="8886033" y="2348990"/>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02" name="正方形/長方形 101">
            <a:extLst>
              <a:ext uri="{FF2B5EF4-FFF2-40B4-BE49-F238E27FC236}">
                <a16:creationId xmlns:a16="http://schemas.microsoft.com/office/drawing/2014/main" id="{74338DC1-E527-BC99-A630-9F7FF117E82E}"/>
              </a:ext>
            </a:extLst>
          </p:cNvPr>
          <p:cNvSpPr/>
          <p:nvPr/>
        </p:nvSpPr>
        <p:spPr bwMode="auto">
          <a:xfrm>
            <a:off x="7896021" y="1178976"/>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SIMD</a:t>
            </a:r>
            <a:endParaRPr lang="ja-JP" altLang="en-US" sz="1600" dirty="0">
              <a:solidFill>
                <a:schemeClr val="tx1">
                  <a:lumMod val="75000"/>
                  <a:lumOff val="25000"/>
                </a:schemeClr>
              </a:solidFill>
              <a:latin typeface="+mn-ea"/>
            </a:endParaRPr>
          </a:p>
        </p:txBody>
      </p:sp>
      <p:sp>
        <p:nvSpPr>
          <p:cNvPr id="103" name="正方形/長方形 102">
            <a:extLst>
              <a:ext uri="{FF2B5EF4-FFF2-40B4-BE49-F238E27FC236}">
                <a16:creationId xmlns:a16="http://schemas.microsoft.com/office/drawing/2014/main" id="{84A6F79A-0525-1248-1191-E9217C1DA9FF}"/>
              </a:ext>
            </a:extLst>
          </p:cNvPr>
          <p:cNvSpPr/>
          <p:nvPr/>
        </p:nvSpPr>
        <p:spPr bwMode="auto">
          <a:xfrm>
            <a:off x="3755975" y="1178976"/>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MIMD</a:t>
            </a:r>
            <a:endParaRPr lang="ja-JP" altLang="en-US" sz="1600" dirty="0">
              <a:solidFill>
                <a:schemeClr val="tx1">
                  <a:lumMod val="75000"/>
                  <a:lumOff val="25000"/>
                </a:schemeClr>
              </a:solidFill>
              <a:latin typeface="+mn-ea"/>
            </a:endParaRPr>
          </a:p>
        </p:txBody>
      </p:sp>
    </p:spTree>
    <p:extLst>
      <p:ext uri="{BB962C8B-B14F-4D97-AF65-F5344CB8AC3E}">
        <p14:creationId xmlns:p14="http://schemas.microsoft.com/office/powerpoint/2010/main" val="34477518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CBDD73-1375-DC92-64EE-3C8C59F7BE2A}"/>
              </a:ext>
            </a:extLst>
          </p:cNvPr>
          <p:cNvSpPr>
            <a:spLocks noGrp="1"/>
          </p:cNvSpPr>
          <p:nvPr>
            <p:ph type="title"/>
          </p:nvPr>
        </p:nvSpPr>
        <p:spPr/>
        <p:txBody>
          <a:bodyPr/>
          <a:lstStyle/>
          <a:p>
            <a:r>
              <a:rPr lang="en-US" altLang="ja-JP" sz="2400" dirty="0"/>
              <a:t>SIMD</a:t>
            </a:r>
            <a:r>
              <a:rPr lang="ja-JP" altLang="en-US" sz="2400" dirty="0"/>
              <a:t> は同じ回路量で高い性能を実現できる</a:t>
            </a:r>
            <a:endParaRPr lang="en-US" altLang="ja-JP" sz="2400" dirty="0"/>
          </a:p>
        </p:txBody>
      </p:sp>
      <p:sp>
        <p:nvSpPr>
          <p:cNvPr id="3" name="テキスト プレースホルダー 2">
            <a:extLst>
              <a:ext uri="{FF2B5EF4-FFF2-40B4-BE49-F238E27FC236}">
                <a16:creationId xmlns:a16="http://schemas.microsoft.com/office/drawing/2014/main" id="{C6767C83-B854-0082-5D73-A8F748F09C01}"/>
              </a:ext>
            </a:extLst>
          </p:cNvPr>
          <p:cNvSpPr>
            <a:spLocks noGrp="1"/>
          </p:cNvSpPr>
          <p:nvPr>
            <p:ph type="body" sz="quarter" idx="10"/>
          </p:nvPr>
        </p:nvSpPr>
        <p:spPr>
          <a:xfrm>
            <a:off x="2045955" y="1448978"/>
            <a:ext cx="8910099" cy="2160023"/>
          </a:xfrm>
        </p:spPr>
        <p:txBody>
          <a:bodyPr/>
          <a:lstStyle/>
          <a:p>
            <a:r>
              <a:rPr lang="en-US" altLang="ja-JP" sz="1800" dirty="0"/>
              <a:t>SIMD </a:t>
            </a:r>
            <a:r>
              <a:rPr lang="ja-JP" altLang="en-US" sz="1800" dirty="0"/>
              <a:t>は </a:t>
            </a:r>
            <a:r>
              <a:rPr lang="en-US" altLang="ja-JP" sz="1800" dirty="0"/>
              <a:t>MIMD </a:t>
            </a:r>
            <a:r>
              <a:rPr lang="ja-JP" altLang="en-US" sz="1800" dirty="0"/>
              <a:t>と比べて全体をより小さく作ることができる</a:t>
            </a:r>
            <a:endParaRPr lang="en-US" altLang="ja-JP" sz="1800" dirty="0"/>
          </a:p>
          <a:p>
            <a:pPr lvl="1"/>
            <a:r>
              <a:rPr lang="ja-JP" altLang="en-US" sz="1800" dirty="0"/>
              <a:t>同じ総面積であれば，</a:t>
            </a:r>
            <a:r>
              <a:rPr lang="en-US" altLang="ja-JP" sz="1800" dirty="0"/>
              <a:t>SIMD </a:t>
            </a:r>
            <a:r>
              <a:rPr lang="ja-JP" altLang="en-US" sz="1800" dirty="0"/>
              <a:t>の方がより多くの演算器を搭載できる</a:t>
            </a:r>
            <a:endParaRPr lang="en-US" altLang="ja-JP" sz="1800" dirty="0"/>
          </a:p>
          <a:p>
            <a:pPr lvl="2"/>
            <a:r>
              <a:rPr lang="ja-JP" altLang="en-US" sz="1800" dirty="0"/>
              <a:t>下の図だと演算器は </a:t>
            </a:r>
            <a:r>
              <a:rPr lang="en-US" altLang="ja-JP" sz="1800" dirty="0">
                <a:solidFill>
                  <a:schemeClr val="accent2"/>
                </a:solidFill>
              </a:rPr>
              <a:t>MIMD</a:t>
            </a:r>
            <a:r>
              <a:rPr lang="ja-JP" altLang="en-US" sz="1800" dirty="0">
                <a:solidFill>
                  <a:schemeClr val="accent2"/>
                </a:solidFill>
              </a:rPr>
              <a:t>４個</a:t>
            </a:r>
            <a:r>
              <a:rPr lang="ja-JP" altLang="en-US" sz="1800" dirty="0"/>
              <a:t> </a:t>
            </a:r>
            <a:r>
              <a:rPr lang="en-US" altLang="ja-JP" sz="1800" dirty="0"/>
              <a:t>vs. </a:t>
            </a:r>
            <a:r>
              <a:rPr lang="en-US" altLang="ja-JP" sz="1800" dirty="0">
                <a:solidFill>
                  <a:schemeClr val="accent2"/>
                </a:solidFill>
              </a:rPr>
              <a:t>SIMD </a:t>
            </a:r>
            <a:r>
              <a:rPr lang="ja-JP" altLang="en-US" sz="1800" dirty="0">
                <a:solidFill>
                  <a:schemeClr val="accent2"/>
                </a:solidFill>
              </a:rPr>
              <a:t>８個</a:t>
            </a:r>
            <a:endParaRPr lang="en-US" altLang="ja-JP" sz="1800" dirty="0">
              <a:solidFill>
                <a:schemeClr val="accent2"/>
              </a:solidFill>
            </a:endParaRPr>
          </a:p>
          <a:p>
            <a:pPr lvl="2"/>
            <a:r>
              <a:rPr lang="ja-JP" altLang="en-US" sz="1800" dirty="0"/>
              <a:t>つまり，同じ回路資源量あたりで，高い性能を出せる</a:t>
            </a:r>
            <a:endParaRPr lang="en-US" altLang="ja-JP" sz="1800" dirty="0"/>
          </a:p>
          <a:p>
            <a:pPr lvl="1"/>
            <a:r>
              <a:rPr lang="ja-JP" altLang="en-US" sz="1800" dirty="0">
                <a:solidFill>
                  <a:schemeClr val="accent5"/>
                </a:solidFill>
              </a:rPr>
              <a:t>払える人件費が一定の場合，シェフ４人あたりレシピ読み係を１人にして，シェフの人数を増やす事に相当</a:t>
            </a:r>
            <a:endParaRPr lang="en-US" altLang="ja-JP" sz="1800" dirty="0">
              <a:solidFill>
                <a:schemeClr val="accent5"/>
              </a:solidFill>
            </a:endParaRPr>
          </a:p>
          <a:p>
            <a:r>
              <a:rPr lang="ja-JP" altLang="en-US" sz="1800" dirty="0"/>
              <a:t>これが，どの </a:t>
            </a:r>
            <a:r>
              <a:rPr lang="en-US" altLang="ja-JP" sz="1800" dirty="0"/>
              <a:t>GPU </a:t>
            </a:r>
            <a:r>
              <a:rPr lang="ja-JP" altLang="en-US" sz="1800" dirty="0"/>
              <a:t>も基本的には </a:t>
            </a:r>
            <a:r>
              <a:rPr lang="en-US" altLang="ja-JP" sz="1800" dirty="0"/>
              <a:t>SIMD </a:t>
            </a:r>
            <a:r>
              <a:rPr lang="ja-JP" altLang="en-US" sz="1800" dirty="0"/>
              <a:t>を採用している理由</a:t>
            </a:r>
          </a:p>
        </p:txBody>
      </p:sp>
      <p:sp>
        <p:nvSpPr>
          <p:cNvPr id="4" name="正方形/長方形 3">
            <a:extLst>
              <a:ext uri="{FF2B5EF4-FFF2-40B4-BE49-F238E27FC236}">
                <a16:creationId xmlns:a16="http://schemas.microsoft.com/office/drawing/2014/main" id="{E9306100-8A55-545A-100D-12255F13B750}"/>
              </a:ext>
            </a:extLst>
          </p:cNvPr>
          <p:cNvSpPr/>
          <p:nvPr/>
        </p:nvSpPr>
        <p:spPr bwMode="auto">
          <a:xfrm rot="16200000">
            <a:off x="8076022" y="4689014"/>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5" name="正方形/長方形 4">
            <a:extLst>
              <a:ext uri="{FF2B5EF4-FFF2-40B4-BE49-F238E27FC236}">
                <a16:creationId xmlns:a16="http://schemas.microsoft.com/office/drawing/2014/main" id="{C5A3C1BE-813F-AFA2-D4AB-1C42EDABAD1D}"/>
              </a:ext>
            </a:extLst>
          </p:cNvPr>
          <p:cNvSpPr/>
          <p:nvPr/>
        </p:nvSpPr>
        <p:spPr bwMode="auto">
          <a:xfrm rot="16200000">
            <a:off x="7536016" y="4509012"/>
            <a:ext cx="720008" cy="720008"/>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制御部</a:t>
            </a:r>
          </a:p>
        </p:txBody>
      </p:sp>
      <p:sp>
        <p:nvSpPr>
          <p:cNvPr id="6" name="正方形/長方形 5">
            <a:extLst>
              <a:ext uri="{FF2B5EF4-FFF2-40B4-BE49-F238E27FC236}">
                <a16:creationId xmlns:a16="http://schemas.microsoft.com/office/drawing/2014/main" id="{587CA5CD-3348-DB1B-1E96-B37371892EC8}"/>
              </a:ext>
            </a:extLst>
          </p:cNvPr>
          <p:cNvSpPr/>
          <p:nvPr/>
        </p:nvSpPr>
        <p:spPr bwMode="auto">
          <a:xfrm rot="16200000">
            <a:off x="6996010" y="5949028"/>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7" name="正方形/長方形 6">
            <a:extLst>
              <a:ext uri="{FF2B5EF4-FFF2-40B4-BE49-F238E27FC236}">
                <a16:creationId xmlns:a16="http://schemas.microsoft.com/office/drawing/2014/main" id="{4C2BABE5-43DE-507E-7DC3-DF4367199169}"/>
              </a:ext>
            </a:extLst>
          </p:cNvPr>
          <p:cNvSpPr/>
          <p:nvPr/>
        </p:nvSpPr>
        <p:spPr bwMode="auto">
          <a:xfrm rot="16200000">
            <a:off x="7356014" y="5949028"/>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8" name="正方形/長方形 7">
            <a:extLst>
              <a:ext uri="{FF2B5EF4-FFF2-40B4-BE49-F238E27FC236}">
                <a16:creationId xmlns:a16="http://schemas.microsoft.com/office/drawing/2014/main" id="{E4D59B1A-C82C-C08D-D16A-C7CC5C3FE3F6}"/>
              </a:ext>
            </a:extLst>
          </p:cNvPr>
          <p:cNvSpPr/>
          <p:nvPr/>
        </p:nvSpPr>
        <p:spPr bwMode="auto">
          <a:xfrm rot="16200000">
            <a:off x="7716018" y="5949028"/>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9" name="正方形/長方形 8">
            <a:extLst>
              <a:ext uri="{FF2B5EF4-FFF2-40B4-BE49-F238E27FC236}">
                <a16:creationId xmlns:a16="http://schemas.microsoft.com/office/drawing/2014/main" id="{92C09AC7-13D5-26FA-05B9-EE8BCB2C3904}"/>
              </a:ext>
            </a:extLst>
          </p:cNvPr>
          <p:cNvSpPr/>
          <p:nvPr/>
        </p:nvSpPr>
        <p:spPr bwMode="auto">
          <a:xfrm rot="16200000">
            <a:off x="8076022" y="5949028"/>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0" name="正方形/長方形 9">
            <a:extLst>
              <a:ext uri="{FF2B5EF4-FFF2-40B4-BE49-F238E27FC236}">
                <a16:creationId xmlns:a16="http://schemas.microsoft.com/office/drawing/2014/main" id="{175A73A1-7E52-6C66-181A-79D734F36687}"/>
              </a:ext>
            </a:extLst>
          </p:cNvPr>
          <p:cNvSpPr/>
          <p:nvPr/>
        </p:nvSpPr>
        <p:spPr bwMode="auto">
          <a:xfrm rot="16200000">
            <a:off x="6996010" y="4689014"/>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1" name="正方形/長方形 10">
            <a:extLst>
              <a:ext uri="{FF2B5EF4-FFF2-40B4-BE49-F238E27FC236}">
                <a16:creationId xmlns:a16="http://schemas.microsoft.com/office/drawing/2014/main" id="{9DC878F8-2516-1D1E-3820-FE2B34CEC01E}"/>
              </a:ext>
            </a:extLst>
          </p:cNvPr>
          <p:cNvSpPr/>
          <p:nvPr/>
        </p:nvSpPr>
        <p:spPr bwMode="auto">
          <a:xfrm rot="16200000">
            <a:off x="6456004" y="4509012"/>
            <a:ext cx="720008" cy="720008"/>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制御部</a:t>
            </a:r>
          </a:p>
        </p:txBody>
      </p:sp>
      <p:sp>
        <p:nvSpPr>
          <p:cNvPr id="12" name="正方形/長方形 11">
            <a:extLst>
              <a:ext uri="{FF2B5EF4-FFF2-40B4-BE49-F238E27FC236}">
                <a16:creationId xmlns:a16="http://schemas.microsoft.com/office/drawing/2014/main" id="{B433D56D-4DFD-72DB-01B6-D225BF2B1B8D}"/>
              </a:ext>
            </a:extLst>
          </p:cNvPr>
          <p:cNvSpPr/>
          <p:nvPr/>
        </p:nvSpPr>
        <p:spPr bwMode="auto">
          <a:xfrm rot="16200000">
            <a:off x="5915998" y="4689014"/>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3" name="正方形/長方形 12">
            <a:extLst>
              <a:ext uri="{FF2B5EF4-FFF2-40B4-BE49-F238E27FC236}">
                <a16:creationId xmlns:a16="http://schemas.microsoft.com/office/drawing/2014/main" id="{7BE9FF56-FFC9-7BBA-FBAE-CB5C9C5E1144}"/>
              </a:ext>
            </a:extLst>
          </p:cNvPr>
          <p:cNvSpPr/>
          <p:nvPr/>
        </p:nvSpPr>
        <p:spPr bwMode="auto">
          <a:xfrm rot="16200000">
            <a:off x="5375992" y="4509012"/>
            <a:ext cx="720008" cy="720008"/>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制御部</a:t>
            </a:r>
          </a:p>
        </p:txBody>
      </p:sp>
      <p:sp>
        <p:nvSpPr>
          <p:cNvPr id="14" name="正方形/長方形 13">
            <a:extLst>
              <a:ext uri="{FF2B5EF4-FFF2-40B4-BE49-F238E27FC236}">
                <a16:creationId xmlns:a16="http://schemas.microsoft.com/office/drawing/2014/main" id="{37A47EB3-40F9-371A-F8ED-5503D1C4FFF1}"/>
              </a:ext>
            </a:extLst>
          </p:cNvPr>
          <p:cNvSpPr/>
          <p:nvPr/>
        </p:nvSpPr>
        <p:spPr bwMode="auto">
          <a:xfrm rot="16200000">
            <a:off x="4835986" y="4689014"/>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5" name="正方形/長方形 14">
            <a:extLst>
              <a:ext uri="{FF2B5EF4-FFF2-40B4-BE49-F238E27FC236}">
                <a16:creationId xmlns:a16="http://schemas.microsoft.com/office/drawing/2014/main" id="{46E7F903-8D11-C786-24D9-C6E93FB796D5}"/>
              </a:ext>
            </a:extLst>
          </p:cNvPr>
          <p:cNvSpPr/>
          <p:nvPr/>
        </p:nvSpPr>
        <p:spPr bwMode="auto">
          <a:xfrm rot="16200000">
            <a:off x="4295980" y="4509012"/>
            <a:ext cx="720008" cy="720008"/>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制御部</a:t>
            </a:r>
          </a:p>
        </p:txBody>
      </p:sp>
      <p:sp>
        <p:nvSpPr>
          <p:cNvPr id="16" name="正方形/長方形 15">
            <a:extLst>
              <a:ext uri="{FF2B5EF4-FFF2-40B4-BE49-F238E27FC236}">
                <a16:creationId xmlns:a16="http://schemas.microsoft.com/office/drawing/2014/main" id="{F49E0549-721D-66E0-D4C8-88BBA5B1B378}"/>
              </a:ext>
            </a:extLst>
          </p:cNvPr>
          <p:cNvSpPr/>
          <p:nvPr/>
        </p:nvSpPr>
        <p:spPr bwMode="auto">
          <a:xfrm rot="16200000">
            <a:off x="6456004" y="5769026"/>
            <a:ext cx="720008" cy="720008"/>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制御部</a:t>
            </a:r>
          </a:p>
        </p:txBody>
      </p:sp>
      <p:sp>
        <p:nvSpPr>
          <p:cNvPr id="17" name="正方形/長方形 16">
            <a:extLst>
              <a:ext uri="{FF2B5EF4-FFF2-40B4-BE49-F238E27FC236}">
                <a16:creationId xmlns:a16="http://schemas.microsoft.com/office/drawing/2014/main" id="{83E1C581-4724-9F22-3EB6-7EE7C89ADDB3}"/>
              </a:ext>
            </a:extLst>
          </p:cNvPr>
          <p:cNvSpPr/>
          <p:nvPr/>
        </p:nvSpPr>
        <p:spPr bwMode="auto">
          <a:xfrm rot="16200000">
            <a:off x="5195990" y="5949028"/>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8" name="正方形/長方形 17">
            <a:extLst>
              <a:ext uri="{FF2B5EF4-FFF2-40B4-BE49-F238E27FC236}">
                <a16:creationId xmlns:a16="http://schemas.microsoft.com/office/drawing/2014/main" id="{C7B4F6B9-C6CB-28D7-A872-E674B0E28EE9}"/>
              </a:ext>
            </a:extLst>
          </p:cNvPr>
          <p:cNvSpPr/>
          <p:nvPr/>
        </p:nvSpPr>
        <p:spPr bwMode="auto">
          <a:xfrm rot="16200000">
            <a:off x="5555994" y="5949028"/>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9" name="正方形/長方形 18">
            <a:extLst>
              <a:ext uri="{FF2B5EF4-FFF2-40B4-BE49-F238E27FC236}">
                <a16:creationId xmlns:a16="http://schemas.microsoft.com/office/drawing/2014/main" id="{A2644DFB-20A4-B483-5A0B-7FB2A582F234}"/>
              </a:ext>
            </a:extLst>
          </p:cNvPr>
          <p:cNvSpPr/>
          <p:nvPr/>
        </p:nvSpPr>
        <p:spPr bwMode="auto">
          <a:xfrm rot="16200000">
            <a:off x="5915998" y="5949028"/>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20" name="正方形/長方形 19">
            <a:extLst>
              <a:ext uri="{FF2B5EF4-FFF2-40B4-BE49-F238E27FC236}">
                <a16:creationId xmlns:a16="http://schemas.microsoft.com/office/drawing/2014/main" id="{06F71ECC-1D3B-160D-538F-E6D8F48F34EE}"/>
              </a:ext>
            </a:extLst>
          </p:cNvPr>
          <p:cNvSpPr/>
          <p:nvPr/>
        </p:nvSpPr>
        <p:spPr bwMode="auto">
          <a:xfrm rot="16200000">
            <a:off x="4295980" y="5769026"/>
            <a:ext cx="720008" cy="720008"/>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制御部</a:t>
            </a:r>
          </a:p>
        </p:txBody>
      </p:sp>
      <p:sp>
        <p:nvSpPr>
          <p:cNvPr id="21" name="正方形/長方形 20">
            <a:extLst>
              <a:ext uri="{FF2B5EF4-FFF2-40B4-BE49-F238E27FC236}">
                <a16:creationId xmlns:a16="http://schemas.microsoft.com/office/drawing/2014/main" id="{251436E4-D194-0E5D-1817-38B48C3FB746}"/>
              </a:ext>
            </a:extLst>
          </p:cNvPr>
          <p:cNvSpPr/>
          <p:nvPr/>
        </p:nvSpPr>
        <p:spPr bwMode="auto">
          <a:xfrm rot="16200000">
            <a:off x="4835986" y="5949028"/>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22" name="正方形/長方形 21">
            <a:extLst>
              <a:ext uri="{FF2B5EF4-FFF2-40B4-BE49-F238E27FC236}">
                <a16:creationId xmlns:a16="http://schemas.microsoft.com/office/drawing/2014/main" id="{57B3D904-3B8E-3A16-08E6-B911E27E2764}"/>
              </a:ext>
            </a:extLst>
          </p:cNvPr>
          <p:cNvSpPr/>
          <p:nvPr/>
        </p:nvSpPr>
        <p:spPr bwMode="auto">
          <a:xfrm rot="16200000">
            <a:off x="4475982" y="4329010"/>
            <a:ext cx="720008" cy="1080012"/>
          </a:xfrm>
          <a:prstGeom prst="rect">
            <a:avLst/>
          </a:prstGeom>
          <a:noFill/>
          <a:ln w="31750">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100"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C75825C3-4CFD-9C67-0C19-01E6654296A1}"/>
              </a:ext>
            </a:extLst>
          </p:cNvPr>
          <p:cNvSpPr/>
          <p:nvPr/>
        </p:nvSpPr>
        <p:spPr bwMode="auto">
          <a:xfrm rot="16200000">
            <a:off x="5555994" y="4329010"/>
            <a:ext cx="720008" cy="1080012"/>
          </a:xfrm>
          <a:prstGeom prst="rect">
            <a:avLst/>
          </a:prstGeom>
          <a:noFill/>
          <a:ln w="31750">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100"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4C0D3610-F16C-D30A-C20F-C82AC876107E}"/>
              </a:ext>
            </a:extLst>
          </p:cNvPr>
          <p:cNvSpPr/>
          <p:nvPr/>
        </p:nvSpPr>
        <p:spPr bwMode="auto">
          <a:xfrm rot="16200000">
            <a:off x="6636006" y="4329010"/>
            <a:ext cx="720008" cy="1080012"/>
          </a:xfrm>
          <a:prstGeom prst="rect">
            <a:avLst/>
          </a:prstGeom>
          <a:noFill/>
          <a:ln w="31750">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100" dirty="0">
              <a:solidFill>
                <a:schemeClr val="tx1">
                  <a:lumMod val="75000"/>
                  <a:lumOff val="25000"/>
                </a:schemeClr>
              </a:solidFill>
              <a:latin typeface="+mn-ea"/>
            </a:endParaRPr>
          </a:p>
        </p:txBody>
      </p:sp>
      <p:sp>
        <p:nvSpPr>
          <p:cNvPr id="25" name="正方形/長方形 24">
            <a:extLst>
              <a:ext uri="{FF2B5EF4-FFF2-40B4-BE49-F238E27FC236}">
                <a16:creationId xmlns:a16="http://schemas.microsoft.com/office/drawing/2014/main" id="{557A2B9E-04E3-38B6-284E-8E77C66EF154}"/>
              </a:ext>
            </a:extLst>
          </p:cNvPr>
          <p:cNvSpPr/>
          <p:nvPr/>
        </p:nvSpPr>
        <p:spPr bwMode="auto">
          <a:xfrm rot="16200000">
            <a:off x="7716018" y="4329010"/>
            <a:ext cx="720008" cy="1080012"/>
          </a:xfrm>
          <a:prstGeom prst="rect">
            <a:avLst/>
          </a:prstGeom>
          <a:noFill/>
          <a:ln w="31750">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100" dirty="0">
              <a:solidFill>
                <a:schemeClr val="tx1">
                  <a:lumMod val="75000"/>
                  <a:lumOff val="25000"/>
                </a:schemeClr>
              </a:solidFill>
              <a:latin typeface="+mn-ea"/>
            </a:endParaRPr>
          </a:p>
        </p:txBody>
      </p:sp>
      <p:sp>
        <p:nvSpPr>
          <p:cNvPr id="26" name="正方形/長方形 25">
            <a:extLst>
              <a:ext uri="{FF2B5EF4-FFF2-40B4-BE49-F238E27FC236}">
                <a16:creationId xmlns:a16="http://schemas.microsoft.com/office/drawing/2014/main" id="{CECD4163-7765-879D-2A00-6B5D43B59341}"/>
              </a:ext>
            </a:extLst>
          </p:cNvPr>
          <p:cNvSpPr/>
          <p:nvPr/>
        </p:nvSpPr>
        <p:spPr bwMode="auto">
          <a:xfrm rot="16200000">
            <a:off x="5015988" y="5049018"/>
            <a:ext cx="720008" cy="2160024"/>
          </a:xfrm>
          <a:prstGeom prst="rect">
            <a:avLst/>
          </a:prstGeom>
          <a:noFill/>
          <a:ln w="31750">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100" dirty="0">
              <a:solidFill>
                <a:schemeClr val="tx1">
                  <a:lumMod val="75000"/>
                  <a:lumOff val="25000"/>
                </a:schemeClr>
              </a:solidFill>
              <a:latin typeface="+mn-ea"/>
            </a:endParaRPr>
          </a:p>
        </p:txBody>
      </p:sp>
      <p:sp>
        <p:nvSpPr>
          <p:cNvPr id="27" name="正方形/長方形 26">
            <a:extLst>
              <a:ext uri="{FF2B5EF4-FFF2-40B4-BE49-F238E27FC236}">
                <a16:creationId xmlns:a16="http://schemas.microsoft.com/office/drawing/2014/main" id="{C738EB53-4182-8BC2-AEC3-82A31B3683AC}"/>
              </a:ext>
            </a:extLst>
          </p:cNvPr>
          <p:cNvSpPr/>
          <p:nvPr/>
        </p:nvSpPr>
        <p:spPr bwMode="auto">
          <a:xfrm rot="16200000">
            <a:off x="7176012" y="5049018"/>
            <a:ext cx="720008" cy="2160024"/>
          </a:xfrm>
          <a:prstGeom prst="rect">
            <a:avLst/>
          </a:prstGeom>
          <a:noFill/>
          <a:ln w="31750">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100" dirty="0">
              <a:solidFill>
                <a:schemeClr val="tx1">
                  <a:lumMod val="75000"/>
                  <a:lumOff val="25000"/>
                </a:schemeClr>
              </a:solidFill>
              <a:latin typeface="+mn-ea"/>
            </a:endParaRPr>
          </a:p>
        </p:txBody>
      </p:sp>
      <p:sp>
        <p:nvSpPr>
          <p:cNvPr id="28" name="正方形/長方形 27">
            <a:extLst>
              <a:ext uri="{FF2B5EF4-FFF2-40B4-BE49-F238E27FC236}">
                <a16:creationId xmlns:a16="http://schemas.microsoft.com/office/drawing/2014/main" id="{A6C0ABCD-D4D7-1CB9-3461-2B4C1AF993C2}"/>
              </a:ext>
            </a:extLst>
          </p:cNvPr>
          <p:cNvSpPr/>
          <p:nvPr/>
        </p:nvSpPr>
        <p:spPr bwMode="auto">
          <a:xfrm>
            <a:off x="3485972" y="594902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SIMD</a:t>
            </a:r>
            <a:endParaRPr lang="ja-JP" altLang="en-US" sz="1600" dirty="0">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919ED0CF-D533-D7F6-F1F0-27E1CFAB6470}"/>
              </a:ext>
            </a:extLst>
          </p:cNvPr>
          <p:cNvSpPr/>
          <p:nvPr/>
        </p:nvSpPr>
        <p:spPr bwMode="auto">
          <a:xfrm>
            <a:off x="3485972" y="468901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MIMD</a:t>
            </a:r>
            <a:endParaRPr lang="ja-JP" altLang="en-US" sz="1600" dirty="0">
              <a:solidFill>
                <a:schemeClr val="tx1">
                  <a:lumMod val="75000"/>
                  <a:lumOff val="25000"/>
                </a:schemeClr>
              </a:solidFill>
              <a:latin typeface="+mn-ea"/>
            </a:endParaRPr>
          </a:p>
        </p:txBody>
      </p:sp>
      <p:cxnSp>
        <p:nvCxnSpPr>
          <p:cNvPr id="30" name="直線矢印コネクタ 29">
            <a:extLst>
              <a:ext uri="{FF2B5EF4-FFF2-40B4-BE49-F238E27FC236}">
                <a16:creationId xmlns:a16="http://schemas.microsoft.com/office/drawing/2014/main" id="{5C56407D-08A0-8AB1-27C4-360FA4AC3F0E}"/>
              </a:ext>
            </a:extLst>
          </p:cNvPr>
          <p:cNvCxnSpPr>
            <a:cxnSpLocks/>
          </p:cNvCxnSpPr>
          <p:nvPr/>
        </p:nvCxnSpPr>
        <p:spPr bwMode="auto">
          <a:xfrm rot="5400000" flipV="1">
            <a:off x="6636006" y="2078983"/>
            <a:ext cx="0" cy="4680052"/>
          </a:xfrm>
          <a:prstGeom prst="straightConnector1">
            <a:avLst/>
          </a:prstGeom>
          <a:noFill/>
          <a:ln w="9525" cap="flat" cmpd="sng" algn="ctr">
            <a:solidFill>
              <a:schemeClr val="tx1"/>
            </a:solidFill>
            <a:prstDash val="solid"/>
            <a:round/>
            <a:headEnd type="none" w="med" len="med"/>
            <a:tailEnd type="triangle"/>
          </a:ln>
          <a:effectLst/>
        </p:spPr>
      </p:cxnSp>
      <p:sp>
        <p:nvSpPr>
          <p:cNvPr id="31" name="正方形/長方形 30">
            <a:extLst>
              <a:ext uri="{FF2B5EF4-FFF2-40B4-BE49-F238E27FC236}">
                <a16:creationId xmlns:a16="http://schemas.microsoft.com/office/drawing/2014/main" id="{DC668556-DDB8-2E15-EA5C-F12A2C7BA932}"/>
              </a:ext>
            </a:extLst>
          </p:cNvPr>
          <p:cNvSpPr/>
          <p:nvPr/>
        </p:nvSpPr>
        <p:spPr bwMode="auto">
          <a:xfrm>
            <a:off x="5375993" y="414900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回路量（チップ面積）</a:t>
            </a:r>
          </a:p>
        </p:txBody>
      </p:sp>
      <p:sp>
        <p:nvSpPr>
          <p:cNvPr id="32" name="右中かっこ 31">
            <a:extLst>
              <a:ext uri="{FF2B5EF4-FFF2-40B4-BE49-F238E27FC236}">
                <a16:creationId xmlns:a16="http://schemas.microsoft.com/office/drawing/2014/main" id="{9284DCD8-4224-979E-3D2A-BA121BE9E474}"/>
              </a:ext>
            </a:extLst>
          </p:cNvPr>
          <p:cNvSpPr/>
          <p:nvPr/>
        </p:nvSpPr>
        <p:spPr bwMode="auto">
          <a:xfrm rot="5400000">
            <a:off x="4790986" y="4824017"/>
            <a:ext cx="90003" cy="1080013"/>
          </a:xfrm>
          <a:prstGeom prst="rightBrace">
            <a:avLst/>
          </a:prstGeom>
          <a:noFill/>
          <a:ln w="9525" cap="flat" cmpd="sng" algn="ctr">
            <a:solidFill>
              <a:schemeClr val="tx1"/>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sz="1200">
              <a:latin typeface="Verdana" pitchFamily="34" charset="0"/>
              <a:ea typeface="HG丸ｺﾞｼｯｸM-PRO" pitchFamily="50" charset="-128"/>
            </a:endParaRPr>
          </a:p>
        </p:txBody>
      </p:sp>
      <p:sp>
        <p:nvSpPr>
          <p:cNvPr id="33" name="正方形/長方形 32">
            <a:extLst>
              <a:ext uri="{FF2B5EF4-FFF2-40B4-BE49-F238E27FC236}">
                <a16:creationId xmlns:a16="http://schemas.microsoft.com/office/drawing/2014/main" id="{89F02B6D-7F0E-D823-16C1-19905F01D7B6}"/>
              </a:ext>
            </a:extLst>
          </p:cNvPr>
          <p:cNvSpPr/>
          <p:nvPr/>
        </p:nvSpPr>
        <p:spPr bwMode="auto">
          <a:xfrm>
            <a:off x="4565984" y="531902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100" dirty="0">
                <a:solidFill>
                  <a:schemeClr val="tx1">
                    <a:lumMod val="75000"/>
                    <a:lumOff val="25000"/>
                  </a:schemeClr>
                </a:solidFill>
                <a:latin typeface="+mn-ea"/>
              </a:rPr>
              <a:t>コア</a:t>
            </a:r>
          </a:p>
        </p:txBody>
      </p:sp>
      <p:sp>
        <p:nvSpPr>
          <p:cNvPr id="34" name="右中かっこ 33">
            <a:extLst>
              <a:ext uri="{FF2B5EF4-FFF2-40B4-BE49-F238E27FC236}">
                <a16:creationId xmlns:a16="http://schemas.microsoft.com/office/drawing/2014/main" id="{B1AE4966-8BAB-45A8-35EC-1D91C0D97486}"/>
              </a:ext>
            </a:extLst>
          </p:cNvPr>
          <p:cNvSpPr/>
          <p:nvPr/>
        </p:nvSpPr>
        <p:spPr bwMode="auto">
          <a:xfrm rot="5400000">
            <a:off x="5330990" y="5544025"/>
            <a:ext cx="90003" cy="2160024"/>
          </a:xfrm>
          <a:prstGeom prst="rightBrace">
            <a:avLst/>
          </a:prstGeom>
          <a:noFill/>
          <a:ln w="9525" cap="flat" cmpd="sng" algn="ctr">
            <a:solidFill>
              <a:schemeClr val="tx1"/>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sz="1200">
              <a:latin typeface="Verdana" pitchFamily="34" charset="0"/>
              <a:ea typeface="HG丸ｺﾞｼｯｸM-PRO" pitchFamily="50" charset="-128"/>
            </a:endParaRPr>
          </a:p>
        </p:txBody>
      </p:sp>
      <p:sp>
        <p:nvSpPr>
          <p:cNvPr id="35" name="正方形/長方形 34">
            <a:extLst>
              <a:ext uri="{FF2B5EF4-FFF2-40B4-BE49-F238E27FC236}">
                <a16:creationId xmlns:a16="http://schemas.microsoft.com/office/drawing/2014/main" id="{B00F11FD-6833-020A-103C-B1B2266A41DF}"/>
              </a:ext>
            </a:extLst>
          </p:cNvPr>
          <p:cNvSpPr/>
          <p:nvPr/>
        </p:nvSpPr>
        <p:spPr bwMode="auto">
          <a:xfrm>
            <a:off x="5105990" y="6579035"/>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100" dirty="0">
                <a:solidFill>
                  <a:schemeClr val="tx1">
                    <a:lumMod val="75000"/>
                    <a:lumOff val="25000"/>
                  </a:schemeClr>
                </a:solidFill>
                <a:latin typeface="+mn-ea"/>
              </a:rPr>
              <a:t>コア</a:t>
            </a:r>
          </a:p>
        </p:txBody>
      </p:sp>
    </p:spTree>
    <p:extLst>
      <p:ext uri="{BB962C8B-B14F-4D97-AF65-F5344CB8AC3E}">
        <p14:creationId xmlns:p14="http://schemas.microsoft.com/office/powerpoint/2010/main" val="12281561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03CD4A-C244-535A-FB8B-0A5B78E32697}"/>
              </a:ext>
            </a:extLst>
          </p:cNvPr>
          <p:cNvSpPr>
            <a:spLocks noGrp="1"/>
          </p:cNvSpPr>
          <p:nvPr>
            <p:ph type="title"/>
          </p:nvPr>
        </p:nvSpPr>
        <p:spPr/>
        <p:txBody>
          <a:bodyPr/>
          <a:lstStyle/>
          <a:p>
            <a:r>
              <a:rPr kumimoji="1" lang="en-US" altLang="ja-JP" dirty="0"/>
              <a:t>GPU </a:t>
            </a:r>
            <a:r>
              <a:rPr kumimoji="1" lang="ja-JP" altLang="en-US" dirty="0"/>
              <a:t>における回路量あたりの性能向上</a:t>
            </a:r>
          </a:p>
        </p:txBody>
      </p:sp>
      <p:sp>
        <p:nvSpPr>
          <p:cNvPr id="3" name="テキスト プレースホルダー 2">
            <a:extLst>
              <a:ext uri="{FF2B5EF4-FFF2-40B4-BE49-F238E27FC236}">
                <a16:creationId xmlns:a16="http://schemas.microsoft.com/office/drawing/2014/main" id="{9C3C3C8A-B226-6A26-A4C0-FF1CCF96FFB8}"/>
              </a:ext>
            </a:extLst>
          </p:cNvPr>
          <p:cNvSpPr>
            <a:spLocks noGrp="1"/>
          </p:cNvSpPr>
          <p:nvPr>
            <p:ph type="body" sz="quarter" idx="10"/>
          </p:nvPr>
        </p:nvSpPr>
        <p:spPr/>
        <p:txBody>
          <a:bodyPr/>
          <a:lstStyle/>
          <a:p>
            <a:pPr marL="457200" indent="-457200">
              <a:buFont typeface="+mj-lt"/>
              <a:buAutoNum type="arabicPeriod"/>
            </a:pPr>
            <a:r>
              <a:rPr kumimoji="1" lang="ja-JP" altLang="en-US" dirty="0"/>
              <a:t>制御部の共有</a:t>
            </a:r>
            <a:endParaRPr kumimoji="1" lang="en-US" altLang="ja-JP" dirty="0"/>
          </a:p>
          <a:p>
            <a:pPr marL="457200" indent="-457200">
              <a:buFont typeface="+mj-lt"/>
              <a:buAutoNum type="arabicPeriod"/>
            </a:pPr>
            <a:r>
              <a:rPr kumimoji="1" lang="ja-JP" altLang="en-US" dirty="0">
                <a:solidFill>
                  <a:schemeClr val="accent5"/>
                </a:solidFill>
              </a:rPr>
              <a:t>制御部自体の小型化</a:t>
            </a:r>
            <a:endParaRPr kumimoji="1" lang="en-US" altLang="ja-JP" dirty="0">
              <a:solidFill>
                <a:schemeClr val="accent5"/>
              </a:solidFill>
            </a:endParaRPr>
          </a:p>
          <a:p>
            <a:pPr lvl="1"/>
            <a:r>
              <a:rPr kumimoji="1" lang="ja-JP" altLang="en-US" dirty="0"/>
              <a:t>（この話は </a:t>
            </a:r>
            <a:r>
              <a:rPr kumimoji="1" lang="en-US" altLang="ja-JP" dirty="0"/>
              <a:t>SIMD </a:t>
            </a:r>
            <a:r>
              <a:rPr kumimoji="1" lang="ja-JP" altLang="en-US" dirty="0"/>
              <a:t>の話とは直交しているが，関わるのでここで</a:t>
            </a:r>
          </a:p>
        </p:txBody>
      </p:sp>
    </p:spTree>
    <p:extLst>
      <p:ext uri="{BB962C8B-B14F-4D97-AF65-F5344CB8AC3E}">
        <p14:creationId xmlns:p14="http://schemas.microsoft.com/office/powerpoint/2010/main" val="33985328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GPU </a:t>
            </a:r>
            <a:r>
              <a:rPr lang="ja-JP" altLang="en-US" dirty="0"/>
              <a:t>では制御部自体を簡素化</a:t>
            </a:r>
            <a:endParaRPr kumimoji="1" lang="ja-JP" altLang="en-US" dirty="0"/>
          </a:p>
        </p:txBody>
      </p:sp>
      <p:sp>
        <p:nvSpPr>
          <p:cNvPr id="3" name="テキスト プレースホルダー 2"/>
          <p:cNvSpPr>
            <a:spLocks noGrp="1"/>
          </p:cNvSpPr>
          <p:nvPr>
            <p:ph type="body" sz="quarter" idx="10"/>
          </p:nvPr>
        </p:nvSpPr>
        <p:spPr/>
        <p:txBody>
          <a:bodyPr/>
          <a:lstStyle/>
          <a:p>
            <a:r>
              <a:rPr kumimoji="1" lang="en-US" altLang="ja-JP" dirty="0"/>
              <a:t>CPU</a:t>
            </a:r>
          </a:p>
          <a:p>
            <a:pPr lvl="1"/>
            <a:r>
              <a:rPr kumimoji="1" lang="ja-JP" altLang="en-US" dirty="0"/>
              <a:t>単一のスレッドの実行時間を短くすることに特化</a:t>
            </a:r>
            <a:endParaRPr kumimoji="1" lang="en-US" altLang="ja-JP" dirty="0"/>
          </a:p>
          <a:p>
            <a:pPr lvl="1"/>
            <a:r>
              <a:rPr kumimoji="1" lang="ja-JP" altLang="en-US" dirty="0"/>
              <a:t>各種投機実行や，動的命令スケジューリングに回路資源を投入</a:t>
            </a:r>
            <a:endParaRPr kumimoji="1" lang="en-US" altLang="ja-JP" dirty="0"/>
          </a:p>
          <a:p>
            <a:pPr lvl="1"/>
            <a:endParaRPr kumimoji="1" lang="en-US" altLang="ja-JP" dirty="0"/>
          </a:p>
          <a:p>
            <a:pPr lvl="1"/>
            <a:endParaRPr kumimoji="1" lang="en-US" altLang="ja-JP" dirty="0"/>
          </a:p>
          <a:p>
            <a:pPr lvl="1"/>
            <a:endParaRPr lang="en-US" altLang="ja-JP" dirty="0"/>
          </a:p>
          <a:p>
            <a:r>
              <a:rPr kumimoji="1" lang="en-US" altLang="ja-JP" dirty="0"/>
              <a:t>GPU</a:t>
            </a:r>
          </a:p>
          <a:p>
            <a:pPr lvl="1"/>
            <a:r>
              <a:rPr kumimoji="1" lang="ja-JP" altLang="en-US" dirty="0"/>
              <a:t>大量のスレッドの実行スループットを上げることに特化</a:t>
            </a:r>
            <a:endParaRPr kumimoji="1" lang="en-US" altLang="ja-JP" dirty="0"/>
          </a:p>
          <a:p>
            <a:pPr lvl="1"/>
            <a:r>
              <a:rPr kumimoji="1" lang="ja-JP" altLang="en-US" dirty="0"/>
              <a:t>演算器以外の部分をそぎ落とし，なるべく大量の演算器を積む</a:t>
            </a:r>
            <a:endParaRPr kumimoji="1" lang="en-US" altLang="ja-JP" dirty="0"/>
          </a:p>
          <a:p>
            <a:pPr lvl="1"/>
            <a:endParaRPr kumimoji="1" lang="en-US" altLang="ja-JP" dirty="0"/>
          </a:p>
          <a:p>
            <a:pPr lvl="1"/>
            <a:endParaRPr lang="en-US" altLang="ja-JP" dirty="0"/>
          </a:p>
          <a:p>
            <a:pPr lvl="1"/>
            <a:endParaRPr kumimoji="1" lang="ja-JP" altLang="en-US" dirty="0"/>
          </a:p>
        </p:txBody>
      </p:sp>
      <p:sp>
        <p:nvSpPr>
          <p:cNvPr id="4" name="正方形/長方形 3"/>
          <p:cNvSpPr/>
          <p:nvPr/>
        </p:nvSpPr>
        <p:spPr bwMode="auto">
          <a:xfrm>
            <a:off x="2855964" y="2618991"/>
            <a:ext cx="720008" cy="540006"/>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加算器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乗算器</a:t>
            </a:r>
          </a:p>
        </p:txBody>
      </p:sp>
      <p:sp>
        <p:nvSpPr>
          <p:cNvPr id="5" name="正方形/長方形 4"/>
          <p:cNvSpPr/>
          <p:nvPr/>
        </p:nvSpPr>
        <p:spPr bwMode="auto">
          <a:xfrm>
            <a:off x="3575972" y="2618991"/>
            <a:ext cx="720008" cy="540006"/>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ROB</a:t>
            </a:r>
            <a:endParaRPr lang="ja-JP" altLang="en-US" sz="1600" dirty="0">
              <a:solidFill>
                <a:schemeClr val="tx1">
                  <a:lumMod val="75000"/>
                  <a:lumOff val="25000"/>
                </a:schemeClr>
              </a:solidFill>
              <a:latin typeface="+mn-ea"/>
            </a:endParaRPr>
          </a:p>
        </p:txBody>
      </p:sp>
      <p:sp>
        <p:nvSpPr>
          <p:cNvPr id="6" name="正方形/長方形 5"/>
          <p:cNvSpPr/>
          <p:nvPr/>
        </p:nvSpPr>
        <p:spPr bwMode="auto">
          <a:xfrm>
            <a:off x="4295980" y="2618991"/>
            <a:ext cx="720008" cy="540006"/>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RMT</a:t>
            </a:r>
            <a:endParaRPr lang="ja-JP" altLang="en-US" sz="1600" dirty="0">
              <a:solidFill>
                <a:schemeClr val="tx1">
                  <a:lumMod val="75000"/>
                  <a:lumOff val="25000"/>
                </a:schemeClr>
              </a:solidFill>
              <a:latin typeface="+mn-ea"/>
            </a:endParaRPr>
          </a:p>
        </p:txBody>
      </p:sp>
      <p:sp>
        <p:nvSpPr>
          <p:cNvPr id="7" name="正方形/長方形 6"/>
          <p:cNvSpPr/>
          <p:nvPr/>
        </p:nvSpPr>
        <p:spPr bwMode="auto">
          <a:xfrm>
            <a:off x="5015988" y="2618991"/>
            <a:ext cx="720008" cy="540006"/>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発行</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キュー</a:t>
            </a:r>
          </a:p>
        </p:txBody>
      </p:sp>
      <p:sp>
        <p:nvSpPr>
          <p:cNvPr id="8" name="正方形/長方形 7"/>
          <p:cNvSpPr/>
          <p:nvPr/>
        </p:nvSpPr>
        <p:spPr bwMode="auto">
          <a:xfrm>
            <a:off x="5735996" y="2618991"/>
            <a:ext cx="720008" cy="540006"/>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LSQ</a:t>
            </a:r>
            <a:endParaRPr lang="ja-JP" altLang="en-US" sz="1600" dirty="0">
              <a:solidFill>
                <a:schemeClr val="tx1">
                  <a:lumMod val="75000"/>
                  <a:lumOff val="25000"/>
                </a:schemeClr>
              </a:solidFill>
              <a:latin typeface="+mn-ea"/>
            </a:endParaRPr>
          </a:p>
        </p:txBody>
      </p:sp>
      <p:sp>
        <p:nvSpPr>
          <p:cNvPr id="9" name="正方形/長方形 8"/>
          <p:cNvSpPr/>
          <p:nvPr/>
        </p:nvSpPr>
        <p:spPr bwMode="auto">
          <a:xfrm>
            <a:off x="6456004" y="2618991"/>
            <a:ext cx="720008" cy="540006"/>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分岐</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予測</a:t>
            </a:r>
          </a:p>
        </p:txBody>
      </p:sp>
      <p:sp>
        <p:nvSpPr>
          <p:cNvPr id="10" name="正方形/長方形 9"/>
          <p:cNvSpPr/>
          <p:nvPr/>
        </p:nvSpPr>
        <p:spPr bwMode="auto">
          <a:xfrm>
            <a:off x="7176012" y="2618991"/>
            <a:ext cx="720008" cy="540006"/>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依存</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予測</a:t>
            </a:r>
          </a:p>
        </p:txBody>
      </p:sp>
      <p:sp>
        <p:nvSpPr>
          <p:cNvPr id="11" name="正方形/長方形 10"/>
          <p:cNvSpPr/>
          <p:nvPr/>
        </p:nvSpPr>
        <p:spPr bwMode="auto">
          <a:xfrm>
            <a:off x="7896020" y="2618991"/>
            <a:ext cx="1440016" cy="540006"/>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2" name="正方形/長方形 21"/>
          <p:cNvSpPr/>
          <p:nvPr/>
        </p:nvSpPr>
        <p:spPr bwMode="auto">
          <a:xfrm>
            <a:off x="7896020" y="5319021"/>
            <a:ext cx="1440016" cy="540006"/>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18" name="正方形/長方形 17">
            <a:extLst>
              <a:ext uri="{FF2B5EF4-FFF2-40B4-BE49-F238E27FC236}">
                <a16:creationId xmlns:a16="http://schemas.microsoft.com/office/drawing/2014/main" id="{9647B10B-4674-4424-9244-70AEDAAC884F}"/>
              </a:ext>
            </a:extLst>
          </p:cNvPr>
          <p:cNvSpPr/>
          <p:nvPr/>
        </p:nvSpPr>
        <p:spPr bwMode="auto">
          <a:xfrm>
            <a:off x="2855964" y="5319021"/>
            <a:ext cx="720008" cy="540006"/>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加算器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乗算器</a:t>
            </a:r>
          </a:p>
        </p:txBody>
      </p:sp>
      <p:sp>
        <p:nvSpPr>
          <p:cNvPr id="19" name="正方形/長方形 18">
            <a:extLst>
              <a:ext uri="{FF2B5EF4-FFF2-40B4-BE49-F238E27FC236}">
                <a16:creationId xmlns:a16="http://schemas.microsoft.com/office/drawing/2014/main" id="{A3384164-FEC8-07D0-325E-EE6DCCCC0672}"/>
              </a:ext>
            </a:extLst>
          </p:cNvPr>
          <p:cNvSpPr/>
          <p:nvPr/>
        </p:nvSpPr>
        <p:spPr bwMode="auto">
          <a:xfrm>
            <a:off x="3575972" y="5319021"/>
            <a:ext cx="720008" cy="540006"/>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加算器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乗算器</a:t>
            </a:r>
          </a:p>
        </p:txBody>
      </p:sp>
      <p:sp>
        <p:nvSpPr>
          <p:cNvPr id="20" name="正方形/長方形 19">
            <a:extLst>
              <a:ext uri="{FF2B5EF4-FFF2-40B4-BE49-F238E27FC236}">
                <a16:creationId xmlns:a16="http://schemas.microsoft.com/office/drawing/2014/main" id="{7BA844BC-F03A-262B-5F33-3F3C096D54F1}"/>
              </a:ext>
            </a:extLst>
          </p:cNvPr>
          <p:cNvSpPr/>
          <p:nvPr/>
        </p:nvSpPr>
        <p:spPr bwMode="auto">
          <a:xfrm>
            <a:off x="4295980" y="5319021"/>
            <a:ext cx="720008" cy="540006"/>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加算器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乗算器</a:t>
            </a:r>
          </a:p>
        </p:txBody>
      </p:sp>
      <p:sp>
        <p:nvSpPr>
          <p:cNvPr id="21" name="正方形/長方形 20">
            <a:extLst>
              <a:ext uri="{FF2B5EF4-FFF2-40B4-BE49-F238E27FC236}">
                <a16:creationId xmlns:a16="http://schemas.microsoft.com/office/drawing/2014/main" id="{DCA8D981-068E-D7EE-BF23-68C333E4C0D3}"/>
              </a:ext>
            </a:extLst>
          </p:cNvPr>
          <p:cNvSpPr/>
          <p:nvPr/>
        </p:nvSpPr>
        <p:spPr bwMode="auto">
          <a:xfrm>
            <a:off x="5015988" y="5319021"/>
            <a:ext cx="720008" cy="540006"/>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加算器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乗算器</a:t>
            </a:r>
          </a:p>
        </p:txBody>
      </p:sp>
      <p:sp>
        <p:nvSpPr>
          <p:cNvPr id="25" name="正方形/長方形 24">
            <a:extLst>
              <a:ext uri="{FF2B5EF4-FFF2-40B4-BE49-F238E27FC236}">
                <a16:creationId xmlns:a16="http://schemas.microsoft.com/office/drawing/2014/main" id="{97DA8257-46C7-8EB7-178B-8EC9F60E90DA}"/>
              </a:ext>
            </a:extLst>
          </p:cNvPr>
          <p:cNvSpPr/>
          <p:nvPr/>
        </p:nvSpPr>
        <p:spPr bwMode="auto">
          <a:xfrm>
            <a:off x="5735996" y="5319021"/>
            <a:ext cx="720008" cy="540006"/>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加算器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乗算器</a:t>
            </a:r>
          </a:p>
        </p:txBody>
      </p:sp>
      <p:sp>
        <p:nvSpPr>
          <p:cNvPr id="26" name="正方形/長方形 25">
            <a:extLst>
              <a:ext uri="{FF2B5EF4-FFF2-40B4-BE49-F238E27FC236}">
                <a16:creationId xmlns:a16="http://schemas.microsoft.com/office/drawing/2014/main" id="{88E97816-9021-9CC4-953B-9E10D69FC28B}"/>
              </a:ext>
            </a:extLst>
          </p:cNvPr>
          <p:cNvSpPr/>
          <p:nvPr/>
        </p:nvSpPr>
        <p:spPr bwMode="auto">
          <a:xfrm>
            <a:off x="6456004" y="5319021"/>
            <a:ext cx="720008" cy="540006"/>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加算器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乗算器</a:t>
            </a:r>
          </a:p>
        </p:txBody>
      </p:sp>
      <p:sp>
        <p:nvSpPr>
          <p:cNvPr id="27" name="正方形/長方形 26">
            <a:extLst>
              <a:ext uri="{FF2B5EF4-FFF2-40B4-BE49-F238E27FC236}">
                <a16:creationId xmlns:a16="http://schemas.microsoft.com/office/drawing/2014/main" id="{A4B46710-3904-076A-6E04-D4DF8562444E}"/>
              </a:ext>
            </a:extLst>
          </p:cNvPr>
          <p:cNvSpPr/>
          <p:nvPr/>
        </p:nvSpPr>
        <p:spPr bwMode="auto">
          <a:xfrm>
            <a:off x="7176012" y="5319021"/>
            <a:ext cx="720008" cy="540006"/>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加算器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乗算器</a:t>
            </a:r>
          </a:p>
        </p:txBody>
      </p:sp>
    </p:spTree>
    <p:extLst>
      <p:ext uri="{BB962C8B-B14F-4D97-AF65-F5344CB8AC3E}">
        <p14:creationId xmlns:p14="http://schemas.microsoft.com/office/powerpoint/2010/main" val="37535377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5FF60-C335-B26C-DAD0-37AA12F98AD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D436A8C-ABE6-D9A1-2335-81EF897FC742}"/>
              </a:ext>
            </a:extLst>
          </p:cNvPr>
          <p:cNvSpPr>
            <a:spLocks noGrp="1"/>
          </p:cNvSpPr>
          <p:nvPr>
            <p:ph type="title"/>
          </p:nvPr>
        </p:nvSpPr>
        <p:spPr>
          <a:xfrm>
            <a:off x="875942" y="0"/>
            <a:ext cx="11316058" cy="908972"/>
          </a:xfrm>
        </p:spPr>
        <p:txBody>
          <a:bodyPr/>
          <a:lstStyle/>
          <a:p>
            <a:r>
              <a:rPr kumimoji="1" lang="ja-JP" altLang="en-US" sz="2800" dirty="0"/>
              <a:t>仕事の割り振りは超大変</a:t>
            </a:r>
            <a:endParaRPr kumimoji="1" lang="en-US" sz="2800" dirty="0"/>
          </a:p>
        </p:txBody>
      </p:sp>
      <p:sp>
        <p:nvSpPr>
          <p:cNvPr id="3" name="テキスト プレースホルダー 2">
            <a:extLst>
              <a:ext uri="{FF2B5EF4-FFF2-40B4-BE49-F238E27FC236}">
                <a16:creationId xmlns:a16="http://schemas.microsoft.com/office/drawing/2014/main" id="{A07ED036-4774-4635-E76F-F9864EDED7E9}"/>
              </a:ext>
            </a:extLst>
          </p:cNvPr>
          <p:cNvSpPr>
            <a:spLocks noGrp="1"/>
          </p:cNvSpPr>
          <p:nvPr>
            <p:ph type="body" sz="quarter" idx="10"/>
          </p:nvPr>
        </p:nvSpPr>
        <p:spPr>
          <a:xfrm>
            <a:off x="335936" y="908972"/>
            <a:ext cx="4770052" cy="5490061"/>
          </a:xfrm>
        </p:spPr>
        <p:txBody>
          <a:bodyPr/>
          <a:lstStyle/>
          <a:p>
            <a:r>
              <a:rPr kumimoji="1" lang="ja-JP" altLang="en-US" dirty="0"/>
              <a:t>並列にできる部分を探す回路は，</a:t>
            </a:r>
            <a:br>
              <a:rPr kumimoji="1" lang="en-US" altLang="ja-JP" dirty="0"/>
            </a:br>
            <a:r>
              <a:rPr kumimoji="1" lang="ja-JP" altLang="en-US" dirty="0"/>
              <a:t>演算そのものよりも遥かに複雑</a:t>
            </a:r>
            <a:endParaRPr kumimoji="1" lang="en-US" altLang="ja-JP" dirty="0"/>
          </a:p>
          <a:p>
            <a:r>
              <a:rPr kumimoji="1" lang="ja-JP" altLang="en-US" dirty="0"/>
              <a:t>現代の高性能 </a:t>
            </a:r>
            <a:r>
              <a:rPr kumimoji="1" lang="en-US" altLang="ja-JP" dirty="0"/>
              <a:t>CPU </a:t>
            </a:r>
            <a:r>
              <a:rPr kumimoji="1" lang="ja-JP" altLang="en-US" dirty="0"/>
              <a:t>は，ここに大半の回路を割いている</a:t>
            </a:r>
            <a:endParaRPr kumimoji="1" lang="en-US" dirty="0"/>
          </a:p>
        </p:txBody>
      </p:sp>
      <p:sp>
        <p:nvSpPr>
          <p:cNvPr id="72" name="正方形/長方形 71">
            <a:extLst>
              <a:ext uri="{FF2B5EF4-FFF2-40B4-BE49-F238E27FC236}">
                <a16:creationId xmlns:a16="http://schemas.microsoft.com/office/drawing/2014/main" id="{7CF097A3-71E9-9D77-CD1B-1711C40F761B}"/>
              </a:ext>
            </a:extLst>
          </p:cNvPr>
          <p:cNvSpPr/>
          <p:nvPr/>
        </p:nvSpPr>
        <p:spPr bwMode="auto">
          <a:xfrm>
            <a:off x="5555994" y="2348988"/>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3">
                    <a:lumMod val="50000"/>
                  </a:schemeClr>
                </a:solidFill>
              </a:rPr>
              <a:t>1.</a:t>
            </a:r>
            <a:r>
              <a:rPr lang="ja-JP" altLang="en-US" sz="1600" dirty="0">
                <a:solidFill>
                  <a:schemeClr val="accent3">
                    <a:lumMod val="50000"/>
                  </a:schemeClr>
                </a:solidFill>
              </a:rPr>
              <a:t>野菜を切る</a:t>
            </a:r>
          </a:p>
        </p:txBody>
      </p:sp>
      <p:sp>
        <p:nvSpPr>
          <p:cNvPr id="73" name="正方形/長方形 72">
            <a:extLst>
              <a:ext uri="{FF2B5EF4-FFF2-40B4-BE49-F238E27FC236}">
                <a16:creationId xmlns:a16="http://schemas.microsoft.com/office/drawing/2014/main" id="{AA0E3D67-7BDE-4F48-8572-31B0A8C6BC5F}"/>
              </a:ext>
            </a:extLst>
          </p:cNvPr>
          <p:cNvSpPr/>
          <p:nvPr/>
        </p:nvSpPr>
        <p:spPr bwMode="auto">
          <a:xfrm>
            <a:off x="5555994" y="2708992"/>
            <a:ext cx="1440000" cy="360004"/>
          </a:xfrm>
          <a:prstGeom prst="rect">
            <a:avLst/>
          </a:prstGeom>
          <a:solidFill>
            <a:srgbClr val="4F6228"/>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2.</a:t>
            </a:r>
            <a:r>
              <a:rPr lang="ja-JP" altLang="en-US" sz="1400" dirty="0">
                <a:solidFill>
                  <a:schemeClr val="bg1"/>
                </a:solidFill>
              </a:rPr>
              <a:t>野菜を炒める</a:t>
            </a:r>
          </a:p>
        </p:txBody>
      </p:sp>
      <p:sp>
        <p:nvSpPr>
          <p:cNvPr id="74" name="正方形/長方形 73">
            <a:extLst>
              <a:ext uri="{FF2B5EF4-FFF2-40B4-BE49-F238E27FC236}">
                <a16:creationId xmlns:a16="http://schemas.microsoft.com/office/drawing/2014/main" id="{16978687-CF01-9589-FD57-6D1A2C3BD28A}"/>
              </a:ext>
            </a:extLst>
          </p:cNvPr>
          <p:cNvSpPr/>
          <p:nvPr/>
        </p:nvSpPr>
        <p:spPr bwMode="auto">
          <a:xfrm>
            <a:off x="5555994" y="3068996"/>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3.</a:t>
            </a:r>
            <a:r>
              <a:rPr lang="ja-JP" altLang="en-US" sz="1600" dirty="0">
                <a:solidFill>
                  <a:schemeClr val="accent2">
                    <a:lumMod val="50000"/>
                  </a:schemeClr>
                </a:solidFill>
              </a:rPr>
              <a:t>肉を切る</a:t>
            </a:r>
          </a:p>
        </p:txBody>
      </p:sp>
      <p:sp>
        <p:nvSpPr>
          <p:cNvPr id="75" name="正方形/長方形 74">
            <a:extLst>
              <a:ext uri="{FF2B5EF4-FFF2-40B4-BE49-F238E27FC236}">
                <a16:creationId xmlns:a16="http://schemas.microsoft.com/office/drawing/2014/main" id="{95F1BB09-705F-3941-A91A-26408C359083}"/>
              </a:ext>
            </a:extLst>
          </p:cNvPr>
          <p:cNvSpPr/>
          <p:nvPr/>
        </p:nvSpPr>
        <p:spPr bwMode="auto">
          <a:xfrm>
            <a:off x="5555994" y="3429000"/>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4.</a:t>
            </a:r>
            <a:r>
              <a:rPr lang="ja-JP" altLang="en-US" sz="1600" dirty="0">
                <a:solidFill>
                  <a:schemeClr val="bg1"/>
                </a:solidFill>
              </a:rPr>
              <a:t>肉を炒める</a:t>
            </a:r>
          </a:p>
        </p:txBody>
      </p:sp>
      <p:sp>
        <p:nvSpPr>
          <p:cNvPr id="76" name="正方形/長方形 75">
            <a:extLst>
              <a:ext uri="{FF2B5EF4-FFF2-40B4-BE49-F238E27FC236}">
                <a16:creationId xmlns:a16="http://schemas.microsoft.com/office/drawing/2014/main" id="{E7D732B5-75FC-B0D2-E72B-038225458A68}"/>
              </a:ext>
            </a:extLst>
          </p:cNvPr>
          <p:cNvSpPr/>
          <p:nvPr/>
        </p:nvSpPr>
        <p:spPr bwMode="auto">
          <a:xfrm>
            <a:off x="5555994" y="3789004"/>
            <a:ext cx="1440000" cy="360004"/>
          </a:xfrm>
          <a:prstGeom prst="rect">
            <a:avLst/>
          </a:prstGeom>
          <a:solidFill>
            <a:srgbClr val="632523"/>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5.</a:t>
            </a:r>
            <a:r>
              <a:rPr lang="ja-JP" altLang="en-US" sz="1600" dirty="0">
                <a:solidFill>
                  <a:schemeClr val="bg1"/>
                </a:solidFill>
              </a:rPr>
              <a:t>煮込む</a:t>
            </a:r>
          </a:p>
        </p:txBody>
      </p:sp>
      <p:sp>
        <p:nvSpPr>
          <p:cNvPr id="77" name="正方形/長方形 76">
            <a:extLst>
              <a:ext uri="{FF2B5EF4-FFF2-40B4-BE49-F238E27FC236}">
                <a16:creationId xmlns:a16="http://schemas.microsoft.com/office/drawing/2014/main" id="{904AB319-1E33-330C-8A70-0F028339D8B1}"/>
              </a:ext>
            </a:extLst>
          </p:cNvPr>
          <p:cNvSpPr/>
          <p:nvPr/>
        </p:nvSpPr>
        <p:spPr bwMode="auto">
          <a:xfrm>
            <a:off x="5555994" y="4149008"/>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6.</a:t>
            </a:r>
            <a:r>
              <a:rPr lang="ja-JP" altLang="en-US" sz="1400" dirty="0">
                <a:solidFill>
                  <a:schemeClr val="bg1"/>
                </a:solidFill>
              </a:rPr>
              <a:t>ルーを入れる</a:t>
            </a:r>
          </a:p>
        </p:txBody>
      </p:sp>
      <p:sp>
        <p:nvSpPr>
          <p:cNvPr id="78" name="正方形/長方形 77">
            <a:extLst>
              <a:ext uri="{FF2B5EF4-FFF2-40B4-BE49-F238E27FC236}">
                <a16:creationId xmlns:a16="http://schemas.microsoft.com/office/drawing/2014/main" id="{F5E8D06F-DC95-D732-13C7-DAC5CDFDC2DF}"/>
              </a:ext>
            </a:extLst>
          </p:cNvPr>
          <p:cNvSpPr/>
          <p:nvPr/>
        </p:nvSpPr>
        <p:spPr bwMode="auto">
          <a:xfrm>
            <a:off x="5555994" y="4509012"/>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7.</a:t>
            </a:r>
            <a:r>
              <a:rPr lang="ja-JP" altLang="en-US" sz="1600" dirty="0">
                <a:solidFill>
                  <a:schemeClr val="accent2">
                    <a:lumMod val="50000"/>
                  </a:schemeClr>
                </a:solidFill>
              </a:rPr>
              <a:t>コメを研ぐ</a:t>
            </a:r>
          </a:p>
        </p:txBody>
      </p:sp>
      <p:sp>
        <p:nvSpPr>
          <p:cNvPr id="79" name="正方形/長方形 78">
            <a:extLst>
              <a:ext uri="{FF2B5EF4-FFF2-40B4-BE49-F238E27FC236}">
                <a16:creationId xmlns:a16="http://schemas.microsoft.com/office/drawing/2014/main" id="{B548BAE7-AC70-D5EF-5DC4-E64098EE6D5D}"/>
              </a:ext>
            </a:extLst>
          </p:cNvPr>
          <p:cNvSpPr/>
          <p:nvPr/>
        </p:nvSpPr>
        <p:spPr bwMode="auto">
          <a:xfrm>
            <a:off x="5555994" y="4869016"/>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8.</a:t>
            </a:r>
            <a:r>
              <a:rPr lang="ja-JP" altLang="en-US" sz="1600" dirty="0">
                <a:solidFill>
                  <a:schemeClr val="bg1"/>
                </a:solidFill>
              </a:rPr>
              <a:t>コメを炊く</a:t>
            </a:r>
          </a:p>
        </p:txBody>
      </p:sp>
      <p:sp>
        <p:nvSpPr>
          <p:cNvPr id="80" name="正方形/長方形 79">
            <a:extLst>
              <a:ext uri="{FF2B5EF4-FFF2-40B4-BE49-F238E27FC236}">
                <a16:creationId xmlns:a16="http://schemas.microsoft.com/office/drawing/2014/main" id="{8BA02673-C26D-C5B9-2256-9358760F82C9}"/>
              </a:ext>
            </a:extLst>
          </p:cNvPr>
          <p:cNvSpPr/>
          <p:nvPr/>
        </p:nvSpPr>
        <p:spPr bwMode="auto">
          <a:xfrm>
            <a:off x="5555994" y="5229020"/>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9.</a:t>
            </a:r>
            <a:r>
              <a:rPr lang="ja-JP" altLang="en-US" sz="1600" dirty="0">
                <a:solidFill>
                  <a:schemeClr val="bg1"/>
                </a:solidFill>
              </a:rPr>
              <a:t>もりつける</a:t>
            </a:r>
          </a:p>
        </p:txBody>
      </p:sp>
      <p:sp>
        <p:nvSpPr>
          <p:cNvPr id="81" name="テキスト ボックス 80">
            <a:extLst>
              <a:ext uri="{FF2B5EF4-FFF2-40B4-BE49-F238E27FC236}">
                <a16:creationId xmlns:a16="http://schemas.microsoft.com/office/drawing/2014/main" id="{801F97B0-A530-4DFB-98B7-E1B3E03095CD}"/>
              </a:ext>
            </a:extLst>
          </p:cNvPr>
          <p:cNvSpPr txBox="1"/>
          <p:nvPr/>
        </p:nvSpPr>
        <p:spPr>
          <a:xfrm>
            <a:off x="5105989" y="1808982"/>
            <a:ext cx="1620018" cy="369332"/>
          </a:xfrm>
          <a:prstGeom prst="rect">
            <a:avLst/>
          </a:prstGeom>
          <a:noFill/>
        </p:spPr>
        <p:txBody>
          <a:bodyPr wrap="none" rtlCol="0">
            <a:noAutofit/>
          </a:bodyPr>
          <a:lstStyle/>
          <a:p>
            <a:r>
              <a:rPr lang="ja-JP" altLang="en-US" sz="2400" dirty="0">
                <a:solidFill>
                  <a:srgbClr val="5E6363"/>
                </a:solidFill>
              </a:rPr>
              <a:t>カレーのレシピ</a:t>
            </a:r>
          </a:p>
        </p:txBody>
      </p:sp>
      <p:grpSp>
        <p:nvGrpSpPr>
          <p:cNvPr id="82" name="グループ化 81">
            <a:extLst>
              <a:ext uri="{FF2B5EF4-FFF2-40B4-BE49-F238E27FC236}">
                <a16:creationId xmlns:a16="http://schemas.microsoft.com/office/drawing/2014/main" id="{85498A2E-C4AB-133E-E0D9-81B91B0E0699}"/>
              </a:ext>
            </a:extLst>
          </p:cNvPr>
          <p:cNvGrpSpPr/>
          <p:nvPr/>
        </p:nvGrpSpPr>
        <p:grpSpPr>
          <a:xfrm>
            <a:off x="7265997" y="4059007"/>
            <a:ext cx="1562400" cy="576064"/>
            <a:chOff x="971600" y="5445224"/>
            <a:chExt cx="7200800" cy="576064"/>
          </a:xfrm>
        </p:grpSpPr>
        <p:sp>
          <p:nvSpPr>
            <p:cNvPr id="83" name="平行四辺形 82">
              <a:extLst>
                <a:ext uri="{FF2B5EF4-FFF2-40B4-BE49-F238E27FC236}">
                  <a16:creationId xmlns:a16="http://schemas.microsoft.com/office/drawing/2014/main" id="{3D3A75D7-37FB-AFF5-7DE3-1CFCBA7CF1F1}"/>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4" name="平行四辺形 83">
              <a:extLst>
                <a:ext uri="{FF2B5EF4-FFF2-40B4-BE49-F238E27FC236}">
                  <a16:creationId xmlns:a16="http://schemas.microsoft.com/office/drawing/2014/main" id="{133AE61B-1ADD-4CAD-4E4C-6BBBDC90DEC5}"/>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85" name="グループ化 84">
            <a:extLst>
              <a:ext uri="{FF2B5EF4-FFF2-40B4-BE49-F238E27FC236}">
                <a16:creationId xmlns:a16="http://schemas.microsoft.com/office/drawing/2014/main" id="{24BC29E0-08E8-3C3D-36EF-B22858DB08BF}"/>
              </a:ext>
            </a:extLst>
          </p:cNvPr>
          <p:cNvGrpSpPr/>
          <p:nvPr/>
        </p:nvGrpSpPr>
        <p:grpSpPr>
          <a:xfrm>
            <a:off x="9516022" y="2348988"/>
            <a:ext cx="1562400" cy="576064"/>
            <a:chOff x="971600" y="5445224"/>
            <a:chExt cx="7200800" cy="576064"/>
          </a:xfrm>
        </p:grpSpPr>
        <p:sp>
          <p:nvSpPr>
            <p:cNvPr id="86" name="平行四辺形 85">
              <a:extLst>
                <a:ext uri="{FF2B5EF4-FFF2-40B4-BE49-F238E27FC236}">
                  <a16:creationId xmlns:a16="http://schemas.microsoft.com/office/drawing/2014/main" id="{FB7B9807-EDBD-1AC2-DA84-AE97FBE6FE9F}"/>
                </a:ext>
              </a:extLst>
            </p:cNvPr>
            <p:cNvSpPr/>
            <p:nvPr/>
          </p:nvSpPr>
          <p:spPr bwMode="auto">
            <a:xfrm>
              <a:off x="971600" y="5517232"/>
              <a:ext cx="7200800"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7" name="平行四辺形 86">
              <a:extLst>
                <a:ext uri="{FF2B5EF4-FFF2-40B4-BE49-F238E27FC236}">
                  <a16:creationId xmlns:a16="http://schemas.microsoft.com/office/drawing/2014/main" id="{53CFE3EE-B2CF-D5B7-E71F-9FA0A4271CE7}"/>
                </a:ext>
              </a:extLst>
            </p:cNvPr>
            <p:cNvSpPr/>
            <p:nvPr/>
          </p:nvSpPr>
          <p:spPr bwMode="auto">
            <a:xfrm>
              <a:off x="971600" y="5445224"/>
              <a:ext cx="7200800"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88" name="グループ化 87">
            <a:extLst>
              <a:ext uri="{FF2B5EF4-FFF2-40B4-BE49-F238E27FC236}">
                <a16:creationId xmlns:a16="http://schemas.microsoft.com/office/drawing/2014/main" id="{A38D2E84-DEF8-0313-44FB-7BD57E575A57}"/>
              </a:ext>
            </a:extLst>
          </p:cNvPr>
          <p:cNvGrpSpPr/>
          <p:nvPr/>
        </p:nvGrpSpPr>
        <p:grpSpPr>
          <a:xfrm>
            <a:off x="9462150" y="4094957"/>
            <a:ext cx="1562400" cy="576064"/>
            <a:chOff x="971600" y="5445224"/>
            <a:chExt cx="7200800" cy="576064"/>
          </a:xfrm>
        </p:grpSpPr>
        <p:sp>
          <p:nvSpPr>
            <p:cNvPr id="89" name="平行四辺形 88">
              <a:extLst>
                <a:ext uri="{FF2B5EF4-FFF2-40B4-BE49-F238E27FC236}">
                  <a16:creationId xmlns:a16="http://schemas.microsoft.com/office/drawing/2014/main" id="{CF9527EB-6E4B-ED24-D04A-E2C5203CF6F4}"/>
                </a:ext>
              </a:extLst>
            </p:cNvPr>
            <p:cNvSpPr/>
            <p:nvPr/>
          </p:nvSpPr>
          <p:spPr bwMode="auto">
            <a:xfrm>
              <a:off x="971600" y="5517232"/>
              <a:ext cx="7200800"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0" name="平行四辺形 89">
              <a:extLst>
                <a:ext uri="{FF2B5EF4-FFF2-40B4-BE49-F238E27FC236}">
                  <a16:creationId xmlns:a16="http://schemas.microsoft.com/office/drawing/2014/main" id="{29A98E74-9E88-D287-CCCF-62758D21CFBD}"/>
                </a:ext>
              </a:extLst>
            </p:cNvPr>
            <p:cNvSpPr/>
            <p:nvPr/>
          </p:nvSpPr>
          <p:spPr bwMode="auto">
            <a:xfrm>
              <a:off x="971600" y="5445224"/>
              <a:ext cx="7200800"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91" name="グループ化 90">
            <a:extLst>
              <a:ext uri="{FF2B5EF4-FFF2-40B4-BE49-F238E27FC236}">
                <a16:creationId xmlns:a16="http://schemas.microsoft.com/office/drawing/2014/main" id="{5599B19D-DEEE-E2D6-EFEC-DEEEF55DE3F7}"/>
              </a:ext>
            </a:extLst>
          </p:cNvPr>
          <p:cNvGrpSpPr/>
          <p:nvPr/>
        </p:nvGrpSpPr>
        <p:grpSpPr>
          <a:xfrm>
            <a:off x="9426309" y="5949028"/>
            <a:ext cx="1584176" cy="576064"/>
            <a:chOff x="971600" y="5445224"/>
            <a:chExt cx="7200800" cy="576064"/>
          </a:xfrm>
        </p:grpSpPr>
        <p:sp>
          <p:nvSpPr>
            <p:cNvPr id="92" name="平行四辺形 91">
              <a:extLst>
                <a:ext uri="{FF2B5EF4-FFF2-40B4-BE49-F238E27FC236}">
                  <a16:creationId xmlns:a16="http://schemas.microsoft.com/office/drawing/2014/main" id="{E904CAE4-9215-CBEE-5C39-3CC1CBC48C7A}"/>
                </a:ext>
              </a:extLst>
            </p:cNvPr>
            <p:cNvSpPr/>
            <p:nvPr/>
          </p:nvSpPr>
          <p:spPr bwMode="auto">
            <a:xfrm>
              <a:off x="971600" y="5517232"/>
              <a:ext cx="7200800"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3" name="平行四辺形 92">
              <a:extLst>
                <a:ext uri="{FF2B5EF4-FFF2-40B4-BE49-F238E27FC236}">
                  <a16:creationId xmlns:a16="http://schemas.microsoft.com/office/drawing/2014/main" id="{82DA1ACA-56A0-D6D9-FF02-D50F4509AEA9}"/>
                </a:ext>
              </a:extLst>
            </p:cNvPr>
            <p:cNvSpPr/>
            <p:nvPr/>
          </p:nvSpPr>
          <p:spPr bwMode="auto">
            <a:xfrm>
              <a:off x="971600" y="5445224"/>
              <a:ext cx="7200800"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94" name="正方形/長方形 93">
            <a:extLst>
              <a:ext uri="{FF2B5EF4-FFF2-40B4-BE49-F238E27FC236}">
                <a16:creationId xmlns:a16="http://schemas.microsoft.com/office/drawing/2014/main" id="{CBD0CF25-FB82-2743-6A1A-5CD9AACFF16B}"/>
              </a:ext>
            </a:extLst>
          </p:cNvPr>
          <p:cNvSpPr/>
          <p:nvPr/>
        </p:nvSpPr>
        <p:spPr>
          <a:xfrm>
            <a:off x="7227837" y="3194464"/>
            <a:ext cx="1028171"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95" name="正方形/長方形 94">
            <a:extLst>
              <a:ext uri="{FF2B5EF4-FFF2-40B4-BE49-F238E27FC236}">
                <a16:creationId xmlns:a16="http://schemas.microsoft.com/office/drawing/2014/main" id="{F58CF5C3-E6B3-E26D-0C54-7AE773A64AF9}"/>
              </a:ext>
            </a:extLst>
          </p:cNvPr>
          <p:cNvSpPr/>
          <p:nvPr/>
        </p:nvSpPr>
        <p:spPr>
          <a:xfrm>
            <a:off x="9477862" y="1484445"/>
            <a:ext cx="937991"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96" name="正方形/長方形 95">
            <a:extLst>
              <a:ext uri="{FF2B5EF4-FFF2-40B4-BE49-F238E27FC236}">
                <a16:creationId xmlns:a16="http://schemas.microsoft.com/office/drawing/2014/main" id="{1C898DF9-870A-3151-E227-072A0EB1B54A}"/>
              </a:ext>
            </a:extLst>
          </p:cNvPr>
          <p:cNvSpPr/>
          <p:nvPr/>
        </p:nvSpPr>
        <p:spPr>
          <a:xfrm>
            <a:off x="9425877" y="324899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97" name="正方形/長方形 96">
            <a:extLst>
              <a:ext uri="{FF2B5EF4-FFF2-40B4-BE49-F238E27FC236}">
                <a16:creationId xmlns:a16="http://schemas.microsoft.com/office/drawing/2014/main" id="{7D1A1DF1-F1EE-7FEB-BF3D-B819203441D1}"/>
              </a:ext>
            </a:extLst>
          </p:cNvPr>
          <p:cNvSpPr/>
          <p:nvPr/>
        </p:nvSpPr>
        <p:spPr>
          <a:xfrm>
            <a:off x="9390036" y="5103069"/>
            <a:ext cx="937991"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98" name="角丸四角形 45">
            <a:extLst>
              <a:ext uri="{FF2B5EF4-FFF2-40B4-BE49-F238E27FC236}">
                <a16:creationId xmlns:a16="http://schemas.microsoft.com/office/drawing/2014/main" id="{B6756685-E550-8228-FF8D-0ABBA809DF3D}"/>
              </a:ext>
            </a:extLst>
          </p:cNvPr>
          <p:cNvSpPr/>
          <p:nvPr/>
        </p:nvSpPr>
        <p:spPr bwMode="auto">
          <a:xfrm>
            <a:off x="9881899" y="2168986"/>
            <a:ext cx="720008" cy="360004"/>
          </a:xfrm>
          <a:prstGeom prst="roundRect">
            <a:avLst/>
          </a:prstGeom>
          <a:solidFill>
            <a:srgbClr val="D99694"/>
          </a:solidFill>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肉切る</a:t>
            </a:r>
          </a:p>
        </p:txBody>
      </p:sp>
      <p:sp>
        <p:nvSpPr>
          <p:cNvPr id="99" name="角丸四角形 46">
            <a:extLst>
              <a:ext uri="{FF2B5EF4-FFF2-40B4-BE49-F238E27FC236}">
                <a16:creationId xmlns:a16="http://schemas.microsoft.com/office/drawing/2014/main" id="{B2A9E2E6-E38A-D5ED-5D6C-464597A88053}"/>
              </a:ext>
            </a:extLst>
          </p:cNvPr>
          <p:cNvSpPr/>
          <p:nvPr/>
        </p:nvSpPr>
        <p:spPr bwMode="auto">
          <a:xfrm>
            <a:off x="7632018" y="3879005"/>
            <a:ext cx="720008" cy="360004"/>
          </a:xfrm>
          <a:prstGeom prst="roundRect">
            <a:avLst/>
          </a:prstGeom>
          <a:solidFill>
            <a:srgbClr val="632523"/>
          </a:solidFill>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煮込み</a:t>
            </a:r>
          </a:p>
        </p:txBody>
      </p:sp>
      <p:sp>
        <p:nvSpPr>
          <p:cNvPr id="100" name="角丸四角形吹き出し 42">
            <a:extLst>
              <a:ext uri="{FF2B5EF4-FFF2-40B4-BE49-F238E27FC236}">
                <a16:creationId xmlns:a16="http://schemas.microsoft.com/office/drawing/2014/main" id="{E20710AB-9EE8-54E6-95DD-0F2465530EF4}"/>
              </a:ext>
            </a:extLst>
          </p:cNvPr>
          <p:cNvSpPr/>
          <p:nvPr/>
        </p:nvSpPr>
        <p:spPr bwMode="auto">
          <a:xfrm>
            <a:off x="10055884" y="4869016"/>
            <a:ext cx="1080012" cy="432647"/>
          </a:xfrm>
          <a:prstGeom prst="wedgeRoundRectCallout">
            <a:avLst>
              <a:gd name="adj1" fmla="val -46134"/>
              <a:gd name="adj2" fmla="val 94815"/>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65000"/>
                    <a:lumOff val="35000"/>
                  </a:schemeClr>
                </a:solidFill>
                <a:latin typeface="Arial Narrow" panose="020B0606020202030204" pitchFamily="34" charset="0"/>
              </a:rPr>
              <a:t>煮ます！</a:t>
            </a:r>
          </a:p>
        </p:txBody>
      </p:sp>
      <p:sp>
        <p:nvSpPr>
          <p:cNvPr id="101" name="角丸四角形吹き出し 44">
            <a:extLst>
              <a:ext uri="{FF2B5EF4-FFF2-40B4-BE49-F238E27FC236}">
                <a16:creationId xmlns:a16="http://schemas.microsoft.com/office/drawing/2014/main" id="{4A4F9C67-FFE4-7B5F-4576-4B348D72E41B}"/>
              </a:ext>
            </a:extLst>
          </p:cNvPr>
          <p:cNvSpPr/>
          <p:nvPr/>
        </p:nvSpPr>
        <p:spPr bwMode="auto">
          <a:xfrm>
            <a:off x="10145885" y="1268976"/>
            <a:ext cx="1080012" cy="432647"/>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65000"/>
                    <a:lumOff val="35000"/>
                  </a:schemeClr>
                </a:solidFill>
                <a:latin typeface="Arial Narrow" panose="020B0606020202030204" pitchFamily="34" charset="0"/>
              </a:rPr>
              <a:t>切ります！</a:t>
            </a:r>
          </a:p>
        </p:txBody>
      </p:sp>
      <p:sp>
        <p:nvSpPr>
          <p:cNvPr id="102" name="角丸四角形吹き出し 44">
            <a:extLst>
              <a:ext uri="{FF2B5EF4-FFF2-40B4-BE49-F238E27FC236}">
                <a16:creationId xmlns:a16="http://schemas.microsoft.com/office/drawing/2014/main" id="{8B3F1351-14DB-FF29-D6C5-4062B9F2EEEF}"/>
              </a:ext>
            </a:extLst>
          </p:cNvPr>
          <p:cNvSpPr/>
          <p:nvPr/>
        </p:nvSpPr>
        <p:spPr bwMode="auto">
          <a:xfrm>
            <a:off x="7806002" y="2348988"/>
            <a:ext cx="1890037" cy="882652"/>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65000"/>
                    <a:lumOff val="35000"/>
                  </a:schemeClr>
                </a:solidFill>
                <a:latin typeface="Arial Narrow" panose="020B0606020202030204" pitchFamily="34" charset="0"/>
              </a:rPr>
              <a:t>これ今やっても</a:t>
            </a:r>
            <a:endParaRPr lang="en-US" altLang="ja-JP" sz="1600" dirty="0">
              <a:solidFill>
                <a:schemeClr val="tx1">
                  <a:lumMod val="65000"/>
                  <a:lumOff val="35000"/>
                </a:schemeClr>
              </a:solidFill>
              <a:latin typeface="Arial Narrow" panose="020B0606020202030204" pitchFamily="34" charset="0"/>
            </a:endParaRPr>
          </a:p>
          <a:p>
            <a:r>
              <a:rPr lang="ja-JP" altLang="en-US" sz="1600" dirty="0">
                <a:solidFill>
                  <a:schemeClr val="tx1">
                    <a:lumMod val="65000"/>
                    <a:lumOff val="35000"/>
                  </a:schemeClr>
                </a:solidFill>
                <a:latin typeface="Arial Narrow" panose="020B0606020202030204" pitchFamily="34" charset="0"/>
              </a:rPr>
              <a:t>ええんかな？（ｱｶﾝ</a:t>
            </a:r>
            <a:endParaRPr lang="en-US" altLang="ja-JP" sz="1600" dirty="0">
              <a:solidFill>
                <a:schemeClr val="tx1">
                  <a:lumMod val="65000"/>
                  <a:lumOff val="35000"/>
                </a:schemeClr>
              </a:solidFill>
              <a:latin typeface="Arial Narrow" panose="020B0606020202030204" pitchFamily="34" charset="0"/>
            </a:endParaRPr>
          </a:p>
          <a:p>
            <a:r>
              <a:rPr lang="ja-JP" altLang="en-US" sz="1600" b="1" dirty="0">
                <a:solidFill>
                  <a:schemeClr val="accent5"/>
                </a:solidFill>
                <a:latin typeface="Arial Narrow" panose="020B0606020202030204" pitchFamily="34" charset="0"/>
              </a:rPr>
              <a:t>（この判断が大変）</a:t>
            </a:r>
          </a:p>
        </p:txBody>
      </p:sp>
      <p:sp>
        <p:nvSpPr>
          <p:cNvPr id="103" name="角丸四角形吹き出し 44">
            <a:extLst>
              <a:ext uri="{FF2B5EF4-FFF2-40B4-BE49-F238E27FC236}">
                <a16:creationId xmlns:a16="http://schemas.microsoft.com/office/drawing/2014/main" id="{7F81A082-0DCC-788F-32EC-66FABA6D8B1D}"/>
              </a:ext>
            </a:extLst>
          </p:cNvPr>
          <p:cNvSpPr/>
          <p:nvPr/>
        </p:nvSpPr>
        <p:spPr bwMode="auto">
          <a:xfrm>
            <a:off x="10146029" y="3194947"/>
            <a:ext cx="1025852" cy="342645"/>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65000"/>
                    <a:lumOff val="35000"/>
                  </a:schemeClr>
                </a:solidFill>
                <a:latin typeface="Arial Narrow" panose="020B0606020202030204" pitchFamily="34" charset="0"/>
              </a:rPr>
              <a:t>炒めます！</a:t>
            </a:r>
          </a:p>
        </p:txBody>
      </p:sp>
      <p:sp>
        <p:nvSpPr>
          <p:cNvPr id="104" name="角丸四角形 45">
            <a:extLst>
              <a:ext uri="{FF2B5EF4-FFF2-40B4-BE49-F238E27FC236}">
                <a16:creationId xmlns:a16="http://schemas.microsoft.com/office/drawing/2014/main" id="{5F0E77B6-4919-2034-5589-066D4ACF5AE4}"/>
              </a:ext>
            </a:extLst>
          </p:cNvPr>
          <p:cNvSpPr/>
          <p:nvPr/>
        </p:nvSpPr>
        <p:spPr bwMode="auto">
          <a:xfrm>
            <a:off x="9876026" y="3969006"/>
            <a:ext cx="720008" cy="360004"/>
          </a:xfrm>
          <a:prstGeom prst="roundRect">
            <a:avLst/>
          </a:prstGeom>
          <a:solidFill>
            <a:srgbClr val="4F6228"/>
          </a:solidFill>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野菜炒め</a:t>
            </a:r>
          </a:p>
        </p:txBody>
      </p:sp>
      <p:sp>
        <p:nvSpPr>
          <p:cNvPr id="105" name="矢印: 右 104">
            <a:extLst>
              <a:ext uri="{FF2B5EF4-FFF2-40B4-BE49-F238E27FC236}">
                <a16:creationId xmlns:a16="http://schemas.microsoft.com/office/drawing/2014/main" id="{514DB6F4-13EF-7830-A670-110073157152}"/>
              </a:ext>
            </a:extLst>
          </p:cNvPr>
          <p:cNvSpPr/>
          <p:nvPr/>
        </p:nvSpPr>
        <p:spPr bwMode="auto">
          <a:xfrm>
            <a:off x="8796014" y="3519001"/>
            <a:ext cx="450005" cy="630007"/>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Tree>
    <p:extLst>
      <p:ext uri="{BB962C8B-B14F-4D97-AF65-F5344CB8AC3E}">
        <p14:creationId xmlns:p14="http://schemas.microsoft.com/office/powerpoint/2010/main" val="19477999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5B4A3B-1556-82AD-7898-611A620CF8BC}"/>
              </a:ext>
            </a:extLst>
          </p:cNvPr>
          <p:cNvSpPr>
            <a:spLocks noGrp="1"/>
          </p:cNvSpPr>
          <p:nvPr>
            <p:ph type="title"/>
          </p:nvPr>
        </p:nvSpPr>
        <p:spPr/>
        <p:txBody>
          <a:bodyPr/>
          <a:lstStyle/>
          <a:p>
            <a:r>
              <a:rPr lang="en-US" altLang="ja-JP" sz="2400" dirty="0"/>
              <a:t>AMD Bulldozer </a:t>
            </a:r>
            <a:r>
              <a:rPr lang="ja-JP" altLang="en-US" sz="2400" dirty="0"/>
              <a:t>のコア部分に占める演算器部分</a:t>
            </a:r>
            <a:br>
              <a:rPr lang="en-US" altLang="ja-JP" sz="2400" dirty="0"/>
            </a:br>
            <a:r>
              <a:rPr lang="ja-JP" altLang="en-US" sz="1800" dirty="0"/>
              <a:t>チップ写真は </a:t>
            </a:r>
            <a:r>
              <a:rPr lang="en-US" altLang="ja-JP" sz="1800" dirty="0">
                <a:hlinkClick r:id="rId2">
                  <a:extLst>
                    <a:ext uri="{A12FA001-AC4F-418D-AE19-62706E023703}">
                      <ahyp:hlinkClr xmlns:ahyp="http://schemas.microsoft.com/office/drawing/2018/hyperlinkcolor" val="tx"/>
                    </a:ext>
                  </a:extLst>
                </a:hlinkClick>
              </a:rPr>
              <a:t>https://en.wikichip.org/wiki/File:Bulldozer_Die_Shot.jpg</a:t>
            </a:r>
            <a:r>
              <a:rPr lang="en-US" altLang="ja-JP" sz="1800" dirty="0"/>
              <a:t> </a:t>
            </a:r>
            <a:r>
              <a:rPr lang="ja-JP" altLang="en-US" sz="1800" dirty="0"/>
              <a:t>より</a:t>
            </a:r>
          </a:p>
        </p:txBody>
      </p:sp>
      <p:sp>
        <p:nvSpPr>
          <p:cNvPr id="3" name="テキスト プレースホルダー 2">
            <a:extLst>
              <a:ext uri="{FF2B5EF4-FFF2-40B4-BE49-F238E27FC236}">
                <a16:creationId xmlns:a16="http://schemas.microsoft.com/office/drawing/2014/main" id="{E9685040-ADC3-70F5-3D41-5FA6DED17919}"/>
              </a:ext>
            </a:extLst>
          </p:cNvPr>
          <p:cNvSpPr>
            <a:spLocks noGrp="1"/>
          </p:cNvSpPr>
          <p:nvPr>
            <p:ph type="body" sz="quarter" idx="10"/>
          </p:nvPr>
        </p:nvSpPr>
        <p:spPr>
          <a:xfrm>
            <a:off x="2055035" y="6129030"/>
            <a:ext cx="8280092" cy="298109"/>
          </a:xfrm>
        </p:spPr>
        <p:txBody>
          <a:bodyPr/>
          <a:lstStyle/>
          <a:p>
            <a:r>
              <a:rPr kumimoji="1" lang="ja-JP" altLang="en-US" dirty="0"/>
              <a:t>演算器（</a:t>
            </a:r>
            <a:r>
              <a:rPr kumimoji="1" lang="en-US" altLang="ja-JP" dirty="0"/>
              <a:t>INT/FP</a:t>
            </a:r>
            <a:r>
              <a:rPr kumimoji="1" lang="ja-JP" altLang="en-US" dirty="0"/>
              <a:t>）が </a:t>
            </a:r>
            <a:r>
              <a:rPr kumimoji="1" lang="en-US" altLang="ja-JP" dirty="0"/>
              <a:t>CPU </a:t>
            </a:r>
            <a:r>
              <a:rPr kumimoji="1" lang="ja-JP" altLang="en-US" dirty="0"/>
              <a:t>コア全体に占める割合はわずか</a:t>
            </a:r>
          </a:p>
        </p:txBody>
      </p:sp>
      <p:grpSp>
        <p:nvGrpSpPr>
          <p:cNvPr id="9" name="グループ化 8">
            <a:extLst>
              <a:ext uri="{FF2B5EF4-FFF2-40B4-BE49-F238E27FC236}">
                <a16:creationId xmlns:a16="http://schemas.microsoft.com/office/drawing/2014/main" id="{F1E9967F-AEA2-E506-9BC5-E99794AC49CB}"/>
              </a:ext>
            </a:extLst>
          </p:cNvPr>
          <p:cNvGrpSpPr/>
          <p:nvPr/>
        </p:nvGrpSpPr>
        <p:grpSpPr>
          <a:xfrm>
            <a:off x="2855964" y="1178975"/>
            <a:ext cx="6407996" cy="4847740"/>
            <a:chOff x="881960" y="998973"/>
            <a:chExt cx="6858000" cy="5297745"/>
          </a:xfrm>
        </p:grpSpPr>
        <p:pic>
          <p:nvPicPr>
            <p:cNvPr id="4" name="図 3">
              <a:extLst>
                <a:ext uri="{FF2B5EF4-FFF2-40B4-BE49-F238E27FC236}">
                  <a16:creationId xmlns:a16="http://schemas.microsoft.com/office/drawing/2014/main" id="{A3BA04BB-5E46-3CC4-017B-B63A04540D75}"/>
                </a:ext>
              </a:extLst>
            </p:cNvPr>
            <p:cNvPicPr>
              <a:picLocks noChangeAspect="1"/>
            </p:cNvPicPr>
            <p:nvPr/>
          </p:nvPicPr>
          <p:blipFill>
            <a:blip r:embed="rId3">
              <a:extLst>
                <a:ext uri="{BEBA8EAE-BF5A-486C-A8C5-ECC9F3942E4B}">
                  <a14:imgProps xmlns:a14="http://schemas.microsoft.com/office/drawing/2010/main">
                    <a14:imgLayer r:embed="rId4">
                      <a14:imgEffect>
                        <a14:saturation sat="50000"/>
                      </a14:imgEffect>
                    </a14:imgLayer>
                  </a14:imgProps>
                </a:ext>
              </a:extLst>
            </a:blip>
            <a:stretch>
              <a:fillRect/>
            </a:stretch>
          </p:blipFill>
          <p:spPr>
            <a:xfrm rot="16200000">
              <a:off x="1662087" y="218846"/>
              <a:ext cx="5297745" cy="6858000"/>
            </a:xfrm>
            <a:prstGeom prst="rect">
              <a:avLst/>
            </a:prstGeom>
          </p:spPr>
        </p:pic>
        <p:sp>
          <p:nvSpPr>
            <p:cNvPr id="5" name="正方形/長方形 4">
              <a:extLst>
                <a:ext uri="{FF2B5EF4-FFF2-40B4-BE49-F238E27FC236}">
                  <a16:creationId xmlns:a16="http://schemas.microsoft.com/office/drawing/2014/main" id="{0E377DAE-50C4-1D29-FE93-79B2A7F2B05C}"/>
                </a:ext>
              </a:extLst>
            </p:cNvPr>
            <p:cNvSpPr/>
            <p:nvPr/>
          </p:nvSpPr>
          <p:spPr bwMode="auto">
            <a:xfrm>
              <a:off x="6342139" y="3021015"/>
              <a:ext cx="360004" cy="810009"/>
            </a:xfrm>
            <a:prstGeom prst="rect">
              <a:avLst/>
            </a:prstGeom>
            <a:solidFill>
              <a:srgbClr val="C00000">
                <a:alpha val="55000"/>
              </a:srgbClr>
            </a:solidFill>
            <a:ln w="38100">
              <a:solidFill>
                <a:schemeClr val="bg1"/>
              </a:solidFill>
              <a:headEnd/>
              <a:tailEnd type="triangle" w="sm" len="med"/>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b="1" dirty="0">
                  <a:solidFill>
                    <a:schemeClr val="bg1"/>
                  </a:solidFill>
                  <a:latin typeface="+mn-ea"/>
                </a:rPr>
                <a:t>INT</a:t>
              </a:r>
              <a:endParaRPr lang="ja-JP" altLang="en-US" sz="1200" b="1" dirty="0">
                <a:solidFill>
                  <a:schemeClr val="bg1"/>
                </a:solidFill>
                <a:latin typeface="+mn-ea"/>
              </a:endParaRPr>
            </a:p>
          </p:txBody>
        </p:sp>
        <p:sp>
          <p:nvSpPr>
            <p:cNvPr id="6" name="正方形/長方形 5">
              <a:extLst>
                <a:ext uri="{FF2B5EF4-FFF2-40B4-BE49-F238E27FC236}">
                  <a16:creationId xmlns:a16="http://schemas.microsoft.com/office/drawing/2014/main" id="{6CE92C38-8C1C-42C6-9998-02DBB7942FE9}"/>
                </a:ext>
              </a:extLst>
            </p:cNvPr>
            <p:cNvSpPr/>
            <p:nvPr/>
          </p:nvSpPr>
          <p:spPr bwMode="auto">
            <a:xfrm>
              <a:off x="1212081" y="5258902"/>
              <a:ext cx="990011" cy="810009"/>
            </a:xfrm>
            <a:prstGeom prst="rect">
              <a:avLst/>
            </a:prstGeom>
            <a:solidFill>
              <a:srgbClr val="C00000">
                <a:alpha val="55000"/>
              </a:srgbClr>
            </a:solidFill>
            <a:ln w="38100">
              <a:solidFill>
                <a:schemeClr val="bg1"/>
              </a:solidFill>
              <a:headEnd/>
              <a:tailEnd type="triangle" w="sm" len="med"/>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b="1" dirty="0">
                  <a:solidFill>
                    <a:schemeClr val="bg1"/>
                  </a:solidFill>
                  <a:latin typeface="+mn-ea"/>
                </a:rPr>
                <a:t>FP</a:t>
              </a:r>
              <a:endParaRPr lang="ja-JP" altLang="en-US" sz="1200" b="1" dirty="0">
                <a:solidFill>
                  <a:schemeClr val="bg1"/>
                </a:solidFill>
                <a:latin typeface="+mn-ea"/>
              </a:endParaRPr>
            </a:p>
          </p:txBody>
        </p:sp>
        <p:sp>
          <p:nvSpPr>
            <p:cNvPr id="7" name="正方形/長方形 6">
              <a:extLst>
                <a:ext uri="{FF2B5EF4-FFF2-40B4-BE49-F238E27FC236}">
                  <a16:creationId xmlns:a16="http://schemas.microsoft.com/office/drawing/2014/main" id="{6A014670-81C8-44C7-D8CC-524894B9538A}"/>
                </a:ext>
              </a:extLst>
            </p:cNvPr>
            <p:cNvSpPr/>
            <p:nvPr/>
          </p:nvSpPr>
          <p:spPr bwMode="auto">
            <a:xfrm>
              <a:off x="5352128" y="5258902"/>
              <a:ext cx="990011" cy="810009"/>
            </a:xfrm>
            <a:prstGeom prst="rect">
              <a:avLst/>
            </a:prstGeom>
            <a:solidFill>
              <a:srgbClr val="C00000">
                <a:alpha val="55000"/>
              </a:srgbClr>
            </a:solidFill>
            <a:ln w="38100">
              <a:solidFill>
                <a:schemeClr val="bg1"/>
              </a:solidFill>
              <a:headEnd/>
              <a:tailEnd type="triangle" w="sm" len="med"/>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b="1" dirty="0">
                  <a:solidFill>
                    <a:schemeClr val="bg1"/>
                  </a:solidFill>
                  <a:latin typeface="+mn-ea"/>
                </a:rPr>
                <a:t>FP</a:t>
              </a:r>
              <a:endParaRPr lang="ja-JP" altLang="en-US" sz="1200" b="1" dirty="0">
                <a:solidFill>
                  <a:schemeClr val="bg1"/>
                </a:solidFill>
                <a:latin typeface="+mn-ea"/>
              </a:endParaRPr>
            </a:p>
          </p:txBody>
        </p:sp>
        <p:sp>
          <p:nvSpPr>
            <p:cNvPr id="8" name="正方形/長方形 7">
              <a:extLst>
                <a:ext uri="{FF2B5EF4-FFF2-40B4-BE49-F238E27FC236}">
                  <a16:creationId xmlns:a16="http://schemas.microsoft.com/office/drawing/2014/main" id="{B9C221DD-B88C-CA82-B5CF-DCBA3E8E70A2}"/>
                </a:ext>
              </a:extLst>
            </p:cNvPr>
            <p:cNvSpPr/>
            <p:nvPr/>
          </p:nvSpPr>
          <p:spPr bwMode="auto">
            <a:xfrm>
              <a:off x="1224220" y="3025061"/>
              <a:ext cx="360004" cy="810009"/>
            </a:xfrm>
            <a:prstGeom prst="rect">
              <a:avLst/>
            </a:prstGeom>
            <a:solidFill>
              <a:srgbClr val="C00000">
                <a:alpha val="55000"/>
              </a:srgbClr>
            </a:solidFill>
            <a:ln w="38100">
              <a:solidFill>
                <a:schemeClr val="bg1"/>
              </a:solidFill>
              <a:headEnd/>
              <a:tailEnd type="triangle" w="sm" len="med"/>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b="1" dirty="0">
                  <a:solidFill>
                    <a:schemeClr val="bg1"/>
                  </a:solidFill>
                  <a:latin typeface="+mn-ea"/>
                </a:rPr>
                <a:t>INT</a:t>
              </a:r>
              <a:endParaRPr lang="ja-JP" altLang="en-US" sz="1200" b="1" dirty="0">
                <a:solidFill>
                  <a:schemeClr val="bg1"/>
                </a:solidFill>
                <a:latin typeface="+mn-ea"/>
              </a:endParaRPr>
            </a:p>
          </p:txBody>
        </p:sp>
      </p:grpSp>
    </p:spTree>
    <p:extLst>
      <p:ext uri="{BB962C8B-B14F-4D97-AF65-F5344CB8AC3E}">
        <p14:creationId xmlns:p14="http://schemas.microsoft.com/office/powerpoint/2010/main" val="15200631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7F5A29-5563-C443-6F11-A216A4E207EF}"/>
              </a:ext>
            </a:extLst>
          </p:cNvPr>
          <p:cNvSpPr>
            <a:spLocks noGrp="1"/>
          </p:cNvSpPr>
          <p:nvPr>
            <p:ph type="title"/>
          </p:nvPr>
        </p:nvSpPr>
        <p:spPr>
          <a:xfrm>
            <a:off x="1403325" y="188964"/>
            <a:ext cx="10776052" cy="540006"/>
          </a:xfrm>
        </p:spPr>
        <p:txBody>
          <a:bodyPr/>
          <a:lstStyle/>
          <a:p>
            <a:r>
              <a:rPr kumimoji="1" lang="en-US" altLang="ja-JP" dirty="0"/>
              <a:t>Apple A18/M4 CPU </a:t>
            </a:r>
            <a:r>
              <a:rPr kumimoji="1" lang="ja-JP" altLang="en-US" dirty="0"/>
              <a:t>の場合</a:t>
            </a:r>
            <a:br>
              <a:rPr kumimoji="1" lang="en-US" altLang="ja-JP" dirty="0"/>
            </a:br>
            <a:r>
              <a:rPr lang="en-US" altLang="ja-JP" sz="1100" dirty="0" err="1"/>
              <a:t>Cardyak’s</a:t>
            </a:r>
            <a:r>
              <a:rPr lang="en-US" altLang="ja-JP" sz="1100" dirty="0"/>
              <a:t> Microarchitecture Cheat Sheet </a:t>
            </a:r>
            <a:r>
              <a:rPr lang="ja-JP" altLang="en-US" sz="1100" dirty="0"/>
              <a:t>より</a:t>
            </a:r>
            <a:br>
              <a:rPr lang="en-US" altLang="ja-JP" sz="1100" dirty="0"/>
            </a:br>
            <a:r>
              <a:rPr lang="en-US" altLang="ja-JP" sz="1100" dirty="0">
                <a:hlinkClick r:id="rId2">
                  <a:extLst>
                    <a:ext uri="{A12FA001-AC4F-418D-AE19-62706E023703}">
                      <ahyp:hlinkClr xmlns:ahyp="http://schemas.microsoft.com/office/drawing/2018/hyperlinkcolor" val="tx"/>
                    </a:ext>
                  </a:extLst>
                </a:hlinkClick>
              </a:rPr>
              <a:t>https://docs.google.com/spreadsheets/d/18ln8SKIGRK5_6NymgdB9oLbTJCFwx0iFI-vUs6WFyuE/edit?gid=1076260513#gid=1076260513</a:t>
            </a:r>
            <a:endParaRPr kumimoji="1" lang="ja-JP" altLang="en-US" dirty="0"/>
          </a:p>
        </p:txBody>
      </p:sp>
      <p:sp>
        <p:nvSpPr>
          <p:cNvPr id="12" name="テキスト プレースホルダー 11">
            <a:extLst>
              <a:ext uri="{FF2B5EF4-FFF2-40B4-BE49-F238E27FC236}">
                <a16:creationId xmlns:a16="http://schemas.microsoft.com/office/drawing/2014/main" id="{38E9DD6C-2809-DB26-FA8F-AF3A506646B3}"/>
              </a:ext>
            </a:extLst>
          </p:cNvPr>
          <p:cNvSpPr>
            <a:spLocks noGrp="1"/>
          </p:cNvSpPr>
          <p:nvPr>
            <p:ph type="body" sz="quarter" idx="10"/>
          </p:nvPr>
        </p:nvSpPr>
        <p:spPr>
          <a:xfrm>
            <a:off x="1775952" y="6039029"/>
            <a:ext cx="8640096" cy="540006"/>
          </a:xfrm>
        </p:spPr>
        <p:txBody>
          <a:bodyPr/>
          <a:lstStyle/>
          <a:p>
            <a:r>
              <a:rPr lang="ja-JP" altLang="en-US" dirty="0"/>
              <a:t>こういう複雑な部分（青）をなくす</a:t>
            </a:r>
          </a:p>
        </p:txBody>
      </p:sp>
      <p:pic>
        <p:nvPicPr>
          <p:cNvPr id="4" name="図 3" descr="グラフィカル ユーザー インターフェイス, アプリケーション&#10;&#10;AI 生成コンテンツは誤りを含む可能性があります。">
            <a:extLst>
              <a:ext uri="{FF2B5EF4-FFF2-40B4-BE49-F238E27FC236}">
                <a16:creationId xmlns:a16="http://schemas.microsoft.com/office/drawing/2014/main" id="{A4C94768-228C-2819-21AC-8082C2FBF2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10576" y="998973"/>
            <a:ext cx="6885474" cy="4987556"/>
          </a:xfrm>
          <a:prstGeom prst="rect">
            <a:avLst/>
          </a:prstGeom>
        </p:spPr>
      </p:pic>
      <p:sp>
        <p:nvSpPr>
          <p:cNvPr id="6" name="四角形: 角を丸くする 5">
            <a:extLst>
              <a:ext uri="{FF2B5EF4-FFF2-40B4-BE49-F238E27FC236}">
                <a16:creationId xmlns:a16="http://schemas.microsoft.com/office/drawing/2014/main" id="{161D9623-74CE-2DFF-0810-01747EF84085}"/>
              </a:ext>
            </a:extLst>
          </p:cNvPr>
          <p:cNvSpPr/>
          <p:nvPr/>
        </p:nvSpPr>
        <p:spPr bwMode="auto">
          <a:xfrm>
            <a:off x="5645995" y="1538979"/>
            <a:ext cx="5040056" cy="2070023"/>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 name="四角形: 角を丸くする 6">
            <a:extLst>
              <a:ext uri="{FF2B5EF4-FFF2-40B4-BE49-F238E27FC236}">
                <a16:creationId xmlns:a16="http://schemas.microsoft.com/office/drawing/2014/main" id="{27ED3724-A80B-5BBB-DC5C-A8F0C253BC02}"/>
              </a:ext>
            </a:extLst>
          </p:cNvPr>
          <p:cNvSpPr/>
          <p:nvPr/>
        </p:nvSpPr>
        <p:spPr bwMode="auto">
          <a:xfrm>
            <a:off x="3575971" y="3699004"/>
            <a:ext cx="7110079" cy="1080012"/>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四角形: 角を丸くする 7">
            <a:extLst>
              <a:ext uri="{FF2B5EF4-FFF2-40B4-BE49-F238E27FC236}">
                <a16:creationId xmlns:a16="http://schemas.microsoft.com/office/drawing/2014/main" id="{889B7086-282B-D408-820A-8DB8B5EFF7EF}"/>
              </a:ext>
            </a:extLst>
          </p:cNvPr>
          <p:cNvSpPr/>
          <p:nvPr/>
        </p:nvSpPr>
        <p:spPr bwMode="auto">
          <a:xfrm>
            <a:off x="3575972" y="4869016"/>
            <a:ext cx="7110079" cy="1080012"/>
          </a:xfrm>
          <a:prstGeom prst="roundRect">
            <a:avLst/>
          </a:prstGeom>
          <a:noFill/>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 name="正方形/長方形 8">
            <a:extLst>
              <a:ext uri="{FF2B5EF4-FFF2-40B4-BE49-F238E27FC236}">
                <a16:creationId xmlns:a16="http://schemas.microsoft.com/office/drawing/2014/main" id="{CA9F2F19-2AA8-683A-BC2E-1F6290D37042}"/>
              </a:ext>
            </a:extLst>
          </p:cNvPr>
          <p:cNvSpPr/>
          <p:nvPr/>
        </p:nvSpPr>
        <p:spPr bwMode="auto">
          <a:xfrm>
            <a:off x="2945965" y="1898983"/>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accent5"/>
                </a:solidFill>
                <a:latin typeface="+mn-ea"/>
              </a:rPr>
              <a:t>命令の読み出しと解釈</a:t>
            </a:r>
            <a:endParaRPr lang="en-US" altLang="ja-JP" sz="1600" dirty="0">
              <a:solidFill>
                <a:schemeClr val="accent5"/>
              </a:solidFill>
              <a:latin typeface="+mn-ea"/>
            </a:endParaRPr>
          </a:p>
          <a:p>
            <a:r>
              <a:rPr lang="ja-JP" altLang="en-US" sz="1600" dirty="0">
                <a:solidFill>
                  <a:schemeClr val="accent5"/>
                </a:solidFill>
                <a:latin typeface="+mn-ea"/>
              </a:rPr>
              <a:t>依存関係を解析して，</a:t>
            </a:r>
            <a:endParaRPr lang="en-US" altLang="ja-JP" sz="1600" dirty="0">
              <a:solidFill>
                <a:schemeClr val="accent5"/>
              </a:solidFill>
              <a:latin typeface="+mn-ea"/>
            </a:endParaRPr>
          </a:p>
          <a:p>
            <a:r>
              <a:rPr lang="ja-JP" altLang="en-US" sz="1600" dirty="0">
                <a:solidFill>
                  <a:schemeClr val="accent5"/>
                </a:solidFill>
                <a:latin typeface="+mn-ea"/>
              </a:rPr>
              <a:t>どこを並列にやっていいか</a:t>
            </a:r>
            <a:br>
              <a:rPr lang="en-US" altLang="ja-JP" sz="1600" dirty="0">
                <a:solidFill>
                  <a:schemeClr val="accent5"/>
                </a:solidFill>
                <a:latin typeface="+mn-ea"/>
              </a:rPr>
            </a:br>
            <a:r>
              <a:rPr lang="ja-JP" altLang="en-US" sz="1600" dirty="0">
                <a:solidFill>
                  <a:schemeClr val="accent5"/>
                </a:solidFill>
                <a:latin typeface="+mn-ea"/>
              </a:rPr>
              <a:t>割り出す部分</a:t>
            </a:r>
          </a:p>
        </p:txBody>
      </p:sp>
      <p:sp>
        <p:nvSpPr>
          <p:cNvPr id="10" name="正方形/長方形 9">
            <a:extLst>
              <a:ext uri="{FF2B5EF4-FFF2-40B4-BE49-F238E27FC236}">
                <a16:creationId xmlns:a16="http://schemas.microsoft.com/office/drawing/2014/main" id="{B0A5FA08-C1D3-BB7B-6129-114A17A72F67}"/>
              </a:ext>
            </a:extLst>
          </p:cNvPr>
          <p:cNvSpPr/>
          <p:nvPr/>
        </p:nvSpPr>
        <p:spPr bwMode="auto">
          <a:xfrm>
            <a:off x="875942" y="3969006"/>
            <a:ext cx="65407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accent5"/>
                </a:solidFill>
                <a:latin typeface="+mn-ea"/>
              </a:rPr>
              <a:t>依存した処理が</a:t>
            </a:r>
            <a:br>
              <a:rPr lang="en-US" altLang="ja-JP" sz="1600" dirty="0">
                <a:solidFill>
                  <a:schemeClr val="accent5"/>
                </a:solidFill>
                <a:latin typeface="+mn-ea"/>
              </a:rPr>
            </a:br>
            <a:r>
              <a:rPr lang="ja-JP" altLang="en-US" sz="1600" dirty="0">
                <a:solidFill>
                  <a:schemeClr val="accent5"/>
                </a:solidFill>
                <a:latin typeface="+mn-ea"/>
              </a:rPr>
              <a:t>終わっているかを監視して，</a:t>
            </a:r>
            <a:endParaRPr lang="en-US" altLang="ja-JP" sz="1600" dirty="0">
              <a:solidFill>
                <a:schemeClr val="accent5"/>
              </a:solidFill>
              <a:latin typeface="+mn-ea"/>
            </a:endParaRPr>
          </a:p>
          <a:p>
            <a:r>
              <a:rPr lang="ja-JP" altLang="en-US" sz="1600" dirty="0">
                <a:solidFill>
                  <a:schemeClr val="accent5"/>
                </a:solidFill>
                <a:latin typeface="+mn-ea"/>
              </a:rPr>
              <a:t>演算器に送り出す部分</a:t>
            </a:r>
          </a:p>
        </p:txBody>
      </p:sp>
      <p:sp>
        <p:nvSpPr>
          <p:cNvPr id="11" name="正方形/長方形 10">
            <a:extLst>
              <a:ext uri="{FF2B5EF4-FFF2-40B4-BE49-F238E27FC236}">
                <a16:creationId xmlns:a16="http://schemas.microsoft.com/office/drawing/2014/main" id="{759D24E1-E51A-5577-6D7D-B1F73211EAAF}"/>
              </a:ext>
            </a:extLst>
          </p:cNvPr>
          <p:cNvSpPr/>
          <p:nvPr/>
        </p:nvSpPr>
        <p:spPr bwMode="auto">
          <a:xfrm>
            <a:off x="2585961" y="4959017"/>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accent2"/>
                </a:solidFill>
                <a:latin typeface="+mn-ea"/>
              </a:rPr>
              <a:t>演算器</a:t>
            </a:r>
          </a:p>
        </p:txBody>
      </p:sp>
    </p:spTree>
    <p:extLst>
      <p:ext uri="{BB962C8B-B14F-4D97-AF65-F5344CB8AC3E}">
        <p14:creationId xmlns:p14="http://schemas.microsoft.com/office/powerpoint/2010/main" val="17958320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四角形: 角を丸くする 18">
            <a:extLst>
              <a:ext uri="{FF2B5EF4-FFF2-40B4-BE49-F238E27FC236}">
                <a16:creationId xmlns:a16="http://schemas.microsoft.com/office/drawing/2014/main" id="{28F641A3-2FD3-40C8-6F55-5D1E80F2BE5C}"/>
              </a:ext>
            </a:extLst>
          </p:cNvPr>
          <p:cNvSpPr/>
          <p:nvPr/>
        </p:nvSpPr>
        <p:spPr bwMode="auto">
          <a:xfrm>
            <a:off x="5375992" y="4869016"/>
            <a:ext cx="3600040" cy="1890021"/>
          </a:xfrm>
          <a:prstGeom prst="roundRect">
            <a:avLst/>
          </a:prstGeom>
          <a:noFill/>
          <a:ln w="34925">
            <a:solidFill>
              <a:schemeClr val="accent3"/>
            </a:solidFill>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kumimoji="1" lang="ja-JP" altLang="en-US" dirty="0">
                <a:solidFill>
                  <a:schemeClr val="tx1">
                    <a:lumMod val="75000"/>
                    <a:lumOff val="25000"/>
                  </a:schemeClr>
                </a:solidFill>
                <a:latin typeface="+mn-ea"/>
              </a:rPr>
              <a:t>サブコア０</a:t>
            </a:r>
          </a:p>
        </p:txBody>
      </p:sp>
      <p:sp>
        <p:nvSpPr>
          <p:cNvPr id="25" name="四角形: 角を丸くする 24">
            <a:extLst>
              <a:ext uri="{FF2B5EF4-FFF2-40B4-BE49-F238E27FC236}">
                <a16:creationId xmlns:a16="http://schemas.microsoft.com/office/drawing/2014/main" id="{FD69D067-A1EE-58A5-9991-A053DBF04C75}"/>
              </a:ext>
            </a:extLst>
          </p:cNvPr>
          <p:cNvSpPr/>
          <p:nvPr/>
        </p:nvSpPr>
        <p:spPr bwMode="auto">
          <a:xfrm>
            <a:off x="9426037" y="4869016"/>
            <a:ext cx="540006" cy="1890021"/>
          </a:xfrm>
          <a:prstGeom prst="roundRect">
            <a:avLst/>
          </a:prstGeom>
          <a:noFill/>
          <a:ln w="34925">
            <a:solidFill>
              <a:schemeClr val="accent3"/>
            </a:solidFill>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サブコア１</a:t>
            </a:r>
          </a:p>
        </p:txBody>
      </p:sp>
      <p:sp>
        <p:nvSpPr>
          <p:cNvPr id="26" name="四角形: 角を丸くする 25">
            <a:extLst>
              <a:ext uri="{FF2B5EF4-FFF2-40B4-BE49-F238E27FC236}">
                <a16:creationId xmlns:a16="http://schemas.microsoft.com/office/drawing/2014/main" id="{0A59F378-DFBB-9171-7E46-41AA53DFCD39}"/>
              </a:ext>
            </a:extLst>
          </p:cNvPr>
          <p:cNvSpPr/>
          <p:nvPr/>
        </p:nvSpPr>
        <p:spPr bwMode="auto">
          <a:xfrm>
            <a:off x="10236046" y="4869016"/>
            <a:ext cx="540006" cy="1890021"/>
          </a:xfrm>
          <a:prstGeom prst="roundRect">
            <a:avLst/>
          </a:prstGeom>
          <a:noFill/>
          <a:ln w="34925">
            <a:solidFill>
              <a:schemeClr val="accent3"/>
            </a:solidFill>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サブコア２</a:t>
            </a:r>
          </a:p>
        </p:txBody>
      </p:sp>
      <p:sp>
        <p:nvSpPr>
          <p:cNvPr id="27" name="四角形: 角を丸くする 26">
            <a:extLst>
              <a:ext uri="{FF2B5EF4-FFF2-40B4-BE49-F238E27FC236}">
                <a16:creationId xmlns:a16="http://schemas.microsoft.com/office/drawing/2014/main" id="{A6E9F454-21C5-A130-0972-C8B09658E464}"/>
              </a:ext>
            </a:extLst>
          </p:cNvPr>
          <p:cNvSpPr/>
          <p:nvPr/>
        </p:nvSpPr>
        <p:spPr bwMode="auto">
          <a:xfrm>
            <a:off x="10956054" y="4869016"/>
            <a:ext cx="540006" cy="1890021"/>
          </a:xfrm>
          <a:prstGeom prst="roundRect">
            <a:avLst/>
          </a:prstGeom>
          <a:noFill/>
          <a:ln w="34925">
            <a:solidFill>
              <a:schemeClr val="accent3"/>
            </a:solidFill>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サブコア３</a:t>
            </a:r>
          </a:p>
        </p:txBody>
      </p:sp>
      <p:sp>
        <p:nvSpPr>
          <p:cNvPr id="2" name="タイトル 1">
            <a:extLst>
              <a:ext uri="{FF2B5EF4-FFF2-40B4-BE49-F238E27FC236}">
                <a16:creationId xmlns:a16="http://schemas.microsoft.com/office/drawing/2014/main" id="{F5BF2516-DAF0-DC5F-6E7B-5DF6B0AF3715}"/>
              </a:ext>
            </a:extLst>
          </p:cNvPr>
          <p:cNvSpPr>
            <a:spLocks noGrp="1"/>
          </p:cNvSpPr>
          <p:nvPr>
            <p:ph type="title"/>
          </p:nvPr>
        </p:nvSpPr>
        <p:spPr/>
        <p:txBody>
          <a:bodyPr/>
          <a:lstStyle/>
          <a:p>
            <a:r>
              <a:rPr lang="en-US" altLang="ja-JP" dirty="0"/>
              <a:t>NVIDIA </a:t>
            </a:r>
            <a:r>
              <a:rPr kumimoji="1" lang="en-US" altLang="ja-JP" dirty="0"/>
              <a:t>GPU </a:t>
            </a:r>
            <a:r>
              <a:rPr kumimoji="1" lang="ja-JP" altLang="en-US" dirty="0"/>
              <a:t>の場合</a:t>
            </a:r>
            <a:br>
              <a:rPr kumimoji="1" lang="en-US" altLang="ja-JP" dirty="0"/>
            </a:br>
            <a:r>
              <a:rPr lang="pt-BR" altLang="ja-JP" sz="1100" dirty="0"/>
              <a:t>Rodrigo Huerta e</a:t>
            </a:r>
            <a:r>
              <a:rPr lang="en-US" altLang="ja-JP" sz="1100" dirty="0"/>
              <a:t>t al., Dissecting and Modeling the Architecture</a:t>
            </a:r>
            <a:br>
              <a:rPr lang="en-US" altLang="ja-JP" sz="1100" dirty="0"/>
            </a:br>
            <a:r>
              <a:rPr lang="en-US" altLang="ja-JP" sz="1100" dirty="0"/>
              <a:t> of Modern GPU Cores</a:t>
            </a:r>
            <a:r>
              <a:rPr lang="pt-BR" altLang="ja-JP" sz="1100" dirty="0"/>
              <a:t> </a:t>
            </a:r>
            <a:r>
              <a:rPr lang="ja-JP" altLang="en-US" sz="1100" dirty="0"/>
              <a:t>より </a:t>
            </a:r>
            <a:r>
              <a:rPr lang="en-US" altLang="ja-JP" sz="1100" dirty="0">
                <a:hlinkClick r:id="rId2">
                  <a:extLst>
                    <a:ext uri="{A12FA001-AC4F-418D-AE19-62706E023703}">
                      <ahyp:hlinkClr xmlns:ahyp="http://schemas.microsoft.com/office/drawing/2018/hyperlinkcolor" val="tx"/>
                    </a:ext>
                  </a:extLst>
                </a:hlinkClick>
              </a:rPr>
              <a:t>https://dl.acm.org/doi/10.1145/3725843.3756041</a:t>
            </a:r>
            <a:endParaRPr kumimoji="1" lang="ja-JP" altLang="en-US" dirty="0"/>
          </a:p>
        </p:txBody>
      </p:sp>
      <p:sp>
        <p:nvSpPr>
          <p:cNvPr id="3" name="テキスト プレースホルダー 2">
            <a:extLst>
              <a:ext uri="{FF2B5EF4-FFF2-40B4-BE49-F238E27FC236}">
                <a16:creationId xmlns:a16="http://schemas.microsoft.com/office/drawing/2014/main" id="{F4967C39-C9AC-0B2F-6EF0-72C4AC026ADF}"/>
              </a:ext>
            </a:extLst>
          </p:cNvPr>
          <p:cNvSpPr>
            <a:spLocks noGrp="1"/>
          </p:cNvSpPr>
          <p:nvPr>
            <p:ph type="body" sz="quarter" idx="10"/>
          </p:nvPr>
        </p:nvSpPr>
        <p:spPr>
          <a:xfrm>
            <a:off x="785941" y="1088974"/>
            <a:ext cx="4770053" cy="5490061"/>
          </a:xfrm>
        </p:spPr>
        <p:txBody>
          <a:bodyPr/>
          <a:lstStyle/>
          <a:p>
            <a:r>
              <a:rPr kumimoji="1" lang="ja-JP" altLang="en-US" dirty="0"/>
              <a:t>階層型の構造をしている</a:t>
            </a:r>
            <a:endParaRPr kumimoji="1" lang="en-US" altLang="ja-JP" dirty="0"/>
          </a:p>
          <a:p>
            <a:pPr lvl="1"/>
            <a:r>
              <a:rPr kumimoji="1" lang="ja-JP" altLang="en-US" dirty="0"/>
              <a:t>命令供給系（右上）</a:t>
            </a:r>
            <a:endParaRPr kumimoji="1" lang="en-US" altLang="ja-JP" dirty="0"/>
          </a:p>
          <a:p>
            <a:pPr lvl="1"/>
            <a:r>
              <a:rPr lang="ja-JP" altLang="en-US" dirty="0"/>
              <a:t>４つのサブコアが上記を共有</a:t>
            </a:r>
            <a:endParaRPr lang="en-US" altLang="ja-JP" dirty="0"/>
          </a:p>
          <a:p>
            <a:r>
              <a:rPr kumimoji="1" lang="ja-JP" altLang="en-US" dirty="0"/>
              <a:t>サブコア</a:t>
            </a:r>
            <a:endParaRPr kumimoji="1" lang="en-US" altLang="ja-JP" dirty="0"/>
          </a:p>
          <a:p>
            <a:pPr lvl="1"/>
            <a:r>
              <a:rPr lang="ja-JP" altLang="en-US" dirty="0"/>
              <a:t>命令供給系</a:t>
            </a:r>
            <a:endParaRPr kumimoji="1" lang="en-US" altLang="ja-JP" dirty="0"/>
          </a:p>
          <a:p>
            <a:pPr lvl="1"/>
            <a:r>
              <a:rPr kumimoji="1" lang="ja-JP" altLang="en-US" dirty="0"/>
              <a:t>１６～３２個の演算器で共有</a:t>
            </a:r>
          </a:p>
        </p:txBody>
      </p:sp>
      <p:grpSp>
        <p:nvGrpSpPr>
          <p:cNvPr id="32" name="グループ化 31">
            <a:extLst>
              <a:ext uri="{FF2B5EF4-FFF2-40B4-BE49-F238E27FC236}">
                <a16:creationId xmlns:a16="http://schemas.microsoft.com/office/drawing/2014/main" id="{8C60D8B3-1CCD-8F97-FF13-597F6900B06F}"/>
              </a:ext>
            </a:extLst>
          </p:cNvPr>
          <p:cNvGrpSpPr/>
          <p:nvPr/>
        </p:nvGrpSpPr>
        <p:grpSpPr>
          <a:xfrm>
            <a:off x="7266013" y="188964"/>
            <a:ext cx="4590051" cy="4428862"/>
            <a:chOff x="155934" y="1088975"/>
            <a:chExt cx="4590051" cy="4428862"/>
          </a:xfrm>
        </p:grpSpPr>
        <p:pic>
          <p:nvPicPr>
            <p:cNvPr id="28" name="図 27">
              <a:extLst>
                <a:ext uri="{FF2B5EF4-FFF2-40B4-BE49-F238E27FC236}">
                  <a16:creationId xmlns:a16="http://schemas.microsoft.com/office/drawing/2014/main" id="{F74DC473-6279-6A0B-A425-B01A276E359B}"/>
                </a:ext>
              </a:extLst>
            </p:cNvPr>
            <p:cNvPicPr>
              <a:picLocks noChangeAspect="1"/>
            </p:cNvPicPr>
            <p:nvPr/>
          </p:nvPicPr>
          <p:blipFill>
            <a:blip r:embed="rId3"/>
            <a:stretch>
              <a:fillRect/>
            </a:stretch>
          </p:blipFill>
          <p:spPr>
            <a:xfrm>
              <a:off x="155934" y="1088975"/>
              <a:ext cx="4590051" cy="4428862"/>
            </a:xfrm>
            <a:prstGeom prst="rect">
              <a:avLst/>
            </a:prstGeom>
          </p:spPr>
        </p:pic>
        <p:sp>
          <p:nvSpPr>
            <p:cNvPr id="29" name="四角形: 角を丸くする 28">
              <a:extLst>
                <a:ext uri="{FF2B5EF4-FFF2-40B4-BE49-F238E27FC236}">
                  <a16:creationId xmlns:a16="http://schemas.microsoft.com/office/drawing/2014/main" id="{80C3253E-0ACE-0055-4FA1-A12B34862861}"/>
                </a:ext>
              </a:extLst>
            </p:cNvPr>
            <p:cNvSpPr/>
            <p:nvPr/>
          </p:nvSpPr>
          <p:spPr bwMode="auto">
            <a:xfrm>
              <a:off x="605939" y="1178975"/>
              <a:ext cx="2079867" cy="1609021"/>
            </a:xfrm>
            <a:prstGeom prst="roundRect">
              <a:avLst/>
            </a:prstGeom>
            <a:solidFill>
              <a:schemeClr val="bg1">
                <a:alpha val="57000"/>
              </a:schemeClr>
            </a:solidFill>
            <a:ln w="50800">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0" name="四角形: 角を丸くする 29">
              <a:extLst>
                <a:ext uri="{FF2B5EF4-FFF2-40B4-BE49-F238E27FC236}">
                  <a16:creationId xmlns:a16="http://schemas.microsoft.com/office/drawing/2014/main" id="{406DCA1A-27A3-356A-329A-2FF051E7FD95}"/>
                </a:ext>
              </a:extLst>
            </p:cNvPr>
            <p:cNvSpPr/>
            <p:nvPr/>
          </p:nvSpPr>
          <p:spPr bwMode="auto">
            <a:xfrm>
              <a:off x="2945965" y="1178975"/>
              <a:ext cx="1649550" cy="629617"/>
            </a:xfrm>
            <a:prstGeom prst="roundRect">
              <a:avLst/>
            </a:prstGeom>
            <a:solidFill>
              <a:schemeClr val="bg1">
                <a:alpha val="57000"/>
              </a:schemeClr>
            </a:solidFill>
            <a:ln w="50800">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1" name="四角形: 角を丸くする 30">
              <a:extLst>
                <a:ext uri="{FF2B5EF4-FFF2-40B4-BE49-F238E27FC236}">
                  <a16:creationId xmlns:a16="http://schemas.microsoft.com/office/drawing/2014/main" id="{5CF8CDA9-FF4D-18FF-8A69-D5F0E53A3B72}"/>
                </a:ext>
              </a:extLst>
            </p:cNvPr>
            <p:cNvSpPr/>
            <p:nvPr/>
          </p:nvSpPr>
          <p:spPr bwMode="auto">
            <a:xfrm>
              <a:off x="425937" y="3429000"/>
              <a:ext cx="2295026" cy="1399149"/>
            </a:xfrm>
            <a:prstGeom prst="roundRect">
              <a:avLst/>
            </a:prstGeom>
            <a:solidFill>
              <a:schemeClr val="bg1">
                <a:alpha val="57000"/>
              </a:schemeClr>
            </a:solidFill>
            <a:ln w="50800">
              <a:solidFill>
                <a:schemeClr val="accent2"/>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sp>
        <p:nvSpPr>
          <p:cNvPr id="8" name="正方形/長方形 7">
            <a:extLst>
              <a:ext uri="{FF2B5EF4-FFF2-40B4-BE49-F238E27FC236}">
                <a16:creationId xmlns:a16="http://schemas.microsoft.com/office/drawing/2014/main" id="{A98E139F-27E2-D5FC-BFBF-AA4CF195AEAC}"/>
              </a:ext>
            </a:extLst>
          </p:cNvPr>
          <p:cNvSpPr/>
          <p:nvPr/>
        </p:nvSpPr>
        <p:spPr bwMode="auto">
          <a:xfrm>
            <a:off x="9696040" y="4239009"/>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b="1" dirty="0">
                <a:solidFill>
                  <a:schemeClr val="tx1">
                    <a:lumMod val="75000"/>
                    <a:lumOff val="25000"/>
                  </a:schemeClr>
                </a:solidFill>
                <a:latin typeface="+mn-ea"/>
              </a:rPr>
              <a:t>命令供給</a:t>
            </a:r>
          </a:p>
        </p:txBody>
      </p:sp>
      <p:sp>
        <p:nvSpPr>
          <p:cNvPr id="9" name="フリーフォーム 10">
            <a:extLst>
              <a:ext uri="{FF2B5EF4-FFF2-40B4-BE49-F238E27FC236}">
                <a16:creationId xmlns:a16="http://schemas.microsoft.com/office/drawing/2014/main" id="{F4D20411-157A-EFF7-40A7-80BD73DBDCCC}"/>
              </a:ext>
            </a:extLst>
          </p:cNvPr>
          <p:cNvSpPr>
            <a:spLocks noChangeArrowheads="1"/>
          </p:cNvSpPr>
          <p:nvPr/>
        </p:nvSpPr>
        <p:spPr bwMode="auto">
          <a:xfrm flipH="1">
            <a:off x="5735996"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b="1" dirty="0">
                <a:solidFill>
                  <a:schemeClr val="tx1">
                    <a:lumMod val="75000"/>
                    <a:lumOff val="25000"/>
                  </a:schemeClr>
                </a:solidFill>
                <a:latin typeface="+mn-ea"/>
              </a:rPr>
              <a:t>演算器</a:t>
            </a:r>
          </a:p>
        </p:txBody>
      </p:sp>
      <p:cxnSp>
        <p:nvCxnSpPr>
          <p:cNvPr id="10" name="直線矢印コネクタ 9">
            <a:extLst>
              <a:ext uri="{FF2B5EF4-FFF2-40B4-BE49-F238E27FC236}">
                <a16:creationId xmlns:a16="http://schemas.microsoft.com/office/drawing/2014/main" id="{7AFD3A13-1E2D-9930-894F-5A437D8243D8}"/>
              </a:ext>
            </a:extLst>
          </p:cNvPr>
          <p:cNvCxnSpPr>
            <a:cxnSpLocks/>
          </p:cNvCxnSpPr>
          <p:nvPr/>
        </p:nvCxnSpPr>
        <p:spPr bwMode="auto">
          <a:xfrm>
            <a:off x="10056044" y="4599012"/>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1" name="Freeform 10">
            <a:extLst>
              <a:ext uri="{FF2B5EF4-FFF2-40B4-BE49-F238E27FC236}">
                <a16:creationId xmlns:a16="http://schemas.microsoft.com/office/drawing/2014/main" id="{132ABDB0-DC47-6562-3BB0-871EE27BEF7B}"/>
              </a:ext>
            </a:extLst>
          </p:cNvPr>
          <p:cNvSpPr>
            <a:spLocks/>
          </p:cNvSpPr>
          <p:nvPr/>
        </p:nvSpPr>
        <p:spPr bwMode="auto">
          <a:xfrm rot="5400000">
            <a:off x="8436027" y="3699004"/>
            <a:ext cx="180000" cy="234002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2" name="フリーフォーム 10">
            <a:extLst>
              <a:ext uri="{FF2B5EF4-FFF2-40B4-BE49-F238E27FC236}">
                <a16:creationId xmlns:a16="http://schemas.microsoft.com/office/drawing/2014/main" id="{47C87F68-DF49-E519-3E15-8D50F9282E94}"/>
              </a:ext>
            </a:extLst>
          </p:cNvPr>
          <p:cNvSpPr>
            <a:spLocks noChangeArrowheads="1"/>
          </p:cNvSpPr>
          <p:nvPr/>
        </p:nvSpPr>
        <p:spPr bwMode="auto">
          <a:xfrm flipH="1">
            <a:off x="6546005"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b="1" dirty="0">
                <a:solidFill>
                  <a:schemeClr val="tx1">
                    <a:lumMod val="75000"/>
                    <a:lumOff val="25000"/>
                  </a:schemeClr>
                </a:solidFill>
                <a:latin typeface="+mn-ea"/>
              </a:rPr>
              <a:t>演算器</a:t>
            </a:r>
          </a:p>
        </p:txBody>
      </p:sp>
      <p:sp>
        <p:nvSpPr>
          <p:cNvPr id="13" name="フリーフォーム 10">
            <a:extLst>
              <a:ext uri="{FF2B5EF4-FFF2-40B4-BE49-F238E27FC236}">
                <a16:creationId xmlns:a16="http://schemas.microsoft.com/office/drawing/2014/main" id="{84818B37-B347-B0EA-B9A5-E6423E863942}"/>
              </a:ext>
            </a:extLst>
          </p:cNvPr>
          <p:cNvSpPr>
            <a:spLocks noChangeArrowheads="1"/>
          </p:cNvSpPr>
          <p:nvPr/>
        </p:nvSpPr>
        <p:spPr bwMode="auto">
          <a:xfrm flipH="1">
            <a:off x="8166023"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b="1" dirty="0">
                <a:solidFill>
                  <a:schemeClr val="tx1">
                    <a:lumMod val="75000"/>
                    <a:lumOff val="25000"/>
                  </a:schemeClr>
                </a:solidFill>
                <a:latin typeface="+mn-ea"/>
              </a:rPr>
              <a:t>演算器</a:t>
            </a:r>
          </a:p>
        </p:txBody>
      </p:sp>
      <p:sp>
        <p:nvSpPr>
          <p:cNvPr id="14" name="Freeform 10">
            <a:extLst>
              <a:ext uri="{FF2B5EF4-FFF2-40B4-BE49-F238E27FC236}">
                <a16:creationId xmlns:a16="http://schemas.microsoft.com/office/drawing/2014/main" id="{99ECEA78-439A-8FEE-0D06-60C2FEBA68DF}"/>
              </a:ext>
            </a:extLst>
          </p:cNvPr>
          <p:cNvSpPr>
            <a:spLocks/>
          </p:cNvSpPr>
          <p:nvPr/>
        </p:nvSpPr>
        <p:spPr bwMode="auto">
          <a:xfrm rot="5400000">
            <a:off x="9696040" y="4779016"/>
            <a:ext cx="180002" cy="18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5" name="Freeform 10">
            <a:extLst>
              <a:ext uri="{FF2B5EF4-FFF2-40B4-BE49-F238E27FC236}">
                <a16:creationId xmlns:a16="http://schemas.microsoft.com/office/drawing/2014/main" id="{74655C8F-072E-C44E-7AD3-D5D5EECE83EC}"/>
              </a:ext>
            </a:extLst>
          </p:cNvPr>
          <p:cNvSpPr>
            <a:spLocks/>
          </p:cNvSpPr>
          <p:nvPr/>
        </p:nvSpPr>
        <p:spPr bwMode="auto">
          <a:xfrm rot="5400000" flipV="1">
            <a:off x="10101045" y="4554013"/>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6" name="Freeform 10">
            <a:extLst>
              <a:ext uri="{FF2B5EF4-FFF2-40B4-BE49-F238E27FC236}">
                <a16:creationId xmlns:a16="http://schemas.microsoft.com/office/drawing/2014/main" id="{C3770FDE-858C-B607-43B8-8477060714CB}"/>
              </a:ext>
            </a:extLst>
          </p:cNvPr>
          <p:cNvSpPr>
            <a:spLocks/>
          </p:cNvSpPr>
          <p:nvPr/>
        </p:nvSpPr>
        <p:spPr bwMode="auto">
          <a:xfrm rot="5400000" flipV="1">
            <a:off x="10686053" y="4419012"/>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7" name="正方形/長方形 16">
            <a:extLst>
              <a:ext uri="{FF2B5EF4-FFF2-40B4-BE49-F238E27FC236}">
                <a16:creationId xmlns:a16="http://schemas.microsoft.com/office/drawing/2014/main" id="{FD9AB7FD-B983-BA51-87EE-F5E5B5492258}"/>
              </a:ext>
            </a:extLst>
          </p:cNvPr>
          <p:cNvSpPr/>
          <p:nvPr/>
        </p:nvSpPr>
        <p:spPr bwMode="auto">
          <a:xfrm>
            <a:off x="6996010" y="4959016"/>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b="1" dirty="0">
                <a:solidFill>
                  <a:schemeClr val="tx1">
                    <a:lumMod val="75000"/>
                    <a:lumOff val="25000"/>
                  </a:schemeClr>
                </a:solidFill>
                <a:latin typeface="+mn-ea"/>
              </a:rPr>
              <a:t>命令</a:t>
            </a:r>
            <a:endParaRPr lang="en-US" altLang="ja-JP" sz="1200" b="1" dirty="0">
              <a:solidFill>
                <a:schemeClr val="tx1">
                  <a:lumMod val="75000"/>
                  <a:lumOff val="25000"/>
                </a:schemeClr>
              </a:solidFill>
              <a:latin typeface="+mn-ea"/>
            </a:endParaRPr>
          </a:p>
          <a:p>
            <a:pPr algn="ctr"/>
            <a:r>
              <a:rPr lang="ja-JP" altLang="en-US" sz="1200" b="1" dirty="0">
                <a:solidFill>
                  <a:schemeClr val="tx1">
                    <a:lumMod val="75000"/>
                    <a:lumOff val="25000"/>
                  </a:schemeClr>
                </a:solidFill>
                <a:latin typeface="+mn-ea"/>
              </a:rPr>
              <a:t>バッファ</a:t>
            </a:r>
          </a:p>
        </p:txBody>
      </p:sp>
      <p:sp>
        <p:nvSpPr>
          <p:cNvPr id="18" name="正方形/長方形 17">
            <a:extLst>
              <a:ext uri="{FF2B5EF4-FFF2-40B4-BE49-F238E27FC236}">
                <a16:creationId xmlns:a16="http://schemas.microsoft.com/office/drawing/2014/main" id="{837CD881-DD25-ED6B-C502-BFEBD60C4C35}"/>
              </a:ext>
            </a:extLst>
          </p:cNvPr>
          <p:cNvSpPr/>
          <p:nvPr/>
        </p:nvSpPr>
        <p:spPr bwMode="auto">
          <a:xfrm>
            <a:off x="7536016" y="594902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tx1">
                    <a:lumMod val="75000"/>
                    <a:lumOff val="25000"/>
                  </a:schemeClr>
                </a:solidFill>
                <a:latin typeface="+mn-ea"/>
              </a:rPr>
              <a:t>…</a:t>
            </a:r>
            <a:endParaRPr lang="ja-JP" altLang="en-US" sz="1600" b="1" dirty="0">
              <a:solidFill>
                <a:schemeClr val="tx1">
                  <a:lumMod val="75000"/>
                  <a:lumOff val="25000"/>
                </a:schemeClr>
              </a:solidFill>
              <a:latin typeface="+mn-ea"/>
            </a:endParaRPr>
          </a:p>
        </p:txBody>
      </p:sp>
      <p:cxnSp>
        <p:nvCxnSpPr>
          <p:cNvPr id="20" name="直線矢印コネクタ 19">
            <a:extLst>
              <a:ext uri="{FF2B5EF4-FFF2-40B4-BE49-F238E27FC236}">
                <a16:creationId xmlns:a16="http://schemas.microsoft.com/office/drawing/2014/main" id="{646C5B2E-F7AE-8070-A946-DFD20989FECA}"/>
              </a:ext>
            </a:extLst>
          </p:cNvPr>
          <p:cNvCxnSpPr>
            <a:cxnSpLocks/>
          </p:cNvCxnSpPr>
          <p:nvPr/>
        </p:nvCxnSpPr>
        <p:spPr bwMode="auto">
          <a:xfrm>
            <a:off x="7356013" y="5409019"/>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21" name="Freeform 10">
            <a:extLst>
              <a:ext uri="{FF2B5EF4-FFF2-40B4-BE49-F238E27FC236}">
                <a16:creationId xmlns:a16="http://schemas.microsoft.com/office/drawing/2014/main" id="{E4F84A95-EEE4-D7F2-1F5D-25D008C32266}"/>
              </a:ext>
            </a:extLst>
          </p:cNvPr>
          <p:cNvSpPr>
            <a:spLocks/>
          </p:cNvSpPr>
          <p:nvPr/>
        </p:nvSpPr>
        <p:spPr bwMode="auto">
          <a:xfrm rot="5400000">
            <a:off x="6546004" y="5139017"/>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2" name="Freeform 10">
            <a:extLst>
              <a:ext uri="{FF2B5EF4-FFF2-40B4-BE49-F238E27FC236}">
                <a16:creationId xmlns:a16="http://schemas.microsoft.com/office/drawing/2014/main" id="{F247D797-7EC9-7943-C59F-DA77771FF053}"/>
              </a:ext>
            </a:extLst>
          </p:cNvPr>
          <p:cNvSpPr>
            <a:spLocks/>
          </p:cNvSpPr>
          <p:nvPr/>
        </p:nvSpPr>
        <p:spPr bwMode="auto">
          <a:xfrm rot="5400000">
            <a:off x="6951010" y="5544022"/>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3" name="Freeform 10">
            <a:extLst>
              <a:ext uri="{FF2B5EF4-FFF2-40B4-BE49-F238E27FC236}">
                <a16:creationId xmlns:a16="http://schemas.microsoft.com/office/drawing/2014/main" id="{B3EC83C6-693C-6D5A-7329-14E4DEBC8170}"/>
              </a:ext>
            </a:extLst>
          </p:cNvPr>
          <p:cNvSpPr>
            <a:spLocks/>
          </p:cNvSpPr>
          <p:nvPr/>
        </p:nvSpPr>
        <p:spPr bwMode="auto">
          <a:xfrm rot="5400000" flipV="1">
            <a:off x="7401014" y="5364020"/>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4" name="Freeform 10">
            <a:extLst>
              <a:ext uri="{FF2B5EF4-FFF2-40B4-BE49-F238E27FC236}">
                <a16:creationId xmlns:a16="http://schemas.microsoft.com/office/drawing/2014/main" id="{A748D829-EF4E-8452-F0E5-BBB36ACE87F6}"/>
              </a:ext>
            </a:extLst>
          </p:cNvPr>
          <p:cNvSpPr>
            <a:spLocks/>
          </p:cNvSpPr>
          <p:nvPr/>
        </p:nvSpPr>
        <p:spPr bwMode="auto">
          <a:xfrm rot="5400000" flipV="1">
            <a:off x="7986022" y="5229019"/>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Tree>
    <p:extLst>
      <p:ext uri="{BB962C8B-B14F-4D97-AF65-F5344CB8AC3E}">
        <p14:creationId xmlns:p14="http://schemas.microsoft.com/office/powerpoint/2010/main" val="25215456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6928-E4AC-D43C-5712-51ADCE7DA59C}"/>
              </a:ext>
            </a:extLst>
          </p:cNvPr>
          <p:cNvSpPr>
            <a:spLocks noGrp="1"/>
          </p:cNvSpPr>
          <p:nvPr>
            <p:ph type="title"/>
          </p:nvPr>
        </p:nvSpPr>
        <p:spPr/>
        <p:txBody>
          <a:bodyPr/>
          <a:lstStyle/>
          <a:p>
            <a:r>
              <a:rPr kumimoji="1" lang="en-US" altLang="ja-JP" dirty="0"/>
              <a:t>GPU </a:t>
            </a:r>
            <a:r>
              <a:rPr kumimoji="1" lang="ja-JP" altLang="en-US" dirty="0"/>
              <a:t>における回路量当たりの性能向上</a:t>
            </a:r>
          </a:p>
        </p:txBody>
      </p:sp>
      <p:sp>
        <p:nvSpPr>
          <p:cNvPr id="3" name="テキスト プレースホルダー 2">
            <a:extLst>
              <a:ext uri="{FF2B5EF4-FFF2-40B4-BE49-F238E27FC236}">
                <a16:creationId xmlns:a16="http://schemas.microsoft.com/office/drawing/2014/main" id="{8FD7964B-5D08-C0D0-086D-C6B016DE5D09}"/>
              </a:ext>
            </a:extLst>
          </p:cNvPr>
          <p:cNvSpPr>
            <a:spLocks noGrp="1"/>
          </p:cNvSpPr>
          <p:nvPr>
            <p:ph type="body" sz="quarter" idx="10"/>
          </p:nvPr>
        </p:nvSpPr>
        <p:spPr/>
        <p:txBody>
          <a:bodyPr/>
          <a:lstStyle/>
          <a:p>
            <a:r>
              <a:rPr kumimoji="1" lang="en-US" altLang="ja-JP" dirty="0"/>
              <a:t>GPU </a:t>
            </a:r>
            <a:r>
              <a:rPr kumimoji="1" lang="ja-JP" altLang="en-US" dirty="0"/>
              <a:t>における回路量あたりの性能向上</a:t>
            </a:r>
            <a:endParaRPr kumimoji="1" lang="en-US" altLang="ja-JP" dirty="0"/>
          </a:p>
          <a:p>
            <a:pPr marL="817200" lvl="1" indent="-457200">
              <a:buFont typeface="+mj-lt"/>
              <a:buAutoNum type="arabicPeriod"/>
            </a:pPr>
            <a:r>
              <a:rPr kumimoji="1" lang="en-US" altLang="ja-JP" dirty="0"/>
              <a:t>SIMD </a:t>
            </a:r>
            <a:r>
              <a:rPr kumimoji="1" lang="ja-JP" altLang="en-US" dirty="0"/>
              <a:t>による制御部の共有</a:t>
            </a:r>
            <a:endParaRPr kumimoji="1" lang="en-US" altLang="ja-JP" dirty="0"/>
          </a:p>
          <a:p>
            <a:pPr marL="817200" lvl="1" indent="-457200">
              <a:buFont typeface="+mj-lt"/>
              <a:buAutoNum type="arabicPeriod"/>
            </a:pPr>
            <a:r>
              <a:rPr kumimoji="1" lang="ja-JP" altLang="en-US" dirty="0"/>
              <a:t>制御部自体の小型化</a:t>
            </a:r>
            <a:endParaRPr kumimoji="1" lang="en-US" altLang="ja-JP" dirty="0"/>
          </a:p>
          <a:p>
            <a:r>
              <a:rPr kumimoji="1" lang="ja-JP" altLang="en-US" dirty="0"/>
              <a:t>たとえば先ほどのチップ写真の場合･･･</a:t>
            </a:r>
            <a:endParaRPr kumimoji="1" lang="en-US" altLang="ja-JP" dirty="0"/>
          </a:p>
          <a:p>
            <a:pPr lvl="1"/>
            <a:r>
              <a:rPr kumimoji="1" lang="ja-JP" altLang="en-US" dirty="0"/>
              <a:t>赤色の部分のみを </a:t>
            </a:r>
            <a:r>
              <a:rPr kumimoji="1" lang="en-US" altLang="ja-JP" dirty="0"/>
              <a:t>N</a:t>
            </a:r>
            <a:r>
              <a:rPr lang="ja-JP" altLang="en-US" dirty="0"/>
              <a:t> 倍に増やしても，全体は大きくは増えない</a:t>
            </a:r>
            <a:endParaRPr lang="en-US" altLang="ja-JP" dirty="0"/>
          </a:p>
          <a:p>
            <a:pPr lvl="2"/>
            <a:r>
              <a:rPr lang="ja-JP" altLang="en-US" dirty="0"/>
              <a:t>まず赤色自体が占める面積がかなり小さいから</a:t>
            </a:r>
            <a:endParaRPr lang="en-US" altLang="ja-JP" dirty="0"/>
          </a:p>
          <a:p>
            <a:pPr lvl="1"/>
            <a:r>
              <a:rPr kumimoji="1" lang="ja-JP" altLang="en-US" dirty="0"/>
              <a:t>しかし非赤色の部分を減らすと，かなりの数の赤色が積める</a:t>
            </a:r>
          </a:p>
        </p:txBody>
      </p:sp>
    </p:spTree>
    <p:extLst>
      <p:ext uri="{BB962C8B-B14F-4D97-AF65-F5344CB8AC3E}">
        <p14:creationId xmlns:p14="http://schemas.microsoft.com/office/powerpoint/2010/main" val="25136560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312EDD-CC2A-D00B-F05E-7E40695A047D}"/>
              </a:ext>
            </a:extLst>
          </p:cNvPr>
          <p:cNvSpPr>
            <a:spLocks noGrp="1"/>
          </p:cNvSpPr>
          <p:nvPr>
            <p:ph type="title"/>
          </p:nvPr>
        </p:nvSpPr>
        <p:spPr/>
        <p:txBody>
          <a:bodyPr/>
          <a:lstStyle/>
          <a:p>
            <a:r>
              <a:rPr kumimoji="1" lang="ja-JP" altLang="en-US" dirty="0"/>
              <a:t>補足</a:t>
            </a:r>
            <a:r>
              <a:rPr lang="ja-JP" altLang="en-US" dirty="0"/>
              <a:t>：データの供給について</a:t>
            </a:r>
            <a:endParaRPr kumimoji="1" lang="ja-JP" altLang="en-US" dirty="0"/>
          </a:p>
        </p:txBody>
      </p:sp>
      <p:sp>
        <p:nvSpPr>
          <p:cNvPr id="3" name="テキスト プレースホルダー 2">
            <a:extLst>
              <a:ext uri="{FF2B5EF4-FFF2-40B4-BE49-F238E27FC236}">
                <a16:creationId xmlns:a16="http://schemas.microsoft.com/office/drawing/2014/main" id="{8AA69DD9-FA2D-90E7-AF66-A3027A7866D5}"/>
              </a:ext>
            </a:extLst>
          </p:cNvPr>
          <p:cNvSpPr>
            <a:spLocks noGrp="1"/>
          </p:cNvSpPr>
          <p:nvPr>
            <p:ph type="body" sz="quarter" idx="10"/>
          </p:nvPr>
        </p:nvSpPr>
        <p:spPr>
          <a:xfrm>
            <a:off x="2135956" y="1358977"/>
            <a:ext cx="8280092" cy="2070023"/>
          </a:xfrm>
        </p:spPr>
        <p:txBody>
          <a:bodyPr/>
          <a:lstStyle/>
          <a:p>
            <a:r>
              <a:rPr kumimoji="1" lang="ja-JP" altLang="en-US" dirty="0"/>
              <a:t>ここまでは簡単のためデータの供給についての議論を無視している</a:t>
            </a:r>
            <a:endParaRPr kumimoji="1" lang="en-US" altLang="ja-JP" dirty="0"/>
          </a:p>
          <a:p>
            <a:pPr lvl="1"/>
            <a:r>
              <a:rPr kumimoji="1" lang="ja-JP" altLang="en-US" dirty="0"/>
              <a:t>メモリやレジスタ・ファイルは演算器間で共有できない</a:t>
            </a:r>
            <a:endParaRPr kumimoji="1" lang="en-US" altLang="ja-JP" dirty="0"/>
          </a:p>
          <a:p>
            <a:r>
              <a:rPr kumimoji="1" lang="ja-JP" altLang="en-US" dirty="0"/>
              <a:t>ここをさらになんとかするのが，行列積に特化したハードウェア</a:t>
            </a:r>
            <a:endParaRPr kumimoji="1" lang="en-US" altLang="ja-JP" dirty="0"/>
          </a:p>
          <a:p>
            <a:pPr lvl="1"/>
            <a:r>
              <a:rPr kumimoji="1" lang="en-US" altLang="ja-JP" dirty="0"/>
              <a:t>TPU </a:t>
            </a:r>
            <a:r>
              <a:rPr kumimoji="1" lang="ja-JP" altLang="en-US" dirty="0"/>
              <a:t>や </a:t>
            </a:r>
            <a:r>
              <a:rPr kumimoji="1" lang="en-US" altLang="ja-JP" dirty="0"/>
              <a:t>Tensor Core</a:t>
            </a:r>
          </a:p>
          <a:p>
            <a:pPr lvl="1"/>
            <a:r>
              <a:rPr kumimoji="1" lang="ja-JP" altLang="en-US" dirty="0"/>
              <a:t>これらについては後述</a:t>
            </a:r>
          </a:p>
        </p:txBody>
      </p:sp>
      <p:sp>
        <p:nvSpPr>
          <p:cNvPr id="4" name="正方形/長方形 3">
            <a:extLst>
              <a:ext uri="{FF2B5EF4-FFF2-40B4-BE49-F238E27FC236}">
                <a16:creationId xmlns:a16="http://schemas.microsoft.com/office/drawing/2014/main" id="{F1676A11-A11E-16EE-CB36-F946FE1DF0B7}"/>
              </a:ext>
            </a:extLst>
          </p:cNvPr>
          <p:cNvSpPr/>
          <p:nvPr/>
        </p:nvSpPr>
        <p:spPr bwMode="auto">
          <a:xfrm>
            <a:off x="5645995" y="4509012"/>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5" name="直線矢印コネクタ 4">
            <a:extLst>
              <a:ext uri="{FF2B5EF4-FFF2-40B4-BE49-F238E27FC236}">
                <a16:creationId xmlns:a16="http://schemas.microsoft.com/office/drawing/2014/main" id="{F15E852A-DB15-BCEE-467F-991A702460CF}"/>
              </a:ext>
            </a:extLst>
          </p:cNvPr>
          <p:cNvCxnSpPr>
            <a:cxnSpLocks/>
          </p:cNvCxnSpPr>
          <p:nvPr/>
        </p:nvCxnSpPr>
        <p:spPr bwMode="auto">
          <a:xfrm>
            <a:off x="6005999" y="4311141"/>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6" name="正方形/長方形 5">
            <a:extLst>
              <a:ext uri="{FF2B5EF4-FFF2-40B4-BE49-F238E27FC236}">
                <a16:creationId xmlns:a16="http://schemas.microsoft.com/office/drawing/2014/main" id="{B563752B-9181-8CB2-650A-7D2C0D7FF385}"/>
              </a:ext>
            </a:extLst>
          </p:cNvPr>
          <p:cNvSpPr/>
          <p:nvPr/>
        </p:nvSpPr>
        <p:spPr bwMode="auto">
          <a:xfrm>
            <a:off x="5825997" y="3969005"/>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7" name="フリーフォーム 10">
            <a:extLst>
              <a:ext uri="{FF2B5EF4-FFF2-40B4-BE49-F238E27FC236}">
                <a16:creationId xmlns:a16="http://schemas.microsoft.com/office/drawing/2014/main" id="{4777C8B9-9A44-6110-BD64-C245FBCDA4F4}"/>
              </a:ext>
            </a:extLst>
          </p:cNvPr>
          <p:cNvSpPr>
            <a:spLocks noChangeArrowheads="1"/>
          </p:cNvSpPr>
          <p:nvPr/>
        </p:nvSpPr>
        <p:spPr bwMode="auto">
          <a:xfrm flipH="1">
            <a:off x="4385981" y="585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8" name="直線矢印コネクタ 7">
            <a:extLst>
              <a:ext uri="{FF2B5EF4-FFF2-40B4-BE49-F238E27FC236}">
                <a16:creationId xmlns:a16="http://schemas.microsoft.com/office/drawing/2014/main" id="{422D68E0-C708-CA3D-437E-46EBE5F0F87A}"/>
              </a:ext>
            </a:extLst>
          </p:cNvPr>
          <p:cNvCxnSpPr>
            <a:cxnSpLocks/>
          </p:cNvCxnSpPr>
          <p:nvPr/>
        </p:nvCxnSpPr>
        <p:spPr bwMode="auto">
          <a:xfrm>
            <a:off x="6005999" y="4869015"/>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 name="Freeform 10">
            <a:extLst>
              <a:ext uri="{FF2B5EF4-FFF2-40B4-BE49-F238E27FC236}">
                <a16:creationId xmlns:a16="http://schemas.microsoft.com/office/drawing/2014/main" id="{F7EE4A49-3DBF-BAB3-C682-C891B9871C0F}"/>
              </a:ext>
            </a:extLst>
          </p:cNvPr>
          <p:cNvSpPr>
            <a:spLocks/>
          </p:cNvSpPr>
          <p:nvPr/>
        </p:nvSpPr>
        <p:spPr bwMode="auto">
          <a:xfrm rot="5400000">
            <a:off x="5195990" y="4599013"/>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0" name="フリーフォーム 10">
            <a:extLst>
              <a:ext uri="{FF2B5EF4-FFF2-40B4-BE49-F238E27FC236}">
                <a16:creationId xmlns:a16="http://schemas.microsoft.com/office/drawing/2014/main" id="{CCAED87C-EF27-7848-D874-1D1BFE1628EA}"/>
              </a:ext>
            </a:extLst>
          </p:cNvPr>
          <p:cNvSpPr>
            <a:spLocks noChangeArrowheads="1"/>
          </p:cNvSpPr>
          <p:nvPr/>
        </p:nvSpPr>
        <p:spPr bwMode="auto">
          <a:xfrm flipH="1">
            <a:off x="5195990" y="585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1" name="フリーフォーム 10">
            <a:extLst>
              <a:ext uri="{FF2B5EF4-FFF2-40B4-BE49-F238E27FC236}">
                <a16:creationId xmlns:a16="http://schemas.microsoft.com/office/drawing/2014/main" id="{0CA469FE-F250-D4FA-9AE1-B70CB535DC36}"/>
              </a:ext>
            </a:extLst>
          </p:cNvPr>
          <p:cNvSpPr>
            <a:spLocks noChangeArrowheads="1"/>
          </p:cNvSpPr>
          <p:nvPr/>
        </p:nvSpPr>
        <p:spPr bwMode="auto">
          <a:xfrm flipH="1">
            <a:off x="6005999" y="585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2" name="フリーフォーム 10">
            <a:extLst>
              <a:ext uri="{FF2B5EF4-FFF2-40B4-BE49-F238E27FC236}">
                <a16:creationId xmlns:a16="http://schemas.microsoft.com/office/drawing/2014/main" id="{7C1024B4-0397-73BE-5A9A-7D807795F678}"/>
              </a:ext>
            </a:extLst>
          </p:cNvPr>
          <p:cNvSpPr>
            <a:spLocks noChangeArrowheads="1"/>
          </p:cNvSpPr>
          <p:nvPr/>
        </p:nvSpPr>
        <p:spPr bwMode="auto">
          <a:xfrm flipH="1">
            <a:off x="6816008" y="585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3" name="Freeform 10">
            <a:extLst>
              <a:ext uri="{FF2B5EF4-FFF2-40B4-BE49-F238E27FC236}">
                <a16:creationId xmlns:a16="http://schemas.microsoft.com/office/drawing/2014/main" id="{B4D0F1B6-A97A-C515-3AD6-1DB3FE670068}"/>
              </a:ext>
            </a:extLst>
          </p:cNvPr>
          <p:cNvSpPr>
            <a:spLocks/>
          </p:cNvSpPr>
          <p:nvPr/>
        </p:nvSpPr>
        <p:spPr bwMode="auto">
          <a:xfrm rot="5400000">
            <a:off x="5600996" y="5004018"/>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4" name="Freeform 10">
            <a:extLst>
              <a:ext uri="{FF2B5EF4-FFF2-40B4-BE49-F238E27FC236}">
                <a16:creationId xmlns:a16="http://schemas.microsoft.com/office/drawing/2014/main" id="{8B40E344-CC5A-80A2-5D22-781E31726CE9}"/>
              </a:ext>
            </a:extLst>
          </p:cNvPr>
          <p:cNvSpPr>
            <a:spLocks/>
          </p:cNvSpPr>
          <p:nvPr/>
        </p:nvSpPr>
        <p:spPr bwMode="auto">
          <a:xfrm rot="5400000" flipV="1">
            <a:off x="6006002" y="4869015"/>
            <a:ext cx="180000" cy="54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5" name="Freeform 10">
            <a:extLst>
              <a:ext uri="{FF2B5EF4-FFF2-40B4-BE49-F238E27FC236}">
                <a16:creationId xmlns:a16="http://schemas.microsoft.com/office/drawing/2014/main" id="{2C6EBEA9-57A9-A79A-5C63-44D778ED0F4B}"/>
              </a:ext>
            </a:extLst>
          </p:cNvPr>
          <p:cNvSpPr>
            <a:spLocks/>
          </p:cNvSpPr>
          <p:nvPr/>
        </p:nvSpPr>
        <p:spPr bwMode="auto">
          <a:xfrm rot="5400000" flipV="1">
            <a:off x="6636008" y="4689015"/>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6" name="正方形/長方形 15">
            <a:extLst>
              <a:ext uri="{FF2B5EF4-FFF2-40B4-BE49-F238E27FC236}">
                <a16:creationId xmlns:a16="http://schemas.microsoft.com/office/drawing/2014/main" id="{5F2D9A9A-D5CF-D577-2192-EA49392DB2DA}"/>
              </a:ext>
            </a:extLst>
          </p:cNvPr>
          <p:cNvSpPr/>
          <p:nvPr/>
        </p:nvSpPr>
        <p:spPr bwMode="auto">
          <a:xfrm>
            <a:off x="5645996" y="351900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SIMD</a:t>
            </a:r>
            <a:endParaRPr lang="ja-JP" altLang="en-US" sz="1600" dirty="0">
              <a:solidFill>
                <a:schemeClr val="tx1">
                  <a:lumMod val="75000"/>
                  <a:lumOff val="25000"/>
                </a:schemeClr>
              </a:solidFill>
              <a:latin typeface="+mn-ea"/>
            </a:endParaRPr>
          </a:p>
        </p:txBody>
      </p:sp>
      <p:sp>
        <p:nvSpPr>
          <p:cNvPr id="17" name="正方形/長方形 16">
            <a:extLst>
              <a:ext uri="{FF2B5EF4-FFF2-40B4-BE49-F238E27FC236}">
                <a16:creationId xmlns:a16="http://schemas.microsoft.com/office/drawing/2014/main" id="{31D70D72-F2A1-C9A4-03C3-FC11E4E4D1D1}"/>
              </a:ext>
            </a:extLst>
          </p:cNvPr>
          <p:cNvSpPr/>
          <p:nvPr/>
        </p:nvSpPr>
        <p:spPr bwMode="auto">
          <a:xfrm>
            <a:off x="4385981" y="5229020"/>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18" name="正方形/長方形 17">
            <a:extLst>
              <a:ext uri="{FF2B5EF4-FFF2-40B4-BE49-F238E27FC236}">
                <a16:creationId xmlns:a16="http://schemas.microsoft.com/office/drawing/2014/main" id="{ED33BA69-B21D-6675-713E-EBA702DD33ED}"/>
              </a:ext>
            </a:extLst>
          </p:cNvPr>
          <p:cNvSpPr/>
          <p:nvPr/>
        </p:nvSpPr>
        <p:spPr bwMode="auto">
          <a:xfrm>
            <a:off x="5195990" y="5229020"/>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19" name="正方形/長方形 18">
            <a:extLst>
              <a:ext uri="{FF2B5EF4-FFF2-40B4-BE49-F238E27FC236}">
                <a16:creationId xmlns:a16="http://schemas.microsoft.com/office/drawing/2014/main" id="{5CDE2D9A-2F36-C43E-4127-842707B30F75}"/>
              </a:ext>
            </a:extLst>
          </p:cNvPr>
          <p:cNvSpPr/>
          <p:nvPr/>
        </p:nvSpPr>
        <p:spPr bwMode="auto">
          <a:xfrm>
            <a:off x="6005999" y="5229020"/>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20" name="正方形/長方形 19">
            <a:extLst>
              <a:ext uri="{FF2B5EF4-FFF2-40B4-BE49-F238E27FC236}">
                <a16:creationId xmlns:a16="http://schemas.microsoft.com/office/drawing/2014/main" id="{E1F73BFD-F321-1922-2766-5C9074A513EC}"/>
              </a:ext>
            </a:extLst>
          </p:cNvPr>
          <p:cNvSpPr/>
          <p:nvPr/>
        </p:nvSpPr>
        <p:spPr bwMode="auto">
          <a:xfrm>
            <a:off x="6816008" y="5229020"/>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cxnSp>
        <p:nvCxnSpPr>
          <p:cNvPr id="21" name="直線矢印コネクタ 20">
            <a:extLst>
              <a:ext uri="{FF2B5EF4-FFF2-40B4-BE49-F238E27FC236}">
                <a16:creationId xmlns:a16="http://schemas.microsoft.com/office/drawing/2014/main" id="{F275FC1A-5D9C-F4B1-6F06-08A21AAB0961}"/>
              </a:ext>
            </a:extLst>
          </p:cNvPr>
          <p:cNvCxnSpPr>
            <a:cxnSpLocks/>
            <a:stCxn id="17" idx="2"/>
          </p:cNvCxnSpPr>
          <p:nvPr/>
        </p:nvCxnSpPr>
        <p:spPr bwMode="auto">
          <a:xfrm>
            <a:off x="4745985" y="5589025"/>
            <a:ext cx="0" cy="287871"/>
          </a:xfrm>
          <a:prstGeom prst="straightConnector1">
            <a:avLst/>
          </a:prstGeom>
          <a:ln>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23" name="直線矢印コネクタ 22">
            <a:extLst>
              <a:ext uri="{FF2B5EF4-FFF2-40B4-BE49-F238E27FC236}">
                <a16:creationId xmlns:a16="http://schemas.microsoft.com/office/drawing/2014/main" id="{5566D63F-C3EB-B74D-831F-15342254EFA4}"/>
              </a:ext>
            </a:extLst>
          </p:cNvPr>
          <p:cNvCxnSpPr>
            <a:cxnSpLocks/>
          </p:cNvCxnSpPr>
          <p:nvPr/>
        </p:nvCxnSpPr>
        <p:spPr bwMode="auto">
          <a:xfrm>
            <a:off x="5555994" y="5589025"/>
            <a:ext cx="0" cy="287871"/>
          </a:xfrm>
          <a:prstGeom prst="straightConnector1">
            <a:avLst/>
          </a:prstGeom>
          <a:ln>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24" name="直線矢印コネクタ 23">
            <a:extLst>
              <a:ext uri="{FF2B5EF4-FFF2-40B4-BE49-F238E27FC236}">
                <a16:creationId xmlns:a16="http://schemas.microsoft.com/office/drawing/2014/main" id="{A82E516E-2488-EEE1-522B-7963D8D037CA}"/>
              </a:ext>
            </a:extLst>
          </p:cNvPr>
          <p:cNvCxnSpPr>
            <a:cxnSpLocks/>
          </p:cNvCxnSpPr>
          <p:nvPr/>
        </p:nvCxnSpPr>
        <p:spPr bwMode="auto">
          <a:xfrm>
            <a:off x="6366003" y="5589025"/>
            <a:ext cx="0" cy="287871"/>
          </a:xfrm>
          <a:prstGeom prst="straightConnector1">
            <a:avLst/>
          </a:prstGeom>
          <a:ln>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25" name="直線矢印コネクタ 24">
            <a:extLst>
              <a:ext uri="{FF2B5EF4-FFF2-40B4-BE49-F238E27FC236}">
                <a16:creationId xmlns:a16="http://schemas.microsoft.com/office/drawing/2014/main" id="{7F680B49-4A4F-687C-1551-5772721F63C0}"/>
              </a:ext>
            </a:extLst>
          </p:cNvPr>
          <p:cNvCxnSpPr>
            <a:cxnSpLocks/>
          </p:cNvCxnSpPr>
          <p:nvPr/>
        </p:nvCxnSpPr>
        <p:spPr bwMode="auto">
          <a:xfrm>
            <a:off x="7176012" y="5589025"/>
            <a:ext cx="0" cy="287871"/>
          </a:xfrm>
          <a:prstGeom prst="straightConnector1">
            <a:avLst/>
          </a:prstGeom>
          <a:ln>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6880602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F28C6C-4B6B-0592-DFC2-4C563ECDF732}"/>
              </a:ext>
            </a:extLst>
          </p:cNvPr>
          <p:cNvSpPr>
            <a:spLocks noGrp="1"/>
          </p:cNvSpPr>
          <p:nvPr>
            <p:ph type="title"/>
          </p:nvPr>
        </p:nvSpPr>
        <p:spPr/>
        <p:txBody>
          <a:bodyPr/>
          <a:lstStyle/>
          <a:p>
            <a:r>
              <a:rPr kumimoji="1" lang="ja-JP" altLang="en-US" dirty="0"/>
              <a:t>もくじ</a:t>
            </a:r>
          </a:p>
        </p:txBody>
      </p:sp>
      <p:sp>
        <p:nvSpPr>
          <p:cNvPr id="3" name="テキスト プレースホルダー 2">
            <a:extLst>
              <a:ext uri="{FF2B5EF4-FFF2-40B4-BE49-F238E27FC236}">
                <a16:creationId xmlns:a16="http://schemas.microsoft.com/office/drawing/2014/main" id="{CBA111A3-835E-F467-EC49-839674912985}"/>
              </a:ext>
            </a:extLst>
          </p:cNvPr>
          <p:cNvSpPr>
            <a:spLocks noGrp="1"/>
          </p:cNvSpPr>
          <p:nvPr>
            <p:ph type="body" sz="quarter" idx="10"/>
          </p:nvPr>
        </p:nvSpPr>
        <p:spPr/>
        <p:txBody>
          <a:bodyPr/>
          <a:lstStyle/>
          <a:p>
            <a:pPr marL="457200" indent="-457200">
              <a:buFont typeface="+mj-lt"/>
              <a:buAutoNum type="arabicPeriod"/>
            </a:pPr>
            <a:r>
              <a:rPr kumimoji="1" lang="ja-JP" altLang="en-US" dirty="0"/>
              <a:t>フリンの分類と </a:t>
            </a:r>
            <a:r>
              <a:rPr kumimoji="1" lang="en-US" altLang="ja-JP" dirty="0"/>
              <a:t>SIMD</a:t>
            </a:r>
          </a:p>
          <a:p>
            <a:pPr marL="457200" indent="-457200">
              <a:buFont typeface="+mj-lt"/>
              <a:buAutoNum type="arabicPeriod"/>
            </a:pPr>
            <a:r>
              <a:rPr kumimoji="1" lang="en-US" altLang="ja-JP" dirty="0"/>
              <a:t>GPU </a:t>
            </a:r>
            <a:r>
              <a:rPr kumimoji="1" lang="ja-JP" altLang="en-US" dirty="0"/>
              <a:t>における回路量当たりの性能向上</a:t>
            </a:r>
            <a:endParaRPr kumimoji="1" lang="en-US" altLang="ja-JP" dirty="0"/>
          </a:p>
          <a:p>
            <a:pPr marL="457200" indent="-457200">
              <a:buFont typeface="+mj-lt"/>
              <a:buAutoNum type="arabicPeriod"/>
            </a:pPr>
            <a:r>
              <a:rPr kumimoji="1" lang="en-US" altLang="ja-JP" dirty="0">
                <a:solidFill>
                  <a:schemeClr val="accent5"/>
                </a:solidFill>
              </a:rPr>
              <a:t>SIMD </a:t>
            </a:r>
            <a:r>
              <a:rPr kumimoji="1" lang="ja-JP" altLang="en-US" dirty="0">
                <a:solidFill>
                  <a:schemeClr val="accent5"/>
                </a:solidFill>
              </a:rPr>
              <a:t>プロセッサのプログラミング・モデル</a:t>
            </a:r>
          </a:p>
        </p:txBody>
      </p:sp>
    </p:spTree>
    <p:extLst>
      <p:ext uri="{BB962C8B-B14F-4D97-AF65-F5344CB8AC3E}">
        <p14:creationId xmlns:p14="http://schemas.microsoft.com/office/powerpoint/2010/main" val="9610034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69F12A-42FF-A23E-65C7-074045AB9772}"/>
              </a:ext>
            </a:extLst>
          </p:cNvPr>
          <p:cNvSpPr>
            <a:spLocks noGrp="1"/>
          </p:cNvSpPr>
          <p:nvPr>
            <p:ph type="title"/>
          </p:nvPr>
        </p:nvSpPr>
        <p:spPr/>
        <p:txBody>
          <a:bodyPr/>
          <a:lstStyle/>
          <a:p>
            <a:r>
              <a:rPr kumimoji="1" lang="ja-JP" altLang="en-US" dirty="0"/>
              <a:t>プログラミング・モデル</a:t>
            </a:r>
          </a:p>
        </p:txBody>
      </p:sp>
      <p:sp>
        <p:nvSpPr>
          <p:cNvPr id="3" name="テキスト プレースホルダー 2">
            <a:extLst>
              <a:ext uri="{FF2B5EF4-FFF2-40B4-BE49-F238E27FC236}">
                <a16:creationId xmlns:a16="http://schemas.microsoft.com/office/drawing/2014/main" id="{85A6C7D5-A507-25ED-86B8-343E806A25B5}"/>
              </a:ext>
            </a:extLst>
          </p:cNvPr>
          <p:cNvSpPr>
            <a:spLocks noGrp="1"/>
          </p:cNvSpPr>
          <p:nvPr>
            <p:ph type="body" sz="quarter" idx="10"/>
          </p:nvPr>
        </p:nvSpPr>
        <p:spPr>
          <a:xfrm>
            <a:off x="875943" y="1088974"/>
            <a:ext cx="10530116" cy="5490061"/>
          </a:xfrm>
        </p:spPr>
        <p:txBody>
          <a:bodyPr/>
          <a:lstStyle/>
          <a:p>
            <a:r>
              <a:rPr lang="ja-JP" altLang="en-US" b="0" i="0" dirty="0">
                <a:effectLst/>
                <a:latin typeface="+mn-ea"/>
                <a:ea typeface="+mn-ea"/>
              </a:rPr>
              <a:t>ここまでは </a:t>
            </a:r>
            <a:r>
              <a:rPr lang="en-US" altLang="ja-JP" b="0" i="0" dirty="0">
                <a:effectLst/>
                <a:latin typeface="+mn-ea"/>
                <a:ea typeface="+mn-ea"/>
              </a:rPr>
              <a:t>SIMD </a:t>
            </a:r>
            <a:r>
              <a:rPr lang="ja-JP" altLang="en-US" b="0" i="0" dirty="0">
                <a:effectLst/>
                <a:latin typeface="+mn-ea"/>
                <a:ea typeface="+mn-ea"/>
              </a:rPr>
              <a:t>のハードウェアについて説明</a:t>
            </a:r>
            <a:endParaRPr lang="en-US" altLang="ja-JP" b="0" i="0" dirty="0">
              <a:effectLst/>
              <a:latin typeface="+mn-ea"/>
              <a:ea typeface="+mn-ea"/>
            </a:endParaRPr>
          </a:p>
          <a:p>
            <a:pPr lvl="1"/>
            <a:r>
              <a:rPr lang="ja-JP" altLang="en-US" b="0" i="0" dirty="0">
                <a:effectLst/>
                <a:latin typeface="+mn-ea"/>
                <a:ea typeface="+mn-ea"/>
              </a:rPr>
              <a:t>ここからはその上でどのようなプログラムを走らせるのかを説明</a:t>
            </a:r>
            <a:endParaRPr lang="en-US" altLang="ja-JP" b="0" i="0" dirty="0">
              <a:effectLst/>
              <a:latin typeface="+mn-ea"/>
              <a:ea typeface="+mn-ea"/>
            </a:endParaRPr>
          </a:p>
          <a:p>
            <a:r>
              <a:rPr lang="ja-JP" altLang="en-US" b="0" i="0" dirty="0">
                <a:effectLst/>
                <a:latin typeface="Courier New" panose="02070309020205020404" pitchFamily="49" charset="0"/>
              </a:rPr>
              <a:t>プログラミング・モデル</a:t>
            </a:r>
            <a:endParaRPr lang="en-US" altLang="ja-JP" b="0" i="0" dirty="0">
              <a:effectLst/>
              <a:latin typeface="Courier New" panose="02070309020205020404" pitchFamily="49" charset="0"/>
            </a:endParaRPr>
          </a:p>
          <a:p>
            <a:pPr lvl="1"/>
            <a:r>
              <a:rPr lang="ja-JP" altLang="en-US" b="0" i="0" dirty="0">
                <a:effectLst/>
                <a:latin typeface="Courier New" panose="02070309020205020404" pitchFamily="49" charset="0"/>
              </a:rPr>
              <a:t>どのような命令によりプログラムを記述するかを規定</a:t>
            </a:r>
          </a:p>
          <a:p>
            <a:pPr lvl="1"/>
            <a:r>
              <a:rPr lang="ja-JP" altLang="en-US" b="0" i="0" dirty="0">
                <a:effectLst/>
                <a:latin typeface="Courier New" panose="02070309020205020404" pitchFamily="49" charset="0"/>
              </a:rPr>
              <a:t>これまでに説明したハードウェアの構成方式とはある程度独立した</a:t>
            </a:r>
            <a:r>
              <a:rPr lang="ja-JP" altLang="en-US" b="0" i="0" dirty="0">
                <a:effectLst/>
                <a:latin typeface="+mn-ea"/>
                <a:ea typeface="+mn-ea"/>
              </a:rPr>
              <a:t>概念</a:t>
            </a:r>
            <a:endParaRPr lang="en-US" altLang="ja-JP" b="0" i="0" dirty="0">
              <a:effectLst/>
              <a:latin typeface="+mn-ea"/>
              <a:ea typeface="+mn-ea"/>
            </a:endParaRPr>
          </a:p>
          <a:p>
            <a:r>
              <a:rPr lang="ja-JP" altLang="en-US" dirty="0">
                <a:latin typeface="+mn-ea"/>
                <a:ea typeface="+mn-ea"/>
              </a:rPr>
              <a:t>カレー屋さんでいうと</a:t>
            </a:r>
            <a:r>
              <a:rPr lang="en-US" altLang="ja-JP" dirty="0">
                <a:latin typeface="+mn-ea"/>
                <a:ea typeface="+mn-ea"/>
              </a:rPr>
              <a:t>…</a:t>
            </a:r>
          </a:p>
          <a:p>
            <a:pPr lvl="1"/>
            <a:r>
              <a:rPr lang="ja-JP" altLang="en-US" dirty="0">
                <a:latin typeface="+mn-ea"/>
                <a:ea typeface="+mn-ea"/>
              </a:rPr>
              <a:t>ハードウェア</a:t>
            </a:r>
            <a:r>
              <a:rPr lang="en-US" altLang="ja-JP" dirty="0">
                <a:latin typeface="+mn-ea"/>
                <a:ea typeface="+mn-ea"/>
              </a:rPr>
              <a:t>		</a:t>
            </a:r>
            <a:r>
              <a:rPr lang="ja-JP" altLang="en-US" dirty="0">
                <a:latin typeface="+mn-ea"/>
                <a:ea typeface="+mn-ea"/>
              </a:rPr>
              <a:t>＝ お店の人員と器具をどう配置して使うか</a:t>
            </a:r>
            <a:endParaRPr lang="en-US" altLang="ja-JP" dirty="0">
              <a:latin typeface="+mn-ea"/>
              <a:ea typeface="+mn-ea"/>
            </a:endParaRPr>
          </a:p>
          <a:p>
            <a:pPr lvl="1"/>
            <a:r>
              <a:rPr lang="ja-JP" altLang="en-US" b="0" i="0" dirty="0">
                <a:effectLst/>
                <a:latin typeface="+mn-ea"/>
                <a:ea typeface="+mn-ea"/>
              </a:rPr>
              <a:t>プログラミング・モデル</a:t>
            </a:r>
            <a:r>
              <a:rPr lang="en-US" altLang="ja-JP" b="0" i="0" dirty="0">
                <a:effectLst/>
                <a:latin typeface="+mn-ea"/>
                <a:ea typeface="+mn-ea"/>
              </a:rPr>
              <a:t>	</a:t>
            </a:r>
            <a:r>
              <a:rPr lang="ja-JP" altLang="en-US" b="0" i="0" dirty="0">
                <a:effectLst/>
                <a:latin typeface="+mn-ea"/>
                <a:ea typeface="+mn-ea"/>
              </a:rPr>
              <a:t>＝ （器具や配置を考慮した）レシピをどう表現するか</a:t>
            </a:r>
            <a:endParaRPr lang="en-US" altLang="ja-JP" b="0" i="0" dirty="0">
              <a:effectLst/>
              <a:latin typeface="+mn-ea"/>
              <a:ea typeface="+mn-ea"/>
            </a:endParaRPr>
          </a:p>
        </p:txBody>
      </p:sp>
    </p:spTree>
    <p:extLst>
      <p:ext uri="{BB962C8B-B14F-4D97-AF65-F5344CB8AC3E}">
        <p14:creationId xmlns:p14="http://schemas.microsoft.com/office/powerpoint/2010/main" val="10392132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6D5727-E773-1EBD-5012-76A615F53A22}"/>
              </a:ext>
            </a:extLst>
          </p:cNvPr>
          <p:cNvSpPr>
            <a:spLocks noGrp="1"/>
          </p:cNvSpPr>
          <p:nvPr>
            <p:ph type="title"/>
          </p:nvPr>
        </p:nvSpPr>
        <p:spPr/>
        <p:txBody>
          <a:bodyPr/>
          <a:lstStyle/>
          <a:p>
            <a:r>
              <a:rPr lang="ja-JP" altLang="en-US" sz="2400" dirty="0"/>
              <a:t>ハードウェア方式とプログラミング・モデル</a:t>
            </a:r>
          </a:p>
        </p:txBody>
      </p:sp>
      <p:sp>
        <p:nvSpPr>
          <p:cNvPr id="3" name="テキスト プレースホルダー 2">
            <a:extLst>
              <a:ext uri="{FF2B5EF4-FFF2-40B4-BE49-F238E27FC236}">
                <a16:creationId xmlns:a16="http://schemas.microsoft.com/office/drawing/2014/main" id="{29508FC9-076D-16AF-7AFC-74EBF801E791}"/>
              </a:ext>
            </a:extLst>
          </p:cNvPr>
          <p:cNvSpPr>
            <a:spLocks noGrp="1"/>
          </p:cNvSpPr>
          <p:nvPr>
            <p:ph type="body" sz="quarter" idx="10"/>
          </p:nvPr>
        </p:nvSpPr>
        <p:spPr>
          <a:xfrm>
            <a:off x="1955954" y="1448979"/>
            <a:ext cx="9000100" cy="3150035"/>
          </a:xfrm>
        </p:spPr>
        <p:txBody>
          <a:bodyPr/>
          <a:lstStyle/>
          <a:p>
            <a:r>
              <a:rPr lang="ja-JP" altLang="en-US" sz="1800" dirty="0"/>
              <a:t>異なるハードウェア方式とプログラミング・モデルの組み合わせ</a:t>
            </a:r>
          </a:p>
          <a:p>
            <a:pPr lvl="1"/>
            <a:r>
              <a:rPr lang="en-US" altLang="ja-JP" sz="1800" dirty="0"/>
              <a:t> NVIDIA </a:t>
            </a:r>
            <a:r>
              <a:rPr lang="ja-JP" altLang="en-US" sz="1800" dirty="0"/>
              <a:t>の </a:t>
            </a:r>
            <a:r>
              <a:rPr lang="en-US" altLang="ja-JP" sz="1800" dirty="0"/>
              <a:t>GPU </a:t>
            </a:r>
          </a:p>
          <a:p>
            <a:pPr lvl="2"/>
            <a:r>
              <a:rPr lang="ja-JP" altLang="en-US" sz="1800" dirty="0"/>
              <a:t>ハードウェア：　　　　　</a:t>
            </a:r>
            <a:r>
              <a:rPr lang="en-US" altLang="ja-JP" sz="1800" dirty="0">
                <a:solidFill>
                  <a:schemeClr val="accent5"/>
                </a:solidFill>
              </a:rPr>
              <a:t>SIMD</a:t>
            </a:r>
            <a:r>
              <a:rPr lang="ja-JP" altLang="en-US" sz="1800" dirty="0"/>
              <a:t>（を拡張した </a:t>
            </a:r>
            <a:r>
              <a:rPr lang="en-US" altLang="ja-JP" sz="1800" dirty="0">
                <a:solidFill>
                  <a:schemeClr val="accent5"/>
                </a:solidFill>
              </a:rPr>
              <a:t>SIMT</a:t>
            </a:r>
            <a:r>
              <a:rPr lang="ja-JP" altLang="en-US" sz="1800" dirty="0"/>
              <a:t>）</a:t>
            </a:r>
            <a:endParaRPr lang="en-US" altLang="ja-JP" sz="1800" dirty="0"/>
          </a:p>
          <a:p>
            <a:pPr lvl="2"/>
            <a:r>
              <a:rPr lang="ja-JP" altLang="en-US" sz="1800" dirty="0"/>
              <a:t>プログラミング・モデル：</a:t>
            </a:r>
            <a:r>
              <a:rPr lang="en-US" altLang="ja-JP" sz="1800" dirty="0"/>
              <a:t>Single Program Multiple Data (</a:t>
            </a:r>
            <a:r>
              <a:rPr lang="en-US" altLang="ja-JP" sz="1800" dirty="0">
                <a:solidFill>
                  <a:schemeClr val="accent5"/>
                </a:solidFill>
              </a:rPr>
              <a:t>SPMD</a:t>
            </a:r>
            <a:r>
              <a:rPr lang="en-US" altLang="ja-JP" sz="1800" dirty="0"/>
              <a:t>) </a:t>
            </a:r>
            <a:endParaRPr lang="ja-JP" altLang="en-US" sz="1800" dirty="0"/>
          </a:p>
          <a:p>
            <a:pPr lvl="1"/>
            <a:r>
              <a:rPr lang="en-US" altLang="ja-JP" sz="1800" dirty="0"/>
              <a:t>AMD </a:t>
            </a:r>
            <a:r>
              <a:rPr lang="ja-JP" altLang="en-US" sz="1800" dirty="0"/>
              <a:t>や </a:t>
            </a:r>
            <a:r>
              <a:rPr lang="en-US" altLang="ja-JP" sz="1800" dirty="0"/>
              <a:t>Intel </a:t>
            </a:r>
            <a:r>
              <a:rPr lang="ja-JP" altLang="en-US" sz="1800" dirty="0"/>
              <a:t>の </a:t>
            </a:r>
            <a:r>
              <a:rPr lang="en-US" altLang="ja-JP" sz="1800" dirty="0"/>
              <a:t>GPU </a:t>
            </a:r>
          </a:p>
          <a:p>
            <a:pPr lvl="2"/>
            <a:r>
              <a:rPr lang="ja-JP" altLang="en-US" sz="1800" dirty="0"/>
              <a:t>ハードウェア：　　　　　</a:t>
            </a:r>
            <a:r>
              <a:rPr lang="en-US" altLang="ja-JP" sz="1800" dirty="0"/>
              <a:t>SIMD </a:t>
            </a:r>
          </a:p>
          <a:p>
            <a:pPr lvl="2"/>
            <a:r>
              <a:rPr lang="ja-JP" altLang="en-US" sz="1800" dirty="0"/>
              <a:t>プログラミング・モデル：「</a:t>
            </a:r>
            <a:r>
              <a:rPr lang="en-US" altLang="ja-JP" sz="1800" dirty="0"/>
              <a:t>SIMD</a:t>
            </a:r>
            <a:r>
              <a:rPr lang="ja-JP" altLang="en-US" sz="1800" dirty="0"/>
              <a:t>命令」と呼ぶ形式の命令 </a:t>
            </a:r>
            <a:r>
              <a:rPr lang="en-US" altLang="ja-JP" sz="1800" dirty="0"/>
              <a:t>+ SPMD</a:t>
            </a:r>
          </a:p>
          <a:p>
            <a:pPr lvl="1"/>
            <a:endParaRPr lang="en-US" altLang="ja-JP" sz="1800" dirty="0"/>
          </a:p>
          <a:p>
            <a:pPr lvl="2"/>
            <a:r>
              <a:rPr lang="ja-JP" altLang="en-US" sz="1800" dirty="0"/>
              <a:t>（</a:t>
            </a:r>
            <a:r>
              <a:rPr lang="en-US" altLang="ja-JP" sz="1800" dirty="0"/>
              <a:t>AMD/Intel </a:t>
            </a:r>
            <a:r>
              <a:rPr lang="ja-JP" altLang="en-US" sz="1800" dirty="0"/>
              <a:t>でも </a:t>
            </a:r>
            <a:r>
              <a:rPr lang="en-US" altLang="ja-JP" sz="1800" dirty="0"/>
              <a:t>SPMD </a:t>
            </a:r>
            <a:r>
              <a:rPr lang="ja-JP" altLang="en-US" sz="1800" dirty="0"/>
              <a:t>モデルにより書かれたプログラムをコンパイラによって </a:t>
            </a:r>
            <a:r>
              <a:rPr lang="en-US" altLang="ja-JP" sz="1800" dirty="0"/>
              <a:t>SIMD </a:t>
            </a:r>
            <a:r>
              <a:rPr lang="ja-JP" altLang="en-US" sz="1800" dirty="0"/>
              <a:t>命令に変換して実行することが行われる</a:t>
            </a:r>
          </a:p>
        </p:txBody>
      </p:sp>
      <p:graphicFrame>
        <p:nvGraphicFramePr>
          <p:cNvPr id="4" name="表 4">
            <a:extLst>
              <a:ext uri="{FF2B5EF4-FFF2-40B4-BE49-F238E27FC236}">
                <a16:creationId xmlns:a16="http://schemas.microsoft.com/office/drawing/2014/main" id="{1395128E-22B7-9506-ACB8-26932F7BAF82}"/>
              </a:ext>
            </a:extLst>
          </p:cNvPr>
          <p:cNvGraphicFramePr>
            <a:graphicFrameLocks noGrp="1"/>
          </p:cNvGraphicFramePr>
          <p:nvPr/>
        </p:nvGraphicFramePr>
        <p:xfrm>
          <a:off x="3305969" y="5049018"/>
          <a:ext cx="5400060" cy="1440016"/>
        </p:xfrm>
        <a:graphic>
          <a:graphicData uri="http://schemas.openxmlformats.org/drawingml/2006/table">
            <a:tbl>
              <a:tblPr firstRow="1" bandRow="1">
                <a:tableStyleId>{FABFCF23-3B69-468F-B69F-88F6DE6A72F2}</a:tableStyleId>
              </a:tblPr>
              <a:tblGrid>
                <a:gridCol w="2000022">
                  <a:extLst>
                    <a:ext uri="{9D8B030D-6E8A-4147-A177-3AD203B41FA5}">
                      <a16:colId xmlns:a16="http://schemas.microsoft.com/office/drawing/2014/main" val="2474819552"/>
                    </a:ext>
                  </a:extLst>
                </a:gridCol>
                <a:gridCol w="1600018">
                  <a:extLst>
                    <a:ext uri="{9D8B030D-6E8A-4147-A177-3AD203B41FA5}">
                      <a16:colId xmlns:a16="http://schemas.microsoft.com/office/drawing/2014/main" val="589697386"/>
                    </a:ext>
                  </a:extLst>
                </a:gridCol>
                <a:gridCol w="1800020">
                  <a:extLst>
                    <a:ext uri="{9D8B030D-6E8A-4147-A177-3AD203B41FA5}">
                      <a16:colId xmlns:a16="http://schemas.microsoft.com/office/drawing/2014/main" val="632973427"/>
                    </a:ext>
                  </a:extLst>
                </a:gridCol>
              </a:tblGrid>
              <a:tr h="370840">
                <a:tc>
                  <a:txBody>
                    <a:bodyPr/>
                    <a:lstStyle/>
                    <a:p>
                      <a:endParaRPr kumimoji="1" lang="ja-JP" altLang="en-US" dirty="0"/>
                    </a:p>
                  </a:txBody>
                  <a:tcPr/>
                </a:tc>
                <a:tc>
                  <a:txBody>
                    <a:bodyPr/>
                    <a:lstStyle/>
                    <a:p>
                      <a:r>
                        <a:rPr kumimoji="1" lang="ja-JP" altLang="en-US" sz="1050" dirty="0"/>
                        <a:t>ハードウェアの方式</a:t>
                      </a:r>
                    </a:p>
                  </a:txBody>
                  <a:tcPr anchor="ctr"/>
                </a:tc>
                <a:tc>
                  <a:txBody>
                    <a:bodyPr/>
                    <a:lstStyle/>
                    <a:p>
                      <a:r>
                        <a:rPr kumimoji="1" lang="ja-JP" altLang="en-US" sz="1050" dirty="0"/>
                        <a:t>プログラミング・モデル</a:t>
                      </a:r>
                    </a:p>
                  </a:txBody>
                  <a:tcPr anchor="ctr"/>
                </a:tc>
                <a:extLst>
                  <a:ext uri="{0D108BD9-81ED-4DB2-BD59-A6C34878D82A}">
                    <a16:rowId xmlns:a16="http://schemas.microsoft.com/office/drawing/2014/main" val="1478207885"/>
                  </a:ext>
                </a:extLst>
              </a:tr>
              <a:tr h="349168">
                <a:tc>
                  <a:txBody>
                    <a:bodyPr/>
                    <a:lstStyle/>
                    <a:p>
                      <a:r>
                        <a:rPr kumimoji="1" lang="en-US" altLang="ja-JP" sz="1400" dirty="0"/>
                        <a:t>NVIDIA (Volta)</a:t>
                      </a:r>
                      <a:endParaRPr kumimoji="1" lang="ja-JP" altLang="en-US" sz="1400" dirty="0"/>
                    </a:p>
                  </a:txBody>
                  <a:tcPr/>
                </a:tc>
                <a:tc>
                  <a:txBody>
                    <a:bodyPr/>
                    <a:lstStyle/>
                    <a:p>
                      <a:r>
                        <a:rPr kumimoji="1" lang="en-US" altLang="ja-JP" sz="1400" dirty="0"/>
                        <a:t>SIMT</a:t>
                      </a:r>
                      <a:endParaRPr kumimoji="1" lang="ja-JP" altLang="en-US" sz="1400" dirty="0"/>
                    </a:p>
                  </a:txBody>
                  <a:tcPr/>
                </a:tc>
                <a:tc>
                  <a:txBody>
                    <a:bodyPr/>
                    <a:lstStyle/>
                    <a:p>
                      <a:r>
                        <a:rPr kumimoji="1" lang="en-US" altLang="ja-JP" sz="1400" dirty="0"/>
                        <a:t>SPMD</a:t>
                      </a:r>
                      <a:endParaRPr kumimoji="1" lang="ja-JP" altLang="en-US" sz="1400" dirty="0"/>
                    </a:p>
                  </a:txBody>
                  <a:tcPr/>
                </a:tc>
                <a:extLst>
                  <a:ext uri="{0D108BD9-81ED-4DB2-BD59-A6C34878D82A}">
                    <a16:rowId xmlns:a16="http://schemas.microsoft.com/office/drawing/2014/main" val="1233978724"/>
                  </a:ext>
                </a:extLst>
              </a:tr>
              <a:tr h="349168">
                <a:tc>
                  <a:txBody>
                    <a:bodyPr/>
                    <a:lstStyle/>
                    <a:p>
                      <a:r>
                        <a:rPr kumimoji="1" lang="en-US" altLang="ja-JP" sz="1400" dirty="0"/>
                        <a:t>AMD (GCN,RDNA)</a:t>
                      </a:r>
                      <a:endParaRPr kumimoji="1" lang="ja-JP" altLang="en-US" sz="1400" dirty="0"/>
                    </a:p>
                  </a:txBody>
                  <a:tcPr/>
                </a:tc>
                <a:tc>
                  <a:txBody>
                    <a:bodyPr/>
                    <a:lstStyle/>
                    <a:p>
                      <a:r>
                        <a:rPr kumimoji="1" lang="en-US" altLang="ja-JP" sz="1400" dirty="0"/>
                        <a:t>SIMD</a:t>
                      </a:r>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SPMD/SIMD </a:t>
                      </a:r>
                      <a:r>
                        <a:rPr kumimoji="1" lang="ja-JP" altLang="en-US" sz="1400" dirty="0"/>
                        <a:t>命令</a:t>
                      </a:r>
                    </a:p>
                  </a:txBody>
                  <a:tcPr/>
                </a:tc>
                <a:extLst>
                  <a:ext uri="{0D108BD9-81ED-4DB2-BD59-A6C34878D82A}">
                    <a16:rowId xmlns:a16="http://schemas.microsoft.com/office/drawing/2014/main" val="2142266725"/>
                  </a:ext>
                </a:extLst>
              </a:tr>
              <a:tr h="370840">
                <a:tc>
                  <a:txBody>
                    <a:bodyPr/>
                    <a:lstStyle/>
                    <a:p>
                      <a:r>
                        <a:rPr kumimoji="1" lang="en-US" altLang="ja-JP" sz="1400" dirty="0"/>
                        <a:t>Intel (GEN)</a:t>
                      </a:r>
                      <a:endParaRPr kumimoji="1" lang="ja-JP" altLang="en-US" sz="1400" dirty="0"/>
                    </a:p>
                  </a:txBody>
                  <a:tcPr/>
                </a:tc>
                <a:tc>
                  <a:txBody>
                    <a:bodyPr/>
                    <a:lstStyle/>
                    <a:p>
                      <a:r>
                        <a:rPr kumimoji="1" lang="en-US" altLang="ja-JP" sz="1400" dirty="0"/>
                        <a:t>SIMD</a:t>
                      </a:r>
                      <a:endParaRPr kumimoji="1" lang="ja-JP" altLang="en-US" sz="1400" dirty="0"/>
                    </a:p>
                  </a:txBody>
                  <a:tcPr/>
                </a:tc>
                <a:tc>
                  <a:txBody>
                    <a:bodyPr/>
                    <a:lstStyle/>
                    <a:p>
                      <a:r>
                        <a:rPr kumimoji="1" lang="en-US" altLang="ja-JP" sz="1400" dirty="0"/>
                        <a:t>SPMD/SIMD </a:t>
                      </a:r>
                      <a:r>
                        <a:rPr kumimoji="1" lang="ja-JP" altLang="en-US" sz="1400" dirty="0"/>
                        <a:t>命令</a:t>
                      </a:r>
                    </a:p>
                  </a:txBody>
                  <a:tcPr/>
                </a:tc>
                <a:extLst>
                  <a:ext uri="{0D108BD9-81ED-4DB2-BD59-A6C34878D82A}">
                    <a16:rowId xmlns:a16="http://schemas.microsoft.com/office/drawing/2014/main" val="520195174"/>
                  </a:ext>
                </a:extLst>
              </a:tr>
            </a:tbl>
          </a:graphicData>
        </a:graphic>
      </p:graphicFrame>
    </p:spTree>
    <p:extLst>
      <p:ext uri="{BB962C8B-B14F-4D97-AF65-F5344CB8AC3E}">
        <p14:creationId xmlns:p14="http://schemas.microsoft.com/office/powerpoint/2010/main" val="38571389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C904ED-418C-EC2C-5CCF-DF6A86462FB6}"/>
              </a:ext>
            </a:extLst>
          </p:cNvPr>
          <p:cNvSpPr>
            <a:spLocks noGrp="1"/>
          </p:cNvSpPr>
          <p:nvPr>
            <p:ph type="title"/>
          </p:nvPr>
        </p:nvSpPr>
        <p:spPr/>
        <p:txBody>
          <a:bodyPr/>
          <a:lstStyle/>
          <a:p>
            <a:r>
              <a:rPr kumimoji="1" lang="ja-JP" altLang="en-US" dirty="0"/>
              <a:t>もくじ</a:t>
            </a:r>
          </a:p>
        </p:txBody>
      </p:sp>
      <p:sp>
        <p:nvSpPr>
          <p:cNvPr id="3" name="テキスト プレースホルダー 2">
            <a:extLst>
              <a:ext uri="{FF2B5EF4-FFF2-40B4-BE49-F238E27FC236}">
                <a16:creationId xmlns:a16="http://schemas.microsoft.com/office/drawing/2014/main" id="{83598408-3C03-62D1-7C8E-4FB135EE352A}"/>
              </a:ext>
            </a:extLst>
          </p:cNvPr>
          <p:cNvSpPr>
            <a:spLocks noGrp="1"/>
          </p:cNvSpPr>
          <p:nvPr>
            <p:ph type="body" sz="quarter" idx="10"/>
          </p:nvPr>
        </p:nvSpPr>
        <p:spPr/>
        <p:txBody>
          <a:bodyPr/>
          <a:lstStyle/>
          <a:p>
            <a:pPr marL="457200" indent="-457200">
              <a:buFont typeface="+mj-lt"/>
              <a:buAutoNum type="arabicPeriod"/>
            </a:pPr>
            <a:r>
              <a:rPr lang="ja-JP" altLang="en-US" dirty="0"/>
              <a:t>フリンの分類と </a:t>
            </a:r>
            <a:r>
              <a:rPr lang="en-US" altLang="ja-JP" dirty="0"/>
              <a:t>SIMD</a:t>
            </a:r>
          </a:p>
          <a:p>
            <a:pPr marL="457200" indent="-457200">
              <a:buFont typeface="+mj-lt"/>
              <a:buAutoNum type="arabicPeriod"/>
            </a:pPr>
            <a:r>
              <a:rPr lang="en-US" altLang="ja-JP" dirty="0"/>
              <a:t>GPU </a:t>
            </a:r>
            <a:r>
              <a:rPr lang="ja-JP" altLang="en-US" dirty="0"/>
              <a:t>における回路量当たりの性能向上</a:t>
            </a:r>
            <a:endParaRPr lang="en-US" altLang="ja-JP" dirty="0"/>
          </a:p>
          <a:p>
            <a:pPr marL="457200" indent="-457200">
              <a:buFont typeface="+mj-lt"/>
              <a:buAutoNum type="arabicPeriod"/>
            </a:pPr>
            <a:r>
              <a:rPr lang="en-US" altLang="ja-JP" dirty="0"/>
              <a:t>SIMD </a:t>
            </a:r>
            <a:r>
              <a:rPr lang="ja-JP" altLang="en-US" dirty="0"/>
              <a:t>プロセッサのプログラミング・モデル</a:t>
            </a:r>
            <a:endParaRPr lang="en-US" altLang="ja-JP" dirty="0"/>
          </a:p>
          <a:p>
            <a:pPr marL="817200" lvl="1" indent="-457200">
              <a:buFont typeface="+mj-lt"/>
              <a:buAutoNum type="arabicPeriod"/>
            </a:pPr>
            <a:r>
              <a:rPr lang="en-US" altLang="ja-JP" dirty="0"/>
              <a:t>SIMD </a:t>
            </a:r>
            <a:r>
              <a:rPr lang="ja-JP" altLang="en-US" dirty="0"/>
              <a:t>命令方式</a:t>
            </a:r>
            <a:endParaRPr lang="en-US" altLang="ja-JP" dirty="0"/>
          </a:p>
          <a:p>
            <a:pPr marL="817200" lvl="1" indent="-457200">
              <a:buFont typeface="+mj-lt"/>
              <a:buAutoNum type="arabicPeriod"/>
            </a:pPr>
            <a:r>
              <a:rPr lang="en-US" altLang="ja-JP" dirty="0"/>
              <a:t>SPMD </a:t>
            </a:r>
            <a:r>
              <a:rPr lang="ja-JP" altLang="en-US" dirty="0"/>
              <a:t>方式</a:t>
            </a:r>
          </a:p>
          <a:p>
            <a:pPr marL="817200" lvl="1" indent="-457200">
              <a:buFont typeface="+mj-lt"/>
              <a:buAutoNum type="arabicPeriod"/>
            </a:pPr>
            <a:endParaRPr lang="ja-JP" altLang="en-US" dirty="0"/>
          </a:p>
        </p:txBody>
      </p:sp>
    </p:spTree>
    <p:extLst>
      <p:ext uri="{BB962C8B-B14F-4D97-AF65-F5344CB8AC3E}">
        <p14:creationId xmlns:p14="http://schemas.microsoft.com/office/powerpoint/2010/main" val="19767785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A94947-EED8-63E9-93C3-8684453AB1E6}"/>
              </a:ext>
            </a:extLst>
          </p:cNvPr>
          <p:cNvSpPr>
            <a:spLocks noGrp="1"/>
          </p:cNvSpPr>
          <p:nvPr>
            <p:ph type="title"/>
          </p:nvPr>
        </p:nvSpPr>
        <p:spPr/>
        <p:txBody>
          <a:bodyPr/>
          <a:lstStyle/>
          <a:p>
            <a:r>
              <a:rPr kumimoji="1" lang="ja-JP" altLang="en-US" dirty="0"/>
              <a:t>用語の定義</a:t>
            </a:r>
          </a:p>
        </p:txBody>
      </p:sp>
      <p:sp>
        <p:nvSpPr>
          <p:cNvPr id="3" name="テキスト プレースホルダー 2">
            <a:extLst>
              <a:ext uri="{FF2B5EF4-FFF2-40B4-BE49-F238E27FC236}">
                <a16:creationId xmlns:a16="http://schemas.microsoft.com/office/drawing/2014/main" id="{15E867FF-B702-6E0A-1E33-EEF37A6ED47C}"/>
              </a:ext>
            </a:extLst>
          </p:cNvPr>
          <p:cNvSpPr>
            <a:spLocks noGrp="1"/>
          </p:cNvSpPr>
          <p:nvPr>
            <p:ph type="body" sz="quarter" idx="10"/>
          </p:nvPr>
        </p:nvSpPr>
        <p:spPr>
          <a:xfrm>
            <a:off x="965943" y="1088974"/>
            <a:ext cx="6300070" cy="5490061"/>
          </a:xfrm>
        </p:spPr>
        <p:txBody>
          <a:bodyPr/>
          <a:lstStyle/>
          <a:p>
            <a:r>
              <a:rPr kumimoji="1" lang="en-US" altLang="ja-JP" dirty="0"/>
              <a:t>SIMD </a:t>
            </a:r>
            <a:r>
              <a:rPr kumimoji="1" lang="ja-JP" altLang="en-US" dirty="0"/>
              <a:t>プロセッサ：</a:t>
            </a:r>
            <a:endParaRPr kumimoji="1" lang="en-US" altLang="ja-JP" dirty="0"/>
          </a:p>
          <a:p>
            <a:pPr lvl="1"/>
            <a:r>
              <a:rPr kumimoji="1" lang="ja-JP" altLang="en-US" dirty="0"/>
              <a:t>１つの命令を解釈し，複数のデータに対して</a:t>
            </a:r>
            <a:br>
              <a:rPr kumimoji="1" lang="en-US" altLang="ja-JP" dirty="0"/>
            </a:br>
            <a:r>
              <a:rPr kumimoji="1" lang="ja-JP" altLang="en-US" dirty="0"/>
              <a:t>同じ演算を同時に行うハードウェア</a:t>
            </a:r>
            <a:endParaRPr kumimoji="1" lang="en-US" altLang="ja-JP" dirty="0"/>
          </a:p>
          <a:p>
            <a:r>
              <a:rPr kumimoji="1" lang="en-US" altLang="ja-JP" dirty="0">
                <a:solidFill>
                  <a:schemeClr val="accent5"/>
                </a:solidFill>
              </a:rPr>
              <a:t>SIMD </a:t>
            </a:r>
            <a:r>
              <a:rPr kumimoji="1" lang="ja-JP" altLang="en-US" dirty="0">
                <a:solidFill>
                  <a:schemeClr val="accent5"/>
                </a:solidFill>
              </a:rPr>
              <a:t>命令：</a:t>
            </a:r>
            <a:endParaRPr kumimoji="1" lang="en-US" altLang="ja-JP" dirty="0">
              <a:solidFill>
                <a:schemeClr val="accent5"/>
              </a:solidFill>
            </a:endParaRPr>
          </a:p>
          <a:p>
            <a:pPr lvl="1"/>
            <a:r>
              <a:rPr kumimoji="1" lang="en-US" altLang="ja-JP" dirty="0"/>
              <a:t>SIMD </a:t>
            </a:r>
            <a:r>
              <a:rPr kumimoji="1" lang="ja-JP" altLang="en-US" dirty="0"/>
              <a:t>プロセッサ上で複数のデータを対象に</a:t>
            </a:r>
            <a:br>
              <a:rPr kumimoji="1" lang="en-US" altLang="ja-JP" dirty="0"/>
            </a:br>
            <a:r>
              <a:rPr kumimoji="1" lang="ja-JP" altLang="en-US" dirty="0"/>
              <a:t>同時に演算を行う命令</a:t>
            </a:r>
            <a:endParaRPr kumimoji="1" lang="en-US" altLang="ja-JP" dirty="0"/>
          </a:p>
          <a:p>
            <a:r>
              <a:rPr kumimoji="1" lang="ja-JP" altLang="en-US" dirty="0"/>
              <a:t>まぎらわしい：</a:t>
            </a:r>
            <a:endParaRPr kumimoji="1" lang="en-US" altLang="ja-JP" dirty="0"/>
          </a:p>
          <a:p>
            <a:pPr lvl="1"/>
            <a:r>
              <a:rPr kumimoji="1" lang="ja-JP" altLang="en-US" dirty="0"/>
              <a:t>「</a:t>
            </a:r>
            <a:r>
              <a:rPr kumimoji="1" lang="en-US" altLang="ja-JP" dirty="0"/>
              <a:t>SIMD</a:t>
            </a:r>
            <a:r>
              <a:rPr kumimoji="1" lang="ja-JP" altLang="en-US" dirty="0"/>
              <a:t>（プロセッサ）」はハードウェアの</a:t>
            </a:r>
            <a:br>
              <a:rPr kumimoji="1" lang="en-US" altLang="ja-JP" dirty="0"/>
            </a:br>
            <a:r>
              <a:rPr kumimoji="1" lang="ja-JP" altLang="en-US" dirty="0"/>
              <a:t>構成方式だが，</a:t>
            </a:r>
            <a:endParaRPr kumimoji="1" lang="en-US" altLang="ja-JP" dirty="0"/>
          </a:p>
          <a:p>
            <a:pPr lvl="1"/>
            <a:r>
              <a:rPr kumimoji="1" lang="ja-JP" altLang="en-US" dirty="0"/>
              <a:t>「</a:t>
            </a:r>
            <a:r>
              <a:rPr kumimoji="1" lang="en-US" altLang="ja-JP" dirty="0"/>
              <a:t>SIMD </a:t>
            </a:r>
            <a:r>
              <a:rPr kumimoji="1" lang="ja-JP" altLang="en-US" dirty="0"/>
              <a:t>命令」は命令の表現方式を意味する</a:t>
            </a:r>
            <a:br>
              <a:rPr kumimoji="1" lang="en-US" altLang="ja-JP" dirty="0"/>
            </a:br>
            <a:r>
              <a:rPr kumimoji="1" lang="ja-JP" altLang="en-US" dirty="0"/>
              <a:t>ことに注意</a:t>
            </a:r>
          </a:p>
        </p:txBody>
      </p:sp>
      <p:sp>
        <p:nvSpPr>
          <p:cNvPr id="4" name="平行四辺形 3">
            <a:extLst>
              <a:ext uri="{FF2B5EF4-FFF2-40B4-BE49-F238E27FC236}">
                <a16:creationId xmlns:a16="http://schemas.microsoft.com/office/drawing/2014/main" id="{6ABF6229-1589-D0AC-6589-9F1C813B88F8}"/>
              </a:ext>
            </a:extLst>
          </p:cNvPr>
          <p:cNvSpPr/>
          <p:nvPr/>
        </p:nvSpPr>
        <p:spPr bwMode="auto">
          <a:xfrm>
            <a:off x="7986021" y="3519001"/>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 name="正方形/長方形 4">
            <a:extLst>
              <a:ext uri="{FF2B5EF4-FFF2-40B4-BE49-F238E27FC236}">
                <a16:creationId xmlns:a16="http://schemas.microsoft.com/office/drawing/2014/main" id="{9AEBF041-0E21-4404-B772-773227B37B6C}"/>
              </a:ext>
            </a:extLst>
          </p:cNvPr>
          <p:cNvSpPr/>
          <p:nvPr/>
        </p:nvSpPr>
        <p:spPr>
          <a:xfrm>
            <a:off x="8436026" y="2708992"/>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 name="平行四辺形 5">
            <a:extLst>
              <a:ext uri="{FF2B5EF4-FFF2-40B4-BE49-F238E27FC236}">
                <a16:creationId xmlns:a16="http://schemas.microsoft.com/office/drawing/2014/main" id="{F248F88E-89AA-5E39-F60F-44F732F84C12}"/>
              </a:ext>
            </a:extLst>
          </p:cNvPr>
          <p:cNvSpPr/>
          <p:nvPr/>
        </p:nvSpPr>
        <p:spPr bwMode="auto">
          <a:xfrm>
            <a:off x="9606039" y="2888994"/>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 name="正方形/長方形 6">
            <a:extLst>
              <a:ext uri="{FF2B5EF4-FFF2-40B4-BE49-F238E27FC236}">
                <a16:creationId xmlns:a16="http://schemas.microsoft.com/office/drawing/2014/main" id="{20A47835-7D31-770A-CE92-E1EF73C4E53B}"/>
              </a:ext>
            </a:extLst>
          </p:cNvPr>
          <p:cNvSpPr/>
          <p:nvPr/>
        </p:nvSpPr>
        <p:spPr>
          <a:xfrm>
            <a:off x="9966043" y="2078985"/>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8" name="角丸四角形吹き出し 44">
            <a:extLst>
              <a:ext uri="{FF2B5EF4-FFF2-40B4-BE49-F238E27FC236}">
                <a16:creationId xmlns:a16="http://schemas.microsoft.com/office/drawing/2014/main" id="{6C0B8F0D-C5F1-8842-6E12-783F7C733514}"/>
              </a:ext>
            </a:extLst>
          </p:cNvPr>
          <p:cNvSpPr/>
          <p:nvPr/>
        </p:nvSpPr>
        <p:spPr bwMode="auto">
          <a:xfrm>
            <a:off x="8886031" y="1898983"/>
            <a:ext cx="990011" cy="522648"/>
          </a:xfrm>
          <a:prstGeom prst="wedgeRoundRectCallout">
            <a:avLst>
              <a:gd name="adj1" fmla="val -32299"/>
              <a:gd name="adj2" fmla="val 154333"/>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炒め</a:t>
            </a:r>
            <a:r>
              <a:rPr lang="ja-JP" altLang="en-US" sz="1400" b="1" dirty="0">
                <a:solidFill>
                  <a:schemeClr val="accent5"/>
                </a:solidFill>
                <a:latin typeface="Arial Narrow" panose="020B0606020202030204" pitchFamily="34" charset="0"/>
              </a:rPr>
              <a:t>３つ</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たのむで！</a:t>
            </a:r>
          </a:p>
        </p:txBody>
      </p:sp>
      <p:sp>
        <p:nvSpPr>
          <p:cNvPr id="9" name="角丸四角形吹き出し 44">
            <a:extLst>
              <a:ext uri="{FF2B5EF4-FFF2-40B4-BE49-F238E27FC236}">
                <a16:creationId xmlns:a16="http://schemas.microsoft.com/office/drawing/2014/main" id="{A22E8B48-48C5-AF74-2A68-627F5DD20571}"/>
              </a:ext>
            </a:extLst>
          </p:cNvPr>
          <p:cNvSpPr/>
          <p:nvPr/>
        </p:nvSpPr>
        <p:spPr bwMode="auto">
          <a:xfrm>
            <a:off x="10686051" y="1898983"/>
            <a:ext cx="720008" cy="324054"/>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65000"/>
                    <a:lumOff val="35000"/>
                  </a:schemeClr>
                </a:solidFill>
                <a:latin typeface="Arial Narrow" panose="020B0606020202030204" pitchFamily="34" charset="0"/>
              </a:rPr>
              <a:t>はーい</a:t>
            </a:r>
          </a:p>
        </p:txBody>
      </p:sp>
      <p:sp>
        <p:nvSpPr>
          <p:cNvPr id="10" name="平行四辺形 9">
            <a:extLst>
              <a:ext uri="{FF2B5EF4-FFF2-40B4-BE49-F238E27FC236}">
                <a16:creationId xmlns:a16="http://schemas.microsoft.com/office/drawing/2014/main" id="{6C7EDF87-A338-BF8B-C4E9-64EFD1681255}"/>
              </a:ext>
            </a:extLst>
          </p:cNvPr>
          <p:cNvSpPr/>
          <p:nvPr/>
        </p:nvSpPr>
        <p:spPr bwMode="auto">
          <a:xfrm>
            <a:off x="9606039" y="3519001"/>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1" name="平行四辺形 10">
            <a:extLst>
              <a:ext uri="{FF2B5EF4-FFF2-40B4-BE49-F238E27FC236}">
                <a16:creationId xmlns:a16="http://schemas.microsoft.com/office/drawing/2014/main" id="{CD25E314-9E8B-CB57-BBAA-AA5B00497214}"/>
              </a:ext>
            </a:extLst>
          </p:cNvPr>
          <p:cNvSpPr/>
          <p:nvPr/>
        </p:nvSpPr>
        <p:spPr bwMode="auto">
          <a:xfrm>
            <a:off x="9516038" y="4157970"/>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cxnSp>
        <p:nvCxnSpPr>
          <p:cNvPr id="12" name="直線矢印コネクタ 11">
            <a:extLst>
              <a:ext uri="{FF2B5EF4-FFF2-40B4-BE49-F238E27FC236}">
                <a16:creationId xmlns:a16="http://schemas.microsoft.com/office/drawing/2014/main" id="{86F996AD-BC4F-BA7A-B5DA-CA824633276D}"/>
              </a:ext>
            </a:extLst>
          </p:cNvPr>
          <p:cNvCxnSpPr>
            <a:cxnSpLocks/>
          </p:cNvCxnSpPr>
          <p:nvPr/>
        </p:nvCxnSpPr>
        <p:spPr bwMode="auto">
          <a:xfrm flipV="1">
            <a:off x="9336036" y="3158997"/>
            <a:ext cx="540006" cy="450005"/>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3" name="直線矢印コネクタ 12">
            <a:extLst>
              <a:ext uri="{FF2B5EF4-FFF2-40B4-BE49-F238E27FC236}">
                <a16:creationId xmlns:a16="http://schemas.microsoft.com/office/drawing/2014/main" id="{09C4A708-1E23-8E02-4CCE-5A4AE06D504F}"/>
              </a:ext>
            </a:extLst>
          </p:cNvPr>
          <p:cNvCxnSpPr>
            <a:cxnSpLocks/>
          </p:cNvCxnSpPr>
          <p:nvPr/>
        </p:nvCxnSpPr>
        <p:spPr bwMode="auto">
          <a:xfrm>
            <a:off x="9336036" y="3789004"/>
            <a:ext cx="540006"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4" name="直線矢印コネクタ 13">
            <a:extLst>
              <a:ext uri="{FF2B5EF4-FFF2-40B4-BE49-F238E27FC236}">
                <a16:creationId xmlns:a16="http://schemas.microsoft.com/office/drawing/2014/main" id="{7CBFD4C0-4F32-6346-D85B-29E2691A67AE}"/>
              </a:ext>
            </a:extLst>
          </p:cNvPr>
          <p:cNvCxnSpPr>
            <a:cxnSpLocks/>
          </p:cNvCxnSpPr>
          <p:nvPr/>
        </p:nvCxnSpPr>
        <p:spPr bwMode="auto">
          <a:xfrm>
            <a:off x="9336036" y="3879005"/>
            <a:ext cx="540006" cy="540006"/>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15" name="四角形: 角を丸くする 14">
            <a:extLst>
              <a:ext uri="{FF2B5EF4-FFF2-40B4-BE49-F238E27FC236}">
                <a16:creationId xmlns:a16="http://schemas.microsoft.com/office/drawing/2014/main" id="{6B6D3BE4-405F-33B4-4909-4E7E27D6858E}"/>
              </a:ext>
            </a:extLst>
          </p:cNvPr>
          <p:cNvSpPr/>
          <p:nvPr/>
        </p:nvSpPr>
        <p:spPr bwMode="auto">
          <a:xfrm>
            <a:off x="7716018" y="1718981"/>
            <a:ext cx="3960044" cy="3330037"/>
          </a:xfrm>
          <a:prstGeom prst="roundRect">
            <a:avLst>
              <a:gd name="adj" fmla="val 9008"/>
            </a:avLst>
          </a:prstGeom>
          <a:noFill/>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6" name="正方形/長方形 15">
            <a:extLst>
              <a:ext uri="{FF2B5EF4-FFF2-40B4-BE49-F238E27FC236}">
                <a16:creationId xmlns:a16="http://schemas.microsoft.com/office/drawing/2014/main" id="{2878A98B-2BA4-26D3-F4DC-D6670E75ED7E}"/>
              </a:ext>
            </a:extLst>
          </p:cNvPr>
          <p:cNvSpPr/>
          <p:nvPr/>
        </p:nvSpPr>
        <p:spPr bwMode="auto">
          <a:xfrm>
            <a:off x="8616028" y="5139019"/>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b="1" dirty="0">
                <a:solidFill>
                  <a:schemeClr val="accent5"/>
                </a:solidFill>
                <a:latin typeface="+mn-ea"/>
              </a:rPr>
              <a:t>SIMD </a:t>
            </a:r>
            <a:r>
              <a:rPr lang="ja-JP" altLang="en-US" b="1" dirty="0">
                <a:solidFill>
                  <a:schemeClr val="accent5"/>
                </a:solidFill>
                <a:latin typeface="+mn-ea"/>
              </a:rPr>
              <a:t>プロセッサ</a:t>
            </a:r>
          </a:p>
        </p:txBody>
      </p:sp>
      <p:sp>
        <p:nvSpPr>
          <p:cNvPr id="17" name="正方形/長方形 16">
            <a:extLst>
              <a:ext uri="{FF2B5EF4-FFF2-40B4-BE49-F238E27FC236}">
                <a16:creationId xmlns:a16="http://schemas.microsoft.com/office/drawing/2014/main" id="{B7F781EF-EE36-1AC6-46BA-8A7BB55D8675}"/>
              </a:ext>
            </a:extLst>
          </p:cNvPr>
          <p:cNvSpPr/>
          <p:nvPr/>
        </p:nvSpPr>
        <p:spPr bwMode="auto">
          <a:xfrm>
            <a:off x="7716018" y="198898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b="1" dirty="0">
                <a:solidFill>
                  <a:schemeClr val="accent5"/>
                </a:solidFill>
                <a:latin typeface="+mn-ea"/>
              </a:rPr>
              <a:t>SIMD </a:t>
            </a:r>
            <a:r>
              <a:rPr lang="ja-JP" altLang="en-US" b="1" dirty="0">
                <a:solidFill>
                  <a:schemeClr val="accent5"/>
                </a:solidFill>
                <a:latin typeface="+mn-ea"/>
              </a:rPr>
              <a:t>命令</a:t>
            </a:r>
          </a:p>
        </p:txBody>
      </p:sp>
    </p:spTree>
    <p:extLst>
      <p:ext uri="{BB962C8B-B14F-4D97-AF65-F5344CB8AC3E}">
        <p14:creationId xmlns:p14="http://schemas.microsoft.com/office/powerpoint/2010/main" val="9966549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B1FD118D-4EE7-EDD3-3A52-2BAC930B14BF}"/>
              </a:ext>
            </a:extLst>
          </p:cNvPr>
          <p:cNvSpPr/>
          <p:nvPr/>
        </p:nvSpPr>
        <p:spPr bwMode="auto">
          <a:xfrm>
            <a:off x="6816008" y="4059007"/>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3</a:t>
            </a:r>
            <a:endParaRPr lang="ja-JP" altLang="en-US" sz="1200" dirty="0">
              <a:solidFill>
                <a:schemeClr val="tx1">
                  <a:lumMod val="75000"/>
                  <a:lumOff val="25000"/>
                </a:schemeClr>
              </a:solidFill>
              <a:latin typeface="+mn-ea"/>
            </a:endParaRPr>
          </a:p>
        </p:txBody>
      </p:sp>
      <p:sp>
        <p:nvSpPr>
          <p:cNvPr id="28" name="正方形/長方形 27">
            <a:extLst>
              <a:ext uri="{FF2B5EF4-FFF2-40B4-BE49-F238E27FC236}">
                <a16:creationId xmlns:a16="http://schemas.microsoft.com/office/drawing/2014/main" id="{6C52A55C-936B-6A5A-800B-733E8A917314}"/>
              </a:ext>
            </a:extLst>
          </p:cNvPr>
          <p:cNvSpPr/>
          <p:nvPr/>
        </p:nvSpPr>
        <p:spPr bwMode="auto">
          <a:xfrm>
            <a:off x="7536016" y="4059007"/>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2</a:t>
            </a:r>
            <a:endParaRPr lang="ja-JP" altLang="en-US" sz="1200" dirty="0">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C177AE27-DE5F-70E4-537F-280299615971}"/>
              </a:ext>
            </a:extLst>
          </p:cNvPr>
          <p:cNvSpPr/>
          <p:nvPr/>
        </p:nvSpPr>
        <p:spPr bwMode="auto">
          <a:xfrm>
            <a:off x="8256024" y="4059007"/>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1</a:t>
            </a:r>
            <a:endParaRPr lang="ja-JP" altLang="en-US" sz="1200" dirty="0">
              <a:solidFill>
                <a:schemeClr val="tx1">
                  <a:lumMod val="75000"/>
                  <a:lumOff val="25000"/>
                </a:schemeClr>
              </a:solidFill>
              <a:latin typeface="+mn-ea"/>
            </a:endParaRPr>
          </a:p>
        </p:txBody>
      </p:sp>
      <p:sp>
        <p:nvSpPr>
          <p:cNvPr id="30" name="正方形/長方形 29">
            <a:extLst>
              <a:ext uri="{FF2B5EF4-FFF2-40B4-BE49-F238E27FC236}">
                <a16:creationId xmlns:a16="http://schemas.microsoft.com/office/drawing/2014/main" id="{6BA309C6-1C72-8CCB-D0EF-A97A3CBA5D6A}"/>
              </a:ext>
            </a:extLst>
          </p:cNvPr>
          <p:cNvSpPr/>
          <p:nvPr/>
        </p:nvSpPr>
        <p:spPr bwMode="auto">
          <a:xfrm>
            <a:off x="8976032" y="4059007"/>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-1</a:t>
            </a:r>
            <a:endParaRPr lang="ja-JP" altLang="en-US" sz="1200"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D157E3D3-3860-D5B4-6C1D-F3F9DE6A1FBE}"/>
              </a:ext>
            </a:extLst>
          </p:cNvPr>
          <p:cNvSpPr>
            <a:spLocks noGrp="1"/>
          </p:cNvSpPr>
          <p:nvPr>
            <p:ph type="title"/>
          </p:nvPr>
        </p:nvSpPr>
        <p:spPr/>
        <p:txBody>
          <a:bodyPr/>
          <a:lstStyle/>
          <a:p>
            <a:r>
              <a:rPr kumimoji="1" lang="en-US" altLang="ja-JP" dirty="0"/>
              <a:t>SIMD </a:t>
            </a:r>
            <a:r>
              <a:rPr kumimoji="1" lang="ja-JP" altLang="en-US" dirty="0"/>
              <a:t>命令：複数のデータを対象に同時に演算を行う</a:t>
            </a:r>
          </a:p>
        </p:txBody>
      </p:sp>
      <p:sp>
        <p:nvSpPr>
          <p:cNvPr id="3" name="テキスト プレースホルダー 2">
            <a:extLst>
              <a:ext uri="{FF2B5EF4-FFF2-40B4-BE49-F238E27FC236}">
                <a16:creationId xmlns:a16="http://schemas.microsoft.com/office/drawing/2014/main" id="{7329CFA1-5412-59B7-8A9C-AE1D6ADBF46A}"/>
              </a:ext>
            </a:extLst>
          </p:cNvPr>
          <p:cNvSpPr>
            <a:spLocks noGrp="1"/>
          </p:cNvSpPr>
          <p:nvPr>
            <p:ph type="body" sz="quarter" idx="10"/>
          </p:nvPr>
        </p:nvSpPr>
        <p:spPr>
          <a:xfrm>
            <a:off x="2135956" y="1088975"/>
            <a:ext cx="4140046" cy="5310058"/>
          </a:xfrm>
        </p:spPr>
        <p:txBody>
          <a:bodyPr anchor="t"/>
          <a:lstStyle/>
          <a:p>
            <a:r>
              <a:rPr kumimoji="1" lang="ja-JP" altLang="en-US" dirty="0"/>
              <a:t>通常の命令（スカラ命令）</a:t>
            </a:r>
            <a:endParaRPr kumimoji="1" lang="en-US" altLang="ja-JP" dirty="0"/>
          </a:p>
          <a:p>
            <a:pPr lvl="1"/>
            <a:r>
              <a:rPr lang="en-US" altLang="ja-JP" dirty="0">
                <a:solidFill>
                  <a:schemeClr val="accent5"/>
                </a:solidFill>
              </a:rPr>
              <a:t>add x1</a:t>
            </a:r>
            <a:r>
              <a:rPr lang="ja-JP" altLang="en-US" dirty="0">
                <a:solidFill>
                  <a:schemeClr val="accent5"/>
                </a:solidFill>
              </a:rPr>
              <a:t>←</a:t>
            </a:r>
            <a:r>
              <a:rPr lang="en-US" altLang="ja-JP" dirty="0">
                <a:solidFill>
                  <a:schemeClr val="accent5"/>
                </a:solidFill>
              </a:rPr>
              <a:t>x2+x3</a:t>
            </a:r>
          </a:p>
          <a:p>
            <a:pPr lvl="1"/>
            <a:r>
              <a:rPr lang="ja-JP" altLang="en-US" dirty="0"/>
              <a:t>「人参を１つ切る」</a:t>
            </a:r>
            <a:endParaRPr lang="en-US" altLang="ja-JP" dirty="0"/>
          </a:p>
          <a:p>
            <a:pPr lvl="1"/>
            <a:endParaRPr lang="en-US" altLang="ja-JP" dirty="0"/>
          </a:p>
          <a:p>
            <a:r>
              <a:rPr kumimoji="1" lang="en-US" altLang="ja-JP" dirty="0"/>
              <a:t>SIMD </a:t>
            </a:r>
            <a:r>
              <a:rPr kumimoji="1" lang="ja-JP" altLang="en-US" dirty="0"/>
              <a:t>命令</a:t>
            </a:r>
            <a:endParaRPr kumimoji="1" lang="en-US" altLang="ja-JP" dirty="0"/>
          </a:p>
          <a:p>
            <a:pPr lvl="1"/>
            <a:r>
              <a:rPr lang="en-US" altLang="ja-JP" dirty="0">
                <a:solidFill>
                  <a:schemeClr val="accent5"/>
                </a:solidFill>
              </a:rPr>
              <a:t>add_x4 v1</a:t>
            </a:r>
            <a:r>
              <a:rPr lang="ja-JP" altLang="en-US" dirty="0">
                <a:solidFill>
                  <a:schemeClr val="accent5"/>
                </a:solidFill>
              </a:rPr>
              <a:t>←</a:t>
            </a:r>
            <a:r>
              <a:rPr lang="en-US" altLang="ja-JP" dirty="0">
                <a:solidFill>
                  <a:schemeClr val="accent5"/>
                </a:solidFill>
              </a:rPr>
              <a:t>v2+v3</a:t>
            </a:r>
          </a:p>
          <a:p>
            <a:pPr lvl="1"/>
            <a:r>
              <a:rPr kumimoji="1" lang="en-US" altLang="ja-JP" dirty="0"/>
              <a:t>v1~v3 </a:t>
            </a:r>
            <a:r>
              <a:rPr kumimoji="1" lang="ja-JP" altLang="en-US" dirty="0"/>
              <a:t>は１つのレジスタに</a:t>
            </a:r>
            <a:br>
              <a:rPr kumimoji="1" lang="en-US" altLang="ja-JP" dirty="0"/>
            </a:br>
            <a:r>
              <a:rPr kumimoji="1" lang="ja-JP" altLang="en-US" dirty="0"/>
              <a:t>４つの値が入ったレジスタ</a:t>
            </a:r>
            <a:endParaRPr kumimoji="1" lang="en-US" altLang="ja-JP" dirty="0"/>
          </a:p>
          <a:p>
            <a:pPr lvl="1"/>
            <a:r>
              <a:rPr kumimoji="1" lang="en-US" altLang="ja-JP" dirty="0"/>
              <a:t>SIMD </a:t>
            </a:r>
            <a:r>
              <a:rPr kumimoji="1" lang="ja-JP" altLang="en-US" dirty="0"/>
              <a:t>レジスタやベクトルレジスタと呼ばれる</a:t>
            </a:r>
            <a:endParaRPr kumimoji="1" lang="en-US" altLang="ja-JP" dirty="0"/>
          </a:p>
          <a:p>
            <a:pPr lvl="1"/>
            <a:r>
              <a:rPr lang="ja-JP" altLang="en-US" dirty="0"/>
              <a:t>「人参を４つ切る」</a:t>
            </a:r>
            <a:endParaRPr kumimoji="1" lang="ja-JP" altLang="en-US" dirty="0"/>
          </a:p>
        </p:txBody>
      </p:sp>
      <p:sp>
        <p:nvSpPr>
          <p:cNvPr id="4" name="正方形/長方形 3">
            <a:extLst>
              <a:ext uri="{FF2B5EF4-FFF2-40B4-BE49-F238E27FC236}">
                <a16:creationId xmlns:a16="http://schemas.microsoft.com/office/drawing/2014/main" id="{94EC5277-0B1D-22AD-15D6-AAA45E29C651}"/>
              </a:ext>
            </a:extLst>
          </p:cNvPr>
          <p:cNvSpPr/>
          <p:nvPr/>
        </p:nvSpPr>
        <p:spPr bwMode="auto">
          <a:xfrm>
            <a:off x="6816008" y="1628980"/>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3</a:t>
            </a:r>
            <a:endParaRPr lang="ja-JP" altLang="en-US" sz="1200"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64C15523-E7AB-7E9D-64FD-EF5935EC3F3A}"/>
              </a:ext>
            </a:extLst>
          </p:cNvPr>
          <p:cNvSpPr/>
          <p:nvPr/>
        </p:nvSpPr>
        <p:spPr bwMode="auto">
          <a:xfrm>
            <a:off x="6816008" y="3519001"/>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5</a:t>
            </a:r>
            <a:endParaRPr lang="ja-JP" altLang="en-US" sz="1200"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713E69E7-BF77-1319-9E8C-41F4ABC2C0FC}"/>
              </a:ext>
            </a:extLst>
          </p:cNvPr>
          <p:cNvSpPr/>
          <p:nvPr/>
        </p:nvSpPr>
        <p:spPr bwMode="auto">
          <a:xfrm>
            <a:off x="7536016" y="3519001"/>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1</a:t>
            </a:r>
            <a:endParaRPr lang="ja-JP" altLang="en-US" sz="1200"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0BEE12A6-6A81-3AA0-AFC3-FF5D648E35B7}"/>
              </a:ext>
            </a:extLst>
          </p:cNvPr>
          <p:cNvSpPr/>
          <p:nvPr/>
        </p:nvSpPr>
        <p:spPr bwMode="auto">
          <a:xfrm>
            <a:off x="8256024" y="3519001"/>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0</a:t>
            </a:r>
            <a:endParaRPr lang="ja-JP" altLang="en-US" sz="1200"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6CA68225-DFC9-4C73-8EBA-F6C1FE2DB988}"/>
              </a:ext>
            </a:extLst>
          </p:cNvPr>
          <p:cNvSpPr/>
          <p:nvPr/>
        </p:nvSpPr>
        <p:spPr bwMode="auto">
          <a:xfrm>
            <a:off x="6816008" y="1088974"/>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5</a:t>
            </a:r>
            <a:endParaRPr lang="ja-JP" altLang="en-US" sz="1200" dirty="0">
              <a:solidFill>
                <a:schemeClr val="tx1">
                  <a:lumMod val="75000"/>
                  <a:lumOff val="25000"/>
                </a:schemeClr>
              </a:solidFill>
              <a:latin typeface="+mn-ea"/>
            </a:endParaRPr>
          </a:p>
        </p:txBody>
      </p:sp>
      <p:sp>
        <p:nvSpPr>
          <p:cNvPr id="9" name="フリーフォーム 10">
            <a:extLst>
              <a:ext uri="{FF2B5EF4-FFF2-40B4-BE49-F238E27FC236}">
                <a16:creationId xmlns:a16="http://schemas.microsoft.com/office/drawing/2014/main" id="{3AF938B5-AC10-2972-1193-85B53789F7E4}"/>
              </a:ext>
            </a:extLst>
          </p:cNvPr>
          <p:cNvSpPr>
            <a:spLocks noChangeArrowheads="1"/>
          </p:cNvSpPr>
          <p:nvPr/>
        </p:nvSpPr>
        <p:spPr bwMode="auto">
          <a:xfrm flipH="1">
            <a:off x="6816008" y="216898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100" dirty="0">
                <a:solidFill>
                  <a:schemeClr val="tx1">
                    <a:lumMod val="75000"/>
                    <a:lumOff val="25000"/>
                  </a:schemeClr>
                </a:solidFill>
                <a:latin typeface="+mn-ea"/>
              </a:rPr>
              <a:t>Adder</a:t>
            </a:r>
            <a:endParaRPr lang="ja-JP" altLang="en-US" sz="1100" dirty="0">
              <a:solidFill>
                <a:schemeClr val="tx1">
                  <a:lumMod val="75000"/>
                  <a:lumOff val="25000"/>
                </a:schemeClr>
              </a:solidFill>
              <a:latin typeface="+mn-ea"/>
            </a:endParaRPr>
          </a:p>
        </p:txBody>
      </p:sp>
      <p:sp>
        <p:nvSpPr>
          <p:cNvPr id="10" name="正方形/長方形 9">
            <a:extLst>
              <a:ext uri="{FF2B5EF4-FFF2-40B4-BE49-F238E27FC236}">
                <a16:creationId xmlns:a16="http://schemas.microsoft.com/office/drawing/2014/main" id="{FEF77EB7-05F9-3887-64F4-E1F3C2989D92}"/>
              </a:ext>
            </a:extLst>
          </p:cNvPr>
          <p:cNvSpPr/>
          <p:nvPr/>
        </p:nvSpPr>
        <p:spPr bwMode="auto">
          <a:xfrm>
            <a:off x="6816008" y="2708992"/>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8</a:t>
            </a:r>
            <a:endParaRPr lang="ja-JP" altLang="en-US" sz="1200" dirty="0">
              <a:solidFill>
                <a:schemeClr val="tx1">
                  <a:lumMod val="75000"/>
                  <a:lumOff val="25000"/>
                </a:schemeClr>
              </a:solidFill>
              <a:latin typeface="+mn-ea"/>
            </a:endParaRPr>
          </a:p>
        </p:txBody>
      </p:sp>
      <p:cxnSp>
        <p:nvCxnSpPr>
          <p:cNvPr id="12" name="直線矢印コネクタ 11">
            <a:extLst>
              <a:ext uri="{FF2B5EF4-FFF2-40B4-BE49-F238E27FC236}">
                <a16:creationId xmlns:a16="http://schemas.microsoft.com/office/drawing/2014/main" id="{C2102F06-2085-83B7-5FCC-722E130C89F8}"/>
              </a:ext>
            </a:extLst>
          </p:cNvPr>
          <p:cNvCxnSpPr>
            <a:cxnSpLocks/>
          </p:cNvCxnSpPr>
          <p:nvPr/>
        </p:nvCxnSpPr>
        <p:spPr bwMode="auto">
          <a:xfrm>
            <a:off x="6996010" y="1448978"/>
            <a:ext cx="0"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13" name="直線矢印コネクタ 12">
            <a:extLst>
              <a:ext uri="{FF2B5EF4-FFF2-40B4-BE49-F238E27FC236}">
                <a16:creationId xmlns:a16="http://schemas.microsoft.com/office/drawing/2014/main" id="{B7621F2A-AB16-BB73-5113-5ECEA170384C}"/>
              </a:ext>
            </a:extLst>
          </p:cNvPr>
          <p:cNvCxnSpPr>
            <a:cxnSpLocks/>
          </p:cNvCxnSpPr>
          <p:nvPr/>
        </p:nvCxnSpPr>
        <p:spPr bwMode="auto">
          <a:xfrm>
            <a:off x="7356014" y="1988984"/>
            <a:ext cx="0" cy="180002"/>
          </a:xfrm>
          <a:prstGeom prst="straightConnector1">
            <a:avLst/>
          </a:prstGeom>
          <a:noFill/>
          <a:ln w="9525" cap="flat" cmpd="sng" algn="ctr">
            <a:solidFill>
              <a:schemeClr val="tx1"/>
            </a:solidFill>
            <a:prstDash val="solid"/>
            <a:round/>
            <a:headEnd type="none" w="med" len="med"/>
            <a:tailEnd type="triangle"/>
          </a:ln>
          <a:effectLst/>
        </p:spPr>
      </p:cxnSp>
      <p:cxnSp>
        <p:nvCxnSpPr>
          <p:cNvPr id="17" name="直線矢印コネクタ 16">
            <a:extLst>
              <a:ext uri="{FF2B5EF4-FFF2-40B4-BE49-F238E27FC236}">
                <a16:creationId xmlns:a16="http://schemas.microsoft.com/office/drawing/2014/main" id="{343A1067-8E1A-1BF4-457C-AF4BC421A19C}"/>
              </a:ext>
            </a:extLst>
          </p:cNvPr>
          <p:cNvCxnSpPr>
            <a:cxnSpLocks/>
          </p:cNvCxnSpPr>
          <p:nvPr/>
        </p:nvCxnSpPr>
        <p:spPr bwMode="auto">
          <a:xfrm>
            <a:off x="7176012" y="2528990"/>
            <a:ext cx="0" cy="180002"/>
          </a:xfrm>
          <a:prstGeom prst="straightConnector1">
            <a:avLst/>
          </a:prstGeom>
          <a:noFill/>
          <a:ln w="9525" cap="flat" cmpd="sng" algn="ctr">
            <a:solidFill>
              <a:schemeClr val="tx1"/>
            </a:solidFill>
            <a:prstDash val="solid"/>
            <a:round/>
            <a:headEnd type="none" w="med" len="med"/>
            <a:tailEnd type="triangle"/>
          </a:ln>
          <a:effectLst/>
        </p:spPr>
      </p:cxnSp>
      <p:sp>
        <p:nvSpPr>
          <p:cNvPr id="18" name="正方形/長方形 17">
            <a:extLst>
              <a:ext uri="{FF2B5EF4-FFF2-40B4-BE49-F238E27FC236}">
                <a16:creationId xmlns:a16="http://schemas.microsoft.com/office/drawing/2014/main" id="{94187A71-12EA-AFCE-D44D-39CF1DF3D2AE}"/>
              </a:ext>
            </a:extLst>
          </p:cNvPr>
          <p:cNvSpPr/>
          <p:nvPr/>
        </p:nvSpPr>
        <p:spPr bwMode="auto">
          <a:xfrm>
            <a:off x="6456004" y="1088974"/>
            <a:ext cx="360004" cy="360004"/>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x2</a:t>
            </a:r>
            <a:endParaRPr lang="ja-JP" altLang="en-US" sz="1200" dirty="0">
              <a:solidFill>
                <a:schemeClr val="tx1">
                  <a:lumMod val="75000"/>
                  <a:lumOff val="25000"/>
                </a:schemeClr>
              </a:solidFill>
              <a:latin typeface="+mn-ea"/>
            </a:endParaRPr>
          </a:p>
        </p:txBody>
      </p:sp>
      <p:sp>
        <p:nvSpPr>
          <p:cNvPr id="19" name="正方形/長方形 18">
            <a:extLst>
              <a:ext uri="{FF2B5EF4-FFF2-40B4-BE49-F238E27FC236}">
                <a16:creationId xmlns:a16="http://schemas.microsoft.com/office/drawing/2014/main" id="{6CBA4491-F028-B070-4E0B-E7D1AF47809A}"/>
              </a:ext>
            </a:extLst>
          </p:cNvPr>
          <p:cNvSpPr/>
          <p:nvPr/>
        </p:nvSpPr>
        <p:spPr bwMode="auto">
          <a:xfrm>
            <a:off x="6456004" y="1628980"/>
            <a:ext cx="360004" cy="360004"/>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x3</a:t>
            </a:r>
            <a:endParaRPr lang="ja-JP" altLang="en-US" sz="1200" dirty="0">
              <a:solidFill>
                <a:schemeClr val="tx1">
                  <a:lumMod val="75000"/>
                  <a:lumOff val="25000"/>
                </a:schemeClr>
              </a:solidFill>
              <a:latin typeface="+mn-ea"/>
            </a:endParaRPr>
          </a:p>
        </p:txBody>
      </p:sp>
      <p:sp>
        <p:nvSpPr>
          <p:cNvPr id="20" name="正方形/長方形 19">
            <a:extLst>
              <a:ext uri="{FF2B5EF4-FFF2-40B4-BE49-F238E27FC236}">
                <a16:creationId xmlns:a16="http://schemas.microsoft.com/office/drawing/2014/main" id="{A15D831C-227C-A4D2-6A6D-B442763F8778}"/>
              </a:ext>
            </a:extLst>
          </p:cNvPr>
          <p:cNvSpPr/>
          <p:nvPr/>
        </p:nvSpPr>
        <p:spPr bwMode="auto">
          <a:xfrm>
            <a:off x="6456004" y="2708992"/>
            <a:ext cx="360004" cy="360004"/>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x1</a:t>
            </a:r>
            <a:endParaRPr lang="ja-JP" altLang="en-US" sz="1200"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D4F67FD0-4732-F3E4-A709-F3AD9289D3E8}"/>
              </a:ext>
            </a:extLst>
          </p:cNvPr>
          <p:cNvSpPr/>
          <p:nvPr/>
        </p:nvSpPr>
        <p:spPr bwMode="auto">
          <a:xfrm>
            <a:off x="8976032" y="3519001"/>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7</a:t>
            </a:r>
            <a:endParaRPr lang="ja-JP" altLang="en-US" sz="1200" dirty="0">
              <a:solidFill>
                <a:schemeClr val="tx1">
                  <a:lumMod val="75000"/>
                  <a:lumOff val="25000"/>
                </a:schemeClr>
              </a:solidFill>
              <a:latin typeface="+mn-ea"/>
            </a:endParaRPr>
          </a:p>
        </p:txBody>
      </p:sp>
      <p:sp>
        <p:nvSpPr>
          <p:cNvPr id="22" name="フリーフォーム 10">
            <a:extLst>
              <a:ext uri="{FF2B5EF4-FFF2-40B4-BE49-F238E27FC236}">
                <a16:creationId xmlns:a16="http://schemas.microsoft.com/office/drawing/2014/main" id="{5F98CC11-A744-557B-8620-0A447F29A48B}"/>
              </a:ext>
            </a:extLst>
          </p:cNvPr>
          <p:cNvSpPr>
            <a:spLocks noChangeArrowheads="1"/>
          </p:cNvSpPr>
          <p:nvPr/>
        </p:nvSpPr>
        <p:spPr bwMode="auto">
          <a:xfrm flipH="1">
            <a:off x="6816008" y="4599013"/>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100" dirty="0">
                <a:solidFill>
                  <a:schemeClr val="tx1">
                    <a:lumMod val="75000"/>
                    <a:lumOff val="25000"/>
                  </a:schemeClr>
                </a:solidFill>
                <a:latin typeface="+mn-ea"/>
              </a:rPr>
              <a:t>Adder</a:t>
            </a:r>
            <a:endParaRPr lang="ja-JP" altLang="en-US" sz="1100" dirty="0">
              <a:solidFill>
                <a:schemeClr val="tx1">
                  <a:lumMod val="75000"/>
                  <a:lumOff val="25000"/>
                </a:schemeClr>
              </a:solidFill>
              <a:latin typeface="+mn-ea"/>
            </a:endParaRPr>
          </a:p>
        </p:txBody>
      </p:sp>
      <p:cxnSp>
        <p:nvCxnSpPr>
          <p:cNvPr id="23" name="直線矢印コネクタ 22">
            <a:extLst>
              <a:ext uri="{FF2B5EF4-FFF2-40B4-BE49-F238E27FC236}">
                <a16:creationId xmlns:a16="http://schemas.microsoft.com/office/drawing/2014/main" id="{80AD6A65-CEF8-48C1-FEFB-F3C5E40050C0}"/>
              </a:ext>
            </a:extLst>
          </p:cNvPr>
          <p:cNvCxnSpPr>
            <a:cxnSpLocks/>
          </p:cNvCxnSpPr>
          <p:nvPr/>
        </p:nvCxnSpPr>
        <p:spPr bwMode="auto">
          <a:xfrm>
            <a:off x="6996010" y="3879005"/>
            <a:ext cx="0"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24" name="直線矢印コネクタ 23">
            <a:extLst>
              <a:ext uri="{FF2B5EF4-FFF2-40B4-BE49-F238E27FC236}">
                <a16:creationId xmlns:a16="http://schemas.microsoft.com/office/drawing/2014/main" id="{45D11F89-5254-5E09-C25A-C6F0C270FD9A}"/>
              </a:ext>
            </a:extLst>
          </p:cNvPr>
          <p:cNvCxnSpPr>
            <a:cxnSpLocks/>
          </p:cNvCxnSpPr>
          <p:nvPr/>
        </p:nvCxnSpPr>
        <p:spPr bwMode="auto">
          <a:xfrm>
            <a:off x="7356014" y="4419011"/>
            <a:ext cx="0" cy="180002"/>
          </a:xfrm>
          <a:prstGeom prst="straightConnector1">
            <a:avLst/>
          </a:prstGeom>
          <a:noFill/>
          <a:ln w="9525" cap="flat" cmpd="sng" algn="ctr">
            <a:solidFill>
              <a:schemeClr val="tx1"/>
            </a:solidFill>
            <a:prstDash val="solid"/>
            <a:round/>
            <a:headEnd type="none" w="med" len="med"/>
            <a:tailEnd type="triangle"/>
          </a:ln>
          <a:effectLst/>
        </p:spPr>
      </p:cxnSp>
      <p:cxnSp>
        <p:nvCxnSpPr>
          <p:cNvPr id="25" name="直線矢印コネクタ 24">
            <a:extLst>
              <a:ext uri="{FF2B5EF4-FFF2-40B4-BE49-F238E27FC236}">
                <a16:creationId xmlns:a16="http://schemas.microsoft.com/office/drawing/2014/main" id="{9ED8B9F0-CAF2-DEE2-5F80-0E481D595C2C}"/>
              </a:ext>
            </a:extLst>
          </p:cNvPr>
          <p:cNvCxnSpPr>
            <a:cxnSpLocks/>
          </p:cNvCxnSpPr>
          <p:nvPr/>
        </p:nvCxnSpPr>
        <p:spPr bwMode="auto">
          <a:xfrm>
            <a:off x="7176012" y="4959017"/>
            <a:ext cx="0" cy="180002"/>
          </a:xfrm>
          <a:prstGeom prst="straightConnector1">
            <a:avLst/>
          </a:prstGeom>
          <a:noFill/>
          <a:ln w="9525" cap="flat" cmpd="sng" algn="ctr">
            <a:solidFill>
              <a:schemeClr val="tx1"/>
            </a:solidFill>
            <a:prstDash val="solid"/>
            <a:round/>
            <a:headEnd type="none" w="med" len="med"/>
            <a:tailEnd type="triangle"/>
          </a:ln>
          <a:effectLst/>
        </p:spPr>
      </p:cxnSp>
      <p:sp>
        <p:nvSpPr>
          <p:cNvPr id="26" name="正方形/長方形 25">
            <a:extLst>
              <a:ext uri="{FF2B5EF4-FFF2-40B4-BE49-F238E27FC236}">
                <a16:creationId xmlns:a16="http://schemas.microsoft.com/office/drawing/2014/main" id="{7EAD3CB9-B15C-BF7E-00DE-E68771CFFFE2}"/>
              </a:ext>
            </a:extLst>
          </p:cNvPr>
          <p:cNvSpPr/>
          <p:nvPr/>
        </p:nvSpPr>
        <p:spPr bwMode="auto">
          <a:xfrm>
            <a:off x="6456004" y="4059007"/>
            <a:ext cx="360004" cy="360004"/>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v3</a:t>
            </a:r>
            <a:endParaRPr lang="ja-JP" altLang="en-US" sz="1200" dirty="0">
              <a:solidFill>
                <a:schemeClr val="tx1">
                  <a:lumMod val="75000"/>
                  <a:lumOff val="25000"/>
                </a:schemeClr>
              </a:solidFill>
              <a:latin typeface="+mn-ea"/>
            </a:endParaRPr>
          </a:p>
        </p:txBody>
      </p:sp>
      <p:sp>
        <p:nvSpPr>
          <p:cNvPr id="31" name="正方形/長方形 30">
            <a:extLst>
              <a:ext uri="{FF2B5EF4-FFF2-40B4-BE49-F238E27FC236}">
                <a16:creationId xmlns:a16="http://schemas.microsoft.com/office/drawing/2014/main" id="{F761EFF6-9B05-1ECF-0D01-E3A82C12AB3D}"/>
              </a:ext>
            </a:extLst>
          </p:cNvPr>
          <p:cNvSpPr/>
          <p:nvPr/>
        </p:nvSpPr>
        <p:spPr bwMode="auto">
          <a:xfrm>
            <a:off x="6456004" y="3519001"/>
            <a:ext cx="360004" cy="360004"/>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v2</a:t>
            </a:r>
            <a:endParaRPr lang="ja-JP" altLang="en-US" sz="1200" dirty="0">
              <a:solidFill>
                <a:schemeClr val="tx1">
                  <a:lumMod val="75000"/>
                  <a:lumOff val="25000"/>
                </a:schemeClr>
              </a:solidFill>
              <a:latin typeface="+mn-ea"/>
            </a:endParaRPr>
          </a:p>
        </p:txBody>
      </p:sp>
      <p:sp>
        <p:nvSpPr>
          <p:cNvPr id="33" name="正方形/長方形 32">
            <a:extLst>
              <a:ext uri="{FF2B5EF4-FFF2-40B4-BE49-F238E27FC236}">
                <a16:creationId xmlns:a16="http://schemas.microsoft.com/office/drawing/2014/main" id="{E41C911B-8D85-2DB7-3999-BAF3A6B1E923}"/>
              </a:ext>
            </a:extLst>
          </p:cNvPr>
          <p:cNvSpPr/>
          <p:nvPr/>
        </p:nvSpPr>
        <p:spPr bwMode="auto">
          <a:xfrm>
            <a:off x="6456004" y="5139019"/>
            <a:ext cx="360004" cy="360004"/>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v1</a:t>
            </a:r>
            <a:endParaRPr lang="ja-JP" altLang="en-US" sz="1200"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539A654E-AB6B-48A8-2C5C-EE4CE613E089}"/>
              </a:ext>
            </a:extLst>
          </p:cNvPr>
          <p:cNvSpPr/>
          <p:nvPr/>
        </p:nvSpPr>
        <p:spPr bwMode="auto">
          <a:xfrm>
            <a:off x="6816008" y="5139019"/>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8</a:t>
            </a:r>
            <a:endParaRPr lang="ja-JP" altLang="en-US" sz="1200" dirty="0">
              <a:solidFill>
                <a:schemeClr val="tx1">
                  <a:lumMod val="75000"/>
                  <a:lumOff val="25000"/>
                </a:schemeClr>
              </a:solidFill>
              <a:latin typeface="+mn-ea"/>
            </a:endParaRPr>
          </a:p>
        </p:txBody>
      </p:sp>
      <p:sp>
        <p:nvSpPr>
          <p:cNvPr id="35" name="正方形/長方形 34">
            <a:extLst>
              <a:ext uri="{FF2B5EF4-FFF2-40B4-BE49-F238E27FC236}">
                <a16:creationId xmlns:a16="http://schemas.microsoft.com/office/drawing/2014/main" id="{3C9FA7E3-C5F6-211F-569D-F5CE492C0B06}"/>
              </a:ext>
            </a:extLst>
          </p:cNvPr>
          <p:cNvSpPr/>
          <p:nvPr/>
        </p:nvSpPr>
        <p:spPr bwMode="auto">
          <a:xfrm>
            <a:off x="7536016" y="5139019"/>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3</a:t>
            </a:r>
            <a:endParaRPr lang="ja-JP" altLang="en-US" sz="1200" dirty="0">
              <a:solidFill>
                <a:schemeClr val="tx1">
                  <a:lumMod val="75000"/>
                  <a:lumOff val="25000"/>
                </a:schemeClr>
              </a:solidFill>
              <a:latin typeface="+mn-ea"/>
            </a:endParaRPr>
          </a:p>
        </p:txBody>
      </p:sp>
      <p:sp>
        <p:nvSpPr>
          <p:cNvPr id="36" name="正方形/長方形 35">
            <a:extLst>
              <a:ext uri="{FF2B5EF4-FFF2-40B4-BE49-F238E27FC236}">
                <a16:creationId xmlns:a16="http://schemas.microsoft.com/office/drawing/2014/main" id="{8F8D4210-1085-81A5-EADE-FCD440E6CD5A}"/>
              </a:ext>
            </a:extLst>
          </p:cNvPr>
          <p:cNvSpPr/>
          <p:nvPr/>
        </p:nvSpPr>
        <p:spPr bwMode="auto">
          <a:xfrm>
            <a:off x="8256024" y="5139019"/>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1</a:t>
            </a:r>
            <a:endParaRPr lang="ja-JP" altLang="en-US" sz="1200" dirty="0">
              <a:solidFill>
                <a:schemeClr val="tx1">
                  <a:lumMod val="75000"/>
                  <a:lumOff val="25000"/>
                </a:schemeClr>
              </a:solidFill>
              <a:latin typeface="+mn-ea"/>
            </a:endParaRPr>
          </a:p>
        </p:txBody>
      </p:sp>
      <p:sp>
        <p:nvSpPr>
          <p:cNvPr id="37" name="正方形/長方形 36">
            <a:extLst>
              <a:ext uri="{FF2B5EF4-FFF2-40B4-BE49-F238E27FC236}">
                <a16:creationId xmlns:a16="http://schemas.microsoft.com/office/drawing/2014/main" id="{1628B6F5-48C8-444F-EC1E-58DD9597A108}"/>
              </a:ext>
            </a:extLst>
          </p:cNvPr>
          <p:cNvSpPr/>
          <p:nvPr/>
        </p:nvSpPr>
        <p:spPr bwMode="auto">
          <a:xfrm>
            <a:off x="8976032" y="5139019"/>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6</a:t>
            </a:r>
            <a:endParaRPr lang="ja-JP" altLang="en-US" sz="1200" dirty="0">
              <a:solidFill>
                <a:schemeClr val="tx1">
                  <a:lumMod val="75000"/>
                  <a:lumOff val="25000"/>
                </a:schemeClr>
              </a:solidFill>
              <a:latin typeface="+mn-ea"/>
            </a:endParaRPr>
          </a:p>
        </p:txBody>
      </p:sp>
      <p:sp>
        <p:nvSpPr>
          <p:cNvPr id="38" name="フリーフォーム 10">
            <a:extLst>
              <a:ext uri="{FF2B5EF4-FFF2-40B4-BE49-F238E27FC236}">
                <a16:creationId xmlns:a16="http://schemas.microsoft.com/office/drawing/2014/main" id="{0EB62B01-415A-2BED-C20A-2D61A38DD086}"/>
              </a:ext>
            </a:extLst>
          </p:cNvPr>
          <p:cNvSpPr>
            <a:spLocks noChangeArrowheads="1"/>
          </p:cNvSpPr>
          <p:nvPr/>
        </p:nvSpPr>
        <p:spPr bwMode="auto">
          <a:xfrm flipH="1">
            <a:off x="7536016" y="4599013"/>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100" dirty="0">
                <a:solidFill>
                  <a:schemeClr val="tx1">
                    <a:lumMod val="75000"/>
                    <a:lumOff val="25000"/>
                  </a:schemeClr>
                </a:solidFill>
                <a:latin typeface="+mn-ea"/>
              </a:rPr>
              <a:t>Adder</a:t>
            </a:r>
            <a:endParaRPr lang="ja-JP" altLang="en-US" sz="1100" dirty="0">
              <a:solidFill>
                <a:schemeClr val="tx1">
                  <a:lumMod val="75000"/>
                  <a:lumOff val="25000"/>
                </a:schemeClr>
              </a:solidFill>
              <a:latin typeface="+mn-ea"/>
            </a:endParaRPr>
          </a:p>
        </p:txBody>
      </p:sp>
      <p:cxnSp>
        <p:nvCxnSpPr>
          <p:cNvPr id="39" name="直線矢印コネクタ 38">
            <a:extLst>
              <a:ext uri="{FF2B5EF4-FFF2-40B4-BE49-F238E27FC236}">
                <a16:creationId xmlns:a16="http://schemas.microsoft.com/office/drawing/2014/main" id="{41B34B21-6F63-45B6-BF9F-C7CD139F7E65}"/>
              </a:ext>
            </a:extLst>
          </p:cNvPr>
          <p:cNvCxnSpPr>
            <a:cxnSpLocks/>
          </p:cNvCxnSpPr>
          <p:nvPr/>
        </p:nvCxnSpPr>
        <p:spPr bwMode="auto">
          <a:xfrm>
            <a:off x="7716018" y="3879005"/>
            <a:ext cx="0"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40" name="直線矢印コネクタ 39">
            <a:extLst>
              <a:ext uri="{FF2B5EF4-FFF2-40B4-BE49-F238E27FC236}">
                <a16:creationId xmlns:a16="http://schemas.microsoft.com/office/drawing/2014/main" id="{10863BB7-CBE0-2519-C5E5-5A12BA5F175E}"/>
              </a:ext>
            </a:extLst>
          </p:cNvPr>
          <p:cNvCxnSpPr>
            <a:cxnSpLocks/>
          </p:cNvCxnSpPr>
          <p:nvPr/>
        </p:nvCxnSpPr>
        <p:spPr bwMode="auto">
          <a:xfrm>
            <a:off x="8076022" y="4419011"/>
            <a:ext cx="0" cy="180002"/>
          </a:xfrm>
          <a:prstGeom prst="straightConnector1">
            <a:avLst/>
          </a:prstGeom>
          <a:noFill/>
          <a:ln w="9525" cap="flat" cmpd="sng" algn="ctr">
            <a:solidFill>
              <a:schemeClr val="tx1"/>
            </a:solidFill>
            <a:prstDash val="solid"/>
            <a:round/>
            <a:headEnd type="none" w="med" len="med"/>
            <a:tailEnd type="triangle"/>
          </a:ln>
          <a:effectLst/>
        </p:spPr>
      </p:cxnSp>
      <p:cxnSp>
        <p:nvCxnSpPr>
          <p:cNvPr id="41" name="直線矢印コネクタ 40">
            <a:extLst>
              <a:ext uri="{FF2B5EF4-FFF2-40B4-BE49-F238E27FC236}">
                <a16:creationId xmlns:a16="http://schemas.microsoft.com/office/drawing/2014/main" id="{7E948B80-CCCE-691A-50D0-F3457AB21DCB}"/>
              </a:ext>
            </a:extLst>
          </p:cNvPr>
          <p:cNvCxnSpPr>
            <a:cxnSpLocks/>
          </p:cNvCxnSpPr>
          <p:nvPr/>
        </p:nvCxnSpPr>
        <p:spPr bwMode="auto">
          <a:xfrm>
            <a:off x="7896020" y="4959017"/>
            <a:ext cx="0" cy="180002"/>
          </a:xfrm>
          <a:prstGeom prst="straightConnector1">
            <a:avLst/>
          </a:prstGeom>
          <a:noFill/>
          <a:ln w="9525" cap="flat" cmpd="sng" algn="ctr">
            <a:solidFill>
              <a:schemeClr val="tx1"/>
            </a:solidFill>
            <a:prstDash val="solid"/>
            <a:round/>
            <a:headEnd type="none" w="med" len="med"/>
            <a:tailEnd type="triangle"/>
          </a:ln>
          <a:effectLst/>
        </p:spPr>
      </p:cxnSp>
      <p:sp>
        <p:nvSpPr>
          <p:cNvPr id="42" name="フリーフォーム 10">
            <a:extLst>
              <a:ext uri="{FF2B5EF4-FFF2-40B4-BE49-F238E27FC236}">
                <a16:creationId xmlns:a16="http://schemas.microsoft.com/office/drawing/2014/main" id="{55A8C1B0-450E-7406-BFBE-3BA501D5C14F}"/>
              </a:ext>
            </a:extLst>
          </p:cNvPr>
          <p:cNvSpPr>
            <a:spLocks noChangeArrowheads="1"/>
          </p:cNvSpPr>
          <p:nvPr/>
        </p:nvSpPr>
        <p:spPr bwMode="auto">
          <a:xfrm flipH="1">
            <a:off x="8256024" y="4599013"/>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100" dirty="0">
                <a:solidFill>
                  <a:schemeClr val="tx1">
                    <a:lumMod val="75000"/>
                    <a:lumOff val="25000"/>
                  </a:schemeClr>
                </a:solidFill>
                <a:latin typeface="+mn-ea"/>
              </a:rPr>
              <a:t>Adder</a:t>
            </a:r>
            <a:endParaRPr lang="ja-JP" altLang="en-US" sz="1100" dirty="0">
              <a:solidFill>
                <a:schemeClr val="tx1">
                  <a:lumMod val="75000"/>
                  <a:lumOff val="25000"/>
                </a:schemeClr>
              </a:solidFill>
              <a:latin typeface="+mn-ea"/>
            </a:endParaRPr>
          </a:p>
        </p:txBody>
      </p:sp>
      <p:cxnSp>
        <p:nvCxnSpPr>
          <p:cNvPr id="43" name="直線矢印コネクタ 42">
            <a:extLst>
              <a:ext uri="{FF2B5EF4-FFF2-40B4-BE49-F238E27FC236}">
                <a16:creationId xmlns:a16="http://schemas.microsoft.com/office/drawing/2014/main" id="{969C1BC3-3892-E1EC-1918-097C51BA288C}"/>
              </a:ext>
            </a:extLst>
          </p:cNvPr>
          <p:cNvCxnSpPr>
            <a:cxnSpLocks/>
          </p:cNvCxnSpPr>
          <p:nvPr/>
        </p:nvCxnSpPr>
        <p:spPr bwMode="auto">
          <a:xfrm>
            <a:off x="8436026" y="3879005"/>
            <a:ext cx="0"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44" name="直線矢印コネクタ 43">
            <a:extLst>
              <a:ext uri="{FF2B5EF4-FFF2-40B4-BE49-F238E27FC236}">
                <a16:creationId xmlns:a16="http://schemas.microsoft.com/office/drawing/2014/main" id="{006FE041-1619-B2F8-03C3-FB71A56397BA}"/>
              </a:ext>
            </a:extLst>
          </p:cNvPr>
          <p:cNvCxnSpPr>
            <a:cxnSpLocks/>
          </p:cNvCxnSpPr>
          <p:nvPr/>
        </p:nvCxnSpPr>
        <p:spPr bwMode="auto">
          <a:xfrm>
            <a:off x="8796030" y="4419011"/>
            <a:ext cx="0" cy="180002"/>
          </a:xfrm>
          <a:prstGeom prst="straightConnector1">
            <a:avLst/>
          </a:prstGeom>
          <a:noFill/>
          <a:ln w="9525" cap="flat" cmpd="sng" algn="ctr">
            <a:solidFill>
              <a:schemeClr val="tx1"/>
            </a:solidFill>
            <a:prstDash val="solid"/>
            <a:round/>
            <a:headEnd type="none" w="med" len="med"/>
            <a:tailEnd type="triangle"/>
          </a:ln>
          <a:effectLst/>
        </p:spPr>
      </p:cxnSp>
      <p:cxnSp>
        <p:nvCxnSpPr>
          <p:cNvPr id="45" name="直線矢印コネクタ 44">
            <a:extLst>
              <a:ext uri="{FF2B5EF4-FFF2-40B4-BE49-F238E27FC236}">
                <a16:creationId xmlns:a16="http://schemas.microsoft.com/office/drawing/2014/main" id="{DBD6A6E4-D5F9-78AD-11C7-8C854A1CFD30}"/>
              </a:ext>
            </a:extLst>
          </p:cNvPr>
          <p:cNvCxnSpPr>
            <a:cxnSpLocks/>
          </p:cNvCxnSpPr>
          <p:nvPr/>
        </p:nvCxnSpPr>
        <p:spPr bwMode="auto">
          <a:xfrm>
            <a:off x="8616028" y="4959017"/>
            <a:ext cx="0" cy="180002"/>
          </a:xfrm>
          <a:prstGeom prst="straightConnector1">
            <a:avLst/>
          </a:prstGeom>
          <a:noFill/>
          <a:ln w="9525" cap="flat" cmpd="sng" algn="ctr">
            <a:solidFill>
              <a:schemeClr val="tx1"/>
            </a:solidFill>
            <a:prstDash val="solid"/>
            <a:round/>
            <a:headEnd type="none" w="med" len="med"/>
            <a:tailEnd type="triangle"/>
          </a:ln>
          <a:effectLst/>
        </p:spPr>
      </p:cxnSp>
      <p:sp>
        <p:nvSpPr>
          <p:cNvPr id="46" name="フリーフォーム 10">
            <a:extLst>
              <a:ext uri="{FF2B5EF4-FFF2-40B4-BE49-F238E27FC236}">
                <a16:creationId xmlns:a16="http://schemas.microsoft.com/office/drawing/2014/main" id="{31969DC2-114E-F27D-B756-FC4CBD3BC7B7}"/>
              </a:ext>
            </a:extLst>
          </p:cNvPr>
          <p:cNvSpPr>
            <a:spLocks noChangeArrowheads="1"/>
          </p:cNvSpPr>
          <p:nvPr/>
        </p:nvSpPr>
        <p:spPr bwMode="auto">
          <a:xfrm flipH="1">
            <a:off x="8976032" y="4599013"/>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100" dirty="0">
                <a:solidFill>
                  <a:schemeClr val="tx1">
                    <a:lumMod val="75000"/>
                    <a:lumOff val="25000"/>
                  </a:schemeClr>
                </a:solidFill>
                <a:latin typeface="+mn-ea"/>
              </a:rPr>
              <a:t>Adder</a:t>
            </a:r>
            <a:endParaRPr lang="ja-JP" altLang="en-US" sz="1100" dirty="0">
              <a:solidFill>
                <a:schemeClr val="tx1">
                  <a:lumMod val="75000"/>
                  <a:lumOff val="25000"/>
                </a:schemeClr>
              </a:solidFill>
              <a:latin typeface="+mn-ea"/>
            </a:endParaRPr>
          </a:p>
        </p:txBody>
      </p:sp>
      <p:cxnSp>
        <p:nvCxnSpPr>
          <p:cNvPr id="47" name="直線矢印コネクタ 46">
            <a:extLst>
              <a:ext uri="{FF2B5EF4-FFF2-40B4-BE49-F238E27FC236}">
                <a16:creationId xmlns:a16="http://schemas.microsoft.com/office/drawing/2014/main" id="{E3FBAF72-B3F1-D2F9-6057-636ECD44BB5D}"/>
              </a:ext>
            </a:extLst>
          </p:cNvPr>
          <p:cNvCxnSpPr>
            <a:cxnSpLocks/>
          </p:cNvCxnSpPr>
          <p:nvPr/>
        </p:nvCxnSpPr>
        <p:spPr bwMode="auto">
          <a:xfrm>
            <a:off x="9156034" y="3879005"/>
            <a:ext cx="0"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48" name="直線矢印コネクタ 47">
            <a:extLst>
              <a:ext uri="{FF2B5EF4-FFF2-40B4-BE49-F238E27FC236}">
                <a16:creationId xmlns:a16="http://schemas.microsoft.com/office/drawing/2014/main" id="{596C6754-D726-55DE-006F-E4DA2E41C492}"/>
              </a:ext>
            </a:extLst>
          </p:cNvPr>
          <p:cNvCxnSpPr>
            <a:cxnSpLocks/>
          </p:cNvCxnSpPr>
          <p:nvPr/>
        </p:nvCxnSpPr>
        <p:spPr bwMode="auto">
          <a:xfrm>
            <a:off x="9516038" y="4419011"/>
            <a:ext cx="0" cy="180002"/>
          </a:xfrm>
          <a:prstGeom prst="straightConnector1">
            <a:avLst/>
          </a:prstGeom>
          <a:noFill/>
          <a:ln w="9525" cap="flat" cmpd="sng" algn="ctr">
            <a:solidFill>
              <a:schemeClr val="tx1"/>
            </a:solidFill>
            <a:prstDash val="solid"/>
            <a:round/>
            <a:headEnd type="none" w="med" len="med"/>
            <a:tailEnd type="triangle"/>
          </a:ln>
          <a:effectLst/>
        </p:spPr>
      </p:cxnSp>
      <p:cxnSp>
        <p:nvCxnSpPr>
          <p:cNvPr id="49" name="直線矢印コネクタ 48">
            <a:extLst>
              <a:ext uri="{FF2B5EF4-FFF2-40B4-BE49-F238E27FC236}">
                <a16:creationId xmlns:a16="http://schemas.microsoft.com/office/drawing/2014/main" id="{D8CA6A65-C8DD-7478-C9E4-4CB4E9DEB241}"/>
              </a:ext>
            </a:extLst>
          </p:cNvPr>
          <p:cNvCxnSpPr>
            <a:cxnSpLocks/>
          </p:cNvCxnSpPr>
          <p:nvPr/>
        </p:nvCxnSpPr>
        <p:spPr bwMode="auto">
          <a:xfrm>
            <a:off x="9336036" y="4959017"/>
            <a:ext cx="0" cy="180002"/>
          </a:xfrm>
          <a:prstGeom prst="straightConnector1">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1951493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3605BF-8EBE-D782-4644-6B5F72E34EFC}"/>
              </a:ext>
            </a:extLst>
          </p:cNvPr>
          <p:cNvSpPr>
            <a:spLocks noGrp="1"/>
          </p:cNvSpPr>
          <p:nvPr>
            <p:ph type="title"/>
          </p:nvPr>
        </p:nvSpPr>
        <p:spPr/>
        <p:txBody>
          <a:bodyPr/>
          <a:lstStyle/>
          <a:p>
            <a:r>
              <a:rPr kumimoji="1" lang="en-US" altLang="ja-JP" dirty="0"/>
              <a:t>SIMD </a:t>
            </a:r>
            <a:r>
              <a:rPr kumimoji="1" lang="ja-JP" altLang="en-US" dirty="0"/>
              <a:t>命令を使う方法</a:t>
            </a:r>
            <a:endParaRPr kumimoji="1" lang="en-US" altLang="ja-JP" dirty="0"/>
          </a:p>
        </p:txBody>
      </p:sp>
      <p:sp>
        <p:nvSpPr>
          <p:cNvPr id="3" name="テキスト プレースホルダー 2">
            <a:extLst>
              <a:ext uri="{FF2B5EF4-FFF2-40B4-BE49-F238E27FC236}">
                <a16:creationId xmlns:a16="http://schemas.microsoft.com/office/drawing/2014/main" id="{20359648-09A1-E8A3-C6A4-D60561DF7AF6}"/>
              </a:ext>
            </a:extLst>
          </p:cNvPr>
          <p:cNvSpPr>
            <a:spLocks noGrp="1"/>
          </p:cNvSpPr>
          <p:nvPr>
            <p:ph type="body" sz="quarter" idx="10"/>
          </p:nvPr>
        </p:nvSpPr>
        <p:spPr/>
        <p:txBody>
          <a:bodyPr/>
          <a:lstStyle/>
          <a:p>
            <a:r>
              <a:rPr kumimoji="1" lang="en-US" altLang="ja-JP" dirty="0"/>
              <a:t>SIMD </a:t>
            </a:r>
            <a:r>
              <a:rPr kumimoji="1" lang="ja-JP" altLang="en-US" dirty="0"/>
              <a:t>命令を使う方法：</a:t>
            </a:r>
            <a:br>
              <a:rPr kumimoji="1" lang="en-US" altLang="ja-JP" dirty="0"/>
            </a:br>
            <a:endParaRPr kumimoji="1" lang="en-US" altLang="ja-JP" dirty="0"/>
          </a:p>
          <a:p>
            <a:pPr marL="817200" lvl="1" indent="-457200">
              <a:buFont typeface="+mj-lt"/>
              <a:buAutoNum type="arabicPeriod"/>
            </a:pPr>
            <a:r>
              <a:rPr kumimoji="1" lang="ja-JP" altLang="en-US" dirty="0"/>
              <a:t>コンパイラに頑張ってもらう</a:t>
            </a:r>
            <a:endParaRPr kumimoji="1" lang="en-US" altLang="ja-JP" dirty="0"/>
          </a:p>
          <a:p>
            <a:pPr lvl="2"/>
            <a:r>
              <a:rPr kumimoji="1" lang="ja-JP" altLang="en-US" dirty="0"/>
              <a:t>複数同時に計算しても大丈夫なところを自動で検出する</a:t>
            </a:r>
            <a:endParaRPr kumimoji="1" lang="en-US" altLang="ja-JP" dirty="0"/>
          </a:p>
          <a:p>
            <a:pPr lvl="2"/>
            <a:r>
              <a:rPr kumimoji="1" lang="ja-JP" altLang="en-US" dirty="0"/>
              <a:t>後述の </a:t>
            </a:r>
            <a:r>
              <a:rPr kumimoji="1" lang="en-US" altLang="ja-JP" dirty="0"/>
              <a:t>SPMD </a:t>
            </a:r>
            <a:r>
              <a:rPr kumimoji="1" lang="ja-JP" altLang="en-US" dirty="0"/>
              <a:t>で書かれたプログラムならある程度できる</a:t>
            </a:r>
            <a:br>
              <a:rPr kumimoji="1" lang="en-US" altLang="ja-JP" dirty="0"/>
            </a:br>
            <a:endParaRPr kumimoji="1" lang="en-US" altLang="ja-JP" dirty="0"/>
          </a:p>
          <a:p>
            <a:pPr marL="817200" lvl="1" indent="-457200">
              <a:buFont typeface="+mj-lt"/>
              <a:buAutoNum type="arabicPeriod"/>
            </a:pPr>
            <a:r>
              <a:rPr kumimoji="1" lang="ja-JP" altLang="en-US" dirty="0"/>
              <a:t>組み込み関数を使って人間が直接書く</a:t>
            </a:r>
            <a:endParaRPr kumimoji="1" lang="en-US" altLang="ja-JP" dirty="0"/>
          </a:p>
          <a:p>
            <a:pPr lvl="2"/>
            <a:r>
              <a:rPr kumimoji="1" lang="ja-JP" altLang="en-US" dirty="0"/>
              <a:t>自動でうまくいかない場合は人間が頑張る（つらい）</a:t>
            </a:r>
            <a:endParaRPr kumimoji="1" lang="en-US" altLang="ja-JP" dirty="0"/>
          </a:p>
        </p:txBody>
      </p:sp>
    </p:spTree>
    <p:extLst>
      <p:ext uri="{BB962C8B-B14F-4D97-AF65-F5344CB8AC3E}">
        <p14:creationId xmlns:p14="http://schemas.microsoft.com/office/powerpoint/2010/main" val="3513463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F09367-6425-5705-F464-BE605E4C3142}"/>
              </a:ext>
            </a:extLst>
          </p:cNvPr>
          <p:cNvSpPr>
            <a:spLocks noGrp="1"/>
          </p:cNvSpPr>
          <p:nvPr>
            <p:ph type="title"/>
          </p:nvPr>
        </p:nvSpPr>
        <p:spPr/>
        <p:txBody>
          <a:bodyPr/>
          <a:lstStyle/>
          <a:p>
            <a:r>
              <a:rPr kumimoji="1" lang="ja-JP" altLang="en-US" dirty="0"/>
              <a:t>（余談）組み込み関数（</a:t>
            </a:r>
            <a:r>
              <a:rPr kumimoji="1" lang="en-US" altLang="ja-JP" dirty="0"/>
              <a:t>intrinsic</a:t>
            </a:r>
            <a:r>
              <a:rPr kumimoji="1" lang="ja-JP" altLang="en-US" dirty="0"/>
              <a:t>）</a:t>
            </a:r>
          </a:p>
        </p:txBody>
      </p:sp>
      <p:sp>
        <p:nvSpPr>
          <p:cNvPr id="3" name="テキスト プレースホルダー 2">
            <a:extLst>
              <a:ext uri="{FF2B5EF4-FFF2-40B4-BE49-F238E27FC236}">
                <a16:creationId xmlns:a16="http://schemas.microsoft.com/office/drawing/2014/main" id="{60636893-3027-1B90-1CCC-553FD5461ADD}"/>
              </a:ext>
            </a:extLst>
          </p:cNvPr>
          <p:cNvSpPr>
            <a:spLocks noGrp="1"/>
          </p:cNvSpPr>
          <p:nvPr>
            <p:ph type="body" sz="quarter" idx="10"/>
          </p:nvPr>
        </p:nvSpPr>
        <p:spPr>
          <a:xfrm>
            <a:off x="1955954" y="1088975"/>
            <a:ext cx="8532044" cy="5219751"/>
          </a:xfrm>
        </p:spPr>
        <p:txBody>
          <a:bodyPr/>
          <a:lstStyle/>
          <a:p>
            <a:pPr marL="0" indent="0">
              <a:buNone/>
            </a:pPr>
            <a:r>
              <a:rPr lang="en-US" altLang="ja-JP" sz="1800" dirty="0">
                <a:solidFill>
                  <a:schemeClr val="accent3">
                    <a:lumMod val="75000"/>
                  </a:schemeClr>
                </a:solidFill>
                <a:latin typeface="Consolas" panose="020B0609020204030204" pitchFamily="49" charset="0"/>
              </a:rPr>
              <a:t>// </a:t>
            </a:r>
            <a:r>
              <a:rPr lang="ja-JP" altLang="en-US" sz="1800" dirty="0">
                <a:solidFill>
                  <a:schemeClr val="accent3">
                    <a:lumMod val="75000"/>
                  </a:schemeClr>
                </a:solidFill>
                <a:latin typeface="Consolas" panose="020B0609020204030204" pitchFamily="49" charset="0"/>
              </a:rPr>
              <a:t>連続した加算を４つ行う </a:t>
            </a:r>
            <a:r>
              <a:rPr lang="en-US" altLang="ja-JP" sz="1800" dirty="0">
                <a:solidFill>
                  <a:schemeClr val="accent3">
                    <a:lumMod val="75000"/>
                  </a:schemeClr>
                </a:solidFill>
                <a:latin typeface="Consolas" panose="020B0609020204030204" pitchFamily="49" charset="0"/>
              </a:rPr>
              <a:t>SIMD </a:t>
            </a:r>
            <a:r>
              <a:rPr lang="ja-JP" altLang="en-US" sz="1800" dirty="0">
                <a:solidFill>
                  <a:schemeClr val="accent3">
                    <a:lumMod val="75000"/>
                  </a:schemeClr>
                </a:solidFill>
                <a:latin typeface="Consolas" panose="020B0609020204030204" pitchFamily="49" charset="0"/>
              </a:rPr>
              <a:t>命令に相当する関数</a:t>
            </a:r>
            <a:br>
              <a:rPr lang="en-US" altLang="ja-JP" sz="1800" dirty="0">
                <a:solidFill>
                  <a:schemeClr val="accent3">
                    <a:lumMod val="75000"/>
                  </a:schemeClr>
                </a:solidFill>
                <a:latin typeface="Consolas" panose="020B0609020204030204" pitchFamily="49" charset="0"/>
              </a:rPr>
            </a:br>
            <a:r>
              <a:rPr lang="en-US" altLang="ja-JP" sz="1800" b="1" dirty="0">
                <a:solidFill>
                  <a:schemeClr val="accent3">
                    <a:lumMod val="75000"/>
                  </a:schemeClr>
                </a:solidFill>
                <a:latin typeface="Consolas" panose="020B0609020204030204" pitchFamily="49" charset="0"/>
              </a:rPr>
              <a:t>// </a:t>
            </a:r>
            <a:r>
              <a:rPr lang="ja-JP" altLang="en-US" sz="1800" b="1" dirty="0">
                <a:solidFill>
                  <a:schemeClr val="accent3">
                    <a:lumMod val="75000"/>
                  </a:schemeClr>
                </a:solidFill>
                <a:latin typeface="Consolas" panose="020B0609020204030204" pitchFamily="49" charset="0"/>
              </a:rPr>
              <a:t>コンパイル時にこの関数と等価な結果が得られる </a:t>
            </a:r>
            <a:r>
              <a:rPr lang="en-US" altLang="ja-JP" sz="1800" b="1" dirty="0">
                <a:solidFill>
                  <a:schemeClr val="accent3">
                    <a:lumMod val="75000"/>
                  </a:schemeClr>
                </a:solidFill>
                <a:latin typeface="Consolas" panose="020B0609020204030204" pitchFamily="49" charset="0"/>
              </a:rPr>
              <a:t>SIMD</a:t>
            </a:r>
            <a:r>
              <a:rPr lang="ja-JP" altLang="en-US" sz="1800" b="1" dirty="0">
                <a:solidFill>
                  <a:schemeClr val="accent3">
                    <a:lumMod val="75000"/>
                  </a:schemeClr>
                </a:solidFill>
                <a:latin typeface="Consolas" panose="020B0609020204030204" pitchFamily="49" charset="0"/>
              </a:rPr>
              <a:t> 命令に変換される</a:t>
            </a:r>
            <a:br>
              <a:rPr lang="en-US" altLang="ja-JP" sz="1800" dirty="0">
                <a:solidFill>
                  <a:schemeClr val="accent3">
                    <a:lumMod val="75000"/>
                  </a:schemeClr>
                </a:solidFill>
                <a:latin typeface="Consolas" panose="020B0609020204030204" pitchFamily="49" charset="0"/>
              </a:rPr>
            </a:br>
            <a:r>
              <a:rPr lang="en-US" altLang="ja-JP" sz="1800" dirty="0">
                <a:latin typeface="Consolas" panose="020B0609020204030204" pitchFamily="49" charset="0"/>
              </a:rPr>
              <a:t>void add_x4(int* </a:t>
            </a:r>
            <a:r>
              <a:rPr lang="en-US" altLang="ja-JP" sz="1800" dirty="0" err="1">
                <a:latin typeface="Consolas" panose="020B0609020204030204" pitchFamily="49" charset="0"/>
              </a:rPr>
              <a:t>dst</a:t>
            </a:r>
            <a:r>
              <a:rPr lang="en-US" altLang="ja-JP" sz="1800" dirty="0">
                <a:latin typeface="Consolas" panose="020B0609020204030204" pitchFamily="49" charset="0"/>
              </a:rPr>
              <a:t>, int* src1, int* src2) {</a:t>
            </a:r>
            <a:br>
              <a:rPr lang="en-US" altLang="ja-JP" sz="1800" dirty="0">
                <a:latin typeface="Consolas" panose="020B0609020204030204" pitchFamily="49" charset="0"/>
              </a:rPr>
            </a:br>
            <a:r>
              <a:rPr lang="en-US" altLang="ja-JP" sz="1800" dirty="0">
                <a:latin typeface="Consolas" panose="020B0609020204030204" pitchFamily="49" charset="0"/>
              </a:rPr>
              <a:t>    </a:t>
            </a:r>
            <a:r>
              <a:rPr lang="en-US" altLang="ja-JP" sz="1800" dirty="0" err="1">
                <a:latin typeface="Consolas" panose="020B0609020204030204" pitchFamily="49" charset="0"/>
              </a:rPr>
              <a:t>dst</a:t>
            </a:r>
            <a:r>
              <a:rPr lang="en-US" altLang="ja-JP" sz="1800" dirty="0">
                <a:latin typeface="Consolas" panose="020B0609020204030204" pitchFamily="49" charset="0"/>
              </a:rPr>
              <a:t>[0] = src1[0] + src2[0];</a:t>
            </a:r>
            <a:br>
              <a:rPr lang="en-US" altLang="ja-JP" sz="1800" dirty="0">
                <a:latin typeface="Consolas" panose="020B0609020204030204" pitchFamily="49" charset="0"/>
              </a:rPr>
            </a:br>
            <a:r>
              <a:rPr lang="en-US" altLang="ja-JP" sz="1800" dirty="0">
                <a:latin typeface="Consolas" panose="020B0609020204030204" pitchFamily="49" charset="0"/>
              </a:rPr>
              <a:t>    </a:t>
            </a:r>
            <a:r>
              <a:rPr lang="en-US" altLang="ja-JP" sz="1800" dirty="0" err="1">
                <a:latin typeface="Consolas" panose="020B0609020204030204" pitchFamily="49" charset="0"/>
              </a:rPr>
              <a:t>dst</a:t>
            </a:r>
            <a:r>
              <a:rPr lang="en-US" altLang="ja-JP" sz="1800" dirty="0">
                <a:latin typeface="Consolas" panose="020B0609020204030204" pitchFamily="49" charset="0"/>
              </a:rPr>
              <a:t>[1] = src1[1] + src2[1];</a:t>
            </a:r>
            <a:br>
              <a:rPr lang="en-US" altLang="ja-JP" sz="1800" dirty="0">
                <a:latin typeface="Consolas" panose="020B0609020204030204" pitchFamily="49" charset="0"/>
              </a:rPr>
            </a:br>
            <a:r>
              <a:rPr lang="en-US" altLang="ja-JP" sz="1800" dirty="0">
                <a:latin typeface="Consolas" panose="020B0609020204030204" pitchFamily="49" charset="0"/>
              </a:rPr>
              <a:t>    </a:t>
            </a:r>
            <a:r>
              <a:rPr lang="en-US" altLang="ja-JP" sz="1800" dirty="0" err="1">
                <a:latin typeface="Consolas" panose="020B0609020204030204" pitchFamily="49" charset="0"/>
              </a:rPr>
              <a:t>dst</a:t>
            </a:r>
            <a:r>
              <a:rPr lang="en-US" altLang="ja-JP" sz="1800" dirty="0">
                <a:latin typeface="Consolas" panose="020B0609020204030204" pitchFamily="49" charset="0"/>
              </a:rPr>
              <a:t>[2] = src1[2] + src2[2];</a:t>
            </a:r>
            <a:br>
              <a:rPr lang="en-US" altLang="ja-JP" sz="1800" dirty="0">
                <a:latin typeface="Consolas" panose="020B0609020204030204" pitchFamily="49" charset="0"/>
              </a:rPr>
            </a:br>
            <a:r>
              <a:rPr lang="en-US" altLang="ja-JP" sz="1800" dirty="0">
                <a:latin typeface="Consolas" panose="020B0609020204030204" pitchFamily="49" charset="0"/>
              </a:rPr>
              <a:t>    </a:t>
            </a:r>
            <a:r>
              <a:rPr lang="en-US" altLang="ja-JP" sz="1800" dirty="0" err="1">
                <a:latin typeface="Consolas" panose="020B0609020204030204" pitchFamily="49" charset="0"/>
              </a:rPr>
              <a:t>dst</a:t>
            </a:r>
            <a:r>
              <a:rPr lang="en-US" altLang="ja-JP" sz="1800" dirty="0">
                <a:latin typeface="Consolas" panose="020B0609020204030204" pitchFamily="49" charset="0"/>
              </a:rPr>
              <a:t>[3] = src1[3] + src2[3];    </a:t>
            </a:r>
            <a:br>
              <a:rPr lang="en-US" altLang="ja-JP" sz="1800" dirty="0">
                <a:latin typeface="Consolas" panose="020B0609020204030204" pitchFamily="49" charset="0"/>
              </a:rPr>
            </a:br>
            <a:r>
              <a:rPr lang="en-US" altLang="ja-JP" sz="1800" dirty="0">
                <a:latin typeface="Consolas" panose="020B0609020204030204" pitchFamily="49" charset="0"/>
              </a:rPr>
              <a:t>}</a:t>
            </a:r>
          </a:p>
          <a:p>
            <a:pPr marL="0" indent="0">
              <a:buNone/>
            </a:pPr>
            <a:r>
              <a:rPr lang="en-US" altLang="ja-JP" sz="1800" dirty="0">
                <a:solidFill>
                  <a:schemeClr val="accent3">
                    <a:lumMod val="75000"/>
                  </a:schemeClr>
                </a:solidFill>
                <a:latin typeface="Consolas" panose="020B0609020204030204" pitchFamily="49" charset="0"/>
              </a:rPr>
              <a:t>// </a:t>
            </a:r>
            <a:r>
              <a:rPr lang="ja-JP" altLang="en-US" sz="1800" dirty="0">
                <a:solidFill>
                  <a:schemeClr val="accent3">
                    <a:lumMod val="75000"/>
                  </a:schemeClr>
                </a:solidFill>
                <a:latin typeface="Consolas" panose="020B0609020204030204" pitchFamily="49" charset="0"/>
              </a:rPr>
              <a:t>連続した乗算を４つ行う </a:t>
            </a:r>
            <a:r>
              <a:rPr lang="en-US" altLang="ja-JP" sz="1800" dirty="0">
                <a:solidFill>
                  <a:schemeClr val="accent3">
                    <a:lumMod val="75000"/>
                  </a:schemeClr>
                </a:solidFill>
                <a:latin typeface="Consolas" panose="020B0609020204030204" pitchFamily="49" charset="0"/>
              </a:rPr>
              <a:t>SIMD </a:t>
            </a:r>
            <a:r>
              <a:rPr lang="ja-JP" altLang="en-US" sz="1800" dirty="0">
                <a:solidFill>
                  <a:schemeClr val="accent3">
                    <a:lumMod val="75000"/>
                  </a:schemeClr>
                </a:solidFill>
                <a:latin typeface="Consolas" panose="020B0609020204030204" pitchFamily="49" charset="0"/>
              </a:rPr>
              <a:t>命令に相当する関数</a:t>
            </a:r>
            <a:br>
              <a:rPr lang="en-US" altLang="ja-JP" sz="1800" dirty="0">
                <a:solidFill>
                  <a:schemeClr val="accent3">
                    <a:lumMod val="75000"/>
                  </a:schemeClr>
                </a:solidFill>
                <a:latin typeface="Consolas" panose="020B0609020204030204" pitchFamily="49" charset="0"/>
              </a:rPr>
            </a:br>
            <a:r>
              <a:rPr lang="en-US" altLang="ja-JP" sz="1800" dirty="0">
                <a:latin typeface="Consolas" panose="020B0609020204030204" pitchFamily="49" charset="0"/>
              </a:rPr>
              <a:t>void mul_x4(int* </a:t>
            </a:r>
            <a:r>
              <a:rPr lang="en-US" altLang="ja-JP" sz="1800" dirty="0" err="1">
                <a:latin typeface="Consolas" panose="020B0609020204030204" pitchFamily="49" charset="0"/>
              </a:rPr>
              <a:t>dst</a:t>
            </a:r>
            <a:r>
              <a:rPr lang="en-US" altLang="ja-JP" sz="1800" dirty="0">
                <a:latin typeface="Consolas" panose="020B0609020204030204" pitchFamily="49" charset="0"/>
              </a:rPr>
              <a:t>, int* src1, int* src2) {</a:t>
            </a:r>
            <a:br>
              <a:rPr lang="en-US" altLang="ja-JP" sz="1800" dirty="0">
                <a:latin typeface="Consolas" panose="020B0609020204030204" pitchFamily="49" charset="0"/>
              </a:rPr>
            </a:br>
            <a:r>
              <a:rPr lang="en-US" altLang="ja-JP" sz="1800" dirty="0">
                <a:latin typeface="Consolas" panose="020B0609020204030204" pitchFamily="49" charset="0"/>
              </a:rPr>
              <a:t>    </a:t>
            </a:r>
            <a:r>
              <a:rPr lang="en-US" altLang="ja-JP" sz="1800" dirty="0" err="1">
                <a:latin typeface="Consolas" panose="020B0609020204030204" pitchFamily="49" charset="0"/>
              </a:rPr>
              <a:t>dst</a:t>
            </a:r>
            <a:r>
              <a:rPr lang="en-US" altLang="ja-JP" sz="1800" dirty="0">
                <a:latin typeface="Consolas" panose="020B0609020204030204" pitchFamily="49" charset="0"/>
              </a:rPr>
              <a:t>[0] = src1[0] * src2[0];</a:t>
            </a:r>
            <a:br>
              <a:rPr lang="en-US" altLang="ja-JP" sz="1800" dirty="0">
                <a:latin typeface="Consolas" panose="020B0609020204030204" pitchFamily="49" charset="0"/>
              </a:rPr>
            </a:br>
            <a:r>
              <a:rPr lang="en-US" altLang="ja-JP" sz="1800" dirty="0">
                <a:latin typeface="Consolas" panose="020B0609020204030204" pitchFamily="49" charset="0"/>
              </a:rPr>
              <a:t>    </a:t>
            </a:r>
            <a:r>
              <a:rPr lang="en-US" altLang="ja-JP" sz="1800" dirty="0" err="1">
                <a:latin typeface="Consolas" panose="020B0609020204030204" pitchFamily="49" charset="0"/>
              </a:rPr>
              <a:t>dst</a:t>
            </a:r>
            <a:r>
              <a:rPr lang="en-US" altLang="ja-JP" sz="1800" dirty="0">
                <a:latin typeface="Consolas" panose="020B0609020204030204" pitchFamily="49" charset="0"/>
              </a:rPr>
              <a:t>[1] = src1[1] * src2[1];</a:t>
            </a:r>
            <a:br>
              <a:rPr lang="en-US" altLang="ja-JP" sz="1800" dirty="0">
                <a:latin typeface="Consolas" panose="020B0609020204030204" pitchFamily="49" charset="0"/>
              </a:rPr>
            </a:br>
            <a:r>
              <a:rPr lang="en-US" altLang="ja-JP" sz="1800" dirty="0">
                <a:latin typeface="Consolas" panose="020B0609020204030204" pitchFamily="49" charset="0"/>
              </a:rPr>
              <a:t>    </a:t>
            </a:r>
            <a:r>
              <a:rPr lang="en-US" altLang="ja-JP" sz="1800" dirty="0" err="1">
                <a:latin typeface="Consolas" panose="020B0609020204030204" pitchFamily="49" charset="0"/>
              </a:rPr>
              <a:t>dst</a:t>
            </a:r>
            <a:r>
              <a:rPr lang="en-US" altLang="ja-JP" sz="1800" dirty="0">
                <a:latin typeface="Consolas" panose="020B0609020204030204" pitchFamily="49" charset="0"/>
              </a:rPr>
              <a:t>[2] = src1[2] * src2[2];</a:t>
            </a:r>
            <a:br>
              <a:rPr lang="en-US" altLang="ja-JP" sz="1800" dirty="0">
                <a:latin typeface="Consolas" panose="020B0609020204030204" pitchFamily="49" charset="0"/>
              </a:rPr>
            </a:br>
            <a:r>
              <a:rPr lang="en-US" altLang="ja-JP" sz="1800" dirty="0">
                <a:latin typeface="Consolas" panose="020B0609020204030204" pitchFamily="49" charset="0"/>
              </a:rPr>
              <a:t>    </a:t>
            </a:r>
            <a:r>
              <a:rPr lang="en-US" altLang="ja-JP" sz="1800" dirty="0" err="1">
                <a:latin typeface="Consolas" panose="020B0609020204030204" pitchFamily="49" charset="0"/>
              </a:rPr>
              <a:t>dst</a:t>
            </a:r>
            <a:r>
              <a:rPr lang="en-US" altLang="ja-JP" sz="1800" dirty="0">
                <a:latin typeface="Consolas" panose="020B0609020204030204" pitchFamily="49" charset="0"/>
              </a:rPr>
              <a:t>[3] = src1[3] * src2[3];    </a:t>
            </a:r>
            <a:br>
              <a:rPr lang="en-US" altLang="ja-JP" sz="1800" dirty="0">
                <a:latin typeface="Consolas" panose="020B0609020204030204" pitchFamily="49" charset="0"/>
              </a:rPr>
            </a:br>
            <a:r>
              <a:rPr lang="en-US" altLang="ja-JP" sz="1800" dirty="0">
                <a:latin typeface="Consolas" panose="020B0609020204030204" pitchFamily="49" charset="0"/>
              </a:rPr>
              <a:t>}</a:t>
            </a:r>
            <a:endParaRPr lang="ja-JP" altLang="en-US" sz="1800" dirty="0">
              <a:latin typeface="Consolas" panose="020B0609020204030204" pitchFamily="49" charset="0"/>
            </a:endParaRPr>
          </a:p>
        </p:txBody>
      </p:sp>
    </p:spTree>
    <p:extLst>
      <p:ext uri="{BB962C8B-B14F-4D97-AF65-F5344CB8AC3E}">
        <p14:creationId xmlns:p14="http://schemas.microsoft.com/office/powerpoint/2010/main" val="6958045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8C414A-9D6F-0291-1BEF-BA8252882618}"/>
              </a:ext>
            </a:extLst>
          </p:cNvPr>
          <p:cNvSpPr>
            <a:spLocks noGrp="1"/>
          </p:cNvSpPr>
          <p:nvPr>
            <p:ph type="title"/>
          </p:nvPr>
        </p:nvSpPr>
        <p:spPr/>
        <p:txBody>
          <a:bodyPr/>
          <a:lstStyle/>
          <a:p>
            <a:r>
              <a:rPr kumimoji="1" lang="ja-JP" altLang="en-US" dirty="0"/>
              <a:t>（余談）組み込み関数の使用例</a:t>
            </a:r>
          </a:p>
        </p:txBody>
      </p:sp>
      <p:sp>
        <p:nvSpPr>
          <p:cNvPr id="3" name="テキスト プレースホルダー 2">
            <a:extLst>
              <a:ext uri="{FF2B5EF4-FFF2-40B4-BE49-F238E27FC236}">
                <a16:creationId xmlns:a16="http://schemas.microsoft.com/office/drawing/2014/main" id="{CA8DF91B-010A-FC96-5229-99742FE6D037}"/>
              </a:ext>
            </a:extLst>
          </p:cNvPr>
          <p:cNvSpPr>
            <a:spLocks noGrp="1"/>
          </p:cNvSpPr>
          <p:nvPr>
            <p:ph type="body" sz="quarter" idx="10"/>
          </p:nvPr>
        </p:nvSpPr>
        <p:spPr>
          <a:xfrm>
            <a:off x="1685952" y="1088975"/>
            <a:ext cx="4561815" cy="5219751"/>
          </a:xfrm>
        </p:spPr>
        <p:txBody>
          <a:bodyPr anchor="t"/>
          <a:lstStyle/>
          <a:p>
            <a:r>
              <a:rPr lang="en-US" altLang="ja-JP" sz="1200" dirty="0">
                <a:solidFill>
                  <a:schemeClr val="accent3">
                    <a:lumMod val="75000"/>
                  </a:schemeClr>
                </a:solidFill>
                <a:latin typeface="Consolas" panose="020B0609020204030204" pitchFamily="49" charset="0"/>
              </a:rPr>
              <a:t>// src1 </a:t>
            </a:r>
            <a:r>
              <a:rPr lang="ja-JP" altLang="en-US" sz="1200" dirty="0">
                <a:solidFill>
                  <a:schemeClr val="accent3">
                    <a:lumMod val="75000"/>
                  </a:schemeClr>
                </a:solidFill>
                <a:latin typeface="Consolas" panose="020B0609020204030204" pitchFamily="49" charset="0"/>
              </a:rPr>
              <a:t>と </a:t>
            </a:r>
            <a:r>
              <a:rPr lang="en-US" altLang="ja-JP" sz="1200" dirty="0">
                <a:solidFill>
                  <a:schemeClr val="accent3">
                    <a:lumMod val="75000"/>
                  </a:schemeClr>
                </a:solidFill>
                <a:latin typeface="Consolas" panose="020B0609020204030204" pitchFamily="49" charset="0"/>
              </a:rPr>
              <a:t>src2 </a:t>
            </a:r>
            <a:r>
              <a:rPr lang="ja-JP" altLang="en-US" sz="1200" dirty="0">
                <a:solidFill>
                  <a:schemeClr val="accent3">
                    <a:lumMod val="75000"/>
                  </a:schemeClr>
                </a:solidFill>
                <a:latin typeface="Consolas" panose="020B0609020204030204" pitchFamily="49" charset="0"/>
              </a:rPr>
              <a:t>から </a:t>
            </a:r>
            <a:r>
              <a:rPr lang="en-US" altLang="ja-JP" sz="1200" dirty="0">
                <a:solidFill>
                  <a:schemeClr val="accent3">
                    <a:lumMod val="75000"/>
                  </a:schemeClr>
                </a:solidFill>
                <a:latin typeface="Consolas" panose="020B0609020204030204" pitchFamily="49" charset="0"/>
              </a:rPr>
              <a:t>n</a:t>
            </a:r>
            <a:r>
              <a:rPr lang="ja-JP" altLang="en-US" sz="1200" dirty="0">
                <a:solidFill>
                  <a:schemeClr val="accent3">
                    <a:lumMod val="75000"/>
                  </a:schemeClr>
                </a:solidFill>
                <a:latin typeface="Consolas" panose="020B0609020204030204" pitchFamily="49" charset="0"/>
              </a:rPr>
              <a:t>個 のベクトルの</a:t>
            </a:r>
            <a:br>
              <a:rPr lang="en-US" altLang="ja-JP" sz="1200" dirty="0">
                <a:solidFill>
                  <a:schemeClr val="accent3">
                    <a:lumMod val="75000"/>
                  </a:schemeClr>
                </a:solidFill>
                <a:latin typeface="Consolas" panose="020B0609020204030204" pitchFamily="49" charset="0"/>
              </a:rPr>
            </a:br>
            <a:r>
              <a:rPr lang="en-US" altLang="ja-JP" sz="1200" dirty="0">
                <a:solidFill>
                  <a:schemeClr val="accent3">
                    <a:lumMod val="75000"/>
                  </a:schemeClr>
                </a:solidFill>
                <a:latin typeface="Consolas" panose="020B0609020204030204" pitchFamily="49" charset="0"/>
              </a:rPr>
              <a:t>// </a:t>
            </a:r>
            <a:r>
              <a:rPr lang="ja-JP" altLang="en-US" sz="1200" dirty="0">
                <a:solidFill>
                  <a:schemeClr val="accent3">
                    <a:lumMod val="75000"/>
                  </a:schemeClr>
                </a:solidFill>
                <a:latin typeface="Consolas" panose="020B0609020204030204" pitchFamily="49" charset="0"/>
              </a:rPr>
              <a:t>内積を行い，返り値として返す関数    </a:t>
            </a:r>
            <a:br>
              <a:rPr lang="en-US" altLang="ja-JP" sz="1200" dirty="0">
                <a:latin typeface="Consolas" panose="020B0609020204030204" pitchFamily="49" charset="0"/>
              </a:rPr>
            </a:br>
            <a:r>
              <a:rPr lang="en-US" altLang="ja-JP" sz="1200" dirty="0">
                <a:solidFill>
                  <a:schemeClr val="accent5"/>
                </a:solidFill>
                <a:latin typeface="Consolas" panose="020B0609020204030204" pitchFamily="49" charset="0"/>
              </a:rPr>
              <a:t>int</a:t>
            </a:r>
            <a:r>
              <a:rPr lang="en-US" altLang="ja-JP" sz="1200" dirty="0">
                <a:latin typeface="Consolas" panose="020B0609020204030204" pitchFamily="49" charset="0"/>
              </a:rPr>
              <a:t> </a:t>
            </a:r>
            <a:r>
              <a:rPr lang="en-US" altLang="ja-JP" sz="1200" dirty="0" err="1">
                <a:latin typeface="Consolas" panose="020B0609020204030204" pitchFamily="49" charset="0"/>
              </a:rPr>
              <a:t>dot_product</a:t>
            </a:r>
            <a:r>
              <a:rPr lang="en-US" altLang="ja-JP" sz="1200" dirty="0">
                <a:latin typeface="Consolas" panose="020B0609020204030204" pitchFamily="49" charset="0"/>
              </a:rPr>
              <a:t>(</a:t>
            </a:r>
            <a:r>
              <a:rPr lang="en-US" altLang="ja-JP" sz="1200" dirty="0">
                <a:solidFill>
                  <a:schemeClr val="accent5"/>
                </a:solidFill>
                <a:latin typeface="Consolas" panose="020B0609020204030204" pitchFamily="49" charset="0"/>
              </a:rPr>
              <a:t>int</a:t>
            </a:r>
            <a:r>
              <a:rPr lang="en-US" altLang="ja-JP" sz="1200" dirty="0">
                <a:latin typeface="Consolas" panose="020B0609020204030204" pitchFamily="49" charset="0"/>
              </a:rPr>
              <a:t>* s1, </a:t>
            </a:r>
            <a:r>
              <a:rPr lang="en-US" altLang="ja-JP" sz="1200" dirty="0">
                <a:solidFill>
                  <a:schemeClr val="accent5"/>
                </a:solidFill>
                <a:latin typeface="Consolas" panose="020B0609020204030204" pitchFamily="49" charset="0"/>
              </a:rPr>
              <a:t>int</a:t>
            </a:r>
            <a:r>
              <a:rPr lang="en-US" altLang="ja-JP" sz="1200" dirty="0">
                <a:latin typeface="Consolas" panose="020B0609020204030204" pitchFamily="49" charset="0"/>
              </a:rPr>
              <a:t>* s2, </a:t>
            </a:r>
            <a:r>
              <a:rPr lang="en-US" altLang="ja-JP" sz="1200" dirty="0">
                <a:solidFill>
                  <a:schemeClr val="accent5"/>
                </a:solidFill>
                <a:latin typeface="Consolas" panose="020B0609020204030204" pitchFamily="49" charset="0"/>
              </a:rPr>
              <a:t>int</a:t>
            </a:r>
            <a:r>
              <a:rPr lang="en-US" altLang="ja-JP" sz="1200" dirty="0">
                <a:latin typeface="Consolas" panose="020B0609020204030204" pitchFamily="49" charset="0"/>
              </a:rPr>
              <a:t> n) {</a:t>
            </a:r>
            <a:br>
              <a:rPr lang="en-US" altLang="ja-JP" sz="1200" dirty="0">
                <a:latin typeface="Consolas" panose="020B0609020204030204" pitchFamily="49" charset="0"/>
              </a:rPr>
            </a:br>
            <a:r>
              <a:rPr lang="en-US" altLang="ja-JP" sz="1200" dirty="0">
                <a:latin typeface="Consolas" panose="020B0609020204030204" pitchFamily="49" charset="0"/>
              </a:rPr>
              <a:t>    </a:t>
            </a:r>
            <a:r>
              <a:rPr lang="en-US" altLang="ja-JP" sz="1200" dirty="0">
                <a:solidFill>
                  <a:schemeClr val="accent5"/>
                </a:solidFill>
                <a:latin typeface="Consolas" panose="020B0609020204030204" pitchFamily="49" charset="0"/>
              </a:rPr>
              <a:t>int</a:t>
            </a:r>
            <a:r>
              <a:rPr lang="en-US" altLang="ja-JP" sz="1200" dirty="0">
                <a:latin typeface="Consolas" panose="020B0609020204030204" pitchFamily="49" charset="0"/>
              </a:rPr>
              <a:t> r = 0;</a:t>
            </a:r>
            <a:br>
              <a:rPr lang="en-US" altLang="ja-JP" sz="1200" dirty="0">
                <a:latin typeface="Consolas" panose="020B0609020204030204" pitchFamily="49" charset="0"/>
              </a:rPr>
            </a:br>
            <a:r>
              <a:rPr lang="en-US" altLang="ja-JP" sz="1200" dirty="0">
                <a:latin typeface="Consolas" panose="020B0609020204030204" pitchFamily="49" charset="0"/>
              </a:rPr>
              <a:t>    </a:t>
            </a:r>
            <a:r>
              <a:rPr lang="en-US" altLang="ja-JP" sz="1200" dirty="0">
                <a:solidFill>
                  <a:schemeClr val="accent5"/>
                </a:solidFill>
                <a:latin typeface="Consolas" panose="020B0609020204030204" pitchFamily="49" charset="0"/>
              </a:rPr>
              <a:t>for</a:t>
            </a:r>
            <a:r>
              <a:rPr lang="en-US" altLang="ja-JP" sz="1200" dirty="0">
                <a:latin typeface="Consolas" panose="020B0609020204030204" pitchFamily="49" charset="0"/>
              </a:rPr>
              <a:t> (</a:t>
            </a:r>
            <a:r>
              <a:rPr lang="en-US" altLang="ja-JP" sz="1200" dirty="0">
                <a:solidFill>
                  <a:schemeClr val="accent5"/>
                </a:solidFill>
                <a:latin typeface="Consolas" panose="020B0609020204030204" pitchFamily="49" charset="0"/>
              </a:rPr>
              <a:t>int</a:t>
            </a:r>
            <a:r>
              <a:rPr lang="en-US" altLang="ja-JP" sz="1200" dirty="0">
                <a:latin typeface="Consolas" panose="020B0609020204030204" pitchFamily="49" charset="0"/>
              </a:rPr>
              <a:t> i = 0; i &lt; n; i++) {</a:t>
            </a:r>
            <a:br>
              <a:rPr lang="en-US" altLang="ja-JP" sz="1200" dirty="0">
                <a:latin typeface="Consolas" panose="020B0609020204030204" pitchFamily="49" charset="0"/>
              </a:rPr>
            </a:br>
            <a:r>
              <a:rPr lang="en-US" altLang="ja-JP" sz="1200" dirty="0">
                <a:latin typeface="Consolas" panose="020B0609020204030204" pitchFamily="49" charset="0"/>
              </a:rPr>
              <a:t>        r += s1[i] * s2[i];</a:t>
            </a:r>
            <a:br>
              <a:rPr lang="en-US" altLang="ja-JP" sz="1200" dirty="0">
                <a:latin typeface="Consolas" panose="020B0609020204030204" pitchFamily="49" charset="0"/>
              </a:rPr>
            </a:br>
            <a:r>
              <a:rPr lang="en-US" altLang="ja-JP" sz="1200" dirty="0">
                <a:latin typeface="Consolas" panose="020B0609020204030204" pitchFamily="49" charset="0"/>
              </a:rPr>
              <a:t>    }</a:t>
            </a:r>
            <a:br>
              <a:rPr lang="en-US" altLang="ja-JP" sz="1200" dirty="0">
                <a:latin typeface="Consolas" panose="020B0609020204030204" pitchFamily="49" charset="0"/>
              </a:rPr>
            </a:br>
            <a:r>
              <a:rPr lang="en-US" altLang="ja-JP" sz="1200" dirty="0">
                <a:latin typeface="Consolas" panose="020B0609020204030204" pitchFamily="49" charset="0"/>
              </a:rPr>
              <a:t>    </a:t>
            </a:r>
            <a:r>
              <a:rPr lang="en-US" altLang="ja-JP" sz="1200" dirty="0">
                <a:solidFill>
                  <a:schemeClr val="accent5"/>
                </a:solidFill>
                <a:latin typeface="Consolas" panose="020B0609020204030204" pitchFamily="49" charset="0"/>
              </a:rPr>
              <a:t>return</a:t>
            </a:r>
            <a:r>
              <a:rPr lang="en-US" altLang="ja-JP" sz="1200" dirty="0">
                <a:latin typeface="Consolas" panose="020B0609020204030204" pitchFamily="49" charset="0"/>
              </a:rPr>
              <a:t> r;</a:t>
            </a:r>
            <a:br>
              <a:rPr lang="en-US" altLang="ja-JP" sz="1200" dirty="0">
                <a:latin typeface="Consolas" panose="020B0609020204030204" pitchFamily="49" charset="0"/>
              </a:rPr>
            </a:br>
            <a:r>
              <a:rPr lang="en-US" altLang="ja-JP" sz="1200" dirty="0">
                <a:latin typeface="Consolas" panose="020B0609020204030204" pitchFamily="49" charset="0"/>
              </a:rPr>
              <a:t>}    </a:t>
            </a:r>
            <a:endParaRPr lang="ja-JP" altLang="en-US" sz="1200" dirty="0">
              <a:latin typeface="Consolas" panose="020B0609020204030204" pitchFamily="49" charset="0"/>
            </a:endParaRPr>
          </a:p>
        </p:txBody>
      </p:sp>
      <p:sp>
        <p:nvSpPr>
          <p:cNvPr id="4" name="テキスト プレースホルダー 2">
            <a:extLst>
              <a:ext uri="{FF2B5EF4-FFF2-40B4-BE49-F238E27FC236}">
                <a16:creationId xmlns:a16="http://schemas.microsoft.com/office/drawing/2014/main" id="{BFFC3598-B33B-7AEC-61AE-A4DD1A15812B}"/>
              </a:ext>
            </a:extLst>
          </p:cNvPr>
          <p:cNvSpPr txBox="1">
            <a:spLocks/>
          </p:cNvSpPr>
          <p:nvPr/>
        </p:nvSpPr>
        <p:spPr bwMode="auto">
          <a:xfrm>
            <a:off x="5825998" y="1088975"/>
            <a:ext cx="4950055" cy="369004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en-US" altLang="ja-JP" sz="1200" kern="0" dirty="0">
                <a:solidFill>
                  <a:schemeClr val="accent3">
                    <a:lumMod val="75000"/>
                  </a:schemeClr>
                </a:solidFill>
                <a:latin typeface="Consolas" panose="020B0609020204030204" pitchFamily="49" charset="0"/>
              </a:rPr>
              <a:t>// </a:t>
            </a:r>
            <a:r>
              <a:rPr lang="ja-JP" altLang="en-US" sz="1200" kern="0" dirty="0">
                <a:solidFill>
                  <a:schemeClr val="accent3">
                    <a:lumMod val="75000"/>
                  </a:schemeClr>
                </a:solidFill>
                <a:latin typeface="Consolas" panose="020B0609020204030204" pitchFamily="49" charset="0"/>
              </a:rPr>
              <a:t>ベクトルの内積を行う関数の </a:t>
            </a:r>
            <a:r>
              <a:rPr lang="en-US" altLang="ja-JP" sz="1200" kern="0" dirty="0">
                <a:solidFill>
                  <a:schemeClr val="accent3">
                    <a:lumMod val="75000"/>
                  </a:schemeClr>
                </a:solidFill>
                <a:latin typeface="Consolas" panose="020B0609020204030204" pitchFamily="49" charset="0"/>
              </a:rPr>
              <a:t>SIMD </a:t>
            </a:r>
            <a:r>
              <a:rPr lang="ja-JP" altLang="en-US" sz="1200" kern="0" dirty="0">
                <a:solidFill>
                  <a:schemeClr val="accent3">
                    <a:lumMod val="75000"/>
                  </a:schemeClr>
                </a:solidFill>
                <a:latin typeface="Consolas" panose="020B0609020204030204" pitchFamily="49" charset="0"/>
              </a:rPr>
              <a:t>命令版</a:t>
            </a:r>
            <a:br>
              <a:rPr lang="en-US" altLang="ja-JP" sz="1200" kern="0" dirty="0">
                <a:solidFill>
                  <a:schemeClr val="accent3">
                    <a:lumMod val="75000"/>
                  </a:schemeClr>
                </a:solidFill>
                <a:latin typeface="Consolas" panose="020B0609020204030204" pitchFamily="49" charset="0"/>
              </a:rPr>
            </a:br>
            <a:r>
              <a:rPr lang="en-US" altLang="ja-JP" sz="1200" kern="0" dirty="0">
                <a:solidFill>
                  <a:schemeClr val="accent3">
                    <a:lumMod val="75000"/>
                  </a:schemeClr>
                </a:solidFill>
                <a:latin typeface="Consolas" panose="020B0609020204030204" pitchFamily="49" charset="0"/>
              </a:rPr>
              <a:t>// </a:t>
            </a:r>
            <a:r>
              <a:rPr lang="ja-JP" altLang="en-US" sz="1200" kern="0" dirty="0">
                <a:solidFill>
                  <a:schemeClr val="accent3">
                    <a:lumMod val="75000"/>
                  </a:schemeClr>
                </a:solidFill>
                <a:latin typeface="Consolas" panose="020B0609020204030204" pitchFamily="49" charset="0"/>
              </a:rPr>
              <a:t>データの個数は４の倍数であるとする</a:t>
            </a:r>
            <a:br>
              <a:rPr lang="en-US" altLang="ja-JP" sz="1200" kern="0" dirty="0">
                <a:latin typeface="Consolas" panose="020B0609020204030204" pitchFamily="49" charset="0"/>
              </a:rPr>
            </a:b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dot_product_x4(</a:t>
            </a: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s1, </a:t>
            </a: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s2, </a:t>
            </a: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n) {</a:t>
            </a:r>
            <a:br>
              <a:rPr lang="en-US" altLang="ja-JP" sz="1200" kern="0" dirty="0">
                <a:latin typeface="Consolas" panose="020B0609020204030204" pitchFamily="49" charset="0"/>
              </a:rPr>
            </a:br>
            <a:r>
              <a:rPr lang="en-US" altLang="ja-JP" sz="1200" kern="0" dirty="0">
                <a:latin typeface="Consolas" panose="020B0609020204030204" pitchFamily="49" charset="0"/>
              </a:rPr>
              <a:t>    </a:t>
            </a:r>
            <a:br>
              <a:rPr lang="en-US" altLang="ja-JP" sz="1200" kern="0" dirty="0">
                <a:latin typeface="Consolas" panose="020B0609020204030204" pitchFamily="49" charset="0"/>
              </a:rPr>
            </a:br>
            <a:r>
              <a:rPr lang="en-US" altLang="ja-JP" sz="1200" kern="0" dirty="0">
                <a:latin typeface="Consolas" panose="020B0609020204030204" pitchFamily="49" charset="0"/>
              </a:rPr>
              <a:t>    </a:t>
            </a:r>
            <a:r>
              <a:rPr lang="en-US" altLang="ja-JP" sz="1200" kern="0" dirty="0">
                <a:solidFill>
                  <a:schemeClr val="accent3">
                    <a:lumMod val="75000"/>
                  </a:schemeClr>
                </a:solidFill>
                <a:latin typeface="Consolas" panose="020B0609020204030204" pitchFamily="49" charset="0"/>
              </a:rPr>
              <a:t>// 4</a:t>
            </a:r>
            <a:r>
              <a:rPr lang="ja-JP" altLang="en-US" sz="1200" kern="0" dirty="0">
                <a:solidFill>
                  <a:schemeClr val="accent3">
                    <a:lumMod val="75000"/>
                  </a:schemeClr>
                </a:solidFill>
                <a:latin typeface="Consolas" panose="020B0609020204030204" pitchFamily="49" charset="0"/>
              </a:rPr>
              <a:t>並列で内積の処理を行う        </a:t>
            </a:r>
            <a:br>
              <a:rPr lang="en-US" altLang="ja-JP" sz="1200" kern="0" dirty="0">
                <a:latin typeface="Consolas" panose="020B0609020204030204" pitchFamily="49" charset="0"/>
              </a:rPr>
            </a:br>
            <a:r>
              <a:rPr lang="en-US" altLang="ja-JP" sz="1200" kern="0" dirty="0">
                <a:latin typeface="Consolas" panose="020B0609020204030204" pitchFamily="49" charset="0"/>
              </a:rPr>
              <a:t>    </a:t>
            </a: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r_x4[4] = {0, 0, 0, 0};        </a:t>
            </a:r>
            <a:br>
              <a:rPr lang="en-US" altLang="ja-JP" sz="1200" kern="0" dirty="0">
                <a:latin typeface="Consolas" panose="020B0609020204030204" pitchFamily="49" charset="0"/>
              </a:rPr>
            </a:br>
            <a:r>
              <a:rPr lang="en-US" altLang="ja-JP" sz="1200" kern="0" dirty="0">
                <a:latin typeface="Consolas" panose="020B0609020204030204" pitchFamily="49" charset="0"/>
              </a:rPr>
              <a:t>    </a:t>
            </a:r>
            <a:r>
              <a:rPr lang="en-US" altLang="ja-JP" sz="1200" kern="0" dirty="0">
                <a:solidFill>
                  <a:schemeClr val="accent5"/>
                </a:solidFill>
                <a:latin typeface="Consolas" panose="020B0609020204030204" pitchFamily="49" charset="0"/>
              </a:rPr>
              <a:t>for</a:t>
            </a:r>
            <a:r>
              <a:rPr lang="en-US" altLang="ja-JP" sz="1200" kern="0" dirty="0">
                <a:latin typeface="Consolas" panose="020B0609020204030204" pitchFamily="49" charset="0"/>
              </a:rPr>
              <a:t> (</a:t>
            </a: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i = 0; i &lt; n; i+=4) {            </a:t>
            </a:r>
            <a:br>
              <a:rPr lang="en-US" altLang="ja-JP" sz="1200" kern="0" dirty="0">
                <a:latin typeface="Consolas" panose="020B0609020204030204" pitchFamily="49" charset="0"/>
              </a:rPr>
            </a:br>
            <a:r>
              <a:rPr lang="en-US" altLang="ja-JP" sz="1200" kern="0" dirty="0">
                <a:latin typeface="Consolas" panose="020B0609020204030204" pitchFamily="49" charset="0"/>
              </a:rPr>
              <a:t>        </a:t>
            </a: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tmp_x4[4];</a:t>
            </a:r>
            <a:br>
              <a:rPr lang="en-US" altLang="ja-JP" sz="1200" kern="0" dirty="0">
                <a:latin typeface="Consolas" panose="020B0609020204030204" pitchFamily="49" charset="0"/>
              </a:rPr>
            </a:br>
            <a:r>
              <a:rPr lang="en-US" altLang="ja-JP" sz="1200" kern="0" dirty="0">
                <a:latin typeface="Consolas" panose="020B0609020204030204" pitchFamily="49" charset="0"/>
              </a:rPr>
              <a:t>        mul_x4(tmp_x4, s1 + i, s2 + i);</a:t>
            </a:r>
            <a:br>
              <a:rPr lang="en-US" altLang="ja-JP" sz="1200" kern="0" dirty="0">
                <a:latin typeface="Consolas" panose="020B0609020204030204" pitchFamily="49" charset="0"/>
              </a:rPr>
            </a:br>
            <a:r>
              <a:rPr lang="en-US" altLang="ja-JP" sz="1200" kern="0" dirty="0">
                <a:latin typeface="Consolas" panose="020B0609020204030204" pitchFamily="49" charset="0"/>
              </a:rPr>
              <a:t>        add_x4(r_x4, r_x4, tmp_x4);</a:t>
            </a:r>
            <a:br>
              <a:rPr lang="en-US" altLang="ja-JP" sz="1200" kern="0" dirty="0">
                <a:latin typeface="Consolas" panose="020B0609020204030204" pitchFamily="49" charset="0"/>
              </a:rPr>
            </a:br>
            <a:r>
              <a:rPr lang="en-US" altLang="ja-JP" sz="1200" kern="0" dirty="0">
                <a:latin typeface="Consolas" panose="020B0609020204030204" pitchFamily="49" charset="0"/>
              </a:rPr>
              <a:t>    }        </a:t>
            </a:r>
            <a:br>
              <a:rPr lang="en-US" altLang="ja-JP" sz="1200" kern="0" dirty="0">
                <a:latin typeface="Consolas" panose="020B0609020204030204" pitchFamily="49" charset="0"/>
              </a:rPr>
            </a:br>
            <a:r>
              <a:rPr lang="en-US" altLang="ja-JP" sz="1200" kern="0" dirty="0">
                <a:latin typeface="Consolas" panose="020B0609020204030204" pitchFamily="49" charset="0"/>
              </a:rPr>
              <a:t>    </a:t>
            </a:r>
            <a:br>
              <a:rPr lang="en-US" altLang="ja-JP" sz="1200" kern="0" dirty="0">
                <a:latin typeface="Consolas" panose="020B0609020204030204" pitchFamily="49" charset="0"/>
              </a:rPr>
            </a:br>
            <a:r>
              <a:rPr lang="en-US" altLang="ja-JP" sz="1200" kern="0" dirty="0">
                <a:latin typeface="Consolas" panose="020B0609020204030204" pitchFamily="49" charset="0"/>
              </a:rPr>
              <a:t>    </a:t>
            </a:r>
            <a:r>
              <a:rPr lang="en-US" altLang="ja-JP" sz="1200" kern="0" dirty="0">
                <a:solidFill>
                  <a:schemeClr val="accent3">
                    <a:lumMod val="75000"/>
                  </a:schemeClr>
                </a:solidFill>
                <a:latin typeface="Consolas" panose="020B0609020204030204" pitchFamily="49" charset="0"/>
              </a:rPr>
              <a:t>// 4</a:t>
            </a:r>
            <a:r>
              <a:rPr lang="ja-JP" altLang="en-US" sz="1200" kern="0" dirty="0">
                <a:solidFill>
                  <a:schemeClr val="accent3">
                    <a:lumMod val="75000"/>
                  </a:schemeClr>
                </a:solidFill>
                <a:latin typeface="Consolas" panose="020B0609020204030204" pitchFamily="49" charset="0"/>
              </a:rPr>
              <a:t>つの中間結果をまとめる        </a:t>
            </a:r>
            <a:br>
              <a:rPr lang="en-US" altLang="ja-JP" sz="1200" kern="0" dirty="0">
                <a:latin typeface="Consolas" panose="020B0609020204030204" pitchFamily="49" charset="0"/>
              </a:rPr>
            </a:br>
            <a:r>
              <a:rPr lang="en-US" altLang="ja-JP" sz="1200" kern="0" dirty="0">
                <a:latin typeface="Consolas" panose="020B0609020204030204" pitchFamily="49" charset="0"/>
              </a:rPr>
              <a:t>    </a:t>
            </a: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r = 0;        </a:t>
            </a:r>
            <a:br>
              <a:rPr lang="en-US" altLang="ja-JP" sz="1200" kern="0" dirty="0">
                <a:latin typeface="Consolas" panose="020B0609020204030204" pitchFamily="49" charset="0"/>
              </a:rPr>
            </a:br>
            <a:r>
              <a:rPr lang="en-US" altLang="ja-JP" sz="1200" kern="0" dirty="0">
                <a:latin typeface="Consolas" panose="020B0609020204030204" pitchFamily="49" charset="0"/>
              </a:rPr>
              <a:t>    </a:t>
            </a:r>
            <a:r>
              <a:rPr lang="en-US" altLang="ja-JP" sz="1200" kern="0" dirty="0">
                <a:solidFill>
                  <a:schemeClr val="accent5"/>
                </a:solidFill>
                <a:latin typeface="Consolas" panose="020B0609020204030204" pitchFamily="49" charset="0"/>
              </a:rPr>
              <a:t>for</a:t>
            </a:r>
            <a:r>
              <a:rPr lang="en-US" altLang="ja-JP" sz="1200" kern="0" dirty="0">
                <a:latin typeface="Consolas" panose="020B0609020204030204" pitchFamily="49" charset="0"/>
              </a:rPr>
              <a:t> (</a:t>
            </a: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i = 0; i &lt; 4; i++) {            </a:t>
            </a:r>
            <a:br>
              <a:rPr lang="en-US" altLang="ja-JP" sz="1200" kern="0" dirty="0">
                <a:latin typeface="Consolas" panose="020B0609020204030204" pitchFamily="49" charset="0"/>
              </a:rPr>
            </a:br>
            <a:r>
              <a:rPr lang="en-US" altLang="ja-JP" sz="1200" kern="0" dirty="0">
                <a:latin typeface="Consolas" panose="020B0609020204030204" pitchFamily="49" charset="0"/>
              </a:rPr>
              <a:t>        r += r_x4[i];        </a:t>
            </a:r>
            <a:br>
              <a:rPr lang="en-US" altLang="ja-JP" sz="1200" kern="0" dirty="0">
                <a:latin typeface="Consolas" panose="020B0609020204030204" pitchFamily="49" charset="0"/>
              </a:rPr>
            </a:br>
            <a:r>
              <a:rPr lang="en-US" altLang="ja-JP" sz="1200" kern="0" dirty="0">
                <a:latin typeface="Consolas" panose="020B0609020204030204" pitchFamily="49" charset="0"/>
              </a:rPr>
              <a:t>    }</a:t>
            </a:r>
            <a:br>
              <a:rPr lang="en-US" altLang="ja-JP" sz="1200" kern="0" dirty="0">
                <a:latin typeface="Consolas" panose="020B0609020204030204" pitchFamily="49" charset="0"/>
              </a:rPr>
            </a:br>
            <a:r>
              <a:rPr lang="en-US" altLang="ja-JP" sz="1200" kern="0" dirty="0">
                <a:latin typeface="Consolas" panose="020B0609020204030204" pitchFamily="49" charset="0"/>
              </a:rPr>
              <a:t>    </a:t>
            </a:r>
            <a:r>
              <a:rPr lang="en-US" altLang="ja-JP" sz="1200" kern="0" dirty="0">
                <a:solidFill>
                  <a:schemeClr val="accent5"/>
                </a:solidFill>
                <a:latin typeface="Consolas" panose="020B0609020204030204" pitchFamily="49" charset="0"/>
              </a:rPr>
              <a:t>return</a:t>
            </a:r>
            <a:r>
              <a:rPr lang="en-US" altLang="ja-JP" sz="1200" kern="0" dirty="0">
                <a:latin typeface="Consolas" panose="020B0609020204030204" pitchFamily="49" charset="0"/>
              </a:rPr>
              <a:t> r;    </a:t>
            </a:r>
            <a:br>
              <a:rPr lang="en-US" altLang="ja-JP" sz="1200" kern="0" dirty="0">
                <a:latin typeface="Consolas" panose="020B0609020204030204" pitchFamily="49" charset="0"/>
              </a:rPr>
            </a:br>
            <a:r>
              <a:rPr lang="en-US" altLang="ja-JP" sz="1200" kern="0" dirty="0">
                <a:latin typeface="Consolas" panose="020B0609020204030204" pitchFamily="49" charset="0"/>
              </a:rPr>
              <a:t>}</a:t>
            </a:r>
            <a:endParaRPr lang="ja-JP" altLang="en-US" sz="1200" kern="0" dirty="0">
              <a:latin typeface="Consolas" panose="020B0609020204030204" pitchFamily="49" charset="0"/>
            </a:endParaRPr>
          </a:p>
        </p:txBody>
      </p:sp>
      <p:sp>
        <p:nvSpPr>
          <p:cNvPr id="5" name="テキスト プレースホルダー 2">
            <a:extLst>
              <a:ext uri="{FF2B5EF4-FFF2-40B4-BE49-F238E27FC236}">
                <a16:creationId xmlns:a16="http://schemas.microsoft.com/office/drawing/2014/main" id="{39FB559E-CE93-03B6-6E37-CCB9A80856B3}"/>
              </a:ext>
            </a:extLst>
          </p:cNvPr>
          <p:cNvSpPr txBox="1">
            <a:spLocks/>
          </p:cNvSpPr>
          <p:nvPr/>
        </p:nvSpPr>
        <p:spPr bwMode="auto">
          <a:xfrm>
            <a:off x="1685951" y="5319021"/>
            <a:ext cx="9270103" cy="80970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en-US" altLang="ja-JP" kern="0" dirty="0"/>
              <a:t>mul_x4 </a:t>
            </a:r>
            <a:r>
              <a:rPr lang="ja-JP" altLang="en-US" kern="0" dirty="0"/>
              <a:t>や </a:t>
            </a:r>
            <a:r>
              <a:rPr lang="en-US" altLang="ja-JP" kern="0" dirty="0"/>
              <a:t>add_x4 </a:t>
            </a:r>
            <a:r>
              <a:rPr lang="ja-JP" altLang="en-US" kern="0" dirty="0"/>
              <a:t>の部分が </a:t>
            </a:r>
            <a:r>
              <a:rPr lang="en-US" altLang="ja-JP" kern="0" dirty="0"/>
              <a:t>SIMD </a:t>
            </a:r>
            <a:r>
              <a:rPr lang="ja-JP" altLang="en-US" kern="0" dirty="0"/>
              <a:t>命令に置き換わる形でコンパイルされる</a:t>
            </a:r>
            <a:endParaRPr lang="en-US" altLang="ja-JP" kern="0" dirty="0"/>
          </a:p>
          <a:p>
            <a:pPr lvl="1"/>
            <a:r>
              <a:rPr lang="ja-JP" altLang="en-US" kern="0" dirty="0"/>
              <a:t>これを人手でやるのは結構しんどい</a:t>
            </a:r>
            <a:endParaRPr lang="en-US" altLang="ja-JP" kern="0" dirty="0"/>
          </a:p>
        </p:txBody>
      </p:sp>
    </p:spTree>
    <p:extLst>
      <p:ext uri="{BB962C8B-B14F-4D97-AF65-F5344CB8AC3E}">
        <p14:creationId xmlns:p14="http://schemas.microsoft.com/office/powerpoint/2010/main" val="20920081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B3739-D06E-92B4-5311-4BECA9EFBA9E}"/>
            </a:ext>
          </a:extLst>
        </p:cNvPr>
        <p:cNvGrpSpPr/>
        <p:nvPr/>
      </p:nvGrpSpPr>
      <p:grpSpPr>
        <a:xfrm>
          <a:off x="0" y="0"/>
          <a:ext cx="0" cy="0"/>
          <a:chOff x="0" y="0"/>
          <a:chExt cx="0" cy="0"/>
        </a:xfrm>
      </p:grpSpPr>
      <p:grpSp>
        <p:nvGrpSpPr>
          <p:cNvPr id="34" name="グループ化 33">
            <a:extLst>
              <a:ext uri="{FF2B5EF4-FFF2-40B4-BE49-F238E27FC236}">
                <a16:creationId xmlns:a16="http://schemas.microsoft.com/office/drawing/2014/main" id="{1DD97A29-76A6-2337-7D45-D78B5686A704}"/>
              </a:ext>
            </a:extLst>
          </p:cNvPr>
          <p:cNvGrpSpPr/>
          <p:nvPr/>
        </p:nvGrpSpPr>
        <p:grpSpPr>
          <a:xfrm>
            <a:off x="4295980" y="3158997"/>
            <a:ext cx="1562400" cy="576064"/>
            <a:chOff x="971600" y="5445224"/>
            <a:chExt cx="7200800" cy="576064"/>
          </a:xfrm>
        </p:grpSpPr>
        <p:sp>
          <p:nvSpPr>
            <p:cNvPr id="35" name="平行四辺形 34">
              <a:extLst>
                <a:ext uri="{FF2B5EF4-FFF2-40B4-BE49-F238E27FC236}">
                  <a16:creationId xmlns:a16="http://schemas.microsoft.com/office/drawing/2014/main" id="{7CC7A72B-C90A-E701-A600-26939DC21711}"/>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a:extLst>
                <a:ext uri="{FF2B5EF4-FFF2-40B4-BE49-F238E27FC236}">
                  <a16:creationId xmlns:a16="http://schemas.microsoft.com/office/drawing/2014/main" id="{82DB7233-1404-DCF3-D3A1-7A92359634CB}"/>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a:extLst>
              <a:ext uri="{FF2B5EF4-FFF2-40B4-BE49-F238E27FC236}">
                <a16:creationId xmlns:a16="http://schemas.microsoft.com/office/drawing/2014/main" id="{3D0D7CA6-1255-9914-0305-CB36C7697F1A}"/>
              </a:ext>
            </a:extLst>
          </p:cNvPr>
          <p:cNvGrpSpPr/>
          <p:nvPr/>
        </p:nvGrpSpPr>
        <p:grpSpPr>
          <a:xfrm>
            <a:off x="5736140" y="3158997"/>
            <a:ext cx="1562400" cy="576064"/>
            <a:chOff x="971600" y="5445224"/>
            <a:chExt cx="7200800" cy="576064"/>
          </a:xfrm>
        </p:grpSpPr>
        <p:sp>
          <p:nvSpPr>
            <p:cNvPr id="50" name="平行四辺形 49">
              <a:extLst>
                <a:ext uri="{FF2B5EF4-FFF2-40B4-BE49-F238E27FC236}">
                  <a16:creationId xmlns:a16="http://schemas.microsoft.com/office/drawing/2014/main" id="{106C9520-D7F2-6CB2-B3E6-8154375D4484}"/>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a:extLst>
                <a:ext uri="{FF2B5EF4-FFF2-40B4-BE49-F238E27FC236}">
                  <a16:creationId xmlns:a16="http://schemas.microsoft.com/office/drawing/2014/main" id="{A559BCF3-5AE7-D467-1D48-5287EE592E21}"/>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a:extLst>
              <a:ext uri="{FF2B5EF4-FFF2-40B4-BE49-F238E27FC236}">
                <a16:creationId xmlns:a16="http://schemas.microsoft.com/office/drawing/2014/main" id="{2E7E945F-6485-D31F-AD14-26895F3784DE}"/>
              </a:ext>
            </a:extLst>
          </p:cNvPr>
          <p:cNvGrpSpPr/>
          <p:nvPr/>
        </p:nvGrpSpPr>
        <p:grpSpPr>
          <a:xfrm>
            <a:off x="7176300" y="3158997"/>
            <a:ext cx="1562400" cy="576064"/>
            <a:chOff x="971600" y="5445224"/>
            <a:chExt cx="7200800" cy="576064"/>
          </a:xfrm>
        </p:grpSpPr>
        <p:sp>
          <p:nvSpPr>
            <p:cNvPr id="53" name="平行四辺形 52">
              <a:extLst>
                <a:ext uri="{FF2B5EF4-FFF2-40B4-BE49-F238E27FC236}">
                  <a16:creationId xmlns:a16="http://schemas.microsoft.com/office/drawing/2014/main" id="{785A0E13-75B2-9DD4-2D26-C08341E48687}"/>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a:extLst>
                <a:ext uri="{FF2B5EF4-FFF2-40B4-BE49-F238E27FC236}">
                  <a16:creationId xmlns:a16="http://schemas.microsoft.com/office/drawing/2014/main" id="{00C854A0-1004-7CA2-AE34-D31C21BC09B0}"/>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a:extLst>
              <a:ext uri="{FF2B5EF4-FFF2-40B4-BE49-F238E27FC236}">
                <a16:creationId xmlns:a16="http://schemas.microsoft.com/office/drawing/2014/main" id="{1C1F526A-DE87-F035-C27F-0433F93D8E90}"/>
              </a:ext>
            </a:extLst>
          </p:cNvPr>
          <p:cNvGrpSpPr/>
          <p:nvPr/>
        </p:nvGrpSpPr>
        <p:grpSpPr>
          <a:xfrm>
            <a:off x="8616460" y="3158997"/>
            <a:ext cx="1584176" cy="576064"/>
            <a:chOff x="971600" y="5445224"/>
            <a:chExt cx="7200800" cy="576064"/>
          </a:xfrm>
        </p:grpSpPr>
        <p:sp>
          <p:nvSpPr>
            <p:cNvPr id="62" name="平行四辺形 61">
              <a:extLst>
                <a:ext uri="{FF2B5EF4-FFF2-40B4-BE49-F238E27FC236}">
                  <a16:creationId xmlns:a16="http://schemas.microsoft.com/office/drawing/2014/main" id="{BDD2A3A6-7519-A2A7-1DB4-53CE4B537200}"/>
                </a:ext>
              </a:extLst>
            </p:cNvPr>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a:extLst>
                <a:ext uri="{FF2B5EF4-FFF2-40B4-BE49-F238E27FC236}">
                  <a16:creationId xmlns:a16="http://schemas.microsoft.com/office/drawing/2014/main" id="{28D923DD-B8CA-D40E-032E-51D8FA55B73F}"/>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a:extLst>
              <a:ext uri="{FF2B5EF4-FFF2-40B4-BE49-F238E27FC236}">
                <a16:creationId xmlns:a16="http://schemas.microsoft.com/office/drawing/2014/main" id="{D3ED3E26-A91F-1C20-44EF-7ACA266D5CAE}"/>
              </a:ext>
            </a:extLst>
          </p:cNvPr>
          <p:cNvSpPr/>
          <p:nvPr/>
        </p:nvSpPr>
        <p:spPr>
          <a:xfrm>
            <a:off x="4257820"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a:extLst>
              <a:ext uri="{FF2B5EF4-FFF2-40B4-BE49-F238E27FC236}">
                <a16:creationId xmlns:a16="http://schemas.microsoft.com/office/drawing/2014/main" id="{92559841-92EA-3A97-0D2F-E88551988B91}"/>
              </a:ext>
            </a:extLst>
          </p:cNvPr>
          <p:cNvSpPr/>
          <p:nvPr/>
        </p:nvSpPr>
        <p:spPr>
          <a:xfrm>
            <a:off x="5697980"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9AB7A5A9-CBF4-B472-2005-34E8311C727B}"/>
              </a:ext>
            </a:extLst>
          </p:cNvPr>
          <p:cNvSpPr/>
          <p:nvPr/>
        </p:nvSpPr>
        <p:spPr>
          <a:xfrm>
            <a:off x="7140027"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a:extLst>
              <a:ext uri="{FF2B5EF4-FFF2-40B4-BE49-F238E27FC236}">
                <a16:creationId xmlns:a16="http://schemas.microsoft.com/office/drawing/2014/main" id="{8DA0F069-2A37-482B-3D9E-21D1202FBB77}"/>
              </a:ext>
            </a:extLst>
          </p:cNvPr>
          <p:cNvSpPr/>
          <p:nvPr/>
        </p:nvSpPr>
        <p:spPr>
          <a:xfrm>
            <a:off x="8580187"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D8E2F6A4-B577-9962-CEC2-85AB31371144}"/>
              </a:ext>
            </a:extLst>
          </p:cNvPr>
          <p:cNvSpPr>
            <a:spLocks noGrp="1"/>
          </p:cNvSpPr>
          <p:nvPr>
            <p:ph type="title"/>
          </p:nvPr>
        </p:nvSpPr>
        <p:spPr/>
        <p:txBody>
          <a:bodyPr/>
          <a:lstStyle/>
          <a:p>
            <a:r>
              <a:rPr lang="ja-JP" altLang="en-US" dirty="0"/>
              <a:t>カレー屋さんの場合の </a:t>
            </a:r>
            <a:r>
              <a:rPr lang="en-US" altLang="ja-JP" dirty="0"/>
              <a:t>SIMD </a:t>
            </a:r>
            <a:r>
              <a:rPr lang="ja-JP" altLang="en-US" dirty="0"/>
              <a:t>命令や組み込み関数</a:t>
            </a:r>
            <a:endParaRPr kumimoji="1" lang="ja-JP" altLang="en-US" dirty="0"/>
          </a:p>
        </p:txBody>
      </p:sp>
      <p:cxnSp>
        <p:nvCxnSpPr>
          <p:cNvPr id="67" name="直線矢印コネクタ 66">
            <a:extLst>
              <a:ext uri="{FF2B5EF4-FFF2-40B4-BE49-F238E27FC236}">
                <a16:creationId xmlns:a16="http://schemas.microsoft.com/office/drawing/2014/main" id="{C0F505F4-ABD3-9303-E0E4-3840F4108995}"/>
              </a:ext>
            </a:extLst>
          </p:cNvPr>
          <p:cNvCxnSpPr/>
          <p:nvPr/>
        </p:nvCxnSpPr>
        <p:spPr bwMode="auto">
          <a:xfrm>
            <a:off x="4295980"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30" name="Freeform 25">
            <a:extLst>
              <a:ext uri="{FF2B5EF4-FFF2-40B4-BE49-F238E27FC236}">
                <a16:creationId xmlns:a16="http://schemas.microsoft.com/office/drawing/2014/main" id="{FE1007D5-B16B-F59F-EAB4-5B2689E76D76}"/>
              </a:ext>
            </a:extLst>
          </p:cNvPr>
          <p:cNvSpPr>
            <a:spLocks/>
          </p:cNvSpPr>
          <p:nvPr/>
        </p:nvSpPr>
        <p:spPr bwMode="auto">
          <a:xfrm>
            <a:off x="5915998"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キッチン台</a:t>
            </a:r>
          </a:p>
        </p:txBody>
      </p:sp>
      <p:sp>
        <p:nvSpPr>
          <p:cNvPr id="31" name="AutoShape 5">
            <a:extLst>
              <a:ext uri="{FF2B5EF4-FFF2-40B4-BE49-F238E27FC236}">
                <a16:creationId xmlns:a16="http://schemas.microsoft.com/office/drawing/2014/main" id="{561576B4-406E-EAD6-2782-B30905224BA1}"/>
              </a:ext>
            </a:extLst>
          </p:cNvPr>
          <p:cNvSpPr>
            <a:spLocks noChangeArrowheads="1"/>
          </p:cNvSpPr>
          <p:nvPr/>
        </p:nvSpPr>
        <p:spPr bwMode="auto">
          <a:xfrm rot="-5400000">
            <a:off x="7536178" y="1683049"/>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コンロ</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まな板</a:t>
            </a:r>
          </a:p>
        </p:txBody>
      </p:sp>
      <p:grpSp>
        <p:nvGrpSpPr>
          <p:cNvPr id="32" name="グループ化 31">
            <a:extLst>
              <a:ext uri="{FF2B5EF4-FFF2-40B4-BE49-F238E27FC236}">
                <a16:creationId xmlns:a16="http://schemas.microsoft.com/office/drawing/2014/main" id="{6B9CA54B-9F46-11A0-AB7B-D82AA0F3911D}"/>
              </a:ext>
            </a:extLst>
          </p:cNvPr>
          <p:cNvGrpSpPr/>
          <p:nvPr/>
        </p:nvGrpSpPr>
        <p:grpSpPr>
          <a:xfrm>
            <a:off x="6204030" y="1719053"/>
            <a:ext cx="1008112" cy="432048"/>
            <a:chOff x="3563888" y="2708920"/>
            <a:chExt cx="1296144" cy="432048"/>
          </a:xfrm>
        </p:grpSpPr>
        <p:sp>
          <p:nvSpPr>
            <p:cNvPr id="33" name="Freeform 9">
              <a:extLst>
                <a:ext uri="{FF2B5EF4-FFF2-40B4-BE49-F238E27FC236}">
                  <a16:creationId xmlns:a16="http://schemas.microsoft.com/office/drawing/2014/main" id="{494C7707-1C10-19EF-3048-4F6330D8A521}"/>
                </a:ext>
              </a:extLst>
            </p:cNvPr>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a:extLst>
                <a:ext uri="{FF2B5EF4-FFF2-40B4-BE49-F238E27FC236}">
                  <a16:creationId xmlns:a16="http://schemas.microsoft.com/office/drawing/2014/main" id="{FC918A45-7A6D-2191-F2DD-91209C36AAE5}"/>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a:extLst>
              <a:ext uri="{FF2B5EF4-FFF2-40B4-BE49-F238E27FC236}">
                <a16:creationId xmlns:a16="http://schemas.microsoft.com/office/drawing/2014/main" id="{D8CAFF1B-1089-0E10-2930-0D476E41D024}"/>
              </a:ext>
            </a:extLst>
          </p:cNvPr>
          <p:cNvSpPr>
            <a:spLocks/>
          </p:cNvSpPr>
          <p:nvPr/>
        </p:nvSpPr>
        <p:spPr bwMode="auto">
          <a:xfrm>
            <a:off x="8652302" y="1719053"/>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96" name="正方形/長方形 95">
            <a:extLst>
              <a:ext uri="{FF2B5EF4-FFF2-40B4-BE49-F238E27FC236}">
                <a16:creationId xmlns:a16="http://schemas.microsoft.com/office/drawing/2014/main" id="{3A29F210-8CAB-7480-83F7-093F1A9E59B6}"/>
              </a:ext>
            </a:extLst>
          </p:cNvPr>
          <p:cNvSpPr/>
          <p:nvPr/>
        </p:nvSpPr>
        <p:spPr bwMode="auto">
          <a:xfrm>
            <a:off x="2315958" y="2258987"/>
            <a:ext cx="1800020" cy="1710019"/>
          </a:xfrm>
          <a:prstGeom prst="rect">
            <a:avLst/>
          </a:prstGeom>
          <a:ln>
            <a:headEnd/>
            <a:tailEnd type="non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r>
              <a:rPr lang="en-US" altLang="ja-JP" sz="1400" dirty="0">
                <a:solidFill>
                  <a:schemeClr val="tx1"/>
                </a:solidFill>
                <a:latin typeface="Arial Narrow" panose="020B0606020202030204" pitchFamily="34" charset="0"/>
              </a:rPr>
              <a:t>1. </a:t>
            </a:r>
            <a:r>
              <a:rPr lang="ja-JP" altLang="en-US" sz="1400" dirty="0">
                <a:solidFill>
                  <a:schemeClr val="tx1"/>
                </a:solidFill>
                <a:latin typeface="Arial Narrow" panose="020B0606020202030204" pitchFamily="34" charset="0"/>
              </a:rPr>
              <a:t>人参を４つ切る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2. </a:t>
            </a:r>
            <a:r>
              <a:rPr lang="ja-JP" altLang="en-US" sz="1400" dirty="0">
                <a:solidFill>
                  <a:schemeClr val="tx1"/>
                </a:solidFill>
                <a:latin typeface="Arial Narrow" panose="020B0606020202030204" pitchFamily="34" charset="0"/>
              </a:rPr>
              <a:t>玉葱を４つ切る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3. </a:t>
            </a:r>
            <a:r>
              <a:rPr lang="ja-JP" altLang="en-US" sz="1400" dirty="0">
                <a:solidFill>
                  <a:schemeClr val="tx1"/>
                </a:solidFill>
                <a:latin typeface="Arial Narrow" panose="020B0606020202030204" pitchFamily="34" charset="0"/>
              </a:rPr>
              <a:t>肉を４つ切る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4. </a:t>
            </a:r>
            <a:r>
              <a:rPr lang="ja-JP" altLang="en-US" sz="1400" dirty="0">
                <a:solidFill>
                  <a:schemeClr val="tx1"/>
                </a:solidFill>
                <a:latin typeface="Arial Narrow" panose="020B0606020202030204" pitchFamily="34" charset="0"/>
              </a:rPr>
              <a:t>芋を４つ切る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5. </a:t>
            </a:r>
            <a:r>
              <a:rPr lang="ja-JP" altLang="en-US" sz="1400" dirty="0">
                <a:solidFill>
                  <a:schemeClr val="tx1"/>
                </a:solidFill>
                <a:latin typeface="Arial Narrow" panose="020B0606020202030204" pitchFamily="34" charset="0"/>
              </a:rPr>
              <a:t>４つ炒める</a:t>
            </a:r>
          </a:p>
        </p:txBody>
      </p:sp>
      <p:sp>
        <p:nvSpPr>
          <p:cNvPr id="5" name="角丸四角形 45">
            <a:extLst>
              <a:ext uri="{FF2B5EF4-FFF2-40B4-BE49-F238E27FC236}">
                <a16:creationId xmlns:a16="http://schemas.microsoft.com/office/drawing/2014/main" id="{C7DBFCD3-B3AF-E98A-2D1F-E728C3A0A2B1}"/>
              </a:ext>
            </a:extLst>
          </p:cNvPr>
          <p:cNvSpPr/>
          <p:nvPr/>
        </p:nvSpPr>
        <p:spPr bwMode="auto">
          <a:xfrm>
            <a:off x="6102017" y="2888994"/>
            <a:ext cx="720008" cy="450005"/>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200" b="1" dirty="0">
                <a:solidFill>
                  <a:schemeClr val="bg1"/>
                </a:solidFill>
                <a:latin typeface="Arial Narrow" panose="020B0606020202030204" pitchFamily="34" charset="0"/>
              </a:rPr>
              <a:t>人参を</a:t>
            </a:r>
            <a:br>
              <a:rPr kumimoji="1" lang="en-US" altLang="ja-JP" sz="1200" b="1" dirty="0">
                <a:solidFill>
                  <a:schemeClr val="bg1"/>
                </a:solidFill>
                <a:latin typeface="Arial Narrow" panose="020B0606020202030204" pitchFamily="34" charset="0"/>
              </a:rPr>
            </a:br>
            <a:r>
              <a:rPr kumimoji="1" lang="ja-JP" altLang="en-US" sz="1200" b="1" dirty="0">
                <a:solidFill>
                  <a:schemeClr val="bg1"/>
                </a:solidFill>
                <a:latin typeface="Arial Narrow" panose="020B0606020202030204" pitchFamily="34" charset="0"/>
              </a:rPr>
              <a:t>４つ切る</a:t>
            </a:r>
          </a:p>
        </p:txBody>
      </p:sp>
      <p:sp>
        <p:nvSpPr>
          <p:cNvPr id="6" name="角丸四角形 46">
            <a:extLst>
              <a:ext uri="{FF2B5EF4-FFF2-40B4-BE49-F238E27FC236}">
                <a16:creationId xmlns:a16="http://schemas.microsoft.com/office/drawing/2014/main" id="{DC328C58-A400-25B6-F964-70BECFEF7436}"/>
              </a:ext>
            </a:extLst>
          </p:cNvPr>
          <p:cNvSpPr/>
          <p:nvPr/>
        </p:nvSpPr>
        <p:spPr bwMode="auto">
          <a:xfrm>
            <a:off x="4662001" y="2888994"/>
            <a:ext cx="720008" cy="450005"/>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200" b="1" dirty="0">
                <a:solidFill>
                  <a:schemeClr val="bg1"/>
                </a:solidFill>
                <a:latin typeface="Arial Narrow" panose="020B0606020202030204" pitchFamily="34" charset="0"/>
              </a:rPr>
              <a:t>玉葱を</a:t>
            </a:r>
            <a:endParaRPr lang="en-US" altLang="ja-JP" sz="1200" b="1" dirty="0">
              <a:solidFill>
                <a:schemeClr val="bg1"/>
              </a:solidFill>
              <a:latin typeface="Arial Narrow" panose="020B0606020202030204" pitchFamily="34" charset="0"/>
            </a:endParaRPr>
          </a:p>
          <a:p>
            <a:pPr algn="ctr"/>
            <a:r>
              <a:rPr lang="ja-JP" altLang="en-US" sz="1200" b="1" dirty="0">
                <a:solidFill>
                  <a:schemeClr val="bg1"/>
                </a:solidFill>
                <a:latin typeface="Arial Narrow" panose="020B0606020202030204" pitchFamily="34" charset="0"/>
              </a:rPr>
              <a:t>４つ切る</a:t>
            </a:r>
            <a:endParaRPr kumimoji="1" lang="ja-JP" altLang="en-US" sz="1200" b="1" dirty="0">
              <a:solidFill>
                <a:schemeClr val="bg1"/>
              </a:solidFill>
              <a:latin typeface="Arial Narrow" panose="020B0606020202030204" pitchFamily="34" charset="0"/>
            </a:endParaRPr>
          </a:p>
        </p:txBody>
      </p:sp>
      <p:sp>
        <p:nvSpPr>
          <p:cNvPr id="4" name="テキスト プレースホルダー 4">
            <a:extLst>
              <a:ext uri="{FF2B5EF4-FFF2-40B4-BE49-F238E27FC236}">
                <a16:creationId xmlns:a16="http://schemas.microsoft.com/office/drawing/2014/main" id="{2648CCA5-8259-D893-5ECB-160A693FB71D}"/>
              </a:ext>
            </a:extLst>
          </p:cNvPr>
          <p:cNvSpPr>
            <a:spLocks noGrp="1"/>
          </p:cNvSpPr>
          <p:nvPr>
            <p:ph type="body" sz="quarter" idx="10"/>
          </p:nvPr>
        </p:nvSpPr>
        <p:spPr>
          <a:xfrm>
            <a:off x="1145945" y="4869016"/>
            <a:ext cx="9630107" cy="1170013"/>
          </a:xfrm>
        </p:spPr>
        <p:txBody>
          <a:bodyPr/>
          <a:lstStyle/>
          <a:p>
            <a:r>
              <a:rPr lang="en-US" altLang="ja-JP" dirty="0"/>
              <a:t>SIMD </a:t>
            </a:r>
            <a:r>
              <a:rPr lang="ja-JP" altLang="en-US" dirty="0"/>
              <a:t>命令や組み込み関数：</a:t>
            </a:r>
            <a:endParaRPr lang="en-US" altLang="ja-JP" dirty="0"/>
          </a:p>
          <a:p>
            <a:pPr lvl="1"/>
            <a:r>
              <a:rPr lang="ja-JP" altLang="en-US" dirty="0"/>
              <a:t>レシピに「４つ切る」と最初から書いてある</a:t>
            </a:r>
            <a:endParaRPr lang="en-US" altLang="ja-JP" dirty="0"/>
          </a:p>
          <a:p>
            <a:r>
              <a:rPr lang="ja-JP" altLang="en-US" dirty="0"/>
              <a:t>プログラミング（レシピを書くとき）なにが難しいのか？</a:t>
            </a:r>
            <a:endParaRPr lang="en-US" altLang="ja-JP" dirty="0"/>
          </a:p>
          <a:p>
            <a:pPr lvl="1"/>
            <a:r>
              <a:rPr lang="ja-JP" altLang="en-US" dirty="0"/>
              <a:t>都合よく４つカレーの注文が来ない時の対応</a:t>
            </a:r>
            <a:endParaRPr lang="en-US" altLang="ja-JP" dirty="0"/>
          </a:p>
          <a:p>
            <a:pPr lvl="1"/>
            <a:r>
              <a:rPr lang="ja-JP" altLang="en-US" dirty="0"/>
              <a:t>材料を全部４つセットで並べなて，一気に取れるようにしないといけない</a:t>
            </a:r>
            <a:endParaRPr lang="en-US" altLang="ja-JP" dirty="0"/>
          </a:p>
        </p:txBody>
      </p:sp>
    </p:spTree>
    <p:extLst>
      <p:ext uri="{BB962C8B-B14F-4D97-AF65-F5344CB8AC3E}">
        <p14:creationId xmlns:p14="http://schemas.microsoft.com/office/powerpoint/2010/main" val="12968414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C904ED-418C-EC2C-5CCF-DF6A86462FB6}"/>
              </a:ext>
            </a:extLst>
          </p:cNvPr>
          <p:cNvSpPr>
            <a:spLocks noGrp="1"/>
          </p:cNvSpPr>
          <p:nvPr>
            <p:ph type="title"/>
          </p:nvPr>
        </p:nvSpPr>
        <p:spPr/>
        <p:txBody>
          <a:bodyPr/>
          <a:lstStyle/>
          <a:p>
            <a:r>
              <a:rPr kumimoji="1" lang="ja-JP" altLang="en-US" dirty="0"/>
              <a:t>２つのプログラミング・モデル</a:t>
            </a:r>
          </a:p>
        </p:txBody>
      </p:sp>
      <p:sp>
        <p:nvSpPr>
          <p:cNvPr id="3" name="テキスト プレースホルダー 2">
            <a:extLst>
              <a:ext uri="{FF2B5EF4-FFF2-40B4-BE49-F238E27FC236}">
                <a16:creationId xmlns:a16="http://schemas.microsoft.com/office/drawing/2014/main" id="{83598408-3C03-62D1-7C8E-4FB135EE352A}"/>
              </a:ext>
            </a:extLst>
          </p:cNvPr>
          <p:cNvSpPr>
            <a:spLocks noGrp="1"/>
          </p:cNvSpPr>
          <p:nvPr>
            <p:ph type="body" sz="quarter" idx="10"/>
          </p:nvPr>
        </p:nvSpPr>
        <p:spPr/>
        <p:txBody>
          <a:bodyPr/>
          <a:lstStyle/>
          <a:p>
            <a:pPr marL="457200" indent="-457200">
              <a:buFont typeface="+mj-lt"/>
              <a:buAutoNum type="arabicPeriod"/>
            </a:pPr>
            <a:r>
              <a:rPr kumimoji="1" lang="en-US" altLang="ja-JP" dirty="0"/>
              <a:t>SIMD </a:t>
            </a:r>
            <a:r>
              <a:rPr kumimoji="1" lang="ja-JP" altLang="en-US" dirty="0"/>
              <a:t>命令</a:t>
            </a:r>
            <a:r>
              <a:rPr lang="ja-JP" altLang="en-US" dirty="0"/>
              <a:t>方式</a:t>
            </a:r>
            <a:endParaRPr kumimoji="1" lang="en-US" altLang="ja-JP" dirty="0"/>
          </a:p>
          <a:p>
            <a:pPr marL="457200" indent="-457200">
              <a:buFont typeface="+mj-lt"/>
              <a:buAutoNum type="arabicPeriod"/>
            </a:pPr>
            <a:r>
              <a:rPr kumimoji="1" lang="en-US" altLang="ja-JP" dirty="0">
                <a:solidFill>
                  <a:schemeClr val="accent5"/>
                </a:solidFill>
              </a:rPr>
              <a:t>SPMD</a:t>
            </a:r>
            <a:r>
              <a:rPr lang="ja-JP" altLang="en-US" dirty="0">
                <a:solidFill>
                  <a:schemeClr val="accent5"/>
                </a:solidFill>
              </a:rPr>
              <a:t>方式</a:t>
            </a:r>
            <a:endParaRPr kumimoji="1" lang="ja-JP" altLang="en-US" dirty="0">
              <a:solidFill>
                <a:schemeClr val="accent5"/>
              </a:solidFill>
            </a:endParaRPr>
          </a:p>
        </p:txBody>
      </p:sp>
    </p:spTree>
    <p:extLst>
      <p:ext uri="{BB962C8B-B14F-4D97-AF65-F5344CB8AC3E}">
        <p14:creationId xmlns:p14="http://schemas.microsoft.com/office/powerpoint/2010/main" val="18135133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CF38A3-9833-B679-5834-76FD8C59CBE2}"/>
              </a:ext>
            </a:extLst>
          </p:cNvPr>
          <p:cNvSpPr>
            <a:spLocks noGrp="1"/>
          </p:cNvSpPr>
          <p:nvPr>
            <p:ph type="title"/>
          </p:nvPr>
        </p:nvSpPr>
        <p:spPr/>
        <p:txBody>
          <a:bodyPr/>
          <a:lstStyle/>
          <a:p>
            <a:r>
              <a:rPr kumimoji="1" lang="en-US" altLang="ja-JP" dirty="0"/>
              <a:t>SIMD </a:t>
            </a:r>
            <a:r>
              <a:rPr kumimoji="1" lang="ja-JP" altLang="en-US" dirty="0"/>
              <a:t>命令と </a:t>
            </a:r>
            <a:r>
              <a:rPr kumimoji="1" lang="en-US" altLang="ja-JP" dirty="0"/>
              <a:t>SPMD</a:t>
            </a:r>
            <a:endParaRPr kumimoji="1" lang="ja-JP" altLang="en-US" dirty="0"/>
          </a:p>
        </p:txBody>
      </p:sp>
      <p:sp>
        <p:nvSpPr>
          <p:cNvPr id="3" name="テキスト プレースホルダー 2">
            <a:extLst>
              <a:ext uri="{FF2B5EF4-FFF2-40B4-BE49-F238E27FC236}">
                <a16:creationId xmlns:a16="http://schemas.microsoft.com/office/drawing/2014/main" id="{0D1E838F-DC3B-47FC-0767-E74E9F552421}"/>
              </a:ext>
            </a:extLst>
          </p:cNvPr>
          <p:cNvSpPr>
            <a:spLocks noGrp="1"/>
          </p:cNvSpPr>
          <p:nvPr>
            <p:ph type="body" sz="quarter" idx="10"/>
          </p:nvPr>
        </p:nvSpPr>
        <p:spPr>
          <a:xfrm>
            <a:off x="1775951" y="1088974"/>
            <a:ext cx="9270103" cy="5490061"/>
          </a:xfrm>
        </p:spPr>
        <p:txBody>
          <a:bodyPr/>
          <a:lstStyle/>
          <a:p>
            <a:r>
              <a:rPr kumimoji="1" lang="en-US" altLang="ja-JP" dirty="0"/>
              <a:t>SIMD </a:t>
            </a:r>
            <a:r>
              <a:rPr kumimoji="1" lang="ja-JP" altLang="en-US" dirty="0"/>
              <a:t>命令</a:t>
            </a:r>
            <a:endParaRPr kumimoji="1" lang="en-US" altLang="ja-JP" dirty="0"/>
          </a:p>
          <a:p>
            <a:pPr lvl="1"/>
            <a:r>
              <a:rPr kumimoji="1" lang="en-US" altLang="ja-JP" dirty="0"/>
              <a:t>SIMD </a:t>
            </a:r>
            <a:r>
              <a:rPr kumimoji="1" lang="ja-JP" altLang="en-US" dirty="0"/>
              <a:t>のハードウェアを直接命令に見せている</a:t>
            </a:r>
            <a:endParaRPr kumimoji="1" lang="en-US" altLang="ja-JP" dirty="0"/>
          </a:p>
          <a:p>
            <a:pPr lvl="1"/>
            <a:r>
              <a:rPr lang="ja-JP" altLang="en-US" dirty="0"/>
              <a:t>命令の形：「人参を</a:t>
            </a:r>
            <a:r>
              <a:rPr lang="ja-JP" altLang="en-US" dirty="0">
                <a:solidFill>
                  <a:schemeClr val="accent5"/>
                </a:solidFill>
              </a:rPr>
              <a:t>４つ</a:t>
            </a:r>
            <a:r>
              <a:rPr lang="ja-JP" altLang="en-US" dirty="0"/>
              <a:t>切って」</a:t>
            </a:r>
            <a:endParaRPr kumimoji="1" lang="en-US" altLang="ja-JP" dirty="0"/>
          </a:p>
          <a:p>
            <a:r>
              <a:rPr kumimoji="1" lang="en-US" altLang="ja-JP" dirty="0">
                <a:solidFill>
                  <a:schemeClr val="accent5"/>
                </a:solidFill>
              </a:rPr>
              <a:t>Single Program Multiple Data (SPMD) </a:t>
            </a:r>
            <a:r>
              <a:rPr kumimoji="1" lang="ja-JP" altLang="en-US" dirty="0"/>
              <a:t>：</a:t>
            </a:r>
            <a:endParaRPr kumimoji="1" lang="en-US" altLang="ja-JP" dirty="0"/>
          </a:p>
          <a:p>
            <a:pPr lvl="1"/>
            <a:r>
              <a:rPr kumimoji="1" lang="ja-JP" altLang="en-US" dirty="0"/>
              <a:t>マルチスレッド方式によってプログラムを記述</a:t>
            </a:r>
            <a:endParaRPr kumimoji="1" lang="en-US" altLang="ja-JP" dirty="0"/>
          </a:p>
          <a:p>
            <a:pPr lvl="2"/>
            <a:r>
              <a:rPr lang="en-US" altLang="ja-JP" dirty="0"/>
              <a:t>Single Program = </a:t>
            </a:r>
            <a:r>
              <a:rPr lang="ja-JP" altLang="en-US" dirty="0"/>
              <a:t>同じことをするスレッド</a:t>
            </a:r>
            <a:endParaRPr lang="en-US" altLang="ja-JP" dirty="0"/>
          </a:p>
          <a:p>
            <a:pPr lvl="2"/>
            <a:r>
              <a:rPr kumimoji="1" lang="ja-JP" altLang="en-US" dirty="0"/>
              <a:t>冒頭の行列積の例そのもの</a:t>
            </a:r>
            <a:endParaRPr kumimoji="1" lang="en-US" altLang="ja-JP" dirty="0"/>
          </a:p>
          <a:p>
            <a:pPr lvl="1"/>
            <a:r>
              <a:rPr kumimoji="1" lang="en-US" altLang="ja-JP" dirty="0"/>
              <a:t>SIMD </a:t>
            </a:r>
            <a:r>
              <a:rPr kumimoji="1" lang="ja-JP" altLang="en-US" dirty="0"/>
              <a:t>のハードウェアはプログラマからは直接見えないよう隠蔽される</a:t>
            </a:r>
            <a:endParaRPr kumimoji="1" lang="en-US" altLang="ja-JP" dirty="0"/>
          </a:p>
          <a:p>
            <a:pPr lvl="1"/>
            <a:r>
              <a:rPr lang="ja-JP" altLang="en-US" dirty="0"/>
              <a:t>命令の形： 「人参を</a:t>
            </a:r>
            <a:r>
              <a:rPr lang="ja-JP" altLang="en-US" dirty="0">
                <a:solidFill>
                  <a:schemeClr val="accent5"/>
                </a:solidFill>
              </a:rPr>
              <a:t>１つ</a:t>
            </a:r>
            <a:r>
              <a:rPr lang="ja-JP" altLang="en-US" dirty="0"/>
              <a:t>切って」</a:t>
            </a:r>
            <a:br>
              <a:rPr lang="en-US" altLang="ja-JP" dirty="0"/>
            </a:br>
            <a:r>
              <a:rPr lang="ja-JP" altLang="en-US" dirty="0"/>
              <a:t>（具体的にいくつ切られるかはハードで決まる</a:t>
            </a:r>
            <a:endParaRPr kumimoji="1" lang="en-US" altLang="ja-JP" dirty="0"/>
          </a:p>
        </p:txBody>
      </p:sp>
    </p:spTree>
    <p:extLst>
      <p:ext uri="{BB962C8B-B14F-4D97-AF65-F5344CB8AC3E}">
        <p14:creationId xmlns:p14="http://schemas.microsoft.com/office/powerpoint/2010/main" val="42158273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D48DAE84-4F32-84CC-6D49-F5491F1F611E}"/>
              </a:ext>
            </a:extLst>
          </p:cNvPr>
          <p:cNvSpPr/>
          <p:nvPr/>
        </p:nvSpPr>
        <p:spPr bwMode="auto">
          <a:xfrm>
            <a:off x="2855964" y="1899290"/>
            <a:ext cx="5580062" cy="1080012"/>
          </a:xfrm>
          <a:prstGeom prst="rect">
            <a:avLst/>
          </a:prstGeom>
          <a:solidFill>
            <a:schemeClr val="accent3">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77875371-F226-FDF4-C593-0DF7D95A2A08}"/>
              </a:ext>
            </a:extLst>
          </p:cNvPr>
          <p:cNvSpPr/>
          <p:nvPr/>
        </p:nvSpPr>
        <p:spPr bwMode="auto">
          <a:xfrm>
            <a:off x="2855964" y="5229328"/>
            <a:ext cx="5580062" cy="1170013"/>
          </a:xfrm>
          <a:prstGeom prst="rect">
            <a:avLst/>
          </a:prstGeom>
          <a:solidFill>
            <a:schemeClr val="accent3">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 name="正方形/長方形 3">
            <a:extLst>
              <a:ext uri="{FF2B5EF4-FFF2-40B4-BE49-F238E27FC236}">
                <a16:creationId xmlns:a16="http://schemas.microsoft.com/office/drawing/2014/main" id="{46CBEAB2-029B-57BC-2EB8-9FD575F724DA}"/>
              </a:ext>
            </a:extLst>
          </p:cNvPr>
          <p:cNvSpPr/>
          <p:nvPr/>
        </p:nvSpPr>
        <p:spPr bwMode="auto">
          <a:xfrm>
            <a:off x="2495960" y="1449286"/>
            <a:ext cx="5940066" cy="450005"/>
          </a:xfrm>
          <a:prstGeom prst="rect">
            <a:avLst/>
          </a:prstGeom>
          <a:solidFill>
            <a:schemeClr val="accent5">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E6B23795-FB48-8DF2-3340-A826F911F24E}"/>
              </a:ext>
            </a:extLst>
          </p:cNvPr>
          <p:cNvSpPr/>
          <p:nvPr/>
        </p:nvSpPr>
        <p:spPr bwMode="auto">
          <a:xfrm>
            <a:off x="2495960" y="4419319"/>
            <a:ext cx="5940066" cy="810009"/>
          </a:xfrm>
          <a:prstGeom prst="rect">
            <a:avLst/>
          </a:prstGeom>
          <a:solidFill>
            <a:schemeClr val="accent5">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p:cNvSpPr>
            <a:spLocks noGrp="1"/>
          </p:cNvSpPr>
          <p:nvPr>
            <p:ph type="title"/>
          </p:nvPr>
        </p:nvSpPr>
        <p:spPr/>
        <p:txBody>
          <a:bodyPr/>
          <a:lstStyle/>
          <a:p>
            <a:r>
              <a:rPr kumimoji="1" lang="en-US" altLang="ja-JP" dirty="0"/>
              <a:t>SPMD </a:t>
            </a:r>
            <a:r>
              <a:rPr kumimoji="1" lang="ja-JP" altLang="en-US" dirty="0"/>
              <a:t>による並列化の例</a:t>
            </a:r>
          </a:p>
        </p:txBody>
      </p:sp>
      <p:sp>
        <p:nvSpPr>
          <p:cNvPr id="3" name="テキスト プレースホルダー 2"/>
          <p:cNvSpPr>
            <a:spLocks noGrp="1"/>
          </p:cNvSpPr>
          <p:nvPr>
            <p:ph type="body" sz="quarter" idx="10"/>
          </p:nvPr>
        </p:nvSpPr>
        <p:spPr>
          <a:xfrm>
            <a:off x="2135956" y="1269284"/>
            <a:ext cx="8280092" cy="5219751"/>
          </a:xfrm>
        </p:spPr>
        <p:txBody>
          <a:bodyPr/>
          <a:lstStyle/>
          <a:p>
            <a:r>
              <a:rPr kumimoji="1" lang="ja-JP" altLang="en-US" dirty="0"/>
              <a:t>ループで書いた行列積のコード</a:t>
            </a:r>
            <a:endParaRPr kumimoji="1" lang="en-US" altLang="ja-JP" dirty="0"/>
          </a:p>
          <a:p>
            <a:pPr marL="360000" lvl="1" indent="0">
              <a:buNone/>
            </a:pP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(k = 0; k &lt; 1024; k++) </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(j = 0; j &lt; 1024; </a:t>
            </a:r>
            <a:r>
              <a:rPr lang="en-US" altLang="ja-JP" dirty="0" err="1">
                <a:latin typeface="Consolas" panose="020B0609020204030204" pitchFamily="49" charset="0"/>
              </a:rPr>
              <a:t>j++</a:t>
            </a:r>
            <a:r>
              <a:rPr lang="en-US" altLang="ja-JP" dirty="0">
                <a:latin typeface="Consolas" panose="020B0609020204030204" pitchFamily="49" charset="0"/>
              </a:rPr>
              <a:t>)</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(i = 0; i &lt; 1024; i++)</a:t>
            </a:r>
            <a:br>
              <a:rPr lang="en-US" altLang="ja-JP" dirty="0">
                <a:latin typeface="Consolas" panose="020B0609020204030204" pitchFamily="49" charset="0"/>
              </a:rPr>
            </a:br>
            <a:r>
              <a:rPr lang="en-US" altLang="ja-JP" dirty="0">
                <a:latin typeface="Consolas" panose="020B0609020204030204" pitchFamily="49" charset="0"/>
              </a:rPr>
              <a:t>      a[j][i] += b[j][k] * c[k][i];</a:t>
            </a:r>
          </a:p>
          <a:p>
            <a:r>
              <a:rPr kumimoji="1" lang="en-US" altLang="ja-JP" dirty="0">
                <a:latin typeface="Consolas" panose="020B0609020204030204" pitchFamily="49" charset="0"/>
              </a:rPr>
              <a:t>j </a:t>
            </a:r>
            <a:r>
              <a:rPr kumimoji="1" lang="ja-JP" altLang="en-US" dirty="0">
                <a:latin typeface="Consolas" panose="020B0609020204030204" pitchFamily="49" charset="0"/>
              </a:rPr>
              <a:t>の部分のループを複数のスレッドとしてマルチスレッド化</a:t>
            </a:r>
            <a:endParaRPr kumimoji="1" lang="en-US" altLang="ja-JP" dirty="0">
              <a:latin typeface="Consolas" panose="020B0609020204030204" pitchFamily="49" charset="0"/>
            </a:endParaRPr>
          </a:p>
          <a:p>
            <a:pPr marL="360000" lvl="1" indent="0">
              <a:buNone/>
            </a:pPr>
            <a:r>
              <a:rPr lang="en-US" altLang="ja-JP" dirty="0">
                <a:solidFill>
                  <a:schemeClr val="accent3">
                    <a:lumMod val="75000"/>
                  </a:schemeClr>
                </a:solidFill>
                <a:latin typeface="Consolas" panose="020B0609020204030204" pitchFamily="49" charset="0"/>
              </a:rPr>
              <a:t>// </a:t>
            </a:r>
            <a:r>
              <a:rPr lang="en-US" altLang="ja-JP" dirty="0" err="1">
                <a:solidFill>
                  <a:schemeClr val="accent3">
                    <a:lumMod val="75000"/>
                  </a:schemeClr>
                </a:solidFill>
                <a:latin typeface="Consolas" panose="020B0609020204030204" pitchFamily="49" charset="0"/>
              </a:rPr>
              <a:t>func</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が </a:t>
            </a:r>
            <a:r>
              <a:rPr lang="en-US" altLang="ja-JP" dirty="0">
                <a:solidFill>
                  <a:schemeClr val="accent3">
                    <a:lumMod val="75000"/>
                  </a:schemeClr>
                </a:solidFill>
                <a:latin typeface="Consolas" panose="020B0609020204030204" pitchFamily="49" charset="0"/>
              </a:rPr>
              <a:t>1024 </a:t>
            </a:r>
            <a:r>
              <a:rPr lang="ja-JP" altLang="en-US" dirty="0">
                <a:solidFill>
                  <a:schemeClr val="accent3">
                    <a:lumMod val="75000"/>
                  </a:schemeClr>
                </a:solidFill>
                <a:latin typeface="Consolas" panose="020B0609020204030204" pitchFamily="49" charset="0"/>
              </a:rPr>
              <a:t>個起動されて並列に実行される</a:t>
            </a:r>
            <a:endParaRPr lang="en-US" altLang="ja-JP" dirty="0">
              <a:solidFill>
                <a:schemeClr val="accent3">
                  <a:lumMod val="75000"/>
                </a:schemeClr>
              </a:solidFill>
              <a:latin typeface="Consolas" panose="020B0609020204030204" pitchFamily="49" charset="0"/>
            </a:endParaRPr>
          </a:p>
          <a:p>
            <a:pPr marL="360000" lvl="1" indent="0">
              <a:buNone/>
            </a:pPr>
            <a:r>
              <a:rPr lang="en-US" altLang="ja-JP" dirty="0">
                <a:solidFill>
                  <a:schemeClr val="accent3">
                    <a:lumMod val="75000"/>
                  </a:schemeClr>
                </a:solidFill>
                <a:latin typeface="Consolas" panose="020B0609020204030204" pitchFamily="49" charset="0"/>
              </a:rPr>
              <a:t>// 0-1023 </a:t>
            </a:r>
            <a:r>
              <a:rPr lang="ja-JP" altLang="en-US" dirty="0">
                <a:solidFill>
                  <a:schemeClr val="accent3">
                    <a:lumMod val="75000"/>
                  </a:schemeClr>
                </a:solidFill>
                <a:latin typeface="Consolas" panose="020B0609020204030204" pitchFamily="49" charset="0"/>
              </a:rPr>
              <a:t>がスレッド </a:t>
            </a:r>
            <a:r>
              <a:rPr lang="en-US" altLang="ja-JP" dirty="0">
                <a:solidFill>
                  <a:schemeClr val="accent3">
                    <a:lumMod val="75000"/>
                  </a:schemeClr>
                </a:solidFill>
                <a:latin typeface="Consolas" panose="020B0609020204030204" pitchFamily="49" charset="0"/>
              </a:rPr>
              <a:t>ID </a:t>
            </a:r>
            <a:r>
              <a:rPr lang="ja-JP" altLang="en-US" dirty="0">
                <a:solidFill>
                  <a:schemeClr val="accent3">
                    <a:lumMod val="75000"/>
                  </a:schemeClr>
                </a:solidFill>
                <a:latin typeface="Consolas" panose="020B0609020204030204" pitchFamily="49" charset="0"/>
              </a:rPr>
              <a:t>として渡される</a:t>
            </a:r>
            <a:endParaRPr lang="en-US" altLang="ja-JP" dirty="0">
              <a:solidFill>
                <a:schemeClr val="accent3">
                  <a:lumMod val="75000"/>
                </a:schemeClr>
              </a:solidFill>
              <a:latin typeface="Consolas" panose="020B0609020204030204" pitchFamily="49" charset="0"/>
            </a:endParaRPr>
          </a:p>
          <a:p>
            <a:pPr marL="360000" lvl="1" indent="0">
              <a:buNone/>
            </a:pPr>
            <a:r>
              <a:rPr lang="en-US" altLang="ja-JP" b="1" dirty="0" err="1">
                <a:solidFill>
                  <a:schemeClr val="accent6"/>
                </a:solidFill>
                <a:latin typeface="Consolas" panose="020B0609020204030204" pitchFamily="49" charset="0"/>
              </a:rPr>
              <a:t>func</a:t>
            </a:r>
            <a:r>
              <a:rPr lang="en-US" altLang="ja-JP" b="1" dirty="0">
                <a:solidFill>
                  <a:schemeClr val="accent6"/>
                </a:solidFill>
                <a:latin typeface="Consolas" panose="020B0609020204030204" pitchFamily="49" charset="0"/>
              </a:rPr>
              <a:t>(</a:t>
            </a:r>
            <a:r>
              <a:rPr lang="en-US" altLang="ja-JP" b="1" dirty="0" err="1">
                <a:solidFill>
                  <a:schemeClr val="accent6"/>
                </a:solidFill>
                <a:latin typeface="Consolas" panose="020B0609020204030204" pitchFamily="49" charset="0"/>
              </a:rPr>
              <a:t>thread_id</a:t>
            </a:r>
            <a:r>
              <a:rPr lang="en-US" altLang="ja-JP" b="1" dirty="0">
                <a:solidFill>
                  <a:schemeClr val="accent6"/>
                </a:solidFill>
                <a:latin typeface="Consolas" panose="020B0609020204030204" pitchFamily="49" charset="0"/>
              </a:rPr>
              <a:t>) { </a:t>
            </a:r>
          </a:p>
          <a:p>
            <a:pPr marL="360000" lvl="1" indent="0">
              <a:buNone/>
            </a:pPr>
            <a:r>
              <a:rPr lang="en-US" altLang="ja-JP" b="1" dirty="0">
                <a:solidFill>
                  <a:schemeClr val="accent6"/>
                </a:solidFill>
                <a:latin typeface="Consolas" panose="020B0609020204030204" pitchFamily="49" charset="0"/>
              </a:rPr>
              <a:t>  j = </a:t>
            </a:r>
            <a:r>
              <a:rPr lang="en-US" altLang="ja-JP" b="1" dirty="0" err="1">
                <a:solidFill>
                  <a:schemeClr val="accent6"/>
                </a:solidFill>
                <a:latin typeface="Consolas" panose="020B0609020204030204" pitchFamily="49" charset="0"/>
              </a:rPr>
              <a:t>thread_id</a:t>
            </a:r>
            <a:r>
              <a:rPr lang="en-US" altLang="ja-JP" b="1" dirty="0">
                <a:solidFill>
                  <a:schemeClr val="accent6"/>
                </a:solidFill>
                <a:latin typeface="Consolas" panose="020B0609020204030204" pitchFamily="49" charset="0"/>
              </a:rPr>
              <a:t>;	// k </a:t>
            </a:r>
            <a:r>
              <a:rPr lang="ja-JP" altLang="en-US" b="1" dirty="0">
                <a:solidFill>
                  <a:schemeClr val="accent6"/>
                </a:solidFill>
                <a:latin typeface="Consolas" panose="020B0609020204030204" pitchFamily="49" charset="0"/>
              </a:rPr>
              <a:t>だと同じ場所に書いてしまう</a:t>
            </a:r>
            <a:endParaRPr lang="en-US" altLang="ja-JP" b="1" dirty="0">
              <a:solidFill>
                <a:schemeClr val="accent6"/>
              </a:solidFill>
              <a:latin typeface="Consolas" panose="020B0609020204030204" pitchFamily="49" charset="0"/>
            </a:endParaRPr>
          </a:p>
          <a:p>
            <a:pPr marL="360000" lvl="1" indent="0">
              <a:buNone/>
            </a:pP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(k = 0; k &lt; 1024; k++)</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(i = 0; i &lt; 1024; i++)</a:t>
            </a:r>
            <a:br>
              <a:rPr lang="en-US" altLang="ja-JP" dirty="0">
                <a:latin typeface="Consolas" panose="020B0609020204030204" pitchFamily="49" charset="0"/>
              </a:rPr>
            </a:br>
            <a:r>
              <a:rPr lang="en-US" altLang="ja-JP" dirty="0">
                <a:latin typeface="Consolas" panose="020B0609020204030204" pitchFamily="49" charset="0"/>
              </a:rPr>
              <a:t>      a[</a:t>
            </a:r>
            <a:r>
              <a:rPr lang="en-US" altLang="ja-JP" b="1" dirty="0">
                <a:solidFill>
                  <a:schemeClr val="accent6"/>
                </a:solidFill>
                <a:latin typeface="Consolas" panose="020B0609020204030204" pitchFamily="49" charset="0"/>
              </a:rPr>
              <a:t>j</a:t>
            </a:r>
            <a:r>
              <a:rPr lang="en-US" altLang="ja-JP" dirty="0">
                <a:latin typeface="Consolas" panose="020B0609020204030204" pitchFamily="49" charset="0"/>
              </a:rPr>
              <a:t>][i] += b[</a:t>
            </a:r>
            <a:r>
              <a:rPr lang="en-US" altLang="ja-JP" b="1" dirty="0">
                <a:solidFill>
                  <a:schemeClr val="accent6"/>
                </a:solidFill>
                <a:latin typeface="Consolas" panose="020B0609020204030204" pitchFamily="49" charset="0"/>
              </a:rPr>
              <a:t>j</a:t>
            </a:r>
            <a:r>
              <a:rPr lang="en-US" altLang="ja-JP" dirty="0">
                <a:latin typeface="Consolas" panose="020B0609020204030204" pitchFamily="49" charset="0"/>
              </a:rPr>
              <a:t>][k] * c[k][i];</a:t>
            </a:r>
          </a:p>
          <a:p>
            <a:pPr marL="360000" lvl="1" indent="0">
              <a:buNone/>
            </a:pPr>
            <a:r>
              <a:rPr kumimoji="1" lang="en-US" altLang="ja-JP" dirty="0">
                <a:latin typeface="Consolas" panose="020B0609020204030204" pitchFamily="49" charset="0"/>
              </a:rPr>
              <a:t>}</a:t>
            </a:r>
            <a:endParaRPr kumimoji="1" lang="ja-JP" altLang="en-US" dirty="0">
              <a:latin typeface="Consolas" panose="020B0609020204030204" pitchFamily="49" charset="0"/>
            </a:endParaRPr>
          </a:p>
        </p:txBody>
      </p:sp>
    </p:spTree>
    <p:extLst>
      <p:ext uri="{BB962C8B-B14F-4D97-AF65-F5344CB8AC3E}">
        <p14:creationId xmlns:p14="http://schemas.microsoft.com/office/powerpoint/2010/main" val="34119306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EDA0BE-95A1-E063-2B97-81E7CB16392E}"/>
              </a:ext>
            </a:extLst>
          </p:cNvPr>
          <p:cNvSpPr>
            <a:spLocks noGrp="1"/>
          </p:cNvSpPr>
          <p:nvPr>
            <p:ph type="title"/>
          </p:nvPr>
        </p:nvSpPr>
        <p:spPr/>
        <p:txBody>
          <a:bodyPr/>
          <a:lstStyle/>
          <a:p>
            <a:r>
              <a:rPr kumimoji="1" lang="en-US" altLang="ja-JP" dirty="0"/>
              <a:t>SPMD </a:t>
            </a:r>
            <a:r>
              <a:rPr kumimoji="1" lang="ja-JP" altLang="en-US" dirty="0"/>
              <a:t>で書かれたプログラムの実行</a:t>
            </a:r>
          </a:p>
        </p:txBody>
      </p:sp>
      <p:sp>
        <p:nvSpPr>
          <p:cNvPr id="3" name="テキスト プレースホルダー 2">
            <a:extLst>
              <a:ext uri="{FF2B5EF4-FFF2-40B4-BE49-F238E27FC236}">
                <a16:creationId xmlns:a16="http://schemas.microsoft.com/office/drawing/2014/main" id="{822126ED-CCBE-9570-5387-7AE3ADDC00CD}"/>
              </a:ext>
            </a:extLst>
          </p:cNvPr>
          <p:cNvSpPr>
            <a:spLocks noGrp="1"/>
          </p:cNvSpPr>
          <p:nvPr>
            <p:ph type="body" sz="quarter" idx="10"/>
          </p:nvPr>
        </p:nvSpPr>
        <p:spPr/>
        <p:txBody>
          <a:bodyPr/>
          <a:lstStyle/>
          <a:p>
            <a:r>
              <a:rPr kumimoji="1" lang="ja-JP" altLang="en-US" dirty="0"/>
              <a:t>以下の２通りの方法</a:t>
            </a:r>
            <a:r>
              <a:rPr lang="ja-JP" altLang="en-US" dirty="0"/>
              <a:t>がある</a:t>
            </a:r>
            <a:br>
              <a:rPr lang="en-US" altLang="ja-JP" dirty="0"/>
            </a:br>
            <a:endParaRPr kumimoji="1" lang="en-US" altLang="ja-JP" dirty="0"/>
          </a:p>
          <a:p>
            <a:pPr marL="817200" lvl="1" indent="-457200">
              <a:buFont typeface="+mj-lt"/>
              <a:buAutoNum type="arabicPeriod"/>
            </a:pPr>
            <a:r>
              <a:rPr kumimoji="1" lang="en-US" altLang="ja-JP" dirty="0"/>
              <a:t>SIMD </a:t>
            </a:r>
            <a:r>
              <a:rPr kumimoji="1" lang="ja-JP" altLang="en-US" dirty="0"/>
              <a:t>命令への変換</a:t>
            </a:r>
            <a:endParaRPr kumimoji="1" lang="en-US" altLang="ja-JP" dirty="0"/>
          </a:p>
          <a:p>
            <a:pPr lvl="2"/>
            <a:r>
              <a:rPr kumimoji="1" lang="ja-JP" altLang="en-US" dirty="0"/>
              <a:t>コンパイラにより自動で変換</a:t>
            </a:r>
            <a:endParaRPr kumimoji="1" lang="en-US" altLang="ja-JP" dirty="0"/>
          </a:p>
          <a:p>
            <a:pPr lvl="2"/>
            <a:r>
              <a:rPr kumimoji="1" lang="ja-JP" altLang="en-US" dirty="0"/>
              <a:t>変換された </a:t>
            </a:r>
            <a:r>
              <a:rPr kumimoji="1" lang="en-US" altLang="ja-JP" dirty="0"/>
              <a:t>SIMD </a:t>
            </a:r>
            <a:r>
              <a:rPr kumimoji="1" lang="ja-JP" altLang="en-US" dirty="0"/>
              <a:t>命令を実行</a:t>
            </a:r>
            <a:endParaRPr kumimoji="1" lang="en-US" altLang="ja-JP" dirty="0"/>
          </a:p>
          <a:p>
            <a:pPr lvl="2"/>
            <a:r>
              <a:rPr lang="en-US" altLang="ja-JP" dirty="0"/>
              <a:t>AMD/Intel </a:t>
            </a:r>
            <a:r>
              <a:rPr lang="ja-JP" altLang="en-US" dirty="0"/>
              <a:t>の方式</a:t>
            </a:r>
            <a:endParaRPr lang="en-US" altLang="ja-JP" dirty="0"/>
          </a:p>
          <a:p>
            <a:pPr marL="720000" lvl="2" indent="0">
              <a:buNone/>
            </a:pPr>
            <a:endParaRPr lang="en-US" altLang="ja-JP" dirty="0"/>
          </a:p>
          <a:p>
            <a:pPr marL="817200" lvl="1" indent="-457200">
              <a:buFont typeface="+mj-lt"/>
              <a:buAutoNum type="arabicPeriod"/>
            </a:pPr>
            <a:r>
              <a:rPr kumimoji="1" lang="en-US" altLang="ja-JP" dirty="0">
                <a:solidFill>
                  <a:schemeClr val="accent5"/>
                </a:solidFill>
              </a:rPr>
              <a:t>Single Instruction Multiple Thread (SIMT) </a:t>
            </a:r>
            <a:r>
              <a:rPr kumimoji="1" lang="ja-JP" altLang="en-US" dirty="0"/>
              <a:t>ハードウェアによる実行</a:t>
            </a:r>
            <a:endParaRPr kumimoji="1" lang="en-US" altLang="ja-JP" dirty="0"/>
          </a:p>
          <a:p>
            <a:pPr lvl="2"/>
            <a:r>
              <a:rPr kumimoji="1" lang="ja-JP" altLang="en-US" dirty="0"/>
              <a:t>命令列自体はスカラ命令で記述</a:t>
            </a:r>
            <a:endParaRPr kumimoji="1" lang="en-US" altLang="ja-JP" dirty="0"/>
          </a:p>
          <a:p>
            <a:pPr lvl="2"/>
            <a:r>
              <a:rPr kumimoji="1" lang="ja-JP" altLang="en-US" dirty="0"/>
              <a:t>マルチスレッド実行をハードウェアで </a:t>
            </a:r>
            <a:r>
              <a:rPr kumimoji="1" lang="en-US" altLang="ja-JP" dirty="0"/>
              <a:t>SIMD </a:t>
            </a:r>
            <a:r>
              <a:rPr kumimoji="1" lang="ja-JP" altLang="en-US" dirty="0"/>
              <a:t>にマップする</a:t>
            </a:r>
            <a:endParaRPr kumimoji="1" lang="en-US" altLang="ja-JP" dirty="0"/>
          </a:p>
          <a:p>
            <a:pPr lvl="2"/>
            <a:r>
              <a:rPr kumimoji="1" lang="en-US" altLang="ja-JP" dirty="0"/>
              <a:t>NVIDIA </a:t>
            </a:r>
            <a:r>
              <a:rPr kumimoji="1" lang="ja-JP" altLang="en-US" dirty="0"/>
              <a:t>の方式</a:t>
            </a:r>
          </a:p>
        </p:txBody>
      </p:sp>
    </p:spTree>
    <p:extLst>
      <p:ext uri="{BB962C8B-B14F-4D97-AF65-F5344CB8AC3E}">
        <p14:creationId xmlns:p14="http://schemas.microsoft.com/office/powerpoint/2010/main" val="24759512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0D08B-36CE-E422-77D0-AEC136E894D7}"/>
            </a:ext>
          </a:extLst>
        </p:cNvPr>
        <p:cNvGrpSpPr/>
        <p:nvPr/>
      </p:nvGrpSpPr>
      <p:grpSpPr>
        <a:xfrm>
          <a:off x="0" y="0"/>
          <a:ext cx="0" cy="0"/>
          <a:chOff x="0" y="0"/>
          <a:chExt cx="0" cy="0"/>
        </a:xfrm>
      </p:grpSpPr>
      <p:sp>
        <p:nvSpPr>
          <p:cNvPr id="37" name="平行四辺形 36">
            <a:extLst>
              <a:ext uri="{FF2B5EF4-FFF2-40B4-BE49-F238E27FC236}">
                <a16:creationId xmlns:a16="http://schemas.microsoft.com/office/drawing/2014/main" id="{19419B46-5BA6-201F-BEFA-559FAE7102C3}"/>
              </a:ext>
            </a:extLst>
          </p:cNvPr>
          <p:cNvSpPr/>
          <p:nvPr/>
        </p:nvSpPr>
        <p:spPr bwMode="auto">
          <a:xfrm>
            <a:off x="6096000" y="2618991"/>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54" name="平行四辺形 53">
            <a:extLst>
              <a:ext uri="{FF2B5EF4-FFF2-40B4-BE49-F238E27FC236}">
                <a16:creationId xmlns:a16="http://schemas.microsoft.com/office/drawing/2014/main" id="{EE96B89B-D746-9E8B-4652-75364638B042}"/>
              </a:ext>
            </a:extLst>
          </p:cNvPr>
          <p:cNvSpPr/>
          <p:nvPr/>
        </p:nvSpPr>
        <p:spPr bwMode="auto">
          <a:xfrm>
            <a:off x="7716018" y="1538979"/>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3" name="正方形/長方形 2">
            <a:extLst>
              <a:ext uri="{FF2B5EF4-FFF2-40B4-BE49-F238E27FC236}">
                <a16:creationId xmlns:a16="http://schemas.microsoft.com/office/drawing/2014/main" id="{D5B350C3-E8A6-496A-1E63-6FAC143D4463}"/>
              </a:ext>
            </a:extLst>
          </p:cNvPr>
          <p:cNvSpPr/>
          <p:nvPr/>
        </p:nvSpPr>
        <p:spPr>
          <a:xfrm>
            <a:off x="6057840" y="1754448"/>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F3E1A34F-BFA1-CF1D-239D-0652E8F7C4FD}"/>
              </a:ext>
            </a:extLst>
          </p:cNvPr>
          <p:cNvSpPr/>
          <p:nvPr/>
        </p:nvSpPr>
        <p:spPr>
          <a:xfrm>
            <a:off x="8076022" y="818971"/>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0957C5B9-FA69-8DB7-03C9-40E9F441B6E1}"/>
              </a:ext>
            </a:extLst>
          </p:cNvPr>
          <p:cNvSpPr>
            <a:spLocks noGrp="1"/>
          </p:cNvSpPr>
          <p:nvPr>
            <p:ph type="title"/>
          </p:nvPr>
        </p:nvSpPr>
        <p:spPr/>
        <p:txBody>
          <a:bodyPr/>
          <a:lstStyle/>
          <a:p>
            <a:r>
              <a:rPr lang="ja-JP" altLang="en-US" dirty="0"/>
              <a:t>カレー屋さんの </a:t>
            </a:r>
            <a:r>
              <a:rPr lang="en-US" altLang="ja-JP" dirty="0"/>
              <a:t>SIMT</a:t>
            </a:r>
            <a:endParaRPr kumimoji="1" lang="ja-JP" altLang="en-US" dirty="0"/>
          </a:p>
        </p:txBody>
      </p:sp>
      <p:sp>
        <p:nvSpPr>
          <p:cNvPr id="96" name="正方形/長方形 95">
            <a:extLst>
              <a:ext uri="{FF2B5EF4-FFF2-40B4-BE49-F238E27FC236}">
                <a16:creationId xmlns:a16="http://schemas.microsoft.com/office/drawing/2014/main" id="{580475FA-E389-01BF-1035-0D32839998EB}"/>
              </a:ext>
            </a:extLst>
          </p:cNvPr>
          <p:cNvSpPr/>
          <p:nvPr/>
        </p:nvSpPr>
        <p:spPr bwMode="auto">
          <a:xfrm>
            <a:off x="4565983" y="1718981"/>
            <a:ext cx="1440016" cy="1710019"/>
          </a:xfrm>
          <a:prstGeom prst="rect">
            <a:avLst/>
          </a:prstGeom>
          <a:solidFill>
            <a:schemeClr val="bg1"/>
          </a:solidFill>
          <a:ln>
            <a:solidFill>
              <a:schemeClr val="accent4"/>
            </a:solidFill>
            <a:headEnd/>
            <a:tailEnd type="none" w="sm" len="med"/>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r>
              <a:rPr lang="en-US" altLang="ja-JP" sz="1400" dirty="0">
                <a:solidFill>
                  <a:schemeClr val="accent4"/>
                </a:solidFill>
                <a:latin typeface="Arial Narrow" panose="020B0606020202030204" pitchFamily="34" charset="0"/>
              </a:rPr>
              <a:t>1. </a:t>
            </a:r>
            <a:r>
              <a:rPr lang="ja-JP" altLang="en-US" sz="1400" dirty="0">
                <a:solidFill>
                  <a:schemeClr val="accent4"/>
                </a:solidFill>
                <a:latin typeface="Arial Narrow" panose="020B0606020202030204" pitchFamily="34" charset="0"/>
              </a:rPr>
              <a:t>人参</a:t>
            </a:r>
            <a:r>
              <a:rPr lang="ja-JP" altLang="en-US" sz="1400">
                <a:solidFill>
                  <a:schemeClr val="accent4"/>
                </a:solidFill>
                <a:latin typeface="Arial Narrow" panose="020B0606020202030204" pitchFamily="34" charset="0"/>
              </a:rPr>
              <a:t>を切る</a:t>
            </a:r>
            <a:endParaRPr lang="en-US" altLang="ja-JP" sz="1400" dirty="0">
              <a:solidFill>
                <a:schemeClr val="accent4"/>
              </a:solidFill>
              <a:latin typeface="Arial Narrow" panose="020B0606020202030204" pitchFamily="34" charset="0"/>
            </a:endParaRPr>
          </a:p>
          <a:p>
            <a:pPr>
              <a:lnSpc>
                <a:spcPct val="150000"/>
              </a:lnSpc>
            </a:pPr>
            <a:r>
              <a:rPr lang="en-US" altLang="ja-JP" sz="1400" dirty="0">
                <a:solidFill>
                  <a:schemeClr val="accent4"/>
                </a:solidFill>
                <a:latin typeface="Arial Narrow" panose="020B0606020202030204" pitchFamily="34" charset="0"/>
              </a:rPr>
              <a:t>2. </a:t>
            </a:r>
            <a:r>
              <a:rPr lang="ja-JP" altLang="en-US" sz="1400" dirty="0">
                <a:solidFill>
                  <a:schemeClr val="accent4"/>
                </a:solidFill>
                <a:latin typeface="Arial Narrow" panose="020B0606020202030204" pitchFamily="34" charset="0"/>
              </a:rPr>
              <a:t>玉葱</a:t>
            </a:r>
            <a:r>
              <a:rPr lang="ja-JP" altLang="en-US" sz="1400">
                <a:solidFill>
                  <a:schemeClr val="accent4"/>
                </a:solidFill>
                <a:latin typeface="Arial Narrow" panose="020B0606020202030204" pitchFamily="34" charset="0"/>
              </a:rPr>
              <a:t>を切る</a:t>
            </a:r>
            <a:endParaRPr lang="en-US" altLang="ja-JP" sz="1400" dirty="0">
              <a:solidFill>
                <a:schemeClr val="accent4"/>
              </a:solidFill>
              <a:latin typeface="Arial Narrow" panose="020B0606020202030204" pitchFamily="34" charset="0"/>
            </a:endParaRPr>
          </a:p>
          <a:p>
            <a:pPr>
              <a:lnSpc>
                <a:spcPct val="150000"/>
              </a:lnSpc>
            </a:pPr>
            <a:r>
              <a:rPr lang="en-US" altLang="ja-JP" sz="1400" dirty="0">
                <a:solidFill>
                  <a:schemeClr val="accent4"/>
                </a:solidFill>
                <a:latin typeface="Arial Narrow" panose="020B0606020202030204" pitchFamily="34" charset="0"/>
              </a:rPr>
              <a:t>3. </a:t>
            </a:r>
            <a:r>
              <a:rPr lang="ja-JP" altLang="en-US" sz="1400" dirty="0">
                <a:solidFill>
                  <a:schemeClr val="accent4"/>
                </a:solidFill>
                <a:latin typeface="Arial Narrow" panose="020B0606020202030204" pitchFamily="34" charset="0"/>
              </a:rPr>
              <a:t>肉</a:t>
            </a:r>
            <a:r>
              <a:rPr lang="ja-JP" altLang="en-US" sz="1400">
                <a:solidFill>
                  <a:schemeClr val="accent4"/>
                </a:solidFill>
                <a:latin typeface="Arial Narrow" panose="020B0606020202030204" pitchFamily="34" charset="0"/>
              </a:rPr>
              <a:t>を切る</a:t>
            </a:r>
            <a:endParaRPr lang="en-US" altLang="ja-JP" sz="1400" dirty="0">
              <a:solidFill>
                <a:schemeClr val="accent4"/>
              </a:solidFill>
              <a:latin typeface="Arial Narrow" panose="020B0606020202030204" pitchFamily="34" charset="0"/>
            </a:endParaRPr>
          </a:p>
          <a:p>
            <a:pPr>
              <a:lnSpc>
                <a:spcPct val="150000"/>
              </a:lnSpc>
            </a:pPr>
            <a:r>
              <a:rPr lang="en-US" altLang="ja-JP" sz="1400" dirty="0">
                <a:solidFill>
                  <a:schemeClr val="accent4"/>
                </a:solidFill>
                <a:latin typeface="Arial Narrow" panose="020B0606020202030204" pitchFamily="34" charset="0"/>
              </a:rPr>
              <a:t>4. </a:t>
            </a:r>
            <a:r>
              <a:rPr lang="ja-JP" altLang="en-US" sz="1400" dirty="0">
                <a:solidFill>
                  <a:schemeClr val="accent4"/>
                </a:solidFill>
                <a:latin typeface="Arial Narrow" panose="020B0606020202030204" pitchFamily="34" charset="0"/>
              </a:rPr>
              <a:t>芋</a:t>
            </a:r>
            <a:r>
              <a:rPr lang="ja-JP" altLang="en-US" sz="1400">
                <a:solidFill>
                  <a:schemeClr val="accent4"/>
                </a:solidFill>
                <a:latin typeface="Arial Narrow" panose="020B0606020202030204" pitchFamily="34" charset="0"/>
              </a:rPr>
              <a:t>を切る</a:t>
            </a:r>
            <a:endParaRPr lang="en-US" altLang="ja-JP" sz="1400" dirty="0">
              <a:solidFill>
                <a:schemeClr val="accent4"/>
              </a:solidFill>
              <a:latin typeface="Arial Narrow" panose="020B0606020202030204" pitchFamily="34" charset="0"/>
            </a:endParaRPr>
          </a:p>
          <a:p>
            <a:pPr>
              <a:lnSpc>
                <a:spcPct val="150000"/>
              </a:lnSpc>
            </a:pPr>
            <a:r>
              <a:rPr lang="en-US" altLang="ja-JP" sz="1400" dirty="0">
                <a:solidFill>
                  <a:schemeClr val="accent4"/>
                </a:solidFill>
                <a:latin typeface="Arial Narrow" panose="020B0606020202030204" pitchFamily="34" charset="0"/>
              </a:rPr>
              <a:t>5. </a:t>
            </a:r>
            <a:r>
              <a:rPr lang="ja-JP" altLang="en-US" sz="1400" dirty="0">
                <a:solidFill>
                  <a:schemeClr val="accent4"/>
                </a:solidFill>
                <a:latin typeface="Arial Narrow" panose="020B0606020202030204" pitchFamily="34" charset="0"/>
              </a:rPr>
              <a:t>炒める</a:t>
            </a:r>
          </a:p>
        </p:txBody>
      </p:sp>
      <p:sp>
        <p:nvSpPr>
          <p:cNvPr id="6" name="角丸四角形 46">
            <a:extLst>
              <a:ext uri="{FF2B5EF4-FFF2-40B4-BE49-F238E27FC236}">
                <a16:creationId xmlns:a16="http://schemas.microsoft.com/office/drawing/2014/main" id="{06FCE15B-D5D8-4C81-6044-CD3EB89BA2A7}"/>
              </a:ext>
            </a:extLst>
          </p:cNvPr>
          <p:cNvSpPr/>
          <p:nvPr/>
        </p:nvSpPr>
        <p:spPr bwMode="auto">
          <a:xfrm>
            <a:off x="6366003" y="2348988"/>
            <a:ext cx="816026" cy="450005"/>
          </a:xfrm>
          <a:prstGeom prst="roundRect">
            <a:avLst/>
          </a:prstGeom>
          <a:ln>
            <a:headEnd/>
            <a:tailEnd type="triangle" w="sm" len="med"/>
          </a:ln>
        </p:spPr>
        <p:style>
          <a:lnRef idx="2">
            <a:schemeClr val="accent4">
              <a:shade val="15000"/>
            </a:schemeClr>
          </a:lnRef>
          <a:fillRef idx="1">
            <a:schemeClr val="accent4"/>
          </a:fillRef>
          <a:effectRef idx="0">
            <a:schemeClr val="accent4"/>
          </a:effectRef>
          <a:fontRef idx="minor">
            <a:schemeClr val="lt1"/>
          </a:fontRef>
        </p:style>
        <p:txBody>
          <a:bodyPr wrap="none" rtlCol="0" anchor="ctr"/>
          <a:lstStyle/>
          <a:p>
            <a:pPr algn="ctr"/>
            <a:r>
              <a:rPr lang="ja-JP" altLang="en-US" sz="1400" b="1" dirty="0">
                <a:solidFill>
                  <a:schemeClr val="bg1"/>
                </a:solidFill>
                <a:latin typeface="Arial Narrow" panose="020B0606020202030204" pitchFamily="34" charset="0"/>
              </a:rPr>
              <a:t>玉葱を</a:t>
            </a:r>
            <a:endParaRPr lang="en-US" altLang="ja-JP" sz="1400" b="1" dirty="0">
              <a:solidFill>
                <a:schemeClr val="bg1"/>
              </a:solidFill>
              <a:latin typeface="Arial Narrow" panose="020B0606020202030204" pitchFamily="34" charset="0"/>
            </a:endParaRPr>
          </a:p>
          <a:p>
            <a:pPr algn="ctr"/>
            <a:r>
              <a:rPr lang="ja-JP" altLang="en-US" sz="1400" b="1" dirty="0">
                <a:solidFill>
                  <a:schemeClr val="bg1"/>
                </a:solidFill>
                <a:latin typeface="Arial Narrow" panose="020B0606020202030204" pitchFamily="34" charset="0"/>
              </a:rPr>
              <a:t>切る</a:t>
            </a:r>
            <a:endParaRPr kumimoji="1" lang="ja-JP" altLang="en-US" sz="1400" b="1" dirty="0">
              <a:solidFill>
                <a:schemeClr val="bg1"/>
              </a:solidFill>
              <a:latin typeface="Arial Narrow" panose="020B0606020202030204" pitchFamily="34" charset="0"/>
            </a:endParaRPr>
          </a:p>
        </p:txBody>
      </p:sp>
      <p:sp>
        <p:nvSpPr>
          <p:cNvPr id="4" name="テキスト プレースホルダー 4">
            <a:extLst>
              <a:ext uri="{FF2B5EF4-FFF2-40B4-BE49-F238E27FC236}">
                <a16:creationId xmlns:a16="http://schemas.microsoft.com/office/drawing/2014/main" id="{2AFDD8D3-D787-6949-282D-66F890A1DBC0}"/>
              </a:ext>
            </a:extLst>
          </p:cNvPr>
          <p:cNvSpPr>
            <a:spLocks noGrp="1"/>
          </p:cNvSpPr>
          <p:nvPr>
            <p:ph type="body" sz="quarter" idx="10"/>
          </p:nvPr>
        </p:nvSpPr>
        <p:spPr>
          <a:xfrm>
            <a:off x="1145945" y="4599013"/>
            <a:ext cx="9630107" cy="1170013"/>
          </a:xfrm>
        </p:spPr>
        <p:txBody>
          <a:bodyPr/>
          <a:lstStyle/>
          <a:p>
            <a:r>
              <a:rPr lang="en-US" altLang="ja-JP" dirty="0"/>
              <a:t>SIMD </a:t>
            </a:r>
            <a:r>
              <a:rPr lang="ja-JP" altLang="en-US" dirty="0"/>
              <a:t>命令や組み込み関数：</a:t>
            </a:r>
            <a:endParaRPr lang="en-US" altLang="ja-JP" dirty="0"/>
          </a:p>
          <a:p>
            <a:pPr lvl="1"/>
            <a:r>
              <a:rPr lang="ja-JP" altLang="en-US" dirty="0"/>
              <a:t>レシピに「４つ切る」と最初から書いてある</a:t>
            </a:r>
            <a:endParaRPr lang="en-US" altLang="ja-JP" dirty="0"/>
          </a:p>
          <a:p>
            <a:r>
              <a:rPr lang="en-US" altLang="ja-JP" dirty="0"/>
              <a:t>SIMT</a:t>
            </a:r>
            <a:r>
              <a:rPr lang="ja-JP" altLang="en-US" dirty="0"/>
              <a:t>：</a:t>
            </a:r>
            <a:endParaRPr lang="en-US" altLang="ja-JP" dirty="0"/>
          </a:p>
          <a:p>
            <a:pPr lvl="1"/>
            <a:r>
              <a:rPr lang="ja-JP" altLang="en-US" dirty="0"/>
              <a:t>レシピ自体は「１つ切る」とだけ書いてある</a:t>
            </a:r>
            <a:endParaRPr lang="en-US" altLang="ja-JP" dirty="0"/>
          </a:p>
          <a:p>
            <a:pPr lvl="1"/>
            <a:r>
              <a:rPr lang="ja-JP" altLang="en-US" dirty="0"/>
              <a:t>かわりに </a:t>
            </a:r>
            <a:r>
              <a:rPr lang="en-US" altLang="ja-JP" dirty="0"/>
              <a:t>PC </a:t>
            </a:r>
            <a:r>
              <a:rPr lang="ja-JP" altLang="en-US" dirty="0"/>
              <a:t>を４つ持ち，都度いくつ同時にできるか考える</a:t>
            </a:r>
            <a:endParaRPr lang="en-US" altLang="ja-JP" dirty="0"/>
          </a:p>
          <a:p>
            <a:pPr lvl="1"/>
            <a:r>
              <a:rPr lang="en-US" altLang="ja-JP" dirty="0">
                <a:solidFill>
                  <a:schemeClr val="accent5"/>
                </a:solidFill>
              </a:rPr>
              <a:t>PC </a:t>
            </a:r>
            <a:r>
              <a:rPr lang="ja-JP" altLang="en-US" dirty="0">
                <a:solidFill>
                  <a:schemeClr val="accent5"/>
                </a:solidFill>
              </a:rPr>
              <a:t>が同じところにある人達の分は，一括して出来る</a:t>
            </a:r>
            <a:endParaRPr lang="en-US" altLang="ja-JP" dirty="0">
              <a:solidFill>
                <a:schemeClr val="accent5"/>
              </a:solidFill>
            </a:endParaRPr>
          </a:p>
        </p:txBody>
      </p:sp>
      <p:sp>
        <p:nvSpPr>
          <p:cNvPr id="7" name="平行四辺形 6">
            <a:extLst>
              <a:ext uri="{FF2B5EF4-FFF2-40B4-BE49-F238E27FC236}">
                <a16:creationId xmlns:a16="http://schemas.microsoft.com/office/drawing/2014/main" id="{E70E97E0-4E17-B150-1142-9E6395B13500}"/>
              </a:ext>
            </a:extLst>
          </p:cNvPr>
          <p:cNvSpPr/>
          <p:nvPr/>
        </p:nvSpPr>
        <p:spPr bwMode="auto">
          <a:xfrm>
            <a:off x="7716018" y="2258987"/>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8" name="平行四辺形 7">
            <a:extLst>
              <a:ext uri="{FF2B5EF4-FFF2-40B4-BE49-F238E27FC236}">
                <a16:creationId xmlns:a16="http://schemas.microsoft.com/office/drawing/2014/main" id="{4A226942-7524-B374-7498-4E7FC4A8C07E}"/>
              </a:ext>
            </a:extLst>
          </p:cNvPr>
          <p:cNvSpPr/>
          <p:nvPr/>
        </p:nvSpPr>
        <p:spPr bwMode="auto">
          <a:xfrm>
            <a:off x="7716018" y="2978995"/>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9" name="平行四辺形 8">
            <a:extLst>
              <a:ext uri="{FF2B5EF4-FFF2-40B4-BE49-F238E27FC236}">
                <a16:creationId xmlns:a16="http://schemas.microsoft.com/office/drawing/2014/main" id="{243B6398-99F3-6A86-C65F-5316689DFBF9}"/>
              </a:ext>
            </a:extLst>
          </p:cNvPr>
          <p:cNvSpPr/>
          <p:nvPr/>
        </p:nvSpPr>
        <p:spPr bwMode="auto">
          <a:xfrm>
            <a:off x="7716018" y="4239009"/>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cxnSp>
        <p:nvCxnSpPr>
          <p:cNvPr id="11" name="直線矢印コネクタ 10">
            <a:extLst>
              <a:ext uri="{FF2B5EF4-FFF2-40B4-BE49-F238E27FC236}">
                <a16:creationId xmlns:a16="http://schemas.microsoft.com/office/drawing/2014/main" id="{3785D163-2D36-59FE-A3E5-E460550D9131}"/>
              </a:ext>
            </a:extLst>
          </p:cNvPr>
          <p:cNvCxnSpPr>
            <a:cxnSpLocks/>
          </p:cNvCxnSpPr>
          <p:nvPr/>
        </p:nvCxnSpPr>
        <p:spPr bwMode="auto">
          <a:xfrm>
            <a:off x="4205979" y="2258987"/>
            <a:ext cx="360004" cy="0"/>
          </a:xfrm>
          <a:prstGeom prst="straightConnector1">
            <a:avLst/>
          </a:prstGeom>
          <a:ln w="57150">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2" name="直線矢印コネクタ 11">
            <a:extLst>
              <a:ext uri="{FF2B5EF4-FFF2-40B4-BE49-F238E27FC236}">
                <a16:creationId xmlns:a16="http://schemas.microsoft.com/office/drawing/2014/main" id="{347031D2-37EC-6DE4-41F0-72B426DDA55D}"/>
              </a:ext>
            </a:extLst>
          </p:cNvPr>
          <p:cNvCxnSpPr>
            <a:cxnSpLocks/>
          </p:cNvCxnSpPr>
          <p:nvPr/>
        </p:nvCxnSpPr>
        <p:spPr bwMode="auto">
          <a:xfrm>
            <a:off x="4205979" y="2888994"/>
            <a:ext cx="360004" cy="0"/>
          </a:xfrm>
          <a:prstGeom prst="straightConnector1">
            <a:avLst/>
          </a:prstGeom>
          <a:ln w="57150">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5" name="直線矢印コネクタ 14">
            <a:extLst>
              <a:ext uri="{FF2B5EF4-FFF2-40B4-BE49-F238E27FC236}">
                <a16:creationId xmlns:a16="http://schemas.microsoft.com/office/drawing/2014/main" id="{0D9996BB-3CA4-4C29-DADA-86B86324A84A}"/>
              </a:ext>
            </a:extLst>
          </p:cNvPr>
          <p:cNvCxnSpPr>
            <a:cxnSpLocks/>
          </p:cNvCxnSpPr>
          <p:nvPr/>
        </p:nvCxnSpPr>
        <p:spPr bwMode="auto">
          <a:xfrm>
            <a:off x="3755974" y="2258987"/>
            <a:ext cx="360004" cy="0"/>
          </a:xfrm>
          <a:prstGeom prst="straightConnector1">
            <a:avLst/>
          </a:prstGeom>
          <a:ln w="57150">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6" name="直線矢印コネクタ 15">
            <a:extLst>
              <a:ext uri="{FF2B5EF4-FFF2-40B4-BE49-F238E27FC236}">
                <a16:creationId xmlns:a16="http://schemas.microsoft.com/office/drawing/2014/main" id="{FE1CEC20-9513-8D32-B596-B65DDFB933B4}"/>
              </a:ext>
            </a:extLst>
          </p:cNvPr>
          <p:cNvCxnSpPr>
            <a:cxnSpLocks/>
          </p:cNvCxnSpPr>
          <p:nvPr/>
        </p:nvCxnSpPr>
        <p:spPr bwMode="auto">
          <a:xfrm>
            <a:off x="3305969" y="2258987"/>
            <a:ext cx="360004" cy="0"/>
          </a:xfrm>
          <a:prstGeom prst="straightConnector1">
            <a:avLst/>
          </a:prstGeom>
          <a:ln w="57150">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17" name="角丸四角形吹き出し 44">
            <a:extLst>
              <a:ext uri="{FF2B5EF4-FFF2-40B4-BE49-F238E27FC236}">
                <a16:creationId xmlns:a16="http://schemas.microsoft.com/office/drawing/2014/main" id="{354C2773-775E-DF52-1349-FDB8FD46138D}"/>
              </a:ext>
            </a:extLst>
          </p:cNvPr>
          <p:cNvSpPr/>
          <p:nvPr/>
        </p:nvSpPr>
        <p:spPr bwMode="auto">
          <a:xfrm>
            <a:off x="6726007" y="1448978"/>
            <a:ext cx="1440016" cy="522648"/>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上３人だけ玉葱</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切ってくれんか</a:t>
            </a:r>
          </a:p>
        </p:txBody>
      </p:sp>
      <p:sp>
        <p:nvSpPr>
          <p:cNvPr id="18" name="正方形/長方形 17">
            <a:extLst>
              <a:ext uri="{FF2B5EF4-FFF2-40B4-BE49-F238E27FC236}">
                <a16:creationId xmlns:a16="http://schemas.microsoft.com/office/drawing/2014/main" id="{18D6E4E5-B43A-5447-40C3-F3144F540371}"/>
              </a:ext>
            </a:extLst>
          </p:cNvPr>
          <p:cNvSpPr/>
          <p:nvPr/>
        </p:nvSpPr>
        <p:spPr bwMode="auto">
          <a:xfrm>
            <a:off x="3395970" y="2438989"/>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PC</a:t>
            </a:r>
            <a:r>
              <a:rPr lang="ja-JP" altLang="en-US" sz="1600" dirty="0">
                <a:solidFill>
                  <a:schemeClr val="tx1">
                    <a:lumMod val="75000"/>
                    <a:lumOff val="25000"/>
                  </a:schemeClr>
                </a:solidFill>
                <a:latin typeface="+mn-ea"/>
              </a:rPr>
              <a:t> </a:t>
            </a:r>
            <a:r>
              <a:rPr lang="en-US" altLang="ja-JP" sz="1600" dirty="0">
                <a:solidFill>
                  <a:schemeClr val="tx1">
                    <a:lumMod val="75000"/>
                    <a:lumOff val="25000"/>
                  </a:schemeClr>
                </a:solidFill>
                <a:latin typeface="+mn-ea"/>
              </a:rPr>
              <a:t>x4</a:t>
            </a:r>
            <a:endParaRPr lang="ja-JP" altLang="en-US" sz="1600"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5EFFDFDB-1A3B-3025-816B-A21893B517D4}"/>
              </a:ext>
            </a:extLst>
          </p:cNvPr>
          <p:cNvSpPr/>
          <p:nvPr/>
        </p:nvSpPr>
        <p:spPr>
          <a:xfrm>
            <a:off x="8076022" y="3519001"/>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cxnSp>
        <p:nvCxnSpPr>
          <p:cNvPr id="13" name="直線矢印コネクタ 12">
            <a:extLst>
              <a:ext uri="{FF2B5EF4-FFF2-40B4-BE49-F238E27FC236}">
                <a16:creationId xmlns:a16="http://schemas.microsoft.com/office/drawing/2014/main" id="{E51904B3-D416-A161-3148-491E2D4CF109}"/>
              </a:ext>
            </a:extLst>
          </p:cNvPr>
          <p:cNvCxnSpPr/>
          <p:nvPr/>
        </p:nvCxnSpPr>
        <p:spPr bwMode="auto">
          <a:xfrm flipV="1">
            <a:off x="7356014" y="1898983"/>
            <a:ext cx="810009" cy="450005"/>
          </a:xfrm>
          <a:prstGeom prst="straightConnector1">
            <a:avLst/>
          </a:prstGeom>
          <a:ln>
            <a:headEnd type="none" w="med" len="med"/>
            <a:tailEnd type="triangle"/>
          </a:ln>
        </p:spPr>
        <p:style>
          <a:lnRef idx="3">
            <a:schemeClr val="accent1"/>
          </a:lnRef>
          <a:fillRef idx="0">
            <a:schemeClr val="accent1"/>
          </a:fillRef>
          <a:effectRef idx="2">
            <a:schemeClr val="accent1"/>
          </a:effectRef>
          <a:fontRef idx="minor">
            <a:schemeClr val="tx1"/>
          </a:fontRef>
        </p:style>
      </p:cxnSp>
      <p:cxnSp>
        <p:nvCxnSpPr>
          <p:cNvPr id="14" name="直線矢印コネクタ 13">
            <a:extLst>
              <a:ext uri="{FF2B5EF4-FFF2-40B4-BE49-F238E27FC236}">
                <a16:creationId xmlns:a16="http://schemas.microsoft.com/office/drawing/2014/main" id="{687A873B-0357-FF93-5542-3921E8E8A4BD}"/>
              </a:ext>
            </a:extLst>
          </p:cNvPr>
          <p:cNvCxnSpPr>
            <a:cxnSpLocks/>
          </p:cNvCxnSpPr>
          <p:nvPr/>
        </p:nvCxnSpPr>
        <p:spPr bwMode="auto">
          <a:xfrm>
            <a:off x="7356014" y="2528990"/>
            <a:ext cx="810009" cy="0"/>
          </a:xfrm>
          <a:prstGeom prst="straightConnector1">
            <a:avLst/>
          </a:prstGeom>
          <a:ln>
            <a:headEnd type="none" w="med" len="med"/>
            <a:tailEnd type="triangle"/>
          </a:ln>
        </p:spPr>
        <p:style>
          <a:lnRef idx="3">
            <a:schemeClr val="accent1"/>
          </a:lnRef>
          <a:fillRef idx="0">
            <a:schemeClr val="accent1"/>
          </a:fillRef>
          <a:effectRef idx="2">
            <a:schemeClr val="accent1"/>
          </a:effectRef>
          <a:fontRef idx="minor">
            <a:schemeClr val="tx1"/>
          </a:fontRef>
        </p:style>
      </p:cxnSp>
      <p:cxnSp>
        <p:nvCxnSpPr>
          <p:cNvPr id="21" name="直線矢印コネクタ 20">
            <a:extLst>
              <a:ext uri="{FF2B5EF4-FFF2-40B4-BE49-F238E27FC236}">
                <a16:creationId xmlns:a16="http://schemas.microsoft.com/office/drawing/2014/main" id="{D2B3F384-80AC-1543-B7DE-E61C648AB47F}"/>
              </a:ext>
            </a:extLst>
          </p:cNvPr>
          <p:cNvCxnSpPr>
            <a:cxnSpLocks/>
          </p:cNvCxnSpPr>
          <p:nvPr/>
        </p:nvCxnSpPr>
        <p:spPr bwMode="auto">
          <a:xfrm>
            <a:off x="7356014" y="2798993"/>
            <a:ext cx="720008" cy="360004"/>
          </a:xfrm>
          <a:prstGeom prst="straightConnector1">
            <a:avLst/>
          </a:prstGeom>
          <a:ln>
            <a:headEnd type="none" w="med" len="med"/>
            <a:tailEnd type="triangle"/>
          </a:ln>
        </p:spPr>
        <p:style>
          <a:lnRef idx="3">
            <a:schemeClr val="accent1"/>
          </a:lnRef>
          <a:fillRef idx="0">
            <a:schemeClr val="accent1"/>
          </a:fillRef>
          <a:effectRef idx="2">
            <a:schemeClr val="accent1"/>
          </a:effectRef>
          <a:fontRef idx="minor">
            <a:schemeClr val="tx1"/>
          </a:fontRef>
        </p:style>
      </p:cxnSp>
      <p:sp>
        <p:nvSpPr>
          <p:cNvPr id="23" name="角丸四角形吹き出し 44">
            <a:extLst>
              <a:ext uri="{FF2B5EF4-FFF2-40B4-BE49-F238E27FC236}">
                <a16:creationId xmlns:a16="http://schemas.microsoft.com/office/drawing/2014/main" id="{5289AB0F-1D88-FFE1-A8F9-D2605F72D52A}"/>
              </a:ext>
            </a:extLst>
          </p:cNvPr>
          <p:cNvSpPr/>
          <p:nvPr/>
        </p:nvSpPr>
        <p:spPr bwMode="auto">
          <a:xfrm>
            <a:off x="8796030" y="3158997"/>
            <a:ext cx="1980022" cy="594057"/>
          </a:xfrm>
          <a:prstGeom prst="wedgeRoundRectCallout">
            <a:avLst>
              <a:gd name="adj1" fmla="val -43593"/>
              <a:gd name="adj2" fmla="val 97788"/>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お芋まで進んでるので</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今回はお休み</a:t>
            </a:r>
          </a:p>
        </p:txBody>
      </p:sp>
      <p:sp>
        <p:nvSpPr>
          <p:cNvPr id="24" name="角丸四角形吹き出し 44">
            <a:extLst>
              <a:ext uri="{FF2B5EF4-FFF2-40B4-BE49-F238E27FC236}">
                <a16:creationId xmlns:a16="http://schemas.microsoft.com/office/drawing/2014/main" id="{B9965BD4-A0F8-8E13-9FB1-32BD72AD8344}"/>
              </a:ext>
            </a:extLst>
          </p:cNvPr>
          <p:cNvSpPr/>
          <p:nvPr/>
        </p:nvSpPr>
        <p:spPr bwMode="auto">
          <a:xfrm>
            <a:off x="8706029" y="548968"/>
            <a:ext cx="720008" cy="414055"/>
          </a:xfrm>
          <a:prstGeom prst="wedgeRoundRectCallout">
            <a:avLst>
              <a:gd name="adj1" fmla="val -43593"/>
              <a:gd name="adj2" fmla="val 97788"/>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ハーイ</a:t>
            </a:r>
          </a:p>
        </p:txBody>
      </p:sp>
    </p:spTree>
    <p:extLst>
      <p:ext uri="{BB962C8B-B14F-4D97-AF65-F5344CB8AC3E}">
        <p14:creationId xmlns:p14="http://schemas.microsoft.com/office/powerpoint/2010/main" val="19516457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SIMT </a:t>
            </a:r>
            <a:r>
              <a:rPr kumimoji="1" lang="ja-JP" altLang="en-US" dirty="0"/>
              <a:t>の構造</a:t>
            </a:r>
          </a:p>
        </p:txBody>
      </p:sp>
      <p:sp>
        <p:nvSpPr>
          <p:cNvPr id="3" name="テキスト プレースホルダー 2"/>
          <p:cNvSpPr>
            <a:spLocks noGrp="1"/>
          </p:cNvSpPr>
          <p:nvPr>
            <p:ph type="body" sz="quarter" idx="10"/>
          </p:nvPr>
        </p:nvSpPr>
        <p:spPr>
          <a:xfrm>
            <a:off x="1235946" y="1088975"/>
            <a:ext cx="8280092" cy="5490061"/>
          </a:xfrm>
        </p:spPr>
        <p:txBody>
          <a:bodyPr/>
          <a:lstStyle/>
          <a:p>
            <a:r>
              <a:rPr kumimoji="1" lang="en-US" altLang="ja-JP" dirty="0"/>
              <a:t>PC </a:t>
            </a:r>
            <a:r>
              <a:rPr kumimoji="1" lang="ja-JP" altLang="en-US" dirty="0"/>
              <a:t>を演算器の分だけ持つ</a:t>
            </a:r>
            <a:endParaRPr kumimoji="1" lang="en-US" altLang="ja-JP" dirty="0"/>
          </a:p>
          <a:p>
            <a:pPr lvl="1"/>
            <a:r>
              <a:rPr kumimoji="1" lang="ja-JP" altLang="en-US" dirty="0"/>
              <a:t>命令メモリは１つのまま</a:t>
            </a:r>
            <a:endParaRPr kumimoji="1" lang="en-US" altLang="ja-JP" dirty="0"/>
          </a:p>
          <a:p>
            <a:r>
              <a:rPr lang="en-US" altLang="ja-JP" dirty="0"/>
              <a:t>SPMD</a:t>
            </a:r>
            <a:r>
              <a:rPr lang="ja-JP" altLang="en-US" dirty="0"/>
              <a:t> の各スレッドを </a:t>
            </a:r>
            <a:r>
              <a:rPr lang="en-US" altLang="ja-JP" dirty="0"/>
              <a:t>PC </a:t>
            </a:r>
            <a:r>
              <a:rPr lang="ja-JP" altLang="en-US" dirty="0"/>
              <a:t>に割り当てる</a:t>
            </a:r>
            <a:endParaRPr lang="en-US" altLang="ja-JP" dirty="0"/>
          </a:p>
          <a:p>
            <a:pPr lvl="1"/>
            <a:r>
              <a:rPr kumimoji="1" lang="ja-JP" altLang="en-US" dirty="0"/>
              <a:t>基本的にはスレッドを時分割で</a:t>
            </a:r>
            <a:br>
              <a:rPr kumimoji="1" lang="en-US" altLang="ja-JP" dirty="0"/>
            </a:br>
            <a:r>
              <a:rPr kumimoji="1" lang="ja-JP" altLang="en-US" dirty="0"/>
              <a:t>それぞれ実行</a:t>
            </a:r>
            <a:endParaRPr kumimoji="1" lang="en-US" altLang="ja-JP" dirty="0"/>
          </a:p>
          <a:p>
            <a:r>
              <a:rPr kumimoji="1" lang="ja-JP" altLang="en-US" dirty="0"/>
              <a:t>ポイント：</a:t>
            </a:r>
            <a:endParaRPr kumimoji="1" lang="en-US" altLang="ja-JP" dirty="0"/>
          </a:p>
          <a:p>
            <a:pPr lvl="1"/>
            <a:r>
              <a:rPr kumimoji="1" lang="ja-JP" altLang="en-US" dirty="0">
                <a:solidFill>
                  <a:schemeClr val="accent5"/>
                </a:solidFill>
              </a:rPr>
              <a:t>全スレッドの </a:t>
            </a:r>
            <a:r>
              <a:rPr kumimoji="1" lang="en-US" altLang="ja-JP" dirty="0">
                <a:solidFill>
                  <a:schemeClr val="accent5"/>
                </a:solidFill>
              </a:rPr>
              <a:t>PC </a:t>
            </a:r>
            <a:r>
              <a:rPr kumimoji="1" lang="ja-JP" altLang="en-US" dirty="0">
                <a:solidFill>
                  <a:schemeClr val="accent5"/>
                </a:solidFill>
              </a:rPr>
              <a:t>が同じアドレスを</a:t>
            </a:r>
            <a:br>
              <a:rPr kumimoji="1" lang="en-US" altLang="ja-JP" dirty="0">
                <a:solidFill>
                  <a:schemeClr val="accent5"/>
                </a:solidFill>
              </a:rPr>
            </a:br>
            <a:r>
              <a:rPr kumimoji="1" lang="ja-JP" altLang="en-US" dirty="0">
                <a:solidFill>
                  <a:schemeClr val="accent5"/>
                </a:solidFill>
              </a:rPr>
              <a:t>指している場合は </a:t>
            </a:r>
            <a:r>
              <a:rPr kumimoji="1" lang="en-US" altLang="ja-JP" dirty="0">
                <a:solidFill>
                  <a:schemeClr val="accent5"/>
                </a:solidFill>
              </a:rPr>
              <a:t>SIMD </a:t>
            </a:r>
            <a:r>
              <a:rPr kumimoji="1" lang="ja-JP" altLang="en-US" dirty="0">
                <a:solidFill>
                  <a:schemeClr val="accent5"/>
                </a:solidFill>
              </a:rPr>
              <a:t>プロセッサ</a:t>
            </a:r>
            <a:br>
              <a:rPr kumimoji="1" lang="en-US" altLang="ja-JP" dirty="0">
                <a:solidFill>
                  <a:schemeClr val="accent5"/>
                </a:solidFill>
              </a:rPr>
            </a:br>
            <a:r>
              <a:rPr kumimoji="1" lang="ja-JP" altLang="en-US" dirty="0">
                <a:solidFill>
                  <a:schemeClr val="accent5"/>
                </a:solidFill>
              </a:rPr>
              <a:t>として振る舞う</a:t>
            </a:r>
            <a:endParaRPr kumimoji="1" lang="en-US" altLang="ja-JP" dirty="0">
              <a:solidFill>
                <a:schemeClr val="accent5"/>
              </a:solidFill>
            </a:endParaRPr>
          </a:p>
          <a:p>
            <a:pPr lvl="2"/>
            <a:r>
              <a:rPr kumimoji="1" lang="ja-JP" altLang="en-US" dirty="0"/>
              <a:t>このまとまりを </a:t>
            </a:r>
            <a:r>
              <a:rPr kumimoji="1" lang="en-US" altLang="ja-JP" dirty="0">
                <a:solidFill>
                  <a:schemeClr val="accent5"/>
                </a:solidFill>
              </a:rPr>
              <a:t>Warp</a:t>
            </a:r>
            <a:r>
              <a:rPr kumimoji="1" lang="en-US" altLang="ja-JP" dirty="0"/>
              <a:t> or </a:t>
            </a:r>
            <a:r>
              <a:rPr kumimoji="1" lang="en-US" altLang="ja-JP" dirty="0">
                <a:solidFill>
                  <a:schemeClr val="accent5"/>
                </a:solidFill>
              </a:rPr>
              <a:t>Wavefront</a:t>
            </a:r>
            <a:r>
              <a:rPr kumimoji="1" lang="en-US" altLang="ja-JP" dirty="0"/>
              <a:t> </a:t>
            </a:r>
            <a:r>
              <a:rPr kumimoji="1" lang="ja-JP" altLang="en-US" dirty="0"/>
              <a:t>と呼ぶ</a:t>
            </a:r>
            <a:endParaRPr kumimoji="1" lang="en-US" altLang="ja-JP" dirty="0"/>
          </a:p>
          <a:p>
            <a:pPr lvl="1"/>
            <a:r>
              <a:rPr kumimoji="1" lang="ja-JP" altLang="en-US" dirty="0"/>
              <a:t>分岐しなければこの状態が保たれる</a:t>
            </a:r>
          </a:p>
        </p:txBody>
      </p:sp>
      <p:sp>
        <p:nvSpPr>
          <p:cNvPr id="31" name="正方形/長方形 30">
            <a:extLst>
              <a:ext uri="{FF2B5EF4-FFF2-40B4-BE49-F238E27FC236}">
                <a16:creationId xmlns:a16="http://schemas.microsoft.com/office/drawing/2014/main" id="{AAE971ED-9A48-2FB0-F7DF-2E627DAC2B13}"/>
              </a:ext>
            </a:extLst>
          </p:cNvPr>
          <p:cNvSpPr/>
          <p:nvPr/>
        </p:nvSpPr>
        <p:spPr bwMode="auto">
          <a:xfrm>
            <a:off x="7266014" y="2618991"/>
            <a:ext cx="3150035" cy="180002"/>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100" dirty="0">
                <a:solidFill>
                  <a:schemeClr val="tx1">
                    <a:lumMod val="75000"/>
                    <a:lumOff val="25000"/>
                  </a:schemeClr>
                </a:solidFill>
                <a:latin typeface="+mn-ea"/>
              </a:rPr>
              <a:t>Warp/Wavefront</a:t>
            </a:r>
            <a:endParaRPr lang="ja-JP" altLang="en-US" sz="1100" dirty="0">
              <a:solidFill>
                <a:schemeClr val="tx1">
                  <a:lumMod val="75000"/>
                  <a:lumOff val="25000"/>
                </a:schemeClr>
              </a:solidFill>
              <a:latin typeface="+mn-ea"/>
            </a:endParaRPr>
          </a:p>
        </p:txBody>
      </p:sp>
      <p:sp>
        <p:nvSpPr>
          <p:cNvPr id="40" name="正方形/長方形 39">
            <a:extLst>
              <a:ext uri="{FF2B5EF4-FFF2-40B4-BE49-F238E27FC236}">
                <a16:creationId xmlns:a16="http://schemas.microsoft.com/office/drawing/2014/main" id="{9E705AE3-3463-E8AC-4860-358279E73349}"/>
              </a:ext>
            </a:extLst>
          </p:cNvPr>
          <p:cNvSpPr/>
          <p:nvPr/>
        </p:nvSpPr>
        <p:spPr bwMode="auto">
          <a:xfrm>
            <a:off x="8526028" y="4239009"/>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41" name="直線矢印コネクタ 40">
            <a:extLst>
              <a:ext uri="{FF2B5EF4-FFF2-40B4-BE49-F238E27FC236}">
                <a16:creationId xmlns:a16="http://schemas.microsoft.com/office/drawing/2014/main" id="{9FA2D5D2-F6A8-7317-F837-6F10E07BEB9B}"/>
              </a:ext>
            </a:extLst>
          </p:cNvPr>
          <p:cNvCxnSpPr>
            <a:cxnSpLocks/>
          </p:cNvCxnSpPr>
          <p:nvPr/>
        </p:nvCxnSpPr>
        <p:spPr bwMode="auto">
          <a:xfrm>
            <a:off x="8886032" y="4041138"/>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42" name="正方形/長方形 41">
            <a:extLst>
              <a:ext uri="{FF2B5EF4-FFF2-40B4-BE49-F238E27FC236}">
                <a16:creationId xmlns:a16="http://schemas.microsoft.com/office/drawing/2014/main" id="{8422841B-ECF4-6F5E-9598-EE65BE6CDAEF}"/>
              </a:ext>
            </a:extLst>
          </p:cNvPr>
          <p:cNvSpPr/>
          <p:nvPr/>
        </p:nvSpPr>
        <p:spPr bwMode="auto">
          <a:xfrm>
            <a:off x="8256025" y="3609001"/>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PC1</a:t>
            </a:r>
            <a:endParaRPr lang="ja-JP" altLang="en-US" sz="1200" dirty="0">
              <a:solidFill>
                <a:schemeClr val="tx1">
                  <a:lumMod val="75000"/>
                  <a:lumOff val="25000"/>
                </a:schemeClr>
              </a:solidFill>
              <a:latin typeface="+mn-ea"/>
            </a:endParaRPr>
          </a:p>
        </p:txBody>
      </p:sp>
      <p:sp>
        <p:nvSpPr>
          <p:cNvPr id="45" name="フリーフォーム 10">
            <a:extLst>
              <a:ext uri="{FF2B5EF4-FFF2-40B4-BE49-F238E27FC236}">
                <a16:creationId xmlns:a16="http://schemas.microsoft.com/office/drawing/2014/main" id="{4DA52315-3446-841A-2AEC-BCB38DE3E40A}"/>
              </a:ext>
            </a:extLst>
          </p:cNvPr>
          <p:cNvSpPr>
            <a:spLocks noChangeArrowheads="1"/>
          </p:cNvSpPr>
          <p:nvPr/>
        </p:nvSpPr>
        <p:spPr bwMode="auto">
          <a:xfrm flipH="1">
            <a:off x="7266014" y="495901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r>
              <a:rPr lang="en-US" altLang="ja-JP" sz="1100" dirty="0">
                <a:solidFill>
                  <a:schemeClr val="tx1">
                    <a:lumMod val="75000"/>
                    <a:lumOff val="25000"/>
                  </a:schemeClr>
                </a:solidFill>
                <a:latin typeface="+mn-ea"/>
              </a:rPr>
              <a:t>0</a:t>
            </a:r>
            <a:endParaRPr lang="ja-JP" altLang="en-US" sz="1100" dirty="0">
              <a:solidFill>
                <a:schemeClr val="tx1">
                  <a:lumMod val="75000"/>
                  <a:lumOff val="25000"/>
                </a:schemeClr>
              </a:solidFill>
              <a:latin typeface="+mn-ea"/>
            </a:endParaRPr>
          </a:p>
        </p:txBody>
      </p:sp>
      <p:cxnSp>
        <p:nvCxnSpPr>
          <p:cNvPr id="48" name="直線矢印コネクタ 47">
            <a:extLst>
              <a:ext uri="{FF2B5EF4-FFF2-40B4-BE49-F238E27FC236}">
                <a16:creationId xmlns:a16="http://schemas.microsoft.com/office/drawing/2014/main" id="{0CFE9B0E-F7AB-6049-1497-A0E4D7AE8231}"/>
              </a:ext>
            </a:extLst>
          </p:cNvPr>
          <p:cNvCxnSpPr>
            <a:cxnSpLocks/>
          </p:cNvCxnSpPr>
          <p:nvPr/>
        </p:nvCxnSpPr>
        <p:spPr bwMode="auto">
          <a:xfrm>
            <a:off x="8886032" y="4599012"/>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49" name="Freeform 10">
            <a:extLst>
              <a:ext uri="{FF2B5EF4-FFF2-40B4-BE49-F238E27FC236}">
                <a16:creationId xmlns:a16="http://schemas.microsoft.com/office/drawing/2014/main" id="{B289741C-44C8-378D-304E-A093B9A96317}"/>
              </a:ext>
            </a:extLst>
          </p:cNvPr>
          <p:cNvSpPr>
            <a:spLocks/>
          </p:cNvSpPr>
          <p:nvPr/>
        </p:nvSpPr>
        <p:spPr bwMode="auto">
          <a:xfrm rot="5400000">
            <a:off x="8076023" y="4329010"/>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52" name="フリーフォーム 10">
            <a:extLst>
              <a:ext uri="{FF2B5EF4-FFF2-40B4-BE49-F238E27FC236}">
                <a16:creationId xmlns:a16="http://schemas.microsoft.com/office/drawing/2014/main" id="{02F4AC50-BAAB-B5B9-D14D-C55511C72E43}"/>
              </a:ext>
            </a:extLst>
          </p:cNvPr>
          <p:cNvSpPr>
            <a:spLocks noChangeArrowheads="1"/>
          </p:cNvSpPr>
          <p:nvPr/>
        </p:nvSpPr>
        <p:spPr bwMode="auto">
          <a:xfrm flipH="1">
            <a:off x="8076023" y="495901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r>
              <a:rPr lang="en-US" altLang="ja-JP" sz="1100" dirty="0">
                <a:solidFill>
                  <a:schemeClr val="tx1">
                    <a:lumMod val="75000"/>
                    <a:lumOff val="25000"/>
                  </a:schemeClr>
                </a:solidFill>
                <a:latin typeface="+mn-ea"/>
              </a:rPr>
              <a:t>1</a:t>
            </a:r>
            <a:endParaRPr lang="ja-JP" altLang="en-US" sz="1100" dirty="0">
              <a:solidFill>
                <a:schemeClr val="tx1">
                  <a:lumMod val="75000"/>
                  <a:lumOff val="25000"/>
                </a:schemeClr>
              </a:solidFill>
              <a:latin typeface="+mn-ea"/>
            </a:endParaRPr>
          </a:p>
        </p:txBody>
      </p:sp>
      <p:sp>
        <p:nvSpPr>
          <p:cNvPr id="53" name="フリーフォーム 10">
            <a:extLst>
              <a:ext uri="{FF2B5EF4-FFF2-40B4-BE49-F238E27FC236}">
                <a16:creationId xmlns:a16="http://schemas.microsoft.com/office/drawing/2014/main" id="{BC419B34-2A5A-4A80-F234-FEE54B74A110}"/>
              </a:ext>
            </a:extLst>
          </p:cNvPr>
          <p:cNvSpPr>
            <a:spLocks noChangeArrowheads="1"/>
          </p:cNvSpPr>
          <p:nvPr/>
        </p:nvSpPr>
        <p:spPr bwMode="auto">
          <a:xfrm flipH="1">
            <a:off x="8976033" y="495901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r>
              <a:rPr lang="en-US" altLang="ja-JP" sz="1100" dirty="0">
                <a:solidFill>
                  <a:schemeClr val="tx1">
                    <a:lumMod val="75000"/>
                    <a:lumOff val="25000"/>
                  </a:schemeClr>
                </a:solidFill>
                <a:latin typeface="+mn-ea"/>
              </a:rPr>
              <a:t>2</a:t>
            </a:r>
            <a:endParaRPr lang="ja-JP" altLang="en-US" sz="1100" dirty="0">
              <a:solidFill>
                <a:schemeClr val="tx1">
                  <a:lumMod val="75000"/>
                  <a:lumOff val="25000"/>
                </a:schemeClr>
              </a:solidFill>
              <a:latin typeface="+mn-ea"/>
            </a:endParaRPr>
          </a:p>
        </p:txBody>
      </p:sp>
      <p:sp>
        <p:nvSpPr>
          <p:cNvPr id="54" name="フリーフォーム 10">
            <a:extLst>
              <a:ext uri="{FF2B5EF4-FFF2-40B4-BE49-F238E27FC236}">
                <a16:creationId xmlns:a16="http://schemas.microsoft.com/office/drawing/2014/main" id="{4AD2783B-42E3-48A9-AC8E-3730577B3541}"/>
              </a:ext>
            </a:extLst>
          </p:cNvPr>
          <p:cNvSpPr>
            <a:spLocks noChangeArrowheads="1"/>
          </p:cNvSpPr>
          <p:nvPr/>
        </p:nvSpPr>
        <p:spPr bwMode="auto">
          <a:xfrm flipH="1">
            <a:off x="9786042" y="495901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r>
              <a:rPr lang="en-US" altLang="ja-JP" sz="1100" dirty="0">
                <a:solidFill>
                  <a:schemeClr val="tx1">
                    <a:lumMod val="75000"/>
                    <a:lumOff val="25000"/>
                  </a:schemeClr>
                </a:solidFill>
                <a:latin typeface="+mn-ea"/>
              </a:rPr>
              <a:t>3</a:t>
            </a:r>
            <a:endParaRPr lang="ja-JP" altLang="en-US" sz="1100" dirty="0">
              <a:solidFill>
                <a:schemeClr val="tx1">
                  <a:lumMod val="75000"/>
                  <a:lumOff val="25000"/>
                </a:schemeClr>
              </a:solidFill>
              <a:latin typeface="+mn-ea"/>
            </a:endParaRPr>
          </a:p>
        </p:txBody>
      </p:sp>
      <p:sp>
        <p:nvSpPr>
          <p:cNvPr id="55" name="Freeform 10">
            <a:extLst>
              <a:ext uri="{FF2B5EF4-FFF2-40B4-BE49-F238E27FC236}">
                <a16:creationId xmlns:a16="http://schemas.microsoft.com/office/drawing/2014/main" id="{16A3DDEA-C019-F270-0852-047655E1E5B0}"/>
              </a:ext>
            </a:extLst>
          </p:cNvPr>
          <p:cNvSpPr>
            <a:spLocks/>
          </p:cNvSpPr>
          <p:nvPr/>
        </p:nvSpPr>
        <p:spPr bwMode="auto">
          <a:xfrm rot="5400000">
            <a:off x="8481029" y="4734015"/>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56" name="Freeform 10">
            <a:extLst>
              <a:ext uri="{FF2B5EF4-FFF2-40B4-BE49-F238E27FC236}">
                <a16:creationId xmlns:a16="http://schemas.microsoft.com/office/drawing/2014/main" id="{B28DAF69-4A31-9CBB-7295-54B0B9C8A9BB}"/>
              </a:ext>
            </a:extLst>
          </p:cNvPr>
          <p:cNvSpPr>
            <a:spLocks/>
          </p:cNvSpPr>
          <p:nvPr/>
        </p:nvSpPr>
        <p:spPr bwMode="auto">
          <a:xfrm rot="5400000" flipV="1">
            <a:off x="8931033" y="4554013"/>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57" name="Freeform 10">
            <a:extLst>
              <a:ext uri="{FF2B5EF4-FFF2-40B4-BE49-F238E27FC236}">
                <a16:creationId xmlns:a16="http://schemas.microsoft.com/office/drawing/2014/main" id="{02B8210F-2BCE-F0AE-6ABC-527AFDE68B70}"/>
              </a:ext>
            </a:extLst>
          </p:cNvPr>
          <p:cNvSpPr>
            <a:spLocks/>
          </p:cNvSpPr>
          <p:nvPr/>
        </p:nvSpPr>
        <p:spPr bwMode="auto">
          <a:xfrm rot="5400000" flipV="1">
            <a:off x="9561040" y="4374012"/>
            <a:ext cx="180002" cy="99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58" name="正方形/長方形 57">
            <a:extLst>
              <a:ext uri="{FF2B5EF4-FFF2-40B4-BE49-F238E27FC236}">
                <a16:creationId xmlns:a16="http://schemas.microsoft.com/office/drawing/2014/main" id="{1F140CE8-4B94-1FE1-00D3-4904E79F8D42}"/>
              </a:ext>
            </a:extLst>
          </p:cNvPr>
          <p:cNvSpPr/>
          <p:nvPr/>
        </p:nvSpPr>
        <p:spPr bwMode="auto">
          <a:xfrm>
            <a:off x="7446016" y="3609001"/>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PC0</a:t>
            </a:r>
            <a:endParaRPr lang="ja-JP" altLang="en-US" sz="1200" dirty="0">
              <a:solidFill>
                <a:schemeClr val="tx1">
                  <a:lumMod val="75000"/>
                  <a:lumOff val="25000"/>
                </a:schemeClr>
              </a:solidFill>
              <a:latin typeface="+mn-ea"/>
            </a:endParaRPr>
          </a:p>
        </p:txBody>
      </p:sp>
      <p:sp>
        <p:nvSpPr>
          <p:cNvPr id="59" name="正方形/長方形 58">
            <a:extLst>
              <a:ext uri="{FF2B5EF4-FFF2-40B4-BE49-F238E27FC236}">
                <a16:creationId xmlns:a16="http://schemas.microsoft.com/office/drawing/2014/main" id="{02D7D002-5775-1494-F4F3-63533E73D02F}"/>
              </a:ext>
            </a:extLst>
          </p:cNvPr>
          <p:cNvSpPr/>
          <p:nvPr/>
        </p:nvSpPr>
        <p:spPr bwMode="auto">
          <a:xfrm>
            <a:off x="9156035" y="3609002"/>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PC2</a:t>
            </a:r>
            <a:endParaRPr lang="ja-JP" altLang="en-US" sz="1200" dirty="0">
              <a:solidFill>
                <a:schemeClr val="tx1">
                  <a:lumMod val="75000"/>
                  <a:lumOff val="25000"/>
                </a:schemeClr>
              </a:solidFill>
              <a:latin typeface="+mn-ea"/>
            </a:endParaRPr>
          </a:p>
        </p:txBody>
      </p:sp>
      <p:sp>
        <p:nvSpPr>
          <p:cNvPr id="60" name="正方形/長方形 59">
            <a:extLst>
              <a:ext uri="{FF2B5EF4-FFF2-40B4-BE49-F238E27FC236}">
                <a16:creationId xmlns:a16="http://schemas.microsoft.com/office/drawing/2014/main" id="{743E7C4F-2ECE-0B0D-ACB0-E89214F47DDF}"/>
              </a:ext>
            </a:extLst>
          </p:cNvPr>
          <p:cNvSpPr/>
          <p:nvPr/>
        </p:nvSpPr>
        <p:spPr bwMode="auto">
          <a:xfrm>
            <a:off x="9966044" y="3609002"/>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PC3</a:t>
            </a:r>
            <a:endParaRPr lang="ja-JP" altLang="en-US" sz="1200" dirty="0">
              <a:solidFill>
                <a:schemeClr val="tx1">
                  <a:lumMod val="75000"/>
                  <a:lumOff val="25000"/>
                </a:schemeClr>
              </a:solidFill>
              <a:latin typeface="+mn-ea"/>
            </a:endParaRPr>
          </a:p>
        </p:txBody>
      </p:sp>
      <p:sp>
        <p:nvSpPr>
          <p:cNvPr id="61" name="Freeform 10">
            <a:extLst>
              <a:ext uri="{FF2B5EF4-FFF2-40B4-BE49-F238E27FC236}">
                <a16:creationId xmlns:a16="http://schemas.microsoft.com/office/drawing/2014/main" id="{AF2D8790-EE72-2B55-DE34-A0C0DFD86C8F}"/>
              </a:ext>
            </a:extLst>
          </p:cNvPr>
          <p:cNvSpPr>
            <a:spLocks/>
          </p:cNvSpPr>
          <p:nvPr/>
        </p:nvSpPr>
        <p:spPr bwMode="auto">
          <a:xfrm>
            <a:off x="7626019" y="3969006"/>
            <a:ext cx="1260014"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62" name="Freeform 10">
            <a:extLst>
              <a:ext uri="{FF2B5EF4-FFF2-40B4-BE49-F238E27FC236}">
                <a16:creationId xmlns:a16="http://schemas.microsoft.com/office/drawing/2014/main" id="{12E4A52D-2778-B399-FCF1-0C7F5B16AE6A}"/>
              </a:ext>
            </a:extLst>
          </p:cNvPr>
          <p:cNvSpPr>
            <a:spLocks/>
          </p:cNvSpPr>
          <p:nvPr/>
        </p:nvSpPr>
        <p:spPr bwMode="auto">
          <a:xfrm>
            <a:off x="8436028" y="3969006"/>
            <a:ext cx="450006"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63" name="Freeform 10">
            <a:extLst>
              <a:ext uri="{FF2B5EF4-FFF2-40B4-BE49-F238E27FC236}">
                <a16:creationId xmlns:a16="http://schemas.microsoft.com/office/drawing/2014/main" id="{2452A339-83DF-C740-75BD-24304E346327}"/>
              </a:ext>
            </a:extLst>
          </p:cNvPr>
          <p:cNvSpPr>
            <a:spLocks/>
          </p:cNvSpPr>
          <p:nvPr/>
        </p:nvSpPr>
        <p:spPr bwMode="auto">
          <a:xfrm flipH="1">
            <a:off x="8886032" y="3969006"/>
            <a:ext cx="450005" cy="9000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64" name="Freeform 10">
            <a:extLst>
              <a:ext uri="{FF2B5EF4-FFF2-40B4-BE49-F238E27FC236}">
                <a16:creationId xmlns:a16="http://schemas.microsoft.com/office/drawing/2014/main" id="{DEA0BF84-E98F-985F-66B2-7AB293EFF9BD}"/>
              </a:ext>
            </a:extLst>
          </p:cNvPr>
          <p:cNvSpPr>
            <a:spLocks/>
          </p:cNvSpPr>
          <p:nvPr/>
        </p:nvSpPr>
        <p:spPr bwMode="auto">
          <a:xfrm flipH="1">
            <a:off x="9156035" y="3969006"/>
            <a:ext cx="990011" cy="9000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65" name="正方形/長方形 64">
            <a:extLst>
              <a:ext uri="{FF2B5EF4-FFF2-40B4-BE49-F238E27FC236}">
                <a16:creationId xmlns:a16="http://schemas.microsoft.com/office/drawing/2014/main" id="{B3E63F16-CEA9-BF24-A996-7E3331DE3B7A}"/>
              </a:ext>
            </a:extLst>
          </p:cNvPr>
          <p:cNvSpPr/>
          <p:nvPr/>
        </p:nvSpPr>
        <p:spPr bwMode="auto">
          <a:xfrm>
            <a:off x="8526029" y="540006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SIMT</a:t>
            </a:r>
            <a:endParaRPr lang="ja-JP" altLang="en-US" sz="1600" dirty="0">
              <a:solidFill>
                <a:schemeClr val="tx1">
                  <a:lumMod val="75000"/>
                  <a:lumOff val="25000"/>
                </a:schemeClr>
              </a:solidFill>
              <a:latin typeface="+mn-ea"/>
            </a:endParaRPr>
          </a:p>
        </p:txBody>
      </p:sp>
      <p:cxnSp>
        <p:nvCxnSpPr>
          <p:cNvPr id="66" name="直線コネクタ 65">
            <a:extLst>
              <a:ext uri="{FF2B5EF4-FFF2-40B4-BE49-F238E27FC236}">
                <a16:creationId xmlns:a16="http://schemas.microsoft.com/office/drawing/2014/main" id="{A8F2F8FF-5FFF-FFC1-4247-44FEF0C7AA5C}"/>
              </a:ext>
            </a:extLst>
          </p:cNvPr>
          <p:cNvCxnSpPr>
            <a:cxnSpLocks/>
          </p:cNvCxnSpPr>
          <p:nvPr/>
        </p:nvCxnSpPr>
        <p:spPr bwMode="auto">
          <a:xfrm>
            <a:off x="7086012" y="3248998"/>
            <a:ext cx="3510039" cy="0"/>
          </a:xfrm>
          <a:prstGeom prst="line">
            <a:avLst/>
          </a:prstGeom>
          <a:noFill/>
          <a:ln w="9525" cap="flat" cmpd="sng" algn="ctr">
            <a:solidFill>
              <a:schemeClr val="bg1">
                <a:lumMod val="50000"/>
              </a:schemeClr>
            </a:solidFill>
            <a:prstDash val="solid"/>
            <a:round/>
            <a:headEnd type="none" w="med" len="med"/>
            <a:tailEnd type="none" w="med" len="med"/>
          </a:ln>
          <a:effectLst/>
        </p:spPr>
      </p:cxnSp>
      <p:sp>
        <p:nvSpPr>
          <p:cNvPr id="67" name="正方形/長方形 66">
            <a:extLst>
              <a:ext uri="{FF2B5EF4-FFF2-40B4-BE49-F238E27FC236}">
                <a16:creationId xmlns:a16="http://schemas.microsoft.com/office/drawing/2014/main" id="{6DE12F17-400D-2AE3-AACE-D207AD22A6E2}"/>
              </a:ext>
            </a:extLst>
          </p:cNvPr>
          <p:cNvSpPr/>
          <p:nvPr/>
        </p:nvSpPr>
        <p:spPr bwMode="auto">
          <a:xfrm>
            <a:off x="7176013"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 </a:t>
            </a:r>
            <a:r>
              <a:rPr lang="ja-JP" altLang="en-US" sz="1600" dirty="0">
                <a:solidFill>
                  <a:schemeClr val="tx1">
                    <a:lumMod val="75000"/>
                    <a:lumOff val="25000"/>
                  </a:schemeClr>
                </a:solidFill>
                <a:latin typeface="+mn-ea"/>
              </a:rPr>
              <a:t>スレッド内は逐次処理で記述</a:t>
            </a:r>
          </a:p>
          <a:p>
            <a:r>
              <a:rPr lang="en-US" altLang="ja-JP" sz="1600" dirty="0">
                <a:solidFill>
                  <a:schemeClr val="tx1">
                    <a:lumMod val="75000"/>
                    <a:lumOff val="25000"/>
                  </a:schemeClr>
                </a:solidFill>
                <a:latin typeface="Consolas" panose="020B0609020204030204" pitchFamily="49" charset="0"/>
              </a:rPr>
              <a:t>void add(*a, *b, *c){</a:t>
            </a:r>
          </a:p>
          <a:p>
            <a:r>
              <a:rPr lang="en-US" altLang="ja-JP" sz="1600" dirty="0">
                <a:solidFill>
                  <a:schemeClr val="tx1">
                    <a:lumMod val="75000"/>
                    <a:lumOff val="25000"/>
                  </a:schemeClr>
                </a:solidFill>
                <a:latin typeface="Consolas" panose="020B0609020204030204" pitchFamily="49" charset="0"/>
              </a:rPr>
              <a:t>    c[</a:t>
            </a:r>
            <a:r>
              <a:rPr lang="en-US" altLang="ja-JP" sz="1600" dirty="0" err="1">
                <a:solidFill>
                  <a:schemeClr val="tx1">
                    <a:lumMod val="75000"/>
                    <a:lumOff val="25000"/>
                  </a:schemeClr>
                </a:solidFill>
                <a:latin typeface="Consolas" panose="020B0609020204030204" pitchFamily="49" charset="0"/>
              </a:rPr>
              <a:t>t_id</a:t>
            </a:r>
            <a:r>
              <a:rPr lang="en-US" altLang="ja-JP" sz="1600" dirty="0">
                <a:solidFill>
                  <a:schemeClr val="tx1">
                    <a:lumMod val="75000"/>
                    <a:lumOff val="25000"/>
                  </a:schemeClr>
                </a:solidFill>
                <a:latin typeface="Consolas" panose="020B0609020204030204" pitchFamily="49" charset="0"/>
              </a:rPr>
              <a:t>] = a[</a:t>
            </a:r>
            <a:r>
              <a:rPr lang="en-US" altLang="ja-JP" sz="1600" dirty="0" err="1">
                <a:solidFill>
                  <a:schemeClr val="tx1">
                    <a:lumMod val="75000"/>
                    <a:lumOff val="25000"/>
                  </a:schemeClr>
                </a:solidFill>
                <a:latin typeface="Consolas" panose="020B0609020204030204" pitchFamily="49" charset="0"/>
              </a:rPr>
              <a:t>t_id</a:t>
            </a:r>
            <a:r>
              <a:rPr lang="en-US" altLang="ja-JP" sz="1600" dirty="0">
                <a:solidFill>
                  <a:schemeClr val="tx1">
                    <a:lumMod val="75000"/>
                    <a:lumOff val="25000"/>
                  </a:schemeClr>
                </a:solidFill>
                <a:latin typeface="Consolas" panose="020B0609020204030204" pitchFamily="49" charset="0"/>
              </a:rPr>
              <a:t>] + b[</a:t>
            </a:r>
            <a:r>
              <a:rPr lang="en-US" altLang="ja-JP" sz="1600" dirty="0" err="1">
                <a:solidFill>
                  <a:schemeClr val="tx1">
                    <a:lumMod val="75000"/>
                    <a:lumOff val="25000"/>
                  </a:schemeClr>
                </a:solidFill>
                <a:latin typeface="Consolas" panose="020B0609020204030204" pitchFamily="49" charset="0"/>
              </a:rPr>
              <a:t>t_id</a:t>
            </a:r>
            <a:r>
              <a:rPr lang="en-US" altLang="ja-JP" sz="1600" dirty="0">
                <a:solidFill>
                  <a:schemeClr val="tx1">
                    <a:lumMod val="75000"/>
                    <a:lumOff val="25000"/>
                  </a:schemeClr>
                </a:solidFill>
                <a:latin typeface="Consolas" panose="020B0609020204030204" pitchFamily="49" charset="0"/>
              </a:rPr>
              <a:t>];</a:t>
            </a:r>
          </a:p>
          <a:p>
            <a:r>
              <a:rPr lang="en-US" altLang="ja-JP" sz="1600" dirty="0">
                <a:solidFill>
                  <a:schemeClr val="tx1">
                    <a:lumMod val="75000"/>
                    <a:lumOff val="25000"/>
                  </a:schemeClr>
                </a:solidFill>
                <a:latin typeface="Consolas" panose="020B0609020204030204" pitchFamily="49" charset="0"/>
              </a:rPr>
              <a:t>}</a:t>
            </a:r>
            <a:endParaRPr lang="ja-JP" altLang="en-US" sz="1600" dirty="0">
              <a:solidFill>
                <a:schemeClr val="tx1">
                  <a:lumMod val="75000"/>
                  <a:lumOff val="25000"/>
                </a:schemeClr>
              </a:solidFill>
              <a:latin typeface="Consolas" panose="020B0609020204030204" pitchFamily="49" charset="0"/>
            </a:endParaRPr>
          </a:p>
        </p:txBody>
      </p:sp>
      <p:grpSp>
        <p:nvGrpSpPr>
          <p:cNvPr id="68" name="グループ化 67">
            <a:extLst>
              <a:ext uri="{FF2B5EF4-FFF2-40B4-BE49-F238E27FC236}">
                <a16:creationId xmlns:a16="http://schemas.microsoft.com/office/drawing/2014/main" id="{86A82C70-51A3-7415-7637-915751810288}"/>
              </a:ext>
            </a:extLst>
          </p:cNvPr>
          <p:cNvGrpSpPr/>
          <p:nvPr/>
        </p:nvGrpSpPr>
        <p:grpSpPr>
          <a:xfrm>
            <a:off x="7536017" y="2438990"/>
            <a:ext cx="90001" cy="630007"/>
            <a:chOff x="2411976" y="3068996"/>
            <a:chExt cx="90001" cy="630007"/>
          </a:xfrm>
        </p:grpSpPr>
        <p:cxnSp>
          <p:nvCxnSpPr>
            <p:cNvPr id="69" name="直線コネクタ 68">
              <a:extLst>
                <a:ext uri="{FF2B5EF4-FFF2-40B4-BE49-F238E27FC236}">
                  <a16:creationId xmlns:a16="http://schemas.microsoft.com/office/drawing/2014/main" id="{EBEFB68B-A519-A872-10EB-7A40C41A512D}"/>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0" name="直線コネクタ 69">
              <a:extLst>
                <a:ext uri="{FF2B5EF4-FFF2-40B4-BE49-F238E27FC236}">
                  <a16:creationId xmlns:a16="http://schemas.microsoft.com/office/drawing/2014/main" id="{9B1D2D2C-E231-6C87-AF07-105CBFB6A8AF}"/>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1" name="直線コネクタ 70">
              <a:extLst>
                <a:ext uri="{FF2B5EF4-FFF2-40B4-BE49-F238E27FC236}">
                  <a16:creationId xmlns:a16="http://schemas.microsoft.com/office/drawing/2014/main" id="{63867C50-F79C-A70E-A9D9-6A86E19B3FEE}"/>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2" name="直線コネクタ 71">
              <a:extLst>
                <a:ext uri="{FF2B5EF4-FFF2-40B4-BE49-F238E27FC236}">
                  <a16:creationId xmlns:a16="http://schemas.microsoft.com/office/drawing/2014/main" id="{180D3A0C-E86D-5A0F-6690-2631A674DA0E}"/>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3" name="直線コネクタ 72">
              <a:extLst>
                <a:ext uri="{FF2B5EF4-FFF2-40B4-BE49-F238E27FC236}">
                  <a16:creationId xmlns:a16="http://schemas.microsoft.com/office/drawing/2014/main" id="{4D775DD8-E598-3B62-6712-FBC58902EE2B}"/>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4" name="直線コネクタ 73">
              <a:extLst>
                <a:ext uri="{FF2B5EF4-FFF2-40B4-BE49-F238E27FC236}">
                  <a16:creationId xmlns:a16="http://schemas.microsoft.com/office/drawing/2014/main" id="{7FB77BC8-4250-2AD7-4B8D-63203F14D093}"/>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5" name="直線コネクタ 74">
              <a:extLst>
                <a:ext uri="{FF2B5EF4-FFF2-40B4-BE49-F238E27FC236}">
                  <a16:creationId xmlns:a16="http://schemas.microsoft.com/office/drawing/2014/main" id="{AF2E8996-79F6-3071-B859-816A464242ED}"/>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76" name="グループ化 75">
            <a:extLst>
              <a:ext uri="{FF2B5EF4-FFF2-40B4-BE49-F238E27FC236}">
                <a16:creationId xmlns:a16="http://schemas.microsoft.com/office/drawing/2014/main" id="{3C9001D7-112C-DDC7-CDC7-ACB9B6D88960}"/>
              </a:ext>
            </a:extLst>
          </p:cNvPr>
          <p:cNvGrpSpPr/>
          <p:nvPr/>
        </p:nvGrpSpPr>
        <p:grpSpPr>
          <a:xfrm>
            <a:off x="8346026" y="2438990"/>
            <a:ext cx="90001" cy="630007"/>
            <a:chOff x="2411976" y="3068996"/>
            <a:chExt cx="90001" cy="630007"/>
          </a:xfrm>
        </p:grpSpPr>
        <p:cxnSp>
          <p:nvCxnSpPr>
            <p:cNvPr id="77" name="直線コネクタ 76">
              <a:extLst>
                <a:ext uri="{FF2B5EF4-FFF2-40B4-BE49-F238E27FC236}">
                  <a16:creationId xmlns:a16="http://schemas.microsoft.com/office/drawing/2014/main" id="{DC68A978-8FF6-FB4D-C331-D41FFC0AF4CD}"/>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8" name="直線コネクタ 77">
              <a:extLst>
                <a:ext uri="{FF2B5EF4-FFF2-40B4-BE49-F238E27FC236}">
                  <a16:creationId xmlns:a16="http://schemas.microsoft.com/office/drawing/2014/main" id="{3F5469C4-6D96-FFD4-A21B-35617A4E16D4}"/>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9" name="直線コネクタ 78">
              <a:extLst>
                <a:ext uri="{FF2B5EF4-FFF2-40B4-BE49-F238E27FC236}">
                  <a16:creationId xmlns:a16="http://schemas.microsoft.com/office/drawing/2014/main" id="{57E0EC3B-D98D-A533-8975-08CCD4EA72F9}"/>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0" name="直線コネクタ 79">
              <a:extLst>
                <a:ext uri="{FF2B5EF4-FFF2-40B4-BE49-F238E27FC236}">
                  <a16:creationId xmlns:a16="http://schemas.microsoft.com/office/drawing/2014/main" id="{46090738-B523-82E2-0E5D-C055A5F088B4}"/>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1" name="直線コネクタ 80">
              <a:extLst>
                <a:ext uri="{FF2B5EF4-FFF2-40B4-BE49-F238E27FC236}">
                  <a16:creationId xmlns:a16="http://schemas.microsoft.com/office/drawing/2014/main" id="{2DD206C2-C4C4-D27A-F42B-9BBA37AFBCA4}"/>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2" name="直線コネクタ 81">
              <a:extLst>
                <a:ext uri="{FF2B5EF4-FFF2-40B4-BE49-F238E27FC236}">
                  <a16:creationId xmlns:a16="http://schemas.microsoft.com/office/drawing/2014/main" id="{082D4118-C840-1BA8-7F82-7725D89C604A}"/>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3" name="直線コネクタ 82">
              <a:extLst>
                <a:ext uri="{FF2B5EF4-FFF2-40B4-BE49-F238E27FC236}">
                  <a16:creationId xmlns:a16="http://schemas.microsoft.com/office/drawing/2014/main" id="{C73551CE-1E48-C3B8-9D5D-B238735F7C6D}"/>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84" name="グループ化 83">
            <a:extLst>
              <a:ext uri="{FF2B5EF4-FFF2-40B4-BE49-F238E27FC236}">
                <a16:creationId xmlns:a16="http://schemas.microsoft.com/office/drawing/2014/main" id="{F28640E6-76CE-94C2-DDF8-E5D34F4951E6}"/>
              </a:ext>
            </a:extLst>
          </p:cNvPr>
          <p:cNvGrpSpPr/>
          <p:nvPr/>
        </p:nvGrpSpPr>
        <p:grpSpPr>
          <a:xfrm>
            <a:off x="9246036" y="2438990"/>
            <a:ext cx="90001" cy="630007"/>
            <a:chOff x="2411976" y="3068996"/>
            <a:chExt cx="90001" cy="630007"/>
          </a:xfrm>
        </p:grpSpPr>
        <p:cxnSp>
          <p:nvCxnSpPr>
            <p:cNvPr id="85" name="直線コネクタ 84">
              <a:extLst>
                <a:ext uri="{FF2B5EF4-FFF2-40B4-BE49-F238E27FC236}">
                  <a16:creationId xmlns:a16="http://schemas.microsoft.com/office/drawing/2014/main" id="{9C54293C-2818-1A94-F89A-4E5516FC4070}"/>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6" name="直線コネクタ 85">
              <a:extLst>
                <a:ext uri="{FF2B5EF4-FFF2-40B4-BE49-F238E27FC236}">
                  <a16:creationId xmlns:a16="http://schemas.microsoft.com/office/drawing/2014/main" id="{41C9D2EB-7830-B381-0E8D-AEABD9BF45C4}"/>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7" name="直線コネクタ 86">
              <a:extLst>
                <a:ext uri="{FF2B5EF4-FFF2-40B4-BE49-F238E27FC236}">
                  <a16:creationId xmlns:a16="http://schemas.microsoft.com/office/drawing/2014/main" id="{1CC4D2ED-2000-7BC1-A241-ED21563B70C4}"/>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8" name="直線コネクタ 87">
              <a:extLst>
                <a:ext uri="{FF2B5EF4-FFF2-40B4-BE49-F238E27FC236}">
                  <a16:creationId xmlns:a16="http://schemas.microsoft.com/office/drawing/2014/main" id="{7F78300C-B738-4BEA-E1C9-FCA0AF6F9290}"/>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9" name="直線コネクタ 88">
              <a:extLst>
                <a:ext uri="{FF2B5EF4-FFF2-40B4-BE49-F238E27FC236}">
                  <a16:creationId xmlns:a16="http://schemas.microsoft.com/office/drawing/2014/main" id="{A249E249-B748-588A-E403-3229EC1C4B39}"/>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90" name="直線コネクタ 89">
              <a:extLst>
                <a:ext uri="{FF2B5EF4-FFF2-40B4-BE49-F238E27FC236}">
                  <a16:creationId xmlns:a16="http://schemas.microsoft.com/office/drawing/2014/main" id="{F93F3548-B0CF-C829-FF96-D0D4D44BD7A9}"/>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91" name="直線コネクタ 90">
              <a:extLst>
                <a:ext uri="{FF2B5EF4-FFF2-40B4-BE49-F238E27FC236}">
                  <a16:creationId xmlns:a16="http://schemas.microsoft.com/office/drawing/2014/main" id="{12D6FB6D-004B-A7B5-11D8-AB3C1DC3DD3A}"/>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92" name="グループ化 91">
            <a:extLst>
              <a:ext uri="{FF2B5EF4-FFF2-40B4-BE49-F238E27FC236}">
                <a16:creationId xmlns:a16="http://schemas.microsoft.com/office/drawing/2014/main" id="{95A6EEBC-D097-EEDC-7289-04B95DBF80E0}"/>
              </a:ext>
            </a:extLst>
          </p:cNvPr>
          <p:cNvGrpSpPr/>
          <p:nvPr/>
        </p:nvGrpSpPr>
        <p:grpSpPr>
          <a:xfrm>
            <a:off x="10056045" y="2438990"/>
            <a:ext cx="90001" cy="630007"/>
            <a:chOff x="2411976" y="3068996"/>
            <a:chExt cx="90001" cy="630007"/>
          </a:xfrm>
        </p:grpSpPr>
        <p:cxnSp>
          <p:nvCxnSpPr>
            <p:cNvPr id="93" name="直線コネクタ 92">
              <a:extLst>
                <a:ext uri="{FF2B5EF4-FFF2-40B4-BE49-F238E27FC236}">
                  <a16:creationId xmlns:a16="http://schemas.microsoft.com/office/drawing/2014/main" id="{6F7B0918-B4C0-CE83-9034-A2E62731A30F}"/>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94" name="直線コネクタ 93">
              <a:extLst>
                <a:ext uri="{FF2B5EF4-FFF2-40B4-BE49-F238E27FC236}">
                  <a16:creationId xmlns:a16="http://schemas.microsoft.com/office/drawing/2014/main" id="{61C41D59-A105-9A2F-046E-C43398211870}"/>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95" name="直線コネクタ 94">
              <a:extLst>
                <a:ext uri="{FF2B5EF4-FFF2-40B4-BE49-F238E27FC236}">
                  <a16:creationId xmlns:a16="http://schemas.microsoft.com/office/drawing/2014/main" id="{56FA6D6A-B9ED-41D6-44AC-558328359F34}"/>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96" name="直線コネクタ 95">
              <a:extLst>
                <a:ext uri="{FF2B5EF4-FFF2-40B4-BE49-F238E27FC236}">
                  <a16:creationId xmlns:a16="http://schemas.microsoft.com/office/drawing/2014/main" id="{FF83C95E-29F4-7874-E4FD-EFF321ED5307}"/>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97" name="直線コネクタ 96">
              <a:extLst>
                <a:ext uri="{FF2B5EF4-FFF2-40B4-BE49-F238E27FC236}">
                  <a16:creationId xmlns:a16="http://schemas.microsoft.com/office/drawing/2014/main" id="{9E312F1D-1021-CAFD-9197-AE5F49F95748}"/>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98" name="直線コネクタ 97">
              <a:extLst>
                <a:ext uri="{FF2B5EF4-FFF2-40B4-BE49-F238E27FC236}">
                  <a16:creationId xmlns:a16="http://schemas.microsoft.com/office/drawing/2014/main" id="{4A226FF6-3B04-5CA2-4A7E-568462F8912E}"/>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99" name="直線コネクタ 98">
              <a:extLst>
                <a:ext uri="{FF2B5EF4-FFF2-40B4-BE49-F238E27FC236}">
                  <a16:creationId xmlns:a16="http://schemas.microsoft.com/office/drawing/2014/main" id="{22F956DC-5E55-3E38-3F9E-407C57D8F799}"/>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cxnSp>
        <p:nvCxnSpPr>
          <p:cNvPr id="100" name="直線矢印コネクタ 99">
            <a:extLst>
              <a:ext uri="{FF2B5EF4-FFF2-40B4-BE49-F238E27FC236}">
                <a16:creationId xmlns:a16="http://schemas.microsoft.com/office/drawing/2014/main" id="{5AB5606E-8483-D654-1DED-DA0B055DBB41}"/>
              </a:ext>
            </a:extLst>
          </p:cNvPr>
          <p:cNvCxnSpPr>
            <a:cxnSpLocks/>
          </p:cNvCxnSpPr>
          <p:nvPr/>
        </p:nvCxnSpPr>
        <p:spPr bwMode="auto">
          <a:xfrm>
            <a:off x="8886031" y="3158997"/>
            <a:ext cx="0" cy="360004"/>
          </a:xfrm>
          <a:prstGeom prst="straightConnector1">
            <a:avLst/>
          </a:prstGeom>
          <a:noFill/>
          <a:ln w="31750" cap="flat" cmpd="sng" algn="ctr">
            <a:solidFill>
              <a:schemeClr val="tx1">
                <a:lumMod val="50000"/>
                <a:lumOff val="50000"/>
              </a:schemeClr>
            </a:solidFill>
            <a:prstDash val="solid"/>
            <a:round/>
            <a:headEnd type="none" w="med" len="med"/>
            <a:tailEnd type="arrow" w="sm" len="sm"/>
          </a:ln>
          <a:effectLst/>
        </p:spPr>
      </p:cxnSp>
    </p:spTree>
    <p:extLst>
      <p:ext uri="{BB962C8B-B14F-4D97-AF65-F5344CB8AC3E}">
        <p14:creationId xmlns:p14="http://schemas.microsoft.com/office/powerpoint/2010/main" val="628179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79E8A82-4B38-AA4D-E9F8-FE460C52B488}"/>
              </a:ext>
            </a:extLst>
          </p:cNvPr>
          <p:cNvSpPr/>
          <p:nvPr/>
        </p:nvSpPr>
        <p:spPr bwMode="auto">
          <a:xfrm>
            <a:off x="2045956" y="1358978"/>
            <a:ext cx="8190091" cy="2070023"/>
          </a:xfrm>
          <a:prstGeom prst="rect">
            <a:avLst/>
          </a:prstGeom>
          <a:solidFill>
            <a:schemeClr val="accent5">
              <a:lumMod val="20000"/>
              <a:lumOff val="80000"/>
            </a:schemeClr>
          </a:solid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200" dirty="0">
              <a:solidFill>
                <a:schemeClr val="tx1">
                  <a:lumMod val="75000"/>
                  <a:lumOff val="25000"/>
                </a:schemeClr>
              </a:solidFill>
              <a:latin typeface="+mn-ea"/>
            </a:endParaRPr>
          </a:p>
        </p:txBody>
      </p:sp>
      <p:sp>
        <p:nvSpPr>
          <p:cNvPr id="49" name="正方形/長方形 48">
            <a:extLst>
              <a:ext uri="{FF2B5EF4-FFF2-40B4-BE49-F238E27FC236}">
                <a16:creationId xmlns:a16="http://schemas.microsoft.com/office/drawing/2014/main" id="{DA2130DF-FE5E-BD60-E905-D93EC0378B7C}"/>
              </a:ext>
            </a:extLst>
          </p:cNvPr>
          <p:cNvSpPr/>
          <p:nvPr/>
        </p:nvSpPr>
        <p:spPr bwMode="auto">
          <a:xfrm>
            <a:off x="5735996" y="3429000"/>
            <a:ext cx="4500051" cy="990011"/>
          </a:xfrm>
          <a:prstGeom prst="rect">
            <a:avLst/>
          </a:prstGeom>
          <a:solidFill>
            <a:schemeClr val="accent5">
              <a:lumMod val="20000"/>
              <a:lumOff val="80000"/>
            </a:schemeClr>
          </a:solid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200" dirty="0">
              <a:solidFill>
                <a:schemeClr val="accent5"/>
              </a:solidFill>
              <a:latin typeface="+mn-ea"/>
            </a:endParaRPr>
          </a:p>
        </p:txBody>
      </p:sp>
      <p:sp>
        <p:nvSpPr>
          <p:cNvPr id="2" name="タイトル 1">
            <a:extLst>
              <a:ext uri="{FF2B5EF4-FFF2-40B4-BE49-F238E27FC236}">
                <a16:creationId xmlns:a16="http://schemas.microsoft.com/office/drawing/2014/main" id="{99FEE23C-ED43-9D2A-796C-9C4DCD113CB0}"/>
              </a:ext>
            </a:extLst>
          </p:cNvPr>
          <p:cNvSpPr>
            <a:spLocks noGrp="1"/>
          </p:cNvSpPr>
          <p:nvPr>
            <p:ph type="title"/>
          </p:nvPr>
        </p:nvSpPr>
        <p:spPr/>
        <p:txBody>
          <a:bodyPr/>
          <a:lstStyle/>
          <a:p>
            <a:r>
              <a:rPr kumimoji="1" lang="en-US" altLang="ja-JP" dirty="0"/>
              <a:t>GPU </a:t>
            </a:r>
            <a:r>
              <a:rPr kumimoji="1" lang="ja-JP" altLang="en-US" dirty="0"/>
              <a:t>におけるソフトとハードの関係</a:t>
            </a:r>
            <a:br>
              <a:rPr kumimoji="1" lang="en-US" altLang="ja-JP" dirty="0"/>
            </a:br>
            <a:r>
              <a:rPr lang="ja-JP" altLang="en-US" sz="1400" dirty="0"/>
              <a:t>図は </a:t>
            </a:r>
            <a:r>
              <a:rPr lang="en-US" altLang="ja-JP" sz="1400" dirty="0"/>
              <a:t>Caroline </a:t>
            </a:r>
            <a:r>
              <a:rPr lang="en-US" altLang="ja-JP" sz="1400" dirty="0" err="1"/>
              <a:t>Collange</a:t>
            </a:r>
            <a:r>
              <a:rPr lang="en-US" altLang="ja-JP" sz="1400" dirty="0"/>
              <a:t> “GPU architecture part 2: SIMT control flow management” </a:t>
            </a:r>
            <a:r>
              <a:rPr lang="ja-JP" altLang="en-US" sz="1400" dirty="0"/>
              <a:t>より</a:t>
            </a:r>
            <a:endParaRPr kumimoji="1" lang="ja-JP" altLang="en-US" dirty="0"/>
          </a:p>
        </p:txBody>
      </p:sp>
      <p:sp>
        <p:nvSpPr>
          <p:cNvPr id="7" name="正方形/長方形 6">
            <a:extLst>
              <a:ext uri="{FF2B5EF4-FFF2-40B4-BE49-F238E27FC236}">
                <a16:creationId xmlns:a16="http://schemas.microsoft.com/office/drawing/2014/main" id="{649C34EF-F439-639A-CE9D-F59E75C0E9CD}"/>
              </a:ext>
            </a:extLst>
          </p:cNvPr>
          <p:cNvSpPr/>
          <p:nvPr/>
        </p:nvSpPr>
        <p:spPr bwMode="auto">
          <a:xfrm>
            <a:off x="2135957" y="1358978"/>
            <a:ext cx="2250025" cy="450005"/>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Software: CUDA, Open CL ...</a:t>
            </a:r>
            <a:endParaRPr lang="ja-JP" altLang="en-US" sz="1600" dirty="0">
              <a:solidFill>
                <a:schemeClr val="tx1">
                  <a:lumMod val="75000"/>
                  <a:lumOff val="25000"/>
                </a:schemeClr>
              </a:solidFill>
              <a:latin typeface="+mn-ea"/>
            </a:endParaRPr>
          </a:p>
        </p:txBody>
      </p:sp>
      <p:sp>
        <p:nvSpPr>
          <p:cNvPr id="9" name="正方形/長方形 8">
            <a:extLst>
              <a:ext uri="{FF2B5EF4-FFF2-40B4-BE49-F238E27FC236}">
                <a16:creationId xmlns:a16="http://schemas.microsoft.com/office/drawing/2014/main" id="{36F5EB3E-42F6-60D7-1E6D-D76BC9C49673}"/>
              </a:ext>
            </a:extLst>
          </p:cNvPr>
          <p:cNvSpPr/>
          <p:nvPr/>
        </p:nvSpPr>
        <p:spPr bwMode="auto">
          <a:xfrm>
            <a:off x="3935977" y="1898984"/>
            <a:ext cx="1800021" cy="810009"/>
          </a:xfrm>
          <a:prstGeom prst="rect">
            <a:avLst/>
          </a:prstGeom>
          <a:solidFill>
            <a:srgbClr val="E8F5F8"/>
          </a:solidFill>
          <a:ln w="15875">
            <a:solidFill>
              <a:schemeClr val="tx1">
                <a:lumMod val="50000"/>
                <a:lumOff val="50000"/>
              </a:schemeClr>
            </a:solid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fr-FR" altLang="ja-JP" sz="1600" dirty="0">
                <a:solidFill>
                  <a:schemeClr val="tx1">
                    <a:lumMod val="75000"/>
                    <a:lumOff val="25000"/>
                  </a:schemeClr>
                </a:solidFill>
                <a:latin typeface="Consolas" panose="020B0609020204030204" pitchFamily="49" charset="0"/>
              </a:rPr>
              <a:t>func(t_id) { </a:t>
            </a:r>
          </a:p>
          <a:p>
            <a:r>
              <a:rPr lang="fr-FR" altLang="ja-JP" sz="1600" dirty="0">
                <a:solidFill>
                  <a:schemeClr val="tx1">
                    <a:lumMod val="75000"/>
                    <a:lumOff val="25000"/>
                  </a:schemeClr>
                </a:solidFill>
                <a:latin typeface="Consolas" panose="020B0609020204030204" pitchFamily="49" charset="0"/>
              </a:rPr>
              <a:t>  a[t_id] += 1;</a:t>
            </a:r>
            <a:br>
              <a:rPr lang="fr-FR" altLang="ja-JP" sz="1600" dirty="0">
                <a:solidFill>
                  <a:schemeClr val="tx1">
                    <a:lumMod val="75000"/>
                    <a:lumOff val="25000"/>
                  </a:schemeClr>
                </a:solidFill>
                <a:latin typeface="Consolas" panose="020B0609020204030204" pitchFamily="49" charset="0"/>
              </a:rPr>
            </a:br>
            <a:r>
              <a:rPr lang="fr-FR" altLang="ja-JP" sz="1600" dirty="0">
                <a:solidFill>
                  <a:schemeClr val="tx1">
                    <a:lumMod val="75000"/>
                    <a:lumOff val="25000"/>
                  </a:schemeClr>
                </a:solidFill>
                <a:latin typeface="Consolas" panose="020B0609020204030204" pitchFamily="49" charset="0"/>
              </a:rPr>
              <a:t>}</a:t>
            </a:r>
            <a:endParaRPr lang="ja-JP" altLang="en-US" sz="1600" dirty="0">
              <a:solidFill>
                <a:schemeClr val="tx1">
                  <a:lumMod val="75000"/>
                  <a:lumOff val="25000"/>
                </a:schemeClr>
              </a:solidFill>
              <a:latin typeface="Consolas" panose="020B0609020204030204" pitchFamily="49" charset="0"/>
            </a:endParaRPr>
          </a:p>
        </p:txBody>
      </p:sp>
      <p:grpSp>
        <p:nvGrpSpPr>
          <p:cNvPr id="10" name="グループ化 9">
            <a:extLst>
              <a:ext uri="{FF2B5EF4-FFF2-40B4-BE49-F238E27FC236}">
                <a16:creationId xmlns:a16="http://schemas.microsoft.com/office/drawing/2014/main" id="{DAE82DCC-C291-03E3-BF99-A4ECADCC91D1}"/>
              </a:ext>
            </a:extLst>
          </p:cNvPr>
          <p:cNvGrpSpPr/>
          <p:nvPr/>
        </p:nvGrpSpPr>
        <p:grpSpPr>
          <a:xfrm>
            <a:off x="5915999" y="1988985"/>
            <a:ext cx="90001" cy="630007"/>
            <a:chOff x="2411976" y="3068996"/>
            <a:chExt cx="90001" cy="630007"/>
          </a:xfrm>
        </p:grpSpPr>
        <p:cxnSp>
          <p:nvCxnSpPr>
            <p:cNvPr id="11" name="直線コネクタ 10">
              <a:extLst>
                <a:ext uri="{FF2B5EF4-FFF2-40B4-BE49-F238E27FC236}">
                  <a16:creationId xmlns:a16="http://schemas.microsoft.com/office/drawing/2014/main" id="{D4D50623-BDD8-4AA5-F46F-E4F4DAB43856}"/>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12" name="直線コネクタ 11">
              <a:extLst>
                <a:ext uri="{FF2B5EF4-FFF2-40B4-BE49-F238E27FC236}">
                  <a16:creationId xmlns:a16="http://schemas.microsoft.com/office/drawing/2014/main" id="{40DB851B-1E90-5E56-1908-CCF3972CF613}"/>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13" name="直線コネクタ 12">
              <a:extLst>
                <a:ext uri="{FF2B5EF4-FFF2-40B4-BE49-F238E27FC236}">
                  <a16:creationId xmlns:a16="http://schemas.microsoft.com/office/drawing/2014/main" id="{91D24EF1-5C37-9930-A3DB-3EF721854C70}"/>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14" name="直線コネクタ 13">
              <a:extLst>
                <a:ext uri="{FF2B5EF4-FFF2-40B4-BE49-F238E27FC236}">
                  <a16:creationId xmlns:a16="http://schemas.microsoft.com/office/drawing/2014/main" id="{516AF0BD-0C05-2FB2-3235-DBE5E08288F1}"/>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15" name="直線コネクタ 14">
              <a:extLst>
                <a:ext uri="{FF2B5EF4-FFF2-40B4-BE49-F238E27FC236}">
                  <a16:creationId xmlns:a16="http://schemas.microsoft.com/office/drawing/2014/main" id="{ACB6E8D4-28DF-9D21-3688-C02AA3748D01}"/>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16" name="直線コネクタ 15">
              <a:extLst>
                <a:ext uri="{FF2B5EF4-FFF2-40B4-BE49-F238E27FC236}">
                  <a16:creationId xmlns:a16="http://schemas.microsoft.com/office/drawing/2014/main" id="{AD3E731D-8104-58BD-4518-5C8AB11ED0B6}"/>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17" name="直線コネクタ 16">
              <a:extLst>
                <a:ext uri="{FF2B5EF4-FFF2-40B4-BE49-F238E27FC236}">
                  <a16:creationId xmlns:a16="http://schemas.microsoft.com/office/drawing/2014/main" id="{8834D5F3-C7A4-A6A4-4A16-7350FED93979}"/>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18" name="グループ化 17">
            <a:extLst>
              <a:ext uri="{FF2B5EF4-FFF2-40B4-BE49-F238E27FC236}">
                <a16:creationId xmlns:a16="http://schemas.microsoft.com/office/drawing/2014/main" id="{3AEF6DCF-A237-B897-5809-DD7E14129651}"/>
              </a:ext>
            </a:extLst>
          </p:cNvPr>
          <p:cNvGrpSpPr/>
          <p:nvPr/>
        </p:nvGrpSpPr>
        <p:grpSpPr>
          <a:xfrm>
            <a:off x="6096001" y="1988985"/>
            <a:ext cx="90001" cy="630007"/>
            <a:chOff x="2411976" y="3068996"/>
            <a:chExt cx="90001" cy="630007"/>
          </a:xfrm>
        </p:grpSpPr>
        <p:cxnSp>
          <p:nvCxnSpPr>
            <p:cNvPr id="19" name="直線コネクタ 18">
              <a:extLst>
                <a:ext uri="{FF2B5EF4-FFF2-40B4-BE49-F238E27FC236}">
                  <a16:creationId xmlns:a16="http://schemas.microsoft.com/office/drawing/2014/main" id="{030D81CE-FFC3-7916-906D-68F8B3291646}"/>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20" name="直線コネクタ 19">
              <a:extLst>
                <a:ext uri="{FF2B5EF4-FFF2-40B4-BE49-F238E27FC236}">
                  <a16:creationId xmlns:a16="http://schemas.microsoft.com/office/drawing/2014/main" id="{A7F68321-8D96-FED2-F63A-21980C6D05ED}"/>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21" name="直線コネクタ 20">
              <a:extLst>
                <a:ext uri="{FF2B5EF4-FFF2-40B4-BE49-F238E27FC236}">
                  <a16:creationId xmlns:a16="http://schemas.microsoft.com/office/drawing/2014/main" id="{5E872B7C-19AA-860A-C79D-D1B32265408E}"/>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22" name="直線コネクタ 21">
              <a:extLst>
                <a:ext uri="{FF2B5EF4-FFF2-40B4-BE49-F238E27FC236}">
                  <a16:creationId xmlns:a16="http://schemas.microsoft.com/office/drawing/2014/main" id="{9D1CA219-C1CD-38F2-E812-3ADA9856C1B4}"/>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23" name="直線コネクタ 22">
              <a:extLst>
                <a:ext uri="{FF2B5EF4-FFF2-40B4-BE49-F238E27FC236}">
                  <a16:creationId xmlns:a16="http://schemas.microsoft.com/office/drawing/2014/main" id="{C3F70AC5-371A-EEE1-47E1-ED0D35542640}"/>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24" name="直線コネクタ 23">
              <a:extLst>
                <a:ext uri="{FF2B5EF4-FFF2-40B4-BE49-F238E27FC236}">
                  <a16:creationId xmlns:a16="http://schemas.microsoft.com/office/drawing/2014/main" id="{51C570AC-49D8-E5C2-F6A3-877BF15A1405}"/>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25" name="直線コネクタ 24">
              <a:extLst>
                <a:ext uri="{FF2B5EF4-FFF2-40B4-BE49-F238E27FC236}">
                  <a16:creationId xmlns:a16="http://schemas.microsoft.com/office/drawing/2014/main" id="{3E750288-02C8-7164-88B7-E9A7396FB2C6}"/>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sp>
        <p:nvSpPr>
          <p:cNvPr id="26" name="正方形/長方形 25">
            <a:extLst>
              <a:ext uri="{FF2B5EF4-FFF2-40B4-BE49-F238E27FC236}">
                <a16:creationId xmlns:a16="http://schemas.microsoft.com/office/drawing/2014/main" id="{89881E89-DC9F-FF75-4FE7-41F2E9F6CE3F}"/>
              </a:ext>
            </a:extLst>
          </p:cNvPr>
          <p:cNvSpPr/>
          <p:nvPr/>
        </p:nvSpPr>
        <p:spPr bwMode="auto">
          <a:xfrm>
            <a:off x="6276003" y="162898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75000"/>
                    <a:lumOff val="25000"/>
                  </a:schemeClr>
                </a:solidFill>
                <a:latin typeface="+mn-ea"/>
              </a:rPr>
              <a:t>スレッド</a:t>
            </a:r>
          </a:p>
        </p:txBody>
      </p:sp>
      <p:grpSp>
        <p:nvGrpSpPr>
          <p:cNvPr id="28" name="グループ化 27">
            <a:extLst>
              <a:ext uri="{FF2B5EF4-FFF2-40B4-BE49-F238E27FC236}">
                <a16:creationId xmlns:a16="http://schemas.microsoft.com/office/drawing/2014/main" id="{C62E68A7-54F7-6FB0-A3DC-40D0E90506EA}"/>
              </a:ext>
            </a:extLst>
          </p:cNvPr>
          <p:cNvGrpSpPr/>
          <p:nvPr/>
        </p:nvGrpSpPr>
        <p:grpSpPr>
          <a:xfrm>
            <a:off x="6276003" y="1988985"/>
            <a:ext cx="90001" cy="630007"/>
            <a:chOff x="2411976" y="3068996"/>
            <a:chExt cx="90001" cy="630007"/>
          </a:xfrm>
        </p:grpSpPr>
        <p:cxnSp>
          <p:nvCxnSpPr>
            <p:cNvPr id="29" name="直線コネクタ 28">
              <a:extLst>
                <a:ext uri="{FF2B5EF4-FFF2-40B4-BE49-F238E27FC236}">
                  <a16:creationId xmlns:a16="http://schemas.microsoft.com/office/drawing/2014/main" id="{9A3D31C2-D20A-DF20-1040-953A8EC509EF}"/>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0" name="直線コネクタ 29">
              <a:extLst>
                <a:ext uri="{FF2B5EF4-FFF2-40B4-BE49-F238E27FC236}">
                  <a16:creationId xmlns:a16="http://schemas.microsoft.com/office/drawing/2014/main" id="{660630E9-9D75-10E6-C808-23C550BB7B7E}"/>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1" name="直線コネクタ 30">
              <a:extLst>
                <a:ext uri="{FF2B5EF4-FFF2-40B4-BE49-F238E27FC236}">
                  <a16:creationId xmlns:a16="http://schemas.microsoft.com/office/drawing/2014/main" id="{D0E25F03-D59C-4336-FDA6-B96F53DD9726}"/>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2" name="直線コネクタ 31">
              <a:extLst>
                <a:ext uri="{FF2B5EF4-FFF2-40B4-BE49-F238E27FC236}">
                  <a16:creationId xmlns:a16="http://schemas.microsoft.com/office/drawing/2014/main" id="{B0DC4B26-7051-11BC-0FC2-EEC424CF1E8F}"/>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3" name="直線コネクタ 32">
              <a:extLst>
                <a:ext uri="{FF2B5EF4-FFF2-40B4-BE49-F238E27FC236}">
                  <a16:creationId xmlns:a16="http://schemas.microsoft.com/office/drawing/2014/main" id="{B0333041-7A93-30CD-81C5-B2AFF551C84D}"/>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4" name="直線コネクタ 33">
              <a:extLst>
                <a:ext uri="{FF2B5EF4-FFF2-40B4-BE49-F238E27FC236}">
                  <a16:creationId xmlns:a16="http://schemas.microsoft.com/office/drawing/2014/main" id="{1EBA9024-6224-5901-49B6-B0B1CA5E9B15}"/>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5" name="直線コネクタ 34">
              <a:extLst>
                <a:ext uri="{FF2B5EF4-FFF2-40B4-BE49-F238E27FC236}">
                  <a16:creationId xmlns:a16="http://schemas.microsoft.com/office/drawing/2014/main" id="{CADDF6F4-51B7-8698-353B-9BB631FC738F}"/>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36" name="グループ化 35">
            <a:extLst>
              <a:ext uri="{FF2B5EF4-FFF2-40B4-BE49-F238E27FC236}">
                <a16:creationId xmlns:a16="http://schemas.microsoft.com/office/drawing/2014/main" id="{42E6727D-AC7E-9688-FF79-1AAFF71A28A5}"/>
              </a:ext>
            </a:extLst>
          </p:cNvPr>
          <p:cNvGrpSpPr/>
          <p:nvPr/>
        </p:nvGrpSpPr>
        <p:grpSpPr>
          <a:xfrm>
            <a:off x="6456005" y="1988985"/>
            <a:ext cx="90001" cy="630007"/>
            <a:chOff x="2411976" y="3068996"/>
            <a:chExt cx="90001" cy="630007"/>
          </a:xfrm>
        </p:grpSpPr>
        <p:cxnSp>
          <p:nvCxnSpPr>
            <p:cNvPr id="37" name="直線コネクタ 36">
              <a:extLst>
                <a:ext uri="{FF2B5EF4-FFF2-40B4-BE49-F238E27FC236}">
                  <a16:creationId xmlns:a16="http://schemas.microsoft.com/office/drawing/2014/main" id="{EB5CE1B3-6AE2-1E5B-0CFA-4654D75CA84E}"/>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8" name="直線コネクタ 37">
              <a:extLst>
                <a:ext uri="{FF2B5EF4-FFF2-40B4-BE49-F238E27FC236}">
                  <a16:creationId xmlns:a16="http://schemas.microsoft.com/office/drawing/2014/main" id="{E8F503EE-CB0D-FE48-0416-CA9C29F0F8B2}"/>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9" name="直線コネクタ 38">
              <a:extLst>
                <a:ext uri="{FF2B5EF4-FFF2-40B4-BE49-F238E27FC236}">
                  <a16:creationId xmlns:a16="http://schemas.microsoft.com/office/drawing/2014/main" id="{1EE7CEDB-AF1A-0C56-F18C-24E895F82995}"/>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0" name="直線コネクタ 39">
              <a:extLst>
                <a:ext uri="{FF2B5EF4-FFF2-40B4-BE49-F238E27FC236}">
                  <a16:creationId xmlns:a16="http://schemas.microsoft.com/office/drawing/2014/main" id="{4E802146-D58B-FD9E-2B8F-732F32C95DB9}"/>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1" name="直線コネクタ 40">
              <a:extLst>
                <a:ext uri="{FF2B5EF4-FFF2-40B4-BE49-F238E27FC236}">
                  <a16:creationId xmlns:a16="http://schemas.microsoft.com/office/drawing/2014/main" id="{C38D0A36-0B92-F43F-5699-E247290EEFF9}"/>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2" name="直線コネクタ 41">
              <a:extLst>
                <a:ext uri="{FF2B5EF4-FFF2-40B4-BE49-F238E27FC236}">
                  <a16:creationId xmlns:a16="http://schemas.microsoft.com/office/drawing/2014/main" id="{7843AFB7-A918-A6D6-B6F9-F0114D8A8835}"/>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3" name="直線コネクタ 42">
              <a:extLst>
                <a:ext uri="{FF2B5EF4-FFF2-40B4-BE49-F238E27FC236}">
                  <a16:creationId xmlns:a16="http://schemas.microsoft.com/office/drawing/2014/main" id="{BF8E20D9-6880-8B32-CF4A-A804093A2E54}"/>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sp>
        <p:nvSpPr>
          <p:cNvPr id="44" name="正方形/長方形 43">
            <a:extLst>
              <a:ext uri="{FF2B5EF4-FFF2-40B4-BE49-F238E27FC236}">
                <a16:creationId xmlns:a16="http://schemas.microsoft.com/office/drawing/2014/main" id="{4A3EA007-98C2-8EDE-B996-7B0F426281FA}"/>
              </a:ext>
            </a:extLst>
          </p:cNvPr>
          <p:cNvSpPr/>
          <p:nvPr/>
        </p:nvSpPr>
        <p:spPr bwMode="auto">
          <a:xfrm>
            <a:off x="8166024" y="1898984"/>
            <a:ext cx="1440017" cy="630007"/>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fr-FR" altLang="ja-JP" sz="1200" dirty="0">
                <a:solidFill>
                  <a:schemeClr val="tx1">
                    <a:lumMod val="75000"/>
                    <a:lumOff val="25000"/>
                  </a:schemeClr>
                </a:solidFill>
                <a:latin typeface="Consolas" panose="020B0609020204030204" pitchFamily="49" charset="0"/>
              </a:rPr>
              <a:t>func() { </a:t>
            </a:r>
          </a:p>
          <a:p>
            <a:r>
              <a:rPr lang="fr-FR" altLang="ja-JP" sz="1200" dirty="0">
                <a:solidFill>
                  <a:schemeClr val="tx1">
                    <a:lumMod val="75000"/>
                    <a:lumOff val="25000"/>
                  </a:schemeClr>
                </a:solidFill>
                <a:latin typeface="Consolas" panose="020B0609020204030204" pitchFamily="49" charset="0"/>
              </a:rPr>
              <a:t>  add_x4(a, b);</a:t>
            </a:r>
            <a:br>
              <a:rPr lang="fr-FR" altLang="ja-JP" sz="1200" dirty="0">
                <a:solidFill>
                  <a:schemeClr val="tx1">
                    <a:lumMod val="75000"/>
                    <a:lumOff val="25000"/>
                  </a:schemeClr>
                </a:solidFill>
                <a:latin typeface="Consolas" panose="020B0609020204030204" pitchFamily="49" charset="0"/>
              </a:rPr>
            </a:br>
            <a:r>
              <a:rPr lang="fr-FR" altLang="ja-JP" sz="1200" dirty="0">
                <a:solidFill>
                  <a:schemeClr val="tx1">
                    <a:lumMod val="75000"/>
                    <a:lumOff val="25000"/>
                  </a:schemeClr>
                </a:solidFill>
                <a:latin typeface="Consolas" panose="020B0609020204030204" pitchFamily="49" charset="0"/>
              </a:rPr>
              <a:t>}</a:t>
            </a:r>
            <a:endParaRPr lang="ja-JP" altLang="en-US" sz="1200" dirty="0">
              <a:solidFill>
                <a:schemeClr val="tx1">
                  <a:lumMod val="75000"/>
                  <a:lumOff val="25000"/>
                </a:schemeClr>
              </a:solidFill>
              <a:latin typeface="Consolas" panose="020B0609020204030204" pitchFamily="49" charset="0"/>
            </a:endParaRPr>
          </a:p>
        </p:txBody>
      </p:sp>
      <p:sp>
        <p:nvSpPr>
          <p:cNvPr id="45" name="正方形/長方形 44">
            <a:extLst>
              <a:ext uri="{FF2B5EF4-FFF2-40B4-BE49-F238E27FC236}">
                <a16:creationId xmlns:a16="http://schemas.microsoft.com/office/drawing/2014/main" id="{2EE3BCE8-F495-4A52-B117-CFFBF2568EBD}"/>
              </a:ext>
            </a:extLst>
          </p:cNvPr>
          <p:cNvSpPr/>
          <p:nvPr/>
        </p:nvSpPr>
        <p:spPr bwMode="auto">
          <a:xfrm>
            <a:off x="8346026" y="1628981"/>
            <a:ext cx="810009" cy="450005"/>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組み込み関数</a:t>
            </a:r>
          </a:p>
        </p:txBody>
      </p:sp>
      <p:sp>
        <p:nvSpPr>
          <p:cNvPr id="46" name="正方形/長方形 45">
            <a:extLst>
              <a:ext uri="{FF2B5EF4-FFF2-40B4-BE49-F238E27FC236}">
                <a16:creationId xmlns:a16="http://schemas.microsoft.com/office/drawing/2014/main" id="{2D9566B1-4C50-B3F7-43FC-86F355F95374}"/>
              </a:ext>
            </a:extLst>
          </p:cNvPr>
          <p:cNvSpPr/>
          <p:nvPr/>
        </p:nvSpPr>
        <p:spPr bwMode="auto">
          <a:xfrm>
            <a:off x="2045956" y="4419012"/>
            <a:ext cx="8190091" cy="1800019"/>
          </a:xfrm>
          <a:prstGeom prst="rect">
            <a:avLst/>
          </a:prstGeom>
          <a:solidFill>
            <a:schemeClr val="accent6">
              <a:lumMod val="20000"/>
              <a:lumOff val="80000"/>
            </a:schemeClr>
          </a:solid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200" dirty="0">
              <a:solidFill>
                <a:schemeClr val="tx1">
                  <a:lumMod val="75000"/>
                  <a:lumOff val="25000"/>
                </a:schemeClr>
              </a:solidFill>
              <a:latin typeface="+mn-ea"/>
            </a:endParaRPr>
          </a:p>
        </p:txBody>
      </p:sp>
      <p:sp>
        <p:nvSpPr>
          <p:cNvPr id="47" name="正方形/長方形 46">
            <a:extLst>
              <a:ext uri="{FF2B5EF4-FFF2-40B4-BE49-F238E27FC236}">
                <a16:creationId xmlns:a16="http://schemas.microsoft.com/office/drawing/2014/main" id="{05596368-201C-C88F-C682-269FF1B15D3B}"/>
              </a:ext>
            </a:extLst>
          </p:cNvPr>
          <p:cNvSpPr/>
          <p:nvPr/>
        </p:nvSpPr>
        <p:spPr bwMode="auto">
          <a:xfrm>
            <a:off x="2135957" y="5409023"/>
            <a:ext cx="2250025" cy="450005"/>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Hardware: SIMD</a:t>
            </a:r>
            <a:endParaRPr lang="ja-JP" altLang="en-US" sz="1600" dirty="0">
              <a:solidFill>
                <a:schemeClr val="tx1">
                  <a:lumMod val="75000"/>
                  <a:lumOff val="25000"/>
                </a:schemeClr>
              </a:solidFill>
              <a:latin typeface="+mn-ea"/>
            </a:endParaRPr>
          </a:p>
        </p:txBody>
      </p:sp>
      <p:sp>
        <p:nvSpPr>
          <p:cNvPr id="48" name="正方形/長方形 47">
            <a:extLst>
              <a:ext uri="{FF2B5EF4-FFF2-40B4-BE49-F238E27FC236}">
                <a16:creationId xmlns:a16="http://schemas.microsoft.com/office/drawing/2014/main" id="{C81DF4CD-B70F-2A45-1EBD-1B15A0BADD80}"/>
              </a:ext>
            </a:extLst>
          </p:cNvPr>
          <p:cNvSpPr/>
          <p:nvPr/>
        </p:nvSpPr>
        <p:spPr bwMode="auto">
          <a:xfrm>
            <a:off x="2045956" y="3429001"/>
            <a:ext cx="3690041" cy="990011"/>
          </a:xfrm>
          <a:prstGeom prst="rect">
            <a:avLst/>
          </a:prstGeom>
          <a:solidFill>
            <a:schemeClr val="accent6">
              <a:lumMod val="20000"/>
              <a:lumOff val="80000"/>
            </a:schemeClr>
          </a:solid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200" dirty="0">
              <a:solidFill>
                <a:schemeClr val="tx1">
                  <a:lumMod val="75000"/>
                  <a:lumOff val="25000"/>
                </a:schemeClr>
              </a:solidFill>
              <a:latin typeface="+mn-ea"/>
            </a:endParaRPr>
          </a:p>
        </p:txBody>
      </p:sp>
      <p:cxnSp>
        <p:nvCxnSpPr>
          <p:cNvPr id="51" name="直線コネクタ 50">
            <a:extLst>
              <a:ext uri="{FF2B5EF4-FFF2-40B4-BE49-F238E27FC236}">
                <a16:creationId xmlns:a16="http://schemas.microsoft.com/office/drawing/2014/main" id="{D1155B93-8290-98B4-6BDE-4F471F890BDE}"/>
              </a:ext>
            </a:extLst>
          </p:cNvPr>
          <p:cNvCxnSpPr/>
          <p:nvPr/>
        </p:nvCxnSpPr>
        <p:spPr bwMode="auto">
          <a:xfrm>
            <a:off x="2045956" y="3429000"/>
            <a:ext cx="3690041" cy="0"/>
          </a:xfrm>
          <a:prstGeom prst="line">
            <a:avLst/>
          </a:prstGeom>
          <a:noFill/>
          <a:ln w="19050" cap="flat" cmpd="sng" algn="ctr">
            <a:solidFill>
              <a:schemeClr val="tx1">
                <a:lumMod val="75000"/>
                <a:lumOff val="25000"/>
              </a:schemeClr>
            </a:solidFill>
            <a:prstDash val="solid"/>
            <a:round/>
            <a:headEnd type="none" w="med" len="med"/>
            <a:tailEnd type="none" w="med" len="med"/>
          </a:ln>
          <a:effectLst/>
        </p:spPr>
      </p:cxnSp>
      <p:cxnSp>
        <p:nvCxnSpPr>
          <p:cNvPr id="52" name="直線コネクタ 51">
            <a:extLst>
              <a:ext uri="{FF2B5EF4-FFF2-40B4-BE49-F238E27FC236}">
                <a16:creationId xmlns:a16="http://schemas.microsoft.com/office/drawing/2014/main" id="{0F7941D0-6EB4-E02D-17B0-26767E0CD114}"/>
              </a:ext>
            </a:extLst>
          </p:cNvPr>
          <p:cNvCxnSpPr>
            <a:cxnSpLocks/>
          </p:cNvCxnSpPr>
          <p:nvPr/>
        </p:nvCxnSpPr>
        <p:spPr bwMode="auto">
          <a:xfrm flipV="1">
            <a:off x="5735996" y="3429001"/>
            <a:ext cx="0" cy="990011"/>
          </a:xfrm>
          <a:prstGeom prst="line">
            <a:avLst/>
          </a:prstGeom>
          <a:noFill/>
          <a:ln w="19050" cap="flat" cmpd="sng" algn="ctr">
            <a:solidFill>
              <a:schemeClr val="tx1">
                <a:lumMod val="75000"/>
                <a:lumOff val="25000"/>
              </a:schemeClr>
            </a:solidFill>
            <a:prstDash val="solid"/>
            <a:round/>
            <a:headEnd type="none" w="med" len="med"/>
            <a:tailEnd type="none" w="med" len="med"/>
          </a:ln>
          <a:effectLst/>
        </p:spPr>
      </p:cxnSp>
      <p:cxnSp>
        <p:nvCxnSpPr>
          <p:cNvPr id="55" name="直線コネクタ 54">
            <a:extLst>
              <a:ext uri="{FF2B5EF4-FFF2-40B4-BE49-F238E27FC236}">
                <a16:creationId xmlns:a16="http://schemas.microsoft.com/office/drawing/2014/main" id="{17F67610-AA57-365D-7251-5B80B949DAD2}"/>
              </a:ext>
            </a:extLst>
          </p:cNvPr>
          <p:cNvCxnSpPr>
            <a:cxnSpLocks/>
          </p:cNvCxnSpPr>
          <p:nvPr/>
        </p:nvCxnSpPr>
        <p:spPr bwMode="auto">
          <a:xfrm>
            <a:off x="5735996" y="4419011"/>
            <a:ext cx="4500050" cy="0"/>
          </a:xfrm>
          <a:prstGeom prst="line">
            <a:avLst/>
          </a:prstGeom>
          <a:noFill/>
          <a:ln w="19050" cap="flat" cmpd="sng" algn="ctr">
            <a:solidFill>
              <a:schemeClr val="tx1">
                <a:lumMod val="75000"/>
                <a:lumOff val="25000"/>
              </a:schemeClr>
            </a:solidFill>
            <a:prstDash val="solid"/>
            <a:round/>
            <a:headEnd type="none" w="med" len="med"/>
            <a:tailEnd type="none" w="med" len="med"/>
          </a:ln>
          <a:effectLst/>
        </p:spPr>
      </p:cxnSp>
      <p:sp>
        <p:nvSpPr>
          <p:cNvPr id="57" name="正方形/長方形 56">
            <a:extLst>
              <a:ext uri="{FF2B5EF4-FFF2-40B4-BE49-F238E27FC236}">
                <a16:creationId xmlns:a16="http://schemas.microsoft.com/office/drawing/2014/main" id="{65D46ED6-79B9-8C82-DDF3-9543B3F5AE62}"/>
              </a:ext>
            </a:extLst>
          </p:cNvPr>
          <p:cNvSpPr/>
          <p:nvPr/>
        </p:nvSpPr>
        <p:spPr bwMode="auto">
          <a:xfrm>
            <a:off x="6096000" y="3609003"/>
            <a:ext cx="1800020" cy="450005"/>
          </a:xfrm>
          <a:prstGeom prst="rect">
            <a:avLst/>
          </a:prstGeom>
          <a:noFill/>
          <a:ln w="15875">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5"/>
                </a:solidFill>
                <a:latin typeface="Consolas" panose="020B0609020204030204" pitchFamily="49" charset="0"/>
              </a:rPr>
              <a:t>SIMD </a:t>
            </a:r>
            <a:r>
              <a:rPr lang="ja-JP" altLang="en-US" sz="1600" b="1" dirty="0">
                <a:solidFill>
                  <a:schemeClr val="accent5"/>
                </a:solidFill>
                <a:latin typeface="Consolas" panose="020B0609020204030204" pitchFamily="49" charset="0"/>
              </a:rPr>
              <a:t>コンパイラ</a:t>
            </a:r>
            <a:endParaRPr lang="en-US" altLang="ja-JP" sz="1600" b="1" dirty="0">
              <a:solidFill>
                <a:schemeClr val="accent5"/>
              </a:solidFill>
              <a:latin typeface="Consolas" panose="020B0609020204030204" pitchFamily="49" charset="0"/>
            </a:endParaRPr>
          </a:p>
          <a:p>
            <a:r>
              <a:rPr lang="en-US" altLang="ja-JP" sz="1600" b="1" dirty="0">
                <a:solidFill>
                  <a:schemeClr val="accent5"/>
                </a:solidFill>
                <a:latin typeface="Consolas" panose="020B0609020204030204" pitchFamily="49" charset="0"/>
              </a:rPr>
              <a:t>Intel/AMD</a:t>
            </a:r>
            <a:endParaRPr lang="ja-JP" altLang="en-US" sz="1600" b="1" dirty="0">
              <a:solidFill>
                <a:schemeClr val="accent5"/>
              </a:solidFill>
              <a:latin typeface="Consolas" panose="020B0609020204030204" pitchFamily="49" charset="0"/>
            </a:endParaRPr>
          </a:p>
        </p:txBody>
      </p:sp>
      <p:grpSp>
        <p:nvGrpSpPr>
          <p:cNvPr id="58" name="グループ化 57">
            <a:extLst>
              <a:ext uri="{FF2B5EF4-FFF2-40B4-BE49-F238E27FC236}">
                <a16:creationId xmlns:a16="http://schemas.microsoft.com/office/drawing/2014/main" id="{AC45BF05-6C71-0016-A2CD-69712BA3F37B}"/>
              </a:ext>
            </a:extLst>
          </p:cNvPr>
          <p:cNvGrpSpPr/>
          <p:nvPr/>
        </p:nvGrpSpPr>
        <p:grpSpPr>
          <a:xfrm>
            <a:off x="6636007" y="1988985"/>
            <a:ext cx="90001" cy="630007"/>
            <a:chOff x="2411976" y="3068996"/>
            <a:chExt cx="90001" cy="630007"/>
          </a:xfrm>
        </p:grpSpPr>
        <p:cxnSp>
          <p:nvCxnSpPr>
            <p:cNvPr id="59" name="直線コネクタ 58">
              <a:extLst>
                <a:ext uri="{FF2B5EF4-FFF2-40B4-BE49-F238E27FC236}">
                  <a16:creationId xmlns:a16="http://schemas.microsoft.com/office/drawing/2014/main" id="{7994786A-D464-F7E2-9EC3-ED84677DF506}"/>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60" name="直線コネクタ 59">
              <a:extLst>
                <a:ext uri="{FF2B5EF4-FFF2-40B4-BE49-F238E27FC236}">
                  <a16:creationId xmlns:a16="http://schemas.microsoft.com/office/drawing/2014/main" id="{A6996399-CE5E-66C4-6500-7C315227D659}"/>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61" name="直線コネクタ 60">
              <a:extLst>
                <a:ext uri="{FF2B5EF4-FFF2-40B4-BE49-F238E27FC236}">
                  <a16:creationId xmlns:a16="http://schemas.microsoft.com/office/drawing/2014/main" id="{9E0674D6-E20F-7326-F520-9F878EE43F2A}"/>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62" name="直線コネクタ 61">
              <a:extLst>
                <a:ext uri="{FF2B5EF4-FFF2-40B4-BE49-F238E27FC236}">
                  <a16:creationId xmlns:a16="http://schemas.microsoft.com/office/drawing/2014/main" id="{4D6707ED-EAFE-B3A4-087A-EBD4931F2752}"/>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63" name="直線コネクタ 62">
              <a:extLst>
                <a:ext uri="{FF2B5EF4-FFF2-40B4-BE49-F238E27FC236}">
                  <a16:creationId xmlns:a16="http://schemas.microsoft.com/office/drawing/2014/main" id="{00B6F72C-83C1-8438-E7E3-29246AFBBAEC}"/>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64" name="直線コネクタ 63">
              <a:extLst>
                <a:ext uri="{FF2B5EF4-FFF2-40B4-BE49-F238E27FC236}">
                  <a16:creationId xmlns:a16="http://schemas.microsoft.com/office/drawing/2014/main" id="{71BA6963-D97E-27E3-936C-706B7F65A227}"/>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65" name="直線コネクタ 64">
              <a:extLst>
                <a:ext uri="{FF2B5EF4-FFF2-40B4-BE49-F238E27FC236}">
                  <a16:creationId xmlns:a16="http://schemas.microsoft.com/office/drawing/2014/main" id="{C6E448FB-3455-CB72-6F97-1557F7CB6B20}"/>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66" name="グループ化 65">
            <a:extLst>
              <a:ext uri="{FF2B5EF4-FFF2-40B4-BE49-F238E27FC236}">
                <a16:creationId xmlns:a16="http://schemas.microsoft.com/office/drawing/2014/main" id="{C9D9D6EE-2F50-40BA-1070-144A254A13B0}"/>
              </a:ext>
            </a:extLst>
          </p:cNvPr>
          <p:cNvGrpSpPr/>
          <p:nvPr/>
        </p:nvGrpSpPr>
        <p:grpSpPr>
          <a:xfrm>
            <a:off x="6816009" y="1988985"/>
            <a:ext cx="90001" cy="630007"/>
            <a:chOff x="2411976" y="3068996"/>
            <a:chExt cx="90001" cy="630007"/>
          </a:xfrm>
        </p:grpSpPr>
        <p:cxnSp>
          <p:nvCxnSpPr>
            <p:cNvPr id="67" name="直線コネクタ 66">
              <a:extLst>
                <a:ext uri="{FF2B5EF4-FFF2-40B4-BE49-F238E27FC236}">
                  <a16:creationId xmlns:a16="http://schemas.microsoft.com/office/drawing/2014/main" id="{7020AE43-5BF7-609D-183B-543B97B67449}"/>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68" name="直線コネクタ 67">
              <a:extLst>
                <a:ext uri="{FF2B5EF4-FFF2-40B4-BE49-F238E27FC236}">
                  <a16:creationId xmlns:a16="http://schemas.microsoft.com/office/drawing/2014/main" id="{351728BD-1594-DAFC-B51D-9D9C1D0261A7}"/>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69" name="直線コネクタ 68">
              <a:extLst>
                <a:ext uri="{FF2B5EF4-FFF2-40B4-BE49-F238E27FC236}">
                  <a16:creationId xmlns:a16="http://schemas.microsoft.com/office/drawing/2014/main" id="{370A7163-7746-4FF9-C971-7916B20E1263}"/>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0" name="直線コネクタ 69">
              <a:extLst>
                <a:ext uri="{FF2B5EF4-FFF2-40B4-BE49-F238E27FC236}">
                  <a16:creationId xmlns:a16="http://schemas.microsoft.com/office/drawing/2014/main" id="{B0A0BE0C-A3E7-981A-CDC6-00D3D1B6780B}"/>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1" name="直線コネクタ 70">
              <a:extLst>
                <a:ext uri="{FF2B5EF4-FFF2-40B4-BE49-F238E27FC236}">
                  <a16:creationId xmlns:a16="http://schemas.microsoft.com/office/drawing/2014/main" id="{5F9F50CD-7BFB-E7EF-CDCC-03F3DD749554}"/>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2" name="直線コネクタ 71">
              <a:extLst>
                <a:ext uri="{FF2B5EF4-FFF2-40B4-BE49-F238E27FC236}">
                  <a16:creationId xmlns:a16="http://schemas.microsoft.com/office/drawing/2014/main" id="{23915662-6954-593B-59C6-1B7A3CC5D560}"/>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3" name="直線コネクタ 72">
              <a:extLst>
                <a:ext uri="{FF2B5EF4-FFF2-40B4-BE49-F238E27FC236}">
                  <a16:creationId xmlns:a16="http://schemas.microsoft.com/office/drawing/2014/main" id="{928DD207-9122-7EB5-89FC-704B06CC202E}"/>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74" name="グループ化 73">
            <a:extLst>
              <a:ext uri="{FF2B5EF4-FFF2-40B4-BE49-F238E27FC236}">
                <a16:creationId xmlns:a16="http://schemas.microsoft.com/office/drawing/2014/main" id="{F3D82A00-A93B-6CCF-85BE-4A9FB6C3BBB6}"/>
              </a:ext>
            </a:extLst>
          </p:cNvPr>
          <p:cNvGrpSpPr/>
          <p:nvPr/>
        </p:nvGrpSpPr>
        <p:grpSpPr>
          <a:xfrm>
            <a:off x="6996011" y="1988985"/>
            <a:ext cx="90001" cy="630007"/>
            <a:chOff x="2411976" y="3068996"/>
            <a:chExt cx="90001" cy="630007"/>
          </a:xfrm>
        </p:grpSpPr>
        <p:cxnSp>
          <p:nvCxnSpPr>
            <p:cNvPr id="75" name="直線コネクタ 74">
              <a:extLst>
                <a:ext uri="{FF2B5EF4-FFF2-40B4-BE49-F238E27FC236}">
                  <a16:creationId xmlns:a16="http://schemas.microsoft.com/office/drawing/2014/main" id="{DB5CF2CF-E7AF-4600-74E5-794B6F9E5671}"/>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6" name="直線コネクタ 75">
              <a:extLst>
                <a:ext uri="{FF2B5EF4-FFF2-40B4-BE49-F238E27FC236}">
                  <a16:creationId xmlns:a16="http://schemas.microsoft.com/office/drawing/2014/main" id="{997E73C5-38D0-2F7B-8827-EDB205E23B99}"/>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7" name="直線コネクタ 76">
              <a:extLst>
                <a:ext uri="{FF2B5EF4-FFF2-40B4-BE49-F238E27FC236}">
                  <a16:creationId xmlns:a16="http://schemas.microsoft.com/office/drawing/2014/main" id="{39A65110-0D13-E7A4-2C48-4C9D0FA8E952}"/>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8" name="直線コネクタ 77">
              <a:extLst>
                <a:ext uri="{FF2B5EF4-FFF2-40B4-BE49-F238E27FC236}">
                  <a16:creationId xmlns:a16="http://schemas.microsoft.com/office/drawing/2014/main" id="{CF302DA0-46F6-FDA9-A994-CBAA19F2BC32}"/>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9" name="直線コネクタ 78">
              <a:extLst>
                <a:ext uri="{FF2B5EF4-FFF2-40B4-BE49-F238E27FC236}">
                  <a16:creationId xmlns:a16="http://schemas.microsoft.com/office/drawing/2014/main" id="{2BB6FC01-CA00-6396-BB3D-0457E1E730B9}"/>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0" name="直線コネクタ 79">
              <a:extLst>
                <a:ext uri="{FF2B5EF4-FFF2-40B4-BE49-F238E27FC236}">
                  <a16:creationId xmlns:a16="http://schemas.microsoft.com/office/drawing/2014/main" id="{691DA796-A336-EEDE-E05F-C3983BD61357}"/>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1" name="直線コネクタ 80">
              <a:extLst>
                <a:ext uri="{FF2B5EF4-FFF2-40B4-BE49-F238E27FC236}">
                  <a16:creationId xmlns:a16="http://schemas.microsoft.com/office/drawing/2014/main" id="{FF1732D2-8569-74A9-992A-E17C986A72B7}"/>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82" name="グループ化 81">
            <a:extLst>
              <a:ext uri="{FF2B5EF4-FFF2-40B4-BE49-F238E27FC236}">
                <a16:creationId xmlns:a16="http://schemas.microsoft.com/office/drawing/2014/main" id="{6FEC9FBD-C720-39BB-9035-5DC899EFE78E}"/>
              </a:ext>
            </a:extLst>
          </p:cNvPr>
          <p:cNvGrpSpPr/>
          <p:nvPr/>
        </p:nvGrpSpPr>
        <p:grpSpPr>
          <a:xfrm>
            <a:off x="7176013" y="1988985"/>
            <a:ext cx="90001" cy="630007"/>
            <a:chOff x="2411976" y="3068996"/>
            <a:chExt cx="90001" cy="630007"/>
          </a:xfrm>
        </p:grpSpPr>
        <p:cxnSp>
          <p:nvCxnSpPr>
            <p:cNvPr id="83" name="直線コネクタ 82">
              <a:extLst>
                <a:ext uri="{FF2B5EF4-FFF2-40B4-BE49-F238E27FC236}">
                  <a16:creationId xmlns:a16="http://schemas.microsoft.com/office/drawing/2014/main" id="{41810B92-8D5F-77EA-B992-D24424242AD5}"/>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4" name="直線コネクタ 83">
              <a:extLst>
                <a:ext uri="{FF2B5EF4-FFF2-40B4-BE49-F238E27FC236}">
                  <a16:creationId xmlns:a16="http://schemas.microsoft.com/office/drawing/2014/main" id="{0E2F8A26-720E-1183-8D0F-96886E33919F}"/>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5" name="直線コネクタ 84">
              <a:extLst>
                <a:ext uri="{FF2B5EF4-FFF2-40B4-BE49-F238E27FC236}">
                  <a16:creationId xmlns:a16="http://schemas.microsoft.com/office/drawing/2014/main" id="{86118DD2-5903-CBC9-A4D2-07C72D8596FD}"/>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6" name="直線コネクタ 85">
              <a:extLst>
                <a:ext uri="{FF2B5EF4-FFF2-40B4-BE49-F238E27FC236}">
                  <a16:creationId xmlns:a16="http://schemas.microsoft.com/office/drawing/2014/main" id="{91ACD959-21D8-87B7-12B6-D4A12743E254}"/>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7" name="直線コネクタ 86">
              <a:extLst>
                <a:ext uri="{FF2B5EF4-FFF2-40B4-BE49-F238E27FC236}">
                  <a16:creationId xmlns:a16="http://schemas.microsoft.com/office/drawing/2014/main" id="{5A6A85B2-A048-955A-46D4-32E3F2B2FD3B}"/>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8" name="直線コネクタ 87">
              <a:extLst>
                <a:ext uri="{FF2B5EF4-FFF2-40B4-BE49-F238E27FC236}">
                  <a16:creationId xmlns:a16="http://schemas.microsoft.com/office/drawing/2014/main" id="{41639A5C-092C-3257-0C04-49F474BB23F7}"/>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9" name="直線コネクタ 88">
              <a:extLst>
                <a:ext uri="{FF2B5EF4-FFF2-40B4-BE49-F238E27FC236}">
                  <a16:creationId xmlns:a16="http://schemas.microsoft.com/office/drawing/2014/main" id="{B2B73938-336D-C752-FF9C-220207DBFDBD}"/>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sp>
        <p:nvSpPr>
          <p:cNvPr id="90" name="正方形/長方形 89">
            <a:extLst>
              <a:ext uri="{FF2B5EF4-FFF2-40B4-BE49-F238E27FC236}">
                <a16:creationId xmlns:a16="http://schemas.microsoft.com/office/drawing/2014/main" id="{C1F6AF58-511F-600D-CB8E-FF9BF7291C9A}"/>
              </a:ext>
            </a:extLst>
          </p:cNvPr>
          <p:cNvSpPr/>
          <p:nvPr/>
        </p:nvSpPr>
        <p:spPr bwMode="auto">
          <a:xfrm>
            <a:off x="3125968" y="3158997"/>
            <a:ext cx="1530017" cy="360004"/>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b="1" dirty="0">
                <a:solidFill>
                  <a:schemeClr val="tx1">
                    <a:lumMod val="75000"/>
                    <a:lumOff val="25000"/>
                  </a:schemeClr>
                </a:solidFill>
                <a:latin typeface="+mn-ea"/>
              </a:rPr>
              <a:t>スカラ命令</a:t>
            </a:r>
          </a:p>
        </p:txBody>
      </p:sp>
      <p:sp>
        <p:nvSpPr>
          <p:cNvPr id="91" name="正方形/長方形 90">
            <a:extLst>
              <a:ext uri="{FF2B5EF4-FFF2-40B4-BE49-F238E27FC236}">
                <a16:creationId xmlns:a16="http://schemas.microsoft.com/office/drawing/2014/main" id="{93AAD169-1DCD-C79B-1196-BEFD5E93628E}"/>
              </a:ext>
            </a:extLst>
          </p:cNvPr>
          <p:cNvSpPr/>
          <p:nvPr/>
        </p:nvSpPr>
        <p:spPr bwMode="auto">
          <a:xfrm>
            <a:off x="7086012" y="4149008"/>
            <a:ext cx="1530017" cy="360004"/>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tx1">
                    <a:lumMod val="75000"/>
                    <a:lumOff val="25000"/>
                  </a:schemeClr>
                </a:solidFill>
                <a:latin typeface="+mn-ea"/>
              </a:rPr>
              <a:t>SIMD </a:t>
            </a:r>
            <a:r>
              <a:rPr lang="ja-JP" altLang="en-US" sz="1600" b="1" dirty="0">
                <a:solidFill>
                  <a:schemeClr val="tx1">
                    <a:lumMod val="75000"/>
                    <a:lumOff val="25000"/>
                  </a:schemeClr>
                </a:solidFill>
                <a:latin typeface="+mn-ea"/>
              </a:rPr>
              <a:t>命令</a:t>
            </a:r>
          </a:p>
        </p:txBody>
      </p:sp>
      <p:cxnSp>
        <p:nvCxnSpPr>
          <p:cNvPr id="93" name="直線矢印コネクタ 92">
            <a:extLst>
              <a:ext uri="{FF2B5EF4-FFF2-40B4-BE49-F238E27FC236}">
                <a16:creationId xmlns:a16="http://schemas.microsoft.com/office/drawing/2014/main" id="{F1F2A63B-59E2-24EC-AB55-7BB931A70E49}"/>
              </a:ext>
            </a:extLst>
          </p:cNvPr>
          <p:cNvCxnSpPr/>
          <p:nvPr/>
        </p:nvCxnSpPr>
        <p:spPr bwMode="auto">
          <a:xfrm>
            <a:off x="2495960" y="1808982"/>
            <a:ext cx="0" cy="1620018"/>
          </a:xfrm>
          <a:prstGeom prst="straightConnector1">
            <a:avLst/>
          </a:prstGeom>
          <a:noFill/>
          <a:ln w="9525" cap="flat" cmpd="sng" algn="ctr">
            <a:solidFill>
              <a:schemeClr val="tx1"/>
            </a:solidFill>
            <a:prstDash val="solid"/>
            <a:round/>
            <a:headEnd type="none" w="med" len="med"/>
            <a:tailEnd type="triangle"/>
          </a:ln>
          <a:effectLst/>
        </p:spPr>
      </p:cxnSp>
      <p:cxnSp>
        <p:nvCxnSpPr>
          <p:cNvPr id="94" name="直線矢印コネクタ 93">
            <a:extLst>
              <a:ext uri="{FF2B5EF4-FFF2-40B4-BE49-F238E27FC236}">
                <a16:creationId xmlns:a16="http://schemas.microsoft.com/office/drawing/2014/main" id="{A4CCF16C-7D61-1E9F-03DE-9F1CFB040911}"/>
              </a:ext>
            </a:extLst>
          </p:cNvPr>
          <p:cNvCxnSpPr>
            <a:cxnSpLocks/>
          </p:cNvCxnSpPr>
          <p:nvPr/>
        </p:nvCxnSpPr>
        <p:spPr bwMode="auto">
          <a:xfrm flipV="1">
            <a:off x="2495960" y="3429000"/>
            <a:ext cx="0" cy="1620018"/>
          </a:xfrm>
          <a:prstGeom prst="straightConnector1">
            <a:avLst/>
          </a:prstGeom>
          <a:noFill/>
          <a:ln w="9525" cap="flat" cmpd="sng" algn="ctr">
            <a:solidFill>
              <a:schemeClr val="tx1"/>
            </a:solidFill>
            <a:prstDash val="solid"/>
            <a:round/>
            <a:headEnd type="none" w="med" len="med"/>
            <a:tailEnd type="triangle"/>
          </a:ln>
          <a:effectLst/>
        </p:spPr>
      </p:cxnSp>
      <p:sp>
        <p:nvSpPr>
          <p:cNvPr id="97" name="正方形/長方形 96">
            <a:extLst>
              <a:ext uri="{FF2B5EF4-FFF2-40B4-BE49-F238E27FC236}">
                <a16:creationId xmlns:a16="http://schemas.microsoft.com/office/drawing/2014/main" id="{B6446BED-1323-A009-758D-D43B59F23C73}"/>
              </a:ext>
            </a:extLst>
          </p:cNvPr>
          <p:cNvSpPr/>
          <p:nvPr/>
        </p:nvSpPr>
        <p:spPr bwMode="auto">
          <a:xfrm>
            <a:off x="2945966" y="3609003"/>
            <a:ext cx="2250025" cy="450005"/>
          </a:xfrm>
          <a:prstGeom prst="rect">
            <a:avLst/>
          </a:prstGeom>
          <a:noFill/>
          <a:ln w="15875">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2"/>
                </a:solidFill>
                <a:latin typeface="Consolas" panose="020B0609020204030204" pitchFamily="49" charset="0"/>
              </a:rPr>
              <a:t>SIMT </a:t>
            </a:r>
            <a:r>
              <a:rPr lang="ja-JP" altLang="en-US" sz="1600" b="1" dirty="0">
                <a:solidFill>
                  <a:schemeClr val="accent2"/>
                </a:solidFill>
                <a:latin typeface="Consolas" panose="020B0609020204030204" pitchFamily="49" charset="0"/>
              </a:rPr>
              <a:t>アーキテクチャ</a:t>
            </a:r>
            <a:endParaRPr lang="en-US" altLang="ja-JP" sz="1600" b="1" dirty="0">
              <a:solidFill>
                <a:schemeClr val="accent2"/>
              </a:solidFill>
              <a:latin typeface="Consolas" panose="020B0609020204030204" pitchFamily="49" charset="0"/>
            </a:endParaRPr>
          </a:p>
          <a:p>
            <a:r>
              <a:rPr lang="en-US" altLang="ja-JP" sz="1600" b="1" dirty="0">
                <a:solidFill>
                  <a:schemeClr val="accent2"/>
                </a:solidFill>
                <a:latin typeface="Consolas" panose="020B0609020204030204" pitchFamily="49" charset="0"/>
              </a:rPr>
              <a:t>NVIDIA</a:t>
            </a:r>
            <a:endParaRPr lang="ja-JP" altLang="en-US" sz="1600" b="1" dirty="0">
              <a:solidFill>
                <a:schemeClr val="accent2"/>
              </a:solidFill>
              <a:latin typeface="Consolas" panose="020B0609020204030204" pitchFamily="49" charset="0"/>
            </a:endParaRPr>
          </a:p>
        </p:txBody>
      </p:sp>
      <p:cxnSp>
        <p:nvCxnSpPr>
          <p:cNvPr id="98" name="直線矢印コネクタ 97">
            <a:extLst>
              <a:ext uri="{FF2B5EF4-FFF2-40B4-BE49-F238E27FC236}">
                <a16:creationId xmlns:a16="http://schemas.microsoft.com/office/drawing/2014/main" id="{091C1196-8405-0EDC-3ED0-4F3C2C87D6E7}"/>
              </a:ext>
            </a:extLst>
          </p:cNvPr>
          <p:cNvCxnSpPr>
            <a:cxnSpLocks/>
          </p:cNvCxnSpPr>
          <p:nvPr/>
        </p:nvCxnSpPr>
        <p:spPr bwMode="auto">
          <a:xfrm>
            <a:off x="9876042" y="1808982"/>
            <a:ext cx="0" cy="2700030"/>
          </a:xfrm>
          <a:prstGeom prst="straightConnector1">
            <a:avLst/>
          </a:prstGeom>
          <a:noFill/>
          <a:ln w="9525" cap="flat" cmpd="sng" algn="ctr">
            <a:solidFill>
              <a:schemeClr val="tx1"/>
            </a:solidFill>
            <a:prstDash val="solid"/>
            <a:round/>
            <a:headEnd type="none" w="med" len="med"/>
            <a:tailEnd type="triangle"/>
          </a:ln>
          <a:effectLst/>
        </p:spPr>
      </p:cxnSp>
      <p:cxnSp>
        <p:nvCxnSpPr>
          <p:cNvPr id="99" name="直線矢印コネクタ 98">
            <a:extLst>
              <a:ext uri="{FF2B5EF4-FFF2-40B4-BE49-F238E27FC236}">
                <a16:creationId xmlns:a16="http://schemas.microsoft.com/office/drawing/2014/main" id="{D49951BE-29DF-35A4-38CC-D723770540CD}"/>
              </a:ext>
            </a:extLst>
          </p:cNvPr>
          <p:cNvCxnSpPr>
            <a:cxnSpLocks/>
          </p:cNvCxnSpPr>
          <p:nvPr/>
        </p:nvCxnSpPr>
        <p:spPr bwMode="auto">
          <a:xfrm flipV="1">
            <a:off x="9876042" y="4509013"/>
            <a:ext cx="0" cy="810009"/>
          </a:xfrm>
          <a:prstGeom prst="straightConnector1">
            <a:avLst/>
          </a:prstGeom>
          <a:noFill/>
          <a:ln w="9525" cap="flat" cmpd="sng" algn="ctr">
            <a:solidFill>
              <a:schemeClr val="tx1"/>
            </a:solidFill>
            <a:prstDash val="solid"/>
            <a:round/>
            <a:headEnd type="none" w="med" len="med"/>
            <a:tailEnd type="triangle"/>
          </a:ln>
          <a:effectLst/>
        </p:spPr>
      </p:cxnSp>
      <p:sp>
        <p:nvSpPr>
          <p:cNvPr id="102" name="正方形/長方形 101">
            <a:extLst>
              <a:ext uri="{FF2B5EF4-FFF2-40B4-BE49-F238E27FC236}">
                <a16:creationId xmlns:a16="http://schemas.microsoft.com/office/drawing/2014/main" id="{4FA43F9F-80AD-B070-2BA4-394EC4BF7C4E}"/>
              </a:ext>
            </a:extLst>
          </p:cNvPr>
          <p:cNvSpPr/>
          <p:nvPr/>
        </p:nvSpPr>
        <p:spPr bwMode="auto">
          <a:xfrm>
            <a:off x="9156034" y="5229021"/>
            <a:ext cx="1260014" cy="450005"/>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Hardware</a:t>
            </a:r>
            <a:endParaRPr lang="ja-JP" altLang="en-US" sz="1600" dirty="0">
              <a:solidFill>
                <a:schemeClr val="tx1">
                  <a:lumMod val="75000"/>
                  <a:lumOff val="25000"/>
                </a:schemeClr>
              </a:solidFill>
              <a:latin typeface="+mn-ea"/>
            </a:endParaRPr>
          </a:p>
        </p:txBody>
      </p:sp>
      <p:grpSp>
        <p:nvGrpSpPr>
          <p:cNvPr id="124" name="グループ化 123">
            <a:extLst>
              <a:ext uri="{FF2B5EF4-FFF2-40B4-BE49-F238E27FC236}">
                <a16:creationId xmlns:a16="http://schemas.microsoft.com/office/drawing/2014/main" id="{A04CA355-74DC-0777-94F8-373543DC1AFE}"/>
              </a:ext>
            </a:extLst>
          </p:cNvPr>
          <p:cNvGrpSpPr/>
          <p:nvPr/>
        </p:nvGrpSpPr>
        <p:grpSpPr>
          <a:xfrm>
            <a:off x="4925988" y="4779015"/>
            <a:ext cx="2340026" cy="1350016"/>
            <a:chOff x="2861981" y="4509012"/>
            <a:chExt cx="3150035" cy="1710019"/>
          </a:xfrm>
        </p:grpSpPr>
        <p:sp>
          <p:nvSpPr>
            <p:cNvPr id="104" name="正方形/長方形 103">
              <a:extLst>
                <a:ext uri="{FF2B5EF4-FFF2-40B4-BE49-F238E27FC236}">
                  <a16:creationId xmlns:a16="http://schemas.microsoft.com/office/drawing/2014/main" id="{C546FF7E-4A04-F102-0836-9B30D70402FC}"/>
                </a:ext>
              </a:extLst>
            </p:cNvPr>
            <p:cNvSpPr/>
            <p:nvPr/>
          </p:nvSpPr>
          <p:spPr bwMode="auto">
            <a:xfrm>
              <a:off x="4121995" y="4509012"/>
              <a:ext cx="720008" cy="360004"/>
            </a:xfrm>
            <a:prstGeom prst="rect">
              <a:avLst/>
            </a:prstGeom>
            <a:solidFill>
              <a:srgbClr val="FAF2F2"/>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600" dirty="0">
                  <a:solidFill>
                    <a:schemeClr val="tx1">
                      <a:lumMod val="75000"/>
                      <a:lumOff val="25000"/>
                    </a:schemeClr>
                  </a:solidFill>
                  <a:latin typeface="+mn-ea"/>
                </a:rPr>
                <a:t>命令メモリ</a:t>
              </a:r>
            </a:p>
          </p:txBody>
        </p:sp>
        <p:sp>
          <p:nvSpPr>
            <p:cNvPr id="107" name="フリーフォーム 10">
              <a:extLst>
                <a:ext uri="{FF2B5EF4-FFF2-40B4-BE49-F238E27FC236}">
                  <a16:creationId xmlns:a16="http://schemas.microsoft.com/office/drawing/2014/main" id="{A2382C7C-9E18-A52B-3897-431F85FF7072}"/>
                </a:ext>
              </a:extLst>
            </p:cNvPr>
            <p:cNvSpPr>
              <a:spLocks noChangeArrowheads="1"/>
            </p:cNvSpPr>
            <p:nvPr/>
          </p:nvSpPr>
          <p:spPr bwMode="auto">
            <a:xfrm flipH="1">
              <a:off x="2861981" y="585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solidFill>
              <a:srgbClr val="FAF2F2"/>
            </a:solidFill>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600" dirty="0">
                  <a:solidFill>
                    <a:schemeClr val="tx1">
                      <a:lumMod val="75000"/>
                      <a:lumOff val="25000"/>
                    </a:schemeClr>
                  </a:solidFill>
                  <a:latin typeface="+mn-ea"/>
                </a:rPr>
                <a:t>演算器</a:t>
              </a:r>
            </a:p>
          </p:txBody>
        </p:sp>
        <p:cxnSp>
          <p:nvCxnSpPr>
            <p:cNvPr id="108" name="直線矢印コネクタ 107">
              <a:extLst>
                <a:ext uri="{FF2B5EF4-FFF2-40B4-BE49-F238E27FC236}">
                  <a16:creationId xmlns:a16="http://schemas.microsoft.com/office/drawing/2014/main" id="{1EC7904F-4ABE-9A6B-A885-3C71F0590AEC}"/>
                </a:ext>
              </a:extLst>
            </p:cNvPr>
            <p:cNvCxnSpPr>
              <a:cxnSpLocks/>
            </p:cNvCxnSpPr>
            <p:nvPr/>
          </p:nvCxnSpPr>
          <p:spPr bwMode="auto">
            <a:xfrm>
              <a:off x="4481999" y="4869015"/>
              <a:ext cx="0" cy="197870"/>
            </a:xfrm>
            <a:prstGeom prst="straightConnector1">
              <a:avLst/>
            </a:prstGeom>
            <a:ln w="6350">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09" name="Freeform 10">
              <a:extLst>
                <a:ext uri="{FF2B5EF4-FFF2-40B4-BE49-F238E27FC236}">
                  <a16:creationId xmlns:a16="http://schemas.microsoft.com/office/drawing/2014/main" id="{581EB4D8-8C89-6DC3-10A9-DDBBEFDDD2AC}"/>
                </a:ext>
              </a:extLst>
            </p:cNvPr>
            <p:cNvSpPr>
              <a:spLocks/>
            </p:cNvSpPr>
            <p:nvPr/>
          </p:nvSpPr>
          <p:spPr bwMode="auto">
            <a:xfrm rot="5400000">
              <a:off x="3671989" y="4599013"/>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w="6350">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000"/>
            </a:p>
          </p:txBody>
        </p:sp>
        <p:sp>
          <p:nvSpPr>
            <p:cNvPr id="110" name="フリーフォーム 10">
              <a:extLst>
                <a:ext uri="{FF2B5EF4-FFF2-40B4-BE49-F238E27FC236}">
                  <a16:creationId xmlns:a16="http://schemas.microsoft.com/office/drawing/2014/main" id="{70199A39-99DB-09A4-41FB-CAB3196698D9}"/>
                </a:ext>
              </a:extLst>
            </p:cNvPr>
            <p:cNvSpPr>
              <a:spLocks noChangeArrowheads="1"/>
            </p:cNvSpPr>
            <p:nvPr/>
          </p:nvSpPr>
          <p:spPr bwMode="auto">
            <a:xfrm flipH="1">
              <a:off x="3671990" y="585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solidFill>
              <a:srgbClr val="FAF2F2"/>
            </a:solidFill>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600" dirty="0">
                  <a:solidFill>
                    <a:schemeClr val="tx1">
                      <a:lumMod val="75000"/>
                      <a:lumOff val="25000"/>
                    </a:schemeClr>
                  </a:solidFill>
                  <a:latin typeface="+mn-ea"/>
                </a:rPr>
                <a:t>演算器</a:t>
              </a:r>
            </a:p>
          </p:txBody>
        </p:sp>
        <p:sp>
          <p:nvSpPr>
            <p:cNvPr id="111" name="フリーフォーム 10">
              <a:extLst>
                <a:ext uri="{FF2B5EF4-FFF2-40B4-BE49-F238E27FC236}">
                  <a16:creationId xmlns:a16="http://schemas.microsoft.com/office/drawing/2014/main" id="{8984912E-09BD-5FC4-E83E-28FEDB596B98}"/>
                </a:ext>
              </a:extLst>
            </p:cNvPr>
            <p:cNvSpPr>
              <a:spLocks noChangeArrowheads="1"/>
            </p:cNvSpPr>
            <p:nvPr/>
          </p:nvSpPr>
          <p:spPr bwMode="auto">
            <a:xfrm flipH="1">
              <a:off x="4481999" y="585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solidFill>
              <a:srgbClr val="FAF2F2"/>
            </a:solidFill>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600" dirty="0">
                  <a:solidFill>
                    <a:schemeClr val="tx1">
                      <a:lumMod val="75000"/>
                      <a:lumOff val="25000"/>
                    </a:schemeClr>
                  </a:solidFill>
                  <a:latin typeface="+mn-ea"/>
                </a:rPr>
                <a:t>演算器</a:t>
              </a:r>
            </a:p>
          </p:txBody>
        </p:sp>
        <p:sp>
          <p:nvSpPr>
            <p:cNvPr id="112" name="フリーフォーム 10">
              <a:extLst>
                <a:ext uri="{FF2B5EF4-FFF2-40B4-BE49-F238E27FC236}">
                  <a16:creationId xmlns:a16="http://schemas.microsoft.com/office/drawing/2014/main" id="{24F1532A-D41B-17C0-5B94-6EA8B0CAE770}"/>
                </a:ext>
              </a:extLst>
            </p:cNvPr>
            <p:cNvSpPr>
              <a:spLocks noChangeArrowheads="1"/>
            </p:cNvSpPr>
            <p:nvPr/>
          </p:nvSpPr>
          <p:spPr bwMode="auto">
            <a:xfrm flipH="1">
              <a:off x="5292008" y="585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solidFill>
              <a:srgbClr val="FAF2F2"/>
            </a:solidFill>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600" dirty="0">
                  <a:solidFill>
                    <a:schemeClr val="tx1">
                      <a:lumMod val="75000"/>
                      <a:lumOff val="25000"/>
                    </a:schemeClr>
                  </a:solidFill>
                  <a:latin typeface="+mn-ea"/>
                </a:rPr>
                <a:t>演算器</a:t>
              </a:r>
            </a:p>
          </p:txBody>
        </p:sp>
        <p:sp>
          <p:nvSpPr>
            <p:cNvPr id="113" name="Freeform 10">
              <a:extLst>
                <a:ext uri="{FF2B5EF4-FFF2-40B4-BE49-F238E27FC236}">
                  <a16:creationId xmlns:a16="http://schemas.microsoft.com/office/drawing/2014/main" id="{69EF0D9A-4EF0-2699-0ACD-4A24A81DFCAF}"/>
                </a:ext>
              </a:extLst>
            </p:cNvPr>
            <p:cNvSpPr>
              <a:spLocks/>
            </p:cNvSpPr>
            <p:nvPr/>
          </p:nvSpPr>
          <p:spPr bwMode="auto">
            <a:xfrm rot="5400000">
              <a:off x="4076996" y="5004017"/>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w="6350">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000"/>
            </a:p>
          </p:txBody>
        </p:sp>
        <p:sp>
          <p:nvSpPr>
            <p:cNvPr id="114" name="Freeform 10">
              <a:extLst>
                <a:ext uri="{FF2B5EF4-FFF2-40B4-BE49-F238E27FC236}">
                  <a16:creationId xmlns:a16="http://schemas.microsoft.com/office/drawing/2014/main" id="{AD6235C5-F0B0-C93D-E099-433A6EFF396F}"/>
                </a:ext>
              </a:extLst>
            </p:cNvPr>
            <p:cNvSpPr>
              <a:spLocks/>
            </p:cNvSpPr>
            <p:nvPr/>
          </p:nvSpPr>
          <p:spPr bwMode="auto">
            <a:xfrm rot="5400000" flipV="1">
              <a:off x="4482002" y="4869015"/>
              <a:ext cx="180000" cy="54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w="6350">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000"/>
            </a:p>
          </p:txBody>
        </p:sp>
        <p:sp>
          <p:nvSpPr>
            <p:cNvPr id="115" name="Freeform 10">
              <a:extLst>
                <a:ext uri="{FF2B5EF4-FFF2-40B4-BE49-F238E27FC236}">
                  <a16:creationId xmlns:a16="http://schemas.microsoft.com/office/drawing/2014/main" id="{09BFF8B0-342D-77E7-4D00-EF7DCE9854C3}"/>
                </a:ext>
              </a:extLst>
            </p:cNvPr>
            <p:cNvSpPr>
              <a:spLocks/>
            </p:cNvSpPr>
            <p:nvPr/>
          </p:nvSpPr>
          <p:spPr bwMode="auto">
            <a:xfrm rot="5400000" flipV="1">
              <a:off x="5112007" y="4689014"/>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w="6350">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000"/>
            </a:p>
          </p:txBody>
        </p:sp>
        <p:sp>
          <p:nvSpPr>
            <p:cNvPr id="116" name="正方形/長方形 115">
              <a:extLst>
                <a:ext uri="{FF2B5EF4-FFF2-40B4-BE49-F238E27FC236}">
                  <a16:creationId xmlns:a16="http://schemas.microsoft.com/office/drawing/2014/main" id="{70EF70F9-9E66-CEEF-0242-97087C1583FC}"/>
                </a:ext>
              </a:extLst>
            </p:cNvPr>
            <p:cNvSpPr/>
            <p:nvPr/>
          </p:nvSpPr>
          <p:spPr bwMode="auto">
            <a:xfrm>
              <a:off x="2861981" y="5229020"/>
              <a:ext cx="720008" cy="360004"/>
            </a:xfrm>
            <a:prstGeom prst="rect">
              <a:avLst/>
            </a:prstGeom>
            <a:solidFill>
              <a:srgbClr val="FAF2F2"/>
            </a:solidFill>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700" dirty="0">
                  <a:solidFill>
                    <a:schemeClr val="tx1">
                      <a:lumMod val="75000"/>
                      <a:lumOff val="25000"/>
                    </a:schemeClr>
                  </a:solidFill>
                  <a:latin typeface="+mn-ea"/>
                </a:rPr>
                <a:t>レジスタ</a:t>
              </a:r>
            </a:p>
          </p:txBody>
        </p:sp>
        <p:sp>
          <p:nvSpPr>
            <p:cNvPr id="117" name="正方形/長方形 116">
              <a:extLst>
                <a:ext uri="{FF2B5EF4-FFF2-40B4-BE49-F238E27FC236}">
                  <a16:creationId xmlns:a16="http://schemas.microsoft.com/office/drawing/2014/main" id="{19736586-C37A-D2CD-143F-804BBB8110C6}"/>
                </a:ext>
              </a:extLst>
            </p:cNvPr>
            <p:cNvSpPr/>
            <p:nvPr/>
          </p:nvSpPr>
          <p:spPr bwMode="auto">
            <a:xfrm>
              <a:off x="3671990" y="5229020"/>
              <a:ext cx="720008" cy="360004"/>
            </a:xfrm>
            <a:prstGeom prst="rect">
              <a:avLst/>
            </a:prstGeom>
            <a:solidFill>
              <a:srgbClr val="FAF2F2"/>
            </a:solidFill>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700" dirty="0">
                  <a:solidFill>
                    <a:schemeClr val="tx1">
                      <a:lumMod val="75000"/>
                      <a:lumOff val="25000"/>
                    </a:schemeClr>
                  </a:solidFill>
                  <a:latin typeface="+mn-ea"/>
                </a:rPr>
                <a:t>レジスタ</a:t>
              </a:r>
            </a:p>
          </p:txBody>
        </p:sp>
        <p:sp>
          <p:nvSpPr>
            <p:cNvPr id="118" name="正方形/長方形 117">
              <a:extLst>
                <a:ext uri="{FF2B5EF4-FFF2-40B4-BE49-F238E27FC236}">
                  <a16:creationId xmlns:a16="http://schemas.microsoft.com/office/drawing/2014/main" id="{E174300C-1D15-3A8B-7B3B-17643E9195E4}"/>
                </a:ext>
              </a:extLst>
            </p:cNvPr>
            <p:cNvSpPr/>
            <p:nvPr/>
          </p:nvSpPr>
          <p:spPr bwMode="auto">
            <a:xfrm>
              <a:off x="4481999" y="5229020"/>
              <a:ext cx="720008" cy="360004"/>
            </a:xfrm>
            <a:prstGeom prst="rect">
              <a:avLst/>
            </a:prstGeom>
            <a:solidFill>
              <a:srgbClr val="FAF2F2"/>
            </a:solidFill>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700" dirty="0">
                  <a:solidFill>
                    <a:schemeClr val="tx1">
                      <a:lumMod val="75000"/>
                      <a:lumOff val="25000"/>
                    </a:schemeClr>
                  </a:solidFill>
                  <a:latin typeface="+mn-ea"/>
                </a:rPr>
                <a:t>レジスタ</a:t>
              </a:r>
            </a:p>
          </p:txBody>
        </p:sp>
        <p:sp>
          <p:nvSpPr>
            <p:cNvPr id="119" name="正方形/長方形 118">
              <a:extLst>
                <a:ext uri="{FF2B5EF4-FFF2-40B4-BE49-F238E27FC236}">
                  <a16:creationId xmlns:a16="http://schemas.microsoft.com/office/drawing/2014/main" id="{B6C9A626-78EF-33C6-8F8A-0074A6CAE8A5}"/>
                </a:ext>
              </a:extLst>
            </p:cNvPr>
            <p:cNvSpPr/>
            <p:nvPr/>
          </p:nvSpPr>
          <p:spPr bwMode="auto">
            <a:xfrm>
              <a:off x="5292008" y="5229020"/>
              <a:ext cx="720008" cy="360004"/>
            </a:xfrm>
            <a:prstGeom prst="rect">
              <a:avLst/>
            </a:prstGeom>
            <a:solidFill>
              <a:srgbClr val="FAF2F2"/>
            </a:solidFill>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700" dirty="0">
                  <a:solidFill>
                    <a:schemeClr val="tx1">
                      <a:lumMod val="75000"/>
                      <a:lumOff val="25000"/>
                    </a:schemeClr>
                  </a:solidFill>
                  <a:latin typeface="+mn-ea"/>
                </a:rPr>
                <a:t>レジスタ</a:t>
              </a:r>
            </a:p>
          </p:txBody>
        </p:sp>
        <p:cxnSp>
          <p:nvCxnSpPr>
            <p:cNvPr id="120" name="直線矢印コネクタ 119">
              <a:extLst>
                <a:ext uri="{FF2B5EF4-FFF2-40B4-BE49-F238E27FC236}">
                  <a16:creationId xmlns:a16="http://schemas.microsoft.com/office/drawing/2014/main" id="{1C373DFF-CB66-9578-A6D4-810A5D558F83}"/>
                </a:ext>
              </a:extLst>
            </p:cNvPr>
            <p:cNvCxnSpPr>
              <a:cxnSpLocks/>
              <a:stCxn id="116" idx="2"/>
            </p:cNvCxnSpPr>
            <p:nvPr/>
          </p:nvCxnSpPr>
          <p:spPr bwMode="auto">
            <a:xfrm>
              <a:off x="3221985" y="5589024"/>
              <a:ext cx="0" cy="287871"/>
            </a:xfrm>
            <a:prstGeom prst="straightConnector1">
              <a:avLst/>
            </a:prstGeom>
            <a:ln w="6350">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121" name="直線矢印コネクタ 120">
              <a:extLst>
                <a:ext uri="{FF2B5EF4-FFF2-40B4-BE49-F238E27FC236}">
                  <a16:creationId xmlns:a16="http://schemas.microsoft.com/office/drawing/2014/main" id="{9534D715-F3C9-6DBA-E1BA-752126466AED}"/>
                </a:ext>
              </a:extLst>
            </p:cNvPr>
            <p:cNvCxnSpPr>
              <a:cxnSpLocks/>
            </p:cNvCxnSpPr>
            <p:nvPr/>
          </p:nvCxnSpPr>
          <p:spPr bwMode="auto">
            <a:xfrm>
              <a:off x="4031994" y="5589024"/>
              <a:ext cx="0" cy="287871"/>
            </a:xfrm>
            <a:prstGeom prst="straightConnector1">
              <a:avLst/>
            </a:prstGeom>
            <a:ln w="6350">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122" name="直線矢印コネクタ 121">
              <a:extLst>
                <a:ext uri="{FF2B5EF4-FFF2-40B4-BE49-F238E27FC236}">
                  <a16:creationId xmlns:a16="http://schemas.microsoft.com/office/drawing/2014/main" id="{0BD764BF-ABFB-1C01-2AA3-0F1E5F8FE58E}"/>
                </a:ext>
              </a:extLst>
            </p:cNvPr>
            <p:cNvCxnSpPr>
              <a:cxnSpLocks/>
            </p:cNvCxnSpPr>
            <p:nvPr/>
          </p:nvCxnSpPr>
          <p:spPr bwMode="auto">
            <a:xfrm>
              <a:off x="4842003" y="5589024"/>
              <a:ext cx="0" cy="287871"/>
            </a:xfrm>
            <a:prstGeom prst="straightConnector1">
              <a:avLst/>
            </a:prstGeom>
            <a:ln w="6350">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123" name="直線矢印コネクタ 122">
              <a:extLst>
                <a:ext uri="{FF2B5EF4-FFF2-40B4-BE49-F238E27FC236}">
                  <a16:creationId xmlns:a16="http://schemas.microsoft.com/office/drawing/2014/main" id="{C297DE25-0DDD-688D-9199-2912BA6DB5C8}"/>
                </a:ext>
              </a:extLst>
            </p:cNvPr>
            <p:cNvCxnSpPr>
              <a:cxnSpLocks/>
            </p:cNvCxnSpPr>
            <p:nvPr/>
          </p:nvCxnSpPr>
          <p:spPr bwMode="auto">
            <a:xfrm>
              <a:off x="5652012" y="5589024"/>
              <a:ext cx="0" cy="287871"/>
            </a:xfrm>
            <a:prstGeom prst="straightConnector1">
              <a:avLst/>
            </a:prstGeom>
            <a:ln w="6350">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grpSp>
      <p:sp>
        <p:nvSpPr>
          <p:cNvPr id="126" name="正方形/長方形 125">
            <a:extLst>
              <a:ext uri="{FF2B5EF4-FFF2-40B4-BE49-F238E27FC236}">
                <a16:creationId xmlns:a16="http://schemas.microsoft.com/office/drawing/2014/main" id="{A222387C-BE56-4695-8D44-5E27DCFE3D06}"/>
              </a:ext>
            </a:extLst>
          </p:cNvPr>
          <p:cNvSpPr/>
          <p:nvPr/>
        </p:nvSpPr>
        <p:spPr bwMode="auto">
          <a:xfrm>
            <a:off x="9066034" y="1358978"/>
            <a:ext cx="990011" cy="450005"/>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Software</a:t>
            </a:r>
            <a:endParaRPr lang="ja-JP" altLang="en-US" sz="1600" dirty="0">
              <a:solidFill>
                <a:schemeClr val="tx1">
                  <a:lumMod val="75000"/>
                  <a:lumOff val="25000"/>
                </a:schemeClr>
              </a:solidFill>
              <a:latin typeface="+mn-ea"/>
            </a:endParaRPr>
          </a:p>
        </p:txBody>
      </p:sp>
    </p:spTree>
    <p:extLst>
      <p:ext uri="{BB962C8B-B14F-4D97-AF65-F5344CB8AC3E}">
        <p14:creationId xmlns:p14="http://schemas.microsoft.com/office/powerpoint/2010/main" val="276378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35F9EE-CB9C-AC80-CE9C-5A6857C9232C}"/>
              </a:ext>
            </a:extLst>
          </p:cNvPr>
          <p:cNvSpPr>
            <a:spLocks noGrp="1"/>
          </p:cNvSpPr>
          <p:nvPr>
            <p:ph type="title"/>
          </p:nvPr>
        </p:nvSpPr>
        <p:spPr/>
        <p:txBody>
          <a:bodyPr/>
          <a:lstStyle/>
          <a:p>
            <a:r>
              <a:rPr kumimoji="1" lang="ja-JP" altLang="en-US" dirty="0"/>
              <a:t>カレー屋さんにおける </a:t>
            </a:r>
            <a:r>
              <a:rPr kumimoji="1" lang="en-US" altLang="ja-JP" dirty="0"/>
              <a:t>SIMD </a:t>
            </a:r>
            <a:r>
              <a:rPr kumimoji="1" lang="ja-JP" altLang="en-US" dirty="0"/>
              <a:t>命令と </a:t>
            </a:r>
            <a:r>
              <a:rPr kumimoji="1" lang="en-US" altLang="ja-JP" dirty="0"/>
              <a:t>SIMT</a:t>
            </a:r>
            <a:endParaRPr kumimoji="1" lang="ja-JP" altLang="en-US" dirty="0"/>
          </a:p>
        </p:txBody>
      </p:sp>
      <p:sp>
        <p:nvSpPr>
          <p:cNvPr id="3" name="テキスト プレースホルダー 2">
            <a:extLst>
              <a:ext uri="{FF2B5EF4-FFF2-40B4-BE49-F238E27FC236}">
                <a16:creationId xmlns:a16="http://schemas.microsoft.com/office/drawing/2014/main" id="{52D011F1-3631-DDD0-B632-D353F8053783}"/>
              </a:ext>
            </a:extLst>
          </p:cNvPr>
          <p:cNvSpPr>
            <a:spLocks noGrp="1"/>
          </p:cNvSpPr>
          <p:nvPr>
            <p:ph type="body" sz="quarter" idx="10"/>
          </p:nvPr>
        </p:nvSpPr>
        <p:spPr>
          <a:xfrm>
            <a:off x="6276002" y="5949028"/>
            <a:ext cx="4140046" cy="630007"/>
          </a:xfrm>
        </p:spPr>
        <p:txBody>
          <a:bodyPr/>
          <a:lstStyle/>
          <a:p>
            <a:pPr marL="0" indent="0">
              <a:buNone/>
            </a:pPr>
            <a:r>
              <a:rPr kumimoji="1" lang="ja-JP" altLang="en-US" sz="1400" dirty="0"/>
              <a:t>同じところを処理している場合に，指示を</a:t>
            </a:r>
            <a:br>
              <a:rPr kumimoji="1" lang="en-US" altLang="ja-JP" sz="1400" dirty="0"/>
            </a:br>
            <a:r>
              <a:rPr kumimoji="1" lang="ja-JP" altLang="en-US" sz="1400" dirty="0"/>
              <a:t>ブロードキャストするのが </a:t>
            </a:r>
            <a:r>
              <a:rPr kumimoji="1" lang="en-US" altLang="ja-JP" sz="1400" dirty="0"/>
              <a:t>SIMT</a:t>
            </a:r>
            <a:r>
              <a:rPr kumimoji="1" lang="ja-JP" altLang="en-US" sz="1400" dirty="0"/>
              <a:t>．</a:t>
            </a:r>
            <a:br>
              <a:rPr lang="en-US" altLang="ja-JP" sz="1400" dirty="0"/>
            </a:br>
            <a:r>
              <a:rPr lang="ja-JP" altLang="en-US" sz="1400" dirty="0"/>
              <a:t>ハードの形としては </a:t>
            </a:r>
            <a:r>
              <a:rPr lang="en-US" altLang="ja-JP" sz="1400" dirty="0"/>
              <a:t>SIMD </a:t>
            </a:r>
            <a:r>
              <a:rPr lang="ja-JP" altLang="en-US" sz="1400" dirty="0"/>
              <a:t>ハードウェアであり，</a:t>
            </a:r>
            <a:br>
              <a:rPr lang="en-US" altLang="ja-JP" sz="1400" dirty="0"/>
            </a:br>
            <a:r>
              <a:rPr lang="ja-JP" altLang="en-US" sz="1400" dirty="0"/>
              <a:t>この方式のことを</a:t>
            </a:r>
            <a:r>
              <a:rPr lang="en-US" altLang="ja-JP" sz="1400" dirty="0"/>
              <a:t> SIMT </a:t>
            </a:r>
            <a:r>
              <a:rPr lang="ja-JP" altLang="en-US" sz="1400" dirty="0"/>
              <a:t>と言う．</a:t>
            </a:r>
            <a:endParaRPr kumimoji="1" lang="ja-JP" altLang="en-US" sz="1400" dirty="0"/>
          </a:p>
        </p:txBody>
      </p:sp>
      <p:sp>
        <p:nvSpPr>
          <p:cNvPr id="4" name="平行四辺形 3">
            <a:extLst>
              <a:ext uri="{FF2B5EF4-FFF2-40B4-BE49-F238E27FC236}">
                <a16:creationId xmlns:a16="http://schemas.microsoft.com/office/drawing/2014/main" id="{4C69D315-BC1D-A7AD-6EDA-063C15720E1E}"/>
              </a:ext>
            </a:extLst>
          </p:cNvPr>
          <p:cNvSpPr/>
          <p:nvPr/>
        </p:nvSpPr>
        <p:spPr bwMode="auto">
          <a:xfrm>
            <a:off x="2225957" y="4149008"/>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 name="正方形/長方形 4">
            <a:extLst>
              <a:ext uri="{FF2B5EF4-FFF2-40B4-BE49-F238E27FC236}">
                <a16:creationId xmlns:a16="http://schemas.microsoft.com/office/drawing/2014/main" id="{5CCF9D13-6F45-C158-4BA1-C820A9548D46}"/>
              </a:ext>
            </a:extLst>
          </p:cNvPr>
          <p:cNvSpPr/>
          <p:nvPr/>
        </p:nvSpPr>
        <p:spPr>
          <a:xfrm>
            <a:off x="2675962" y="3338999"/>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 name="平行四辺形 5">
            <a:extLst>
              <a:ext uri="{FF2B5EF4-FFF2-40B4-BE49-F238E27FC236}">
                <a16:creationId xmlns:a16="http://schemas.microsoft.com/office/drawing/2014/main" id="{35D563B5-FD56-FACD-CE80-E80A2DF0976A}"/>
              </a:ext>
            </a:extLst>
          </p:cNvPr>
          <p:cNvSpPr/>
          <p:nvPr/>
        </p:nvSpPr>
        <p:spPr bwMode="auto">
          <a:xfrm>
            <a:off x="3845975" y="3519001"/>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 name="正方形/長方形 6">
            <a:extLst>
              <a:ext uri="{FF2B5EF4-FFF2-40B4-BE49-F238E27FC236}">
                <a16:creationId xmlns:a16="http://schemas.microsoft.com/office/drawing/2014/main" id="{4C8FE50C-49DB-6011-3F78-AC2F21BA26E2}"/>
              </a:ext>
            </a:extLst>
          </p:cNvPr>
          <p:cNvSpPr/>
          <p:nvPr/>
        </p:nvSpPr>
        <p:spPr>
          <a:xfrm>
            <a:off x="4205979" y="2708992"/>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8" name="角丸四角形吹き出し 44">
            <a:extLst>
              <a:ext uri="{FF2B5EF4-FFF2-40B4-BE49-F238E27FC236}">
                <a16:creationId xmlns:a16="http://schemas.microsoft.com/office/drawing/2014/main" id="{7418B6DF-E755-9B79-2A45-04EE9CC6B030}"/>
              </a:ext>
            </a:extLst>
          </p:cNvPr>
          <p:cNvSpPr/>
          <p:nvPr/>
        </p:nvSpPr>
        <p:spPr bwMode="auto">
          <a:xfrm>
            <a:off x="3125967" y="2528990"/>
            <a:ext cx="990011" cy="522648"/>
          </a:xfrm>
          <a:prstGeom prst="wedgeRoundRectCallout">
            <a:avLst>
              <a:gd name="adj1" fmla="val -32299"/>
              <a:gd name="adj2" fmla="val 154333"/>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炒め</a:t>
            </a:r>
            <a:r>
              <a:rPr lang="ja-JP" altLang="en-US" sz="1400" dirty="0">
                <a:solidFill>
                  <a:schemeClr val="accent5"/>
                </a:solidFill>
                <a:latin typeface="Arial Narrow" panose="020B0606020202030204" pitchFamily="34" charset="0"/>
              </a:rPr>
              <a:t>３つ</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たのむで！</a:t>
            </a:r>
          </a:p>
        </p:txBody>
      </p:sp>
      <p:sp>
        <p:nvSpPr>
          <p:cNvPr id="10" name="平行四辺形 9">
            <a:extLst>
              <a:ext uri="{FF2B5EF4-FFF2-40B4-BE49-F238E27FC236}">
                <a16:creationId xmlns:a16="http://schemas.microsoft.com/office/drawing/2014/main" id="{ACCCC2B8-6ACA-BAEF-032A-0306C65065CF}"/>
              </a:ext>
            </a:extLst>
          </p:cNvPr>
          <p:cNvSpPr/>
          <p:nvPr/>
        </p:nvSpPr>
        <p:spPr bwMode="auto">
          <a:xfrm>
            <a:off x="3845975" y="4149008"/>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1" name="平行四辺形 10">
            <a:extLst>
              <a:ext uri="{FF2B5EF4-FFF2-40B4-BE49-F238E27FC236}">
                <a16:creationId xmlns:a16="http://schemas.microsoft.com/office/drawing/2014/main" id="{9A102087-3193-5F36-C1F0-B0A533247D4F}"/>
              </a:ext>
            </a:extLst>
          </p:cNvPr>
          <p:cNvSpPr/>
          <p:nvPr/>
        </p:nvSpPr>
        <p:spPr bwMode="auto">
          <a:xfrm>
            <a:off x="3755974" y="4787977"/>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cxnSp>
        <p:nvCxnSpPr>
          <p:cNvPr id="12" name="直線矢印コネクタ 11">
            <a:extLst>
              <a:ext uri="{FF2B5EF4-FFF2-40B4-BE49-F238E27FC236}">
                <a16:creationId xmlns:a16="http://schemas.microsoft.com/office/drawing/2014/main" id="{C5EDE7F5-A62E-A3DE-61F1-27AC7DDFE5BF}"/>
              </a:ext>
            </a:extLst>
          </p:cNvPr>
          <p:cNvCxnSpPr>
            <a:cxnSpLocks/>
          </p:cNvCxnSpPr>
          <p:nvPr/>
        </p:nvCxnSpPr>
        <p:spPr bwMode="auto">
          <a:xfrm flipV="1">
            <a:off x="3575972" y="3789004"/>
            <a:ext cx="540006" cy="450005"/>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3" name="直線矢印コネクタ 12">
            <a:extLst>
              <a:ext uri="{FF2B5EF4-FFF2-40B4-BE49-F238E27FC236}">
                <a16:creationId xmlns:a16="http://schemas.microsoft.com/office/drawing/2014/main" id="{54F25BDF-71AA-9717-3423-7E4A1EC2D806}"/>
              </a:ext>
            </a:extLst>
          </p:cNvPr>
          <p:cNvCxnSpPr>
            <a:cxnSpLocks/>
          </p:cNvCxnSpPr>
          <p:nvPr/>
        </p:nvCxnSpPr>
        <p:spPr bwMode="auto">
          <a:xfrm>
            <a:off x="3575972" y="4419011"/>
            <a:ext cx="540006" cy="0"/>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4" name="直線矢印コネクタ 13">
            <a:extLst>
              <a:ext uri="{FF2B5EF4-FFF2-40B4-BE49-F238E27FC236}">
                <a16:creationId xmlns:a16="http://schemas.microsoft.com/office/drawing/2014/main" id="{041E3F43-1F8A-10DB-3ADC-4310EB7C0A5D}"/>
              </a:ext>
            </a:extLst>
          </p:cNvPr>
          <p:cNvCxnSpPr>
            <a:cxnSpLocks/>
          </p:cNvCxnSpPr>
          <p:nvPr/>
        </p:nvCxnSpPr>
        <p:spPr bwMode="auto">
          <a:xfrm>
            <a:off x="3575972" y="4509012"/>
            <a:ext cx="540006" cy="540006"/>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16" name="正方形/長方形 15">
            <a:extLst>
              <a:ext uri="{FF2B5EF4-FFF2-40B4-BE49-F238E27FC236}">
                <a16:creationId xmlns:a16="http://schemas.microsoft.com/office/drawing/2014/main" id="{0B1F9AD1-B025-E71D-D6C1-D73F9BBB026A}"/>
              </a:ext>
            </a:extLst>
          </p:cNvPr>
          <p:cNvSpPr/>
          <p:nvPr/>
        </p:nvSpPr>
        <p:spPr bwMode="auto">
          <a:xfrm>
            <a:off x="2405959" y="468901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5"/>
                </a:solidFill>
                <a:latin typeface="+mn-ea"/>
              </a:rPr>
              <a:t>SIMD </a:t>
            </a:r>
            <a:r>
              <a:rPr lang="ja-JP" altLang="en-US" sz="1600" dirty="0">
                <a:solidFill>
                  <a:schemeClr val="accent5"/>
                </a:solidFill>
                <a:latin typeface="+mn-ea"/>
              </a:rPr>
              <a:t>命令</a:t>
            </a:r>
          </a:p>
        </p:txBody>
      </p:sp>
      <p:sp>
        <p:nvSpPr>
          <p:cNvPr id="17" name="正方形/長方形 16">
            <a:extLst>
              <a:ext uri="{FF2B5EF4-FFF2-40B4-BE49-F238E27FC236}">
                <a16:creationId xmlns:a16="http://schemas.microsoft.com/office/drawing/2014/main" id="{198C0994-04FA-A9F0-93C6-2C9586B9A327}"/>
              </a:ext>
            </a:extLst>
          </p:cNvPr>
          <p:cNvSpPr/>
          <p:nvPr/>
        </p:nvSpPr>
        <p:spPr bwMode="auto">
          <a:xfrm>
            <a:off x="2765963" y="5409022"/>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5"/>
                </a:solidFill>
                <a:latin typeface="+mn-ea"/>
              </a:rPr>
              <a:t>SIMD </a:t>
            </a:r>
            <a:r>
              <a:rPr lang="ja-JP" altLang="en-US" sz="1600" dirty="0">
                <a:solidFill>
                  <a:schemeClr val="accent5"/>
                </a:solidFill>
                <a:latin typeface="+mn-ea"/>
              </a:rPr>
              <a:t>ハードウェア</a:t>
            </a:r>
          </a:p>
        </p:txBody>
      </p:sp>
      <p:sp>
        <p:nvSpPr>
          <p:cNvPr id="18" name="正方形/長方形 17">
            <a:extLst>
              <a:ext uri="{FF2B5EF4-FFF2-40B4-BE49-F238E27FC236}">
                <a16:creationId xmlns:a16="http://schemas.microsoft.com/office/drawing/2014/main" id="{FC41180A-5A4F-3047-C21A-E2EA09A133CB}"/>
              </a:ext>
            </a:extLst>
          </p:cNvPr>
          <p:cNvSpPr/>
          <p:nvPr/>
        </p:nvSpPr>
        <p:spPr bwMode="auto">
          <a:xfrm>
            <a:off x="515937" y="3429000"/>
            <a:ext cx="1710019" cy="1710019"/>
          </a:xfrm>
          <a:prstGeom prst="rect">
            <a:avLst/>
          </a:prstGeom>
          <a:solidFill>
            <a:schemeClr val="bg1"/>
          </a:solidFill>
          <a:ln>
            <a:solidFill>
              <a:schemeClr val="accent4"/>
            </a:solidFill>
            <a:headEnd/>
            <a:tailEnd type="none" w="sm" len="med"/>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en-US" altLang="ja-JP" sz="1400" dirty="0">
                <a:solidFill>
                  <a:schemeClr val="accent4"/>
                </a:solidFill>
                <a:latin typeface="Arial Narrow" panose="020B0606020202030204" pitchFamily="34" charset="0"/>
              </a:rPr>
              <a:t>1. </a:t>
            </a:r>
            <a:r>
              <a:rPr lang="ja-JP" altLang="en-US" sz="1400" dirty="0">
                <a:solidFill>
                  <a:schemeClr val="accent4"/>
                </a:solidFill>
                <a:latin typeface="Arial Narrow" panose="020B0606020202030204" pitchFamily="34" charset="0"/>
              </a:rPr>
              <a:t>人参を３つ切る</a:t>
            </a:r>
            <a:endParaRPr lang="en-US" altLang="ja-JP" sz="1400" dirty="0">
              <a:solidFill>
                <a:schemeClr val="accent4"/>
              </a:solidFill>
              <a:latin typeface="Arial Narrow" panose="020B0606020202030204" pitchFamily="34" charset="0"/>
            </a:endParaRPr>
          </a:p>
          <a:p>
            <a:r>
              <a:rPr lang="en-US" altLang="ja-JP" sz="1400" dirty="0">
                <a:solidFill>
                  <a:schemeClr val="accent4"/>
                </a:solidFill>
                <a:latin typeface="Arial Narrow" panose="020B0606020202030204" pitchFamily="34" charset="0"/>
              </a:rPr>
              <a:t>2. </a:t>
            </a:r>
            <a:r>
              <a:rPr lang="ja-JP" altLang="en-US" sz="1400" dirty="0">
                <a:solidFill>
                  <a:schemeClr val="accent4"/>
                </a:solidFill>
                <a:latin typeface="Arial Narrow" panose="020B0606020202030204" pitchFamily="34" charset="0"/>
              </a:rPr>
              <a:t>玉葱を３つ切る</a:t>
            </a:r>
            <a:endParaRPr lang="en-US" altLang="ja-JP" sz="1400" dirty="0">
              <a:solidFill>
                <a:schemeClr val="accent4"/>
              </a:solidFill>
              <a:latin typeface="Arial Narrow" panose="020B0606020202030204" pitchFamily="34" charset="0"/>
            </a:endParaRPr>
          </a:p>
          <a:p>
            <a:r>
              <a:rPr lang="en-US" altLang="ja-JP" sz="1400" dirty="0">
                <a:solidFill>
                  <a:schemeClr val="accent4"/>
                </a:solidFill>
                <a:latin typeface="Arial Narrow" panose="020B0606020202030204" pitchFamily="34" charset="0"/>
              </a:rPr>
              <a:t>3. </a:t>
            </a:r>
            <a:r>
              <a:rPr lang="ja-JP" altLang="en-US" sz="1400" dirty="0">
                <a:solidFill>
                  <a:schemeClr val="accent4"/>
                </a:solidFill>
                <a:latin typeface="Arial Narrow" panose="020B0606020202030204" pitchFamily="34" charset="0"/>
              </a:rPr>
              <a:t>肉を３つ切る</a:t>
            </a:r>
            <a:endParaRPr lang="en-US" altLang="ja-JP" sz="1400" dirty="0">
              <a:solidFill>
                <a:schemeClr val="accent4"/>
              </a:solidFill>
              <a:latin typeface="Arial Narrow" panose="020B0606020202030204" pitchFamily="34" charset="0"/>
            </a:endParaRPr>
          </a:p>
          <a:p>
            <a:r>
              <a:rPr lang="en-US" altLang="ja-JP" sz="1400" dirty="0">
                <a:solidFill>
                  <a:schemeClr val="accent4"/>
                </a:solidFill>
                <a:latin typeface="Arial Narrow" panose="020B0606020202030204" pitchFamily="34" charset="0"/>
              </a:rPr>
              <a:t>4. </a:t>
            </a:r>
            <a:r>
              <a:rPr lang="ja-JP" altLang="en-US" sz="1400" dirty="0">
                <a:solidFill>
                  <a:schemeClr val="accent4"/>
                </a:solidFill>
                <a:latin typeface="Arial Narrow" panose="020B0606020202030204" pitchFamily="34" charset="0"/>
              </a:rPr>
              <a:t>芋を３つ切る</a:t>
            </a:r>
            <a:endParaRPr lang="en-US" altLang="ja-JP" sz="1400" dirty="0">
              <a:solidFill>
                <a:schemeClr val="accent4"/>
              </a:solidFill>
              <a:latin typeface="Arial Narrow" panose="020B0606020202030204" pitchFamily="34" charset="0"/>
            </a:endParaRPr>
          </a:p>
          <a:p>
            <a:r>
              <a:rPr lang="en-US" altLang="ja-JP" sz="1400" dirty="0">
                <a:solidFill>
                  <a:schemeClr val="accent4"/>
                </a:solidFill>
                <a:latin typeface="Arial Narrow" panose="020B0606020202030204" pitchFamily="34" charset="0"/>
              </a:rPr>
              <a:t>5. </a:t>
            </a:r>
            <a:r>
              <a:rPr lang="ja-JP" altLang="en-US" sz="1400" dirty="0">
                <a:solidFill>
                  <a:schemeClr val="accent4"/>
                </a:solidFill>
                <a:latin typeface="Arial Narrow" panose="020B0606020202030204" pitchFamily="34" charset="0"/>
              </a:rPr>
              <a:t>玉葱３つ炒める</a:t>
            </a:r>
          </a:p>
        </p:txBody>
      </p:sp>
      <p:cxnSp>
        <p:nvCxnSpPr>
          <p:cNvPr id="33" name="直線矢印コネクタ 32">
            <a:extLst>
              <a:ext uri="{FF2B5EF4-FFF2-40B4-BE49-F238E27FC236}">
                <a16:creationId xmlns:a16="http://schemas.microsoft.com/office/drawing/2014/main" id="{F08E1928-FC0F-8934-4387-E8C6746277F4}"/>
              </a:ext>
            </a:extLst>
          </p:cNvPr>
          <p:cNvCxnSpPr>
            <a:cxnSpLocks/>
          </p:cNvCxnSpPr>
          <p:nvPr/>
        </p:nvCxnSpPr>
        <p:spPr bwMode="auto">
          <a:xfrm>
            <a:off x="245935" y="4419011"/>
            <a:ext cx="360004" cy="0"/>
          </a:xfrm>
          <a:prstGeom prst="straightConnector1">
            <a:avLst/>
          </a:prstGeom>
          <a:ln w="76200">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37" name="正方形/長方形 36">
            <a:extLst>
              <a:ext uri="{FF2B5EF4-FFF2-40B4-BE49-F238E27FC236}">
                <a16:creationId xmlns:a16="http://schemas.microsoft.com/office/drawing/2014/main" id="{B5AEE07E-8044-20FD-09F4-8FD04920CAD7}"/>
              </a:ext>
            </a:extLst>
          </p:cNvPr>
          <p:cNvSpPr/>
          <p:nvPr/>
        </p:nvSpPr>
        <p:spPr bwMode="auto">
          <a:xfrm>
            <a:off x="204918" y="4509012"/>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5"/>
                </a:solidFill>
                <a:latin typeface="+mn-ea"/>
              </a:rPr>
              <a:t>PC</a:t>
            </a:r>
            <a:r>
              <a:rPr lang="ja-JP" altLang="en-US" sz="1600" dirty="0">
                <a:solidFill>
                  <a:schemeClr val="accent5"/>
                </a:solidFill>
                <a:latin typeface="+mn-ea"/>
              </a:rPr>
              <a:t> </a:t>
            </a:r>
            <a:r>
              <a:rPr lang="en-US" altLang="ja-JP" sz="1600" dirty="0">
                <a:solidFill>
                  <a:schemeClr val="accent5"/>
                </a:solidFill>
                <a:latin typeface="+mn-ea"/>
              </a:rPr>
              <a:t>x1</a:t>
            </a:r>
            <a:endParaRPr lang="ja-JP" altLang="en-US" sz="1600" dirty="0">
              <a:solidFill>
                <a:schemeClr val="accent5"/>
              </a:solidFill>
              <a:latin typeface="+mn-ea"/>
            </a:endParaRPr>
          </a:p>
        </p:txBody>
      </p:sp>
      <p:sp>
        <p:nvSpPr>
          <p:cNvPr id="40" name="角丸四角形 46">
            <a:extLst>
              <a:ext uri="{FF2B5EF4-FFF2-40B4-BE49-F238E27FC236}">
                <a16:creationId xmlns:a16="http://schemas.microsoft.com/office/drawing/2014/main" id="{A4053000-45AC-C0CB-DE80-25EA267C6F32}"/>
              </a:ext>
            </a:extLst>
          </p:cNvPr>
          <p:cNvSpPr/>
          <p:nvPr/>
        </p:nvSpPr>
        <p:spPr bwMode="auto">
          <a:xfrm>
            <a:off x="2585961" y="4059007"/>
            <a:ext cx="720008" cy="360004"/>
          </a:xfrm>
          <a:prstGeom prst="roundRect">
            <a:avLst/>
          </a:prstGeom>
          <a:ln>
            <a:headEnd/>
            <a:tailEnd type="triangle" w="sm" len="med"/>
          </a:ln>
        </p:spPr>
        <p:style>
          <a:lnRef idx="2">
            <a:schemeClr val="accent4">
              <a:shade val="15000"/>
            </a:schemeClr>
          </a:lnRef>
          <a:fillRef idx="1">
            <a:schemeClr val="accent4"/>
          </a:fillRef>
          <a:effectRef idx="0">
            <a:schemeClr val="accent4"/>
          </a:effectRef>
          <a:fontRef idx="minor">
            <a:schemeClr val="lt1"/>
          </a:fontRef>
        </p:style>
        <p:txBody>
          <a:bodyPr wrap="none" rtlCol="0" anchor="ctr"/>
          <a:lstStyle/>
          <a:p>
            <a:pPr algn="ctr"/>
            <a:r>
              <a:rPr kumimoji="1" lang="ja-JP" altLang="en-US" sz="1200" b="1" dirty="0">
                <a:solidFill>
                  <a:schemeClr val="bg1"/>
                </a:solidFill>
                <a:latin typeface="Arial Narrow" panose="020B0606020202030204" pitchFamily="34" charset="0"/>
              </a:rPr>
              <a:t>３つ</a:t>
            </a:r>
            <a:br>
              <a:rPr kumimoji="1" lang="en-US" altLang="ja-JP" sz="1200" b="1" dirty="0">
                <a:solidFill>
                  <a:schemeClr val="bg1"/>
                </a:solidFill>
                <a:latin typeface="Arial Narrow" panose="020B0606020202030204" pitchFamily="34" charset="0"/>
              </a:rPr>
            </a:br>
            <a:r>
              <a:rPr lang="ja-JP" altLang="en-US" sz="1200" b="1" dirty="0">
                <a:solidFill>
                  <a:schemeClr val="bg1"/>
                </a:solidFill>
                <a:latin typeface="Arial Narrow" panose="020B0606020202030204" pitchFamily="34" charset="0"/>
              </a:rPr>
              <a:t>炒める</a:t>
            </a:r>
            <a:endParaRPr kumimoji="1" lang="ja-JP" altLang="en-US" sz="1200" b="1" dirty="0">
              <a:solidFill>
                <a:schemeClr val="bg1"/>
              </a:solidFill>
              <a:latin typeface="Arial Narrow" panose="020B0606020202030204" pitchFamily="34" charset="0"/>
            </a:endParaRPr>
          </a:p>
        </p:txBody>
      </p:sp>
      <p:sp>
        <p:nvSpPr>
          <p:cNvPr id="42" name="平行四辺形 41">
            <a:extLst>
              <a:ext uri="{FF2B5EF4-FFF2-40B4-BE49-F238E27FC236}">
                <a16:creationId xmlns:a16="http://schemas.microsoft.com/office/drawing/2014/main" id="{0B6A77AB-847E-04BB-EB34-4A97B1BD9740}"/>
              </a:ext>
            </a:extLst>
          </p:cNvPr>
          <p:cNvSpPr/>
          <p:nvPr/>
        </p:nvSpPr>
        <p:spPr bwMode="auto">
          <a:xfrm>
            <a:off x="8673646" y="4149008"/>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3" name="正方形/長方形 42">
            <a:extLst>
              <a:ext uri="{FF2B5EF4-FFF2-40B4-BE49-F238E27FC236}">
                <a16:creationId xmlns:a16="http://schemas.microsoft.com/office/drawing/2014/main" id="{77D69279-0B10-C4E4-9D44-A30E37981328}"/>
              </a:ext>
            </a:extLst>
          </p:cNvPr>
          <p:cNvSpPr/>
          <p:nvPr/>
        </p:nvSpPr>
        <p:spPr>
          <a:xfrm>
            <a:off x="9123651" y="3338999"/>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4" name="平行四辺形 43">
            <a:extLst>
              <a:ext uri="{FF2B5EF4-FFF2-40B4-BE49-F238E27FC236}">
                <a16:creationId xmlns:a16="http://schemas.microsoft.com/office/drawing/2014/main" id="{845F5EFB-3774-9626-3FFC-30AAACC2F5AB}"/>
              </a:ext>
            </a:extLst>
          </p:cNvPr>
          <p:cNvSpPr/>
          <p:nvPr/>
        </p:nvSpPr>
        <p:spPr bwMode="auto">
          <a:xfrm>
            <a:off x="10293664" y="3519001"/>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5" name="正方形/長方形 44">
            <a:extLst>
              <a:ext uri="{FF2B5EF4-FFF2-40B4-BE49-F238E27FC236}">
                <a16:creationId xmlns:a16="http://schemas.microsoft.com/office/drawing/2014/main" id="{859E93D5-8DC9-7F13-31DF-9ABBA5408903}"/>
              </a:ext>
            </a:extLst>
          </p:cNvPr>
          <p:cNvSpPr/>
          <p:nvPr/>
        </p:nvSpPr>
        <p:spPr>
          <a:xfrm>
            <a:off x="10653668" y="2708992"/>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6" name="角丸四角形吹き出し 44">
            <a:extLst>
              <a:ext uri="{FF2B5EF4-FFF2-40B4-BE49-F238E27FC236}">
                <a16:creationId xmlns:a16="http://schemas.microsoft.com/office/drawing/2014/main" id="{0087478B-AF8D-2EC0-2208-3B3B490224BC}"/>
              </a:ext>
            </a:extLst>
          </p:cNvPr>
          <p:cNvSpPr/>
          <p:nvPr/>
        </p:nvSpPr>
        <p:spPr bwMode="auto">
          <a:xfrm>
            <a:off x="8673646" y="2528990"/>
            <a:ext cx="1620017" cy="522648"/>
          </a:xfrm>
          <a:prstGeom prst="wedgeRoundRectCallout">
            <a:avLst>
              <a:gd name="adj1" fmla="val -6189"/>
              <a:gd name="adj2" fmla="val 107803"/>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３人同じ所やし</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炒め</a:t>
            </a:r>
            <a:r>
              <a:rPr lang="ja-JP" altLang="en-US" sz="1400" dirty="0">
                <a:solidFill>
                  <a:schemeClr val="accent5"/>
                </a:solidFill>
                <a:latin typeface="Arial Narrow" panose="020B0606020202030204" pitchFamily="34" charset="0"/>
              </a:rPr>
              <a:t>３つ</a:t>
            </a:r>
            <a:r>
              <a:rPr lang="ja-JP" altLang="en-US" sz="1400" dirty="0">
                <a:solidFill>
                  <a:schemeClr val="tx1">
                    <a:lumMod val="65000"/>
                    <a:lumOff val="35000"/>
                  </a:schemeClr>
                </a:solidFill>
                <a:latin typeface="Arial Narrow" panose="020B0606020202030204" pitchFamily="34" charset="0"/>
              </a:rPr>
              <a:t>いくで！</a:t>
            </a:r>
          </a:p>
        </p:txBody>
      </p:sp>
      <p:sp>
        <p:nvSpPr>
          <p:cNvPr id="48" name="平行四辺形 47">
            <a:extLst>
              <a:ext uri="{FF2B5EF4-FFF2-40B4-BE49-F238E27FC236}">
                <a16:creationId xmlns:a16="http://schemas.microsoft.com/office/drawing/2014/main" id="{5E8122CA-B605-9FE0-1240-07F50A004DF4}"/>
              </a:ext>
            </a:extLst>
          </p:cNvPr>
          <p:cNvSpPr/>
          <p:nvPr/>
        </p:nvSpPr>
        <p:spPr bwMode="auto">
          <a:xfrm>
            <a:off x="10293664" y="4149008"/>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9" name="平行四辺形 48">
            <a:extLst>
              <a:ext uri="{FF2B5EF4-FFF2-40B4-BE49-F238E27FC236}">
                <a16:creationId xmlns:a16="http://schemas.microsoft.com/office/drawing/2014/main" id="{8C8C07A2-744D-3E9B-A3E1-90FEB315DE8A}"/>
              </a:ext>
            </a:extLst>
          </p:cNvPr>
          <p:cNvSpPr/>
          <p:nvPr/>
        </p:nvSpPr>
        <p:spPr bwMode="auto">
          <a:xfrm>
            <a:off x="10203663" y="4787977"/>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cxnSp>
        <p:nvCxnSpPr>
          <p:cNvPr id="50" name="直線矢印コネクタ 49">
            <a:extLst>
              <a:ext uri="{FF2B5EF4-FFF2-40B4-BE49-F238E27FC236}">
                <a16:creationId xmlns:a16="http://schemas.microsoft.com/office/drawing/2014/main" id="{386DFAE6-8E59-67F2-6891-EDBD0D23C30E}"/>
              </a:ext>
            </a:extLst>
          </p:cNvPr>
          <p:cNvCxnSpPr>
            <a:cxnSpLocks/>
          </p:cNvCxnSpPr>
          <p:nvPr/>
        </p:nvCxnSpPr>
        <p:spPr bwMode="auto">
          <a:xfrm flipV="1">
            <a:off x="10023661" y="3789004"/>
            <a:ext cx="540006" cy="450005"/>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51" name="直線矢印コネクタ 50">
            <a:extLst>
              <a:ext uri="{FF2B5EF4-FFF2-40B4-BE49-F238E27FC236}">
                <a16:creationId xmlns:a16="http://schemas.microsoft.com/office/drawing/2014/main" id="{7217A643-EA22-80F3-13DF-1D820445B70F}"/>
              </a:ext>
            </a:extLst>
          </p:cNvPr>
          <p:cNvCxnSpPr>
            <a:cxnSpLocks/>
          </p:cNvCxnSpPr>
          <p:nvPr/>
        </p:nvCxnSpPr>
        <p:spPr bwMode="auto">
          <a:xfrm>
            <a:off x="10023661" y="4419011"/>
            <a:ext cx="540006" cy="0"/>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52" name="直線矢印コネクタ 51">
            <a:extLst>
              <a:ext uri="{FF2B5EF4-FFF2-40B4-BE49-F238E27FC236}">
                <a16:creationId xmlns:a16="http://schemas.microsoft.com/office/drawing/2014/main" id="{43A87524-71E0-57CA-9F16-7ACE42FA3F07}"/>
              </a:ext>
            </a:extLst>
          </p:cNvPr>
          <p:cNvCxnSpPr>
            <a:cxnSpLocks/>
          </p:cNvCxnSpPr>
          <p:nvPr/>
        </p:nvCxnSpPr>
        <p:spPr bwMode="auto">
          <a:xfrm>
            <a:off x="10023661" y="4509012"/>
            <a:ext cx="540006" cy="540006"/>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53" name="正方形/長方形 52">
            <a:extLst>
              <a:ext uri="{FF2B5EF4-FFF2-40B4-BE49-F238E27FC236}">
                <a16:creationId xmlns:a16="http://schemas.microsoft.com/office/drawing/2014/main" id="{77D54B97-3364-D5F4-D439-BCE58383E783}"/>
              </a:ext>
            </a:extLst>
          </p:cNvPr>
          <p:cNvSpPr/>
          <p:nvPr/>
        </p:nvSpPr>
        <p:spPr bwMode="auto">
          <a:xfrm>
            <a:off x="8763647" y="468901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accent5"/>
                </a:solidFill>
                <a:latin typeface="+mn-ea"/>
              </a:rPr>
              <a:t>スカラ</a:t>
            </a:r>
            <a:r>
              <a:rPr lang="en-US" altLang="ja-JP" sz="1600" dirty="0">
                <a:solidFill>
                  <a:schemeClr val="accent5"/>
                </a:solidFill>
                <a:latin typeface="+mn-ea"/>
              </a:rPr>
              <a:t> </a:t>
            </a:r>
            <a:r>
              <a:rPr lang="ja-JP" altLang="en-US" sz="1600" dirty="0">
                <a:solidFill>
                  <a:schemeClr val="accent5"/>
                </a:solidFill>
                <a:latin typeface="+mn-ea"/>
              </a:rPr>
              <a:t>命令</a:t>
            </a:r>
          </a:p>
        </p:txBody>
      </p:sp>
      <p:sp>
        <p:nvSpPr>
          <p:cNvPr id="54" name="正方形/長方形 53">
            <a:extLst>
              <a:ext uri="{FF2B5EF4-FFF2-40B4-BE49-F238E27FC236}">
                <a16:creationId xmlns:a16="http://schemas.microsoft.com/office/drawing/2014/main" id="{9A046BF3-7454-B706-607F-678A7AFEE3A8}"/>
              </a:ext>
            </a:extLst>
          </p:cNvPr>
          <p:cNvSpPr/>
          <p:nvPr/>
        </p:nvSpPr>
        <p:spPr bwMode="auto">
          <a:xfrm>
            <a:off x="9393654" y="5409022"/>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5"/>
                </a:solidFill>
                <a:latin typeface="+mn-ea"/>
              </a:rPr>
              <a:t>SIMD </a:t>
            </a:r>
            <a:r>
              <a:rPr lang="ja-JP" altLang="en-US" sz="1600" dirty="0">
                <a:solidFill>
                  <a:schemeClr val="accent5"/>
                </a:solidFill>
                <a:latin typeface="+mn-ea"/>
              </a:rPr>
              <a:t>ハードウェア</a:t>
            </a:r>
          </a:p>
        </p:txBody>
      </p:sp>
      <p:sp>
        <p:nvSpPr>
          <p:cNvPr id="55" name="正方形/長方形 54">
            <a:extLst>
              <a:ext uri="{FF2B5EF4-FFF2-40B4-BE49-F238E27FC236}">
                <a16:creationId xmlns:a16="http://schemas.microsoft.com/office/drawing/2014/main" id="{55509913-CDAA-DD63-C865-7E07F6AD1515}"/>
              </a:ext>
            </a:extLst>
          </p:cNvPr>
          <p:cNvSpPr/>
          <p:nvPr/>
        </p:nvSpPr>
        <p:spPr bwMode="auto">
          <a:xfrm>
            <a:off x="6963627" y="3429000"/>
            <a:ext cx="1620018" cy="1710019"/>
          </a:xfrm>
          <a:prstGeom prst="rect">
            <a:avLst/>
          </a:prstGeom>
          <a:solidFill>
            <a:schemeClr val="bg1"/>
          </a:solidFill>
          <a:ln>
            <a:solidFill>
              <a:schemeClr val="accent4"/>
            </a:solidFill>
            <a:headEnd/>
            <a:tailEnd type="none" w="sm" len="med"/>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en-US" altLang="ja-JP" sz="1400" dirty="0">
                <a:solidFill>
                  <a:schemeClr val="accent4"/>
                </a:solidFill>
                <a:latin typeface="Arial Narrow" panose="020B0606020202030204" pitchFamily="34" charset="0"/>
              </a:rPr>
              <a:t>1. </a:t>
            </a:r>
            <a:r>
              <a:rPr lang="ja-JP" altLang="en-US" sz="1400" dirty="0">
                <a:solidFill>
                  <a:schemeClr val="accent4"/>
                </a:solidFill>
                <a:latin typeface="Arial Narrow" panose="020B0606020202030204" pitchFamily="34" charset="0"/>
              </a:rPr>
              <a:t>人参を１つ切る</a:t>
            </a:r>
            <a:endParaRPr lang="en-US" altLang="ja-JP" sz="1400" dirty="0">
              <a:solidFill>
                <a:schemeClr val="accent4"/>
              </a:solidFill>
              <a:latin typeface="Arial Narrow" panose="020B0606020202030204" pitchFamily="34" charset="0"/>
            </a:endParaRPr>
          </a:p>
          <a:p>
            <a:r>
              <a:rPr lang="en-US" altLang="ja-JP" sz="1400" dirty="0">
                <a:solidFill>
                  <a:schemeClr val="accent4"/>
                </a:solidFill>
                <a:latin typeface="Arial Narrow" panose="020B0606020202030204" pitchFamily="34" charset="0"/>
              </a:rPr>
              <a:t>2. </a:t>
            </a:r>
            <a:r>
              <a:rPr lang="ja-JP" altLang="en-US" sz="1400" dirty="0">
                <a:solidFill>
                  <a:schemeClr val="accent4"/>
                </a:solidFill>
                <a:latin typeface="Arial Narrow" panose="020B0606020202030204" pitchFamily="34" charset="0"/>
              </a:rPr>
              <a:t>玉葱を１つ切る</a:t>
            </a:r>
            <a:endParaRPr lang="en-US" altLang="ja-JP" sz="1400" dirty="0">
              <a:solidFill>
                <a:schemeClr val="accent4"/>
              </a:solidFill>
              <a:latin typeface="Arial Narrow" panose="020B0606020202030204" pitchFamily="34" charset="0"/>
            </a:endParaRPr>
          </a:p>
          <a:p>
            <a:r>
              <a:rPr lang="en-US" altLang="ja-JP" sz="1400" dirty="0">
                <a:solidFill>
                  <a:schemeClr val="accent4"/>
                </a:solidFill>
                <a:latin typeface="Arial Narrow" panose="020B0606020202030204" pitchFamily="34" charset="0"/>
              </a:rPr>
              <a:t>3. </a:t>
            </a:r>
            <a:r>
              <a:rPr lang="ja-JP" altLang="en-US" sz="1400" dirty="0">
                <a:solidFill>
                  <a:schemeClr val="accent4"/>
                </a:solidFill>
                <a:latin typeface="Arial Narrow" panose="020B0606020202030204" pitchFamily="34" charset="0"/>
              </a:rPr>
              <a:t>肉を１つ切る</a:t>
            </a:r>
            <a:endParaRPr lang="en-US" altLang="ja-JP" sz="1400" dirty="0">
              <a:solidFill>
                <a:schemeClr val="accent4"/>
              </a:solidFill>
              <a:latin typeface="Arial Narrow" panose="020B0606020202030204" pitchFamily="34" charset="0"/>
            </a:endParaRPr>
          </a:p>
          <a:p>
            <a:r>
              <a:rPr lang="en-US" altLang="ja-JP" sz="1400" dirty="0">
                <a:solidFill>
                  <a:schemeClr val="accent4"/>
                </a:solidFill>
                <a:latin typeface="Arial Narrow" panose="020B0606020202030204" pitchFamily="34" charset="0"/>
              </a:rPr>
              <a:t>4. </a:t>
            </a:r>
            <a:r>
              <a:rPr lang="ja-JP" altLang="en-US" sz="1400" dirty="0">
                <a:solidFill>
                  <a:schemeClr val="accent4"/>
                </a:solidFill>
                <a:latin typeface="Arial Narrow" panose="020B0606020202030204" pitchFamily="34" charset="0"/>
              </a:rPr>
              <a:t>芋を１つ切る</a:t>
            </a:r>
            <a:endParaRPr lang="en-US" altLang="ja-JP" sz="1400" dirty="0">
              <a:solidFill>
                <a:schemeClr val="accent4"/>
              </a:solidFill>
              <a:latin typeface="Arial Narrow" panose="020B0606020202030204" pitchFamily="34" charset="0"/>
            </a:endParaRPr>
          </a:p>
          <a:p>
            <a:r>
              <a:rPr lang="en-US" altLang="ja-JP" sz="1400" dirty="0">
                <a:solidFill>
                  <a:schemeClr val="accent4"/>
                </a:solidFill>
                <a:latin typeface="Arial Narrow" panose="020B0606020202030204" pitchFamily="34" charset="0"/>
              </a:rPr>
              <a:t>5. </a:t>
            </a:r>
            <a:r>
              <a:rPr lang="ja-JP" altLang="en-US" sz="1400" dirty="0">
                <a:solidFill>
                  <a:schemeClr val="accent4"/>
                </a:solidFill>
                <a:latin typeface="Arial Narrow" panose="020B0606020202030204" pitchFamily="34" charset="0"/>
              </a:rPr>
              <a:t>炒める</a:t>
            </a:r>
          </a:p>
        </p:txBody>
      </p:sp>
      <p:cxnSp>
        <p:nvCxnSpPr>
          <p:cNvPr id="56" name="直線矢印コネクタ 55">
            <a:extLst>
              <a:ext uri="{FF2B5EF4-FFF2-40B4-BE49-F238E27FC236}">
                <a16:creationId xmlns:a16="http://schemas.microsoft.com/office/drawing/2014/main" id="{F59E1691-E3A2-3D1E-981C-C20BEF1EF7AA}"/>
              </a:ext>
            </a:extLst>
          </p:cNvPr>
          <p:cNvCxnSpPr>
            <a:cxnSpLocks/>
          </p:cNvCxnSpPr>
          <p:nvPr/>
        </p:nvCxnSpPr>
        <p:spPr bwMode="auto">
          <a:xfrm>
            <a:off x="6243619" y="4419011"/>
            <a:ext cx="360004" cy="0"/>
          </a:xfrm>
          <a:prstGeom prst="straightConnector1">
            <a:avLst/>
          </a:prstGeom>
          <a:ln w="76200">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7" name="直線矢印コネクタ 56">
            <a:extLst>
              <a:ext uri="{FF2B5EF4-FFF2-40B4-BE49-F238E27FC236}">
                <a16:creationId xmlns:a16="http://schemas.microsoft.com/office/drawing/2014/main" id="{B4817F21-DA51-70C6-ED4A-D15324C9E20F}"/>
              </a:ext>
            </a:extLst>
          </p:cNvPr>
          <p:cNvCxnSpPr>
            <a:cxnSpLocks/>
          </p:cNvCxnSpPr>
          <p:nvPr/>
        </p:nvCxnSpPr>
        <p:spPr bwMode="auto">
          <a:xfrm>
            <a:off x="5793614" y="4419011"/>
            <a:ext cx="360004" cy="0"/>
          </a:xfrm>
          <a:prstGeom prst="straightConnector1">
            <a:avLst/>
          </a:prstGeom>
          <a:ln w="76200">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8" name="直線矢印コネクタ 57">
            <a:extLst>
              <a:ext uri="{FF2B5EF4-FFF2-40B4-BE49-F238E27FC236}">
                <a16:creationId xmlns:a16="http://schemas.microsoft.com/office/drawing/2014/main" id="{928D086B-ACC1-F986-0C9B-DC635D041A63}"/>
              </a:ext>
            </a:extLst>
          </p:cNvPr>
          <p:cNvCxnSpPr>
            <a:cxnSpLocks/>
          </p:cNvCxnSpPr>
          <p:nvPr/>
        </p:nvCxnSpPr>
        <p:spPr bwMode="auto">
          <a:xfrm>
            <a:off x="6644640" y="4419011"/>
            <a:ext cx="360004" cy="0"/>
          </a:xfrm>
          <a:prstGeom prst="straightConnector1">
            <a:avLst/>
          </a:prstGeom>
          <a:ln w="76200">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59" name="正方形/長方形 58">
            <a:extLst>
              <a:ext uri="{FF2B5EF4-FFF2-40B4-BE49-F238E27FC236}">
                <a16:creationId xmlns:a16="http://schemas.microsoft.com/office/drawing/2014/main" id="{1D1C796D-AF0E-8A72-E628-94202FBE033C}"/>
              </a:ext>
            </a:extLst>
          </p:cNvPr>
          <p:cNvSpPr/>
          <p:nvPr/>
        </p:nvSpPr>
        <p:spPr bwMode="auto">
          <a:xfrm>
            <a:off x="6603623" y="4509012"/>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5"/>
                </a:solidFill>
                <a:latin typeface="+mn-ea"/>
              </a:rPr>
              <a:t>PC</a:t>
            </a:r>
            <a:r>
              <a:rPr lang="ja-JP" altLang="en-US" sz="1600" dirty="0">
                <a:solidFill>
                  <a:schemeClr val="accent5"/>
                </a:solidFill>
                <a:latin typeface="+mn-ea"/>
              </a:rPr>
              <a:t> </a:t>
            </a:r>
            <a:r>
              <a:rPr lang="en-US" altLang="ja-JP" sz="1600" dirty="0">
                <a:solidFill>
                  <a:schemeClr val="accent5"/>
                </a:solidFill>
                <a:latin typeface="+mn-ea"/>
              </a:rPr>
              <a:t>x</a:t>
            </a:r>
            <a:r>
              <a:rPr lang="ja-JP" altLang="en-US" sz="1600" dirty="0">
                <a:solidFill>
                  <a:schemeClr val="accent5"/>
                </a:solidFill>
                <a:latin typeface="+mn-ea"/>
              </a:rPr>
              <a:t>３</a:t>
            </a:r>
          </a:p>
        </p:txBody>
      </p:sp>
      <p:sp>
        <p:nvSpPr>
          <p:cNvPr id="60" name="角丸四角形 46">
            <a:extLst>
              <a:ext uri="{FF2B5EF4-FFF2-40B4-BE49-F238E27FC236}">
                <a16:creationId xmlns:a16="http://schemas.microsoft.com/office/drawing/2014/main" id="{12159B00-A864-9952-41E4-991A3842BB1F}"/>
              </a:ext>
            </a:extLst>
          </p:cNvPr>
          <p:cNvSpPr/>
          <p:nvPr/>
        </p:nvSpPr>
        <p:spPr bwMode="auto">
          <a:xfrm>
            <a:off x="9033650" y="4059007"/>
            <a:ext cx="720008" cy="360004"/>
          </a:xfrm>
          <a:prstGeom prst="roundRect">
            <a:avLst/>
          </a:prstGeom>
          <a:ln>
            <a:headEnd/>
            <a:tailEnd type="triangle" w="sm" len="med"/>
          </a:ln>
        </p:spPr>
        <p:style>
          <a:lnRef idx="2">
            <a:schemeClr val="accent4">
              <a:shade val="15000"/>
            </a:schemeClr>
          </a:lnRef>
          <a:fillRef idx="1">
            <a:schemeClr val="accent4"/>
          </a:fillRef>
          <a:effectRef idx="0">
            <a:schemeClr val="accent4"/>
          </a:effectRef>
          <a:fontRef idx="minor">
            <a:schemeClr val="lt1"/>
          </a:fontRef>
        </p:style>
        <p:txBody>
          <a:bodyPr wrap="none" rtlCol="0" anchor="ctr"/>
          <a:lstStyle/>
          <a:p>
            <a:pPr algn="ctr"/>
            <a:r>
              <a:rPr kumimoji="1" lang="ja-JP" altLang="en-US" sz="1200" b="1" dirty="0">
                <a:solidFill>
                  <a:schemeClr val="bg1"/>
                </a:solidFill>
                <a:latin typeface="Arial Narrow" panose="020B0606020202030204" pitchFamily="34" charset="0"/>
              </a:rPr>
              <a:t>１つ</a:t>
            </a:r>
            <a:br>
              <a:rPr kumimoji="1" lang="en-US" altLang="ja-JP" sz="1200" b="1" dirty="0">
                <a:solidFill>
                  <a:schemeClr val="bg1"/>
                </a:solidFill>
                <a:latin typeface="Arial Narrow" panose="020B0606020202030204" pitchFamily="34" charset="0"/>
              </a:rPr>
            </a:br>
            <a:r>
              <a:rPr lang="ja-JP" altLang="en-US" sz="1200" b="1" dirty="0">
                <a:solidFill>
                  <a:schemeClr val="bg1"/>
                </a:solidFill>
                <a:latin typeface="Arial Narrow" panose="020B0606020202030204" pitchFamily="34" charset="0"/>
              </a:rPr>
              <a:t>炒める</a:t>
            </a:r>
            <a:endParaRPr kumimoji="1" lang="ja-JP" altLang="en-US" sz="1200" b="1" dirty="0">
              <a:solidFill>
                <a:schemeClr val="bg1"/>
              </a:solidFill>
              <a:latin typeface="Arial Narrow" panose="020B0606020202030204" pitchFamily="34" charset="0"/>
            </a:endParaRPr>
          </a:p>
        </p:txBody>
      </p:sp>
      <p:cxnSp>
        <p:nvCxnSpPr>
          <p:cNvPr id="62" name="直線コネクタ 61">
            <a:extLst>
              <a:ext uri="{FF2B5EF4-FFF2-40B4-BE49-F238E27FC236}">
                <a16:creationId xmlns:a16="http://schemas.microsoft.com/office/drawing/2014/main" id="{8B8B0D38-981F-21DD-0EEC-9EF2FFD61151}"/>
              </a:ext>
            </a:extLst>
          </p:cNvPr>
          <p:cNvCxnSpPr/>
          <p:nvPr/>
        </p:nvCxnSpPr>
        <p:spPr bwMode="auto">
          <a:xfrm>
            <a:off x="5555994" y="2168986"/>
            <a:ext cx="0" cy="4680052"/>
          </a:xfrm>
          <a:prstGeom prst="line">
            <a:avLst/>
          </a:prstGeom>
          <a:noFill/>
          <a:ln w="9525" cap="flat" cmpd="sng" algn="ctr">
            <a:solidFill>
              <a:schemeClr val="tx1"/>
            </a:solidFill>
            <a:prstDash val="solid"/>
            <a:round/>
            <a:headEnd type="none" w="med" len="med"/>
            <a:tailEnd type="none" w="med" len="med"/>
          </a:ln>
          <a:effectLst/>
        </p:spPr>
      </p:cxnSp>
      <p:sp>
        <p:nvSpPr>
          <p:cNvPr id="65" name="正方形/長方形 64">
            <a:extLst>
              <a:ext uri="{FF2B5EF4-FFF2-40B4-BE49-F238E27FC236}">
                <a16:creationId xmlns:a16="http://schemas.microsoft.com/office/drawing/2014/main" id="{9E834D35-F1E2-46D9-7B8F-CD552883865B}"/>
              </a:ext>
            </a:extLst>
          </p:cNvPr>
          <p:cNvSpPr/>
          <p:nvPr/>
        </p:nvSpPr>
        <p:spPr>
          <a:xfrm>
            <a:off x="65934" y="2618991"/>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6" name="角丸四角形吹き出し 42">
            <a:extLst>
              <a:ext uri="{FF2B5EF4-FFF2-40B4-BE49-F238E27FC236}">
                <a16:creationId xmlns:a16="http://schemas.microsoft.com/office/drawing/2014/main" id="{77D26FF6-E170-E589-AA9E-66FAE408912E}"/>
              </a:ext>
            </a:extLst>
          </p:cNvPr>
          <p:cNvSpPr/>
          <p:nvPr/>
        </p:nvSpPr>
        <p:spPr bwMode="auto">
          <a:xfrm>
            <a:off x="785941" y="2078985"/>
            <a:ext cx="2250025" cy="558598"/>
          </a:xfrm>
          <a:prstGeom prst="wedgeRoundRectCallout">
            <a:avLst>
              <a:gd name="adj1" fmla="val -46134"/>
              <a:gd name="adj2" fmla="val 94815"/>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65000"/>
                    <a:lumOff val="35000"/>
                  </a:schemeClr>
                </a:solidFill>
                <a:latin typeface="Arial Narrow" panose="020B0606020202030204" pitchFamily="34" charset="0"/>
              </a:rPr>
              <a:t>３つに揃えたレシピは</a:t>
            </a:r>
            <a:endParaRPr lang="en-US" altLang="ja-JP" sz="1600" dirty="0">
              <a:solidFill>
                <a:schemeClr val="tx1">
                  <a:lumMod val="65000"/>
                  <a:lumOff val="35000"/>
                </a:schemeClr>
              </a:solidFill>
              <a:latin typeface="Arial Narrow" panose="020B0606020202030204" pitchFamily="34" charset="0"/>
            </a:endParaRPr>
          </a:p>
          <a:p>
            <a:r>
              <a:rPr lang="ja-JP" altLang="en-US" sz="1600" dirty="0">
                <a:solidFill>
                  <a:schemeClr val="tx1">
                    <a:lumMod val="65000"/>
                    <a:lumOff val="35000"/>
                  </a:schemeClr>
                </a:solidFill>
                <a:latin typeface="Arial Narrow" panose="020B0606020202030204" pitchFamily="34" charset="0"/>
              </a:rPr>
              <a:t>作るのが大変だよう</a:t>
            </a:r>
          </a:p>
        </p:txBody>
      </p:sp>
    </p:spTree>
    <p:extLst>
      <p:ext uri="{BB962C8B-B14F-4D97-AF65-F5344CB8AC3E}">
        <p14:creationId xmlns:p14="http://schemas.microsoft.com/office/powerpoint/2010/main" val="27302752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A8BDF0-59EC-6250-F23A-CFEBD92897D5}"/>
              </a:ext>
            </a:extLst>
          </p:cNvPr>
          <p:cNvSpPr>
            <a:spLocks noGrp="1"/>
          </p:cNvSpPr>
          <p:nvPr>
            <p:ph type="title"/>
          </p:nvPr>
        </p:nvSpPr>
        <p:spPr/>
        <p:txBody>
          <a:bodyPr/>
          <a:lstStyle/>
          <a:p>
            <a:r>
              <a:rPr kumimoji="1" lang="en-US" altLang="ja-JP" dirty="0"/>
              <a:t>SIMT </a:t>
            </a:r>
            <a:r>
              <a:rPr kumimoji="1" lang="ja-JP" altLang="en-US" dirty="0"/>
              <a:t>の利点と問題点</a:t>
            </a:r>
          </a:p>
        </p:txBody>
      </p:sp>
      <p:sp>
        <p:nvSpPr>
          <p:cNvPr id="3" name="テキスト プレースホルダー 2">
            <a:extLst>
              <a:ext uri="{FF2B5EF4-FFF2-40B4-BE49-F238E27FC236}">
                <a16:creationId xmlns:a16="http://schemas.microsoft.com/office/drawing/2014/main" id="{3C8A3B78-3D88-8492-94E7-28CA765107AB}"/>
              </a:ext>
            </a:extLst>
          </p:cNvPr>
          <p:cNvSpPr>
            <a:spLocks noGrp="1"/>
          </p:cNvSpPr>
          <p:nvPr>
            <p:ph type="body" sz="quarter" idx="10"/>
          </p:nvPr>
        </p:nvSpPr>
        <p:spPr>
          <a:xfrm>
            <a:off x="1235946" y="998973"/>
            <a:ext cx="10170113" cy="5490061"/>
          </a:xfrm>
        </p:spPr>
        <p:txBody>
          <a:bodyPr/>
          <a:lstStyle/>
          <a:p>
            <a:r>
              <a:rPr kumimoji="1" lang="ja-JP" altLang="en-US" dirty="0"/>
              <a:t>利点：</a:t>
            </a:r>
            <a:endParaRPr kumimoji="1" lang="en-US" altLang="ja-JP" dirty="0"/>
          </a:p>
          <a:p>
            <a:pPr lvl="1"/>
            <a:r>
              <a:rPr kumimoji="1" lang="ja-JP" altLang="en-US" dirty="0"/>
              <a:t>マルチスレッドで書かれたプログラムが </a:t>
            </a:r>
            <a:r>
              <a:rPr kumimoji="1" lang="en-US" altLang="ja-JP" dirty="0"/>
              <a:t>SIMD</a:t>
            </a:r>
            <a:r>
              <a:rPr lang="ja-JP" altLang="en-US" dirty="0"/>
              <a:t> プロセッサでそのまま実行できる</a:t>
            </a:r>
            <a:endParaRPr lang="en-US" altLang="ja-JP" dirty="0"/>
          </a:p>
          <a:p>
            <a:pPr lvl="1"/>
            <a:r>
              <a:rPr lang="en-US" altLang="ja-JP" dirty="0"/>
              <a:t>= </a:t>
            </a:r>
            <a:r>
              <a:rPr kumimoji="1" lang="ja-JP" altLang="en-US" dirty="0"/>
              <a:t>難しいコンパイラがいらない</a:t>
            </a:r>
            <a:endParaRPr kumimoji="1" lang="en-US" altLang="ja-JP" dirty="0"/>
          </a:p>
          <a:p>
            <a:pPr lvl="2"/>
            <a:r>
              <a:rPr kumimoji="1" lang="en-US" altLang="ja-JP" dirty="0"/>
              <a:t>CPU </a:t>
            </a:r>
            <a:r>
              <a:rPr kumimoji="1" lang="ja-JP" altLang="en-US" dirty="0"/>
              <a:t>命令セットである </a:t>
            </a:r>
            <a:r>
              <a:rPr kumimoji="1" lang="en-US" altLang="ja-JP" dirty="0"/>
              <a:t>RISC-V </a:t>
            </a:r>
            <a:r>
              <a:rPr kumimoji="1" lang="ja-JP" altLang="en-US" dirty="0"/>
              <a:t>ベースの </a:t>
            </a:r>
            <a:r>
              <a:rPr kumimoji="1" lang="en-US" altLang="ja-JP" dirty="0"/>
              <a:t>SIMT </a:t>
            </a:r>
            <a:r>
              <a:rPr kumimoji="1" lang="ja-JP" altLang="en-US" dirty="0"/>
              <a:t>プロセッサも提案されている</a:t>
            </a:r>
            <a:endParaRPr kumimoji="1" lang="en-US" altLang="ja-JP" dirty="0"/>
          </a:p>
          <a:p>
            <a:r>
              <a:rPr kumimoji="1" lang="ja-JP" altLang="en-US" dirty="0"/>
              <a:t>問題点：</a:t>
            </a:r>
            <a:endParaRPr kumimoji="1" lang="en-US" altLang="ja-JP" dirty="0"/>
          </a:p>
          <a:p>
            <a:pPr lvl="1"/>
            <a:r>
              <a:rPr kumimoji="1" lang="ja-JP" altLang="en-US" dirty="0"/>
              <a:t>スレッド間で違う方向に分岐すると実行速度が落ちる </a:t>
            </a:r>
            <a:endParaRPr kumimoji="1" lang="en-US" altLang="ja-JP" dirty="0"/>
          </a:p>
          <a:p>
            <a:pPr lvl="2"/>
            <a:r>
              <a:rPr lang="en-US" altLang="ja-JP" dirty="0"/>
              <a:t>branch divergence </a:t>
            </a:r>
            <a:r>
              <a:rPr lang="ja-JP" altLang="en-US" dirty="0"/>
              <a:t>と呼ぶ</a:t>
            </a:r>
            <a:endParaRPr lang="en-US" altLang="ja-JP" dirty="0"/>
          </a:p>
          <a:p>
            <a:pPr lvl="1"/>
            <a:r>
              <a:rPr kumimoji="1" lang="ja-JP" altLang="en-US" dirty="0"/>
              <a:t>水平方向の演算が自然には表現できない</a:t>
            </a:r>
          </a:p>
        </p:txBody>
      </p:sp>
    </p:spTree>
    <p:extLst>
      <p:ext uri="{BB962C8B-B14F-4D97-AF65-F5344CB8AC3E}">
        <p14:creationId xmlns:p14="http://schemas.microsoft.com/office/powerpoint/2010/main" val="28401106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2550CC-5297-6598-DD0F-1A0B6B8513EC}"/>
              </a:ext>
            </a:extLst>
          </p:cNvPr>
          <p:cNvSpPr>
            <a:spLocks noGrp="1"/>
          </p:cNvSpPr>
          <p:nvPr>
            <p:ph type="title"/>
          </p:nvPr>
        </p:nvSpPr>
        <p:spPr/>
        <p:txBody>
          <a:bodyPr/>
          <a:lstStyle/>
          <a:p>
            <a:r>
              <a:rPr kumimoji="1" lang="ja-JP" altLang="en-US" sz="2400" dirty="0"/>
              <a:t>問題１：スレッド間で違う方向に分岐すると実行速度が落ちる </a:t>
            </a:r>
            <a:br>
              <a:rPr kumimoji="1" lang="en-US" altLang="ja-JP" sz="2400" dirty="0"/>
            </a:br>
            <a:r>
              <a:rPr kumimoji="1" lang="ja-JP" altLang="en-US" sz="2400" dirty="0"/>
              <a:t>（</a:t>
            </a:r>
            <a:r>
              <a:rPr lang="en-US" altLang="ja-JP" sz="2400" dirty="0"/>
              <a:t>Branch divergence</a:t>
            </a:r>
            <a:r>
              <a:rPr lang="ja-JP" altLang="en-US" sz="2400" dirty="0"/>
              <a:t>）</a:t>
            </a:r>
            <a:endParaRPr kumimoji="1" lang="ja-JP" altLang="en-US" sz="2400" dirty="0"/>
          </a:p>
        </p:txBody>
      </p:sp>
      <p:sp>
        <p:nvSpPr>
          <p:cNvPr id="4" name="正方形/長方形 3">
            <a:extLst>
              <a:ext uri="{FF2B5EF4-FFF2-40B4-BE49-F238E27FC236}">
                <a16:creationId xmlns:a16="http://schemas.microsoft.com/office/drawing/2014/main" id="{49F6A659-8747-3DDF-47AD-F4206C0C4EC3}"/>
              </a:ext>
            </a:extLst>
          </p:cNvPr>
          <p:cNvSpPr/>
          <p:nvPr/>
        </p:nvSpPr>
        <p:spPr bwMode="auto">
          <a:xfrm>
            <a:off x="8346025" y="2258988"/>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5" name="直線矢印コネクタ 4">
            <a:extLst>
              <a:ext uri="{FF2B5EF4-FFF2-40B4-BE49-F238E27FC236}">
                <a16:creationId xmlns:a16="http://schemas.microsoft.com/office/drawing/2014/main" id="{214511AE-06F0-E68B-844C-2B4CFC3F4EAF}"/>
              </a:ext>
            </a:extLst>
          </p:cNvPr>
          <p:cNvCxnSpPr>
            <a:cxnSpLocks/>
          </p:cNvCxnSpPr>
          <p:nvPr/>
        </p:nvCxnSpPr>
        <p:spPr bwMode="auto">
          <a:xfrm>
            <a:off x="8706029" y="2061117"/>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6" name="正方形/長方形 5">
            <a:extLst>
              <a:ext uri="{FF2B5EF4-FFF2-40B4-BE49-F238E27FC236}">
                <a16:creationId xmlns:a16="http://schemas.microsoft.com/office/drawing/2014/main" id="{4709B1C2-7D75-607A-95F3-EA4510E8BB20}"/>
              </a:ext>
            </a:extLst>
          </p:cNvPr>
          <p:cNvSpPr/>
          <p:nvPr/>
        </p:nvSpPr>
        <p:spPr bwMode="auto">
          <a:xfrm>
            <a:off x="8076022" y="1628980"/>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PC1</a:t>
            </a:r>
            <a:endParaRPr lang="ja-JP" altLang="en-US" sz="1200" dirty="0">
              <a:solidFill>
                <a:schemeClr val="tx1">
                  <a:lumMod val="75000"/>
                  <a:lumOff val="25000"/>
                </a:schemeClr>
              </a:solidFill>
              <a:latin typeface="+mn-ea"/>
            </a:endParaRPr>
          </a:p>
        </p:txBody>
      </p:sp>
      <p:sp>
        <p:nvSpPr>
          <p:cNvPr id="7" name="フリーフォーム 10">
            <a:extLst>
              <a:ext uri="{FF2B5EF4-FFF2-40B4-BE49-F238E27FC236}">
                <a16:creationId xmlns:a16="http://schemas.microsoft.com/office/drawing/2014/main" id="{FC17FF0E-5B21-5A3A-C388-B44103B9EB92}"/>
              </a:ext>
            </a:extLst>
          </p:cNvPr>
          <p:cNvSpPr>
            <a:spLocks noChangeArrowheads="1"/>
          </p:cNvSpPr>
          <p:nvPr/>
        </p:nvSpPr>
        <p:spPr bwMode="auto">
          <a:xfrm flipH="1">
            <a:off x="7086011" y="2978995"/>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8" name="直線矢印コネクタ 7">
            <a:extLst>
              <a:ext uri="{FF2B5EF4-FFF2-40B4-BE49-F238E27FC236}">
                <a16:creationId xmlns:a16="http://schemas.microsoft.com/office/drawing/2014/main" id="{872B08F0-FFB9-DB16-92BB-3D2C9EB5170A}"/>
              </a:ext>
            </a:extLst>
          </p:cNvPr>
          <p:cNvCxnSpPr>
            <a:cxnSpLocks/>
          </p:cNvCxnSpPr>
          <p:nvPr/>
        </p:nvCxnSpPr>
        <p:spPr bwMode="auto">
          <a:xfrm>
            <a:off x="8706029" y="2618991"/>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 name="Freeform 10">
            <a:extLst>
              <a:ext uri="{FF2B5EF4-FFF2-40B4-BE49-F238E27FC236}">
                <a16:creationId xmlns:a16="http://schemas.microsoft.com/office/drawing/2014/main" id="{E88B5999-2E30-AA05-1435-CDB612BD84D6}"/>
              </a:ext>
            </a:extLst>
          </p:cNvPr>
          <p:cNvSpPr>
            <a:spLocks/>
          </p:cNvSpPr>
          <p:nvPr/>
        </p:nvSpPr>
        <p:spPr bwMode="auto">
          <a:xfrm rot="5400000">
            <a:off x="7896020" y="2348989"/>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0" name="フリーフォーム 10">
            <a:extLst>
              <a:ext uri="{FF2B5EF4-FFF2-40B4-BE49-F238E27FC236}">
                <a16:creationId xmlns:a16="http://schemas.microsoft.com/office/drawing/2014/main" id="{A9542D4F-BB34-300C-4812-AACB04A542F5}"/>
              </a:ext>
            </a:extLst>
          </p:cNvPr>
          <p:cNvSpPr>
            <a:spLocks noChangeArrowheads="1"/>
          </p:cNvSpPr>
          <p:nvPr/>
        </p:nvSpPr>
        <p:spPr bwMode="auto">
          <a:xfrm flipH="1">
            <a:off x="7896020" y="2978995"/>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1" name="フリーフォーム 10">
            <a:extLst>
              <a:ext uri="{FF2B5EF4-FFF2-40B4-BE49-F238E27FC236}">
                <a16:creationId xmlns:a16="http://schemas.microsoft.com/office/drawing/2014/main" id="{B6765A49-F026-CBBE-3177-CEC92D2F89C5}"/>
              </a:ext>
            </a:extLst>
          </p:cNvPr>
          <p:cNvSpPr>
            <a:spLocks noChangeArrowheads="1"/>
          </p:cNvSpPr>
          <p:nvPr/>
        </p:nvSpPr>
        <p:spPr bwMode="auto">
          <a:xfrm flipH="1">
            <a:off x="8796030" y="2978995"/>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noFill/>
          <a:ln>
            <a:prstDash val="solid"/>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bg1">
                    <a:lumMod val="65000"/>
                  </a:schemeClr>
                </a:solidFill>
                <a:latin typeface="+mn-ea"/>
              </a:rPr>
              <a:t>演算器</a:t>
            </a:r>
          </a:p>
        </p:txBody>
      </p:sp>
      <p:sp>
        <p:nvSpPr>
          <p:cNvPr id="12" name="フリーフォーム 10">
            <a:extLst>
              <a:ext uri="{FF2B5EF4-FFF2-40B4-BE49-F238E27FC236}">
                <a16:creationId xmlns:a16="http://schemas.microsoft.com/office/drawing/2014/main" id="{B8F1B7C2-6F01-BBBF-5D49-B6B6A75AA913}"/>
              </a:ext>
            </a:extLst>
          </p:cNvPr>
          <p:cNvSpPr>
            <a:spLocks noChangeArrowheads="1"/>
          </p:cNvSpPr>
          <p:nvPr/>
        </p:nvSpPr>
        <p:spPr bwMode="auto">
          <a:xfrm flipH="1">
            <a:off x="9606039" y="2978995"/>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3" name="Freeform 10">
            <a:extLst>
              <a:ext uri="{FF2B5EF4-FFF2-40B4-BE49-F238E27FC236}">
                <a16:creationId xmlns:a16="http://schemas.microsoft.com/office/drawing/2014/main" id="{66AF1062-1BC8-F821-7476-59BD9D90D4A4}"/>
              </a:ext>
            </a:extLst>
          </p:cNvPr>
          <p:cNvSpPr>
            <a:spLocks/>
          </p:cNvSpPr>
          <p:nvPr/>
        </p:nvSpPr>
        <p:spPr bwMode="auto">
          <a:xfrm rot="5400000">
            <a:off x="8301026" y="2753994"/>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4" name="Freeform 10">
            <a:extLst>
              <a:ext uri="{FF2B5EF4-FFF2-40B4-BE49-F238E27FC236}">
                <a16:creationId xmlns:a16="http://schemas.microsoft.com/office/drawing/2014/main" id="{2915E53F-0EF7-5B72-E0FE-2753C0C9F582}"/>
              </a:ext>
            </a:extLst>
          </p:cNvPr>
          <p:cNvSpPr>
            <a:spLocks/>
          </p:cNvSpPr>
          <p:nvPr/>
        </p:nvSpPr>
        <p:spPr bwMode="auto">
          <a:xfrm rot="5400000" flipV="1">
            <a:off x="8751030" y="2573992"/>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5" name="Freeform 10">
            <a:extLst>
              <a:ext uri="{FF2B5EF4-FFF2-40B4-BE49-F238E27FC236}">
                <a16:creationId xmlns:a16="http://schemas.microsoft.com/office/drawing/2014/main" id="{2BC8C311-4B80-ADBB-4996-31F843A2CF4E}"/>
              </a:ext>
            </a:extLst>
          </p:cNvPr>
          <p:cNvSpPr>
            <a:spLocks/>
          </p:cNvSpPr>
          <p:nvPr/>
        </p:nvSpPr>
        <p:spPr bwMode="auto">
          <a:xfrm rot="5400000" flipV="1">
            <a:off x="9381037" y="2393990"/>
            <a:ext cx="180003" cy="99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6" name="正方形/長方形 15">
            <a:extLst>
              <a:ext uri="{FF2B5EF4-FFF2-40B4-BE49-F238E27FC236}">
                <a16:creationId xmlns:a16="http://schemas.microsoft.com/office/drawing/2014/main" id="{0176FEC3-4634-DD8C-2698-CE40EFFF5D0D}"/>
              </a:ext>
            </a:extLst>
          </p:cNvPr>
          <p:cNvSpPr/>
          <p:nvPr/>
        </p:nvSpPr>
        <p:spPr bwMode="auto">
          <a:xfrm>
            <a:off x="7266013" y="1628980"/>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PC0</a:t>
            </a:r>
            <a:endParaRPr lang="ja-JP" altLang="en-US" sz="1200" dirty="0">
              <a:solidFill>
                <a:schemeClr val="tx1">
                  <a:lumMod val="75000"/>
                  <a:lumOff val="25000"/>
                </a:schemeClr>
              </a:solidFill>
              <a:latin typeface="+mn-ea"/>
            </a:endParaRPr>
          </a:p>
        </p:txBody>
      </p:sp>
      <p:sp>
        <p:nvSpPr>
          <p:cNvPr id="17" name="正方形/長方形 16">
            <a:extLst>
              <a:ext uri="{FF2B5EF4-FFF2-40B4-BE49-F238E27FC236}">
                <a16:creationId xmlns:a16="http://schemas.microsoft.com/office/drawing/2014/main" id="{5ACDD423-5741-0820-C885-8C98D0FB7215}"/>
              </a:ext>
            </a:extLst>
          </p:cNvPr>
          <p:cNvSpPr/>
          <p:nvPr/>
        </p:nvSpPr>
        <p:spPr bwMode="auto">
          <a:xfrm>
            <a:off x="8976032" y="1628980"/>
            <a:ext cx="360004" cy="360004"/>
          </a:xfrm>
          <a:prstGeom prst="rect">
            <a:avLst/>
          </a:prstGeom>
          <a:noFill/>
          <a:ln>
            <a:prstDash val="solid"/>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bg1">
                    <a:lumMod val="65000"/>
                  </a:schemeClr>
                </a:solidFill>
                <a:latin typeface="+mn-ea"/>
              </a:rPr>
              <a:t>PC2</a:t>
            </a:r>
            <a:endParaRPr lang="ja-JP" altLang="en-US" sz="1200" dirty="0">
              <a:solidFill>
                <a:schemeClr val="bg1">
                  <a:lumMod val="65000"/>
                </a:schemeClr>
              </a:solidFill>
              <a:latin typeface="+mn-ea"/>
            </a:endParaRPr>
          </a:p>
        </p:txBody>
      </p:sp>
      <p:sp>
        <p:nvSpPr>
          <p:cNvPr id="18" name="正方形/長方形 17">
            <a:extLst>
              <a:ext uri="{FF2B5EF4-FFF2-40B4-BE49-F238E27FC236}">
                <a16:creationId xmlns:a16="http://schemas.microsoft.com/office/drawing/2014/main" id="{0907E1BB-F63A-312F-784B-677E6FAFF63F}"/>
              </a:ext>
            </a:extLst>
          </p:cNvPr>
          <p:cNvSpPr/>
          <p:nvPr/>
        </p:nvSpPr>
        <p:spPr bwMode="auto">
          <a:xfrm>
            <a:off x="9786041" y="1628980"/>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PC3</a:t>
            </a:r>
            <a:endParaRPr lang="ja-JP" altLang="en-US" sz="1200" dirty="0">
              <a:solidFill>
                <a:schemeClr val="tx1">
                  <a:lumMod val="75000"/>
                  <a:lumOff val="25000"/>
                </a:schemeClr>
              </a:solidFill>
              <a:latin typeface="+mn-ea"/>
            </a:endParaRPr>
          </a:p>
        </p:txBody>
      </p:sp>
      <p:sp>
        <p:nvSpPr>
          <p:cNvPr id="19" name="Freeform 10">
            <a:extLst>
              <a:ext uri="{FF2B5EF4-FFF2-40B4-BE49-F238E27FC236}">
                <a16:creationId xmlns:a16="http://schemas.microsoft.com/office/drawing/2014/main" id="{77F9DF01-D77D-9DD8-420C-D34A734AE34B}"/>
              </a:ext>
            </a:extLst>
          </p:cNvPr>
          <p:cNvSpPr>
            <a:spLocks/>
          </p:cNvSpPr>
          <p:nvPr/>
        </p:nvSpPr>
        <p:spPr bwMode="auto">
          <a:xfrm>
            <a:off x="7446016" y="1988985"/>
            <a:ext cx="1260014"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20" name="Freeform 10">
            <a:extLst>
              <a:ext uri="{FF2B5EF4-FFF2-40B4-BE49-F238E27FC236}">
                <a16:creationId xmlns:a16="http://schemas.microsoft.com/office/drawing/2014/main" id="{A4D0181A-3CA2-0258-2B4A-C80704867482}"/>
              </a:ext>
            </a:extLst>
          </p:cNvPr>
          <p:cNvSpPr>
            <a:spLocks/>
          </p:cNvSpPr>
          <p:nvPr/>
        </p:nvSpPr>
        <p:spPr bwMode="auto">
          <a:xfrm>
            <a:off x="8256025" y="1988985"/>
            <a:ext cx="450006"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21" name="Freeform 10">
            <a:extLst>
              <a:ext uri="{FF2B5EF4-FFF2-40B4-BE49-F238E27FC236}">
                <a16:creationId xmlns:a16="http://schemas.microsoft.com/office/drawing/2014/main" id="{66493711-1781-0806-6185-B17FE6EABDFD}"/>
              </a:ext>
            </a:extLst>
          </p:cNvPr>
          <p:cNvSpPr>
            <a:spLocks/>
          </p:cNvSpPr>
          <p:nvPr/>
        </p:nvSpPr>
        <p:spPr bwMode="auto">
          <a:xfrm flipH="1">
            <a:off x="8706029" y="1988985"/>
            <a:ext cx="450005"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22" name="Freeform 10">
            <a:extLst>
              <a:ext uri="{FF2B5EF4-FFF2-40B4-BE49-F238E27FC236}">
                <a16:creationId xmlns:a16="http://schemas.microsoft.com/office/drawing/2014/main" id="{2C0237D5-A981-4693-8E8F-D90505433BBF}"/>
              </a:ext>
            </a:extLst>
          </p:cNvPr>
          <p:cNvSpPr>
            <a:spLocks/>
          </p:cNvSpPr>
          <p:nvPr/>
        </p:nvSpPr>
        <p:spPr bwMode="auto">
          <a:xfrm flipH="1">
            <a:off x="8976032" y="1988985"/>
            <a:ext cx="990011"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23" name="正方形/長方形 22">
            <a:extLst>
              <a:ext uri="{FF2B5EF4-FFF2-40B4-BE49-F238E27FC236}">
                <a16:creationId xmlns:a16="http://schemas.microsoft.com/office/drawing/2014/main" id="{E008D35F-1260-41FA-E515-7B975DDD9BD5}"/>
              </a:ext>
            </a:extLst>
          </p:cNvPr>
          <p:cNvSpPr/>
          <p:nvPr/>
        </p:nvSpPr>
        <p:spPr bwMode="auto">
          <a:xfrm>
            <a:off x="8346025" y="4689015"/>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24" name="直線矢印コネクタ 23">
            <a:extLst>
              <a:ext uri="{FF2B5EF4-FFF2-40B4-BE49-F238E27FC236}">
                <a16:creationId xmlns:a16="http://schemas.microsoft.com/office/drawing/2014/main" id="{41F592F7-0395-AB37-AFC6-0F77D9A090C6}"/>
              </a:ext>
            </a:extLst>
          </p:cNvPr>
          <p:cNvCxnSpPr>
            <a:cxnSpLocks/>
          </p:cNvCxnSpPr>
          <p:nvPr/>
        </p:nvCxnSpPr>
        <p:spPr bwMode="auto">
          <a:xfrm>
            <a:off x="8706029" y="4491144"/>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25" name="正方形/長方形 24">
            <a:extLst>
              <a:ext uri="{FF2B5EF4-FFF2-40B4-BE49-F238E27FC236}">
                <a16:creationId xmlns:a16="http://schemas.microsoft.com/office/drawing/2014/main" id="{816F04C7-C2BE-4E69-7F20-F79A9C9636CE}"/>
              </a:ext>
            </a:extLst>
          </p:cNvPr>
          <p:cNvSpPr/>
          <p:nvPr/>
        </p:nvSpPr>
        <p:spPr bwMode="auto">
          <a:xfrm>
            <a:off x="8076022" y="4059007"/>
            <a:ext cx="360004" cy="360004"/>
          </a:xfrm>
          <a:prstGeom prst="rect">
            <a:avLst/>
          </a:prstGeom>
          <a:noFill/>
          <a:ln>
            <a:prstDash val="solid"/>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bg1">
                    <a:lumMod val="65000"/>
                  </a:schemeClr>
                </a:solidFill>
                <a:latin typeface="+mn-ea"/>
              </a:rPr>
              <a:t>PC1</a:t>
            </a:r>
            <a:endParaRPr lang="ja-JP" altLang="en-US" sz="1200" dirty="0">
              <a:solidFill>
                <a:schemeClr val="bg1">
                  <a:lumMod val="65000"/>
                </a:schemeClr>
              </a:solidFill>
              <a:latin typeface="+mn-ea"/>
            </a:endParaRPr>
          </a:p>
        </p:txBody>
      </p:sp>
      <p:cxnSp>
        <p:nvCxnSpPr>
          <p:cNvPr id="26" name="直線矢印コネクタ 25">
            <a:extLst>
              <a:ext uri="{FF2B5EF4-FFF2-40B4-BE49-F238E27FC236}">
                <a16:creationId xmlns:a16="http://schemas.microsoft.com/office/drawing/2014/main" id="{80933DC3-4143-F658-2B8E-B12D8FB3364B}"/>
              </a:ext>
            </a:extLst>
          </p:cNvPr>
          <p:cNvCxnSpPr>
            <a:cxnSpLocks/>
          </p:cNvCxnSpPr>
          <p:nvPr/>
        </p:nvCxnSpPr>
        <p:spPr bwMode="auto">
          <a:xfrm>
            <a:off x="8706029" y="5049018"/>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27" name="Freeform 10">
            <a:extLst>
              <a:ext uri="{FF2B5EF4-FFF2-40B4-BE49-F238E27FC236}">
                <a16:creationId xmlns:a16="http://schemas.microsoft.com/office/drawing/2014/main" id="{1AE7A65B-10A5-429E-3062-03F7EE8A71AE}"/>
              </a:ext>
            </a:extLst>
          </p:cNvPr>
          <p:cNvSpPr>
            <a:spLocks/>
          </p:cNvSpPr>
          <p:nvPr/>
        </p:nvSpPr>
        <p:spPr bwMode="auto">
          <a:xfrm rot="5400000">
            <a:off x="7896020" y="4779016"/>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8" name="フリーフォーム 10">
            <a:extLst>
              <a:ext uri="{FF2B5EF4-FFF2-40B4-BE49-F238E27FC236}">
                <a16:creationId xmlns:a16="http://schemas.microsoft.com/office/drawing/2014/main" id="{736E2573-9C1F-8EF5-6AD2-521C56750647}"/>
              </a:ext>
            </a:extLst>
          </p:cNvPr>
          <p:cNvSpPr>
            <a:spLocks noChangeArrowheads="1"/>
          </p:cNvSpPr>
          <p:nvPr/>
        </p:nvSpPr>
        <p:spPr bwMode="auto">
          <a:xfrm flipH="1">
            <a:off x="9606039" y="5409022"/>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noFill/>
          <a:ln>
            <a:prstDash val="solid"/>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bg1">
                    <a:lumMod val="65000"/>
                  </a:schemeClr>
                </a:solidFill>
                <a:latin typeface="+mn-ea"/>
              </a:rPr>
              <a:t>演算器</a:t>
            </a:r>
          </a:p>
        </p:txBody>
      </p:sp>
      <p:sp>
        <p:nvSpPr>
          <p:cNvPr id="29" name="フリーフォーム 10">
            <a:extLst>
              <a:ext uri="{FF2B5EF4-FFF2-40B4-BE49-F238E27FC236}">
                <a16:creationId xmlns:a16="http://schemas.microsoft.com/office/drawing/2014/main" id="{C4FE92A2-4A94-9326-A51B-4A7D7F8424AE}"/>
              </a:ext>
            </a:extLst>
          </p:cNvPr>
          <p:cNvSpPr>
            <a:spLocks noChangeArrowheads="1"/>
          </p:cNvSpPr>
          <p:nvPr/>
        </p:nvSpPr>
        <p:spPr bwMode="auto">
          <a:xfrm flipH="1">
            <a:off x="8796030" y="5409022"/>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30" name="Freeform 10">
            <a:extLst>
              <a:ext uri="{FF2B5EF4-FFF2-40B4-BE49-F238E27FC236}">
                <a16:creationId xmlns:a16="http://schemas.microsoft.com/office/drawing/2014/main" id="{FEFFC05F-0EBA-F112-9B9B-1F05117D3FE0}"/>
              </a:ext>
            </a:extLst>
          </p:cNvPr>
          <p:cNvSpPr>
            <a:spLocks/>
          </p:cNvSpPr>
          <p:nvPr/>
        </p:nvSpPr>
        <p:spPr bwMode="auto">
          <a:xfrm rot="5400000">
            <a:off x="8301026" y="5184021"/>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1" name="Freeform 10">
            <a:extLst>
              <a:ext uri="{FF2B5EF4-FFF2-40B4-BE49-F238E27FC236}">
                <a16:creationId xmlns:a16="http://schemas.microsoft.com/office/drawing/2014/main" id="{F30D843C-5C3B-F4FB-AF7C-77D5385B4C1E}"/>
              </a:ext>
            </a:extLst>
          </p:cNvPr>
          <p:cNvSpPr>
            <a:spLocks/>
          </p:cNvSpPr>
          <p:nvPr/>
        </p:nvSpPr>
        <p:spPr bwMode="auto">
          <a:xfrm rot="5400000" flipV="1">
            <a:off x="8751030" y="5004019"/>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2" name="Freeform 10">
            <a:extLst>
              <a:ext uri="{FF2B5EF4-FFF2-40B4-BE49-F238E27FC236}">
                <a16:creationId xmlns:a16="http://schemas.microsoft.com/office/drawing/2014/main" id="{3E13A3F3-84FE-0263-9C01-84F187F5ECA8}"/>
              </a:ext>
            </a:extLst>
          </p:cNvPr>
          <p:cNvSpPr>
            <a:spLocks/>
          </p:cNvSpPr>
          <p:nvPr/>
        </p:nvSpPr>
        <p:spPr bwMode="auto">
          <a:xfrm rot="5400000" flipV="1">
            <a:off x="9381037" y="4824017"/>
            <a:ext cx="180003" cy="99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3" name="正方形/長方形 32">
            <a:extLst>
              <a:ext uri="{FF2B5EF4-FFF2-40B4-BE49-F238E27FC236}">
                <a16:creationId xmlns:a16="http://schemas.microsoft.com/office/drawing/2014/main" id="{5556F761-FF80-81D1-173E-0C8CC198C68B}"/>
              </a:ext>
            </a:extLst>
          </p:cNvPr>
          <p:cNvSpPr/>
          <p:nvPr/>
        </p:nvSpPr>
        <p:spPr bwMode="auto">
          <a:xfrm>
            <a:off x="7266013" y="4059007"/>
            <a:ext cx="360004" cy="360004"/>
          </a:xfrm>
          <a:prstGeom prst="rect">
            <a:avLst/>
          </a:prstGeom>
          <a:noFill/>
          <a:ln>
            <a:prstDash val="solid"/>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bg1">
                    <a:lumMod val="65000"/>
                  </a:schemeClr>
                </a:solidFill>
                <a:latin typeface="+mn-ea"/>
              </a:rPr>
              <a:t>PC0</a:t>
            </a:r>
            <a:endParaRPr lang="ja-JP" altLang="en-US" sz="1200" dirty="0">
              <a:solidFill>
                <a:schemeClr val="bg1">
                  <a:lumMod val="65000"/>
                </a:schemeClr>
              </a:solidFill>
              <a:latin typeface="+mn-ea"/>
            </a:endParaRPr>
          </a:p>
        </p:txBody>
      </p:sp>
      <p:sp>
        <p:nvSpPr>
          <p:cNvPr id="34" name="正方形/長方形 33">
            <a:extLst>
              <a:ext uri="{FF2B5EF4-FFF2-40B4-BE49-F238E27FC236}">
                <a16:creationId xmlns:a16="http://schemas.microsoft.com/office/drawing/2014/main" id="{F51DA4DD-CFFA-8D7B-B3DB-EDCEF8AD01F5}"/>
              </a:ext>
            </a:extLst>
          </p:cNvPr>
          <p:cNvSpPr/>
          <p:nvPr/>
        </p:nvSpPr>
        <p:spPr bwMode="auto">
          <a:xfrm>
            <a:off x="8976032" y="4059007"/>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PC2</a:t>
            </a:r>
            <a:endParaRPr lang="ja-JP" altLang="en-US" sz="1200" dirty="0">
              <a:solidFill>
                <a:schemeClr val="tx1">
                  <a:lumMod val="75000"/>
                  <a:lumOff val="25000"/>
                </a:schemeClr>
              </a:solidFill>
              <a:latin typeface="+mn-ea"/>
            </a:endParaRPr>
          </a:p>
        </p:txBody>
      </p:sp>
      <p:sp>
        <p:nvSpPr>
          <p:cNvPr id="35" name="正方形/長方形 34">
            <a:extLst>
              <a:ext uri="{FF2B5EF4-FFF2-40B4-BE49-F238E27FC236}">
                <a16:creationId xmlns:a16="http://schemas.microsoft.com/office/drawing/2014/main" id="{CFBBF20E-4FE3-9285-0670-26F0F6E517AE}"/>
              </a:ext>
            </a:extLst>
          </p:cNvPr>
          <p:cNvSpPr/>
          <p:nvPr/>
        </p:nvSpPr>
        <p:spPr bwMode="auto">
          <a:xfrm>
            <a:off x="9786041" y="4059007"/>
            <a:ext cx="360004" cy="360004"/>
          </a:xfrm>
          <a:prstGeom prst="rect">
            <a:avLst/>
          </a:prstGeom>
          <a:noFill/>
          <a:ln>
            <a:prstDash val="solid"/>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bg1">
                    <a:lumMod val="65000"/>
                  </a:schemeClr>
                </a:solidFill>
                <a:latin typeface="+mn-ea"/>
              </a:rPr>
              <a:t>PC3</a:t>
            </a:r>
            <a:endParaRPr lang="ja-JP" altLang="en-US" sz="1200" dirty="0">
              <a:solidFill>
                <a:schemeClr val="bg1">
                  <a:lumMod val="65000"/>
                </a:schemeClr>
              </a:solidFill>
              <a:latin typeface="+mn-ea"/>
            </a:endParaRPr>
          </a:p>
        </p:txBody>
      </p:sp>
      <p:sp>
        <p:nvSpPr>
          <p:cNvPr id="36" name="Freeform 10">
            <a:extLst>
              <a:ext uri="{FF2B5EF4-FFF2-40B4-BE49-F238E27FC236}">
                <a16:creationId xmlns:a16="http://schemas.microsoft.com/office/drawing/2014/main" id="{8F27284E-E919-7C72-A61B-C92F3BBD8835}"/>
              </a:ext>
            </a:extLst>
          </p:cNvPr>
          <p:cNvSpPr>
            <a:spLocks/>
          </p:cNvSpPr>
          <p:nvPr/>
        </p:nvSpPr>
        <p:spPr bwMode="auto">
          <a:xfrm>
            <a:off x="7446016" y="4419012"/>
            <a:ext cx="1260014"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37" name="Freeform 10">
            <a:extLst>
              <a:ext uri="{FF2B5EF4-FFF2-40B4-BE49-F238E27FC236}">
                <a16:creationId xmlns:a16="http://schemas.microsoft.com/office/drawing/2014/main" id="{092B9177-DEA2-3769-6AD2-4592F9B599C1}"/>
              </a:ext>
            </a:extLst>
          </p:cNvPr>
          <p:cNvSpPr>
            <a:spLocks/>
          </p:cNvSpPr>
          <p:nvPr/>
        </p:nvSpPr>
        <p:spPr bwMode="auto">
          <a:xfrm>
            <a:off x="8256025" y="4419012"/>
            <a:ext cx="450006"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38" name="Freeform 10">
            <a:extLst>
              <a:ext uri="{FF2B5EF4-FFF2-40B4-BE49-F238E27FC236}">
                <a16:creationId xmlns:a16="http://schemas.microsoft.com/office/drawing/2014/main" id="{8A1ADCD5-89F5-F465-EC7B-BF1CE31695CA}"/>
              </a:ext>
            </a:extLst>
          </p:cNvPr>
          <p:cNvSpPr>
            <a:spLocks/>
          </p:cNvSpPr>
          <p:nvPr/>
        </p:nvSpPr>
        <p:spPr bwMode="auto">
          <a:xfrm flipH="1">
            <a:off x="8706029" y="4419012"/>
            <a:ext cx="450005"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39" name="Freeform 10">
            <a:extLst>
              <a:ext uri="{FF2B5EF4-FFF2-40B4-BE49-F238E27FC236}">
                <a16:creationId xmlns:a16="http://schemas.microsoft.com/office/drawing/2014/main" id="{6C88E324-4ABB-B7F6-C914-9A06534846D1}"/>
              </a:ext>
            </a:extLst>
          </p:cNvPr>
          <p:cNvSpPr>
            <a:spLocks/>
          </p:cNvSpPr>
          <p:nvPr/>
        </p:nvSpPr>
        <p:spPr bwMode="auto">
          <a:xfrm flipH="1">
            <a:off x="8976032" y="4419012"/>
            <a:ext cx="990011"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40" name="フリーフォーム 10">
            <a:extLst>
              <a:ext uri="{FF2B5EF4-FFF2-40B4-BE49-F238E27FC236}">
                <a16:creationId xmlns:a16="http://schemas.microsoft.com/office/drawing/2014/main" id="{1162991A-0959-8B51-229B-D2AAAE89B6A4}"/>
              </a:ext>
            </a:extLst>
          </p:cNvPr>
          <p:cNvSpPr>
            <a:spLocks noChangeArrowheads="1"/>
          </p:cNvSpPr>
          <p:nvPr/>
        </p:nvSpPr>
        <p:spPr bwMode="auto">
          <a:xfrm flipH="1">
            <a:off x="7086011" y="5409022"/>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noFill/>
          <a:ln>
            <a:prstDash val="solid"/>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bg1">
                    <a:lumMod val="65000"/>
                  </a:schemeClr>
                </a:solidFill>
                <a:latin typeface="+mn-ea"/>
              </a:rPr>
              <a:t>演算器</a:t>
            </a:r>
          </a:p>
        </p:txBody>
      </p:sp>
      <p:sp>
        <p:nvSpPr>
          <p:cNvPr id="41" name="フリーフォーム 10">
            <a:extLst>
              <a:ext uri="{FF2B5EF4-FFF2-40B4-BE49-F238E27FC236}">
                <a16:creationId xmlns:a16="http://schemas.microsoft.com/office/drawing/2014/main" id="{F6BD27E5-4359-543F-2969-07CFB82702B9}"/>
              </a:ext>
            </a:extLst>
          </p:cNvPr>
          <p:cNvSpPr>
            <a:spLocks noChangeArrowheads="1"/>
          </p:cNvSpPr>
          <p:nvPr/>
        </p:nvSpPr>
        <p:spPr bwMode="auto">
          <a:xfrm flipH="1">
            <a:off x="7896020" y="5409022"/>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noFill/>
          <a:ln>
            <a:prstDash val="solid"/>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bg1">
                    <a:lumMod val="65000"/>
                  </a:schemeClr>
                </a:solidFill>
                <a:latin typeface="+mn-ea"/>
              </a:rPr>
              <a:t>演算器</a:t>
            </a:r>
          </a:p>
        </p:txBody>
      </p:sp>
      <p:sp>
        <p:nvSpPr>
          <p:cNvPr id="42" name="正方形/長方形 41">
            <a:extLst>
              <a:ext uri="{FF2B5EF4-FFF2-40B4-BE49-F238E27FC236}">
                <a16:creationId xmlns:a16="http://schemas.microsoft.com/office/drawing/2014/main" id="{82C19965-695E-73F5-050B-D151ED2CF91A}"/>
              </a:ext>
            </a:extLst>
          </p:cNvPr>
          <p:cNvSpPr/>
          <p:nvPr/>
        </p:nvSpPr>
        <p:spPr bwMode="auto">
          <a:xfrm>
            <a:off x="7896021" y="1268976"/>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else </a:t>
            </a:r>
            <a:r>
              <a:rPr lang="ja-JP" altLang="en-US" sz="1600" dirty="0">
                <a:solidFill>
                  <a:schemeClr val="tx1">
                    <a:lumMod val="75000"/>
                    <a:lumOff val="25000"/>
                  </a:schemeClr>
                </a:solidFill>
                <a:latin typeface="+mn-ea"/>
              </a:rPr>
              <a:t>節の実行</a:t>
            </a:r>
          </a:p>
        </p:txBody>
      </p:sp>
      <p:sp>
        <p:nvSpPr>
          <p:cNvPr id="43" name="正方形/長方形 42">
            <a:extLst>
              <a:ext uri="{FF2B5EF4-FFF2-40B4-BE49-F238E27FC236}">
                <a16:creationId xmlns:a16="http://schemas.microsoft.com/office/drawing/2014/main" id="{CD3A74A6-E7E5-C629-D31D-986622126BE9}"/>
              </a:ext>
            </a:extLst>
          </p:cNvPr>
          <p:cNvSpPr/>
          <p:nvPr/>
        </p:nvSpPr>
        <p:spPr bwMode="auto">
          <a:xfrm>
            <a:off x="8076023" y="3699003"/>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if </a:t>
            </a:r>
            <a:r>
              <a:rPr lang="ja-JP" altLang="en-US" sz="1600" dirty="0">
                <a:solidFill>
                  <a:schemeClr val="tx1">
                    <a:lumMod val="75000"/>
                    <a:lumOff val="25000"/>
                  </a:schemeClr>
                </a:solidFill>
                <a:latin typeface="+mn-ea"/>
              </a:rPr>
              <a:t>節の実行</a:t>
            </a:r>
          </a:p>
        </p:txBody>
      </p:sp>
      <p:sp>
        <p:nvSpPr>
          <p:cNvPr id="46" name="正方形/長方形 45">
            <a:extLst>
              <a:ext uri="{FF2B5EF4-FFF2-40B4-BE49-F238E27FC236}">
                <a16:creationId xmlns:a16="http://schemas.microsoft.com/office/drawing/2014/main" id="{0DC019C0-5106-7E5C-90C1-30655AEB724B}"/>
              </a:ext>
            </a:extLst>
          </p:cNvPr>
          <p:cNvSpPr/>
          <p:nvPr/>
        </p:nvSpPr>
        <p:spPr bwMode="auto">
          <a:xfrm>
            <a:off x="1955954" y="818972"/>
            <a:ext cx="3780042" cy="2790031"/>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Consolas" panose="020B0609020204030204" pitchFamily="49" charset="0"/>
              </a:rPr>
              <a:t>int </a:t>
            </a:r>
            <a:r>
              <a:rPr lang="en-US" altLang="ja-JP" sz="1600" dirty="0" err="1">
                <a:solidFill>
                  <a:schemeClr val="tx1">
                    <a:lumMod val="75000"/>
                    <a:lumOff val="25000"/>
                  </a:schemeClr>
                </a:solidFill>
                <a:latin typeface="Consolas" panose="020B0609020204030204" pitchFamily="49" charset="0"/>
              </a:rPr>
              <a:t>branch_func</a:t>
            </a:r>
            <a:r>
              <a:rPr lang="en-US" altLang="ja-JP" sz="1600" dirty="0">
                <a:solidFill>
                  <a:schemeClr val="tx1">
                    <a:lumMod val="75000"/>
                    <a:lumOff val="25000"/>
                  </a:schemeClr>
                </a:solidFill>
                <a:latin typeface="Consolas" panose="020B0609020204030204" pitchFamily="49" charset="0"/>
              </a:rPr>
              <a:t>(int </a:t>
            </a:r>
            <a:r>
              <a:rPr lang="en-US" altLang="ja-JP" sz="1600" dirty="0" err="1">
                <a:solidFill>
                  <a:schemeClr val="tx1">
                    <a:lumMod val="75000"/>
                    <a:lumOff val="25000"/>
                  </a:schemeClr>
                </a:solidFill>
                <a:latin typeface="Consolas" panose="020B0609020204030204" pitchFamily="49" charset="0"/>
              </a:rPr>
              <a:t>t_id</a:t>
            </a:r>
            <a:r>
              <a:rPr lang="en-US" altLang="ja-JP" sz="1600" dirty="0">
                <a:solidFill>
                  <a:schemeClr val="tx1">
                    <a:lumMod val="75000"/>
                    <a:lumOff val="25000"/>
                  </a:schemeClr>
                </a:solidFill>
                <a:latin typeface="Consolas" panose="020B0609020204030204" pitchFamily="49" charset="0"/>
              </a:rPr>
              <a:t>, int i) {</a:t>
            </a:r>
          </a:p>
          <a:p>
            <a:r>
              <a:rPr lang="ja-JP" altLang="en-US" sz="1600" dirty="0">
                <a:solidFill>
                  <a:schemeClr val="tx1">
                    <a:lumMod val="75000"/>
                    <a:lumOff val="25000"/>
                  </a:schemeClr>
                </a:solidFill>
                <a:latin typeface="Consolas" panose="020B0609020204030204" pitchFamily="49" charset="0"/>
              </a:rPr>
              <a:t>    </a:t>
            </a:r>
            <a:r>
              <a:rPr lang="en-US" altLang="ja-JP" sz="1600" dirty="0">
                <a:solidFill>
                  <a:schemeClr val="tx1">
                    <a:lumMod val="75000"/>
                    <a:lumOff val="25000"/>
                  </a:schemeClr>
                </a:solidFill>
                <a:latin typeface="Consolas" panose="020B0609020204030204" pitchFamily="49" charset="0"/>
              </a:rPr>
              <a:t>if (</a:t>
            </a:r>
            <a:r>
              <a:rPr lang="en-US" altLang="ja-JP" sz="1600" dirty="0" err="1">
                <a:solidFill>
                  <a:schemeClr val="tx1">
                    <a:lumMod val="75000"/>
                    <a:lumOff val="25000"/>
                  </a:schemeClr>
                </a:solidFill>
                <a:latin typeface="Consolas" panose="020B0609020204030204" pitchFamily="49" charset="0"/>
              </a:rPr>
              <a:t>t_id</a:t>
            </a:r>
            <a:r>
              <a:rPr lang="en-US" altLang="ja-JP" sz="1600" dirty="0">
                <a:solidFill>
                  <a:schemeClr val="tx1">
                    <a:lumMod val="75000"/>
                    <a:lumOff val="25000"/>
                  </a:schemeClr>
                </a:solidFill>
                <a:latin typeface="Consolas" panose="020B0609020204030204" pitchFamily="49" charset="0"/>
              </a:rPr>
              <a:t> == 2)</a:t>
            </a:r>
          </a:p>
          <a:p>
            <a:r>
              <a:rPr lang="en-US" altLang="ja-JP" sz="1600" dirty="0">
                <a:solidFill>
                  <a:schemeClr val="tx1">
                    <a:lumMod val="75000"/>
                    <a:lumOff val="25000"/>
                  </a:schemeClr>
                </a:solidFill>
                <a:latin typeface="Consolas" panose="020B0609020204030204" pitchFamily="49" charset="0"/>
              </a:rPr>
              <a:t>       i++;        </a:t>
            </a:r>
          </a:p>
          <a:p>
            <a:r>
              <a:rPr lang="en-US" altLang="ja-JP" sz="1600" dirty="0">
                <a:solidFill>
                  <a:schemeClr val="tx1">
                    <a:lumMod val="75000"/>
                    <a:lumOff val="25000"/>
                  </a:schemeClr>
                </a:solidFill>
                <a:latin typeface="Consolas" panose="020B0609020204030204" pitchFamily="49" charset="0"/>
              </a:rPr>
              <a:t>    else            </a:t>
            </a:r>
          </a:p>
          <a:p>
            <a:r>
              <a:rPr lang="en-US" altLang="ja-JP" sz="1600" dirty="0">
                <a:solidFill>
                  <a:schemeClr val="tx1">
                    <a:lumMod val="75000"/>
                    <a:lumOff val="25000"/>
                  </a:schemeClr>
                </a:solidFill>
                <a:latin typeface="Consolas" panose="020B0609020204030204" pitchFamily="49" charset="0"/>
              </a:rPr>
              <a:t>       i--;        </a:t>
            </a:r>
          </a:p>
          <a:p>
            <a:r>
              <a:rPr lang="en-US" altLang="ja-JP" sz="1600" dirty="0">
                <a:solidFill>
                  <a:schemeClr val="tx1">
                    <a:lumMod val="75000"/>
                    <a:lumOff val="25000"/>
                  </a:schemeClr>
                </a:solidFill>
                <a:latin typeface="Consolas" panose="020B0609020204030204" pitchFamily="49" charset="0"/>
              </a:rPr>
              <a:t>    return i;    </a:t>
            </a:r>
          </a:p>
          <a:p>
            <a:r>
              <a:rPr lang="en-US" altLang="ja-JP" sz="1600" dirty="0">
                <a:solidFill>
                  <a:schemeClr val="tx1">
                    <a:lumMod val="75000"/>
                    <a:lumOff val="25000"/>
                  </a:schemeClr>
                </a:solidFill>
                <a:latin typeface="Consolas" panose="020B0609020204030204" pitchFamily="49" charset="0"/>
              </a:rPr>
              <a:t>}</a:t>
            </a:r>
            <a:endParaRPr lang="ja-JP" altLang="en-US" sz="1600" dirty="0">
              <a:solidFill>
                <a:schemeClr val="tx1">
                  <a:lumMod val="75000"/>
                  <a:lumOff val="25000"/>
                </a:schemeClr>
              </a:solidFill>
              <a:latin typeface="Consolas" panose="020B0609020204030204" pitchFamily="49" charset="0"/>
            </a:endParaRPr>
          </a:p>
        </p:txBody>
      </p:sp>
      <p:sp>
        <p:nvSpPr>
          <p:cNvPr id="47" name="テキスト プレースホルダー 2">
            <a:extLst>
              <a:ext uri="{FF2B5EF4-FFF2-40B4-BE49-F238E27FC236}">
                <a16:creationId xmlns:a16="http://schemas.microsoft.com/office/drawing/2014/main" id="{96D6D80B-FA8C-0DF9-FD0D-6A622393DBB3}"/>
              </a:ext>
            </a:extLst>
          </p:cNvPr>
          <p:cNvSpPr>
            <a:spLocks noGrp="1"/>
          </p:cNvSpPr>
          <p:nvPr>
            <p:ph type="body" sz="quarter" idx="10"/>
          </p:nvPr>
        </p:nvSpPr>
        <p:spPr>
          <a:xfrm>
            <a:off x="2135957" y="3338999"/>
            <a:ext cx="4950055" cy="2969726"/>
          </a:xfrm>
        </p:spPr>
        <p:txBody>
          <a:bodyPr/>
          <a:lstStyle/>
          <a:p>
            <a:r>
              <a:rPr kumimoji="1" lang="en-US" altLang="ja-JP" dirty="0"/>
              <a:t>else </a:t>
            </a:r>
            <a:r>
              <a:rPr kumimoji="1" lang="ja-JP" altLang="en-US" dirty="0"/>
              <a:t>と </a:t>
            </a:r>
            <a:r>
              <a:rPr kumimoji="1" lang="en-US" altLang="ja-JP" dirty="0"/>
              <a:t>if </a:t>
            </a:r>
            <a:r>
              <a:rPr kumimoji="1" lang="ja-JP" altLang="en-US" dirty="0"/>
              <a:t>の ２回に分けて実行される</a:t>
            </a:r>
            <a:endParaRPr kumimoji="1" lang="en-US" altLang="ja-JP" dirty="0"/>
          </a:p>
          <a:p>
            <a:pPr lvl="1"/>
            <a:r>
              <a:rPr kumimoji="1" lang="ja-JP" altLang="en-US" dirty="0"/>
              <a:t>この例では実行速度が </a:t>
            </a:r>
            <a:r>
              <a:rPr kumimoji="1" lang="en-US" altLang="ja-JP" dirty="0"/>
              <a:t>½ </a:t>
            </a:r>
            <a:r>
              <a:rPr kumimoji="1" lang="ja-JP" altLang="en-US" dirty="0"/>
              <a:t>に</a:t>
            </a:r>
            <a:endParaRPr kumimoji="1" lang="en-US" altLang="ja-JP" dirty="0"/>
          </a:p>
        </p:txBody>
      </p:sp>
    </p:spTree>
    <p:extLst>
      <p:ext uri="{BB962C8B-B14F-4D97-AF65-F5344CB8AC3E}">
        <p14:creationId xmlns:p14="http://schemas.microsoft.com/office/powerpoint/2010/main" val="16921750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62E807-F7A0-A62B-79FC-9477A70D980E}"/>
              </a:ext>
            </a:extLst>
          </p:cNvPr>
          <p:cNvSpPr>
            <a:spLocks noGrp="1"/>
          </p:cNvSpPr>
          <p:nvPr>
            <p:ph type="title"/>
          </p:nvPr>
        </p:nvSpPr>
        <p:spPr/>
        <p:txBody>
          <a:bodyPr/>
          <a:lstStyle/>
          <a:p>
            <a:r>
              <a:rPr kumimoji="1" lang="ja-JP" altLang="en-US" dirty="0"/>
              <a:t>カレー屋さんにおける </a:t>
            </a:r>
            <a:r>
              <a:rPr kumimoji="1" lang="en-US" altLang="ja-JP" dirty="0"/>
              <a:t>branch divergence </a:t>
            </a:r>
            <a:endParaRPr kumimoji="1" lang="ja-JP" altLang="en-US" dirty="0"/>
          </a:p>
        </p:txBody>
      </p:sp>
      <p:sp>
        <p:nvSpPr>
          <p:cNvPr id="3" name="テキスト プレースホルダー 2">
            <a:extLst>
              <a:ext uri="{FF2B5EF4-FFF2-40B4-BE49-F238E27FC236}">
                <a16:creationId xmlns:a16="http://schemas.microsoft.com/office/drawing/2014/main" id="{7D7A7172-4B4F-C73C-AB41-733900823878}"/>
              </a:ext>
            </a:extLst>
          </p:cNvPr>
          <p:cNvSpPr>
            <a:spLocks noGrp="1"/>
          </p:cNvSpPr>
          <p:nvPr>
            <p:ph type="body" sz="quarter" idx="10"/>
          </p:nvPr>
        </p:nvSpPr>
        <p:spPr>
          <a:xfrm>
            <a:off x="155934" y="908972"/>
            <a:ext cx="4590051" cy="5490061"/>
          </a:xfrm>
        </p:spPr>
        <p:txBody>
          <a:bodyPr/>
          <a:lstStyle/>
          <a:p>
            <a:r>
              <a:rPr kumimoji="1" lang="ja-JP" altLang="en-US" dirty="0"/>
              <a:t>レシピに分岐があるとする</a:t>
            </a:r>
            <a:endParaRPr kumimoji="1" lang="en-US" altLang="ja-JP" dirty="0"/>
          </a:p>
          <a:p>
            <a:pPr lvl="1"/>
            <a:r>
              <a:rPr lang="ja-JP" altLang="en-US" dirty="0"/>
              <a:t>鶏肉か？牛肉か？</a:t>
            </a:r>
            <a:endParaRPr lang="en-US" altLang="ja-JP" dirty="0"/>
          </a:p>
          <a:p>
            <a:r>
              <a:rPr kumimoji="1" lang="ja-JP" altLang="en-US" dirty="0"/>
              <a:t>レシピの「今ここやってます」が分散する</a:t>
            </a:r>
            <a:endParaRPr kumimoji="1" lang="en-US" altLang="ja-JP" dirty="0"/>
          </a:p>
          <a:p>
            <a:pPr lvl="1"/>
            <a:r>
              <a:rPr lang="ja-JP" altLang="en-US" dirty="0"/>
              <a:t>レシピ読み上げ指示の一人は一箇所しか読めない</a:t>
            </a:r>
            <a:endParaRPr lang="en-US" altLang="ja-JP" dirty="0"/>
          </a:p>
          <a:p>
            <a:r>
              <a:rPr kumimoji="1" lang="ja-JP" altLang="en-US" dirty="0"/>
              <a:t>鶏肉の処理をやってから，</a:t>
            </a:r>
            <a:br>
              <a:rPr kumimoji="1" lang="en-US" altLang="ja-JP" dirty="0"/>
            </a:br>
            <a:r>
              <a:rPr kumimoji="1" lang="ja-JP" altLang="en-US" dirty="0"/>
              <a:t>牛肉の処理を時分割でやる</a:t>
            </a:r>
            <a:endParaRPr kumimoji="1" lang="en-US" altLang="ja-JP" dirty="0"/>
          </a:p>
          <a:p>
            <a:pPr lvl="1"/>
            <a:r>
              <a:rPr kumimoji="1" lang="ja-JP" altLang="en-US" dirty="0"/>
              <a:t>鶏肉の処理をしている間</a:t>
            </a:r>
            <a:r>
              <a:rPr lang="ja-JP" altLang="en-US" dirty="0"/>
              <a:t>は</a:t>
            </a:r>
            <a:br>
              <a:rPr lang="en-US" altLang="ja-JP" dirty="0"/>
            </a:br>
            <a:r>
              <a:rPr lang="ja-JP" altLang="en-US" dirty="0"/>
              <a:t>下の２本は何もせず無駄</a:t>
            </a:r>
            <a:endParaRPr kumimoji="1" lang="ja-JP" altLang="en-US" dirty="0"/>
          </a:p>
        </p:txBody>
      </p:sp>
      <p:sp>
        <p:nvSpPr>
          <p:cNvPr id="22" name="平行四辺形 21">
            <a:extLst>
              <a:ext uri="{FF2B5EF4-FFF2-40B4-BE49-F238E27FC236}">
                <a16:creationId xmlns:a16="http://schemas.microsoft.com/office/drawing/2014/main" id="{2562AFD0-35D7-5E26-09FD-DFEFDD8BB360}"/>
              </a:ext>
            </a:extLst>
          </p:cNvPr>
          <p:cNvSpPr/>
          <p:nvPr/>
        </p:nvSpPr>
        <p:spPr bwMode="auto">
          <a:xfrm>
            <a:off x="8436027" y="2465977"/>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3" name="正方形/長方形 22">
            <a:extLst>
              <a:ext uri="{FF2B5EF4-FFF2-40B4-BE49-F238E27FC236}">
                <a16:creationId xmlns:a16="http://schemas.microsoft.com/office/drawing/2014/main" id="{33D714F3-BAD7-928B-EE3D-3616D0384A97}"/>
              </a:ext>
            </a:extLst>
          </p:cNvPr>
          <p:cNvSpPr/>
          <p:nvPr/>
        </p:nvSpPr>
        <p:spPr>
          <a:xfrm>
            <a:off x="8886032" y="1655968"/>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4" name="平行四辺形 23">
            <a:extLst>
              <a:ext uri="{FF2B5EF4-FFF2-40B4-BE49-F238E27FC236}">
                <a16:creationId xmlns:a16="http://schemas.microsoft.com/office/drawing/2014/main" id="{A2E9BB60-E24A-174E-424D-734F9E00CF8E}"/>
              </a:ext>
            </a:extLst>
          </p:cNvPr>
          <p:cNvSpPr/>
          <p:nvPr/>
        </p:nvSpPr>
        <p:spPr bwMode="auto">
          <a:xfrm>
            <a:off x="10056045" y="1835970"/>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正方形/長方形 24">
            <a:extLst>
              <a:ext uri="{FF2B5EF4-FFF2-40B4-BE49-F238E27FC236}">
                <a16:creationId xmlns:a16="http://schemas.microsoft.com/office/drawing/2014/main" id="{C8CB0951-B1B4-318A-6039-BF7637EEF8DB}"/>
              </a:ext>
            </a:extLst>
          </p:cNvPr>
          <p:cNvSpPr/>
          <p:nvPr/>
        </p:nvSpPr>
        <p:spPr>
          <a:xfrm>
            <a:off x="10416049" y="1025961"/>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6" name="角丸四角形吹き出し 44">
            <a:extLst>
              <a:ext uri="{FF2B5EF4-FFF2-40B4-BE49-F238E27FC236}">
                <a16:creationId xmlns:a16="http://schemas.microsoft.com/office/drawing/2014/main" id="{6CF46585-9A7A-B506-4C28-E1AC88623884}"/>
              </a:ext>
            </a:extLst>
          </p:cNvPr>
          <p:cNvSpPr/>
          <p:nvPr/>
        </p:nvSpPr>
        <p:spPr bwMode="auto">
          <a:xfrm>
            <a:off x="9156034" y="935960"/>
            <a:ext cx="1170012" cy="522648"/>
          </a:xfrm>
          <a:prstGeom prst="wedgeRoundRectCallout">
            <a:avLst>
              <a:gd name="adj1" fmla="val -36493"/>
              <a:gd name="adj2" fmla="val 100662"/>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鶏肉かい？</a:t>
            </a:r>
          </a:p>
        </p:txBody>
      </p:sp>
      <p:sp>
        <p:nvSpPr>
          <p:cNvPr id="27" name="平行四辺形 26">
            <a:extLst>
              <a:ext uri="{FF2B5EF4-FFF2-40B4-BE49-F238E27FC236}">
                <a16:creationId xmlns:a16="http://schemas.microsoft.com/office/drawing/2014/main" id="{CBFCE05D-19A5-7196-6DC0-7E6288044B18}"/>
              </a:ext>
            </a:extLst>
          </p:cNvPr>
          <p:cNvSpPr/>
          <p:nvPr/>
        </p:nvSpPr>
        <p:spPr bwMode="auto">
          <a:xfrm>
            <a:off x="10056045" y="2465977"/>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a:extLst>
              <a:ext uri="{FF2B5EF4-FFF2-40B4-BE49-F238E27FC236}">
                <a16:creationId xmlns:a16="http://schemas.microsoft.com/office/drawing/2014/main" id="{9FA79FB5-FFF6-8875-73FD-561DCEF34B99}"/>
              </a:ext>
            </a:extLst>
          </p:cNvPr>
          <p:cNvSpPr/>
          <p:nvPr/>
        </p:nvSpPr>
        <p:spPr bwMode="auto">
          <a:xfrm>
            <a:off x="9966044" y="3104946"/>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cxnSp>
        <p:nvCxnSpPr>
          <p:cNvPr id="29" name="直線矢印コネクタ 28">
            <a:extLst>
              <a:ext uri="{FF2B5EF4-FFF2-40B4-BE49-F238E27FC236}">
                <a16:creationId xmlns:a16="http://schemas.microsoft.com/office/drawing/2014/main" id="{561E45C5-4DE6-F6AA-352F-63CB5284C660}"/>
              </a:ext>
            </a:extLst>
          </p:cNvPr>
          <p:cNvCxnSpPr>
            <a:cxnSpLocks/>
          </p:cNvCxnSpPr>
          <p:nvPr/>
        </p:nvCxnSpPr>
        <p:spPr bwMode="auto">
          <a:xfrm flipV="1">
            <a:off x="9786042" y="2105973"/>
            <a:ext cx="540006" cy="450005"/>
          </a:xfrm>
          <a:prstGeom prst="straightConnector1">
            <a:avLst/>
          </a:prstGeom>
          <a:ln w="57150">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30" name="直線矢印コネクタ 29">
            <a:extLst>
              <a:ext uri="{FF2B5EF4-FFF2-40B4-BE49-F238E27FC236}">
                <a16:creationId xmlns:a16="http://schemas.microsoft.com/office/drawing/2014/main" id="{399D1826-3B05-ED77-4BAF-49A6CDCDA7B7}"/>
              </a:ext>
            </a:extLst>
          </p:cNvPr>
          <p:cNvCxnSpPr>
            <a:cxnSpLocks/>
          </p:cNvCxnSpPr>
          <p:nvPr/>
        </p:nvCxnSpPr>
        <p:spPr bwMode="auto">
          <a:xfrm>
            <a:off x="9786042" y="2735980"/>
            <a:ext cx="540006" cy="0"/>
          </a:xfrm>
          <a:prstGeom prst="straightConnector1">
            <a:avLst/>
          </a:prstGeom>
          <a:ln w="57150">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31" name="直線矢印コネクタ 30">
            <a:extLst>
              <a:ext uri="{FF2B5EF4-FFF2-40B4-BE49-F238E27FC236}">
                <a16:creationId xmlns:a16="http://schemas.microsoft.com/office/drawing/2014/main" id="{9A9D7FAA-92C1-FB38-F1F5-AF870AA4BA38}"/>
              </a:ext>
            </a:extLst>
          </p:cNvPr>
          <p:cNvCxnSpPr>
            <a:cxnSpLocks/>
          </p:cNvCxnSpPr>
          <p:nvPr/>
        </p:nvCxnSpPr>
        <p:spPr bwMode="auto">
          <a:xfrm>
            <a:off x="9786042" y="2825981"/>
            <a:ext cx="540006" cy="540006"/>
          </a:xfrm>
          <a:prstGeom prst="straightConnector1">
            <a:avLst/>
          </a:prstGeom>
          <a:ln w="57150">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34" name="正方形/長方形 33">
            <a:extLst>
              <a:ext uri="{FF2B5EF4-FFF2-40B4-BE49-F238E27FC236}">
                <a16:creationId xmlns:a16="http://schemas.microsoft.com/office/drawing/2014/main" id="{6513FC4C-2DA3-04DC-B256-F12E79472296}"/>
              </a:ext>
            </a:extLst>
          </p:cNvPr>
          <p:cNvSpPr/>
          <p:nvPr/>
        </p:nvSpPr>
        <p:spPr bwMode="auto">
          <a:xfrm>
            <a:off x="5555994" y="1295965"/>
            <a:ext cx="2790031" cy="1980022"/>
          </a:xfrm>
          <a:prstGeom prst="rect">
            <a:avLst/>
          </a:prstGeom>
          <a:solidFill>
            <a:schemeClr val="bg1"/>
          </a:solidFill>
          <a:ln>
            <a:solidFill>
              <a:schemeClr val="accent4"/>
            </a:solidFill>
            <a:headEnd/>
            <a:tailEnd type="none" w="sm" len="med"/>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150000"/>
              </a:lnSpc>
            </a:pPr>
            <a:r>
              <a:rPr lang="en-US" altLang="ja-JP" sz="1600" dirty="0">
                <a:solidFill>
                  <a:schemeClr val="accent4"/>
                </a:solidFill>
                <a:latin typeface="Arial Narrow" panose="020B0606020202030204" pitchFamily="34" charset="0"/>
              </a:rPr>
              <a:t>1. </a:t>
            </a:r>
            <a:r>
              <a:rPr lang="ja-JP" altLang="en-US" sz="1600" dirty="0">
                <a:solidFill>
                  <a:schemeClr val="accent4"/>
                </a:solidFill>
                <a:latin typeface="Arial Narrow" panose="020B0606020202030204" pitchFamily="34" charset="0"/>
              </a:rPr>
              <a:t>人参を切る</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2. </a:t>
            </a:r>
            <a:r>
              <a:rPr lang="ja-JP" altLang="en-US" sz="1600" dirty="0">
                <a:solidFill>
                  <a:schemeClr val="accent4"/>
                </a:solidFill>
                <a:latin typeface="Arial Narrow" panose="020B0606020202030204" pitchFamily="34" charset="0"/>
              </a:rPr>
              <a:t>もし鶏肉なら？</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3.     </a:t>
            </a:r>
            <a:r>
              <a:rPr lang="ja-JP" altLang="en-US" sz="1600" dirty="0">
                <a:solidFill>
                  <a:schemeClr val="accent4"/>
                </a:solidFill>
                <a:latin typeface="Arial Narrow" panose="020B0606020202030204" pitchFamily="34" charset="0"/>
              </a:rPr>
              <a:t>皮を取る</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4. </a:t>
            </a:r>
            <a:r>
              <a:rPr lang="ja-JP" altLang="en-US" sz="1600" dirty="0">
                <a:solidFill>
                  <a:schemeClr val="accent4"/>
                </a:solidFill>
                <a:latin typeface="Arial Narrow" panose="020B0606020202030204" pitchFamily="34" charset="0"/>
              </a:rPr>
              <a:t>牛肉なら</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5.      </a:t>
            </a:r>
            <a:r>
              <a:rPr lang="ja-JP" altLang="en-US" sz="1600" dirty="0">
                <a:solidFill>
                  <a:schemeClr val="accent4"/>
                </a:solidFill>
                <a:latin typeface="Arial Narrow" panose="020B0606020202030204" pitchFamily="34" charset="0"/>
              </a:rPr>
              <a:t>筋を切る</a:t>
            </a:r>
          </a:p>
        </p:txBody>
      </p:sp>
      <p:cxnSp>
        <p:nvCxnSpPr>
          <p:cNvPr id="35" name="直線矢印コネクタ 34">
            <a:extLst>
              <a:ext uri="{FF2B5EF4-FFF2-40B4-BE49-F238E27FC236}">
                <a16:creationId xmlns:a16="http://schemas.microsoft.com/office/drawing/2014/main" id="{0B7FF975-6C62-8ED1-FD4A-DA6612618DDB}"/>
              </a:ext>
            </a:extLst>
          </p:cNvPr>
          <p:cNvCxnSpPr>
            <a:cxnSpLocks/>
          </p:cNvCxnSpPr>
          <p:nvPr/>
        </p:nvCxnSpPr>
        <p:spPr bwMode="auto">
          <a:xfrm>
            <a:off x="4745985" y="1925971"/>
            <a:ext cx="360004" cy="0"/>
          </a:xfrm>
          <a:prstGeom prst="straightConnector1">
            <a:avLst/>
          </a:prstGeom>
          <a:ln w="76200">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36" name="直線矢印コネクタ 35">
            <a:extLst>
              <a:ext uri="{FF2B5EF4-FFF2-40B4-BE49-F238E27FC236}">
                <a16:creationId xmlns:a16="http://schemas.microsoft.com/office/drawing/2014/main" id="{FA119832-D5F8-A04C-F179-D033DAE4EF87}"/>
              </a:ext>
            </a:extLst>
          </p:cNvPr>
          <p:cNvCxnSpPr>
            <a:cxnSpLocks/>
          </p:cNvCxnSpPr>
          <p:nvPr/>
        </p:nvCxnSpPr>
        <p:spPr bwMode="auto">
          <a:xfrm>
            <a:off x="4295980" y="1925971"/>
            <a:ext cx="360004" cy="0"/>
          </a:xfrm>
          <a:prstGeom prst="straightConnector1">
            <a:avLst/>
          </a:prstGeom>
          <a:ln w="76200">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37" name="直線矢印コネクタ 36">
            <a:extLst>
              <a:ext uri="{FF2B5EF4-FFF2-40B4-BE49-F238E27FC236}">
                <a16:creationId xmlns:a16="http://schemas.microsoft.com/office/drawing/2014/main" id="{5B8DE9FA-C935-7440-54C6-12C1BA7C8A00}"/>
              </a:ext>
            </a:extLst>
          </p:cNvPr>
          <p:cNvCxnSpPr>
            <a:cxnSpLocks/>
          </p:cNvCxnSpPr>
          <p:nvPr/>
        </p:nvCxnSpPr>
        <p:spPr bwMode="auto">
          <a:xfrm>
            <a:off x="5195990" y="1925971"/>
            <a:ext cx="360004" cy="0"/>
          </a:xfrm>
          <a:prstGeom prst="straightConnector1">
            <a:avLst/>
          </a:prstGeom>
          <a:ln w="76200">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38" name="正方形/長方形 37">
            <a:extLst>
              <a:ext uri="{FF2B5EF4-FFF2-40B4-BE49-F238E27FC236}">
                <a16:creationId xmlns:a16="http://schemas.microsoft.com/office/drawing/2014/main" id="{DF148457-3CC5-C61F-5FDE-DFE8136DF65D}"/>
              </a:ext>
            </a:extLst>
          </p:cNvPr>
          <p:cNvSpPr/>
          <p:nvPr/>
        </p:nvSpPr>
        <p:spPr bwMode="auto">
          <a:xfrm>
            <a:off x="4295980" y="6309032"/>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5"/>
                </a:solidFill>
                <a:latin typeface="+mn-ea"/>
              </a:rPr>
              <a:t>PC</a:t>
            </a:r>
            <a:r>
              <a:rPr lang="ja-JP" altLang="en-US" sz="1600" dirty="0">
                <a:solidFill>
                  <a:schemeClr val="accent5"/>
                </a:solidFill>
                <a:latin typeface="+mn-ea"/>
              </a:rPr>
              <a:t> が分散</a:t>
            </a:r>
          </a:p>
        </p:txBody>
      </p:sp>
      <p:sp>
        <p:nvSpPr>
          <p:cNvPr id="39" name="角丸四角形 46">
            <a:extLst>
              <a:ext uri="{FF2B5EF4-FFF2-40B4-BE49-F238E27FC236}">
                <a16:creationId xmlns:a16="http://schemas.microsoft.com/office/drawing/2014/main" id="{E04BD551-F3C2-3F98-5834-D32194A46773}"/>
              </a:ext>
            </a:extLst>
          </p:cNvPr>
          <p:cNvSpPr/>
          <p:nvPr/>
        </p:nvSpPr>
        <p:spPr bwMode="auto">
          <a:xfrm>
            <a:off x="8796031" y="2375976"/>
            <a:ext cx="720008" cy="360004"/>
          </a:xfrm>
          <a:prstGeom prst="roundRect">
            <a:avLst/>
          </a:prstGeom>
          <a:ln>
            <a:headEnd/>
            <a:tailEnd type="triangle" w="sm" len="med"/>
          </a:ln>
        </p:spPr>
        <p:style>
          <a:lnRef idx="2">
            <a:schemeClr val="accent4">
              <a:shade val="15000"/>
            </a:schemeClr>
          </a:lnRef>
          <a:fillRef idx="1">
            <a:schemeClr val="accent4"/>
          </a:fillRef>
          <a:effectRef idx="0">
            <a:schemeClr val="accent4"/>
          </a:effectRef>
          <a:fontRef idx="minor">
            <a:schemeClr val="lt1"/>
          </a:fontRef>
        </p:style>
        <p:txBody>
          <a:bodyPr wrap="none" rtlCol="0" anchor="ctr"/>
          <a:lstStyle/>
          <a:p>
            <a:pPr algn="ctr"/>
            <a:r>
              <a:rPr kumimoji="1" lang="ja-JP" altLang="en-US" sz="1200" b="1" dirty="0">
                <a:solidFill>
                  <a:schemeClr val="bg1"/>
                </a:solidFill>
                <a:latin typeface="Arial Narrow" panose="020B0606020202030204" pitchFamily="34" charset="0"/>
              </a:rPr>
              <a:t>肉の確認</a:t>
            </a:r>
          </a:p>
        </p:txBody>
      </p:sp>
      <p:sp>
        <p:nvSpPr>
          <p:cNvPr id="40" name="平行四辺形 39">
            <a:extLst>
              <a:ext uri="{FF2B5EF4-FFF2-40B4-BE49-F238E27FC236}">
                <a16:creationId xmlns:a16="http://schemas.microsoft.com/office/drawing/2014/main" id="{59642969-33CB-856F-55FC-57CD2A40FE51}"/>
              </a:ext>
            </a:extLst>
          </p:cNvPr>
          <p:cNvSpPr/>
          <p:nvPr/>
        </p:nvSpPr>
        <p:spPr bwMode="auto">
          <a:xfrm>
            <a:off x="8436027" y="549902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1" name="正方形/長方形 40">
            <a:extLst>
              <a:ext uri="{FF2B5EF4-FFF2-40B4-BE49-F238E27FC236}">
                <a16:creationId xmlns:a16="http://schemas.microsoft.com/office/drawing/2014/main" id="{3F65F884-0233-0402-39F9-02A0BA41967C}"/>
              </a:ext>
            </a:extLst>
          </p:cNvPr>
          <p:cNvSpPr/>
          <p:nvPr/>
        </p:nvSpPr>
        <p:spPr>
          <a:xfrm>
            <a:off x="8886032" y="4689013"/>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2" name="平行四辺形 41">
            <a:extLst>
              <a:ext uri="{FF2B5EF4-FFF2-40B4-BE49-F238E27FC236}">
                <a16:creationId xmlns:a16="http://schemas.microsoft.com/office/drawing/2014/main" id="{A973059C-52DE-0992-CD39-3DFE0E916C8D}"/>
              </a:ext>
            </a:extLst>
          </p:cNvPr>
          <p:cNvSpPr/>
          <p:nvPr/>
        </p:nvSpPr>
        <p:spPr bwMode="auto">
          <a:xfrm>
            <a:off x="10056045" y="4869015"/>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3" name="正方形/長方形 42">
            <a:extLst>
              <a:ext uri="{FF2B5EF4-FFF2-40B4-BE49-F238E27FC236}">
                <a16:creationId xmlns:a16="http://schemas.microsoft.com/office/drawing/2014/main" id="{819C221B-54C2-36EA-0FF1-B43DFF7B8AF0}"/>
              </a:ext>
            </a:extLst>
          </p:cNvPr>
          <p:cNvSpPr/>
          <p:nvPr/>
        </p:nvSpPr>
        <p:spPr>
          <a:xfrm>
            <a:off x="10416049" y="4059006"/>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4" name="角丸四角形吹き出し 44">
            <a:extLst>
              <a:ext uri="{FF2B5EF4-FFF2-40B4-BE49-F238E27FC236}">
                <a16:creationId xmlns:a16="http://schemas.microsoft.com/office/drawing/2014/main" id="{34B39C52-89B6-04DF-8599-C4A56963AF10}"/>
              </a:ext>
            </a:extLst>
          </p:cNvPr>
          <p:cNvSpPr/>
          <p:nvPr/>
        </p:nvSpPr>
        <p:spPr bwMode="auto">
          <a:xfrm>
            <a:off x="9156034" y="3969005"/>
            <a:ext cx="1170012" cy="522648"/>
          </a:xfrm>
          <a:prstGeom prst="wedgeRoundRectCallout">
            <a:avLst>
              <a:gd name="adj1" fmla="val -36493"/>
              <a:gd name="adj2" fmla="val 100662"/>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まず皮取り</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からやな</a:t>
            </a:r>
          </a:p>
        </p:txBody>
      </p:sp>
      <p:sp>
        <p:nvSpPr>
          <p:cNvPr id="45" name="平行四辺形 44">
            <a:extLst>
              <a:ext uri="{FF2B5EF4-FFF2-40B4-BE49-F238E27FC236}">
                <a16:creationId xmlns:a16="http://schemas.microsoft.com/office/drawing/2014/main" id="{BD0AB480-C237-1E74-31A0-A13A95416ED1}"/>
              </a:ext>
            </a:extLst>
          </p:cNvPr>
          <p:cNvSpPr/>
          <p:nvPr/>
        </p:nvSpPr>
        <p:spPr bwMode="auto">
          <a:xfrm>
            <a:off x="10056045" y="549902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46" name="平行四辺形 45">
            <a:extLst>
              <a:ext uri="{FF2B5EF4-FFF2-40B4-BE49-F238E27FC236}">
                <a16:creationId xmlns:a16="http://schemas.microsoft.com/office/drawing/2014/main" id="{907D33DF-D5D8-21BF-6716-6198BFF2438A}"/>
              </a:ext>
            </a:extLst>
          </p:cNvPr>
          <p:cNvSpPr/>
          <p:nvPr/>
        </p:nvSpPr>
        <p:spPr bwMode="auto">
          <a:xfrm>
            <a:off x="9966044" y="6137991"/>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cxnSp>
        <p:nvCxnSpPr>
          <p:cNvPr id="47" name="直線矢印コネクタ 46">
            <a:extLst>
              <a:ext uri="{FF2B5EF4-FFF2-40B4-BE49-F238E27FC236}">
                <a16:creationId xmlns:a16="http://schemas.microsoft.com/office/drawing/2014/main" id="{C31B95DC-3F3C-D1BB-02EF-0A85EA0BA9E8}"/>
              </a:ext>
            </a:extLst>
          </p:cNvPr>
          <p:cNvCxnSpPr>
            <a:cxnSpLocks/>
          </p:cNvCxnSpPr>
          <p:nvPr/>
        </p:nvCxnSpPr>
        <p:spPr bwMode="auto">
          <a:xfrm flipV="1">
            <a:off x="9786042" y="5139018"/>
            <a:ext cx="540006" cy="450005"/>
          </a:xfrm>
          <a:prstGeom prst="straightConnector1">
            <a:avLst/>
          </a:prstGeom>
          <a:ln w="57150">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50" name="正方形/長方形 49">
            <a:extLst>
              <a:ext uri="{FF2B5EF4-FFF2-40B4-BE49-F238E27FC236}">
                <a16:creationId xmlns:a16="http://schemas.microsoft.com/office/drawing/2014/main" id="{17593011-7707-D27B-C3D4-4CE9516D54BE}"/>
              </a:ext>
            </a:extLst>
          </p:cNvPr>
          <p:cNvSpPr/>
          <p:nvPr/>
        </p:nvSpPr>
        <p:spPr bwMode="auto">
          <a:xfrm>
            <a:off x="5555994" y="4329010"/>
            <a:ext cx="2790031" cy="1980022"/>
          </a:xfrm>
          <a:prstGeom prst="rect">
            <a:avLst/>
          </a:prstGeom>
          <a:solidFill>
            <a:schemeClr val="bg1"/>
          </a:solidFill>
          <a:ln>
            <a:solidFill>
              <a:schemeClr val="accent4"/>
            </a:solidFill>
            <a:headEnd/>
            <a:tailEnd type="none" w="sm" len="med"/>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150000"/>
              </a:lnSpc>
            </a:pPr>
            <a:r>
              <a:rPr lang="en-US" altLang="ja-JP" sz="1600" dirty="0">
                <a:solidFill>
                  <a:schemeClr val="accent4"/>
                </a:solidFill>
                <a:latin typeface="Arial Narrow" panose="020B0606020202030204" pitchFamily="34" charset="0"/>
              </a:rPr>
              <a:t>1. </a:t>
            </a:r>
            <a:r>
              <a:rPr lang="ja-JP" altLang="en-US" sz="1600" dirty="0">
                <a:solidFill>
                  <a:schemeClr val="accent4"/>
                </a:solidFill>
                <a:latin typeface="Arial Narrow" panose="020B0606020202030204" pitchFamily="34" charset="0"/>
              </a:rPr>
              <a:t>人参を切る</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2. </a:t>
            </a:r>
            <a:r>
              <a:rPr lang="ja-JP" altLang="en-US" sz="1600" dirty="0">
                <a:solidFill>
                  <a:schemeClr val="accent4"/>
                </a:solidFill>
                <a:latin typeface="Arial Narrow" panose="020B0606020202030204" pitchFamily="34" charset="0"/>
              </a:rPr>
              <a:t>もし鶏肉なら？</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3.     </a:t>
            </a:r>
            <a:r>
              <a:rPr lang="ja-JP" altLang="en-US" sz="1600" dirty="0">
                <a:solidFill>
                  <a:schemeClr val="accent4"/>
                </a:solidFill>
                <a:latin typeface="Arial Narrow" panose="020B0606020202030204" pitchFamily="34" charset="0"/>
              </a:rPr>
              <a:t>皮を取る</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4. </a:t>
            </a:r>
            <a:r>
              <a:rPr lang="ja-JP" altLang="en-US" sz="1600" dirty="0">
                <a:solidFill>
                  <a:schemeClr val="accent4"/>
                </a:solidFill>
                <a:latin typeface="Arial Narrow" panose="020B0606020202030204" pitchFamily="34" charset="0"/>
              </a:rPr>
              <a:t>牛肉なら</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5.      </a:t>
            </a:r>
            <a:r>
              <a:rPr lang="ja-JP" altLang="en-US" sz="1600" dirty="0">
                <a:solidFill>
                  <a:schemeClr val="accent4"/>
                </a:solidFill>
                <a:latin typeface="Arial Narrow" panose="020B0606020202030204" pitchFamily="34" charset="0"/>
              </a:rPr>
              <a:t>筋を切る</a:t>
            </a:r>
          </a:p>
        </p:txBody>
      </p:sp>
      <p:cxnSp>
        <p:nvCxnSpPr>
          <p:cNvPr id="51" name="直線矢印コネクタ 50">
            <a:extLst>
              <a:ext uri="{FF2B5EF4-FFF2-40B4-BE49-F238E27FC236}">
                <a16:creationId xmlns:a16="http://schemas.microsoft.com/office/drawing/2014/main" id="{7B7FCF46-DFBD-8EF6-7321-E92A8E3D0A0B}"/>
              </a:ext>
            </a:extLst>
          </p:cNvPr>
          <p:cNvCxnSpPr>
            <a:cxnSpLocks/>
          </p:cNvCxnSpPr>
          <p:nvPr/>
        </p:nvCxnSpPr>
        <p:spPr bwMode="auto">
          <a:xfrm>
            <a:off x="4745985" y="6039029"/>
            <a:ext cx="360004" cy="0"/>
          </a:xfrm>
          <a:prstGeom prst="straightConnector1">
            <a:avLst/>
          </a:prstGeom>
          <a:ln w="76200">
            <a:solidFill>
              <a:schemeClr val="accent5"/>
            </a:solidFill>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2" name="直線矢印コネクタ 51">
            <a:extLst>
              <a:ext uri="{FF2B5EF4-FFF2-40B4-BE49-F238E27FC236}">
                <a16:creationId xmlns:a16="http://schemas.microsoft.com/office/drawing/2014/main" id="{2B38AC36-C47C-2AC8-CEB4-894D508F71D5}"/>
              </a:ext>
            </a:extLst>
          </p:cNvPr>
          <p:cNvCxnSpPr>
            <a:cxnSpLocks/>
          </p:cNvCxnSpPr>
          <p:nvPr/>
        </p:nvCxnSpPr>
        <p:spPr bwMode="auto">
          <a:xfrm>
            <a:off x="4385981" y="6039029"/>
            <a:ext cx="360004" cy="0"/>
          </a:xfrm>
          <a:prstGeom prst="straightConnector1">
            <a:avLst/>
          </a:prstGeom>
          <a:ln w="76200">
            <a:solidFill>
              <a:schemeClr val="accent5"/>
            </a:solidFill>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3" name="直線矢印コネクタ 52">
            <a:extLst>
              <a:ext uri="{FF2B5EF4-FFF2-40B4-BE49-F238E27FC236}">
                <a16:creationId xmlns:a16="http://schemas.microsoft.com/office/drawing/2014/main" id="{99D18FF9-A300-BD25-EF3E-8637F90767E8}"/>
              </a:ext>
            </a:extLst>
          </p:cNvPr>
          <p:cNvCxnSpPr>
            <a:cxnSpLocks/>
          </p:cNvCxnSpPr>
          <p:nvPr/>
        </p:nvCxnSpPr>
        <p:spPr bwMode="auto">
          <a:xfrm>
            <a:off x="5195990" y="5319021"/>
            <a:ext cx="360004" cy="0"/>
          </a:xfrm>
          <a:prstGeom prst="straightConnector1">
            <a:avLst/>
          </a:prstGeom>
          <a:ln w="76200">
            <a:solidFill>
              <a:schemeClr val="accent5"/>
            </a:solidFill>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54" name="角丸四角形 46">
            <a:extLst>
              <a:ext uri="{FF2B5EF4-FFF2-40B4-BE49-F238E27FC236}">
                <a16:creationId xmlns:a16="http://schemas.microsoft.com/office/drawing/2014/main" id="{FADF7720-B773-0B49-792D-7FD3E24C779F}"/>
              </a:ext>
            </a:extLst>
          </p:cNvPr>
          <p:cNvSpPr/>
          <p:nvPr/>
        </p:nvSpPr>
        <p:spPr bwMode="auto">
          <a:xfrm>
            <a:off x="8796031" y="5409021"/>
            <a:ext cx="720008" cy="360004"/>
          </a:xfrm>
          <a:prstGeom prst="roundRect">
            <a:avLst/>
          </a:prstGeom>
          <a:ln>
            <a:headEnd/>
            <a:tailEnd type="triangle" w="sm" len="med"/>
          </a:ln>
        </p:spPr>
        <p:style>
          <a:lnRef idx="2">
            <a:schemeClr val="accent4">
              <a:shade val="15000"/>
            </a:schemeClr>
          </a:lnRef>
          <a:fillRef idx="1">
            <a:schemeClr val="accent4"/>
          </a:fillRef>
          <a:effectRef idx="0">
            <a:schemeClr val="accent4"/>
          </a:effectRef>
          <a:fontRef idx="minor">
            <a:schemeClr val="lt1"/>
          </a:fontRef>
        </p:style>
        <p:txBody>
          <a:bodyPr wrap="none" rtlCol="0" anchor="ctr"/>
          <a:lstStyle/>
          <a:p>
            <a:pPr algn="ctr"/>
            <a:r>
              <a:rPr kumimoji="1" lang="ja-JP" altLang="en-US" sz="1200" b="1" dirty="0">
                <a:solidFill>
                  <a:schemeClr val="bg1"/>
                </a:solidFill>
                <a:latin typeface="Arial Narrow" panose="020B0606020202030204" pitchFamily="34" charset="0"/>
              </a:rPr>
              <a:t>皮取り</a:t>
            </a:r>
          </a:p>
        </p:txBody>
      </p:sp>
    </p:spTree>
    <p:extLst>
      <p:ext uri="{BB962C8B-B14F-4D97-AF65-F5344CB8AC3E}">
        <p14:creationId xmlns:p14="http://schemas.microsoft.com/office/powerpoint/2010/main" val="38003505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73F7A3-C85C-8D29-2F1B-4E75AD4846BF}"/>
              </a:ext>
            </a:extLst>
          </p:cNvPr>
          <p:cNvSpPr>
            <a:spLocks noGrp="1"/>
          </p:cNvSpPr>
          <p:nvPr>
            <p:ph type="title"/>
          </p:nvPr>
        </p:nvSpPr>
        <p:spPr/>
        <p:txBody>
          <a:bodyPr/>
          <a:lstStyle/>
          <a:p>
            <a:r>
              <a:rPr kumimoji="1" lang="ja-JP" altLang="en-US" dirty="0"/>
              <a:t>問題２ 水平方向の演算が</a:t>
            </a:r>
            <a:r>
              <a:rPr lang="ja-JP" altLang="en-US" dirty="0"/>
              <a:t>自然には表現できない</a:t>
            </a:r>
            <a:endParaRPr kumimoji="1" lang="ja-JP" altLang="en-US" dirty="0"/>
          </a:p>
        </p:txBody>
      </p:sp>
      <p:sp>
        <p:nvSpPr>
          <p:cNvPr id="3" name="テキスト プレースホルダー 2">
            <a:extLst>
              <a:ext uri="{FF2B5EF4-FFF2-40B4-BE49-F238E27FC236}">
                <a16:creationId xmlns:a16="http://schemas.microsoft.com/office/drawing/2014/main" id="{7455250D-5A56-7E9C-EFB1-7B8FF941B158}"/>
              </a:ext>
            </a:extLst>
          </p:cNvPr>
          <p:cNvSpPr>
            <a:spLocks noGrp="1"/>
          </p:cNvSpPr>
          <p:nvPr>
            <p:ph type="body" sz="quarter" idx="10"/>
          </p:nvPr>
        </p:nvSpPr>
        <p:spPr>
          <a:xfrm>
            <a:off x="425937" y="1088975"/>
            <a:ext cx="6480073" cy="5219751"/>
          </a:xfrm>
        </p:spPr>
        <p:txBody>
          <a:bodyPr/>
          <a:lstStyle/>
          <a:p>
            <a:r>
              <a:rPr kumimoji="1" lang="ja-JP" altLang="en-US" dirty="0"/>
              <a:t>各演算器は独立したスレッドに割り当てられる</a:t>
            </a:r>
            <a:endParaRPr kumimoji="1" lang="en-US" altLang="ja-JP" dirty="0"/>
          </a:p>
          <a:p>
            <a:r>
              <a:rPr kumimoji="1" lang="ja-JP" altLang="en-US" dirty="0"/>
              <a:t>横にある演算器間では直接データのやり取りができない</a:t>
            </a:r>
            <a:endParaRPr kumimoji="1" lang="en-US" altLang="ja-JP" dirty="0"/>
          </a:p>
          <a:p>
            <a:pPr lvl="1"/>
            <a:r>
              <a:rPr kumimoji="1" lang="ja-JP" altLang="en-US" dirty="0"/>
              <a:t>横で何が行われているかは保証できないため，そのようなプログラムが記述できない</a:t>
            </a:r>
            <a:endParaRPr kumimoji="1" lang="en-US" altLang="ja-JP" dirty="0"/>
          </a:p>
          <a:p>
            <a:pPr lvl="1"/>
            <a:r>
              <a:rPr kumimoji="1" lang="en-US" altLang="ja-JP" dirty="0"/>
              <a:t>SIMD </a:t>
            </a:r>
            <a:r>
              <a:rPr kumimoji="1" lang="ja-JP" altLang="en-US" dirty="0"/>
              <a:t>命令であれば，そのようなプログラムが書ける</a:t>
            </a:r>
          </a:p>
        </p:txBody>
      </p:sp>
      <p:sp>
        <p:nvSpPr>
          <p:cNvPr id="4" name="正方形/長方形 3">
            <a:extLst>
              <a:ext uri="{FF2B5EF4-FFF2-40B4-BE49-F238E27FC236}">
                <a16:creationId xmlns:a16="http://schemas.microsoft.com/office/drawing/2014/main" id="{EA01710C-FEB7-C4AE-73DF-097B80ECF9E4}"/>
              </a:ext>
            </a:extLst>
          </p:cNvPr>
          <p:cNvSpPr/>
          <p:nvPr/>
        </p:nvSpPr>
        <p:spPr bwMode="auto">
          <a:xfrm>
            <a:off x="7266014" y="2618991"/>
            <a:ext cx="3150035" cy="180002"/>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100" dirty="0">
                <a:solidFill>
                  <a:schemeClr val="tx1">
                    <a:lumMod val="75000"/>
                    <a:lumOff val="25000"/>
                  </a:schemeClr>
                </a:solidFill>
                <a:latin typeface="+mn-ea"/>
              </a:rPr>
              <a:t>Warp/Wavefront</a:t>
            </a:r>
            <a:endParaRPr lang="ja-JP" altLang="en-US" sz="1100"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28DD0BAB-E05A-F43B-0D9E-1CA45E360AD2}"/>
              </a:ext>
            </a:extLst>
          </p:cNvPr>
          <p:cNvSpPr/>
          <p:nvPr/>
        </p:nvSpPr>
        <p:spPr bwMode="auto">
          <a:xfrm>
            <a:off x="8526028" y="4239009"/>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6" name="直線矢印コネクタ 5">
            <a:extLst>
              <a:ext uri="{FF2B5EF4-FFF2-40B4-BE49-F238E27FC236}">
                <a16:creationId xmlns:a16="http://schemas.microsoft.com/office/drawing/2014/main" id="{20E71BB9-9C3A-7910-1096-0C9FA33EF55F}"/>
              </a:ext>
            </a:extLst>
          </p:cNvPr>
          <p:cNvCxnSpPr>
            <a:cxnSpLocks/>
          </p:cNvCxnSpPr>
          <p:nvPr/>
        </p:nvCxnSpPr>
        <p:spPr bwMode="auto">
          <a:xfrm>
            <a:off x="8886032" y="4041138"/>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7" name="正方形/長方形 6">
            <a:extLst>
              <a:ext uri="{FF2B5EF4-FFF2-40B4-BE49-F238E27FC236}">
                <a16:creationId xmlns:a16="http://schemas.microsoft.com/office/drawing/2014/main" id="{49AF8BCE-6A1E-27B6-7FBC-143B2E14FBE7}"/>
              </a:ext>
            </a:extLst>
          </p:cNvPr>
          <p:cNvSpPr/>
          <p:nvPr/>
        </p:nvSpPr>
        <p:spPr bwMode="auto">
          <a:xfrm>
            <a:off x="8256025" y="3609001"/>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PC1</a:t>
            </a:r>
            <a:endParaRPr lang="ja-JP" altLang="en-US" sz="1200" dirty="0">
              <a:solidFill>
                <a:schemeClr val="tx1">
                  <a:lumMod val="75000"/>
                  <a:lumOff val="25000"/>
                </a:schemeClr>
              </a:solidFill>
              <a:latin typeface="+mn-ea"/>
            </a:endParaRPr>
          </a:p>
        </p:txBody>
      </p:sp>
      <p:sp>
        <p:nvSpPr>
          <p:cNvPr id="8" name="フリーフォーム 10">
            <a:extLst>
              <a:ext uri="{FF2B5EF4-FFF2-40B4-BE49-F238E27FC236}">
                <a16:creationId xmlns:a16="http://schemas.microsoft.com/office/drawing/2014/main" id="{6642DBA1-15BE-A06B-11D3-2BA9F534F166}"/>
              </a:ext>
            </a:extLst>
          </p:cNvPr>
          <p:cNvSpPr>
            <a:spLocks noChangeArrowheads="1"/>
          </p:cNvSpPr>
          <p:nvPr/>
        </p:nvSpPr>
        <p:spPr bwMode="auto">
          <a:xfrm flipH="1">
            <a:off x="7266014" y="495901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r>
              <a:rPr lang="en-US" altLang="ja-JP" sz="1100" dirty="0">
                <a:solidFill>
                  <a:schemeClr val="tx1">
                    <a:lumMod val="75000"/>
                    <a:lumOff val="25000"/>
                  </a:schemeClr>
                </a:solidFill>
                <a:latin typeface="+mn-ea"/>
              </a:rPr>
              <a:t>0</a:t>
            </a:r>
            <a:endParaRPr lang="ja-JP" altLang="en-US" sz="1100" dirty="0">
              <a:solidFill>
                <a:schemeClr val="tx1">
                  <a:lumMod val="75000"/>
                  <a:lumOff val="25000"/>
                </a:schemeClr>
              </a:solidFill>
              <a:latin typeface="+mn-ea"/>
            </a:endParaRPr>
          </a:p>
        </p:txBody>
      </p:sp>
      <p:cxnSp>
        <p:nvCxnSpPr>
          <p:cNvPr id="9" name="直線矢印コネクタ 8">
            <a:extLst>
              <a:ext uri="{FF2B5EF4-FFF2-40B4-BE49-F238E27FC236}">
                <a16:creationId xmlns:a16="http://schemas.microsoft.com/office/drawing/2014/main" id="{DD1A1960-8CC8-FA62-DAEA-1B379C02C258}"/>
              </a:ext>
            </a:extLst>
          </p:cNvPr>
          <p:cNvCxnSpPr>
            <a:cxnSpLocks/>
          </p:cNvCxnSpPr>
          <p:nvPr/>
        </p:nvCxnSpPr>
        <p:spPr bwMode="auto">
          <a:xfrm>
            <a:off x="8886032" y="4599012"/>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0" name="Freeform 10">
            <a:extLst>
              <a:ext uri="{FF2B5EF4-FFF2-40B4-BE49-F238E27FC236}">
                <a16:creationId xmlns:a16="http://schemas.microsoft.com/office/drawing/2014/main" id="{F52EC7E6-3993-F72D-82B1-2C95EAE61754}"/>
              </a:ext>
            </a:extLst>
          </p:cNvPr>
          <p:cNvSpPr>
            <a:spLocks/>
          </p:cNvSpPr>
          <p:nvPr/>
        </p:nvSpPr>
        <p:spPr bwMode="auto">
          <a:xfrm rot="5400000">
            <a:off x="8076023" y="4329010"/>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1" name="フリーフォーム 10">
            <a:extLst>
              <a:ext uri="{FF2B5EF4-FFF2-40B4-BE49-F238E27FC236}">
                <a16:creationId xmlns:a16="http://schemas.microsoft.com/office/drawing/2014/main" id="{ACF7B64D-0AC7-3D70-2DB3-4DFDD6C6544C}"/>
              </a:ext>
            </a:extLst>
          </p:cNvPr>
          <p:cNvSpPr>
            <a:spLocks noChangeArrowheads="1"/>
          </p:cNvSpPr>
          <p:nvPr/>
        </p:nvSpPr>
        <p:spPr bwMode="auto">
          <a:xfrm flipH="1">
            <a:off x="8076023" y="495901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r>
              <a:rPr lang="en-US" altLang="ja-JP" sz="1100" dirty="0">
                <a:solidFill>
                  <a:schemeClr val="tx1">
                    <a:lumMod val="75000"/>
                    <a:lumOff val="25000"/>
                  </a:schemeClr>
                </a:solidFill>
                <a:latin typeface="+mn-ea"/>
              </a:rPr>
              <a:t>1</a:t>
            </a:r>
            <a:endParaRPr lang="ja-JP" altLang="en-US" sz="1100" dirty="0">
              <a:solidFill>
                <a:schemeClr val="tx1">
                  <a:lumMod val="75000"/>
                  <a:lumOff val="25000"/>
                </a:schemeClr>
              </a:solidFill>
              <a:latin typeface="+mn-ea"/>
            </a:endParaRPr>
          </a:p>
        </p:txBody>
      </p:sp>
      <p:sp>
        <p:nvSpPr>
          <p:cNvPr id="12" name="フリーフォーム 10">
            <a:extLst>
              <a:ext uri="{FF2B5EF4-FFF2-40B4-BE49-F238E27FC236}">
                <a16:creationId xmlns:a16="http://schemas.microsoft.com/office/drawing/2014/main" id="{E3AE8801-68F6-491A-1E21-92949D8A6332}"/>
              </a:ext>
            </a:extLst>
          </p:cNvPr>
          <p:cNvSpPr>
            <a:spLocks noChangeArrowheads="1"/>
          </p:cNvSpPr>
          <p:nvPr/>
        </p:nvSpPr>
        <p:spPr bwMode="auto">
          <a:xfrm flipH="1">
            <a:off x="8976033" y="495901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r>
              <a:rPr lang="en-US" altLang="ja-JP" sz="1100" dirty="0">
                <a:solidFill>
                  <a:schemeClr val="tx1">
                    <a:lumMod val="75000"/>
                    <a:lumOff val="25000"/>
                  </a:schemeClr>
                </a:solidFill>
                <a:latin typeface="+mn-ea"/>
              </a:rPr>
              <a:t>2</a:t>
            </a:r>
            <a:endParaRPr lang="ja-JP" altLang="en-US" sz="1100" dirty="0">
              <a:solidFill>
                <a:schemeClr val="tx1">
                  <a:lumMod val="75000"/>
                  <a:lumOff val="25000"/>
                </a:schemeClr>
              </a:solidFill>
              <a:latin typeface="+mn-ea"/>
            </a:endParaRPr>
          </a:p>
        </p:txBody>
      </p:sp>
      <p:sp>
        <p:nvSpPr>
          <p:cNvPr id="13" name="フリーフォーム 10">
            <a:extLst>
              <a:ext uri="{FF2B5EF4-FFF2-40B4-BE49-F238E27FC236}">
                <a16:creationId xmlns:a16="http://schemas.microsoft.com/office/drawing/2014/main" id="{F9B92EDA-9CDF-59AD-DF35-A1B3F79B4E19}"/>
              </a:ext>
            </a:extLst>
          </p:cNvPr>
          <p:cNvSpPr>
            <a:spLocks noChangeArrowheads="1"/>
          </p:cNvSpPr>
          <p:nvPr/>
        </p:nvSpPr>
        <p:spPr bwMode="auto">
          <a:xfrm flipH="1">
            <a:off x="9786042" y="495901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r>
              <a:rPr lang="en-US" altLang="ja-JP" sz="1100" dirty="0">
                <a:solidFill>
                  <a:schemeClr val="tx1">
                    <a:lumMod val="75000"/>
                    <a:lumOff val="25000"/>
                  </a:schemeClr>
                </a:solidFill>
                <a:latin typeface="+mn-ea"/>
              </a:rPr>
              <a:t>3</a:t>
            </a:r>
            <a:endParaRPr lang="ja-JP" altLang="en-US" sz="1100" dirty="0">
              <a:solidFill>
                <a:schemeClr val="tx1">
                  <a:lumMod val="75000"/>
                  <a:lumOff val="25000"/>
                </a:schemeClr>
              </a:solidFill>
              <a:latin typeface="+mn-ea"/>
            </a:endParaRPr>
          </a:p>
        </p:txBody>
      </p:sp>
      <p:sp>
        <p:nvSpPr>
          <p:cNvPr id="14" name="Freeform 10">
            <a:extLst>
              <a:ext uri="{FF2B5EF4-FFF2-40B4-BE49-F238E27FC236}">
                <a16:creationId xmlns:a16="http://schemas.microsoft.com/office/drawing/2014/main" id="{48E73F5A-0C38-0BA4-BBED-413C6892B98E}"/>
              </a:ext>
            </a:extLst>
          </p:cNvPr>
          <p:cNvSpPr>
            <a:spLocks/>
          </p:cNvSpPr>
          <p:nvPr/>
        </p:nvSpPr>
        <p:spPr bwMode="auto">
          <a:xfrm rot="5400000">
            <a:off x="8481029" y="4734015"/>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5" name="Freeform 10">
            <a:extLst>
              <a:ext uri="{FF2B5EF4-FFF2-40B4-BE49-F238E27FC236}">
                <a16:creationId xmlns:a16="http://schemas.microsoft.com/office/drawing/2014/main" id="{DA1D3F86-7A00-21A5-6261-B6F799814499}"/>
              </a:ext>
            </a:extLst>
          </p:cNvPr>
          <p:cNvSpPr>
            <a:spLocks/>
          </p:cNvSpPr>
          <p:nvPr/>
        </p:nvSpPr>
        <p:spPr bwMode="auto">
          <a:xfrm rot="5400000" flipV="1">
            <a:off x="8931033" y="4554013"/>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6" name="Freeform 10">
            <a:extLst>
              <a:ext uri="{FF2B5EF4-FFF2-40B4-BE49-F238E27FC236}">
                <a16:creationId xmlns:a16="http://schemas.microsoft.com/office/drawing/2014/main" id="{8AE2A50C-E85B-3009-61BF-4B62CD2BB58B}"/>
              </a:ext>
            </a:extLst>
          </p:cNvPr>
          <p:cNvSpPr>
            <a:spLocks/>
          </p:cNvSpPr>
          <p:nvPr/>
        </p:nvSpPr>
        <p:spPr bwMode="auto">
          <a:xfrm rot="5400000" flipV="1">
            <a:off x="9561040" y="4374012"/>
            <a:ext cx="180002" cy="99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7" name="正方形/長方形 16">
            <a:extLst>
              <a:ext uri="{FF2B5EF4-FFF2-40B4-BE49-F238E27FC236}">
                <a16:creationId xmlns:a16="http://schemas.microsoft.com/office/drawing/2014/main" id="{63E925BB-90AD-7D79-A08F-A24617FA7B4C}"/>
              </a:ext>
            </a:extLst>
          </p:cNvPr>
          <p:cNvSpPr/>
          <p:nvPr/>
        </p:nvSpPr>
        <p:spPr bwMode="auto">
          <a:xfrm>
            <a:off x="7446016" y="3609001"/>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PC0</a:t>
            </a:r>
            <a:endParaRPr lang="ja-JP" altLang="en-US" sz="1200" dirty="0">
              <a:solidFill>
                <a:schemeClr val="tx1">
                  <a:lumMod val="75000"/>
                  <a:lumOff val="25000"/>
                </a:schemeClr>
              </a:solidFill>
              <a:latin typeface="+mn-ea"/>
            </a:endParaRPr>
          </a:p>
        </p:txBody>
      </p:sp>
      <p:sp>
        <p:nvSpPr>
          <p:cNvPr id="18" name="正方形/長方形 17">
            <a:extLst>
              <a:ext uri="{FF2B5EF4-FFF2-40B4-BE49-F238E27FC236}">
                <a16:creationId xmlns:a16="http://schemas.microsoft.com/office/drawing/2014/main" id="{5A9133E0-4151-9CCD-D73A-453B40AB60B6}"/>
              </a:ext>
            </a:extLst>
          </p:cNvPr>
          <p:cNvSpPr/>
          <p:nvPr/>
        </p:nvSpPr>
        <p:spPr bwMode="auto">
          <a:xfrm>
            <a:off x="9156035" y="3609002"/>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PC2</a:t>
            </a:r>
            <a:endParaRPr lang="ja-JP" altLang="en-US" sz="1200" dirty="0">
              <a:solidFill>
                <a:schemeClr val="tx1">
                  <a:lumMod val="75000"/>
                  <a:lumOff val="25000"/>
                </a:schemeClr>
              </a:solidFill>
              <a:latin typeface="+mn-ea"/>
            </a:endParaRPr>
          </a:p>
        </p:txBody>
      </p:sp>
      <p:sp>
        <p:nvSpPr>
          <p:cNvPr id="19" name="正方形/長方形 18">
            <a:extLst>
              <a:ext uri="{FF2B5EF4-FFF2-40B4-BE49-F238E27FC236}">
                <a16:creationId xmlns:a16="http://schemas.microsoft.com/office/drawing/2014/main" id="{2F3309AD-5107-15BE-C0CD-BE2C2CE9F190}"/>
              </a:ext>
            </a:extLst>
          </p:cNvPr>
          <p:cNvSpPr/>
          <p:nvPr/>
        </p:nvSpPr>
        <p:spPr bwMode="auto">
          <a:xfrm>
            <a:off x="9966044" y="3609002"/>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PC3</a:t>
            </a:r>
            <a:endParaRPr lang="ja-JP" altLang="en-US" sz="1200" dirty="0">
              <a:solidFill>
                <a:schemeClr val="tx1">
                  <a:lumMod val="75000"/>
                  <a:lumOff val="25000"/>
                </a:schemeClr>
              </a:solidFill>
              <a:latin typeface="+mn-ea"/>
            </a:endParaRPr>
          </a:p>
        </p:txBody>
      </p:sp>
      <p:sp>
        <p:nvSpPr>
          <p:cNvPr id="20" name="Freeform 10">
            <a:extLst>
              <a:ext uri="{FF2B5EF4-FFF2-40B4-BE49-F238E27FC236}">
                <a16:creationId xmlns:a16="http://schemas.microsoft.com/office/drawing/2014/main" id="{7A00B2DB-C975-97C3-1BE6-B2BE19EE791E}"/>
              </a:ext>
            </a:extLst>
          </p:cNvPr>
          <p:cNvSpPr>
            <a:spLocks/>
          </p:cNvSpPr>
          <p:nvPr/>
        </p:nvSpPr>
        <p:spPr bwMode="auto">
          <a:xfrm>
            <a:off x="7626019" y="3969006"/>
            <a:ext cx="1260014"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21" name="Freeform 10">
            <a:extLst>
              <a:ext uri="{FF2B5EF4-FFF2-40B4-BE49-F238E27FC236}">
                <a16:creationId xmlns:a16="http://schemas.microsoft.com/office/drawing/2014/main" id="{856C500D-BDD2-C740-0361-DA3D832D3959}"/>
              </a:ext>
            </a:extLst>
          </p:cNvPr>
          <p:cNvSpPr>
            <a:spLocks/>
          </p:cNvSpPr>
          <p:nvPr/>
        </p:nvSpPr>
        <p:spPr bwMode="auto">
          <a:xfrm>
            <a:off x="8436028" y="3969006"/>
            <a:ext cx="450006"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22" name="Freeform 10">
            <a:extLst>
              <a:ext uri="{FF2B5EF4-FFF2-40B4-BE49-F238E27FC236}">
                <a16:creationId xmlns:a16="http://schemas.microsoft.com/office/drawing/2014/main" id="{A97B8E85-39AB-A6C7-FC59-81B22439FD07}"/>
              </a:ext>
            </a:extLst>
          </p:cNvPr>
          <p:cNvSpPr>
            <a:spLocks/>
          </p:cNvSpPr>
          <p:nvPr/>
        </p:nvSpPr>
        <p:spPr bwMode="auto">
          <a:xfrm flipH="1">
            <a:off x="8886032" y="3969006"/>
            <a:ext cx="450005" cy="9000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23" name="Freeform 10">
            <a:extLst>
              <a:ext uri="{FF2B5EF4-FFF2-40B4-BE49-F238E27FC236}">
                <a16:creationId xmlns:a16="http://schemas.microsoft.com/office/drawing/2014/main" id="{FBA20F62-657B-A6DA-6B55-0C9B738BE852}"/>
              </a:ext>
            </a:extLst>
          </p:cNvPr>
          <p:cNvSpPr>
            <a:spLocks/>
          </p:cNvSpPr>
          <p:nvPr/>
        </p:nvSpPr>
        <p:spPr bwMode="auto">
          <a:xfrm flipH="1">
            <a:off x="9156035" y="3969006"/>
            <a:ext cx="990011" cy="9000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cxnSp>
        <p:nvCxnSpPr>
          <p:cNvPr id="24" name="直線コネクタ 23">
            <a:extLst>
              <a:ext uri="{FF2B5EF4-FFF2-40B4-BE49-F238E27FC236}">
                <a16:creationId xmlns:a16="http://schemas.microsoft.com/office/drawing/2014/main" id="{C3AD392A-737B-88AF-7E54-418B31FB7725}"/>
              </a:ext>
            </a:extLst>
          </p:cNvPr>
          <p:cNvCxnSpPr>
            <a:cxnSpLocks/>
          </p:cNvCxnSpPr>
          <p:nvPr/>
        </p:nvCxnSpPr>
        <p:spPr bwMode="auto">
          <a:xfrm>
            <a:off x="7086012" y="3248998"/>
            <a:ext cx="3510039" cy="0"/>
          </a:xfrm>
          <a:prstGeom prst="line">
            <a:avLst/>
          </a:prstGeom>
          <a:noFill/>
          <a:ln w="9525" cap="flat" cmpd="sng" algn="ctr">
            <a:solidFill>
              <a:schemeClr val="bg1">
                <a:lumMod val="50000"/>
              </a:schemeClr>
            </a:solidFill>
            <a:prstDash val="solid"/>
            <a:round/>
            <a:headEnd type="none" w="med" len="med"/>
            <a:tailEnd type="none" w="med" len="med"/>
          </a:ln>
          <a:effectLst/>
        </p:spPr>
      </p:cxnSp>
      <p:sp>
        <p:nvSpPr>
          <p:cNvPr id="25" name="正方形/長方形 24">
            <a:extLst>
              <a:ext uri="{FF2B5EF4-FFF2-40B4-BE49-F238E27FC236}">
                <a16:creationId xmlns:a16="http://schemas.microsoft.com/office/drawing/2014/main" id="{AE84D4C5-640C-E9A1-60C7-056D3B394D64}"/>
              </a:ext>
            </a:extLst>
          </p:cNvPr>
          <p:cNvSpPr/>
          <p:nvPr/>
        </p:nvSpPr>
        <p:spPr bwMode="auto">
          <a:xfrm>
            <a:off x="7176013"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 </a:t>
            </a:r>
            <a:r>
              <a:rPr lang="ja-JP" altLang="en-US" sz="1600" dirty="0">
                <a:solidFill>
                  <a:schemeClr val="tx1">
                    <a:lumMod val="75000"/>
                    <a:lumOff val="25000"/>
                  </a:schemeClr>
                </a:solidFill>
                <a:latin typeface="+mn-ea"/>
              </a:rPr>
              <a:t>スレッド内は逐次処理で記述</a:t>
            </a:r>
          </a:p>
          <a:p>
            <a:r>
              <a:rPr lang="en-US" altLang="ja-JP" sz="1600" dirty="0">
                <a:solidFill>
                  <a:schemeClr val="tx1">
                    <a:lumMod val="75000"/>
                    <a:lumOff val="25000"/>
                  </a:schemeClr>
                </a:solidFill>
                <a:latin typeface="Consolas" panose="020B0609020204030204" pitchFamily="49" charset="0"/>
              </a:rPr>
              <a:t>void add(*a, *b, *c){</a:t>
            </a:r>
          </a:p>
          <a:p>
            <a:r>
              <a:rPr lang="en-US" altLang="ja-JP" sz="1600" dirty="0">
                <a:solidFill>
                  <a:schemeClr val="tx1">
                    <a:lumMod val="75000"/>
                    <a:lumOff val="25000"/>
                  </a:schemeClr>
                </a:solidFill>
                <a:latin typeface="Consolas" panose="020B0609020204030204" pitchFamily="49" charset="0"/>
              </a:rPr>
              <a:t>    c[</a:t>
            </a:r>
            <a:r>
              <a:rPr lang="en-US" altLang="ja-JP" sz="1600" dirty="0" err="1">
                <a:solidFill>
                  <a:schemeClr val="tx1">
                    <a:lumMod val="75000"/>
                    <a:lumOff val="25000"/>
                  </a:schemeClr>
                </a:solidFill>
                <a:latin typeface="Consolas" panose="020B0609020204030204" pitchFamily="49" charset="0"/>
              </a:rPr>
              <a:t>t_id</a:t>
            </a:r>
            <a:r>
              <a:rPr lang="en-US" altLang="ja-JP" sz="1600" dirty="0">
                <a:solidFill>
                  <a:schemeClr val="tx1">
                    <a:lumMod val="75000"/>
                    <a:lumOff val="25000"/>
                  </a:schemeClr>
                </a:solidFill>
                <a:latin typeface="Consolas" panose="020B0609020204030204" pitchFamily="49" charset="0"/>
              </a:rPr>
              <a:t>] = a[</a:t>
            </a:r>
            <a:r>
              <a:rPr lang="en-US" altLang="ja-JP" sz="1600" dirty="0" err="1">
                <a:solidFill>
                  <a:schemeClr val="tx1">
                    <a:lumMod val="75000"/>
                    <a:lumOff val="25000"/>
                  </a:schemeClr>
                </a:solidFill>
                <a:latin typeface="Consolas" panose="020B0609020204030204" pitchFamily="49" charset="0"/>
              </a:rPr>
              <a:t>t_id</a:t>
            </a:r>
            <a:r>
              <a:rPr lang="en-US" altLang="ja-JP" sz="1600" dirty="0">
                <a:solidFill>
                  <a:schemeClr val="tx1">
                    <a:lumMod val="75000"/>
                    <a:lumOff val="25000"/>
                  </a:schemeClr>
                </a:solidFill>
                <a:latin typeface="Consolas" panose="020B0609020204030204" pitchFamily="49" charset="0"/>
              </a:rPr>
              <a:t>] + b[</a:t>
            </a:r>
            <a:r>
              <a:rPr lang="en-US" altLang="ja-JP" sz="1600" dirty="0" err="1">
                <a:solidFill>
                  <a:schemeClr val="tx1">
                    <a:lumMod val="75000"/>
                    <a:lumOff val="25000"/>
                  </a:schemeClr>
                </a:solidFill>
                <a:latin typeface="Consolas" panose="020B0609020204030204" pitchFamily="49" charset="0"/>
              </a:rPr>
              <a:t>t_id</a:t>
            </a:r>
            <a:r>
              <a:rPr lang="en-US" altLang="ja-JP" sz="1600" dirty="0">
                <a:solidFill>
                  <a:schemeClr val="tx1">
                    <a:lumMod val="75000"/>
                    <a:lumOff val="25000"/>
                  </a:schemeClr>
                </a:solidFill>
                <a:latin typeface="Consolas" panose="020B0609020204030204" pitchFamily="49" charset="0"/>
              </a:rPr>
              <a:t>];</a:t>
            </a:r>
          </a:p>
          <a:p>
            <a:r>
              <a:rPr lang="en-US" altLang="ja-JP" sz="1600" dirty="0">
                <a:solidFill>
                  <a:schemeClr val="tx1">
                    <a:lumMod val="75000"/>
                    <a:lumOff val="25000"/>
                  </a:schemeClr>
                </a:solidFill>
                <a:latin typeface="Consolas" panose="020B0609020204030204" pitchFamily="49" charset="0"/>
              </a:rPr>
              <a:t>}</a:t>
            </a:r>
            <a:endParaRPr lang="ja-JP" altLang="en-US" sz="1600" dirty="0">
              <a:solidFill>
                <a:schemeClr val="tx1">
                  <a:lumMod val="75000"/>
                  <a:lumOff val="25000"/>
                </a:schemeClr>
              </a:solidFill>
              <a:latin typeface="Consolas" panose="020B0609020204030204" pitchFamily="49" charset="0"/>
            </a:endParaRPr>
          </a:p>
        </p:txBody>
      </p:sp>
      <p:grpSp>
        <p:nvGrpSpPr>
          <p:cNvPr id="26" name="グループ化 25">
            <a:extLst>
              <a:ext uri="{FF2B5EF4-FFF2-40B4-BE49-F238E27FC236}">
                <a16:creationId xmlns:a16="http://schemas.microsoft.com/office/drawing/2014/main" id="{52FA7C23-89C9-B059-AF3B-3536E11D8DFA}"/>
              </a:ext>
            </a:extLst>
          </p:cNvPr>
          <p:cNvGrpSpPr/>
          <p:nvPr/>
        </p:nvGrpSpPr>
        <p:grpSpPr>
          <a:xfrm>
            <a:off x="7536017" y="2438990"/>
            <a:ext cx="90001" cy="630007"/>
            <a:chOff x="2411976" y="3068996"/>
            <a:chExt cx="90001" cy="630007"/>
          </a:xfrm>
        </p:grpSpPr>
        <p:cxnSp>
          <p:nvCxnSpPr>
            <p:cNvPr id="27" name="直線コネクタ 26">
              <a:extLst>
                <a:ext uri="{FF2B5EF4-FFF2-40B4-BE49-F238E27FC236}">
                  <a16:creationId xmlns:a16="http://schemas.microsoft.com/office/drawing/2014/main" id="{9862DB7A-EB66-451D-BAC4-F27C77FD06C1}"/>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28" name="直線コネクタ 27">
              <a:extLst>
                <a:ext uri="{FF2B5EF4-FFF2-40B4-BE49-F238E27FC236}">
                  <a16:creationId xmlns:a16="http://schemas.microsoft.com/office/drawing/2014/main" id="{2D5130A0-F228-AE65-4210-804A6B84D289}"/>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29" name="直線コネクタ 28">
              <a:extLst>
                <a:ext uri="{FF2B5EF4-FFF2-40B4-BE49-F238E27FC236}">
                  <a16:creationId xmlns:a16="http://schemas.microsoft.com/office/drawing/2014/main" id="{EC6BCB15-9F4A-8724-28BF-52158C0A3733}"/>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0" name="直線コネクタ 29">
              <a:extLst>
                <a:ext uri="{FF2B5EF4-FFF2-40B4-BE49-F238E27FC236}">
                  <a16:creationId xmlns:a16="http://schemas.microsoft.com/office/drawing/2014/main" id="{678BDBE5-0242-742F-7514-8AF31BCCEF0E}"/>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1" name="直線コネクタ 30">
              <a:extLst>
                <a:ext uri="{FF2B5EF4-FFF2-40B4-BE49-F238E27FC236}">
                  <a16:creationId xmlns:a16="http://schemas.microsoft.com/office/drawing/2014/main" id="{09308D7B-F73E-C754-FCA5-BBE6316FBBAB}"/>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2" name="直線コネクタ 31">
              <a:extLst>
                <a:ext uri="{FF2B5EF4-FFF2-40B4-BE49-F238E27FC236}">
                  <a16:creationId xmlns:a16="http://schemas.microsoft.com/office/drawing/2014/main" id="{C3640805-6D9F-F666-C7ED-4FD04D7159CE}"/>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3" name="直線コネクタ 32">
              <a:extLst>
                <a:ext uri="{FF2B5EF4-FFF2-40B4-BE49-F238E27FC236}">
                  <a16:creationId xmlns:a16="http://schemas.microsoft.com/office/drawing/2014/main" id="{095B595B-FD89-CB7B-B7D9-177DAD3F7B1D}"/>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34" name="グループ化 33">
            <a:extLst>
              <a:ext uri="{FF2B5EF4-FFF2-40B4-BE49-F238E27FC236}">
                <a16:creationId xmlns:a16="http://schemas.microsoft.com/office/drawing/2014/main" id="{8FD2FC56-B4B9-E6ED-33A1-7E8ED8E39F57}"/>
              </a:ext>
            </a:extLst>
          </p:cNvPr>
          <p:cNvGrpSpPr/>
          <p:nvPr/>
        </p:nvGrpSpPr>
        <p:grpSpPr>
          <a:xfrm>
            <a:off x="8346026" y="2438990"/>
            <a:ext cx="90001" cy="630007"/>
            <a:chOff x="2411976" y="3068996"/>
            <a:chExt cx="90001" cy="630007"/>
          </a:xfrm>
        </p:grpSpPr>
        <p:cxnSp>
          <p:nvCxnSpPr>
            <p:cNvPr id="35" name="直線コネクタ 34">
              <a:extLst>
                <a:ext uri="{FF2B5EF4-FFF2-40B4-BE49-F238E27FC236}">
                  <a16:creationId xmlns:a16="http://schemas.microsoft.com/office/drawing/2014/main" id="{369E8DD2-339C-2242-CF86-C9F4785A7A11}"/>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6" name="直線コネクタ 35">
              <a:extLst>
                <a:ext uri="{FF2B5EF4-FFF2-40B4-BE49-F238E27FC236}">
                  <a16:creationId xmlns:a16="http://schemas.microsoft.com/office/drawing/2014/main" id="{FA535AB9-242D-8906-31AB-4F0DB4FC1034}"/>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7" name="直線コネクタ 36">
              <a:extLst>
                <a:ext uri="{FF2B5EF4-FFF2-40B4-BE49-F238E27FC236}">
                  <a16:creationId xmlns:a16="http://schemas.microsoft.com/office/drawing/2014/main" id="{7AA2C48B-4EEB-754B-30F7-5CD9CBEB29C3}"/>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8" name="直線コネクタ 37">
              <a:extLst>
                <a:ext uri="{FF2B5EF4-FFF2-40B4-BE49-F238E27FC236}">
                  <a16:creationId xmlns:a16="http://schemas.microsoft.com/office/drawing/2014/main" id="{5F31528B-3FF9-7C6D-AB73-C06EA9E1581F}"/>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9" name="直線コネクタ 38">
              <a:extLst>
                <a:ext uri="{FF2B5EF4-FFF2-40B4-BE49-F238E27FC236}">
                  <a16:creationId xmlns:a16="http://schemas.microsoft.com/office/drawing/2014/main" id="{19D2043B-2831-98BE-318B-8E52A6371E62}"/>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0" name="直線コネクタ 39">
              <a:extLst>
                <a:ext uri="{FF2B5EF4-FFF2-40B4-BE49-F238E27FC236}">
                  <a16:creationId xmlns:a16="http://schemas.microsoft.com/office/drawing/2014/main" id="{3A50C33E-E028-264A-D5A8-5C64B6C04A6D}"/>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1" name="直線コネクタ 40">
              <a:extLst>
                <a:ext uri="{FF2B5EF4-FFF2-40B4-BE49-F238E27FC236}">
                  <a16:creationId xmlns:a16="http://schemas.microsoft.com/office/drawing/2014/main" id="{C1BE3704-1CBD-FD53-B174-8E8BF497E95D}"/>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42" name="グループ化 41">
            <a:extLst>
              <a:ext uri="{FF2B5EF4-FFF2-40B4-BE49-F238E27FC236}">
                <a16:creationId xmlns:a16="http://schemas.microsoft.com/office/drawing/2014/main" id="{EDE98513-DC44-FFBF-3EEF-A67E79A436B9}"/>
              </a:ext>
            </a:extLst>
          </p:cNvPr>
          <p:cNvGrpSpPr/>
          <p:nvPr/>
        </p:nvGrpSpPr>
        <p:grpSpPr>
          <a:xfrm>
            <a:off x="9246036" y="2438990"/>
            <a:ext cx="90001" cy="630007"/>
            <a:chOff x="2411976" y="3068996"/>
            <a:chExt cx="90001" cy="630007"/>
          </a:xfrm>
        </p:grpSpPr>
        <p:cxnSp>
          <p:nvCxnSpPr>
            <p:cNvPr id="43" name="直線コネクタ 42">
              <a:extLst>
                <a:ext uri="{FF2B5EF4-FFF2-40B4-BE49-F238E27FC236}">
                  <a16:creationId xmlns:a16="http://schemas.microsoft.com/office/drawing/2014/main" id="{8349D56D-9556-BF73-648C-5D5270EB173F}"/>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4" name="直線コネクタ 43">
              <a:extLst>
                <a:ext uri="{FF2B5EF4-FFF2-40B4-BE49-F238E27FC236}">
                  <a16:creationId xmlns:a16="http://schemas.microsoft.com/office/drawing/2014/main" id="{A3CC3CAB-40D6-6819-878B-47D3AA9638F2}"/>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5" name="直線コネクタ 44">
              <a:extLst>
                <a:ext uri="{FF2B5EF4-FFF2-40B4-BE49-F238E27FC236}">
                  <a16:creationId xmlns:a16="http://schemas.microsoft.com/office/drawing/2014/main" id="{63B5FDA3-CFE9-081D-3163-63837209EBCE}"/>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6" name="直線コネクタ 45">
              <a:extLst>
                <a:ext uri="{FF2B5EF4-FFF2-40B4-BE49-F238E27FC236}">
                  <a16:creationId xmlns:a16="http://schemas.microsoft.com/office/drawing/2014/main" id="{D11899F5-AAAF-B116-D015-7A5FA9F0B036}"/>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7" name="直線コネクタ 46">
              <a:extLst>
                <a:ext uri="{FF2B5EF4-FFF2-40B4-BE49-F238E27FC236}">
                  <a16:creationId xmlns:a16="http://schemas.microsoft.com/office/drawing/2014/main" id="{0BAD8CF2-3FBF-0461-367E-527A5A6BCDAD}"/>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8" name="直線コネクタ 47">
              <a:extLst>
                <a:ext uri="{FF2B5EF4-FFF2-40B4-BE49-F238E27FC236}">
                  <a16:creationId xmlns:a16="http://schemas.microsoft.com/office/drawing/2014/main" id="{13817DAC-9904-2938-41A5-3A45485DB40D}"/>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9" name="直線コネクタ 48">
              <a:extLst>
                <a:ext uri="{FF2B5EF4-FFF2-40B4-BE49-F238E27FC236}">
                  <a16:creationId xmlns:a16="http://schemas.microsoft.com/office/drawing/2014/main" id="{B9B677E1-EE8F-0FBE-6C76-02130BA1E87D}"/>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50" name="グループ化 49">
            <a:extLst>
              <a:ext uri="{FF2B5EF4-FFF2-40B4-BE49-F238E27FC236}">
                <a16:creationId xmlns:a16="http://schemas.microsoft.com/office/drawing/2014/main" id="{8F76F01D-742E-13AA-2679-3330F33FF099}"/>
              </a:ext>
            </a:extLst>
          </p:cNvPr>
          <p:cNvGrpSpPr/>
          <p:nvPr/>
        </p:nvGrpSpPr>
        <p:grpSpPr>
          <a:xfrm>
            <a:off x="10056045" y="2438990"/>
            <a:ext cx="90001" cy="630007"/>
            <a:chOff x="2411976" y="3068996"/>
            <a:chExt cx="90001" cy="630007"/>
          </a:xfrm>
        </p:grpSpPr>
        <p:cxnSp>
          <p:nvCxnSpPr>
            <p:cNvPr id="51" name="直線コネクタ 50">
              <a:extLst>
                <a:ext uri="{FF2B5EF4-FFF2-40B4-BE49-F238E27FC236}">
                  <a16:creationId xmlns:a16="http://schemas.microsoft.com/office/drawing/2014/main" id="{ACAE366D-F701-E892-4663-30B17BE07EF0}"/>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52" name="直線コネクタ 51">
              <a:extLst>
                <a:ext uri="{FF2B5EF4-FFF2-40B4-BE49-F238E27FC236}">
                  <a16:creationId xmlns:a16="http://schemas.microsoft.com/office/drawing/2014/main" id="{0F3CA85F-EE91-E02D-EE9D-A9BEFE55B518}"/>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53" name="直線コネクタ 52">
              <a:extLst>
                <a:ext uri="{FF2B5EF4-FFF2-40B4-BE49-F238E27FC236}">
                  <a16:creationId xmlns:a16="http://schemas.microsoft.com/office/drawing/2014/main" id="{A3E0320A-C37C-D3EE-15C2-E2F0951FF3DB}"/>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54" name="直線コネクタ 53">
              <a:extLst>
                <a:ext uri="{FF2B5EF4-FFF2-40B4-BE49-F238E27FC236}">
                  <a16:creationId xmlns:a16="http://schemas.microsoft.com/office/drawing/2014/main" id="{A1E6091A-D821-4791-D54D-4F08B6B419D9}"/>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55" name="直線コネクタ 54">
              <a:extLst>
                <a:ext uri="{FF2B5EF4-FFF2-40B4-BE49-F238E27FC236}">
                  <a16:creationId xmlns:a16="http://schemas.microsoft.com/office/drawing/2014/main" id="{5AE8D383-47C1-A2EF-FFCE-8F214E7C35AD}"/>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56" name="直線コネクタ 55">
              <a:extLst>
                <a:ext uri="{FF2B5EF4-FFF2-40B4-BE49-F238E27FC236}">
                  <a16:creationId xmlns:a16="http://schemas.microsoft.com/office/drawing/2014/main" id="{303A02D4-02C4-F288-6FDE-6BADF2E9C0EF}"/>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57" name="直線コネクタ 56">
              <a:extLst>
                <a:ext uri="{FF2B5EF4-FFF2-40B4-BE49-F238E27FC236}">
                  <a16:creationId xmlns:a16="http://schemas.microsoft.com/office/drawing/2014/main" id="{0746F4A1-C136-1623-CD85-55EB6620CAC0}"/>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cxnSp>
        <p:nvCxnSpPr>
          <p:cNvPr id="58" name="直線矢印コネクタ 57">
            <a:extLst>
              <a:ext uri="{FF2B5EF4-FFF2-40B4-BE49-F238E27FC236}">
                <a16:creationId xmlns:a16="http://schemas.microsoft.com/office/drawing/2014/main" id="{66A0125E-705B-7AE9-18B4-037A2BF12501}"/>
              </a:ext>
            </a:extLst>
          </p:cNvPr>
          <p:cNvCxnSpPr>
            <a:cxnSpLocks/>
          </p:cNvCxnSpPr>
          <p:nvPr/>
        </p:nvCxnSpPr>
        <p:spPr bwMode="auto">
          <a:xfrm>
            <a:off x="8886031" y="3158997"/>
            <a:ext cx="0" cy="360004"/>
          </a:xfrm>
          <a:prstGeom prst="straightConnector1">
            <a:avLst/>
          </a:prstGeom>
          <a:noFill/>
          <a:ln w="31750" cap="flat" cmpd="sng" algn="ctr">
            <a:solidFill>
              <a:schemeClr val="tx1">
                <a:lumMod val="50000"/>
                <a:lumOff val="50000"/>
              </a:schemeClr>
            </a:solidFill>
            <a:prstDash val="solid"/>
            <a:round/>
            <a:headEnd type="none" w="med" len="med"/>
            <a:tailEnd type="arrow" w="sm" len="sm"/>
          </a:ln>
          <a:effectLst/>
        </p:spPr>
      </p:cxnSp>
    </p:spTree>
    <p:extLst>
      <p:ext uri="{BB962C8B-B14F-4D97-AF65-F5344CB8AC3E}">
        <p14:creationId xmlns:p14="http://schemas.microsoft.com/office/powerpoint/2010/main" val="15545874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5EEB5-696E-1AD6-6F9B-04C2953688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2011F83-D824-5C61-1CF5-2D4D4F69F017}"/>
              </a:ext>
            </a:extLst>
          </p:cNvPr>
          <p:cNvSpPr>
            <a:spLocks noGrp="1"/>
          </p:cNvSpPr>
          <p:nvPr>
            <p:ph type="title"/>
          </p:nvPr>
        </p:nvSpPr>
        <p:spPr/>
        <p:txBody>
          <a:bodyPr/>
          <a:lstStyle/>
          <a:p>
            <a:r>
              <a:rPr kumimoji="1" lang="ja-JP" altLang="en-US" dirty="0"/>
              <a:t>カレー屋さんにおける 水平演算</a:t>
            </a:r>
          </a:p>
        </p:txBody>
      </p:sp>
      <p:sp>
        <p:nvSpPr>
          <p:cNvPr id="3" name="テキスト プレースホルダー 2">
            <a:extLst>
              <a:ext uri="{FF2B5EF4-FFF2-40B4-BE49-F238E27FC236}">
                <a16:creationId xmlns:a16="http://schemas.microsoft.com/office/drawing/2014/main" id="{4737759F-E6D0-4349-F8F0-16785F8B846D}"/>
              </a:ext>
            </a:extLst>
          </p:cNvPr>
          <p:cNvSpPr>
            <a:spLocks noGrp="1"/>
          </p:cNvSpPr>
          <p:nvPr>
            <p:ph type="body" sz="quarter" idx="10"/>
          </p:nvPr>
        </p:nvSpPr>
        <p:spPr>
          <a:xfrm>
            <a:off x="1955954" y="998973"/>
            <a:ext cx="9900110" cy="1620018"/>
          </a:xfrm>
        </p:spPr>
        <p:txBody>
          <a:bodyPr anchor="t"/>
          <a:lstStyle/>
          <a:p>
            <a:r>
              <a:rPr kumimoji="1" lang="ja-JP" altLang="en-US" dirty="0"/>
              <a:t>「全員の野菜を集めて鍋にいれる」</a:t>
            </a:r>
            <a:r>
              <a:rPr lang="ja-JP" altLang="en-US" dirty="0"/>
              <a:t>みたいな操作が難しい</a:t>
            </a:r>
            <a:endParaRPr lang="en-US" altLang="ja-JP" dirty="0"/>
          </a:p>
          <a:p>
            <a:pPr lvl="1"/>
            <a:r>
              <a:rPr lang="ja-JP" altLang="en-US" dirty="0"/>
              <a:t>全員がそこに揃ってる事が保証できないため</a:t>
            </a:r>
            <a:endParaRPr lang="en-US" altLang="ja-JP" dirty="0"/>
          </a:p>
          <a:p>
            <a:pPr lvl="2"/>
            <a:r>
              <a:rPr lang="ja-JP" altLang="en-US" dirty="0"/>
              <a:t>分岐があると時分割で処理される</a:t>
            </a:r>
            <a:endParaRPr lang="en-US" altLang="ja-JP" dirty="0"/>
          </a:p>
          <a:p>
            <a:pPr lvl="2"/>
            <a:r>
              <a:rPr lang="ja-JP" altLang="en-US" dirty="0"/>
              <a:t>玉葱の薄切りが終わってないかもしれない</a:t>
            </a:r>
            <a:endParaRPr lang="en-US" altLang="ja-JP" dirty="0"/>
          </a:p>
          <a:p>
            <a:pPr lvl="1"/>
            <a:r>
              <a:rPr lang="ja-JP" altLang="en-US" dirty="0"/>
              <a:t>「ここで全員を待つ」みたいな指示が必要</a:t>
            </a:r>
            <a:endParaRPr lang="en-US" altLang="ja-JP" dirty="0"/>
          </a:p>
        </p:txBody>
      </p:sp>
      <p:sp>
        <p:nvSpPr>
          <p:cNvPr id="38" name="正方形/長方形 37">
            <a:extLst>
              <a:ext uri="{FF2B5EF4-FFF2-40B4-BE49-F238E27FC236}">
                <a16:creationId xmlns:a16="http://schemas.microsoft.com/office/drawing/2014/main" id="{A9E13317-85FB-CD34-B554-0F60437CEB45}"/>
              </a:ext>
            </a:extLst>
          </p:cNvPr>
          <p:cNvSpPr/>
          <p:nvPr/>
        </p:nvSpPr>
        <p:spPr bwMode="auto">
          <a:xfrm>
            <a:off x="2585961" y="522902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5"/>
                </a:solidFill>
                <a:latin typeface="+mn-ea"/>
              </a:rPr>
              <a:t>PC</a:t>
            </a:r>
            <a:r>
              <a:rPr lang="ja-JP" altLang="en-US" sz="1600" dirty="0">
                <a:solidFill>
                  <a:schemeClr val="accent5"/>
                </a:solidFill>
                <a:latin typeface="+mn-ea"/>
              </a:rPr>
              <a:t> が分散</a:t>
            </a:r>
          </a:p>
        </p:txBody>
      </p:sp>
      <p:sp>
        <p:nvSpPr>
          <p:cNvPr id="40" name="平行四辺形 39">
            <a:extLst>
              <a:ext uri="{FF2B5EF4-FFF2-40B4-BE49-F238E27FC236}">
                <a16:creationId xmlns:a16="http://schemas.microsoft.com/office/drawing/2014/main" id="{E218DAB2-030F-72B6-4DA7-F439310DD3F9}"/>
              </a:ext>
            </a:extLst>
          </p:cNvPr>
          <p:cNvSpPr/>
          <p:nvPr/>
        </p:nvSpPr>
        <p:spPr bwMode="auto">
          <a:xfrm>
            <a:off x="6636007" y="4869014"/>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1" name="正方形/長方形 40">
            <a:extLst>
              <a:ext uri="{FF2B5EF4-FFF2-40B4-BE49-F238E27FC236}">
                <a16:creationId xmlns:a16="http://schemas.microsoft.com/office/drawing/2014/main" id="{D901B843-9D3F-30FB-2844-C2F67610EEAD}"/>
              </a:ext>
            </a:extLst>
          </p:cNvPr>
          <p:cNvSpPr/>
          <p:nvPr/>
        </p:nvSpPr>
        <p:spPr>
          <a:xfrm>
            <a:off x="7086012" y="4059005"/>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2" name="平行四辺形 41">
            <a:extLst>
              <a:ext uri="{FF2B5EF4-FFF2-40B4-BE49-F238E27FC236}">
                <a16:creationId xmlns:a16="http://schemas.microsoft.com/office/drawing/2014/main" id="{309E6D14-D95B-55B4-3881-D727F88FE789}"/>
              </a:ext>
            </a:extLst>
          </p:cNvPr>
          <p:cNvSpPr/>
          <p:nvPr/>
        </p:nvSpPr>
        <p:spPr bwMode="auto">
          <a:xfrm>
            <a:off x="8256025" y="4239007"/>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3" name="正方形/長方形 42">
            <a:extLst>
              <a:ext uri="{FF2B5EF4-FFF2-40B4-BE49-F238E27FC236}">
                <a16:creationId xmlns:a16="http://schemas.microsoft.com/office/drawing/2014/main" id="{8309419C-6FF4-4B9B-4DAC-AED193D5EB70}"/>
              </a:ext>
            </a:extLst>
          </p:cNvPr>
          <p:cNvSpPr/>
          <p:nvPr/>
        </p:nvSpPr>
        <p:spPr>
          <a:xfrm>
            <a:off x="8616029" y="342899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4" name="角丸四角形吹き出し 44">
            <a:extLst>
              <a:ext uri="{FF2B5EF4-FFF2-40B4-BE49-F238E27FC236}">
                <a16:creationId xmlns:a16="http://schemas.microsoft.com/office/drawing/2014/main" id="{FDEAA266-FD36-972D-15A1-4F726DFF1E67}"/>
              </a:ext>
            </a:extLst>
          </p:cNvPr>
          <p:cNvSpPr/>
          <p:nvPr/>
        </p:nvSpPr>
        <p:spPr bwMode="auto">
          <a:xfrm>
            <a:off x="7356013" y="3158997"/>
            <a:ext cx="1620019" cy="702648"/>
          </a:xfrm>
          <a:prstGeom prst="wedgeRoundRectCallout">
            <a:avLst>
              <a:gd name="adj1" fmla="val -36493"/>
              <a:gd name="adj2" fmla="val 100662"/>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鍋に集めて</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よろしく</a:t>
            </a:r>
          </a:p>
        </p:txBody>
      </p:sp>
      <p:sp>
        <p:nvSpPr>
          <p:cNvPr id="45" name="平行四辺形 44">
            <a:extLst>
              <a:ext uri="{FF2B5EF4-FFF2-40B4-BE49-F238E27FC236}">
                <a16:creationId xmlns:a16="http://schemas.microsoft.com/office/drawing/2014/main" id="{B96C5987-A480-B885-9A3A-4139C46DCD4B}"/>
              </a:ext>
            </a:extLst>
          </p:cNvPr>
          <p:cNvSpPr/>
          <p:nvPr/>
        </p:nvSpPr>
        <p:spPr bwMode="auto">
          <a:xfrm>
            <a:off x="8256025" y="4869014"/>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46" name="平行四辺形 45">
            <a:extLst>
              <a:ext uri="{FF2B5EF4-FFF2-40B4-BE49-F238E27FC236}">
                <a16:creationId xmlns:a16="http://schemas.microsoft.com/office/drawing/2014/main" id="{07FE9F50-1321-76D2-8E60-9F5EFEECE2F6}"/>
              </a:ext>
            </a:extLst>
          </p:cNvPr>
          <p:cNvSpPr/>
          <p:nvPr/>
        </p:nvSpPr>
        <p:spPr bwMode="auto">
          <a:xfrm>
            <a:off x="8166023" y="6039028"/>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cxnSp>
        <p:nvCxnSpPr>
          <p:cNvPr id="47" name="直線矢印コネクタ 46">
            <a:extLst>
              <a:ext uri="{FF2B5EF4-FFF2-40B4-BE49-F238E27FC236}">
                <a16:creationId xmlns:a16="http://schemas.microsoft.com/office/drawing/2014/main" id="{CD4212C8-279A-8641-8E5F-8EEC492DF5D3}"/>
              </a:ext>
            </a:extLst>
          </p:cNvPr>
          <p:cNvCxnSpPr>
            <a:cxnSpLocks/>
          </p:cNvCxnSpPr>
          <p:nvPr/>
        </p:nvCxnSpPr>
        <p:spPr bwMode="auto">
          <a:xfrm flipV="1">
            <a:off x="7986022" y="4509010"/>
            <a:ext cx="540006" cy="450005"/>
          </a:xfrm>
          <a:prstGeom prst="straightConnector1">
            <a:avLst/>
          </a:prstGeom>
          <a:ln w="57150">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50" name="正方形/長方形 49">
            <a:extLst>
              <a:ext uri="{FF2B5EF4-FFF2-40B4-BE49-F238E27FC236}">
                <a16:creationId xmlns:a16="http://schemas.microsoft.com/office/drawing/2014/main" id="{27F28AC7-5682-412C-7285-1A26F2A0E5C6}"/>
              </a:ext>
            </a:extLst>
          </p:cNvPr>
          <p:cNvSpPr/>
          <p:nvPr/>
        </p:nvSpPr>
        <p:spPr bwMode="auto">
          <a:xfrm>
            <a:off x="3755974" y="3248998"/>
            <a:ext cx="2790031" cy="2340026"/>
          </a:xfrm>
          <a:prstGeom prst="rect">
            <a:avLst/>
          </a:prstGeom>
          <a:solidFill>
            <a:schemeClr val="bg1"/>
          </a:solidFill>
          <a:ln>
            <a:solidFill>
              <a:schemeClr val="accent4"/>
            </a:solidFill>
            <a:headEnd/>
            <a:tailEnd type="none" w="sm" len="med"/>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150000"/>
              </a:lnSpc>
            </a:pPr>
            <a:r>
              <a:rPr lang="en-US" altLang="ja-JP" sz="1600" dirty="0">
                <a:solidFill>
                  <a:schemeClr val="accent4"/>
                </a:solidFill>
                <a:latin typeface="Arial Narrow" panose="020B0606020202030204" pitchFamily="34" charset="0"/>
              </a:rPr>
              <a:t>1.. </a:t>
            </a:r>
            <a:r>
              <a:rPr lang="ja-JP" altLang="en-US" sz="1600" dirty="0">
                <a:solidFill>
                  <a:schemeClr val="accent4"/>
                </a:solidFill>
                <a:latin typeface="Arial Narrow" panose="020B0606020202030204" pitchFamily="34" charset="0"/>
              </a:rPr>
              <a:t>もし芋なら？</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2.         </a:t>
            </a:r>
            <a:r>
              <a:rPr lang="ja-JP" altLang="en-US" sz="1600" dirty="0">
                <a:solidFill>
                  <a:schemeClr val="accent4"/>
                </a:solidFill>
                <a:latin typeface="Arial Narrow" panose="020B0606020202030204" pitchFamily="34" charset="0"/>
              </a:rPr>
              <a:t>芽を取って皮むき</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3.</a:t>
            </a:r>
            <a:r>
              <a:rPr lang="ja-JP" altLang="en-US" sz="1600" dirty="0">
                <a:solidFill>
                  <a:schemeClr val="accent4"/>
                </a:solidFill>
                <a:latin typeface="Arial Narrow" panose="020B0606020202030204" pitchFamily="34" charset="0"/>
              </a:rPr>
              <a:t>  ではなく玉葱なら？</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4.         </a:t>
            </a:r>
            <a:r>
              <a:rPr lang="ja-JP" altLang="en-US" sz="1600" dirty="0">
                <a:solidFill>
                  <a:schemeClr val="accent4"/>
                </a:solidFill>
                <a:latin typeface="Arial Narrow" panose="020B0606020202030204" pitchFamily="34" charset="0"/>
              </a:rPr>
              <a:t>うすぎりに</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5. </a:t>
            </a:r>
            <a:r>
              <a:rPr lang="ja-JP" altLang="en-US" sz="1600" dirty="0">
                <a:solidFill>
                  <a:schemeClr val="accent4"/>
                </a:solidFill>
                <a:latin typeface="Arial Narrow" panose="020B0606020202030204" pitchFamily="34" charset="0"/>
              </a:rPr>
              <a:t>全員の切った野菜を集める</a:t>
            </a:r>
          </a:p>
        </p:txBody>
      </p:sp>
      <p:cxnSp>
        <p:nvCxnSpPr>
          <p:cNvPr id="51" name="直線矢印コネクタ 50">
            <a:extLst>
              <a:ext uri="{FF2B5EF4-FFF2-40B4-BE49-F238E27FC236}">
                <a16:creationId xmlns:a16="http://schemas.microsoft.com/office/drawing/2014/main" id="{86C722F9-36B5-F66C-43CC-548FA7DEC729}"/>
              </a:ext>
            </a:extLst>
          </p:cNvPr>
          <p:cNvCxnSpPr>
            <a:cxnSpLocks/>
          </p:cNvCxnSpPr>
          <p:nvPr/>
        </p:nvCxnSpPr>
        <p:spPr bwMode="auto">
          <a:xfrm>
            <a:off x="3305969" y="4599013"/>
            <a:ext cx="360004" cy="0"/>
          </a:xfrm>
          <a:prstGeom prst="straightConnector1">
            <a:avLst/>
          </a:prstGeom>
          <a:ln w="76200">
            <a:solidFill>
              <a:schemeClr val="accent5"/>
            </a:solidFill>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2" name="直線矢印コネクタ 51">
            <a:extLst>
              <a:ext uri="{FF2B5EF4-FFF2-40B4-BE49-F238E27FC236}">
                <a16:creationId xmlns:a16="http://schemas.microsoft.com/office/drawing/2014/main" id="{81898CEB-CFDE-2740-F55F-47DBBC9D2F2E}"/>
              </a:ext>
            </a:extLst>
          </p:cNvPr>
          <p:cNvCxnSpPr>
            <a:cxnSpLocks/>
          </p:cNvCxnSpPr>
          <p:nvPr/>
        </p:nvCxnSpPr>
        <p:spPr bwMode="auto">
          <a:xfrm>
            <a:off x="2945965" y="4599013"/>
            <a:ext cx="360004" cy="0"/>
          </a:xfrm>
          <a:prstGeom prst="straightConnector1">
            <a:avLst/>
          </a:prstGeom>
          <a:ln w="76200">
            <a:solidFill>
              <a:schemeClr val="accent5"/>
            </a:solidFill>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3" name="直線矢印コネクタ 52">
            <a:extLst>
              <a:ext uri="{FF2B5EF4-FFF2-40B4-BE49-F238E27FC236}">
                <a16:creationId xmlns:a16="http://schemas.microsoft.com/office/drawing/2014/main" id="{81EA7133-F846-9B21-DB0D-ECE2234C3F43}"/>
              </a:ext>
            </a:extLst>
          </p:cNvPr>
          <p:cNvCxnSpPr>
            <a:cxnSpLocks/>
          </p:cNvCxnSpPr>
          <p:nvPr/>
        </p:nvCxnSpPr>
        <p:spPr bwMode="auto">
          <a:xfrm>
            <a:off x="3305969" y="4959017"/>
            <a:ext cx="360004" cy="0"/>
          </a:xfrm>
          <a:prstGeom prst="straightConnector1">
            <a:avLst/>
          </a:prstGeom>
          <a:ln w="76200">
            <a:solidFill>
              <a:schemeClr val="accent5"/>
            </a:solidFill>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54" name="角丸四角形 46">
            <a:extLst>
              <a:ext uri="{FF2B5EF4-FFF2-40B4-BE49-F238E27FC236}">
                <a16:creationId xmlns:a16="http://schemas.microsoft.com/office/drawing/2014/main" id="{5F34FACB-D3D8-489F-A6B6-7250986621DE}"/>
              </a:ext>
            </a:extLst>
          </p:cNvPr>
          <p:cNvSpPr/>
          <p:nvPr/>
        </p:nvSpPr>
        <p:spPr bwMode="auto">
          <a:xfrm>
            <a:off x="6996011" y="4779013"/>
            <a:ext cx="720008" cy="360004"/>
          </a:xfrm>
          <a:prstGeom prst="roundRect">
            <a:avLst/>
          </a:prstGeom>
          <a:ln>
            <a:headEnd/>
            <a:tailEnd type="triangle" w="sm" len="med"/>
          </a:ln>
        </p:spPr>
        <p:style>
          <a:lnRef idx="2">
            <a:schemeClr val="accent4">
              <a:shade val="15000"/>
            </a:schemeClr>
          </a:lnRef>
          <a:fillRef idx="1">
            <a:schemeClr val="accent4"/>
          </a:fillRef>
          <a:effectRef idx="0">
            <a:schemeClr val="accent4"/>
          </a:effectRef>
          <a:fontRef idx="minor">
            <a:schemeClr val="lt1"/>
          </a:fontRef>
        </p:style>
        <p:txBody>
          <a:bodyPr wrap="none" rtlCol="0" anchor="ctr"/>
          <a:lstStyle/>
          <a:p>
            <a:pPr algn="ctr"/>
            <a:r>
              <a:rPr kumimoji="1" lang="ja-JP" altLang="en-US" sz="1400" b="1" dirty="0">
                <a:solidFill>
                  <a:schemeClr val="bg1"/>
                </a:solidFill>
                <a:latin typeface="Arial Narrow" panose="020B0606020202030204" pitchFamily="34" charset="0"/>
              </a:rPr>
              <a:t>集めて</a:t>
            </a:r>
          </a:p>
        </p:txBody>
      </p:sp>
      <p:sp>
        <p:nvSpPr>
          <p:cNvPr id="4" name="正方形/長方形 3">
            <a:extLst>
              <a:ext uri="{FF2B5EF4-FFF2-40B4-BE49-F238E27FC236}">
                <a16:creationId xmlns:a16="http://schemas.microsoft.com/office/drawing/2014/main" id="{CC22D086-7121-FE32-6C4A-B593D4533F1A}"/>
              </a:ext>
            </a:extLst>
          </p:cNvPr>
          <p:cNvSpPr/>
          <p:nvPr/>
        </p:nvSpPr>
        <p:spPr>
          <a:xfrm>
            <a:off x="8616028" y="5319020"/>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 name="角丸四角形吹き出し 44">
            <a:extLst>
              <a:ext uri="{FF2B5EF4-FFF2-40B4-BE49-F238E27FC236}">
                <a16:creationId xmlns:a16="http://schemas.microsoft.com/office/drawing/2014/main" id="{6EDF7C2D-009B-8802-C0A8-E1387A84EF99}"/>
              </a:ext>
            </a:extLst>
          </p:cNvPr>
          <p:cNvSpPr/>
          <p:nvPr/>
        </p:nvSpPr>
        <p:spPr bwMode="auto">
          <a:xfrm>
            <a:off x="9336035" y="5139019"/>
            <a:ext cx="2070024" cy="414056"/>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65000"/>
                    <a:lumOff val="35000"/>
                  </a:schemeClr>
                </a:solidFill>
                <a:latin typeface="Arial Narrow" panose="020B0606020202030204" pitchFamily="34" charset="0"/>
              </a:rPr>
              <a:t>玉葱おわってないよ</a:t>
            </a:r>
          </a:p>
        </p:txBody>
      </p:sp>
    </p:spTree>
    <p:extLst>
      <p:ext uri="{BB962C8B-B14F-4D97-AF65-F5344CB8AC3E}">
        <p14:creationId xmlns:p14="http://schemas.microsoft.com/office/powerpoint/2010/main" val="706465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4499D9-5506-1FEE-F8FF-E7C96D51B5BE}"/>
              </a:ext>
            </a:extLst>
          </p:cNvPr>
          <p:cNvSpPr>
            <a:spLocks noGrp="1"/>
          </p:cNvSpPr>
          <p:nvPr>
            <p:ph type="title"/>
          </p:nvPr>
        </p:nvSpPr>
        <p:spPr/>
        <p:txBody>
          <a:bodyPr/>
          <a:lstStyle/>
          <a:p>
            <a:r>
              <a:rPr kumimoji="1" lang="en-US" altLang="ja-JP" dirty="0"/>
              <a:t>SIMD </a:t>
            </a:r>
            <a:r>
              <a:rPr kumimoji="1" lang="ja-JP" altLang="en-US" dirty="0"/>
              <a:t>命令と </a:t>
            </a:r>
            <a:r>
              <a:rPr kumimoji="1" lang="en-US" altLang="ja-JP" dirty="0"/>
              <a:t>SIMT </a:t>
            </a:r>
            <a:r>
              <a:rPr kumimoji="1" lang="ja-JP" altLang="en-US" dirty="0"/>
              <a:t>のまとめ</a:t>
            </a:r>
          </a:p>
        </p:txBody>
      </p:sp>
      <p:sp>
        <p:nvSpPr>
          <p:cNvPr id="3" name="テキスト プレースホルダー 2">
            <a:extLst>
              <a:ext uri="{FF2B5EF4-FFF2-40B4-BE49-F238E27FC236}">
                <a16:creationId xmlns:a16="http://schemas.microsoft.com/office/drawing/2014/main" id="{0AF5DC0D-AE39-A1D4-A2D0-B5131028F61C}"/>
              </a:ext>
            </a:extLst>
          </p:cNvPr>
          <p:cNvSpPr>
            <a:spLocks noGrp="1"/>
          </p:cNvSpPr>
          <p:nvPr>
            <p:ph type="body" sz="quarter" idx="10"/>
          </p:nvPr>
        </p:nvSpPr>
        <p:spPr/>
        <p:txBody>
          <a:bodyPr/>
          <a:lstStyle/>
          <a:p>
            <a:r>
              <a:rPr kumimoji="1" lang="en-US" altLang="ja-JP" dirty="0"/>
              <a:t>SIMD </a:t>
            </a:r>
            <a:r>
              <a:rPr kumimoji="1" lang="ja-JP" altLang="en-US" dirty="0"/>
              <a:t>プロセッサをどのように使うか</a:t>
            </a:r>
            <a:endParaRPr kumimoji="1" lang="en-US" altLang="ja-JP" dirty="0"/>
          </a:p>
          <a:p>
            <a:pPr lvl="1"/>
            <a:r>
              <a:rPr kumimoji="1" lang="en-US" altLang="ja-JP" dirty="0"/>
              <a:t>SIMD </a:t>
            </a:r>
            <a:r>
              <a:rPr kumimoji="1" lang="ja-JP" altLang="en-US" dirty="0"/>
              <a:t>命令モデル </a:t>
            </a:r>
            <a:r>
              <a:rPr kumimoji="1" lang="en-US" altLang="ja-JP" dirty="0"/>
              <a:t>vs. SIMT </a:t>
            </a:r>
            <a:r>
              <a:rPr kumimoji="1" lang="ja-JP" altLang="en-US" dirty="0"/>
              <a:t>モデル</a:t>
            </a:r>
            <a:endParaRPr kumimoji="1" lang="en-US" altLang="ja-JP" dirty="0"/>
          </a:p>
          <a:p>
            <a:pPr lvl="2"/>
            <a:r>
              <a:rPr kumimoji="1" lang="ja-JP" altLang="en-US" dirty="0"/>
              <a:t>（モデルの名前が適切ではない気もする</a:t>
            </a:r>
            <a:br>
              <a:rPr kumimoji="1" lang="en-US" altLang="ja-JP" dirty="0"/>
            </a:br>
            <a:endParaRPr kumimoji="1" lang="en-US" altLang="ja-JP" dirty="0"/>
          </a:p>
          <a:p>
            <a:pPr lvl="1"/>
            <a:r>
              <a:rPr kumimoji="1" lang="ja-JP" altLang="en-US" dirty="0">
                <a:solidFill>
                  <a:schemeClr val="accent5"/>
                </a:solidFill>
              </a:rPr>
              <a:t>異なる層で，複数演算器の同時処理の対応を行っている</a:t>
            </a:r>
            <a:endParaRPr kumimoji="1" lang="en-US" altLang="ja-JP" dirty="0">
              <a:solidFill>
                <a:schemeClr val="accent5"/>
              </a:solidFill>
            </a:endParaRPr>
          </a:p>
          <a:p>
            <a:pPr lvl="2"/>
            <a:r>
              <a:rPr lang="en-US" altLang="ja-JP" dirty="0"/>
              <a:t>SIMD </a:t>
            </a:r>
            <a:r>
              <a:rPr lang="ja-JP" altLang="en-US" dirty="0"/>
              <a:t>命令：　コンパイラ </a:t>
            </a:r>
            <a:r>
              <a:rPr lang="en-US" altLang="ja-JP" dirty="0"/>
              <a:t>or </a:t>
            </a:r>
            <a:r>
              <a:rPr lang="ja-JP" altLang="en-US" dirty="0"/>
              <a:t>人手</a:t>
            </a:r>
            <a:endParaRPr lang="en-US" altLang="ja-JP" dirty="0"/>
          </a:p>
          <a:p>
            <a:pPr lvl="2"/>
            <a:r>
              <a:rPr kumimoji="1" lang="en-US" altLang="ja-JP" dirty="0"/>
              <a:t>SIMT</a:t>
            </a:r>
            <a:r>
              <a:rPr kumimoji="1" lang="ja-JP" altLang="en-US" dirty="0"/>
              <a:t>：　　　 ハードウェア</a:t>
            </a:r>
            <a:endParaRPr kumimoji="1" lang="en-US" altLang="ja-JP" dirty="0"/>
          </a:p>
        </p:txBody>
      </p:sp>
    </p:spTree>
    <p:extLst>
      <p:ext uri="{BB962C8B-B14F-4D97-AF65-F5344CB8AC3E}">
        <p14:creationId xmlns:p14="http://schemas.microsoft.com/office/powerpoint/2010/main" val="41292317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GPU </a:t>
            </a:r>
            <a:r>
              <a:rPr kumimoji="1" lang="ja-JP" altLang="en-US" dirty="0"/>
              <a:t>のアーキテクチャ</a:t>
            </a:r>
            <a:r>
              <a:rPr lang="ja-JP" altLang="en-US" dirty="0"/>
              <a:t>の</a:t>
            </a:r>
            <a:r>
              <a:rPr kumimoji="1" lang="ja-JP" altLang="en-US" dirty="0"/>
              <a:t>まとめ</a:t>
            </a:r>
          </a:p>
        </p:txBody>
      </p:sp>
      <p:sp>
        <p:nvSpPr>
          <p:cNvPr id="3" name="テキスト プレースホルダー 2"/>
          <p:cNvSpPr>
            <a:spLocks noGrp="1"/>
          </p:cNvSpPr>
          <p:nvPr>
            <p:ph type="body" sz="quarter" idx="10"/>
          </p:nvPr>
        </p:nvSpPr>
        <p:spPr/>
        <p:txBody>
          <a:bodyPr/>
          <a:lstStyle/>
          <a:p>
            <a:r>
              <a:rPr lang="ja-JP" altLang="en-US" dirty="0"/>
              <a:t>下記の性質を利用</a:t>
            </a:r>
            <a:endParaRPr lang="en-US" altLang="ja-JP" dirty="0"/>
          </a:p>
          <a:p>
            <a:pPr marL="817200" lvl="1" indent="-457200">
              <a:buFont typeface="+mj-lt"/>
              <a:buAutoNum type="arabicPeriod"/>
            </a:pPr>
            <a:r>
              <a:rPr lang="ja-JP" altLang="en-US" dirty="0"/>
              <a:t>並列に動作する大量のスレッドがある</a:t>
            </a:r>
            <a:endParaRPr lang="en-US" altLang="ja-JP" dirty="0"/>
          </a:p>
          <a:p>
            <a:pPr marL="817200" lvl="1" indent="-457200">
              <a:buFont typeface="+mj-lt"/>
              <a:buAutoNum type="arabicPeriod"/>
            </a:pPr>
            <a:r>
              <a:rPr lang="ja-JP" altLang="en-US" dirty="0"/>
              <a:t>各スレッドは基本的に同じことをしている</a:t>
            </a:r>
            <a:endParaRPr lang="en-US" altLang="ja-JP" dirty="0"/>
          </a:p>
          <a:p>
            <a:r>
              <a:rPr lang="ja-JP" altLang="en-US" dirty="0"/>
              <a:t>演算器以外の回路を削減</a:t>
            </a:r>
            <a:endParaRPr lang="en-US" altLang="ja-JP" dirty="0"/>
          </a:p>
          <a:p>
            <a:pPr lvl="1"/>
            <a:r>
              <a:rPr kumimoji="1" lang="ja-JP" altLang="en-US" dirty="0"/>
              <a:t>制御部を共有してハード量当たりの性能を向上</a:t>
            </a:r>
            <a:endParaRPr kumimoji="1" lang="en-US" altLang="ja-JP" dirty="0"/>
          </a:p>
          <a:p>
            <a:pPr lvl="1"/>
            <a:r>
              <a:rPr lang="ja-JP" altLang="en-US" dirty="0"/>
              <a:t>制御部自体の小型化</a:t>
            </a:r>
            <a:endParaRPr kumimoji="1" lang="en-US" altLang="ja-JP" dirty="0"/>
          </a:p>
        </p:txBody>
      </p:sp>
    </p:spTree>
    <p:extLst>
      <p:ext uri="{BB962C8B-B14F-4D97-AF65-F5344CB8AC3E}">
        <p14:creationId xmlns:p14="http://schemas.microsoft.com/office/powerpoint/2010/main" val="23480704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8CA20A38-4BCD-BFFD-0116-5C350096E5DB}"/>
              </a:ext>
            </a:extLst>
          </p:cNvPr>
          <p:cNvSpPr>
            <a:spLocks noGrp="1"/>
          </p:cNvSpPr>
          <p:nvPr>
            <p:ph type="title" idx="4294967295"/>
          </p:nvPr>
        </p:nvSpPr>
        <p:spPr>
          <a:xfrm>
            <a:off x="1775952" y="2438988"/>
            <a:ext cx="8640096" cy="630007"/>
          </a:xfrm>
        </p:spPr>
        <p:txBody>
          <a:bodyPr/>
          <a:lstStyle/>
          <a:p>
            <a:pPr algn="ctr"/>
            <a:r>
              <a:rPr lang="ja-JP" altLang="en-US" b="1" dirty="0"/>
              <a:t>アクセラレータについて</a:t>
            </a:r>
          </a:p>
        </p:txBody>
      </p:sp>
    </p:spTree>
    <p:extLst>
      <p:ext uri="{BB962C8B-B14F-4D97-AF65-F5344CB8AC3E}">
        <p14:creationId xmlns:p14="http://schemas.microsoft.com/office/powerpoint/2010/main" val="2618188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アクセラレータや </a:t>
            </a:r>
            <a:r>
              <a:rPr kumimoji="1" lang="en-US" altLang="ja-JP" dirty="0"/>
              <a:t>GPU </a:t>
            </a:r>
            <a:r>
              <a:rPr kumimoji="1" lang="ja-JP" altLang="en-US" dirty="0"/>
              <a:t>は何故 </a:t>
            </a:r>
            <a:r>
              <a:rPr kumimoji="1" lang="en-US" altLang="ja-JP" dirty="0"/>
              <a:t>CPU </a:t>
            </a:r>
            <a:r>
              <a:rPr kumimoji="1" lang="ja-JP" altLang="en-US" dirty="0"/>
              <a:t>より速いのか？</a:t>
            </a:r>
          </a:p>
        </p:txBody>
      </p:sp>
      <p:sp>
        <p:nvSpPr>
          <p:cNvPr id="3" name="テキスト プレースホルダー 2"/>
          <p:cNvSpPr>
            <a:spLocks noGrp="1"/>
          </p:cNvSpPr>
          <p:nvPr>
            <p:ph type="body" sz="quarter" idx="10"/>
          </p:nvPr>
        </p:nvSpPr>
        <p:spPr/>
        <p:txBody>
          <a:bodyPr/>
          <a:lstStyle/>
          <a:p>
            <a:r>
              <a:rPr kumimoji="1" lang="ja-JP" altLang="en-US" dirty="0"/>
              <a:t>アクセラレータ</a:t>
            </a:r>
            <a:endParaRPr kumimoji="1" lang="en-US" altLang="ja-JP" dirty="0"/>
          </a:p>
          <a:p>
            <a:pPr lvl="1"/>
            <a:r>
              <a:rPr kumimoji="1" lang="ja-JP" altLang="en-US" dirty="0"/>
              <a:t>特定の問題に特化したハードウェア</a:t>
            </a:r>
            <a:endParaRPr kumimoji="1" lang="en-US" altLang="ja-JP" dirty="0"/>
          </a:p>
          <a:p>
            <a:r>
              <a:rPr kumimoji="1" lang="ja-JP" altLang="en-US" dirty="0"/>
              <a:t>演算器そのものは一緒</a:t>
            </a:r>
            <a:endParaRPr kumimoji="1" lang="en-US" altLang="ja-JP" dirty="0"/>
          </a:p>
          <a:p>
            <a:pPr lvl="1"/>
            <a:r>
              <a:rPr lang="ja-JP" altLang="en-US" dirty="0"/>
              <a:t>個々の</a:t>
            </a:r>
            <a:r>
              <a:rPr kumimoji="1" lang="ja-JP" altLang="en-US" dirty="0"/>
              <a:t>加算器や乗算器などはどのアーキテクチャでも共通</a:t>
            </a:r>
            <a:endParaRPr kumimoji="1" lang="en-US" altLang="ja-JP" dirty="0"/>
          </a:p>
          <a:p>
            <a:r>
              <a:rPr kumimoji="1" lang="ja-JP" altLang="en-US" dirty="0"/>
              <a:t>制御部やデータのやりとりをいかに減らすかにより決まる</a:t>
            </a:r>
            <a:endParaRPr kumimoji="1" lang="en-US" altLang="ja-JP" dirty="0"/>
          </a:p>
          <a:p>
            <a:pPr lvl="1"/>
            <a:r>
              <a:rPr kumimoji="1" lang="ja-JP" altLang="en-US" dirty="0"/>
              <a:t>対象のプログラムの性質に特化することで，機能を削っても性能が落ちないようにする</a:t>
            </a:r>
            <a:endParaRPr kumimoji="1" lang="en-US" altLang="ja-JP" dirty="0"/>
          </a:p>
          <a:p>
            <a:pPr lvl="1"/>
            <a:r>
              <a:rPr kumimoji="1" lang="ja-JP" altLang="en-US" dirty="0"/>
              <a:t>減らした分だけよりたくさん演算器がつめる</a:t>
            </a:r>
            <a:endParaRPr kumimoji="1" lang="en-US" altLang="ja-JP" dirty="0"/>
          </a:p>
        </p:txBody>
      </p:sp>
    </p:spTree>
    <p:extLst>
      <p:ext uri="{BB962C8B-B14F-4D97-AF65-F5344CB8AC3E}">
        <p14:creationId xmlns:p14="http://schemas.microsoft.com/office/powerpoint/2010/main" val="19112852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行列積アクセラレータの場合</a:t>
            </a:r>
          </a:p>
        </p:txBody>
      </p:sp>
      <mc:AlternateContent xmlns:mc="http://schemas.openxmlformats.org/markup-compatibility/2006" xmlns:a14="http://schemas.microsoft.com/office/drawing/2010/main">
        <mc:Choice Requires="a14">
          <p:sp>
            <p:nvSpPr>
              <p:cNvPr id="3" name="テキスト プレースホルダー 2"/>
              <p:cNvSpPr>
                <a:spLocks noGrp="1"/>
              </p:cNvSpPr>
              <p:nvPr>
                <p:ph type="body" sz="quarter" idx="10"/>
              </p:nvPr>
            </p:nvSpPr>
            <p:spPr>
              <a:xfrm>
                <a:off x="1865953" y="1358978"/>
                <a:ext cx="8280092" cy="2070023"/>
              </a:xfrm>
            </p:spPr>
            <p:txBody>
              <a:bodyPr/>
              <a:lstStyle/>
              <a:p>
                <a:r>
                  <a:rPr kumimoji="1" lang="ja-JP" altLang="en-US" dirty="0"/>
                  <a:t>行列積では，単純な </a:t>
                </a:r>
                <a:r>
                  <a:rPr kumimoji="1" lang="en-US" altLang="ja-JP" dirty="0"/>
                  <a:t>GPU </a:t>
                </a:r>
                <a:r>
                  <a:rPr kumimoji="1" lang="ja-JP" altLang="en-US" dirty="0"/>
                  <a:t>はまだ無駄がある</a:t>
                </a:r>
                <a:endParaRPr kumimoji="1" lang="en-US" altLang="ja-JP" dirty="0"/>
              </a:p>
              <a:p>
                <a:pPr lvl="1"/>
                <a:r>
                  <a:rPr kumimoji="1" lang="ja-JP" altLang="en-US" dirty="0"/>
                  <a:t>演算</a:t>
                </a:r>
                <a:r>
                  <a:rPr kumimoji="1" lang="en-US" altLang="ja-JP" dirty="0"/>
                  <a:t>1</a:t>
                </a:r>
                <a:r>
                  <a:rPr kumimoji="1" lang="ja-JP" altLang="en-US" dirty="0"/>
                  <a:t>回ごとに命令を読んだり，レジスタ・ファイルにアクセス</a:t>
                </a:r>
                <a:endParaRPr kumimoji="1" lang="en-US" altLang="ja-JP" dirty="0"/>
              </a:p>
              <a:p>
                <a:r>
                  <a:rPr kumimoji="1" lang="ja-JP" altLang="en-US" dirty="0"/>
                  <a:t>演算器を直接繋いでそこにデータを流せば良い</a:t>
                </a:r>
                <a:endParaRPr kumimoji="1" lang="en-US" altLang="ja-JP" dirty="0"/>
              </a:p>
              <a:p>
                <a:pPr lvl="1"/>
                <a:r>
                  <a:rPr kumimoji="1" lang="ja-JP" altLang="en-US" dirty="0"/>
                  <a:t>行列積は入力データ数と比べて演算数が多い</a:t>
                </a:r>
                <a:endParaRPr kumimoji="1" lang="en-US" altLang="ja-JP" dirty="0"/>
              </a:p>
              <a:p>
                <a:pPr lvl="2"/>
                <a:r>
                  <a:rPr lang="en-US" altLang="ja-JP" dirty="0"/>
                  <a:t>O(</a:t>
                </a:r>
                <a14:m>
                  <m:oMath xmlns:m="http://schemas.openxmlformats.org/officeDocument/2006/math">
                    <m:sSup>
                      <m:sSupPr>
                        <m:ctrlPr>
                          <a:rPr lang="en-US" altLang="ja-JP" i="1" dirty="0" smtClean="0">
                            <a:latin typeface="Cambria Math" panose="02040503050406030204" pitchFamily="18" charset="0"/>
                          </a:rPr>
                        </m:ctrlPr>
                      </m:sSupPr>
                      <m:e>
                        <m:r>
                          <a:rPr lang="en-US" altLang="ja-JP" i="1" dirty="0" smtClean="0">
                            <a:latin typeface="Cambria Math" panose="02040503050406030204" pitchFamily="18" charset="0"/>
                          </a:rPr>
                          <m:t>𝑁</m:t>
                        </m:r>
                      </m:e>
                      <m:sup>
                        <m:r>
                          <a:rPr lang="en-US" altLang="ja-JP" i="1" dirty="0" smtClean="0">
                            <a:latin typeface="Cambria Math" panose="02040503050406030204" pitchFamily="18" charset="0"/>
                          </a:rPr>
                          <m:t>2</m:t>
                        </m:r>
                      </m:sup>
                    </m:sSup>
                  </m:oMath>
                </a14:m>
                <a:r>
                  <a:rPr lang="en-US" altLang="ja-JP" dirty="0"/>
                  <a:t>) vs. O(</a:t>
                </a:r>
                <a14:m>
                  <m:oMath xmlns:m="http://schemas.openxmlformats.org/officeDocument/2006/math">
                    <m:sSup>
                      <m:sSupPr>
                        <m:ctrlPr>
                          <a:rPr lang="en-US" altLang="ja-JP" i="1" dirty="0" smtClean="0">
                            <a:latin typeface="Cambria Math" panose="02040503050406030204" pitchFamily="18" charset="0"/>
                          </a:rPr>
                        </m:ctrlPr>
                      </m:sSupPr>
                      <m:e>
                        <m:r>
                          <a:rPr lang="en-US" altLang="ja-JP" i="1" dirty="0" smtClean="0">
                            <a:latin typeface="Cambria Math" panose="02040503050406030204" pitchFamily="18" charset="0"/>
                          </a:rPr>
                          <m:t>𝑁</m:t>
                        </m:r>
                      </m:e>
                      <m:sup>
                        <m:r>
                          <a:rPr lang="en-US" altLang="ja-JP" i="1" dirty="0" smtClean="0">
                            <a:latin typeface="Cambria Math" panose="02040503050406030204" pitchFamily="18" charset="0"/>
                          </a:rPr>
                          <m:t>3</m:t>
                        </m:r>
                      </m:sup>
                    </m:sSup>
                  </m:oMath>
                </a14:m>
                <a:r>
                  <a:rPr lang="en-US" altLang="ja-JP" dirty="0"/>
                  <a:t>)</a:t>
                </a:r>
                <a:endParaRPr kumimoji="1" lang="en-US" altLang="ja-JP" dirty="0"/>
              </a:p>
              <a:p>
                <a:pPr lvl="1"/>
                <a:r>
                  <a:rPr lang="en-US" altLang="ja-JP" dirty="0"/>
                  <a:t>Google</a:t>
                </a:r>
                <a:r>
                  <a:rPr lang="ja-JP" altLang="en-US" dirty="0"/>
                  <a:t> </a:t>
                </a:r>
                <a:r>
                  <a:rPr lang="en-US" altLang="ja-JP" dirty="0"/>
                  <a:t>TPU </a:t>
                </a:r>
                <a:r>
                  <a:rPr lang="ja-JP" altLang="en-US" dirty="0"/>
                  <a:t>や </a:t>
                </a:r>
                <a:r>
                  <a:rPr lang="en-US" altLang="ja-JP" dirty="0"/>
                  <a:t>NVIDIA Tensor Core </a:t>
                </a:r>
                <a:endParaRPr kumimoji="1" lang="ja-JP" altLang="en-US" dirty="0"/>
              </a:p>
            </p:txBody>
          </p:sp>
        </mc:Choice>
        <mc:Fallback xmlns="">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1865953" y="1358978"/>
                <a:ext cx="8280092" cy="2070023"/>
              </a:xfrm>
              <a:blipFill>
                <a:blip r:embed="rId2"/>
                <a:stretch>
                  <a:fillRect l="-663" t="-19118" b="-22941"/>
                </a:stretch>
              </a:blipFill>
            </p:spPr>
            <p:txBody>
              <a:bodyPr/>
              <a:lstStyle/>
              <a:p>
                <a:r>
                  <a:rPr lang="ja-JP" altLang="en-US">
                    <a:noFill/>
                  </a:rPr>
                  <a:t> </a:t>
                </a:r>
              </a:p>
            </p:txBody>
          </p:sp>
        </mc:Fallback>
      </mc:AlternateContent>
      <p:sp>
        <p:nvSpPr>
          <p:cNvPr id="4" name="正方形/長方形 3">
            <a:extLst>
              <a:ext uri="{FF2B5EF4-FFF2-40B4-BE49-F238E27FC236}">
                <a16:creationId xmlns:a16="http://schemas.microsoft.com/office/drawing/2014/main" id="{2BC5C320-797C-4291-F33F-C23F57C4D0B5}"/>
              </a:ext>
            </a:extLst>
          </p:cNvPr>
          <p:cNvSpPr/>
          <p:nvPr/>
        </p:nvSpPr>
        <p:spPr bwMode="auto">
          <a:xfrm>
            <a:off x="3755974" y="4779015"/>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5" name="直線矢印コネクタ 4">
            <a:extLst>
              <a:ext uri="{FF2B5EF4-FFF2-40B4-BE49-F238E27FC236}">
                <a16:creationId xmlns:a16="http://schemas.microsoft.com/office/drawing/2014/main" id="{EEE94178-1E21-EEC4-C77B-7DAE81ED064D}"/>
              </a:ext>
            </a:extLst>
          </p:cNvPr>
          <p:cNvCxnSpPr>
            <a:cxnSpLocks/>
          </p:cNvCxnSpPr>
          <p:nvPr/>
        </p:nvCxnSpPr>
        <p:spPr bwMode="auto">
          <a:xfrm>
            <a:off x="4115978" y="4581144"/>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6" name="正方形/長方形 5">
            <a:extLst>
              <a:ext uri="{FF2B5EF4-FFF2-40B4-BE49-F238E27FC236}">
                <a16:creationId xmlns:a16="http://schemas.microsoft.com/office/drawing/2014/main" id="{3F5C8B6E-BD76-B8DB-E30B-46CE2658C91D}"/>
              </a:ext>
            </a:extLst>
          </p:cNvPr>
          <p:cNvSpPr/>
          <p:nvPr/>
        </p:nvSpPr>
        <p:spPr bwMode="auto">
          <a:xfrm>
            <a:off x="3935976" y="4239008"/>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7" name="フリーフォーム 10">
            <a:extLst>
              <a:ext uri="{FF2B5EF4-FFF2-40B4-BE49-F238E27FC236}">
                <a16:creationId xmlns:a16="http://schemas.microsoft.com/office/drawing/2014/main" id="{CF1920A7-91E5-9D34-52D9-8F75C5599DAC}"/>
              </a:ext>
            </a:extLst>
          </p:cNvPr>
          <p:cNvSpPr>
            <a:spLocks noChangeArrowheads="1"/>
          </p:cNvSpPr>
          <p:nvPr/>
        </p:nvSpPr>
        <p:spPr bwMode="auto">
          <a:xfrm flipH="1">
            <a:off x="2495960" y="6129030"/>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8" name="直線矢印コネクタ 7">
            <a:extLst>
              <a:ext uri="{FF2B5EF4-FFF2-40B4-BE49-F238E27FC236}">
                <a16:creationId xmlns:a16="http://schemas.microsoft.com/office/drawing/2014/main" id="{1C4B1BFA-01F0-A43E-0B4F-306D0AAFE3B6}"/>
              </a:ext>
            </a:extLst>
          </p:cNvPr>
          <p:cNvCxnSpPr>
            <a:cxnSpLocks/>
          </p:cNvCxnSpPr>
          <p:nvPr/>
        </p:nvCxnSpPr>
        <p:spPr bwMode="auto">
          <a:xfrm>
            <a:off x="4115978" y="5139018"/>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 name="Freeform 10">
            <a:extLst>
              <a:ext uri="{FF2B5EF4-FFF2-40B4-BE49-F238E27FC236}">
                <a16:creationId xmlns:a16="http://schemas.microsoft.com/office/drawing/2014/main" id="{0DC30D8B-4BE2-466B-1268-6513A97E3BED}"/>
              </a:ext>
            </a:extLst>
          </p:cNvPr>
          <p:cNvSpPr>
            <a:spLocks/>
          </p:cNvSpPr>
          <p:nvPr/>
        </p:nvSpPr>
        <p:spPr bwMode="auto">
          <a:xfrm rot="5400000">
            <a:off x="3305969" y="4869016"/>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0" name="フリーフォーム 10">
            <a:extLst>
              <a:ext uri="{FF2B5EF4-FFF2-40B4-BE49-F238E27FC236}">
                <a16:creationId xmlns:a16="http://schemas.microsoft.com/office/drawing/2014/main" id="{58C0F31F-0DFE-B232-1554-83D9ED1DC1D8}"/>
              </a:ext>
            </a:extLst>
          </p:cNvPr>
          <p:cNvSpPr>
            <a:spLocks noChangeArrowheads="1"/>
          </p:cNvSpPr>
          <p:nvPr/>
        </p:nvSpPr>
        <p:spPr bwMode="auto">
          <a:xfrm flipH="1">
            <a:off x="3305969" y="6129030"/>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1" name="フリーフォーム 10">
            <a:extLst>
              <a:ext uri="{FF2B5EF4-FFF2-40B4-BE49-F238E27FC236}">
                <a16:creationId xmlns:a16="http://schemas.microsoft.com/office/drawing/2014/main" id="{C3931541-0C5C-41B9-4C80-631C4A297F3B}"/>
              </a:ext>
            </a:extLst>
          </p:cNvPr>
          <p:cNvSpPr>
            <a:spLocks noChangeArrowheads="1"/>
          </p:cNvSpPr>
          <p:nvPr/>
        </p:nvSpPr>
        <p:spPr bwMode="auto">
          <a:xfrm flipH="1">
            <a:off x="4115978" y="6129030"/>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2" name="フリーフォーム 10">
            <a:extLst>
              <a:ext uri="{FF2B5EF4-FFF2-40B4-BE49-F238E27FC236}">
                <a16:creationId xmlns:a16="http://schemas.microsoft.com/office/drawing/2014/main" id="{63783DF0-4099-5B8C-72B5-F01F7C7F38EF}"/>
              </a:ext>
            </a:extLst>
          </p:cNvPr>
          <p:cNvSpPr>
            <a:spLocks noChangeArrowheads="1"/>
          </p:cNvSpPr>
          <p:nvPr/>
        </p:nvSpPr>
        <p:spPr bwMode="auto">
          <a:xfrm flipH="1">
            <a:off x="4925987" y="6129030"/>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3" name="Freeform 10">
            <a:extLst>
              <a:ext uri="{FF2B5EF4-FFF2-40B4-BE49-F238E27FC236}">
                <a16:creationId xmlns:a16="http://schemas.microsoft.com/office/drawing/2014/main" id="{5AE75DF7-B0C1-DE55-D46C-F55DAB752D34}"/>
              </a:ext>
            </a:extLst>
          </p:cNvPr>
          <p:cNvSpPr>
            <a:spLocks/>
          </p:cNvSpPr>
          <p:nvPr/>
        </p:nvSpPr>
        <p:spPr bwMode="auto">
          <a:xfrm rot="5400000">
            <a:off x="3710975" y="5274021"/>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4" name="Freeform 10">
            <a:extLst>
              <a:ext uri="{FF2B5EF4-FFF2-40B4-BE49-F238E27FC236}">
                <a16:creationId xmlns:a16="http://schemas.microsoft.com/office/drawing/2014/main" id="{B97CB32F-41AC-B2DC-B37D-265968F598BA}"/>
              </a:ext>
            </a:extLst>
          </p:cNvPr>
          <p:cNvSpPr>
            <a:spLocks/>
          </p:cNvSpPr>
          <p:nvPr/>
        </p:nvSpPr>
        <p:spPr bwMode="auto">
          <a:xfrm rot="5400000" flipV="1">
            <a:off x="4115981" y="5139018"/>
            <a:ext cx="180000" cy="54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5" name="Freeform 10">
            <a:extLst>
              <a:ext uri="{FF2B5EF4-FFF2-40B4-BE49-F238E27FC236}">
                <a16:creationId xmlns:a16="http://schemas.microsoft.com/office/drawing/2014/main" id="{4025A632-C802-CC5B-4B99-8C6675024B58}"/>
              </a:ext>
            </a:extLst>
          </p:cNvPr>
          <p:cNvSpPr>
            <a:spLocks/>
          </p:cNvSpPr>
          <p:nvPr/>
        </p:nvSpPr>
        <p:spPr bwMode="auto">
          <a:xfrm rot="5400000" flipV="1">
            <a:off x="4745987" y="4959018"/>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7" name="正方形/長方形 16">
            <a:extLst>
              <a:ext uri="{FF2B5EF4-FFF2-40B4-BE49-F238E27FC236}">
                <a16:creationId xmlns:a16="http://schemas.microsoft.com/office/drawing/2014/main" id="{2210F316-81FC-623F-E957-28D92AE2BD7A}"/>
              </a:ext>
            </a:extLst>
          </p:cNvPr>
          <p:cNvSpPr/>
          <p:nvPr/>
        </p:nvSpPr>
        <p:spPr bwMode="auto">
          <a:xfrm>
            <a:off x="2495960" y="5499023"/>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18" name="正方形/長方形 17">
            <a:extLst>
              <a:ext uri="{FF2B5EF4-FFF2-40B4-BE49-F238E27FC236}">
                <a16:creationId xmlns:a16="http://schemas.microsoft.com/office/drawing/2014/main" id="{64719BEE-AC76-EE93-A0B2-8D4A1B3F70BF}"/>
              </a:ext>
            </a:extLst>
          </p:cNvPr>
          <p:cNvSpPr/>
          <p:nvPr/>
        </p:nvSpPr>
        <p:spPr bwMode="auto">
          <a:xfrm>
            <a:off x="3305969" y="5499023"/>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19" name="正方形/長方形 18">
            <a:extLst>
              <a:ext uri="{FF2B5EF4-FFF2-40B4-BE49-F238E27FC236}">
                <a16:creationId xmlns:a16="http://schemas.microsoft.com/office/drawing/2014/main" id="{D6563A02-BF90-1FCC-269C-01277FF069AB}"/>
              </a:ext>
            </a:extLst>
          </p:cNvPr>
          <p:cNvSpPr/>
          <p:nvPr/>
        </p:nvSpPr>
        <p:spPr bwMode="auto">
          <a:xfrm>
            <a:off x="4115978" y="5499023"/>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20" name="正方形/長方形 19">
            <a:extLst>
              <a:ext uri="{FF2B5EF4-FFF2-40B4-BE49-F238E27FC236}">
                <a16:creationId xmlns:a16="http://schemas.microsoft.com/office/drawing/2014/main" id="{B3FA0C65-7953-8E9A-7DAA-7E45F41D28BB}"/>
              </a:ext>
            </a:extLst>
          </p:cNvPr>
          <p:cNvSpPr/>
          <p:nvPr/>
        </p:nvSpPr>
        <p:spPr bwMode="auto">
          <a:xfrm>
            <a:off x="4925987" y="5499023"/>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cxnSp>
        <p:nvCxnSpPr>
          <p:cNvPr id="21" name="直線矢印コネクタ 20">
            <a:extLst>
              <a:ext uri="{FF2B5EF4-FFF2-40B4-BE49-F238E27FC236}">
                <a16:creationId xmlns:a16="http://schemas.microsoft.com/office/drawing/2014/main" id="{2441921D-3790-48A5-3DA4-DEB53BE633B1}"/>
              </a:ext>
            </a:extLst>
          </p:cNvPr>
          <p:cNvCxnSpPr>
            <a:cxnSpLocks/>
            <a:stCxn id="17" idx="2"/>
          </p:cNvCxnSpPr>
          <p:nvPr/>
        </p:nvCxnSpPr>
        <p:spPr bwMode="auto">
          <a:xfrm>
            <a:off x="2855964" y="5859028"/>
            <a:ext cx="0" cy="287871"/>
          </a:xfrm>
          <a:prstGeom prst="straightConnector1">
            <a:avLst/>
          </a:prstGeom>
          <a:ln>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22" name="直線矢印コネクタ 21">
            <a:extLst>
              <a:ext uri="{FF2B5EF4-FFF2-40B4-BE49-F238E27FC236}">
                <a16:creationId xmlns:a16="http://schemas.microsoft.com/office/drawing/2014/main" id="{5BC2A1B6-30F8-73F9-B1D2-B3A03E94A0E6}"/>
              </a:ext>
            </a:extLst>
          </p:cNvPr>
          <p:cNvCxnSpPr>
            <a:cxnSpLocks/>
          </p:cNvCxnSpPr>
          <p:nvPr/>
        </p:nvCxnSpPr>
        <p:spPr bwMode="auto">
          <a:xfrm>
            <a:off x="3665973" y="5859028"/>
            <a:ext cx="0" cy="287871"/>
          </a:xfrm>
          <a:prstGeom prst="straightConnector1">
            <a:avLst/>
          </a:prstGeom>
          <a:ln>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23" name="直線矢印コネクタ 22">
            <a:extLst>
              <a:ext uri="{FF2B5EF4-FFF2-40B4-BE49-F238E27FC236}">
                <a16:creationId xmlns:a16="http://schemas.microsoft.com/office/drawing/2014/main" id="{FD84830C-2CBB-1991-876E-587D71824F88}"/>
              </a:ext>
            </a:extLst>
          </p:cNvPr>
          <p:cNvCxnSpPr>
            <a:cxnSpLocks/>
          </p:cNvCxnSpPr>
          <p:nvPr/>
        </p:nvCxnSpPr>
        <p:spPr bwMode="auto">
          <a:xfrm>
            <a:off x="4475982" y="5859028"/>
            <a:ext cx="0" cy="287871"/>
          </a:xfrm>
          <a:prstGeom prst="straightConnector1">
            <a:avLst/>
          </a:prstGeom>
          <a:ln>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24" name="直線矢印コネクタ 23">
            <a:extLst>
              <a:ext uri="{FF2B5EF4-FFF2-40B4-BE49-F238E27FC236}">
                <a16:creationId xmlns:a16="http://schemas.microsoft.com/office/drawing/2014/main" id="{650FE237-C593-41BC-155E-B77FE53FAEBB}"/>
              </a:ext>
            </a:extLst>
          </p:cNvPr>
          <p:cNvCxnSpPr>
            <a:cxnSpLocks/>
          </p:cNvCxnSpPr>
          <p:nvPr/>
        </p:nvCxnSpPr>
        <p:spPr bwMode="auto">
          <a:xfrm>
            <a:off x="5285991" y="5859028"/>
            <a:ext cx="0" cy="287871"/>
          </a:xfrm>
          <a:prstGeom prst="straightConnector1">
            <a:avLst/>
          </a:prstGeom>
          <a:ln>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sp>
        <p:nvSpPr>
          <p:cNvPr id="25" name="正方形/長方形 24">
            <a:extLst>
              <a:ext uri="{FF2B5EF4-FFF2-40B4-BE49-F238E27FC236}">
                <a16:creationId xmlns:a16="http://schemas.microsoft.com/office/drawing/2014/main" id="{F7B4C360-4B53-BDF3-45C3-F8A55D9E847E}"/>
              </a:ext>
            </a:extLst>
          </p:cNvPr>
          <p:cNvSpPr/>
          <p:nvPr/>
        </p:nvSpPr>
        <p:spPr bwMode="auto">
          <a:xfrm>
            <a:off x="8166023" y="3338999"/>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26" name="直線矢印コネクタ 25">
            <a:extLst>
              <a:ext uri="{FF2B5EF4-FFF2-40B4-BE49-F238E27FC236}">
                <a16:creationId xmlns:a16="http://schemas.microsoft.com/office/drawing/2014/main" id="{6723110B-D5A9-F5A2-2F69-FAF3578F125E}"/>
              </a:ext>
            </a:extLst>
          </p:cNvPr>
          <p:cNvCxnSpPr>
            <a:cxnSpLocks/>
          </p:cNvCxnSpPr>
          <p:nvPr/>
        </p:nvCxnSpPr>
        <p:spPr bwMode="auto">
          <a:xfrm>
            <a:off x="8526027" y="3141128"/>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27" name="正方形/長方形 26">
            <a:extLst>
              <a:ext uri="{FF2B5EF4-FFF2-40B4-BE49-F238E27FC236}">
                <a16:creationId xmlns:a16="http://schemas.microsoft.com/office/drawing/2014/main" id="{4A066FAA-797C-694D-A997-23920318E954}"/>
              </a:ext>
            </a:extLst>
          </p:cNvPr>
          <p:cNvSpPr/>
          <p:nvPr/>
        </p:nvSpPr>
        <p:spPr bwMode="auto">
          <a:xfrm>
            <a:off x="8346025" y="2798992"/>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28" name="フリーフォーム 10">
            <a:extLst>
              <a:ext uri="{FF2B5EF4-FFF2-40B4-BE49-F238E27FC236}">
                <a16:creationId xmlns:a16="http://schemas.microsoft.com/office/drawing/2014/main" id="{43DFE303-4027-BDC6-4830-E17250241FDE}"/>
              </a:ext>
            </a:extLst>
          </p:cNvPr>
          <p:cNvSpPr>
            <a:spLocks noChangeArrowheads="1"/>
          </p:cNvSpPr>
          <p:nvPr/>
        </p:nvSpPr>
        <p:spPr bwMode="auto">
          <a:xfrm flipH="1">
            <a:off x="6906009" y="4689014"/>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29" name="直線矢印コネクタ 28">
            <a:extLst>
              <a:ext uri="{FF2B5EF4-FFF2-40B4-BE49-F238E27FC236}">
                <a16:creationId xmlns:a16="http://schemas.microsoft.com/office/drawing/2014/main" id="{2794A3D0-E0D5-4E01-49F9-966FC7492676}"/>
              </a:ext>
            </a:extLst>
          </p:cNvPr>
          <p:cNvCxnSpPr>
            <a:cxnSpLocks/>
          </p:cNvCxnSpPr>
          <p:nvPr/>
        </p:nvCxnSpPr>
        <p:spPr bwMode="auto">
          <a:xfrm>
            <a:off x="8526027" y="3699002"/>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30" name="Freeform 10">
            <a:extLst>
              <a:ext uri="{FF2B5EF4-FFF2-40B4-BE49-F238E27FC236}">
                <a16:creationId xmlns:a16="http://schemas.microsoft.com/office/drawing/2014/main" id="{1BF7E9E7-CC9B-B07F-C3F4-65DB30EF9454}"/>
              </a:ext>
            </a:extLst>
          </p:cNvPr>
          <p:cNvSpPr>
            <a:spLocks/>
          </p:cNvSpPr>
          <p:nvPr/>
        </p:nvSpPr>
        <p:spPr bwMode="auto">
          <a:xfrm rot="5400000">
            <a:off x="7716018" y="3429000"/>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1" name="フリーフォーム 10">
            <a:extLst>
              <a:ext uri="{FF2B5EF4-FFF2-40B4-BE49-F238E27FC236}">
                <a16:creationId xmlns:a16="http://schemas.microsoft.com/office/drawing/2014/main" id="{64B8BF1F-AEF7-EC25-7DE0-811C8CCE5295}"/>
              </a:ext>
            </a:extLst>
          </p:cNvPr>
          <p:cNvSpPr>
            <a:spLocks noChangeArrowheads="1"/>
          </p:cNvSpPr>
          <p:nvPr/>
        </p:nvSpPr>
        <p:spPr bwMode="auto">
          <a:xfrm flipH="1">
            <a:off x="7716018" y="4689014"/>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32" name="フリーフォーム 10">
            <a:extLst>
              <a:ext uri="{FF2B5EF4-FFF2-40B4-BE49-F238E27FC236}">
                <a16:creationId xmlns:a16="http://schemas.microsoft.com/office/drawing/2014/main" id="{71C405B2-8635-56BE-4C29-AB81CDB628FE}"/>
              </a:ext>
            </a:extLst>
          </p:cNvPr>
          <p:cNvSpPr>
            <a:spLocks noChangeArrowheads="1"/>
          </p:cNvSpPr>
          <p:nvPr/>
        </p:nvSpPr>
        <p:spPr bwMode="auto">
          <a:xfrm flipH="1">
            <a:off x="8526027" y="4689014"/>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33" name="フリーフォーム 10">
            <a:extLst>
              <a:ext uri="{FF2B5EF4-FFF2-40B4-BE49-F238E27FC236}">
                <a16:creationId xmlns:a16="http://schemas.microsoft.com/office/drawing/2014/main" id="{83FC0E1B-3489-3DDD-BCC1-7CFA85C6D592}"/>
              </a:ext>
            </a:extLst>
          </p:cNvPr>
          <p:cNvSpPr>
            <a:spLocks noChangeArrowheads="1"/>
          </p:cNvSpPr>
          <p:nvPr/>
        </p:nvSpPr>
        <p:spPr bwMode="auto">
          <a:xfrm flipH="1">
            <a:off x="9336036" y="4689014"/>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34" name="Freeform 10">
            <a:extLst>
              <a:ext uri="{FF2B5EF4-FFF2-40B4-BE49-F238E27FC236}">
                <a16:creationId xmlns:a16="http://schemas.microsoft.com/office/drawing/2014/main" id="{2BABA399-126F-FA0C-488B-A955607F9EDE}"/>
              </a:ext>
            </a:extLst>
          </p:cNvPr>
          <p:cNvSpPr>
            <a:spLocks/>
          </p:cNvSpPr>
          <p:nvPr/>
        </p:nvSpPr>
        <p:spPr bwMode="auto">
          <a:xfrm rot="5400000">
            <a:off x="8121024" y="3834005"/>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5" name="Freeform 10">
            <a:extLst>
              <a:ext uri="{FF2B5EF4-FFF2-40B4-BE49-F238E27FC236}">
                <a16:creationId xmlns:a16="http://schemas.microsoft.com/office/drawing/2014/main" id="{C048C689-E232-80F2-B8BB-74B86C7B0894}"/>
              </a:ext>
            </a:extLst>
          </p:cNvPr>
          <p:cNvSpPr>
            <a:spLocks/>
          </p:cNvSpPr>
          <p:nvPr/>
        </p:nvSpPr>
        <p:spPr bwMode="auto">
          <a:xfrm rot="5400000" flipV="1">
            <a:off x="8526030" y="3699002"/>
            <a:ext cx="180000" cy="54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6" name="Freeform 10">
            <a:extLst>
              <a:ext uri="{FF2B5EF4-FFF2-40B4-BE49-F238E27FC236}">
                <a16:creationId xmlns:a16="http://schemas.microsoft.com/office/drawing/2014/main" id="{693A2972-D0D7-A85D-746D-166EC6DE73CB}"/>
              </a:ext>
            </a:extLst>
          </p:cNvPr>
          <p:cNvSpPr>
            <a:spLocks/>
          </p:cNvSpPr>
          <p:nvPr/>
        </p:nvSpPr>
        <p:spPr bwMode="auto">
          <a:xfrm rot="5400000" flipV="1">
            <a:off x="9156036" y="3519002"/>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7" name="正方形/長方形 36">
            <a:extLst>
              <a:ext uri="{FF2B5EF4-FFF2-40B4-BE49-F238E27FC236}">
                <a16:creationId xmlns:a16="http://schemas.microsoft.com/office/drawing/2014/main" id="{9BDC5D77-96F8-F8C4-8B5E-014692A721F3}"/>
              </a:ext>
            </a:extLst>
          </p:cNvPr>
          <p:cNvSpPr/>
          <p:nvPr/>
        </p:nvSpPr>
        <p:spPr bwMode="auto">
          <a:xfrm>
            <a:off x="6906009" y="4059007"/>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38" name="正方形/長方形 37">
            <a:extLst>
              <a:ext uri="{FF2B5EF4-FFF2-40B4-BE49-F238E27FC236}">
                <a16:creationId xmlns:a16="http://schemas.microsoft.com/office/drawing/2014/main" id="{DA4D1FF4-2EA7-6DA3-1BE1-79C353361431}"/>
              </a:ext>
            </a:extLst>
          </p:cNvPr>
          <p:cNvSpPr/>
          <p:nvPr/>
        </p:nvSpPr>
        <p:spPr bwMode="auto">
          <a:xfrm>
            <a:off x="7716018" y="4059007"/>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39" name="正方形/長方形 38">
            <a:extLst>
              <a:ext uri="{FF2B5EF4-FFF2-40B4-BE49-F238E27FC236}">
                <a16:creationId xmlns:a16="http://schemas.microsoft.com/office/drawing/2014/main" id="{262E8F87-A148-BE18-D69D-03805CA90DD6}"/>
              </a:ext>
            </a:extLst>
          </p:cNvPr>
          <p:cNvSpPr/>
          <p:nvPr/>
        </p:nvSpPr>
        <p:spPr bwMode="auto">
          <a:xfrm>
            <a:off x="8526027" y="4059007"/>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40" name="正方形/長方形 39">
            <a:extLst>
              <a:ext uri="{FF2B5EF4-FFF2-40B4-BE49-F238E27FC236}">
                <a16:creationId xmlns:a16="http://schemas.microsoft.com/office/drawing/2014/main" id="{9BC8CE61-BB49-5DFD-5FDC-EC5AE6D115C3}"/>
              </a:ext>
            </a:extLst>
          </p:cNvPr>
          <p:cNvSpPr/>
          <p:nvPr/>
        </p:nvSpPr>
        <p:spPr bwMode="auto">
          <a:xfrm>
            <a:off x="9336036" y="4059007"/>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cxnSp>
        <p:nvCxnSpPr>
          <p:cNvPr id="41" name="直線矢印コネクタ 40">
            <a:extLst>
              <a:ext uri="{FF2B5EF4-FFF2-40B4-BE49-F238E27FC236}">
                <a16:creationId xmlns:a16="http://schemas.microsoft.com/office/drawing/2014/main" id="{C223C48C-8FDF-F047-1AC6-5E49A02AF945}"/>
              </a:ext>
            </a:extLst>
          </p:cNvPr>
          <p:cNvCxnSpPr>
            <a:cxnSpLocks/>
            <a:stCxn id="37" idx="2"/>
          </p:cNvCxnSpPr>
          <p:nvPr/>
        </p:nvCxnSpPr>
        <p:spPr bwMode="auto">
          <a:xfrm>
            <a:off x="7266013" y="4419012"/>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42" name="直線矢印コネクタ 41">
            <a:extLst>
              <a:ext uri="{FF2B5EF4-FFF2-40B4-BE49-F238E27FC236}">
                <a16:creationId xmlns:a16="http://schemas.microsoft.com/office/drawing/2014/main" id="{9200CA62-079D-BC2A-E85A-1049BBA1449A}"/>
              </a:ext>
            </a:extLst>
          </p:cNvPr>
          <p:cNvCxnSpPr>
            <a:cxnSpLocks/>
          </p:cNvCxnSpPr>
          <p:nvPr/>
        </p:nvCxnSpPr>
        <p:spPr bwMode="auto">
          <a:xfrm>
            <a:off x="8076022" y="4419012"/>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43" name="直線矢印コネクタ 42">
            <a:extLst>
              <a:ext uri="{FF2B5EF4-FFF2-40B4-BE49-F238E27FC236}">
                <a16:creationId xmlns:a16="http://schemas.microsoft.com/office/drawing/2014/main" id="{1C0AD095-02B2-6067-6CA1-1C96EB757B55}"/>
              </a:ext>
            </a:extLst>
          </p:cNvPr>
          <p:cNvCxnSpPr>
            <a:cxnSpLocks/>
          </p:cNvCxnSpPr>
          <p:nvPr/>
        </p:nvCxnSpPr>
        <p:spPr bwMode="auto">
          <a:xfrm>
            <a:off x="8886031" y="4419012"/>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44" name="直線矢印コネクタ 43">
            <a:extLst>
              <a:ext uri="{FF2B5EF4-FFF2-40B4-BE49-F238E27FC236}">
                <a16:creationId xmlns:a16="http://schemas.microsoft.com/office/drawing/2014/main" id="{3C405450-F631-BB30-5DD2-28902E7028E3}"/>
              </a:ext>
            </a:extLst>
          </p:cNvPr>
          <p:cNvCxnSpPr>
            <a:cxnSpLocks/>
          </p:cNvCxnSpPr>
          <p:nvPr/>
        </p:nvCxnSpPr>
        <p:spPr bwMode="auto">
          <a:xfrm>
            <a:off x="9696040" y="4419012"/>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45" name="フリーフォーム 10">
            <a:extLst>
              <a:ext uri="{FF2B5EF4-FFF2-40B4-BE49-F238E27FC236}">
                <a16:creationId xmlns:a16="http://schemas.microsoft.com/office/drawing/2014/main" id="{07145B16-D387-F1DD-1976-A21C38E20C17}"/>
              </a:ext>
            </a:extLst>
          </p:cNvPr>
          <p:cNvSpPr>
            <a:spLocks noChangeArrowheads="1"/>
          </p:cNvSpPr>
          <p:nvPr/>
        </p:nvSpPr>
        <p:spPr bwMode="auto">
          <a:xfrm flipH="1">
            <a:off x="6906009" y="5319021"/>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46" name="フリーフォーム 10">
            <a:extLst>
              <a:ext uri="{FF2B5EF4-FFF2-40B4-BE49-F238E27FC236}">
                <a16:creationId xmlns:a16="http://schemas.microsoft.com/office/drawing/2014/main" id="{2A0AD9DF-5873-6249-D2BC-8567B031F263}"/>
              </a:ext>
            </a:extLst>
          </p:cNvPr>
          <p:cNvSpPr>
            <a:spLocks noChangeArrowheads="1"/>
          </p:cNvSpPr>
          <p:nvPr/>
        </p:nvSpPr>
        <p:spPr bwMode="auto">
          <a:xfrm flipH="1">
            <a:off x="7716018" y="5319021"/>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47" name="フリーフォーム 10">
            <a:extLst>
              <a:ext uri="{FF2B5EF4-FFF2-40B4-BE49-F238E27FC236}">
                <a16:creationId xmlns:a16="http://schemas.microsoft.com/office/drawing/2014/main" id="{EE38E1B6-A9A8-63C5-4071-BEA3B762482A}"/>
              </a:ext>
            </a:extLst>
          </p:cNvPr>
          <p:cNvSpPr>
            <a:spLocks noChangeArrowheads="1"/>
          </p:cNvSpPr>
          <p:nvPr/>
        </p:nvSpPr>
        <p:spPr bwMode="auto">
          <a:xfrm flipH="1">
            <a:off x="8526027" y="5319021"/>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48" name="フリーフォーム 10">
            <a:extLst>
              <a:ext uri="{FF2B5EF4-FFF2-40B4-BE49-F238E27FC236}">
                <a16:creationId xmlns:a16="http://schemas.microsoft.com/office/drawing/2014/main" id="{D8B6643F-0C65-81E5-3ED0-4DA3B7FD35E8}"/>
              </a:ext>
            </a:extLst>
          </p:cNvPr>
          <p:cNvSpPr>
            <a:spLocks noChangeArrowheads="1"/>
          </p:cNvSpPr>
          <p:nvPr/>
        </p:nvSpPr>
        <p:spPr bwMode="auto">
          <a:xfrm flipH="1">
            <a:off x="9336036" y="5319021"/>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53" name="フリーフォーム 10">
            <a:extLst>
              <a:ext uri="{FF2B5EF4-FFF2-40B4-BE49-F238E27FC236}">
                <a16:creationId xmlns:a16="http://schemas.microsoft.com/office/drawing/2014/main" id="{D5EBC544-F902-6D4B-A376-6C30E7F6C17C}"/>
              </a:ext>
            </a:extLst>
          </p:cNvPr>
          <p:cNvSpPr>
            <a:spLocks noChangeArrowheads="1"/>
          </p:cNvSpPr>
          <p:nvPr/>
        </p:nvSpPr>
        <p:spPr bwMode="auto">
          <a:xfrm flipH="1">
            <a:off x="6906009"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54" name="フリーフォーム 10">
            <a:extLst>
              <a:ext uri="{FF2B5EF4-FFF2-40B4-BE49-F238E27FC236}">
                <a16:creationId xmlns:a16="http://schemas.microsoft.com/office/drawing/2014/main" id="{0C9DB881-ABEF-B55F-7C76-C0BAC3737D1E}"/>
              </a:ext>
            </a:extLst>
          </p:cNvPr>
          <p:cNvSpPr>
            <a:spLocks noChangeArrowheads="1"/>
          </p:cNvSpPr>
          <p:nvPr/>
        </p:nvSpPr>
        <p:spPr bwMode="auto">
          <a:xfrm flipH="1">
            <a:off x="7716018"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55" name="フリーフォーム 10">
            <a:extLst>
              <a:ext uri="{FF2B5EF4-FFF2-40B4-BE49-F238E27FC236}">
                <a16:creationId xmlns:a16="http://schemas.microsoft.com/office/drawing/2014/main" id="{F7D4A30B-9A89-8E93-2391-921F47374CF9}"/>
              </a:ext>
            </a:extLst>
          </p:cNvPr>
          <p:cNvSpPr>
            <a:spLocks noChangeArrowheads="1"/>
          </p:cNvSpPr>
          <p:nvPr/>
        </p:nvSpPr>
        <p:spPr bwMode="auto">
          <a:xfrm flipH="1">
            <a:off x="8526027"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56" name="フリーフォーム 10">
            <a:extLst>
              <a:ext uri="{FF2B5EF4-FFF2-40B4-BE49-F238E27FC236}">
                <a16:creationId xmlns:a16="http://schemas.microsoft.com/office/drawing/2014/main" id="{4FA68597-8820-6C4F-2326-EC38C6F5FC43}"/>
              </a:ext>
            </a:extLst>
          </p:cNvPr>
          <p:cNvSpPr>
            <a:spLocks noChangeArrowheads="1"/>
          </p:cNvSpPr>
          <p:nvPr/>
        </p:nvSpPr>
        <p:spPr bwMode="auto">
          <a:xfrm flipH="1">
            <a:off x="9336036"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61" name="直線矢印コネクタ 60">
            <a:extLst>
              <a:ext uri="{FF2B5EF4-FFF2-40B4-BE49-F238E27FC236}">
                <a16:creationId xmlns:a16="http://schemas.microsoft.com/office/drawing/2014/main" id="{1B5C0FD2-432B-FB50-333F-14CE4DF4E740}"/>
              </a:ext>
            </a:extLst>
          </p:cNvPr>
          <p:cNvCxnSpPr>
            <a:cxnSpLocks/>
          </p:cNvCxnSpPr>
          <p:nvPr/>
        </p:nvCxnSpPr>
        <p:spPr bwMode="auto">
          <a:xfrm>
            <a:off x="7266013" y="5049019"/>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62" name="直線矢印コネクタ 61">
            <a:extLst>
              <a:ext uri="{FF2B5EF4-FFF2-40B4-BE49-F238E27FC236}">
                <a16:creationId xmlns:a16="http://schemas.microsoft.com/office/drawing/2014/main" id="{DEE984A7-ECA1-01AB-EFA4-67A05A6DF422}"/>
              </a:ext>
            </a:extLst>
          </p:cNvPr>
          <p:cNvCxnSpPr>
            <a:cxnSpLocks/>
          </p:cNvCxnSpPr>
          <p:nvPr/>
        </p:nvCxnSpPr>
        <p:spPr bwMode="auto">
          <a:xfrm>
            <a:off x="8076022" y="5049019"/>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63" name="直線矢印コネクタ 62">
            <a:extLst>
              <a:ext uri="{FF2B5EF4-FFF2-40B4-BE49-F238E27FC236}">
                <a16:creationId xmlns:a16="http://schemas.microsoft.com/office/drawing/2014/main" id="{30C41326-579C-18DC-7B55-E143EBFDDF4A}"/>
              </a:ext>
            </a:extLst>
          </p:cNvPr>
          <p:cNvCxnSpPr>
            <a:cxnSpLocks/>
          </p:cNvCxnSpPr>
          <p:nvPr/>
        </p:nvCxnSpPr>
        <p:spPr bwMode="auto">
          <a:xfrm>
            <a:off x="8886031" y="5049019"/>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64" name="直線矢印コネクタ 63">
            <a:extLst>
              <a:ext uri="{FF2B5EF4-FFF2-40B4-BE49-F238E27FC236}">
                <a16:creationId xmlns:a16="http://schemas.microsoft.com/office/drawing/2014/main" id="{276571B5-09DF-A4C0-EC30-5CECA53A20A5}"/>
              </a:ext>
            </a:extLst>
          </p:cNvPr>
          <p:cNvCxnSpPr>
            <a:cxnSpLocks/>
          </p:cNvCxnSpPr>
          <p:nvPr/>
        </p:nvCxnSpPr>
        <p:spPr bwMode="auto">
          <a:xfrm>
            <a:off x="9696040" y="5049019"/>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65" name="直線矢印コネクタ 64">
            <a:extLst>
              <a:ext uri="{FF2B5EF4-FFF2-40B4-BE49-F238E27FC236}">
                <a16:creationId xmlns:a16="http://schemas.microsoft.com/office/drawing/2014/main" id="{4920B379-FBA2-A044-C5AF-C08BA128CBC2}"/>
              </a:ext>
            </a:extLst>
          </p:cNvPr>
          <p:cNvCxnSpPr>
            <a:cxnSpLocks/>
          </p:cNvCxnSpPr>
          <p:nvPr/>
        </p:nvCxnSpPr>
        <p:spPr bwMode="auto">
          <a:xfrm>
            <a:off x="7266013" y="5679026"/>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66" name="直線矢印コネクタ 65">
            <a:extLst>
              <a:ext uri="{FF2B5EF4-FFF2-40B4-BE49-F238E27FC236}">
                <a16:creationId xmlns:a16="http://schemas.microsoft.com/office/drawing/2014/main" id="{402CC606-44B3-E667-E888-139108C5B669}"/>
              </a:ext>
            </a:extLst>
          </p:cNvPr>
          <p:cNvCxnSpPr>
            <a:cxnSpLocks/>
          </p:cNvCxnSpPr>
          <p:nvPr/>
        </p:nvCxnSpPr>
        <p:spPr bwMode="auto">
          <a:xfrm>
            <a:off x="8076022" y="5679026"/>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67" name="直線矢印コネクタ 66">
            <a:extLst>
              <a:ext uri="{FF2B5EF4-FFF2-40B4-BE49-F238E27FC236}">
                <a16:creationId xmlns:a16="http://schemas.microsoft.com/office/drawing/2014/main" id="{395FBF4B-3A71-7169-BB2F-6BC30F19ED39}"/>
              </a:ext>
            </a:extLst>
          </p:cNvPr>
          <p:cNvCxnSpPr>
            <a:cxnSpLocks/>
          </p:cNvCxnSpPr>
          <p:nvPr/>
        </p:nvCxnSpPr>
        <p:spPr bwMode="auto">
          <a:xfrm>
            <a:off x="8886031" y="5679026"/>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68" name="直線矢印コネクタ 67">
            <a:extLst>
              <a:ext uri="{FF2B5EF4-FFF2-40B4-BE49-F238E27FC236}">
                <a16:creationId xmlns:a16="http://schemas.microsoft.com/office/drawing/2014/main" id="{375208B8-BF92-E8D6-AC5D-82C8B672DCB3}"/>
              </a:ext>
            </a:extLst>
          </p:cNvPr>
          <p:cNvCxnSpPr>
            <a:cxnSpLocks/>
          </p:cNvCxnSpPr>
          <p:nvPr/>
        </p:nvCxnSpPr>
        <p:spPr bwMode="auto">
          <a:xfrm>
            <a:off x="9696040" y="5679026"/>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69" name="直線矢印コネクタ 68">
            <a:extLst>
              <a:ext uri="{FF2B5EF4-FFF2-40B4-BE49-F238E27FC236}">
                <a16:creationId xmlns:a16="http://schemas.microsoft.com/office/drawing/2014/main" id="{B5462E8F-1337-49A3-54F5-D86F5A38CECD}"/>
              </a:ext>
            </a:extLst>
          </p:cNvPr>
          <p:cNvCxnSpPr>
            <a:cxnSpLocks/>
          </p:cNvCxnSpPr>
          <p:nvPr/>
        </p:nvCxnSpPr>
        <p:spPr bwMode="auto">
          <a:xfrm>
            <a:off x="7266013" y="6309033"/>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70" name="直線矢印コネクタ 69">
            <a:extLst>
              <a:ext uri="{FF2B5EF4-FFF2-40B4-BE49-F238E27FC236}">
                <a16:creationId xmlns:a16="http://schemas.microsoft.com/office/drawing/2014/main" id="{B579D37E-65D5-2257-3CFC-57F63D1CCFC8}"/>
              </a:ext>
            </a:extLst>
          </p:cNvPr>
          <p:cNvCxnSpPr>
            <a:cxnSpLocks/>
          </p:cNvCxnSpPr>
          <p:nvPr/>
        </p:nvCxnSpPr>
        <p:spPr bwMode="auto">
          <a:xfrm>
            <a:off x="8076022" y="6309033"/>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71" name="直線矢印コネクタ 70">
            <a:extLst>
              <a:ext uri="{FF2B5EF4-FFF2-40B4-BE49-F238E27FC236}">
                <a16:creationId xmlns:a16="http://schemas.microsoft.com/office/drawing/2014/main" id="{89EFC710-9C28-9B63-D8B3-15B5B93FCDC0}"/>
              </a:ext>
            </a:extLst>
          </p:cNvPr>
          <p:cNvCxnSpPr>
            <a:cxnSpLocks/>
          </p:cNvCxnSpPr>
          <p:nvPr/>
        </p:nvCxnSpPr>
        <p:spPr bwMode="auto">
          <a:xfrm>
            <a:off x="8886031" y="6309033"/>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72" name="直線矢印コネクタ 71">
            <a:extLst>
              <a:ext uri="{FF2B5EF4-FFF2-40B4-BE49-F238E27FC236}">
                <a16:creationId xmlns:a16="http://schemas.microsoft.com/office/drawing/2014/main" id="{34392129-41AB-6C8E-9B4F-46648F9FE433}"/>
              </a:ext>
            </a:extLst>
          </p:cNvPr>
          <p:cNvCxnSpPr>
            <a:cxnSpLocks/>
          </p:cNvCxnSpPr>
          <p:nvPr/>
        </p:nvCxnSpPr>
        <p:spPr bwMode="auto">
          <a:xfrm>
            <a:off x="9696040" y="6309033"/>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818218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7EE27-3ECE-D511-F92B-85C5CED6ED69}"/>
            </a:ext>
          </a:extLst>
        </p:cNvPr>
        <p:cNvGrpSpPr/>
        <p:nvPr/>
      </p:nvGrpSpPr>
      <p:grpSpPr>
        <a:xfrm>
          <a:off x="0" y="0"/>
          <a:ext cx="0" cy="0"/>
          <a:chOff x="0" y="0"/>
          <a:chExt cx="0" cy="0"/>
        </a:xfrm>
      </p:grpSpPr>
      <p:sp>
        <p:nvSpPr>
          <p:cNvPr id="24" name="平行四辺形 23">
            <a:extLst>
              <a:ext uri="{FF2B5EF4-FFF2-40B4-BE49-F238E27FC236}">
                <a16:creationId xmlns:a16="http://schemas.microsoft.com/office/drawing/2014/main" id="{7D8998EB-C1BE-5116-81DB-A76B357798D8}"/>
              </a:ext>
            </a:extLst>
          </p:cNvPr>
          <p:cNvSpPr/>
          <p:nvPr/>
        </p:nvSpPr>
        <p:spPr bwMode="auto">
          <a:xfrm>
            <a:off x="5825997" y="4994967"/>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a:extLst>
              <a:ext uri="{FF2B5EF4-FFF2-40B4-BE49-F238E27FC236}">
                <a16:creationId xmlns:a16="http://schemas.microsoft.com/office/drawing/2014/main" id="{E6E65298-5FC3-A531-2973-64AE3EFFDFA7}"/>
              </a:ext>
            </a:extLst>
          </p:cNvPr>
          <p:cNvSpPr/>
          <p:nvPr/>
        </p:nvSpPr>
        <p:spPr bwMode="auto">
          <a:xfrm>
            <a:off x="7266157" y="4994967"/>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6" name="平行四辺形 25">
            <a:extLst>
              <a:ext uri="{FF2B5EF4-FFF2-40B4-BE49-F238E27FC236}">
                <a16:creationId xmlns:a16="http://schemas.microsoft.com/office/drawing/2014/main" id="{3075A936-96BA-85C0-2F21-F42642C9629D}"/>
              </a:ext>
            </a:extLst>
          </p:cNvPr>
          <p:cNvSpPr/>
          <p:nvPr/>
        </p:nvSpPr>
        <p:spPr bwMode="auto">
          <a:xfrm>
            <a:off x="8706317" y="4994967"/>
            <a:ext cx="1584176"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5" name="平行四辺形 34">
            <a:extLst>
              <a:ext uri="{FF2B5EF4-FFF2-40B4-BE49-F238E27FC236}">
                <a16:creationId xmlns:a16="http://schemas.microsoft.com/office/drawing/2014/main" id="{E75915A4-DA1B-336F-3F67-07E82312574D}"/>
              </a:ext>
            </a:extLst>
          </p:cNvPr>
          <p:cNvSpPr/>
          <p:nvPr/>
        </p:nvSpPr>
        <p:spPr bwMode="auto">
          <a:xfrm>
            <a:off x="4205979" y="4941024"/>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0" name="平行四辺形 49">
            <a:extLst>
              <a:ext uri="{FF2B5EF4-FFF2-40B4-BE49-F238E27FC236}">
                <a16:creationId xmlns:a16="http://schemas.microsoft.com/office/drawing/2014/main" id="{053E4FB3-45F0-A16A-D182-0F07D945D070}"/>
              </a:ext>
            </a:extLst>
          </p:cNvPr>
          <p:cNvSpPr/>
          <p:nvPr/>
        </p:nvSpPr>
        <p:spPr bwMode="auto">
          <a:xfrm>
            <a:off x="5736140" y="3231005"/>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3" name="平行四辺形 52">
            <a:extLst>
              <a:ext uri="{FF2B5EF4-FFF2-40B4-BE49-F238E27FC236}">
                <a16:creationId xmlns:a16="http://schemas.microsoft.com/office/drawing/2014/main" id="{046520A4-BAF2-793C-0F68-6BEC59B2AD93}"/>
              </a:ext>
            </a:extLst>
          </p:cNvPr>
          <p:cNvSpPr/>
          <p:nvPr/>
        </p:nvSpPr>
        <p:spPr bwMode="auto">
          <a:xfrm>
            <a:off x="7176300" y="3231005"/>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2" name="平行四辺形 61">
            <a:extLst>
              <a:ext uri="{FF2B5EF4-FFF2-40B4-BE49-F238E27FC236}">
                <a16:creationId xmlns:a16="http://schemas.microsoft.com/office/drawing/2014/main" id="{D7CDF2B7-C67E-9862-A0B0-8DDD957CEC5C}"/>
              </a:ext>
            </a:extLst>
          </p:cNvPr>
          <p:cNvSpPr/>
          <p:nvPr/>
        </p:nvSpPr>
        <p:spPr bwMode="auto">
          <a:xfrm>
            <a:off x="8616460" y="3231005"/>
            <a:ext cx="1584176"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 name="正方形/長方形 2">
            <a:extLst>
              <a:ext uri="{FF2B5EF4-FFF2-40B4-BE49-F238E27FC236}">
                <a16:creationId xmlns:a16="http://schemas.microsoft.com/office/drawing/2014/main" id="{6ABD3D84-B1C7-FB7E-0275-2B35A30F3EEA}"/>
              </a:ext>
            </a:extLst>
          </p:cNvPr>
          <p:cNvSpPr/>
          <p:nvPr/>
        </p:nvSpPr>
        <p:spPr>
          <a:xfrm>
            <a:off x="4167819" y="4004473"/>
            <a:ext cx="147817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ﾋﾄﾍｯﾀﾅ</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a:extLst>
              <a:ext uri="{FF2B5EF4-FFF2-40B4-BE49-F238E27FC236}">
                <a16:creationId xmlns:a16="http://schemas.microsoft.com/office/drawing/2014/main" id="{57DB365D-A9C2-6D22-A46B-6AD9A33D22AD}"/>
              </a:ext>
            </a:extLst>
          </p:cNvPr>
          <p:cNvSpPr/>
          <p:nvPr/>
        </p:nvSpPr>
        <p:spPr>
          <a:xfrm>
            <a:off x="5697980" y="2294454"/>
            <a:ext cx="937991" cy="738664"/>
          </a:xfrm>
          <a:prstGeom prst="rect">
            <a:avLst/>
          </a:prstGeom>
        </p:spPr>
        <p:txBody>
          <a:bodyPr wrap="square">
            <a:spAutoFit/>
          </a:bodyPr>
          <a:lstStyle/>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6FE49921-5869-F5A4-6729-A853875B7747}"/>
              </a:ext>
            </a:extLst>
          </p:cNvPr>
          <p:cNvSpPr/>
          <p:nvPr/>
        </p:nvSpPr>
        <p:spPr>
          <a:xfrm>
            <a:off x="7140027"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a:extLst>
              <a:ext uri="{FF2B5EF4-FFF2-40B4-BE49-F238E27FC236}">
                <a16:creationId xmlns:a16="http://schemas.microsoft.com/office/drawing/2014/main" id="{8D70E2A2-3958-2A1D-BF78-06B62ED31D1A}"/>
              </a:ext>
            </a:extLst>
          </p:cNvPr>
          <p:cNvSpPr/>
          <p:nvPr/>
        </p:nvSpPr>
        <p:spPr>
          <a:xfrm>
            <a:off x="8580187" y="2313038"/>
            <a:ext cx="937991" cy="738664"/>
          </a:xfrm>
          <a:prstGeom prst="rect">
            <a:avLst/>
          </a:prstGeom>
        </p:spPr>
        <p:txBody>
          <a:bodyPr wrap="square">
            <a:spAutoFit/>
          </a:bodyPr>
          <a:lstStyle/>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236F805E-BF8A-F1F9-8554-87E75ECBA1B9}"/>
              </a:ext>
            </a:extLst>
          </p:cNvPr>
          <p:cNvSpPr>
            <a:spLocks noGrp="1"/>
          </p:cNvSpPr>
          <p:nvPr>
            <p:ph type="title"/>
          </p:nvPr>
        </p:nvSpPr>
        <p:spPr/>
        <p:txBody>
          <a:bodyPr/>
          <a:lstStyle/>
          <a:p>
            <a:r>
              <a:rPr lang="ja-JP" altLang="en-US" dirty="0"/>
              <a:t>カレー屋さんの場合：キッチン台に毎回戻すのが無駄</a:t>
            </a:r>
            <a:endParaRPr kumimoji="1" lang="ja-JP" altLang="en-US" dirty="0"/>
          </a:p>
        </p:txBody>
      </p:sp>
      <p:sp>
        <p:nvSpPr>
          <p:cNvPr id="97" name="正方形/長方形 96">
            <a:extLst>
              <a:ext uri="{FF2B5EF4-FFF2-40B4-BE49-F238E27FC236}">
                <a16:creationId xmlns:a16="http://schemas.microsoft.com/office/drawing/2014/main" id="{BFD38A7F-4072-161C-5550-5CC7DE781856}"/>
              </a:ext>
            </a:extLst>
          </p:cNvPr>
          <p:cNvSpPr/>
          <p:nvPr/>
        </p:nvSpPr>
        <p:spPr bwMode="auto">
          <a:xfrm>
            <a:off x="3125967" y="3429000"/>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レシピ</a:t>
            </a:r>
          </a:p>
        </p:txBody>
      </p:sp>
      <p:sp>
        <p:nvSpPr>
          <p:cNvPr id="30" name="Freeform 25">
            <a:extLst>
              <a:ext uri="{FF2B5EF4-FFF2-40B4-BE49-F238E27FC236}">
                <a16:creationId xmlns:a16="http://schemas.microsoft.com/office/drawing/2014/main" id="{665A8EF7-9957-2BE5-31F1-09DD81DA3F4D}"/>
              </a:ext>
            </a:extLst>
          </p:cNvPr>
          <p:cNvSpPr>
            <a:spLocks/>
          </p:cNvSpPr>
          <p:nvPr/>
        </p:nvSpPr>
        <p:spPr bwMode="auto">
          <a:xfrm>
            <a:off x="5915998"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キッチン台</a:t>
            </a:r>
          </a:p>
        </p:txBody>
      </p:sp>
      <p:sp>
        <p:nvSpPr>
          <p:cNvPr id="31" name="AutoShape 5">
            <a:extLst>
              <a:ext uri="{FF2B5EF4-FFF2-40B4-BE49-F238E27FC236}">
                <a16:creationId xmlns:a16="http://schemas.microsoft.com/office/drawing/2014/main" id="{1E9582F0-13F2-1B60-D2CA-A300AB945BED}"/>
              </a:ext>
            </a:extLst>
          </p:cNvPr>
          <p:cNvSpPr>
            <a:spLocks noChangeArrowheads="1"/>
          </p:cNvSpPr>
          <p:nvPr/>
        </p:nvSpPr>
        <p:spPr bwMode="auto">
          <a:xfrm rot="-5400000">
            <a:off x="7536178" y="1683049"/>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コンロ</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まな板</a:t>
            </a:r>
          </a:p>
        </p:txBody>
      </p:sp>
      <p:grpSp>
        <p:nvGrpSpPr>
          <p:cNvPr id="32" name="グループ化 31">
            <a:extLst>
              <a:ext uri="{FF2B5EF4-FFF2-40B4-BE49-F238E27FC236}">
                <a16:creationId xmlns:a16="http://schemas.microsoft.com/office/drawing/2014/main" id="{3CF773CF-39B0-06E1-3ED6-B5A8F508B037}"/>
              </a:ext>
            </a:extLst>
          </p:cNvPr>
          <p:cNvGrpSpPr/>
          <p:nvPr/>
        </p:nvGrpSpPr>
        <p:grpSpPr>
          <a:xfrm>
            <a:off x="6204030" y="1719053"/>
            <a:ext cx="1008112" cy="432048"/>
            <a:chOff x="3563888" y="2708920"/>
            <a:chExt cx="1296144" cy="432048"/>
          </a:xfrm>
        </p:grpSpPr>
        <p:sp>
          <p:nvSpPr>
            <p:cNvPr id="33" name="Freeform 9">
              <a:extLst>
                <a:ext uri="{FF2B5EF4-FFF2-40B4-BE49-F238E27FC236}">
                  <a16:creationId xmlns:a16="http://schemas.microsoft.com/office/drawing/2014/main" id="{C2AE1074-1694-C26F-E939-C89F9A3EB899}"/>
                </a:ext>
              </a:extLst>
            </p:cNvPr>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a:extLst>
                <a:ext uri="{FF2B5EF4-FFF2-40B4-BE49-F238E27FC236}">
                  <a16:creationId xmlns:a16="http://schemas.microsoft.com/office/drawing/2014/main" id="{B207CFE2-DB36-97AB-C544-05F1FFA9045A}"/>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a:extLst>
              <a:ext uri="{FF2B5EF4-FFF2-40B4-BE49-F238E27FC236}">
                <a16:creationId xmlns:a16="http://schemas.microsoft.com/office/drawing/2014/main" id="{44372425-1CCF-CA2C-9C51-A5282DA59813}"/>
              </a:ext>
            </a:extLst>
          </p:cNvPr>
          <p:cNvSpPr>
            <a:spLocks/>
          </p:cNvSpPr>
          <p:nvPr/>
        </p:nvSpPr>
        <p:spPr bwMode="auto">
          <a:xfrm>
            <a:off x="8652302" y="1719053"/>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solidFill>
              <a:schemeClr val="accent3"/>
            </a:solidFill>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96" name="正方形/長方形 95">
            <a:extLst>
              <a:ext uri="{FF2B5EF4-FFF2-40B4-BE49-F238E27FC236}">
                <a16:creationId xmlns:a16="http://schemas.microsoft.com/office/drawing/2014/main" id="{FBF66AC7-E884-1ACF-B06A-21C09D06FCB8}"/>
              </a:ext>
            </a:extLst>
          </p:cNvPr>
          <p:cNvSpPr/>
          <p:nvPr/>
        </p:nvSpPr>
        <p:spPr bwMode="auto">
          <a:xfrm>
            <a:off x="2855964" y="3879005"/>
            <a:ext cx="1260014" cy="1710019"/>
          </a:xfrm>
          <a:prstGeom prst="rect">
            <a:avLst/>
          </a:prstGeom>
          <a:ln>
            <a:headEnd/>
            <a:tailEnd type="non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r>
              <a:rPr lang="en-US" altLang="ja-JP" sz="1400" dirty="0">
                <a:solidFill>
                  <a:schemeClr val="tx1"/>
                </a:solidFill>
                <a:latin typeface="Arial Narrow" panose="020B0606020202030204" pitchFamily="34" charset="0"/>
              </a:rPr>
              <a:t>1. </a:t>
            </a:r>
            <a:r>
              <a:rPr lang="ja-JP" altLang="en-US" sz="1400" dirty="0">
                <a:solidFill>
                  <a:schemeClr val="tx1"/>
                </a:solidFill>
                <a:latin typeface="Arial Narrow" panose="020B0606020202030204" pitchFamily="34" charset="0"/>
              </a:rPr>
              <a:t>人参を切る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2. </a:t>
            </a:r>
            <a:r>
              <a:rPr lang="ja-JP" altLang="en-US" sz="1400" dirty="0">
                <a:solidFill>
                  <a:schemeClr val="tx1"/>
                </a:solidFill>
                <a:latin typeface="Arial Narrow" panose="020B0606020202030204" pitchFamily="34" charset="0"/>
              </a:rPr>
              <a:t>玉葱を切る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3. </a:t>
            </a:r>
            <a:r>
              <a:rPr lang="ja-JP" altLang="en-US" sz="1400" dirty="0">
                <a:solidFill>
                  <a:schemeClr val="tx1"/>
                </a:solidFill>
                <a:latin typeface="Arial Narrow" panose="020B0606020202030204" pitchFamily="34" charset="0"/>
              </a:rPr>
              <a:t>肉を切る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4. </a:t>
            </a:r>
            <a:r>
              <a:rPr lang="ja-JP" altLang="en-US" sz="1400" dirty="0">
                <a:solidFill>
                  <a:schemeClr val="tx1"/>
                </a:solidFill>
                <a:latin typeface="Arial Narrow" panose="020B0606020202030204" pitchFamily="34" charset="0"/>
              </a:rPr>
              <a:t>芋を切る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5. </a:t>
            </a:r>
            <a:r>
              <a:rPr lang="ja-JP" altLang="en-US" sz="1400" dirty="0">
                <a:solidFill>
                  <a:schemeClr val="tx1"/>
                </a:solidFill>
                <a:latin typeface="Arial Narrow" panose="020B0606020202030204" pitchFamily="34" charset="0"/>
              </a:rPr>
              <a:t>炒める</a:t>
            </a:r>
          </a:p>
        </p:txBody>
      </p:sp>
      <p:sp>
        <p:nvSpPr>
          <p:cNvPr id="6" name="角丸四角形 46">
            <a:extLst>
              <a:ext uri="{FF2B5EF4-FFF2-40B4-BE49-F238E27FC236}">
                <a16:creationId xmlns:a16="http://schemas.microsoft.com/office/drawing/2014/main" id="{7F2D132F-F0F0-E401-9054-A69BB6452AC6}"/>
              </a:ext>
            </a:extLst>
          </p:cNvPr>
          <p:cNvSpPr/>
          <p:nvPr/>
        </p:nvSpPr>
        <p:spPr bwMode="auto">
          <a:xfrm>
            <a:off x="4572000" y="4689014"/>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dirty="0">
                <a:solidFill>
                  <a:schemeClr val="bg1"/>
                </a:solidFill>
                <a:latin typeface="Arial Narrow" panose="020B0606020202030204" pitchFamily="34" charset="0"/>
              </a:rPr>
              <a:t>玉葱切る</a:t>
            </a:r>
            <a:endParaRPr kumimoji="1" lang="ja-JP" altLang="en-US" sz="1100" dirty="0">
              <a:solidFill>
                <a:schemeClr val="bg1"/>
              </a:solidFill>
              <a:latin typeface="Arial Narrow" panose="020B0606020202030204" pitchFamily="34" charset="0"/>
            </a:endParaRPr>
          </a:p>
        </p:txBody>
      </p:sp>
      <p:sp>
        <p:nvSpPr>
          <p:cNvPr id="8" name="角丸四角形吹き出し 42">
            <a:extLst>
              <a:ext uri="{FF2B5EF4-FFF2-40B4-BE49-F238E27FC236}">
                <a16:creationId xmlns:a16="http://schemas.microsoft.com/office/drawing/2014/main" id="{1FE611AD-FF85-026D-A176-A55B7499971C}"/>
              </a:ext>
            </a:extLst>
          </p:cNvPr>
          <p:cNvSpPr/>
          <p:nvPr/>
        </p:nvSpPr>
        <p:spPr bwMode="auto">
          <a:xfrm>
            <a:off x="9246035" y="1988985"/>
            <a:ext cx="1080012" cy="522648"/>
          </a:xfrm>
          <a:prstGeom prst="wedgeRoundRectCallout">
            <a:avLst>
              <a:gd name="adj1" fmla="val -46134"/>
              <a:gd name="adj2" fmla="val 94815"/>
              <a:gd name="adj3" fmla="val 16667"/>
            </a:avLst>
          </a:prstGeom>
          <a:ln>
            <a:solidFill>
              <a:schemeClr val="accent3"/>
            </a:solid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台に</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戻す係です！</a:t>
            </a:r>
          </a:p>
        </p:txBody>
      </p:sp>
      <p:sp>
        <p:nvSpPr>
          <p:cNvPr id="9" name="角丸四角形吹き出し 44">
            <a:extLst>
              <a:ext uri="{FF2B5EF4-FFF2-40B4-BE49-F238E27FC236}">
                <a16:creationId xmlns:a16="http://schemas.microsoft.com/office/drawing/2014/main" id="{1E411461-B5EF-FD0E-208A-E91CE5E0366E}"/>
              </a:ext>
            </a:extLst>
          </p:cNvPr>
          <p:cNvSpPr/>
          <p:nvPr/>
        </p:nvSpPr>
        <p:spPr bwMode="auto">
          <a:xfrm>
            <a:off x="6366003" y="1988985"/>
            <a:ext cx="1080012" cy="522648"/>
          </a:xfrm>
          <a:prstGeom prst="wedgeRoundRectCallout">
            <a:avLst>
              <a:gd name="adj1" fmla="val -41466"/>
              <a:gd name="adj2" fmla="val 84351"/>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材料</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取る係です！</a:t>
            </a:r>
          </a:p>
        </p:txBody>
      </p:sp>
      <p:sp>
        <p:nvSpPr>
          <p:cNvPr id="10" name="角丸四角形吹き出し 44">
            <a:extLst>
              <a:ext uri="{FF2B5EF4-FFF2-40B4-BE49-F238E27FC236}">
                <a16:creationId xmlns:a16="http://schemas.microsoft.com/office/drawing/2014/main" id="{CE4E2CC9-7B93-50C0-771C-97CF4BF82568}"/>
              </a:ext>
            </a:extLst>
          </p:cNvPr>
          <p:cNvSpPr/>
          <p:nvPr/>
        </p:nvSpPr>
        <p:spPr bwMode="auto">
          <a:xfrm>
            <a:off x="4385981" y="3519001"/>
            <a:ext cx="1440016" cy="342645"/>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レシピを読むで</a:t>
            </a:r>
          </a:p>
        </p:txBody>
      </p:sp>
      <p:sp>
        <p:nvSpPr>
          <p:cNvPr id="11" name="角丸四角形吹き出し 44">
            <a:extLst>
              <a:ext uri="{FF2B5EF4-FFF2-40B4-BE49-F238E27FC236}">
                <a16:creationId xmlns:a16="http://schemas.microsoft.com/office/drawing/2014/main" id="{FCAD43A8-BAD5-1D6F-117A-0EF2C1871AFC}"/>
              </a:ext>
            </a:extLst>
          </p:cNvPr>
          <p:cNvSpPr/>
          <p:nvPr/>
        </p:nvSpPr>
        <p:spPr bwMode="auto">
          <a:xfrm>
            <a:off x="7716018" y="2258987"/>
            <a:ext cx="1170013"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シェフです！</a:t>
            </a:r>
          </a:p>
        </p:txBody>
      </p:sp>
      <p:sp>
        <p:nvSpPr>
          <p:cNvPr id="12" name="正方形/長方形 11">
            <a:extLst>
              <a:ext uri="{FF2B5EF4-FFF2-40B4-BE49-F238E27FC236}">
                <a16:creationId xmlns:a16="http://schemas.microsoft.com/office/drawing/2014/main" id="{ECF51199-EEE9-3C5C-20D2-014EE1B59C09}"/>
              </a:ext>
            </a:extLst>
          </p:cNvPr>
          <p:cNvSpPr/>
          <p:nvPr/>
        </p:nvSpPr>
        <p:spPr>
          <a:xfrm>
            <a:off x="1055944" y="2078985"/>
            <a:ext cx="1620018"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13" name="角丸四角形吹き出し 28">
            <a:extLst>
              <a:ext uri="{FF2B5EF4-FFF2-40B4-BE49-F238E27FC236}">
                <a16:creationId xmlns:a16="http://schemas.microsoft.com/office/drawing/2014/main" id="{75240E97-893C-3FBA-4360-E6B77E3FC2E3}"/>
              </a:ext>
            </a:extLst>
          </p:cNvPr>
          <p:cNvSpPr/>
          <p:nvPr/>
        </p:nvSpPr>
        <p:spPr bwMode="auto">
          <a:xfrm>
            <a:off x="2051971" y="962915"/>
            <a:ext cx="3144019" cy="666065"/>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85000"/>
                    <a:lumOff val="15000"/>
                  </a:schemeClr>
                </a:solidFill>
                <a:latin typeface="Arial Narrow" panose="020B0606020202030204" pitchFamily="34" charset="0"/>
              </a:rPr>
              <a:t>レシピ係は減らせたけど</a:t>
            </a:r>
            <a:r>
              <a:rPr lang="ja-JP" altLang="en-US" dirty="0">
                <a:solidFill>
                  <a:schemeClr val="tx1">
                    <a:lumMod val="85000"/>
                    <a:lumOff val="15000"/>
                  </a:schemeClr>
                </a:solidFill>
                <a:latin typeface="Arial Narrow" panose="020B0606020202030204" pitchFamily="34" charset="0"/>
              </a:rPr>
              <a:t>，</a:t>
            </a:r>
            <a:endParaRPr kumimoji="1" lang="en-US" altLang="ja-JP" dirty="0">
              <a:solidFill>
                <a:schemeClr val="tx1">
                  <a:lumMod val="85000"/>
                  <a:lumOff val="15000"/>
                </a:schemeClr>
              </a:solidFill>
              <a:latin typeface="Arial Narrow" panose="020B0606020202030204" pitchFamily="34" charset="0"/>
            </a:endParaRPr>
          </a:p>
          <a:p>
            <a:r>
              <a:rPr lang="ja-JP" altLang="en-US" dirty="0">
                <a:solidFill>
                  <a:schemeClr val="tx1">
                    <a:lumMod val="85000"/>
                    <a:lumOff val="15000"/>
                  </a:schemeClr>
                </a:solidFill>
                <a:latin typeface="Arial Narrow" panose="020B0606020202030204" pitchFamily="34" charset="0"/>
              </a:rPr>
              <a:t>取る係と</a:t>
            </a:r>
            <a:r>
              <a:rPr kumimoji="1" lang="ja-JP" altLang="en-US" dirty="0">
                <a:solidFill>
                  <a:schemeClr val="tx1">
                    <a:lumMod val="85000"/>
                    <a:lumOff val="15000"/>
                  </a:schemeClr>
                </a:solidFill>
                <a:latin typeface="Arial Narrow" panose="020B0606020202030204" pitchFamily="34" charset="0"/>
              </a:rPr>
              <a:t>戻す係がなぁ</a:t>
            </a:r>
          </a:p>
        </p:txBody>
      </p:sp>
      <p:sp>
        <p:nvSpPr>
          <p:cNvPr id="14" name="正方形/長方形 13">
            <a:extLst>
              <a:ext uri="{FF2B5EF4-FFF2-40B4-BE49-F238E27FC236}">
                <a16:creationId xmlns:a16="http://schemas.microsoft.com/office/drawing/2014/main" id="{819103D6-04F1-636C-70AE-38D6814002E5}"/>
              </a:ext>
            </a:extLst>
          </p:cNvPr>
          <p:cNvSpPr/>
          <p:nvPr/>
        </p:nvSpPr>
        <p:spPr bwMode="auto">
          <a:xfrm>
            <a:off x="971960" y="1178975"/>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kumimoji="1" lang="ja-JP" altLang="en-US" sz="1600" dirty="0">
              <a:solidFill>
                <a:schemeClr val="tx1">
                  <a:lumMod val="85000"/>
                  <a:lumOff val="15000"/>
                </a:schemeClr>
              </a:solidFill>
            </a:endParaRPr>
          </a:p>
        </p:txBody>
      </p:sp>
      <p:cxnSp>
        <p:nvCxnSpPr>
          <p:cNvPr id="16" name="直線矢印コネクタ 15">
            <a:extLst>
              <a:ext uri="{FF2B5EF4-FFF2-40B4-BE49-F238E27FC236}">
                <a16:creationId xmlns:a16="http://schemas.microsoft.com/office/drawing/2014/main" id="{389EB0E1-1B0C-5E4E-F029-9FA059F85ED6}"/>
              </a:ext>
            </a:extLst>
          </p:cNvPr>
          <p:cNvCxnSpPr>
            <a:cxnSpLocks/>
          </p:cNvCxnSpPr>
          <p:nvPr/>
        </p:nvCxnSpPr>
        <p:spPr bwMode="auto">
          <a:xfrm flipV="1">
            <a:off x="5465993" y="3609002"/>
            <a:ext cx="450005" cy="1350015"/>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8" name="直線矢印コネクタ 17">
            <a:extLst>
              <a:ext uri="{FF2B5EF4-FFF2-40B4-BE49-F238E27FC236}">
                <a16:creationId xmlns:a16="http://schemas.microsoft.com/office/drawing/2014/main" id="{F039D85F-1121-02BC-5069-D3BA680A357C}"/>
              </a:ext>
            </a:extLst>
          </p:cNvPr>
          <p:cNvCxnSpPr>
            <a:cxnSpLocks/>
          </p:cNvCxnSpPr>
          <p:nvPr/>
        </p:nvCxnSpPr>
        <p:spPr bwMode="auto">
          <a:xfrm>
            <a:off x="5618393" y="5111417"/>
            <a:ext cx="657609" cy="207604"/>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29" name="平行四辺形 28">
            <a:extLst>
              <a:ext uri="{FF2B5EF4-FFF2-40B4-BE49-F238E27FC236}">
                <a16:creationId xmlns:a16="http://schemas.microsoft.com/office/drawing/2014/main" id="{D922C0B8-158C-DDAC-C218-F9530E595A38}"/>
              </a:ext>
            </a:extLst>
          </p:cNvPr>
          <p:cNvSpPr/>
          <p:nvPr/>
        </p:nvSpPr>
        <p:spPr bwMode="auto">
          <a:xfrm>
            <a:off x="5915710" y="6489034"/>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3" name="平行四辺形 42">
            <a:extLst>
              <a:ext uri="{FF2B5EF4-FFF2-40B4-BE49-F238E27FC236}">
                <a16:creationId xmlns:a16="http://schemas.microsoft.com/office/drawing/2014/main" id="{805D7839-5921-D8C6-155D-5FE56A79151A}"/>
              </a:ext>
            </a:extLst>
          </p:cNvPr>
          <p:cNvSpPr/>
          <p:nvPr/>
        </p:nvSpPr>
        <p:spPr bwMode="auto">
          <a:xfrm>
            <a:off x="7355870" y="6489034"/>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5" name="平行四辺形 44">
            <a:extLst>
              <a:ext uri="{FF2B5EF4-FFF2-40B4-BE49-F238E27FC236}">
                <a16:creationId xmlns:a16="http://schemas.microsoft.com/office/drawing/2014/main" id="{D0C190A1-F9D9-3E07-3E84-124510714CC7}"/>
              </a:ext>
            </a:extLst>
          </p:cNvPr>
          <p:cNvSpPr/>
          <p:nvPr/>
        </p:nvSpPr>
        <p:spPr bwMode="auto">
          <a:xfrm>
            <a:off x="8796030" y="6489034"/>
            <a:ext cx="1584176"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cxnSp>
        <p:nvCxnSpPr>
          <p:cNvPr id="20" name="直線矢印コネクタ 19">
            <a:extLst>
              <a:ext uri="{FF2B5EF4-FFF2-40B4-BE49-F238E27FC236}">
                <a16:creationId xmlns:a16="http://schemas.microsoft.com/office/drawing/2014/main" id="{2B2FF48D-5D98-82C1-E942-2630D07B8A14}"/>
              </a:ext>
            </a:extLst>
          </p:cNvPr>
          <p:cNvCxnSpPr>
            <a:cxnSpLocks/>
          </p:cNvCxnSpPr>
          <p:nvPr/>
        </p:nvCxnSpPr>
        <p:spPr bwMode="auto">
          <a:xfrm>
            <a:off x="5555994" y="5381420"/>
            <a:ext cx="540006" cy="1377617"/>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48" name="角丸四角形 46">
            <a:extLst>
              <a:ext uri="{FF2B5EF4-FFF2-40B4-BE49-F238E27FC236}">
                <a16:creationId xmlns:a16="http://schemas.microsoft.com/office/drawing/2014/main" id="{06B50251-3B66-337F-F08A-8A3880460D46}"/>
              </a:ext>
            </a:extLst>
          </p:cNvPr>
          <p:cNvSpPr/>
          <p:nvPr/>
        </p:nvSpPr>
        <p:spPr bwMode="auto">
          <a:xfrm>
            <a:off x="6276002" y="2978995"/>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dirty="0">
                <a:solidFill>
                  <a:schemeClr val="bg1"/>
                </a:solidFill>
                <a:latin typeface="Arial Narrow" panose="020B0606020202030204" pitchFamily="34" charset="0"/>
              </a:rPr>
              <a:t>玉葱切る</a:t>
            </a:r>
            <a:endParaRPr kumimoji="1" lang="ja-JP" altLang="en-US" sz="1100" dirty="0">
              <a:solidFill>
                <a:schemeClr val="bg1"/>
              </a:solidFill>
              <a:latin typeface="Arial Narrow" panose="020B0606020202030204" pitchFamily="34" charset="0"/>
            </a:endParaRPr>
          </a:p>
        </p:txBody>
      </p:sp>
      <p:sp>
        <p:nvSpPr>
          <p:cNvPr id="58" name="角丸四角形 46">
            <a:extLst>
              <a:ext uri="{FF2B5EF4-FFF2-40B4-BE49-F238E27FC236}">
                <a16:creationId xmlns:a16="http://schemas.microsoft.com/office/drawing/2014/main" id="{FB322260-9364-C40F-0A58-9C2E0C44A955}"/>
              </a:ext>
            </a:extLst>
          </p:cNvPr>
          <p:cNvSpPr/>
          <p:nvPr/>
        </p:nvSpPr>
        <p:spPr bwMode="auto">
          <a:xfrm>
            <a:off x="6276002" y="4779015"/>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dirty="0">
                <a:solidFill>
                  <a:schemeClr val="bg1"/>
                </a:solidFill>
                <a:latin typeface="Arial Narrow" panose="020B0606020202030204" pitchFamily="34" charset="0"/>
              </a:rPr>
              <a:t>玉葱切る</a:t>
            </a:r>
            <a:endParaRPr kumimoji="1" lang="ja-JP" altLang="en-US" sz="1100" dirty="0">
              <a:solidFill>
                <a:schemeClr val="bg1"/>
              </a:solidFill>
              <a:latin typeface="Arial Narrow" panose="020B0606020202030204" pitchFamily="34" charset="0"/>
            </a:endParaRPr>
          </a:p>
        </p:txBody>
      </p:sp>
      <p:sp>
        <p:nvSpPr>
          <p:cNvPr id="60" name="角丸四角形 46">
            <a:extLst>
              <a:ext uri="{FF2B5EF4-FFF2-40B4-BE49-F238E27FC236}">
                <a16:creationId xmlns:a16="http://schemas.microsoft.com/office/drawing/2014/main" id="{F62569C1-F08C-2BDB-D43D-53426DBA07A7}"/>
              </a:ext>
            </a:extLst>
          </p:cNvPr>
          <p:cNvSpPr/>
          <p:nvPr/>
        </p:nvSpPr>
        <p:spPr bwMode="auto">
          <a:xfrm>
            <a:off x="6276002" y="6309032"/>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dirty="0">
                <a:solidFill>
                  <a:schemeClr val="bg1"/>
                </a:solidFill>
                <a:latin typeface="Arial Narrow" panose="020B0606020202030204" pitchFamily="34" charset="0"/>
              </a:rPr>
              <a:t>玉葱切る</a:t>
            </a:r>
            <a:endParaRPr kumimoji="1" lang="ja-JP" altLang="en-US" sz="11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23082787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6CC2E-4FF0-5526-F6F7-226669140430}"/>
            </a:ext>
          </a:extLst>
        </p:cNvPr>
        <p:cNvGrpSpPr/>
        <p:nvPr/>
      </p:nvGrpSpPr>
      <p:grpSpPr>
        <a:xfrm>
          <a:off x="0" y="0"/>
          <a:ext cx="0" cy="0"/>
          <a:chOff x="0" y="0"/>
          <a:chExt cx="0" cy="0"/>
        </a:xfrm>
      </p:grpSpPr>
      <p:sp>
        <p:nvSpPr>
          <p:cNvPr id="35" name="平行四辺形 34">
            <a:extLst>
              <a:ext uri="{FF2B5EF4-FFF2-40B4-BE49-F238E27FC236}">
                <a16:creationId xmlns:a16="http://schemas.microsoft.com/office/drawing/2014/main" id="{4A9BAEBE-F086-AF22-8333-87E9DE479944}"/>
              </a:ext>
            </a:extLst>
          </p:cNvPr>
          <p:cNvSpPr/>
          <p:nvPr/>
        </p:nvSpPr>
        <p:spPr bwMode="auto">
          <a:xfrm>
            <a:off x="2945965" y="5211027"/>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0" name="平行四辺形 49">
            <a:extLst>
              <a:ext uri="{FF2B5EF4-FFF2-40B4-BE49-F238E27FC236}">
                <a16:creationId xmlns:a16="http://schemas.microsoft.com/office/drawing/2014/main" id="{D638359A-DD7A-FC61-5FD8-252C28AFEC96}"/>
              </a:ext>
            </a:extLst>
          </p:cNvPr>
          <p:cNvSpPr/>
          <p:nvPr/>
        </p:nvSpPr>
        <p:spPr bwMode="auto">
          <a:xfrm>
            <a:off x="4745985" y="3609002"/>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 name="正方形/長方形 2">
            <a:extLst>
              <a:ext uri="{FF2B5EF4-FFF2-40B4-BE49-F238E27FC236}">
                <a16:creationId xmlns:a16="http://schemas.microsoft.com/office/drawing/2014/main" id="{E671BDD0-F6C0-E448-744B-DEAE8BE2CC5F}"/>
              </a:ext>
            </a:extLst>
          </p:cNvPr>
          <p:cNvSpPr/>
          <p:nvPr/>
        </p:nvSpPr>
        <p:spPr>
          <a:xfrm>
            <a:off x="2907805" y="4274476"/>
            <a:ext cx="147817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a:extLst>
              <a:ext uri="{FF2B5EF4-FFF2-40B4-BE49-F238E27FC236}">
                <a16:creationId xmlns:a16="http://schemas.microsoft.com/office/drawing/2014/main" id="{F8A2A7E7-5E93-2462-9F3C-3AFC798ECB98}"/>
              </a:ext>
            </a:extLst>
          </p:cNvPr>
          <p:cNvSpPr/>
          <p:nvPr/>
        </p:nvSpPr>
        <p:spPr>
          <a:xfrm>
            <a:off x="4617968" y="2654458"/>
            <a:ext cx="937991" cy="738664"/>
          </a:xfrm>
          <a:prstGeom prst="rect">
            <a:avLst/>
          </a:prstGeom>
        </p:spPr>
        <p:txBody>
          <a:bodyPr wrap="square">
            <a:spAutoFit/>
          </a:bodyPr>
          <a:lstStyle/>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D9305024-22AD-376F-ADC1-51C69BA55BA4}"/>
              </a:ext>
            </a:extLst>
          </p:cNvPr>
          <p:cNvSpPr/>
          <p:nvPr/>
        </p:nvSpPr>
        <p:spPr>
          <a:xfrm>
            <a:off x="7571859" y="2636984"/>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a:extLst>
              <a:ext uri="{FF2B5EF4-FFF2-40B4-BE49-F238E27FC236}">
                <a16:creationId xmlns:a16="http://schemas.microsoft.com/office/drawing/2014/main" id="{11C4BB32-02C9-C1CF-58B7-FF7B343FAFE1}"/>
              </a:ext>
            </a:extLst>
          </p:cNvPr>
          <p:cNvSpPr/>
          <p:nvPr/>
        </p:nvSpPr>
        <p:spPr>
          <a:xfrm>
            <a:off x="10453903" y="2691035"/>
            <a:ext cx="937991" cy="738664"/>
          </a:xfrm>
          <a:prstGeom prst="rect">
            <a:avLst/>
          </a:prstGeom>
        </p:spPr>
        <p:txBody>
          <a:bodyPr wrap="square">
            <a:spAutoFit/>
          </a:bodyPr>
          <a:lstStyle/>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7B771F4E-BA9F-3FA8-BB1B-B4569068C063}"/>
              </a:ext>
            </a:extLst>
          </p:cNvPr>
          <p:cNvSpPr>
            <a:spLocks noGrp="1"/>
          </p:cNvSpPr>
          <p:nvPr>
            <p:ph type="title"/>
          </p:nvPr>
        </p:nvSpPr>
        <p:spPr/>
        <p:txBody>
          <a:bodyPr/>
          <a:lstStyle/>
          <a:p>
            <a:r>
              <a:rPr lang="ja-JP" altLang="en-US" dirty="0"/>
              <a:t>カレー屋さんの場合：戻さず流れ作業に</a:t>
            </a:r>
            <a:endParaRPr kumimoji="1" lang="ja-JP" altLang="en-US" dirty="0"/>
          </a:p>
        </p:txBody>
      </p:sp>
      <p:sp>
        <p:nvSpPr>
          <p:cNvPr id="97" name="正方形/長方形 96">
            <a:extLst>
              <a:ext uri="{FF2B5EF4-FFF2-40B4-BE49-F238E27FC236}">
                <a16:creationId xmlns:a16="http://schemas.microsoft.com/office/drawing/2014/main" id="{CDE78D4A-333C-F83F-060B-76723B20B95F}"/>
              </a:ext>
            </a:extLst>
          </p:cNvPr>
          <p:cNvSpPr/>
          <p:nvPr/>
        </p:nvSpPr>
        <p:spPr bwMode="auto">
          <a:xfrm>
            <a:off x="1865953" y="369900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レシピ</a:t>
            </a:r>
          </a:p>
        </p:txBody>
      </p:sp>
      <p:sp>
        <p:nvSpPr>
          <p:cNvPr id="31" name="AutoShape 5">
            <a:extLst>
              <a:ext uri="{FF2B5EF4-FFF2-40B4-BE49-F238E27FC236}">
                <a16:creationId xmlns:a16="http://schemas.microsoft.com/office/drawing/2014/main" id="{1F8B9F26-A531-B877-93DB-2720AEA59452}"/>
              </a:ext>
            </a:extLst>
          </p:cNvPr>
          <p:cNvSpPr>
            <a:spLocks noChangeArrowheads="1"/>
          </p:cNvSpPr>
          <p:nvPr/>
        </p:nvSpPr>
        <p:spPr bwMode="auto">
          <a:xfrm rot="-5400000">
            <a:off x="7968010" y="2006995"/>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まな板</a:t>
            </a:r>
          </a:p>
        </p:txBody>
      </p:sp>
      <p:grpSp>
        <p:nvGrpSpPr>
          <p:cNvPr id="32" name="グループ化 31">
            <a:extLst>
              <a:ext uri="{FF2B5EF4-FFF2-40B4-BE49-F238E27FC236}">
                <a16:creationId xmlns:a16="http://schemas.microsoft.com/office/drawing/2014/main" id="{6466E70F-731A-13A3-B017-79BEBEC56BCE}"/>
              </a:ext>
            </a:extLst>
          </p:cNvPr>
          <p:cNvGrpSpPr/>
          <p:nvPr/>
        </p:nvGrpSpPr>
        <p:grpSpPr>
          <a:xfrm>
            <a:off x="5124018" y="2079057"/>
            <a:ext cx="1008112" cy="432048"/>
            <a:chOff x="3563888" y="2708920"/>
            <a:chExt cx="1296144" cy="432048"/>
          </a:xfrm>
        </p:grpSpPr>
        <p:sp>
          <p:nvSpPr>
            <p:cNvPr id="33" name="Freeform 9">
              <a:extLst>
                <a:ext uri="{FF2B5EF4-FFF2-40B4-BE49-F238E27FC236}">
                  <a16:creationId xmlns:a16="http://schemas.microsoft.com/office/drawing/2014/main" id="{D4722D98-B3BC-05E7-625E-70DA3C039E97}"/>
                </a:ext>
              </a:extLst>
            </p:cNvPr>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a:extLst>
                <a:ext uri="{FF2B5EF4-FFF2-40B4-BE49-F238E27FC236}">
                  <a16:creationId xmlns:a16="http://schemas.microsoft.com/office/drawing/2014/main" id="{02F5CC25-288E-049D-BD1C-9570C0213EAE}"/>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a:extLst>
              <a:ext uri="{FF2B5EF4-FFF2-40B4-BE49-F238E27FC236}">
                <a16:creationId xmlns:a16="http://schemas.microsoft.com/office/drawing/2014/main" id="{0474CC89-74C9-17C8-E559-D96761600B32}"/>
              </a:ext>
            </a:extLst>
          </p:cNvPr>
          <p:cNvSpPr>
            <a:spLocks/>
          </p:cNvSpPr>
          <p:nvPr/>
        </p:nvSpPr>
        <p:spPr bwMode="auto">
          <a:xfrm>
            <a:off x="10526018" y="2097050"/>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solidFill>
              <a:schemeClr val="accent3"/>
            </a:solidFill>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96" name="正方形/長方形 95">
            <a:extLst>
              <a:ext uri="{FF2B5EF4-FFF2-40B4-BE49-F238E27FC236}">
                <a16:creationId xmlns:a16="http://schemas.microsoft.com/office/drawing/2014/main" id="{E4C1FBA2-99F4-ECCF-56FE-247AB9BE4BCC}"/>
              </a:ext>
            </a:extLst>
          </p:cNvPr>
          <p:cNvSpPr/>
          <p:nvPr/>
        </p:nvSpPr>
        <p:spPr bwMode="auto">
          <a:xfrm>
            <a:off x="1595950" y="4149008"/>
            <a:ext cx="1260014" cy="1710019"/>
          </a:xfrm>
          <a:prstGeom prst="rect">
            <a:avLst/>
          </a:prstGeom>
          <a:ln>
            <a:headEnd/>
            <a:tailEnd type="non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r>
              <a:rPr lang="en-US" altLang="ja-JP" sz="1400" dirty="0">
                <a:solidFill>
                  <a:schemeClr val="tx1"/>
                </a:solidFill>
                <a:latin typeface="Arial Narrow" panose="020B0606020202030204" pitchFamily="34" charset="0"/>
              </a:rPr>
              <a:t>1. </a:t>
            </a:r>
            <a:r>
              <a:rPr lang="ja-JP" altLang="en-US" sz="1400" dirty="0">
                <a:solidFill>
                  <a:schemeClr val="tx1"/>
                </a:solidFill>
                <a:latin typeface="Arial Narrow" panose="020B0606020202030204" pitchFamily="34" charset="0"/>
              </a:rPr>
              <a:t>人参下処理</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2. </a:t>
            </a:r>
            <a:r>
              <a:rPr lang="ja-JP" altLang="en-US" sz="1400" dirty="0">
                <a:solidFill>
                  <a:schemeClr val="tx1"/>
                </a:solidFill>
                <a:latin typeface="Arial Narrow" panose="020B0606020202030204" pitchFamily="34" charset="0"/>
              </a:rPr>
              <a:t>玉葱下処理</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3. </a:t>
            </a:r>
            <a:r>
              <a:rPr lang="ja-JP" altLang="en-US" sz="1400" dirty="0">
                <a:solidFill>
                  <a:schemeClr val="tx1"/>
                </a:solidFill>
                <a:latin typeface="Arial Narrow" panose="020B0606020202030204" pitchFamily="34" charset="0"/>
              </a:rPr>
              <a:t>肉を下処理</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4. </a:t>
            </a:r>
            <a:r>
              <a:rPr lang="ja-JP" altLang="en-US" sz="1400" dirty="0">
                <a:solidFill>
                  <a:schemeClr val="tx1"/>
                </a:solidFill>
                <a:latin typeface="Arial Narrow" panose="020B0606020202030204" pitchFamily="34" charset="0"/>
              </a:rPr>
              <a:t>芋を下処理</a:t>
            </a:r>
          </a:p>
        </p:txBody>
      </p:sp>
      <p:sp>
        <p:nvSpPr>
          <p:cNvPr id="5" name="角丸四角形 45">
            <a:extLst>
              <a:ext uri="{FF2B5EF4-FFF2-40B4-BE49-F238E27FC236}">
                <a16:creationId xmlns:a16="http://schemas.microsoft.com/office/drawing/2014/main" id="{24024B6C-CFCE-306B-6EF3-491C361542C1}"/>
              </a:ext>
            </a:extLst>
          </p:cNvPr>
          <p:cNvSpPr/>
          <p:nvPr/>
        </p:nvSpPr>
        <p:spPr bwMode="auto">
          <a:xfrm>
            <a:off x="5022005" y="3338999"/>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100" b="1" dirty="0">
                <a:solidFill>
                  <a:schemeClr val="bg1"/>
                </a:solidFill>
                <a:latin typeface="Arial Narrow" panose="020B0606020202030204" pitchFamily="34" charset="0"/>
              </a:rPr>
              <a:t>人参</a:t>
            </a:r>
            <a:r>
              <a:rPr lang="ja-JP" altLang="en-US" sz="1100" b="1" dirty="0">
                <a:solidFill>
                  <a:schemeClr val="bg1"/>
                </a:solidFill>
                <a:latin typeface="Arial Narrow" panose="020B0606020202030204" pitchFamily="34" charset="0"/>
              </a:rPr>
              <a:t>下処理</a:t>
            </a:r>
            <a:endParaRPr kumimoji="1" lang="ja-JP" altLang="en-US" sz="1100" b="1" dirty="0">
              <a:solidFill>
                <a:schemeClr val="bg1"/>
              </a:solidFill>
              <a:latin typeface="Arial Narrow" panose="020B0606020202030204" pitchFamily="34" charset="0"/>
            </a:endParaRPr>
          </a:p>
        </p:txBody>
      </p:sp>
      <p:sp>
        <p:nvSpPr>
          <p:cNvPr id="6" name="角丸四角形 46">
            <a:extLst>
              <a:ext uri="{FF2B5EF4-FFF2-40B4-BE49-F238E27FC236}">
                <a16:creationId xmlns:a16="http://schemas.microsoft.com/office/drawing/2014/main" id="{A42928E7-0950-258C-5F62-0F745A593EA0}"/>
              </a:ext>
            </a:extLst>
          </p:cNvPr>
          <p:cNvSpPr/>
          <p:nvPr/>
        </p:nvSpPr>
        <p:spPr bwMode="auto">
          <a:xfrm>
            <a:off x="3311986" y="4959017"/>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b="1" dirty="0">
                <a:solidFill>
                  <a:schemeClr val="bg1"/>
                </a:solidFill>
                <a:latin typeface="Arial Narrow" panose="020B0606020202030204" pitchFamily="34" charset="0"/>
              </a:rPr>
              <a:t>玉葱下処理</a:t>
            </a:r>
            <a:endParaRPr kumimoji="1" lang="ja-JP" altLang="en-US" sz="1100" b="1" dirty="0">
              <a:solidFill>
                <a:schemeClr val="bg1"/>
              </a:solidFill>
              <a:latin typeface="Arial Narrow" panose="020B0606020202030204" pitchFamily="34" charset="0"/>
            </a:endParaRPr>
          </a:p>
        </p:txBody>
      </p:sp>
      <p:sp>
        <p:nvSpPr>
          <p:cNvPr id="8" name="角丸四角形吹き出し 42">
            <a:extLst>
              <a:ext uri="{FF2B5EF4-FFF2-40B4-BE49-F238E27FC236}">
                <a16:creationId xmlns:a16="http://schemas.microsoft.com/office/drawing/2014/main" id="{FB21A5A0-1B54-939D-25E8-5FFEBE3C24DE}"/>
              </a:ext>
            </a:extLst>
          </p:cNvPr>
          <p:cNvSpPr/>
          <p:nvPr/>
        </p:nvSpPr>
        <p:spPr bwMode="auto">
          <a:xfrm>
            <a:off x="11119751" y="2366982"/>
            <a:ext cx="1080012" cy="522648"/>
          </a:xfrm>
          <a:prstGeom prst="wedgeRoundRectCallout">
            <a:avLst>
              <a:gd name="adj1" fmla="val -46134"/>
              <a:gd name="adj2" fmla="val 94815"/>
              <a:gd name="adj3" fmla="val 16667"/>
            </a:avLst>
          </a:prstGeom>
          <a:ln>
            <a:solidFill>
              <a:schemeClr val="accent3"/>
            </a:solid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鍋に送る</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係です！</a:t>
            </a:r>
          </a:p>
        </p:txBody>
      </p:sp>
      <p:sp>
        <p:nvSpPr>
          <p:cNvPr id="9" name="角丸四角形吹き出し 44">
            <a:extLst>
              <a:ext uri="{FF2B5EF4-FFF2-40B4-BE49-F238E27FC236}">
                <a16:creationId xmlns:a16="http://schemas.microsoft.com/office/drawing/2014/main" id="{2DCF8A10-2DCB-1F50-6579-E61C1DF879F6}"/>
              </a:ext>
            </a:extLst>
          </p:cNvPr>
          <p:cNvSpPr/>
          <p:nvPr/>
        </p:nvSpPr>
        <p:spPr bwMode="auto">
          <a:xfrm>
            <a:off x="5285991" y="2348989"/>
            <a:ext cx="1080012" cy="522648"/>
          </a:xfrm>
          <a:prstGeom prst="wedgeRoundRectCallout">
            <a:avLst>
              <a:gd name="adj1" fmla="val -41466"/>
              <a:gd name="adj2" fmla="val 84351"/>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材料</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取る係です！</a:t>
            </a:r>
          </a:p>
        </p:txBody>
      </p:sp>
      <p:sp>
        <p:nvSpPr>
          <p:cNvPr id="11" name="角丸四角形吹き出し 44">
            <a:extLst>
              <a:ext uri="{FF2B5EF4-FFF2-40B4-BE49-F238E27FC236}">
                <a16:creationId xmlns:a16="http://schemas.microsoft.com/office/drawing/2014/main" id="{81013D4D-EA2B-4756-317B-00F719321AB5}"/>
              </a:ext>
            </a:extLst>
          </p:cNvPr>
          <p:cNvSpPr/>
          <p:nvPr/>
        </p:nvSpPr>
        <p:spPr bwMode="auto">
          <a:xfrm>
            <a:off x="8076022" y="2528990"/>
            <a:ext cx="1170013"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切る人です！</a:t>
            </a:r>
          </a:p>
        </p:txBody>
      </p:sp>
      <p:sp>
        <p:nvSpPr>
          <p:cNvPr id="12" name="正方形/長方形 11">
            <a:extLst>
              <a:ext uri="{FF2B5EF4-FFF2-40B4-BE49-F238E27FC236}">
                <a16:creationId xmlns:a16="http://schemas.microsoft.com/office/drawing/2014/main" id="{CB1E747F-558A-DA9A-B4AA-046B2DEEB14A}"/>
              </a:ext>
            </a:extLst>
          </p:cNvPr>
          <p:cNvSpPr/>
          <p:nvPr/>
        </p:nvSpPr>
        <p:spPr>
          <a:xfrm>
            <a:off x="1055944" y="2078985"/>
            <a:ext cx="1620018"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13" name="角丸四角形吹き出し 28">
            <a:extLst>
              <a:ext uri="{FF2B5EF4-FFF2-40B4-BE49-F238E27FC236}">
                <a16:creationId xmlns:a16="http://schemas.microsoft.com/office/drawing/2014/main" id="{81F98339-96E8-8304-4B2E-399FEC7B608F}"/>
              </a:ext>
            </a:extLst>
          </p:cNvPr>
          <p:cNvSpPr/>
          <p:nvPr/>
        </p:nvSpPr>
        <p:spPr bwMode="auto">
          <a:xfrm>
            <a:off x="2051972" y="962915"/>
            <a:ext cx="2874016" cy="666065"/>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85000"/>
                    <a:lumOff val="15000"/>
                  </a:schemeClr>
                </a:solidFill>
                <a:latin typeface="Arial Narrow" panose="020B0606020202030204" pitchFamily="34" charset="0"/>
              </a:rPr>
              <a:t>戻さなければ効率いいな</a:t>
            </a:r>
          </a:p>
        </p:txBody>
      </p:sp>
      <p:sp>
        <p:nvSpPr>
          <p:cNvPr id="14" name="正方形/長方形 13">
            <a:extLst>
              <a:ext uri="{FF2B5EF4-FFF2-40B4-BE49-F238E27FC236}">
                <a16:creationId xmlns:a16="http://schemas.microsoft.com/office/drawing/2014/main" id="{64C94842-FCB4-C033-6D8D-09D16C0A7078}"/>
              </a:ext>
            </a:extLst>
          </p:cNvPr>
          <p:cNvSpPr/>
          <p:nvPr/>
        </p:nvSpPr>
        <p:spPr bwMode="auto">
          <a:xfrm>
            <a:off x="971960" y="1178975"/>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kumimoji="1" lang="ja-JP" altLang="en-US" sz="1600" dirty="0">
              <a:solidFill>
                <a:schemeClr val="tx1">
                  <a:lumMod val="85000"/>
                  <a:lumOff val="15000"/>
                </a:schemeClr>
              </a:solidFill>
            </a:endParaRPr>
          </a:p>
        </p:txBody>
      </p:sp>
      <p:cxnSp>
        <p:nvCxnSpPr>
          <p:cNvPr id="16" name="直線矢印コネクタ 15">
            <a:extLst>
              <a:ext uri="{FF2B5EF4-FFF2-40B4-BE49-F238E27FC236}">
                <a16:creationId xmlns:a16="http://schemas.microsoft.com/office/drawing/2014/main" id="{EBC15CA6-4B75-E102-AC83-B3B649737D42}"/>
              </a:ext>
            </a:extLst>
          </p:cNvPr>
          <p:cNvCxnSpPr>
            <a:cxnSpLocks/>
          </p:cNvCxnSpPr>
          <p:nvPr/>
        </p:nvCxnSpPr>
        <p:spPr bwMode="auto">
          <a:xfrm flipV="1">
            <a:off x="4205979" y="3879005"/>
            <a:ext cx="450005" cy="1350015"/>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7" name="正方形/長方形 6">
            <a:extLst>
              <a:ext uri="{FF2B5EF4-FFF2-40B4-BE49-F238E27FC236}">
                <a16:creationId xmlns:a16="http://schemas.microsoft.com/office/drawing/2014/main" id="{7F03AFEC-E4A1-6DA9-B2AE-3B2937C72354}"/>
              </a:ext>
            </a:extLst>
          </p:cNvPr>
          <p:cNvSpPr/>
          <p:nvPr/>
        </p:nvSpPr>
        <p:spPr>
          <a:xfrm>
            <a:off x="9101588" y="265497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5" name="AutoShape 5">
            <a:extLst>
              <a:ext uri="{FF2B5EF4-FFF2-40B4-BE49-F238E27FC236}">
                <a16:creationId xmlns:a16="http://schemas.microsoft.com/office/drawing/2014/main" id="{4C8054B9-DC88-CCC7-A088-4E6C9310F94D}"/>
              </a:ext>
            </a:extLst>
          </p:cNvPr>
          <p:cNvSpPr>
            <a:spLocks noChangeArrowheads="1"/>
          </p:cNvSpPr>
          <p:nvPr/>
        </p:nvSpPr>
        <p:spPr bwMode="auto">
          <a:xfrm rot="16200000">
            <a:off x="9497739" y="2024988"/>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コンロ</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7" name="角丸四角形吹き出し 44">
            <a:extLst>
              <a:ext uri="{FF2B5EF4-FFF2-40B4-BE49-F238E27FC236}">
                <a16:creationId xmlns:a16="http://schemas.microsoft.com/office/drawing/2014/main" id="{75B5F295-886A-6D26-E077-A2ABFAB19CD9}"/>
              </a:ext>
            </a:extLst>
          </p:cNvPr>
          <p:cNvSpPr/>
          <p:nvPr/>
        </p:nvSpPr>
        <p:spPr bwMode="auto">
          <a:xfrm>
            <a:off x="9606039" y="2528990"/>
            <a:ext cx="1350015"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炒める人です！</a:t>
            </a:r>
          </a:p>
        </p:txBody>
      </p:sp>
      <p:sp>
        <p:nvSpPr>
          <p:cNvPr id="19" name="平行四辺形 18">
            <a:extLst>
              <a:ext uri="{FF2B5EF4-FFF2-40B4-BE49-F238E27FC236}">
                <a16:creationId xmlns:a16="http://schemas.microsoft.com/office/drawing/2014/main" id="{8069BB21-4F37-2F73-DD41-976473B61026}"/>
              </a:ext>
            </a:extLst>
          </p:cNvPr>
          <p:cNvSpPr/>
          <p:nvPr/>
        </p:nvSpPr>
        <p:spPr bwMode="auto">
          <a:xfrm>
            <a:off x="6186001" y="360900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1" name="正方形/長方形 20">
            <a:extLst>
              <a:ext uri="{FF2B5EF4-FFF2-40B4-BE49-F238E27FC236}">
                <a16:creationId xmlns:a16="http://schemas.microsoft.com/office/drawing/2014/main" id="{FDC15018-F7B2-FE7B-B9C7-69A541571925}"/>
              </a:ext>
            </a:extLst>
          </p:cNvPr>
          <p:cNvSpPr/>
          <p:nvPr/>
        </p:nvSpPr>
        <p:spPr>
          <a:xfrm>
            <a:off x="6131843" y="2636984"/>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2" name="AutoShape 5">
            <a:extLst>
              <a:ext uri="{FF2B5EF4-FFF2-40B4-BE49-F238E27FC236}">
                <a16:creationId xmlns:a16="http://schemas.microsoft.com/office/drawing/2014/main" id="{D4032DB2-3A0A-1C03-0C7A-7487656B0EC8}"/>
              </a:ext>
            </a:extLst>
          </p:cNvPr>
          <p:cNvSpPr>
            <a:spLocks noChangeArrowheads="1"/>
          </p:cNvSpPr>
          <p:nvPr/>
        </p:nvSpPr>
        <p:spPr bwMode="auto">
          <a:xfrm rot="-5400000">
            <a:off x="6527994" y="2006995"/>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シンク</a:t>
            </a:r>
          </a:p>
        </p:txBody>
      </p:sp>
      <p:sp>
        <p:nvSpPr>
          <p:cNvPr id="23" name="角丸四角形吹き出し 44">
            <a:extLst>
              <a:ext uri="{FF2B5EF4-FFF2-40B4-BE49-F238E27FC236}">
                <a16:creationId xmlns:a16="http://schemas.microsoft.com/office/drawing/2014/main" id="{1EEE80DF-807D-4B0F-4D75-C406A54D1013}"/>
              </a:ext>
            </a:extLst>
          </p:cNvPr>
          <p:cNvSpPr/>
          <p:nvPr/>
        </p:nvSpPr>
        <p:spPr bwMode="auto">
          <a:xfrm>
            <a:off x="6636006" y="2528990"/>
            <a:ext cx="1170013"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洗います！</a:t>
            </a:r>
          </a:p>
        </p:txBody>
      </p:sp>
      <p:sp>
        <p:nvSpPr>
          <p:cNvPr id="53" name="平行四辺形 52">
            <a:extLst>
              <a:ext uri="{FF2B5EF4-FFF2-40B4-BE49-F238E27FC236}">
                <a16:creationId xmlns:a16="http://schemas.microsoft.com/office/drawing/2014/main" id="{FF95F860-5DE3-B2D6-94E0-CBCB503C7D71}"/>
              </a:ext>
            </a:extLst>
          </p:cNvPr>
          <p:cNvSpPr/>
          <p:nvPr/>
        </p:nvSpPr>
        <p:spPr bwMode="auto">
          <a:xfrm>
            <a:off x="7626017" y="360900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 name="平行四辺形 3">
            <a:extLst>
              <a:ext uri="{FF2B5EF4-FFF2-40B4-BE49-F238E27FC236}">
                <a16:creationId xmlns:a16="http://schemas.microsoft.com/office/drawing/2014/main" id="{2A68D378-4CCE-E176-0E1F-DAD96BF945EA}"/>
              </a:ext>
            </a:extLst>
          </p:cNvPr>
          <p:cNvSpPr/>
          <p:nvPr/>
        </p:nvSpPr>
        <p:spPr bwMode="auto">
          <a:xfrm>
            <a:off x="9066033" y="360900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2" name="平行四辺形 61">
            <a:extLst>
              <a:ext uri="{FF2B5EF4-FFF2-40B4-BE49-F238E27FC236}">
                <a16:creationId xmlns:a16="http://schemas.microsoft.com/office/drawing/2014/main" id="{7995B36A-8D0F-7599-7550-DE053E0E81C8}"/>
              </a:ext>
            </a:extLst>
          </p:cNvPr>
          <p:cNvSpPr/>
          <p:nvPr/>
        </p:nvSpPr>
        <p:spPr bwMode="auto">
          <a:xfrm>
            <a:off x="10490176" y="3609002"/>
            <a:ext cx="1584176"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テキスト プレースホルダー 2">
            <a:extLst>
              <a:ext uri="{FF2B5EF4-FFF2-40B4-BE49-F238E27FC236}">
                <a16:creationId xmlns:a16="http://schemas.microsoft.com/office/drawing/2014/main" id="{32D86B75-3048-FB6C-42B0-B42437617A2F}"/>
              </a:ext>
            </a:extLst>
          </p:cNvPr>
          <p:cNvSpPr>
            <a:spLocks noGrp="1"/>
          </p:cNvSpPr>
          <p:nvPr>
            <p:ph type="body" sz="quarter" idx="10"/>
          </p:nvPr>
        </p:nvSpPr>
        <p:spPr>
          <a:xfrm>
            <a:off x="5105989" y="4689014"/>
            <a:ext cx="6840076" cy="1530017"/>
          </a:xfrm>
        </p:spPr>
        <p:txBody>
          <a:bodyPr/>
          <a:lstStyle/>
          <a:p>
            <a:r>
              <a:rPr kumimoji="1" lang="ja-JP" altLang="en-US" dirty="0"/>
              <a:t>洗ったり切ったり炒めたりしたら，台に戻さず</a:t>
            </a:r>
            <a:br>
              <a:rPr kumimoji="1" lang="en-US" altLang="ja-JP" dirty="0"/>
            </a:br>
            <a:r>
              <a:rPr kumimoji="1" lang="ja-JP" altLang="en-US" dirty="0"/>
              <a:t>次の人に渡すようにする</a:t>
            </a:r>
          </a:p>
        </p:txBody>
      </p:sp>
      <p:cxnSp>
        <p:nvCxnSpPr>
          <p:cNvPr id="34" name="直線矢印コネクタ 33">
            <a:extLst>
              <a:ext uri="{FF2B5EF4-FFF2-40B4-BE49-F238E27FC236}">
                <a16:creationId xmlns:a16="http://schemas.microsoft.com/office/drawing/2014/main" id="{6CBE9671-43BC-483E-8711-084F6F0066E3}"/>
              </a:ext>
            </a:extLst>
          </p:cNvPr>
          <p:cNvCxnSpPr>
            <a:cxnSpLocks/>
          </p:cNvCxnSpPr>
          <p:nvPr/>
        </p:nvCxnSpPr>
        <p:spPr bwMode="auto">
          <a:xfrm>
            <a:off x="4295980" y="5409022"/>
            <a:ext cx="657609" cy="207604"/>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37" name="直線矢印コネクタ 36">
            <a:extLst>
              <a:ext uri="{FF2B5EF4-FFF2-40B4-BE49-F238E27FC236}">
                <a16:creationId xmlns:a16="http://schemas.microsoft.com/office/drawing/2014/main" id="{822165BC-5C63-817C-D3B4-28F24AE7B516}"/>
              </a:ext>
            </a:extLst>
          </p:cNvPr>
          <p:cNvCxnSpPr>
            <a:cxnSpLocks/>
          </p:cNvCxnSpPr>
          <p:nvPr/>
        </p:nvCxnSpPr>
        <p:spPr bwMode="auto">
          <a:xfrm>
            <a:off x="4233581" y="5679025"/>
            <a:ext cx="540006" cy="1377617"/>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8604387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6CC2E-4FF0-5526-F6F7-2266691404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B771F4E-BA9F-3FA8-BB1B-B4569068C063}"/>
              </a:ext>
            </a:extLst>
          </p:cNvPr>
          <p:cNvSpPr>
            <a:spLocks noGrp="1"/>
          </p:cNvSpPr>
          <p:nvPr>
            <p:ph type="title"/>
          </p:nvPr>
        </p:nvSpPr>
        <p:spPr/>
        <p:txBody>
          <a:bodyPr/>
          <a:lstStyle/>
          <a:p>
            <a:r>
              <a:rPr lang="ja-JP" altLang="en-US" dirty="0"/>
              <a:t>カレー屋さんの場合</a:t>
            </a:r>
            <a:endParaRPr kumimoji="1" lang="ja-JP" altLang="en-US" dirty="0"/>
          </a:p>
        </p:txBody>
      </p:sp>
      <p:sp>
        <p:nvSpPr>
          <p:cNvPr id="12" name="正方形/長方形 11">
            <a:extLst>
              <a:ext uri="{FF2B5EF4-FFF2-40B4-BE49-F238E27FC236}">
                <a16:creationId xmlns:a16="http://schemas.microsoft.com/office/drawing/2014/main" id="{CB1E747F-558A-DA9A-B4AA-046B2DEEB14A}"/>
              </a:ext>
            </a:extLst>
          </p:cNvPr>
          <p:cNvSpPr/>
          <p:nvPr/>
        </p:nvSpPr>
        <p:spPr>
          <a:xfrm>
            <a:off x="6276002" y="4599013"/>
            <a:ext cx="2160024"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 ﾆｯｺﾘ</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14" name="正方形/長方形 13">
            <a:extLst>
              <a:ext uri="{FF2B5EF4-FFF2-40B4-BE49-F238E27FC236}">
                <a16:creationId xmlns:a16="http://schemas.microsoft.com/office/drawing/2014/main" id="{64C94842-FCB4-C033-6D8D-09D16C0A7078}"/>
              </a:ext>
            </a:extLst>
          </p:cNvPr>
          <p:cNvSpPr/>
          <p:nvPr/>
        </p:nvSpPr>
        <p:spPr bwMode="auto">
          <a:xfrm>
            <a:off x="971960" y="1178975"/>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kumimoji="1" lang="ja-JP" altLang="en-US" sz="1600" dirty="0">
              <a:solidFill>
                <a:schemeClr val="tx1">
                  <a:lumMod val="85000"/>
                  <a:lumOff val="15000"/>
                </a:schemeClr>
              </a:solidFill>
            </a:endParaRPr>
          </a:p>
        </p:txBody>
      </p:sp>
      <p:grpSp>
        <p:nvGrpSpPr>
          <p:cNvPr id="95" name="グループ化 94">
            <a:extLst>
              <a:ext uri="{FF2B5EF4-FFF2-40B4-BE49-F238E27FC236}">
                <a16:creationId xmlns:a16="http://schemas.microsoft.com/office/drawing/2014/main" id="{BD69E3AA-3769-1660-8A68-69C0574EFAAE}"/>
              </a:ext>
            </a:extLst>
          </p:cNvPr>
          <p:cNvGrpSpPr/>
          <p:nvPr/>
        </p:nvGrpSpPr>
        <p:grpSpPr>
          <a:xfrm>
            <a:off x="2225957" y="1538979"/>
            <a:ext cx="2160024" cy="2160020"/>
            <a:chOff x="4925987" y="998973"/>
            <a:chExt cx="4480081" cy="2160020"/>
          </a:xfrm>
        </p:grpSpPr>
        <p:sp>
          <p:nvSpPr>
            <p:cNvPr id="38" name="平行四辺形 37">
              <a:extLst>
                <a:ext uri="{FF2B5EF4-FFF2-40B4-BE49-F238E27FC236}">
                  <a16:creationId xmlns:a16="http://schemas.microsoft.com/office/drawing/2014/main" id="{4D82584E-C7DF-B8E8-579F-A5832BF574C4}"/>
                </a:ext>
              </a:extLst>
            </p:cNvPr>
            <p:cNvSpPr/>
            <p:nvPr/>
          </p:nvSpPr>
          <p:spPr bwMode="auto">
            <a:xfrm>
              <a:off x="4925987" y="998973"/>
              <a:ext cx="1562400"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1" name="平行四辺形 40">
              <a:extLst>
                <a:ext uri="{FF2B5EF4-FFF2-40B4-BE49-F238E27FC236}">
                  <a16:creationId xmlns:a16="http://schemas.microsoft.com/office/drawing/2014/main" id="{441DDCA7-4F6F-9BE6-742D-5BFD49903D24}"/>
                </a:ext>
              </a:extLst>
            </p:cNvPr>
            <p:cNvSpPr/>
            <p:nvPr/>
          </p:nvSpPr>
          <p:spPr bwMode="auto">
            <a:xfrm>
              <a:off x="6366003" y="998973"/>
              <a:ext cx="1562400"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5" name="平行四辺形 44">
              <a:extLst>
                <a:ext uri="{FF2B5EF4-FFF2-40B4-BE49-F238E27FC236}">
                  <a16:creationId xmlns:a16="http://schemas.microsoft.com/office/drawing/2014/main" id="{783769D7-3343-11BF-E299-D562F7EB0749}"/>
                </a:ext>
              </a:extLst>
            </p:cNvPr>
            <p:cNvSpPr/>
            <p:nvPr/>
          </p:nvSpPr>
          <p:spPr bwMode="auto">
            <a:xfrm>
              <a:off x="7821892" y="998973"/>
              <a:ext cx="1584176"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7" name="平行四辺形 56">
              <a:extLst>
                <a:ext uri="{FF2B5EF4-FFF2-40B4-BE49-F238E27FC236}">
                  <a16:creationId xmlns:a16="http://schemas.microsoft.com/office/drawing/2014/main" id="{52C7BE20-935E-5B54-33C0-B54ADB7669E6}"/>
                </a:ext>
              </a:extLst>
            </p:cNvPr>
            <p:cNvSpPr/>
            <p:nvPr/>
          </p:nvSpPr>
          <p:spPr bwMode="auto">
            <a:xfrm>
              <a:off x="4925987" y="1448978"/>
              <a:ext cx="1562400"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8" name="平行四辺形 57">
              <a:extLst>
                <a:ext uri="{FF2B5EF4-FFF2-40B4-BE49-F238E27FC236}">
                  <a16:creationId xmlns:a16="http://schemas.microsoft.com/office/drawing/2014/main" id="{A79306E6-25D5-7323-C6C6-7B58DE6765A4}"/>
                </a:ext>
              </a:extLst>
            </p:cNvPr>
            <p:cNvSpPr/>
            <p:nvPr/>
          </p:nvSpPr>
          <p:spPr bwMode="auto">
            <a:xfrm>
              <a:off x="6366003" y="1448978"/>
              <a:ext cx="1562400"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9" name="平行四辺形 58">
              <a:extLst>
                <a:ext uri="{FF2B5EF4-FFF2-40B4-BE49-F238E27FC236}">
                  <a16:creationId xmlns:a16="http://schemas.microsoft.com/office/drawing/2014/main" id="{4B9C18C5-1A55-C50C-F965-AA044DA94DCB}"/>
                </a:ext>
              </a:extLst>
            </p:cNvPr>
            <p:cNvSpPr/>
            <p:nvPr/>
          </p:nvSpPr>
          <p:spPr bwMode="auto">
            <a:xfrm>
              <a:off x="7821892" y="1448978"/>
              <a:ext cx="1584176"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0" name="平行四辺形 59">
              <a:extLst>
                <a:ext uri="{FF2B5EF4-FFF2-40B4-BE49-F238E27FC236}">
                  <a16:creationId xmlns:a16="http://schemas.microsoft.com/office/drawing/2014/main" id="{DF01F2E5-4663-C890-14DD-7119EBA81BBF}"/>
                </a:ext>
              </a:extLst>
            </p:cNvPr>
            <p:cNvSpPr/>
            <p:nvPr/>
          </p:nvSpPr>
          <p:spPr bwMode="auto">
            <a:xfrm>
              <a:off x="4925987" y="1898983"/>
              <a:ext cx="1562400"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1" name="平行四辺形 60">
              <a:extLst>
                <a:ext uri="{FF2B5EF4-FFF2-40B4-BE49-F238E27FC236}">
                  <a16:creationId xmlns:a16="http://schemas.microsoft.com/office/drawing/2014/main" id="{561E4A13-64AA-E32A-ED68-6A2E61FF2E87}"/>
                </a:ext>
              </a:extLst>
            </p:cNvPr>
            <p:cNvSpPr/>
            <p:nvPr/>
          </p:nvSpPr>
          <p:spPr bwMode="auto">
            <a:xfrm>
              <a:off x="6366003" y="1898983"/>
              <a:ext cx="1562400"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3" name="平行四辺形 62">
              <a:extLst>
                <a:ext uri="{FF2B5EF4-FFF2-40B4-BE49-F238E27FC236}">
                  <a16:creationId xmlns:a16="http://schemas.microsoft.com/office/drawing/2014/main" id="{9ADE35ED-A62F-A343-9577-F805C639330D}"/>
                </a:ext>
              </a:extLst>
            </p:cNvPr>
            <p:cNvSpPr/>
            <p:nvPr/>
          </p:nvSpPr>
          <p:spPr bwMode="auto">
            <a:xfrm>
              <a:off x="7821892" y="1898983"/>
              <a:ext cx="1584176"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a:extLst>
                <a:ext uri="{FF2B5EF4-FFF2-40B4-BE49-F238E27FC236}">
                  <a16:creationId xmlns:a16="http://schemas.microsoft.com/office/drawing/2014/main" id="{079C4D60-CBD1-600F-5FDE-176B5ACDA1A3}"/>
                </a:ext>
              </a:extLst>
            </p:cNvPr>
            <p:cNvSpPr/>
            <p:nvPr/>
          </p:nvSpPr>
          <p:spPr bwMode="auto">
            <a:xfrm>
              <a:off x="4925987" y="2348988"/>
              <a:ext cx="1562400"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5" name="平行四辺形 64">
              <a:extLst>
                <a:ext uri="{FF2B5EF4-FFF2-40B4-BE49-F238E27FC236}">
                  <a16:creationId xmlns:a16="http://schemas.microsoft.com/office/drawing/2014/main" id="{DF759656-D0D2-D9C1-1088-C8C920882097}"/>
                </a:ext>
              </a:extLst>
            </p:cNvPr>
            <p:cNvSpPr/>
            <p:nvPr/>
          </p:nvSpPr>
          <p:spPr bwMode="auto">
            <a:xfrm>
              <a:off x="6366003" y="2348988"/>
              <a:ext cx="1562400"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6" name="平行四辺形 65">
              <a:extLst>
                <a:ext uri="{FF2B5EF4-FFF2-40B4-BE49-F238E27FC236}">
                  <a16:creationId xmlns:a16="http://schemas.microsoft.com/office/drawing/2014/main" id="{0D5442FC-74CD-F159-5CB6-33FBACB4077F}"/>
                </a:ext>
              </a:extLst>
            </p:cNvPr>
            <p:cNvSpPr/>
            <p:nvPr/>
          </p:nvSpPr>
          <p:spPr bwMode="auto">
            <a:xfrm>
              <a:off x="7821892" y="2348988"/>
              <a:ext cx="1584176"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7" name="平行四辺形 66">
              <a:extLst>
                <a:ext uri="{FF2B5EF4-FFF2-40B4-BE49-F238E27FC236}">
                  <a16:creationId xmlns:a16="http://schemas.microsoft.com/office/drawing/2014/main" id="{1A5C944D-7DE8-E0D9-B203-BE229EDA4554}"/>
                </a:ext>
              </a:extLst>
            </p:cNvPr>
            <p:cNvSpPr/>
            <p:nvPr/>
          </p:nvSpPr>
          <p:spPr bwMode="auto">
            <a:xfrm>
              <a:off x="4925987" y="2798993"/>
              <a:ext cx="1562400"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8" name="平行四辺形 67">
              <a:extLst>
                <a:ext uri="{FF2B5EF4-FFF2-40B4-BE49-F238E27FC236}">
                  <a16:creationId xmlns:a16="http://schemas.microsoft.com/office/drawing/2014/main" id="{F0AD6565-85EC-51C5-3DEC-01D89594D7C2}"/>
                </a:ext>
              </a:extLst>
            </p:cNvPr>
            <p:cNvSpPr/>
            <p:nvPr/>
          </p:nvSpPr>
          <p:spPr bwMode="auto">
            <a:xfrm>
              <a:off x="6366003" y="2798993"/>
              <a:ext cx="1562400"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9" name="平行四辺形 68">
              <a:extLst>
                <a:ext uri="{FF2B5EF4-FFF2-40B4-BE49-F238E27FC236}">
                  <a16:creationId xmlns:a16="http://schemas.microsoft.com/office/drawing/2014/main" id="{7029B65D-8763-3575-FEB3-4EB4789EE595}"/>
                </a:ext>
              </a:extLst>
            </p:cNvPr>
            <p:cNvSpPr/>
            <p:nvPr/>
          </p:nvSpPr>
          <p:spPr bwMode="auto">
            <a:xfrm>
              <a:off x="7821892" y="2798993"/>
              <a:ext cx="1584176"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grpSp>
      <p:sp>
        <p:nvSpPr>
          <p:cNvPr id="70" name="平行四辺形 69">
            <a:extLst>
              <a:ext uri="{FF2B5EF4-FFF2-40B4-BE49-F238E27FC236}">
                <a16:creationId xmlns:a16="http://schemas.microsoft.com/office/drawing/2014/main" id="{B9838289-0B07-CA57-13DE-8965C2A7F1A7}"/>
              </a:ext>
            </a:extLst>
          </p:cNvPr>
          <p:cNvSpPr/>
          <p:nvPr/>
        </p:nvSpPr>
        <p:spPr bwMode="auto">
          <a:xfrm>
            <a:off x="2315957" y="4779019"/>
            <a:ext cx="708426"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1" name="平行四辺形 70">
            <a:extLst>
              <a:ext uri="{FF2B5EF4-FFF2-40B4-BE49-F238E27FC236}">
                <a16:creationId xmlns:a16="http://schemas.microsoft.com/office/drawing/2014/main" id="{E9632CF2-AE50-4684-CF44-8C0D88295687}"/>
              </a:ext>
            </a:extLst>
          </p:cNvPr>
          <p:cNvSpPr/>
          <p:nvPr/>
        </p:nvSpPr>
        <p:spPr bwMode="auto">
          <a:xfrm>
            <a:off x="2968891" y="4779019"/>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3" name="平行四辺形 72">
            <a:extLst>
              <a:ext uri="{FF2B5EF4-FFF2-40B4-BE49-F238E27FC236}">
                <a16:creationId xmlns:a16="http://schemas.microsoft.com/office/drawing/2014/main" id="{F19AE7C0-EC69-4A5E-57AF-3F2146256707}"/>
              </a:ext>
            </a:extLst>
          </p:cNvPr>
          <p:cNvSpPr/>
          <p:nvPr/>
        </p:nvSpPr>
        <p:spPr bwMode="auto">
          <a:xfrm>
            <a:off x="3621826" y="4779019"/>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4" name="平行四辺形 73">
            <a:extLst>
              <a:ext uri="{FF2B5EF4-FFF2-40B4-BE49-F238E27FC236}">
                <a16:creationId xmlns:a16="http://schemas.microsoft.com/office/drawing/2014/main" id="{CC0557DE-868A-BF39-CA0E-CDF6884395EA}"/>
              </a:ext>
            </a:extLst>
          </p:cNvPr>
          <p:cNvSpPr/>
          <p:nvPr/>
        </p:nvSpPr>
        <p:spPr bwMode="auto">
          <a:xfrm>
            <a:off x="4274760" y="4779019"/>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2" name="平行四辺形 71">
            <a:extLst>
              <a:ext uri="{FF2B5EF4-FFF2-40B4-BE49-F238E27FC236}">
                <a16:creationId xmlns:a16="http://schemas.microsoft.com/office/drawing/2014/main" id="{C616A06D-97E6-876F-0CBF-7BC7DD93A875}"/>
              </a:ext>
            </a:extLst>
          </p:cNvPr>
          <p:cNvSpPr/>
          <p:nvPr/>
        </p:nvSpPr>
        <p:spPr bwMode="auto">
          <a:xfrm>
            <a:off x="4927694" y="4779019"/>
            <a:ext cx="718300"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5" name="平行四辺形 74">
            <a:extLst>
              <a:ext uri="{FF2B5EF4-FFF2-40B4-BE49-F238E27FC236}">
                <a16:creationId xmlns:a16="http://schemas.microsoft.com/office/drawing/2014/main" id="{11FCBE58-308F-E952-1E8C-FA0D5EEB259C}"/>
              </a:ext>
            </a:extLst>
          </p:cNvPr>
          <p:cNvSpPr/>
          <p:nvPr/>
        </p:nvSpPr>
        <p:spPr bwMode="auto">
          <a:xfrm>
            <a:off x="2315957" y="5229024"/>
            <a:ext cx="708426"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6" name="平行四辺形 75">
            <a:extLst>
              <a:ext uri="{FF2B5EF4-FFF2-40B4-BE49-F238E27FC236}">
                <a16:creationId xmlns:a16="http://schemas.microsoft.com/office/drawing/2014/main" id="{6562271F-EC3B-72A9-0611-8CCAEE54465D}"/>
              </a:ext>
            </a:extLst>
          </p:cNvPr>
          <p:cNvSpPr/>
          <p:nvPr/>
        </p:nvSpPr>
        <p:spPr bwMode="auto">
          <a:xfrm>
            <a:off x="2968891" y="5229024"/>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7" name="平行四辺形 76">
            <a:extLst>
              <a:ext uri="{FF2B5EF4-FFF2-40B4-BE49-F238E27FC236}">
                <a16:creationId xmlns:a16="http://schemas.microsoft.com/office/drawing/2014/main" id="{CE79CB95-2029-2467-50B5-FE8C014EEBBB}"/>
              </a:ext>
            </a:extLst>
          </p:cNvPr>
          <p:cNvSpPr/>
          <p:nvPr/>
        </p:nvSpPr>
        <p:spPr bwMode="auto">
          <a:xfrm>
            <a:off x="3621826" y="5229024"/>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8" name="平行四辺形 77">
            <a:extLst>
              <a:ext uri="{FF2B5EF4-FFF2-40B4-BE49-F238E27FC236}">
                <a16:creationId xmlns:a16="http://schemas.microsoft.com/office/drawing/2014/main" id="{A025B6C7-8C19-2018-24FF-9B12475230A6}"/>
              </a:ext>
            </a:extLst>
          </p:cNvPr>
          <p:cNvSpPr/>
          <p:nvPr/>
        </p:nvSpPr>
        <p:spPr bwMode="auto">
          <a:xfrm>
            <a:off x="4274760" y="5229024"/>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9" name="平行四辺形 78">
            <a:extLst>
              <a:ext uri="{FF2B5EF4-FFF2-40B4-BE49-F238E27FC236}">
                <a16:creationId xmlns:a16="http://schemas.microsoft.com/office/drawing/2014/main" id="{25BB8F83-C276-5684-A3E2-974E88399DFB}"/>
              </a:ext>
            </a:extLst>
          </p:cNvPr>
          <p:cNvSpPr/>
          <p:nvPr/>
        </p:nvSpPr>
        <p:spPr bwMode="auto">
          <a:xfrm>
            <a:off x="4927694" y="5229024"/>
            <a:ext cx="718300"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0" name="平行四辺形 79">
            <a:extLst>
              <a:ext uri="{FF2B5EF4-FFF2-40B4-BE49-F238E27FC236}">
                <a16:creationId xmlns:a16="http://schemas.microsoft.com/office/drawing/2014/main" id="{ABDB63CD-7ACB-3E9C-6100-85DFFFD70885}"/>
              </a:ext>
            </a:extLst>
          </p:cNvPr>
          <p:cNvSpPr/>
          <p:nvPr/>
        </p:nvSpPr>
        <p:spPr bwMode="auto">
          <a:xfrm>
            <a:off x="2315957" y="5679029"/>
            <a:ext cx="708426"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1" name="平行四辺形 80">
            <a:extLst>
              <a:ext uri="{FF2B5EF4-FFF2-40B4-BE49-F238E27FC236}">
                <a16:creationId xmlns:a16="http://schemas.microsoft.com/office/drawing/2014/main" id="{2DA569A4-5BA9-157A-7E8F-9934C1613992}"/>
              </a:ext>
            </a:extLst>
          </p:cNvPr>
          <p:cNvSpPr/>
          <p:nvPr/>
        </p:nvSpPr>
        <p:spPr bwMode="auto">
          <a:xfrm>
            <a:off x="2968891" y="5679029"/>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2" name="平行四辺形 81">
            <a:extLst>
              <a:ext uri="{FF2B5EF4-FFF2-40B4-BE49-F238E27FC236}">
                <a16:creationId xmlns:a16="http://schemas.microsoft.com/office/drawing/2014/main" id="{24197884-7410-BF63-D2C4-C8FCB9F31051}"/>
              </a:ext>
            </a:extLst>
          </p:cNvPr>
          <p:cNvSpPr/>
          <p:nvPr/>
        </p:nvSpPr>
        <p:spPr bwMode="auto">
          <a:xfrm>
            <a:off x="3621826" y="5679029"/>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3" name="平行四辺形 82">
            <a:extLst>
              <a:ext uri="{FF2B5EF4-FFF2-40B4-BE49-F238E27FC236}">
                <a16:creationId xmlns:a16="http://schemas.microsoft.com/office/drawing/2014/main" id="{F60EB6AE-78E8-0FBE-DA62-6D261C2D5329}"/>
              </a:ext>
            </a:extLst>
          </p:cNvPr>
          <p:cNvSpPr/>
          <p:nvPr/>
        </p:nvSpPr>
        <p:spPr bwMode="auto">
          <a:xfrm>
            <a:off x="4274760" y="5679029"/>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4" name="平行四辺形 83">
            <a:extLst>
              <a:ext uri="{FF2B5EF4-FFF2-40B4-BE49-F238E27FC236}">
                <a16:creationId xmlns:a16="http://schemas.microsoft.com/office/drawing/2014/main" id="{35E17676-3593-BD1C-CA03-72BAED93B750}"/>
              </a:ext>
            </a:extLst>
          </p:cNvPr>
          <p:cNvSpPr/>
          <p:nvPr/>
        </p:nvSpPr>
        <p:spPr bwMode="auto">
          <a:xfrm>
            <a:off x="4927694" y="5679029"/>
            <a:ext cx="718300"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9" name="矢印: 下 98">
            <a:extLst>
              <a:ext uri="{FF2B5EF4-FFF2-40B4-BE49-F238E27FC236}">
                <a16:creationId xmlns:a16="http://schemas.microsoft.com/office/drawing/2014/main" id="{52F6DF29-2F10-94EA-FC52-4E9B10F4282A}"/>
              </a:ext>
            </a:extLst>
          </p:cNvPr>
          <p:cNvSpPr/>
          <p:nvPr/>
        </p:nvSpPr>
        <p:spPr bwMode="auto">
          <a:xfrm>
            <a:off x="3395969" y="3879005"/>
            <a:ext cx="810009" cy="540006"/>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0" name="平行四辺形 99">
            <a:extLst>
              <a:ext uri="{FF2B5EF4-FFF2-40B4-BE49-F238E27FC236}">
                <a16:creationId xmlns:a16="http://schemas.microsoft.com/office/drawing/2014/main" id="{66DC1A6B-5FED-3FCA-A56C-C7E22F518BD8}"/>
              </a:ext>
            </a:extLst>
          </p:cNvPr>
          <p:cNvSpPr/>
          <p:nvPr/>
        </p:nvSpPr>
        <p:spPr bwMode="auto">
          <a:xfrm>
            <a:off x="965942" y="2438989"/>
            <a:ext cx="630007" cy="377997"/>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1" name="正方形/長方形 100">
            <a:extLst>
              <a:ext uri="{FF2B5EF4-FFF2-40B4-BE49-F238E27FC236}">
                <a16:creationId xmlns:a16="http://schemas.microsoft.com/office/drawing/2014/main" id="{BDBC81C0-0538-3BF8-FD69-D4BC92731B40}"/>
              </a:ext>
            </a:extLst>
          </p:cNvPr>
          <p:cNvSpPr/>
          <p:nvPr/>
        </p:nvSpPr>
        <p:spPr>
          <a:xfrm>
            <a:off x="927782" y="1700325"/>
            <a:ext cx="147817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02" name="平行四辺形 101">
            <a:extLst>
              <a:ext uri="{FF2B5EF4-FFF2-40B4-BE49-F238E27FC236}">
                <a16:creationId xmlns:a16="http://schemas.microsoft.com/office/drawing/2014/main" id="{B6D2E010-945B-3359-6C80-C2664773A6B1}"/>
              </a:ext>
            </a:extLst>
          </p:cNvPr>
          <p:cNvSpPr/>
          <p:nvPr/>
        </p:nvSpPr>
        <p:spPr bwMode="auto">
          <a:xfrm>
            <a:off x="965942" y="5229024"/>
            <a:ext cx="630007" cy="377997"/>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3" name="正方形/長方形 102">
            <a:extLst>
              <a:ext uri="{FF2B5EF4-FFF2-40B4-BE49-F238E27FC236}">
                <a16:creationId xmlns:a16="http://schemas.microsoft.com/office/drawing/2014/main" id="{730B3BB5-4E9C-1B70-56E9-6EF052722E4E}"/>
              </a:ext>
            </a:extLst>
          </p:cNvPr>
          <p:cNvSpPr/>
          <p:nvPr/>
        </p:nvSpPr>
        <p:spPr>
          <a:xfrm>
            <a:off x="927782" y="4490360"/>
            <a:ext cx="147817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04" name="テキスト プレースホルダー 2">
            <a:extLst>
              <a:ext uri="{FF2B5EF4-FFF2-40B4-BE49-F238E27FC236}">
                <a16:creationId xmlns:a16="http://schemas.microsoft.com/office/drawing/2014/main" id="{49596800-CE20-BA0B-FA72-83B69645E8EF}"/>
              </a:ext>
            </a:extLst>
          </p:cNvPr>
          <p:cNvSpPr>
            <a:spLocks noGrp="1"/>
          </p:cNvSpPr>
          <p:nvPr>
            <p:ph type="body" sz="quarter" idx="10"/>
          </p:nvPr>
        </p:nvSpPr>
        <p:spPr>
          <a:xfrm>
            <a:off x="4835986" y="1088974"/>
            <a:ext cx="7020078" cy="3060034"/>
          </a:xfrm>
        </p:spPr>
        <p:txBody>
          <a:bodyPr/>
          <a:lstStyle/>
          <a:p>
            <a:r>
              <a:rPr kumimoji="1" lang="ja-JP" altLang="en-US" dirty="0"/>
              <a:t>全体の数は変わらず，赤い部分（演算器）の数が増えている</a:t>
            </a:r>
            <a:endParaRPr kumimoji="1" lang="en-US" altLang="ja-JP" dirty="0"/>
          </a:p>
          <a:p>
            <a:pPr lvl="1"/>
            <a:r>
              <a:rPr kumimoji="1" lang="en-US" altLang="ja-JP" dirty="0"/>
              <a:t>Before: </a:t>
            </a:r>
            <a:r>
              <a:rPr kumimoji="1" lang="ja-JP" altLang="en-US" dirty="0"/>
              <a:t>洗う </a:t>
            </a:r>
            <a:r>
              <a:rPr kumimoji="1" lang="en-US" altLang="ja-JP" dirty="0">
                <a:solidFill>
                  <a:schemeClr val="accent5"/>
                </a:solidFill>
              </a:rPr>
              <a:t>or</a:t>
            </a:r>
            <a:r>
              <a:rPr kumimoji="1" lang="en-US" altLang="ja-JP" dirty="0"/>
              <a:t> </a:t>
            </a:r>
            <a:r>
              <a:rPr kumimoji="1" lang="ja-JP" altLang="en-US" dirty="0"/>
              <a:t>切る</a:t>
            </a:r>
            <a:r>
              <a:rPr lang="en-US" altLang="ja-JP" dirty="0"/>
              <a:t> </a:t>
            </a:r>
            <a:r>
              <a:rPr lang="en-US" altLang="ja-JP" dirty="0">
                <a:solidFill>
                  <a:schemeClr val="accent5"/>
                </a:solidFill>
              </a:rPr>
              <a:t>or</a:t>
            </a:r>
            <a:r>
              <a:rPr lang="en-US" altLang="ja-JP" dirty="0"/>
              <a:t> </a:t>
            </a:r>
            <a:r>
              <a:rPr lang="ja-JP" altLang="en-US" dirty="0"/>
              <a:t>炒める，が合計５つできる</a:t>
            </a:r>
            <a:br>
              <a:rPr lang="en-US" altLang="ja-JP" dirty="0"/>
            </a:br>
            <a:endParaRPr kumimoji="1" lang="en-US" altLang="ja-JP" dirty="0"/>
          </a:p>
          <a:p>
            <a:pPr lvl="1"/>
            <a:r>
              <a:rPr kumimoji="1" lang="en-US" altLang="ja-JP" dirty="0"/>
              <a:t>After: </a:t>
            </a:r>
            <a:r>
              <a:rPr kumimoji="1" lang="ja-JP" altLang="en-US" dirty="0"/>
              <a:t>洗う </a:t>
            </a:r>
            <a:r>
              <a:rPr kumimoji="1" lang="en-US" altLang="ja-JP" dirty="0">
                <a:solidFill>
                  <a:schemeClr val="accent5"/>
                </a:solidFill>
              </a:rPr>
              <a:t>and</a:t>
            </a:r>
            <a:r>
              <a:rPr kumimoji="1" lang="en-US" altLang="ja-JP" dirty="0"/>
              <a:t> </a:t>
            </a:r>
            <a:r>
              <a:rPr kumimoji="1" lang="ja-JP" altLang="en-US" dirty="0"/>
              <a:t>切る </a:t>
            </a:r>
            <a:r>
              <a:rPr kumimoji="1" lang="en-US" altLang="ja-JP" dirty="0">
                <a:solidFill>
                  <a:schemeClr val="accent5"/>
                </a:solidFill>
              </a:rPr>
              <a:t>and</a:t>
            </a:r>
            <a:r>
              <a:rPr kumimoji="1" lang="en-US" altLang="ja-JP" dirty="0"/>
              <a:t> </a:t>
            </a:r>
            <a:r>
              <a:rPr kumimoji="1" lang="ja-JP" altLang="en-US" dirty="0"/>
              <a:t>炒める，が３セットできる</a:t>
            </a:r>
            <a:endParaRPr kumimoji="1" lang="en-US" altLang="ja-JP" dirty="0"/>
          </a:p>
          <a:p>
            <a:pPr lvl="2"/>
            <a:r>
              <a:rPr kumimoji="1" lang="ja-JP" altLang="en-US" dirty="0"/>
              <a:t>炒め終わったものが３つ毎回できる</a:t>
            </a:r>
            <a:endParaRPr kumimoji="1" lang="en-US" altLang="ja-JP" dirty="0"/>
          </a:p>
          <a:p>
            <a:pPr lvl="2"/>
            <a:r>
              <a:rPr lang="ja-JP" altLang="en-US" dirty="0"/>
              <a:t>処理としては合計９つできている</a:t>
            </a:r>
            <a:endParaRPr kumimoji="1" lang="en-US" altLang="ja-JP" dirty="0"/>
          </a:p>
        </p:txBody>
      </p:sp>
      <p:sp>
        <p:nvSpPr>
          <p:cNvPr id="105" name="角丸四角形 45">
            <a:extLst>
              <a:ext uri="{FF2B5EF4-FFF2-40B4-BE49-F238E27FC236}">
                <a16:creationId xmlns:a16="http://schemas.microsoft.com/office/drawing/2014/main" id="{D2383C3E-EAD5-A59B-86B0-FC5D6C067B9C}"/>
              </a:ext>
            </a:extLst>
          </p:cNvPr>
          <p:cNvSpPr/>
          <p:nvPr/>
        </p:nvSpPr>
        <p:spPr bwMode="auto">
          <a:xfrm>
            <a:off x="3035965" y="1448978"/>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切る</a:t>
            </a:r>
          </a:p>
        </p:txBody>
      </p:sp>
      <p:sp>
        <p:nvSpPr>
          <p:cNvPr id="106" name="角丸四角形 45">
            <a:extLst>
              <a:ext uri="{FF2B5EF4-FFF2-40B4-BE49-F238E27FC236}">
                <a16:creationId xmlns:a16="http://schemas.microsoft.com/office/drawing/2014/main" id="{1C8340B6-A72B-0B2F-5F08-C8CE4E7D1E8C}"/>
              </a:ext>
            </a:extLst>
          </p:cNvPr>
          <p:cNvSpPr/>
          <p:nvPr/>
        </p:nvSpPr>
        <p:spPr bwMode="auto">
          <a:xfrm>
            <a:off x="3035965" y="1898983"/>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400" dirty="0">
                <a:solidFill>
                  <a:schemeClr val="bg1"/>
                </a:solidFill>
                <a:latin typeface="Arial Narrow" panose="020B0606020202030204" pitchFamily="34" charset="0"/>
              </a:rPr>
              <a:t>切る</a:t>
            </a:r>
          </a:p>
        </p:txBody>
      </p:sp>
      <p:sp>
        <p:nvSpPr>
          <p:cNvPr id="107" name="角丸四角形 45">
            <a:extLst>
              <a:ext uri="{FF2B5EF4-FFF2-40B4-BE49-F238E27FC236}">
                <a16:creationId xmlns:a16="http://schemas.microsoft.com/office/drawing/2014/main" id="{623DDDC8-CF27-C4D0-95A8-FD5E23985187}"/>
              </a:ext>
            </a:extLst>
          </p:cNvPr>
          <p:cNvSpPr/>
          <p:nvPr/>
        </p:nvSpPr>
        <p:spPr bwMode="auto">
          <a:xfrm>
            <a:off x="3035965" y="2348988"/>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400" dirty="0">
                <a:solidFill>
                  <a:schemeClr val="bg1"/>
                </a:solidFill>
                <a:latin typeface="Arial Narrow" panose="020B0606020202030204" pitchFamily="34" charset="0"/>
              </a:rPr>
              <a:t>切る</a:t>
            </a:r>
          </a:p>
        </p:txBody>
      </p:sp>
      <p:sp>
        <p:nvSpPr>
          <p:cNvPr id="108" name="角丸四角形 45">
            <a:extLst>
              <a:ext uri="{FF2B5EF4-FFF2-40B4-BE49-F238E27FC236}">
                <a16:creationId xmlns:a16="http://schemas.microsoft.com/office/drawing/2014/main" id="{DD41468E-E672-63C1-6ECE-BE6D161E1C6F}"/>
              </a:ext>
            </a:extLst>
          </p:cNvPr>
          <p:cNvSpPr/>
          <p:nvPr/>
        </p:nvSpPr>
        <p:spPr bwMode="auto">
          <a:xfrm>
            <a:off x="3035965" y="2798993"/>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400" dirty="0">
                <a:solidFill>
                  <a:schemeClr val="bg1"/>
                </a:solidFill>
                <a:latin typeface="Arial Narrow" panose="020B0606020202030204" pitchFamily="34" charset="0"/>
              </a:rPr>
              <a:t>切る</a:t>
            </a:r>
          </a:p>
        </p:txBody>
      </p:sp>
      <p:sp>
        <p:nvSpPr>
          <p:cNvPr id="109" name="角丸四角形 45">
            <a:extLst>
              <a:ext uri="{FF2B5EF4-FFF2-40B4-BE49-F238E27FC236}">
                <a16:creationId xmlns:a16="http://schemas.microsoft.com/office/drawing/2014/main" id="{E63424E5-1BA3-7820-983E-C0C5D540E066}"/>
              </a:ext>
            </a:extLst>
          </p:cNvPr>
          <p:cNvSpPr/>
          <p:nvPr/>
        </p:nvSpPr>
        <p:spPr bwMode="auto">
          <a:xfrm>
            <a:off x="3035965" y="3248998"/>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400" dirty="0">
                <a:solidFill>
                  <a:schemeClr val="bg1"/>
                </a:solidFill>
                <a:latin typeface="Arial Narrow" panose="020B0606020202030204" pitchFamily="34" charset="0"/>
              </a:rPr>
              <a:t>切る</a:t>
            </a:r>
          </a:p>
        </p:txBody>
      </p:sp>
      <p:sp>
        <p:nvSpPr>
          <p:cNvPr id="110" name="角丸四角形 45">
            <a:extLst>
              <a:ext uri="{FF2B5EF4-FFF2-40B4-BE49-F238E27FC236}">
                <a16:creationId xmlns:a16="http://schemas.microsoft.com/office/drawing/2014/main" id="{B30E10A3-9F87-E774-460F-E0E29CC5B2AC}"/>
              </a:ext>
            </a:extLst>
          </p:cNvPr>
          <p:cNvSpPr/>
          <p:nvPr/>
        </p:nvSpPr>
        <p:spPr bwMode="auto">
          <a:xfrm>
            <a:off x="3035965" y="4670362"/>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洗う</a:t>
            </a:r>
          </a:p>
        </p:txBody>
      </p:sp>
      <p:sp>
        <p:nvSpPr>
          <p:cNvPr id="111" name="角丸四角形 45">
            <a:extLst>
              <a:ext uri="{FF2B5EF4-FFF2-40B4-BE49-F238E27FC236}">
                <a16:creationId xmlns:a16="http://schemas.microsoft.com/office/drawing/2014/main" id="{92F236FA-4804-AE7C-3BDC-C5F9E096B8B5}"/>
              </a:ext>
            </a:extLst>
          </p:cNvPr>
          <p:cNvSpPr/>
          <p:nvPr/>
        </p:nvSpPr>
        <p:spPr bwMode="auto">
          <a:xfrm>
            <a:off x="3665972" y="4670362"/>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切る</a:t>
            </a:r>
          </a:p>
        </p:txBody>
      </p:sp>
      <p:sp>
        <p:nvSpPr>
          <p:cNvPr id="112" name="角丸四角形 45">
            <a:extLst>
              <a:ext uri="{FF2B5EF4-FFF2-40B4-BE49-F238E27FC236}">
                <a16:creationId xmlns:a16="http://schemas.microsoft.com/office/drawing/2014/main" id="{97593415-54B6-64FD-3A61-B1270C8330AB}"/>
              </a:ext>
            </a:extLst>
          </p:cNvPr>
          <p:cNvSpPr/>
          <p:nvPr/>
        </p:nvSpPr>
        <p:spPr bwMode="auto">
          <a:xfrm>
            <a:off x="4385980" y="4670362"/>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400" dirty="0">
                <a:solidFill>
                  <a:schemeClr val="bg1"/>
                </a:solidFill>
                <a:latin typeface="Arial Narrow" panose="020B0606020202030204" pitchFamily="34" charset="0"/>
              </a:rPr>
              <a:t>炒め</a:t>
            </a:r>
            <a:endParaRPr kumimoji="1" lang="ja-JP" altLang="en-US" sz="1400" dirty="0">
              <a:solidFill>
                <a:schemeClr val="bg1"/>
              </a:solidFill>
              <a:latin typeface="Arial Narrow" panose="020B0606020202030204" pitchFamily="34" charset="0"/>
            </a:endParaRPr>
          </a:p>
        </p:txBody>
      </p:sp>
      <p:sp>
        <p:nvSpPr>
          <p:cNvPr id="113" name="角丸四角形 45">
            <a:extLst>
              <a:ext uri="{FF2B5EF4-FFF2-40B4-BE49-F238E27FC236}">
                <a16:creationId xmlns:a16="http://schemas.microsoft.com/office/drawing/2014/main" id="{290C73E7-3FE2-4D64-DD76-E66F5A37CCF0}"/>
              </a:ext>
            </a:extLst>
          </p:cNvPr>
          <p:cNvSpPr/>
          <p:nvPr/>
        </p:nvSpPr>
        <p:spPr bwMode="auto">
          <a:xfrm>
            <a:off x="3035965" y="5210368"/>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洗う</a:t>
            </a:r>
          </a:p>
        </p:txBody>
      </p:sp>
      <p:sp>
        <p:nvSpPr>
          <p:cNvPr id="114" name="角丸四角形 45">
            <a:extLst>
              <a:ext uri="{FF2B5EF4-FFF2-40B4-BE49-F238E27FC236}">
                <a16:creationId xmlns:a16="http://schemas.microsoft.com/office/drawing/2014/main" id="{12C0922B-8A80-B6DB-C843-36E832E0EF97}"/>
              </a:ext>
            </a:extLst>
          </p:cNvPr>
          <p:cNvSpPr/>
          <p:nvPr/>
        </p:nvSpPr>
        <p:spPr bwMode="auto">
          <a:xfrm>
            <a:off x="3665972" y="5210368"/>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切る</a:t>
            </a:r>
          </a:p>
        </p:txBody>
      </p:sp>
      <p:sp>
        <p:nvSpPr>
          <p:cNvPr id="115" name="角丸四角形 45">
            <a:extLst>
              <a:ext uri="{FF2B5EF4-FFF2-40B4-BE49-F238E27FC236}">
                <a16:creationId xmlns:a16="http://schemas.microsoft.com/office/drawing/2014/main" id="{25211BF2-B175-A37F-DF23-B97424D0116E}"/>
              </a:ext>
            </a:extLst>
          </p:cNvPr>
          <p:cNvSpPr/>
          <p:nvPr/>
        </p:nvSpPr>
        <p:spPr bwMode="auto">
          <a:xfrm>
            <a:off x="4385980" y="5210368"/>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400" dirty="0">
                <a:solidFill>
                  <a:schemeClr val="bg1"/>
                </a:solidFill>
                <a:latin typeface="Arial Narrow" panose="020B0606020202030204" pitchFamily="34" charset="0"/>
              </a:rPr>
              <a:t>炒め</a:t>
            </a:r>
            <a:endParaRPr kumimoji="1" lang="ja-JP" altLang="en-US" sz="1400" dirty="0">
              <a:solidFill>
                <a:schemeClr val="bg1"/>
              </a:solidFill>
              <a:latin typeface="Arial Narrow" panose="020B0606020202030204" pitchFamily="34" charset="0"/>
            </a:endParaRPr>
          </a:p>
        </p:txBody>
      </p:sp>
      <p:sp>
        <p:nvSpPr>
          <p:cNvPr id="116" name="角丸四角形 45">
            <a:extLst>
              <a:ext uri="{FF2B5EF4-FFF2-40B4-BE49-F238E27FC236}">
                <a16:creationId xmlns:a16="http://schemas.microsoft.com/office/drawing/2014/main" id="{CA20D886-EF09-21A9-E317-FB617FCE89BF}"/>
              </a:ext>
            </a:extLst>
          </p:cNvPr>
          <p:cNvSpPr/>
          <p:nvPr/>
        </p:nvSpPr>
        <p:spPr bwMode="auto">
          <a:xfrm>
            <a:off x="3035965" y="5660373"/>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洗う</a:t>
            </a:r>
          </a:p>
        </p:txBody>
      </p:sp>
      <p:sp>
        <p:nvSpPr>
          <p:cNvPr id="117" name="角丸四角形 45">
            <a:extLst>
              <a:ext uri="{FF2B5EF4-FFF2-40B4-BE49-F238E27FC236}">
                <a16:creationId xmlns:a16="http://schemas.microsoft.com/office/drawing/2014/main" id="{EC911D82-50D5-C68D-410B-835CE54010B6}"/>
              </a:ext>
            </a:extLst>
          </p:cNvPr>
          <p:cNvSpPr/>
          <p:nvPr/>
        </p:nvSpPr>
        <p:spPr bwMode="auto">
          <a:xfrm>
            <a:off x="3665972" y="5660373"/>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切る</a:t>
            </a:r>
          </a:p>
        </p:txBody>
      </p:sp>
      <p:sp>
        <p:nvSpPr>
          <p:cNvPr id="118" name="角丸四角形 45">
            <a:extLst>
              <a:ext uri="{FF2B5EF4-FFF2-40B4-BE49-F238E27FC236}">
                <a16:creationId xmlns:a16="http://schemas.microsoft.com/office/drawing/2014/main" id="{61B57189-2255-2D54-1552-CBFA63D54701}"/>
              </a:ext>
            </a:extLst>
          </p:cNvPr>
          <p:cNvSpPr/>
          <p:nvPr/>
        </p:nvSpPr>
        <p:spPr bwMode="auto">
          <a:xfrm>
            <a:off x="4385980" y="5660373"/>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400" dirty="0">
                <a:solidFill>
                  <a:schemeClr val="bg1"/>
                </a:solidFill>
                <a:latin typeface="Arial Narrow" panose="020B0606020202030204" pitchFamily="34" charset="0"/>
              </a:rPr>
              <a:t>炒め</a:t>
            </a:r>
            <a:endParaRPr kumimoji="1" lang="ja-JP" altLang="en-US" sz="14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37815860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722BBD-DCD5-B681-6657-AC83E1B48FF5}"/>
              </a:ext>
            </a:extLst>
          </p:cNvPr>
          <p:cNvSpPr>
            <a:spLocks noGrp="1"/>
          </p:cNvSpPr>
          <p:nvPr>
            <p:ph type="title"/>
          </p:nvPr>
        </p:nvSpPr>
        <p:spPr/>
        <p:txBody>
          <a:bodyPr/>
          <a:lstStyle/>
          <a:p>
            <a:r>
              <a:rPr kumimoji="1" lang="ja-JP" altLang="en-US" dirty="0"/>
              <a:t>行列積の場合：シストリックアレイ</a:t>
            </a:r>
          </a:p>
        </p:txBody>
      </p:sp>
      <p:sp>
        <p:nvSpPr>
          <p:cNvPr id="3" name="テキスト プレースホルダー 2">
            <a:extLst>
              <a:ext uri="{FF2B5EF4-FFF2-40B4-BE49-F238E27FC236}">
                <a16:creationId xmlns:a16="http://schemas.microsoft.com/office/drawing/2014/main" id="{A15CE67C-D6AD-8BA4-76E2-AA2776A467CA}"/>
              </a:ext>
            </a:extLst>
          </p:cNvPr>
          <p:cNvSpPr>
            <a:spLocks noGrp="1"/>
          </p:cNvSpPr>
          <p:nvPr>
            <p:ph type="body" sz="quarter" idx="10"/>
          </p:nvPr>
        </p:nvSpPr>
        <p:spPr>
          <a:xfrm>
            <a:off x="1415948" y="6129030"/>
            <a:ext cx="9540106" cy="450005"/>
          </a:xfrm>
        </p:spPr>
        <p:txBody>
          <a:bodyPr/>
          <a:lstStyle/>
          <a:p>
            <a:pPr lvl="1"/>
            <a:r>
              <a:rPr kumimoji="1" lang="ja-JP" altLang="en-US" dirty="0"/>
              <a:t>上から来た </a:t>
            </a:r>
            <a:r>
              <a:rPr kumimoji="1" lang="en-US" altLang="ja-JP" dirty="0"/>
              <a:t>Input </a:t>
            </a:r>
            <a:r>
              <a:rPr kumimoji="1" lang="ja-JP" altLang="en-US" dirty="0"/>
              <a:t>に </a:t>
            </a:r>
            <a:r>
              <a:rPr kumimoji="1" lang="en-US" altLang="ja-JP" dirty="0"/>
              <a:t>Weight </a:t>
            </a:r>
            <a:r>
              <a:rPr kumimoji="1" lang="ja-JP" altLang="en-US" dirty="0"/>
              <a:t>をかけ</a:t>
            </a:r>
            <a:r>
              <a:rPr lang="ja-JP" altLang="en-US" dirty="0"/>
              <a:t>て，左から来たものに足し，右に流す</a:t>
            </a:r>
            <a:endParaRPr lang="en-US" altLang="ja-JP" dirty="0"/>
          </a:p>
          <a:p>
            <a:pPr lvl="1"/>
            <a:r>
              <a:rPr kumimoji="1" lang="ja-JP" altLang="en-US" dirty="0"/>
              <a:t>右端からドット積の結果がでてくる</a:t>
            </a:r>
          </a:p>
        </p:txBody>
      </p:sp>
      <p:sp>
        <p:nvSpPr>
          <p:cNvPr id="4" name="AutoShape 5">
            <a:extLst>
              <a:ext uri="{FF2B5EF4-FFF2-40B4-BE49-F238E27FC236}">
                <a16:creationId xmlns:a16="http://schemas.microsoft.com/office/drawing/2014/main" id="{151A6C9D-EC82-D462-3530-2810F944758E}"/>
              </a:ext>
            </a:extLst>
          </p:cNvPr>
          <p:cNvSpPr>
            <a:spLocks noChangeArrowheads="1"/>
          </p:cNvSpPr>
          <p:nvPr/>
        </p:nvSpPr>
        <p:spPr bwMode="auto">
          <a:xfrm rot="16200000">
            <a:off x="5267980" y="2006995"/>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AutoShape 5">
            <a:extLst>
              <a:ext uri="{FF2B5EF4-FFF2-40B4-BE49-F238E27FC236}">
                <a16:creationId xmlns:a16="http://schemas.microsoft.com/office/drawing/2014/main" id="{0E4A12A2-4CAD-045D-8AD6-31BBF6E23FB1}"/>
              </a:ext>
            </a:extLst>
          </p:cNvPr>
          <p:cNvSpPr>
            <a:spLocks noChangeArrowheads="1"/>
          </p:cNvSpPr>
          <p:nvPr/>
        </p:nvSpPr>
        <p:spPr bwMode="auto">
          <a:xfrm rot="16200000">
            <a:off x="7994722" y="2006995"/>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AutoShape 5">
            <a:extLst>
              <a:ext uri="{FF2B5EF4-FFF2-40B4-BE49-F238E27FC236}">
                <a16:creationId xmlns:a16="http://schemas.microsoft.com/office/drawing/2014/main" id="{D2516DC0-A729-6AF1-01C6-45264CF1C60F}"/>
              </a:ext>
            </a:extLst>
          </p:cNvPr>
          <p:cNvSpPr>
            <a:spLocks noChangeArrowheads="1"/>
          </p:cNvSpPr>
          <p:nvPr/>
        </p:nvSpPr>
        <p:spPr bwMode="auto">
          <a:xfrm rot="16200000">
            <a:off x="2387948" y="2006995"/>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11" name="正方形/長方形 10">
            <a:extLst>
              <a:ext uri="{FF2B5EF4-FFF2-40B4-BE49-F238E27FC236}">
                <a16:creationId xmlns:a16="http://schemas.microsoft.com/office/drawing/2014/main" id="{ADC2AC41-4900-1248-8A34-85A94F5E18F6}"/>
              </a:ext>
            </a:extLst>
          </p:cNvPr>
          <p:cNvSpPr/>
          <p:nvPr/>
        </p:nvSpPr>
        <p:spPr bwMode="auto">
          <a:xfrm>
            <a:off x="2495960" y="2708992"/>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重み </a:t>
            </a:r>
            <a:r>
              <a:rPr lang="en-US" altLang="ja-JP" sz="1600" dirty="0">
                <a:solidFill>
                  <a:schemeClr val="tx1">
                    <a:lumMod val="75000"/>
                    <a:lumOff val="25000"/>
                  </a:schemeClr>
                </a:solidFill>
              </a:rPr>
              <a:t>W0</a:t>
            </a:r>
            <a:endParaRPr lang="ja-JP" altLang="en-US" sz="1600" dirty="0">
              <a:solidFill>
                <a:schemeClr val="tx1">
                  <a:lumMod val="75000"/>
                  <a:lumOff val="25000"/>
                </a:schemeClr>
              </a:solidFill>
            </a:endParaRPr>
          </a:p>
        </p:txBody>
      </p:sp>
      <p:sp>
        <p:nvSpPr>
          <p:cNvPr id="12" name="正方形/長方形 11">
            <a:extLst>
              <a:ext uri="{FF2B5EF4-FFF2-40B4-BE49-F238E27FC236}">
                <a16:creationId xmlns:a16="http://schemas.microsoft.com/office/drawing/2014/main" id="{51BE2CCD-177C-2D71-3BA3-E81AD6FE53A5}"/>
              </a:ext>
            </a:extLst>
          </p:cNvPr>
          <p:cNvSpPr/>
          <p:nvPr/>
        </p:nvSpPr>
        <p:spPr bwMode="auto">
          <a:xfrm>
            <a:off x="5344491" y="2708992"/>
            <a:ext cx="693008"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重み </a:t>
            </a:r>
            <a:r>
              <a:rPr lang="en-US" altLang="ja-JP" sz="1600" dirty="0">
                <a:solidFill>
                  <a:schemeClr val="tx1">
                    <a:lumMod val="75000"/>
                    <a:lumOff val="25000"/>
                  </a:schemeClr>
                </a:solidFill>
              </a:rPr>
              <a:t>W1</a:t>
            </a:r>
            <a:endParaRPr lang="ja-JP" altLang="en-US" sz="1600" dirty="0">
              <a:solidFill>
                <a:schemeClr val="tx1">
                  <a:lumMod val="75000"/>
                  <a:lumOff val="25000"/>
                </a:schemeClr>
              </a:solidFill>
            </a:endParaRPr>
          </a:p>
        </p:txBody>
      </p:sp>
      <p:sp>
        <p:nvSpPr>
          <p:cNvPr id="13" name="正方形/長方形 12">
            <a:extLst>
              <a:ext uri="{FF2B5EF4-FFF2-40B4-BE49-F238E27FC236}">
                <a16:creationId xmlns:a16="http://schemas.microsoft.com/office/drawing/2014/main" id="{26D701F4-B422-A6B7-DC51-511FAFFB1E80}"/>
              </a:ext>
            </a:extLst>
          </p:cNvPr>
          <p:cNvSpPr/>
          <p:nvPr/>
        </p:nvSpPr>
        <p:spPr bwMode="auto">
          <a:xfrm>
            <a:off x="8103022" y="2690999"/>
            <a:ext cx="693008"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重み </a:t>
            </a:r>
            <a:r>
              <a:rPr lang="en-US" altLang="ja-JP" sz="1600" dirty="0">
                <a:solidFill>
                  <a:schemeClr val="tx1">
                    <a:lumMod val="75000"/>
                    <a:lumOff val="25000"/>
                  </a:schemeClr>
                </a:solidFill>
              </a:rPr>
              <a:t>W2</a:t>
            </a:r>
            <a:endParaRPr lang="ja-JP" altLang="en-US" sz="1600" dirty="0">
              <a:solidFill>
                <a:schemeClr val="tx1">
                  <a:lumMod val="75000"/>
                  <a:lumOff val="25000"/>
                </a:schemeClr>
              </a:solidFill>
            </a:endParaRPr>
          </a:p>
        </p:txBody>
      </p:sp>
      <p:sp>
        <p:nvSpPr>
          <p:cNvPr id="14" name="四角形: 角を丸くする 13">
            <a:extLst>
              <a:ext uri="{FF2B5EF4-FFF2-40B4-BE49-F238E27FC236}">
                <a16:creationId xmlns:a16="http://schemas.microsoft.com/office/drawing/2014/main" id="{67813A88-D9FA-8D0E-FBB4-3E237A95935A}"/>
              </a:ext>
            </a:extLst>
          </p:cNvPr>
          <p:cNvSpPr/>
          <p:nvPr/>
        </p:nvSpPr>
        <p:spPr bwMode="auto">
          <a:xfrm>
            <a:off x="2495960" y="908972"/>
            <a:ext cx="720008"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In0</a:t>
            </a:r>
            <a:endParaRPr kumimoji="1" lang="ja-JP" altLang="en-US" dirty="0">
              <a:solidFill>
                <a:schemeClr val="tx1">
                  <a:lumMod val="75000"/>
                  <a:lumOff val="25000"/>
                </a:schemeClr>
              </a:solidFill>
              <a:latin typeface="+mn-ea"/>
            </a:endParaRPr>
          </a:p>
        </p:txBody>
      </p:sp>
      <p:sp>
        <p:nvSpPr>
          <p:cNvPr id="15" name="四角形: 角を丸くする 14">
            <a:extLst>
              <a:ext uri="{FF2B5EF4-FFF2-40B4-BE49-F238E27FC236}">
                <a16:creationId xmlns:a16="http://schemas.microsoft.com/office/drawing/2014/main" id="{7205633C-FCC1-0F97-2AAB-7CD1E9819390}"/>
              </a:ext>
            </a:extLst>
          </p:cNvPr>
          <p:cNvSpPr/>
          <p:nvPr/>
        </p:nvSpPr>
        <p:spPr bwMode="auto">
          <a:xfrm>
            <a:off x="1145945" y="2078985"/>
            <a:ext cx="720008"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0</a:t>
            </a:r>
            <a:endParaRPr kumimoji="1" lang="ja-JP" altLang="en-US" dirty="0">
              <a:solidFill>
                <a:schemeClr val="tx1">
                  <a:lumMod val="75000"/>
                  <a:lumOff val="25000"/>
                </a:schemeClr>
              </a:solidFill>
              <a:latin typeface="+mn-ea"/>
            </a:endParaRPr>
          </a:p>
        </p:txBody>
      </p:sp>
      <p:sp>
        <p:nvSpPr>
          <p:cNvPr id="16" name="矢印: 右 15">
            <a:extLst>
              <a:ext uri="{FF2B5EF4-FFF2-40B4-BE49-F238E27FC236}">
                <a16:creationId xmlns:a16="http://schemas.microsoft.com/office/drawing/2014/main" id="{98A6A592-8733-293A-C3B4-79125DE729A0}"/>
              </a:ext>
            </a:extLst>
          </p:cNvPr>
          <p:cNvSpPr/>
          <p:nvPr/>
        </p:nvSpPr>
        <p:spPr bwMode="auto">
          <a:xfrm rot="5400000">
            <a:off x="2630961" y="1493979"/>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 name="四角形: 角を丸くする 17">
            <a:extLst>
              <a:ext uri="{FF2B5EF4-FFF2-40B4-BE49-F238E27FC236}">
                <a16:creationId xmlns:a16="http://schemas.microsoft.com/office/drawing/2014/main" id="{8FF24FEE-5A62-C12F-5276-5F30589B29B0}"/>
              </a:ext>
            </a:extLst>
          </p:cNvPr>
          <p:cNvSpPr/>
          <p:nvPr/>
        </p:nvSpPr>
        <p:spPr bwMode="auto">
          <a:xfrm>
            <a:off x="3755974" y="2078985"/>
            <a:ext cx="1080012"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In0*W0</a:t>
            </a:r>
            <a:endParaRPr kumimoji="1" lang="ja-JP" altLang="en-US" dirty="0">
              <a:solidFill>
                <a:schemeClr val="tx1">
                  <a:lumMod val="75000"/>
                  <a:lumOff val="25000"/>
                </a:schemeClr>
              </a:solidFill>
              <a:latin typeface="+mn-ea"/>
            </a:endParaRPr>
          </a:p>
        </p:txBody>
      </p:sp>
      <p:sp>
        <p:nvSpPr>
          <p:cNvPr id="19" name="矢印: 右 18">
            <a:extLst>
              <a:ext uri="{FF2B5EF4-FFF2-40B4-BE49-F238E27FC236}">
                <a16:creationId xmlns:a16="http://schemas.microsoft.com/office/drawing/2014/main" id="{5112B6DE-6001-4C5D-534E-A5B1E36DE889}"/>
              </a:ext>
            </a:extLst>
          </p:cNvPr>
          <p:cNvSpPr/>
          <p:nvPr/>
        </p:nvSpPr>
        <p:spPr bwMode="auto">
          <a:xfrm>
            <a:off x="2045955" y="2078985"/>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矢印: 右 19">
            <a:extLst>
              <a:ext uri="{FF2B5EF4-FFF2-40B4-BE49-F238E27FC236}">
                <a16:creationId xmlns:a16="http://schemas.microsoft.com/office/drawing/2014/main" id="{DDD4AC0C-082B-32E8-6B18-CACAECAC6EB7}"/>
              </a:ext>
            </a:extLst>
          </p:cNvPr>
          <p:cNvSpPr/>
          <p:nvPr/>
        </p:nvSpPr>
        <p:spPr bwMode="auto">
          <a:xfrm>
            <a:off x="3305969" y="2078985"/>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4" name="AutoShape 5">
            <a:extLst>
              <a:ext uri="{FF2B5EF4-FFF2-40B4-BE49-F238E27FC236}">
                <a16:creationId xmlns:a16="http://schemas.microsoft.com/office/drawing/2014/main" id="{61A30055-B6E2-F93E-6F5C-43BAF0926F69}"/>
              </a:ext>
            </a:extLst>
          </p:cNvPr>
          <p:cNvSpPr>
            <a:spLocks noChangeArrowheads="1"/>
          </p:cNvSpPr>
          <p:nvPr/>
        </p:nvSpPr>
        <p:spPr bwMode="auto">
          <a:xfrm rot="16200000">
            <a:off x="5267980" y="4617024"/>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5" name="AutoShape 5">
            <a:extLst>
              <a:ext uri="{FF2B5EF4-FFF2-40B4-BE49-F238E27FC236}">
                <a16:creationId xmlns:a16="http://schemas.microsoft.com/office/drawing/2014/main" id="{8BC22576-D052-A357-F1E0-5EB4F5C9E3F6}"/>
              </a:ext>
            </a:extLst>
          </p:cNvPr>
          <p:cNvSpPr>
            <a:spLocks noChangeArrowheads="1"/>
          </p:cNvSpPr>
          <p:nvPr/>
        </p:nvSpPr>
        <p:spPr bwMode="auto">
          <a:xfrm rot="16200000">
            <a:off x="7994722" y="4617024"/>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26" name="AutoShape 5">
            <a:extLst>
              <a:ext uri="{FF2B5EF4-FFF2-40B4-BE49-F238E27FC236}">
                <a16:creationId xmlns:a16="http://schemas.microsoft.com/office/drawing/2014/main" id="{AFD8FA98-ABD2-B4AB-B650-574ECA417B65}"/>
              </a:ext>
            </a:extLst>
          </p:cNvPr>
          <p:cNvSpPr>
            <a:spLocks noChangeArrowheads="1"/>
          </p:cNvSpPr>
          <p:nvPr/>
        </p:nvSpPr>
        <p:spPr bwMode="auto">
          <a:xfrm rot="16200000">
            <a:off x="2387948" y="4617024"/>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27" name="正方形/長方形 26">
            <a:extLst>
              <a:ext uri="{FF2B5EF4-FFF2-40B4-BE49-F238E27FC236}">
                <a16:creationId xmlns:a16="http://schemas.microsoft.com/office/drawing/2014/main" id="{29FD1BAF-E120-25A1-A087-83D5275F344F}"/>
              </a:ext>
            </a:extLst>
          </p:cNvPr>
          <p:cNvSpPr/>
          <p:nvPr/>
        </p:nvSpPr>
        <p:spPr bwMode="auto">
          <a:xfrm>
            <a:off x="2495960" y="5319021"/>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重み </a:t>
            </a:r>
            <a:r>
              <a:rPr lang="en-US" altLang="ja-JP" sz="1600" dirty="0">
                <a:solidFill>
                  <a:schemeClr val="tx1">
                    <a:lumMod val="75000"/>
                    <a:lumOff val="25000"/>
                  </a:schemeClr>
                </a:solidFill>
              </a:rPr>
              <a:t>W0</a:t>
            </a:r>
            <a:endParaRPr lang="ja-JP" altLang="en-US" sz="1600" dirty="0">
              <a:solidFill>
                <a:schemeClr val="tx1">
                  <a:lumMod val="75000"/>
                  <a:lumOff val="25000"/>
                </a:schemeClr>
              </a:solidFill>
            </a:endParaRPr>
          </a:p>
        </p:txBody>
      </p:sp>
      <p:sp>
        <p:nvSpPr>
          <p:cNvPr id="28" name="正方形/長方形 27">
            <a:extLst>
              <a:ext uri="{FF2B5EF4-FFF2-40B4-BE49-F238E27FC236}">
                <a16:creationId xmlns:a16="http://schemas.microsoft.com/office/drawing/2014/main" id="{941F918A-4460-9247-5A05-2EADD9964116}"/>
              </a:ext>
            </a:extLst>
          </p:cNvPr>
          <p:cNvSpPr/>
          <p:nvPr/>
        </p:nvSpPr>
        <p:spPr bwMode="auto">
          <a:xfrm>
            <a:off x="5344491" y="5319021"/>
            <a:ext cx="693008"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重み </a:t>
            </a:r>
            <a:r>
              <a:rPr lang="en-US" altLang="ja-JP" sz="1600" dirty="0">
                <a:solidFill>
                  <a:schemeClr val="tx1">
                    <a:lumMod val="75000"/>
                    <a:lumOff val="25000"/>
                  </a:schemeClr>
                </a:solidFill>
              </a:rPr>
              <a:t>W1</a:t>
            </a:r>
            <a:endParaRPr lang="ja-JP" altLang="en-US" sz="1600" dirty="0">
              <a:solidFill>
                <a:schemeClr val="tx1">
                  <a:lumMod val="75000"/>
                  <a:lumOff val="25000"/>
                </a:schemeClr>
              </a:solidFill>
            </a:endParaRPr>
          </a:p>
        </p:txBody>
      </p:sp>
      <p:sp>
        <p:nvSpPr>
          <p:cNvPr id="29" name="正方形/長方形 28">
            <a:extLst>
              <a:ext uri="{FF2B5EF4-FFF2-40B4-BE49-F238E27FC236}">
                <a16:creationId xmlns:a16="http://schemas.microsoft.com/office/drawing/2014/main" id="{6004D0E0-B712-AFD5-AA7A-E8B2C46B0AE6}"/>
              </a:ext>
            </a:extLst>
          </p:cNvPr>
          <p:cNvSpPr/>
          <p:nvPr/>
        </p:nvSpPr>
        <p:spPr bwMode="auto">
          <a:xfrm>
            <a:off x="8103022" y="5301028"/>
            <a:ext cx="693008"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重み </a:t>
            </a:r>
            <a:r>
              <a:rPr lang="en-US" altLang="ja-JP" sz="1600" dirty="0">
                <a:solidFill>
                  <a:schemeClr val="tx1">
                    <a:lumMod val="75000"/>
                    <a:lumOff val="25000"/>
                  </a:schemeClr>
                </a:solidFill>
              </a:rPr>
              <a:t>W2</a:t>
            </a:r>
            <a:endParaRPr lang="ja-JP" altLang="en-US" sz="1600" dirty="0">
              <a:solidFill>
                <a:schemeClr val="tx1">
                  <a:lumMod val="75000"/>
                  <a:lumOff val="25000"/>
                </a:schemeClr>
              </a:solidFill>
            </a:endParaRPr>
          </a:p>
        </p:txBody>
      </p:sp>
      <p:sp>
        <p:nvSpPr>
          <p:cNvPr id="33" name="四角形: 角を丸くする 32">
            <a:extLst>
              <a:ext uri="{FF2B5EF4-FFF2-40B4-BE49-F238E27FC236}">
                <a16:creationId xmlns:a16="http://schemas.microsoft.com/office/drawing/2014/main" id="{11D733BB-F256-1952-855F-EC2CDA0DAC9A}"/>
              </a:ext>
            </a:extLst>
          </p:cNvPr>
          <p:cNvSpPr/>
          <p:nvPr/>
        </p:nvSpPr>
        <p:spPr bwMode="auto">
          <a:xfrm>
            <a:off x="3755974" y="4689014"/>
            <a:ext cx="1080012"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In0*W0</a:t>
            </a:r>
            <a:endParaRPr kumimoji="1" lang="ja-JP" altLang="en-US" dirty="0">
              <a:solidFill>
                <a:schemeClr val="tx1">
                  <a:lumMod val="75000"/>
                  <a:lumOff val="25000"/>
                </a:schemeClr>
              </a:solidFill>
              <a:latin typeface="+mn-ea"/>
            </a:endParaRPr>
          </a:p>
        </p:txBody>
      </p:sp>
      <p:sp>
        <p:nvSpPr>
          <p:cNvPr id="36" name="矢印: 右 35">
            <a:extLst>
              <a:ext uri="{FF2B5EF4-FFF2-40B4-BE49-F238E27FC236}">
                <a16:creationId xmlns:a16="http://schemas.microsoft.com/office/drawing/2014/main" id="{B50BD6A0-FFDD-EC14-7989-96CDA760F199}"/>
              </a:ext>
            </a:extLst>
          </p:cNvPr>
          <p:cNvSpPr/>
          <p:nvPr/>
        </p:nvSpPr>
        <p:spPr bwMode="auto">
          <a:xfrm>
            <a:off x="4925987" y="4689014"/>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7" name="四角形: 角を丸くする 36">
            <a:extLst>
              <a:ext uri="{FF2B5EF4-FFF2-40B4-BE49-F238E27FC236}">
                <a16:creationId xmlns:a16="http://schemas.microsoft.com/office/drawing/2014/main" id="{EE1AD627-9B63-C290-75AA-A7C698E0CA12}"/>
              </a:ext>
            </a:extLst>
          </p:cNvPr>
          <p:cNvSpPr/>
          <p:nvPr/>
        </p:nvSpPr>
        <p:spPr bwMode="auto">
          <a:xfrm>
            <a:off x="5465993" y="3519001"/>
            <a:ext cx="720008"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In1</a:t>
            </a:r>
            <a:endParaRPr kumimoji="1" lang="ja-JP" altLang="en-US" dirty="0">
              <a:solidFill>
                <a:schemeClr val="tx1">
                  <a:lumMod val="75000"/>
                  <a:lumOff val="25000"/>
                </a:schemeClr>
              </a:solidFill>
              <a:latin typeface="+mn-ea"/>
            </a:endParaRPr>
          </a:p>
        </p:txBody>
      </p:sp>
      <p:sp>
        <p:nvSpPr>
          <p:cNvPr id="38" name="矢印: 右 37">
            <a:extLst>
              <a:ext uri="{FF2B5EF4-FFF2-40B4-BE49-F238E27FC236}">
                <a16:creationId xmlns:a16="http://schemas.microsoft.com/office/drawing/2014/main" id="{BDFB74D9-7B4A-B586-3AC4-E084A1DF7403}"/>
              </a:ext>
            </a:extLst>
          </p:cNvPr>
          <p:cNvSpPr/>
          <p:nvPr/>
        </p:nvSpPr>
        <p:spPr bwMode="auto">
          <a:xfrm rot="5400000">
            <a:off x="5600994" y="4104008"/>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40" name="直線コネクタ 39">
            <a:extLst>
              <a:ext uri="{FF2B5EF4-FFF2-40B4-BE49-F238E27FC236}">
                <a16:creationId xmlns:a16="http://schemas.microsoft.com/office/drawing/2014/main" id="{BA602D42-60B1-0D35-67B3-F0AAFC493AF8}"/>
              </a:ext>
            </a:extLst>
          </p:cNvPr>
          <p:cNvCxnSpPr/>
          <p:nvPr/>
        </p:nvCxnSpPr>
        <p:spPr bwMode="auto">
          <a:xfrm flipV="1">
            <a:off x="785941" y="3338999"/>
            <a:ext cx="10890121" cy="90001"/>
          </a:xfrm>
          <a:prstGeom prst="line">
            <a:avLst/>
          </a:prstGeom>
          <a:noFill/>
          <a:ln w="9525" cap="flat" cmpd="sng" algn="ctr">
            <a:solidFill>
              <a:schemeClr val="tx1"/>
            </a:solidFill>
            <a:prstDash val="solid"/>
            <a:round/>
            <a:headEnd type="none" w="med" len="med"/>
            <a:tailEnd type="none" w="med" len="med"/>
          </a:ln>
          <a:effectLst/>
        </p:spPr>
      </p:cxnSp>
      <p:sp>
        <p:nvSpPr>
          <p:cNvPr id="41" name="四角形: 角を丸くする 40">
            <a:extLst>
              <a:ext uri="{FF2B5EF4-FFF2-40B4-BE49-F238E27FC236}">
                <a16:creationId xmlns:a16="http://schemas.microsoft.com/office/drawing/2014/main" id="{3979E425-FA7A-C130-9FCD-E6E0F8980189}"/>
              </a:ext>
            </a:extLst>
          </p:cNvPr>
          <p:cNvSpPr/>
          <p:nvPr/>
        </p:nvSpPr>
        <p:spPr bwMode="auto">
          <a:xfrm>
            <a:off x="6456004" y="4689014"/>
            <a:ext cx="1260014"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tx1">
                    <a:lumMod val="75000"/>
                    <a:lumOff val="25000"/>
                  </a:schemeClr>
                </a:solidFill>
                <a:latin typeface="+mn-ea"/>
              </a:rPr>
              <a:t>In0*W0</a:t>
            </a:r>
            <a:r>
              <a:rPr lang="ja-JP" altLang="en-US" dirty="0">
                <a:solidFill>
                  <a:schemeClr val="tx1">
                    <a:lumMod val="75000"/>
                    <a:lumOff val="25000"/>
                  </a:schemeClr>
                </a:solidFill>
                <a:latin typeface="+mn-ea"/>
              </a:rPr>
              <a:t>＋</a:t>
            </a:r>
            <a:endParaRPr lang="en-US" altLang="ja-JP" dirty="0">
              <a:solidFill>
                <a:schemeClr val="tx1">
                  <a:lumMod val="75000"/>
                  <a:lumOff val="25000"/>
                </a:schemeClr>
              </a:solidFill>
              <a:latin typeface="+mn-ea"/>
            </a:endParaRPr>
          </a:p>
          <a:p>
            <a:r>
              <a:rPr kumimoji="1" lang="en-US" altLang="ja-JP" dirty="0">
                <a:solidFill>
                  <a:schemeClr val="tx1">
                    <a:lumMod val="75000"/>
                    <a:lumOff val="25000"/>
                  </a:schemeClr>
                </a:solidFill>
                <a:latin typeface="+mn-ea"/>
              </a:rPr>
              <a:t>In1*W1</a:t>
            </a:r>
            <a:endParaRPr kumimoji="1" lang="ja-JP" altLang="en-US" dirty="0">
              <a:solidFill>
                <a:schemeClr val="tx1">
                  <a:lumMod val="75000"/>
                  <a:lumOff val="25000"/>
                </a:schemeClr>
              </a:solidFill>
              <a:latin typeface="+mn-ea"/>
            </a:endParaRPr>
          </a:p>
        </p:txBody>
      </p:sp>
      <p:sp>
        <p:nvSpPr>
          <p:cNvPr id="42" name="矢印: 右 41">
            <a:extLst>
              <a:ext uri="{FF2B5EF4-FFF2-40B4-BE49-F238E27FC236}">
                <a16:creationId xmlns:a16="http://schemas.microsoft.com/office/drawing/2014/main" id="{5427E7DC-E7D8-821E-5EF9-08FB54549E0F}"/>
              </a:ext>
            </a:extLst>
          </p:cNvPr>
          <p:cNvSpPr/>
          <p:nvPr/>
        </p:nvSpPr>
        <p:spPr bwMode="auto">
          <a:xfrm>
            <a:off x="6096000" y="4689014"/>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5313419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2272A-4A5A-DA1A-1866-083E5C5E9B0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249DC0A-CE7D-10AC-90D9-90DBFF00BFE9}"/>
              </a:ext>
            </a:extLst>
          </p:cNvPr>
          <p:cNvSpPr>
            <a:spLocks noGrp="1"/>
          </p:cNvSpPr>
          <p:nvPr>
            <p:ph type="title"/>
          </p:nvPr>
        </p:nvSpPr>
        <p:spPr/>
        <p:txBody>
          <a:bodyPr/>
          <a:lstStyle/>
          <a:p>
            <a:r>
              <a:rPr lang="ja-JP" altLang="en-US" dirty="0"/>
              <a:t>行列積の場合：シストリックアレイ</a:t>
            </a:r>
            <a:endParaRPr kumimoji="1" lang="ja-JP" altLang="en-US" dirty="0"/>
          </a:p>
        </p:txBody>
      </p:sp>
      <p:sp>
        <p:nvSpPr>
          <p:cNvPr id="4" name="AutoShape 5">
            <a:extLst>
              <a:ext uri="{FF2B5EF4-FFF2-40B4-BE49-F238E27FC236}">
                <a16:creationId xmlns:a16="http://schemas.microsoft.com/office/drawing/2014/main" id="{0F76634A-E500-2B0E-4C27-9CDCD1833162}"/>
              </a:ext>
            </a:extLst>
          </p:cNvPr>
          <p:cNvSpPr>
            <a:spLocks noChangeArrowheads="1"/>
          </p:cNvSpPr>
          <p:nvPr/>
        </p:nvSpPr>
        <p:spPr bwMode="auto">
          <a:xfrm rot="16200000">
            <a:off x="7878009" y="2997006"/>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AutoShape 5">
            <a:extLst>
              <a:ext uri="{FF2B5EF4-FFF2-40B4-BE49-F238E27FC236}">
                <a16:creationId xmlns:a16="http://schemas.microsoft.com/office/drawing/2014/main" id="{E03FD23D-7449-2BAF-42EA-29CF079DF6C4}"/>
              </a:ext>
            </a:extLst>
          </p:cNvPr>
          <p:cNvSpPr>
            <a:spLocks noChangeArrowheads="1"/>
          </p:cNvSpPr>
          <p:nvPr/>
        </p:nvSpPr>
        <p:spPr bwMode="auto">
          <a:xfrm rot="16200000">
            <a:off x="9048022" y="2997006"/>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9" name="AutoShape 5">
            <a:extLst>
              <a:ext uri="{FF2B5EF4-FFF2-40B4-BE49-F238E27FC236}">
                <a16:creationId xmlns:a16="http://schemas.microsoft.com/office/drawing/2014/main" id="{1904D3B3-1468-53E1-A5F9-7C404BF9B2BE}"/>
              </a:ext>
            </a:extLst>
          </p:cNvPr>
          <p:cNvSpPr>
            <a:spLocks noChangeArrowheads="1"/>
          </p:cNvSpPr>
          <p:nvPr/>
        </p:nvSpPr>
        <p:spPr bwMode="auto">
          <a:xfrm rot="16200000">
            <a:off x="6707996" y="2997006"/>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14" name="四角形: 角を丸くする 13">
            <a:extLst>
              <a:ext uri="{FF2B5EF4-FFF2-40B4-BE49-F238E27FC236}">
                <a16:creationId xmlns:a16="http://schemas.microsoft.com/office/drawing/2014/main" id="{F8884D5E-690E-AE44-10E6-E9CCC5C136EB}"/>
              </a:ext>
            </a:extLst>
          </p:cNvPr>
          <p:cNvSpPr/>
          <p:nvPr/>
        </p:nvSpPr>
        <p:spPr bwMode="auto">
          <a:xfrm>
            <a:off x="6816008" y="1718981"/>
            <a:ext cx="720008"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In0</a:t>
            </a:r>
            <a:endParaRPr kumimoji="1" lang="ja-JP" altLang="en-US" dirty="0">
              <a:solidFill>
                <a:schemeClr val="tx1">
                  <a:lumMod val="75000"/>
                  <a:lumOff val="25000"/>
                </a:schemeClr>
              </a:solidFill>
              <a:latin typeface="+mn-ea"/>
            </a:endParaRPr>
          </a:p>
        </p:txBody>
      </p:sp>
      <p:sp>
        <p:nvSpPr>
          <p:cNvPr id="16" name="矢印: 右 15">
            <a:extLst>
              <a:ext uri="{FF2B5EF4-FFF2-40B4-BE49-F238E27FC236}">
                <a16:creationId xmlns:a16="http://schemas.microsoft.com/office/drawing/2014/main" id="{ABDC7A77-D41F-6F19-4FCE-050E12401981}"/>
              </a:ext>
            </a:extLst>
          </p:cNvPr>
          <p:cNvSpPr/>
          <p:nvPr/>
        </p:nvSpPr>
        <p:spPr bwMode="auto">
          <a:xfrm rot="5400000">
            <a:off x="6951009" y="2483990"/>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四角形: 角を丸くする 7">
            <a:extLst>
              <a:ext uri="{FF2B5EF4-FFF2-40B4-BE49-F238E27FC236}">
                <a16:creationId xmlns:a16="http://schemas.microsoft.com/office/drawing/2014/main" id="{FAF3DE19-23CA-2147-521A-F32A8C4FAE2F}"/>
              </a:ext>
            </a:extLst>
          </p:cNvPr>
          <p:cNvSpPr/>
          <p:nvPr/>
        </p:nvSpPr>
        <p:spPr bwMode="auto">
          <a:xfrm>
            <a:off x="7986021" y="1088974"/>
            <a:ext cx="720008"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In</a:t>
            </a:r>
            <a:r>
              <a:rPr lang="ja-JP" altLang="en-US" dirty="0">
                <a:solidFill>
                  <a:schemeClr val="tx1">
                    <a:lumMod val="75000"/>
                    <a:lumOff val="25000"/>
                  </a:schemeClr>
                </a:solidFill>
                <a:latin typeface="+mn-ea"/>
              </a:rPr>
              <a:t>１</a:t>
            </a:r>
            <a:endParaRPr kumimoji="1" lang="ja-JP" altLang="en-US" dirty="0">
              <a:solidFill>
                <a:schemeClr val="tx1">
                  <a:lumMod val="75000"/>
                  <a:lumOff val="25000"/>
                </a:schemeClr>
              </a:solidFill>
              <a:latin typeface="+mn-ea"/>
            </a:endParaRPr>
          </a:p>
        </p:txBody>
      </p:sp>
      <p:sp>
        <p:nvSpPr>
          <p:cNvPr id="10" name="矢印: 右 9">
            <a:extLst>
              <a:ext uri="{FF2B5EF4-FFF2-40B4-BE49-F238E27FC236}">
                <a16:creationId xmlns:a16="http://schemas.microsoft.com/office/drawing/2014/main" id="{B31DE541-51BC-4741-F1C7-B74F3E6C482E}"/>
              </a:ext>
            </a:extLst>
          </p:cNvPr>
          <p:cNvSpPr/>
          <p:nvPr/>
        </p:nvSpPr>
        <p:spPr bwMode="auto">
          <a:xfrm>
            <a:off x="8724094" y="3068996"/>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 name="矢印: 右 16">
            <a:extLst>
              <a:ext uri="{FF2B5EF4-FFF2-40B4-BE49-F238E27FC236}">
                <a16:creationId xmlns:a16="http://schemas.microsoft.com/office/drawing/2014/main" id="{2DE874DC-E7BD-8FDA-FF02-665B309540CC}"/>
              </a:ext>
            </a:extLst>
          </p:cNvPr>
          <p:cNvSpPr/>
          <p:nvPr/>
        </p:nvSpPr>
        <p:spPr bwMode="auto">
          <a:xfrm rot="5400000">
            <a:off x="6951009" y="3834005"/>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1" name="矢印: 右 20">
            <a:extLst>
              <a:ext uri="{FF2B5EF4-FFF2-40B4-BE49-F238E27FC236}">
                <a16:creationId xmlns:a16="http://schemas.microsoft.com/office/drawing/2014/main" id="{67391BDA-4C68-1269-F9F1-23664C13450A}"/>
              </a:ext>
            </a:extLst>
          </p:cNvPr>
          <p:cNvSpPr/>
          <p:nvPr/>
        </p:nvSpPr>
        <p:spPr bwMode="auto">
          <a:xfrm>
            <a:off x="7536016" y="3068996"/>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2" name="AutoShape 5">
            <a:extLst>
              <a:ext uri="{FF2B5EF4-FFF2-40B4-BE49-F238E27FC236}">
                <a16:creationId xmlns:a16="http://schemas.microsoft.com/office/drawing/2014/main" id="{BC629BA8-B69B-4EDB-663B-D23574714636}"/>
              </a:ext>
            </a:extLst>
          </p:cNvPr>
          <p:cNvSpPr>
            <a:spLocks noChangeArrowheads="1"/>
          </p:cNvSpPr>
          <p:nvPr/>
        </p:nvSpPr>
        <p:spPr bwMode="auto">
          <a:xfrm rot="16200000">
            <a:off x="7878009" y="4347021"/>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3" name="AutoShape 5">
            <a:extLst>
              <a:ext uri="{FF2B5EF4-FFF2-40B4-BE49-F238E27FC236}">
                <a16:creationId xmlns:a16="http://schemas.microsoft.com/office/drawing/2014/main" id="{856F1C02-AE65-B1E4-BABE-F9FCBFD5FAF0}"/>
              </a:ext>
            </a:extLst>
          </p:cNvPr>
          <p:cNvSpPr>
            <a:spLocks noChangeArrowheads="1"/>
          </p:cNvSpPr>
          <p:nvPr/>
        </p:nvSpPr>
        <p:spPr bwMode="auto">
          <a:xfrm rot="16200000">
            <a:off x="9048022" y="4347021"/>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30" name="AutoShape 5">
            <a:extLst>
              <a:ext uri="{FF2B5EF4-FFF2-40B4-BE49-F238E27FC236}">
                <a16:creationId xmlns:a16="http://schemas.microsoft.com/office/drawing/2014/main" id="{E46BDBE5-6E77-2EF1-9003-DB4682B0A60E}"/>
              </a:ext>
            </a:extLst>
          </p:cNvPr>
          <p:cNvSpPr>
            <a:spLocks noChangeArrowheads="1"/>
          </p:cNvSpPr>
          <p:nvPr/>
        </p:nvSpPr>
        <p:spPr bwMode="auto">
          <a:xfrm rot="16200000">
            <a:off x="6707996" y="4347021"/>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31" name="矢印: 右 30">
            <a:extLst>
              <a:ext uri="{FF2B5EF4-FFF2-40B4-BE49-F238E27FC236}">
                <a16:creationId xmlns:a16="http://schemas.microsoft.com/office/drawing/2014/main" id="{AAE0D404-3F7D-80A5-51E9-EDF070E1A788}"/>
              </a:ext>
            </a:extLst>
          </p:cNvPr>
          <p:cNvSpPr/>
          <p:nvPr/>
        </p:nvSpPr>
        <p:spPr bwMode="auto">
          <a:xfrm>
            <a:off x="8724094" y="4419011"/>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2" name="矢印: 右 31">
            <a:extLst>
              <a:ext uri="{FF2B5EF4-FFF2-40B4-BE49-F238E27FC236}">
                <a16:creationId xmlns:a16="http://schemas.microsoft.com/office/drawing/2014/main" id="{62DCC240-99B6-056F-6F0C-CA123C4E8EE6}"/>
              </a:ext>
            </a:extLst>
          </p:cNvPr>
          <p:cNvSpPr/>
          <p:nvPr/>
        </p:nvSpPr>
        <p:spPr bwMode="auto">
          <a:xfrm>
            <a:off x="7536016" y="4419011"/>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4" name="矢印: 右 33">
            <a:extLst>
              <a:ext uri="{FF2B5EF4-FFF2-40B4-BE49-F238E27FC236}">
                <a16:creationId xmlns:a16="http://schemas.microsoft.com/office/drawing/2014/main" id="{746EB0E3-E5D5-2BAC-5AD7-D66A6AB03B81}"/>
              </a:ext>
            </a:extLst>
          </p:cNvPr>
          <p:cNvSpPr/>
          <p:nvPr/>
        </p:nvSpPr>
        <p:spPr bwMode="auto">
          <a:xfrm rot="5400000">
            <a:off x="8121023" y="3834005"/>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5" name="矢印: 右 34">
            <a:extLst>
              <a:ext uri="{FF2B5EF4-FFF2-40B4-BE49-F238E27FC236}">
                <a16:creationId xmlns:a16="http://schemas.microsoft.com/office/drawing/2014/main" id="{2A6C6A15-1A7E-6AE5-B745-6C28B5D773D9}"/>
              </a:ext>
            </a:extLst>
          </p:cNvPr>
          <p:cNvSpPr/>
          <p:nvPr/>
        </p:nvSpPr>
        <p:spPr bwMode="auto">
          <a:xfrm rot="5400000">
            <a:off x="9381036" y="3834005"/>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9" name="矢印: 右 38">
            <a:extLst>
              <a:ext uri="{FF2B5EF4-FFF2-40B4-BE49-F238E27FC236}">
                <a16:creationId xmlns:a16="http://schemas.microsoft.com/office/drawing/2014/main" id="{F49733A5-CFC8-16EC-6B17-F81C223BE7A5}"/>
              </a:ext>
            </a:extLst>
          </p:cNvPr>
          <p:cNvSpPr/>
          <p:nvPr/>
        </p:nvSpPr>
        <p:spPr bwMode="auto">
          <a:xfrm rot="5400000">
            <a:off x="6951009" y="5138895"/>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3" name="AutoShape 5">
            <a:extLst>
              <a:ext uri="{FF2B5EF4-FFF2-40B4-BE49-F238E27FC236}">
                <a16:creationId xmlns:a16="http://schemas.microsoft.com/office/drawing/2014/main" id="{CD7A9C6F-4666-7A1F-4276-2975080BE69D}"/>
              </a:ext>
            </a:extLst>
          </p:cNvPr>
          <p:cNvSpPr>
            <a:spLocks noChangeArrowheads="1"/>
          </p:cNvSpPr>
          <p:nvPr/>
        </p:nvSpPr>
        <p:spPr bwMode="auto">
          <a:xfrm rot="16200000">
            <a:off x="7878009" y="5651911"/>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4" name="AutoShape 5">
            <a:extLst>
              <a:ext uri="{FF2B5EF4-FFF2-40B4-BE49-F238E27FC236}">
                <a16:creationId xmlns:a16="http://schemas.microsoft.com/office/drawing/2014/main" id="{605BFEB8-29C0-6675-2F6B-89A6D4E6F3B3}"/>
              </a:ext>
            </a:extLst>
          </p:cNvPr>
          <p:cNvSpPr>
            <a:spLocks noChangeArrowheads="1"/>
          </p:cNvSpPr>
          <p:nvPr/>
        </p:nvSpPr>
        <p:spPr bwMode="auto">
          <a:xfrm rot="16200000">
            <a:off x="9048022" y="5651911"/>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45" name="AutoShape 5">
            <a:extLst>
              <a:ext uri="{FF2B5EF4-FFF2-40B4-BE49-F238E27FC236}">
                <a16:creationId xmlns:a16="http://schemas.microsoft.com/office/drawing/2014/main" id="{BCA0D2D9-1662-65D2-42F9-81D8395DC784}"/>
              </a:ext>
            </a:extLst>
          </p:cNvPr>
          <p:cNvSpPr>
            <a:spLocks noChangeArrowheads="1"/>
          </p:cNvSpPr>
          <p:nvPr/>
        </p:nvSpPr>
        <p:spPr bwMode="auto">
          <a:xfrm rot="16200000">
            <a:off x="6707996" y="5651911"/>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46" name="矢印: 右 45">
            <a:extLst>
              <a:ext uri="{FF2B5EF4-FFF2-40B4-BE49-F238E27FC236}">
                <a16:creationId xmlns:a16="http://schemas.microsoft.com/office/drawing/2014/main" id="{89BEA97F-EE89-4230-7756-FDCBEBC1B14A}"/>
              </a:ext>
            </a:extLst>
          </p:cNvPr>
          <p:cNvSpPr/>
          <p:nvPr/>
        </p:nvSpPr>
        <p:spPr bwMode="auto">
          <a:xfrm>
            <a:off x="8724094" y="5723901"/>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7" name="矢印: 右 46">
            <a:extLst>
              <a:ext uri="{FF2B5EF4-FFF2-40B4-BE49-F238E27FC236}">
                <a16:creationId xmlns:a16="http://schemas.microsoft.com/office/drawing/2014/main" id="{73735BB5-C69B-52CF-2561-8A2AA71D58F8}"/>
              </a:ext>
            </a:extLst>
          </p:cNvPr>
          <p:cNvSpPr/>
          <p:nvPr/>
        </p:nvSpPr>
        <p:spPr bwMode="auto">
          <a:xfrm>
            <a:off x="7536016" y="5723901"/>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8" name="矢印: 右 47">
            <a:extLst>
              <a:ext uri="{FF2B5EF4-FFF2-40B4-BE49-F238E27FC236}">
                <a16:creationId xmlns:a16="http://schemas.microsoft.com/office/drawing/2014/main" id="{0D52AA77-7B9B-170F-8FD0-56FD3111BA4E}"/>
              </a:ext>
            </a:extLst>
          </p:cNvPr>
          <p:cNvSpPr/>
          <p:nvPr/>
        </p:nvSpPr>
        <p:spPr bwMode="auto">
          <a:xfrm rot="5400000">
            <a:off x="8121023" y="5138895"/>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9" name="矢印: 右 48">
            <a:extLst>
              <a:ext uri="{FF2B5EF4-FFF2-40B4-BE49-F238E27FC236}">
                <a16:creationId xmlns:a16="http://schemas.microsoft.com/office/drawing/2014/main" id="{A0F80F7C-11C2-F16C-9DC1-AE12CD8389C8}"/>
              </a:ext>
            </a:extLst>
          </p:cNvPr>
          <p:cNvSpPr/>
          <p:nvPr/>
        </p:nvSpPr>
        <p:spPr bwMode="auto">
          <a:xfrm rot="5400000">
            <a:off x="9381036" y="5138895"/>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0" name="四角形: 角を丸くする 49">
            <a:extLst>
              <a:ext uri="{FF2B5EF4-FFF2-40B4-BE49-F238E27FC236}">
                <a16:creationId xmlns:a16="http://schemas.microsoft.com/office/drawing/2014/main" id="{A2C4FC33-1658-F76E-5F03-A0AA1C354969}"/>
              </a:ext>
            </a:extLst>
          </p:cNvPr>
          <p:cNvSpPr/>
          <p:nvPr/>
        </p:nvSpPr>
        <p:spPr bwMode="auto">
          <a:xfrm>
            <a:off x="9066033" y="368966"/>
            <a:ext cx="720008"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In2</a:t>
            </a:r>
            <a:endParaRPr kumimoji="1" lang="ja-JP" altLang="en-US" dirty="0">
              <a:solidFill>
                <a:schemeClr val="tx1">
                  <a:lumMod val="75000"/>
                  <a:lumOff val="25000"/>
                </a:schemeClr>
              </a:solidFill>
              <a:latin typeface="+mn-ea"/>
            </a:endParaRPr>
          </a:p>
        </p:txBody>
      </p:sp>
      <p:sp>
        <p:nvSpPr>
          <p:cNvPr id="54" name="矢印: 右 53">
            <a:extLst>
              <a:ext uri="{FF2B5EF4-FFF2-40B4-BE49-F238E27FC236}">
                <a16:creationId xmlns:a16="http://schemas.microsoft.com/office/drawing/2014/main" id="{559F1AFB-77C7-BF23-6D66-960FFA867787}"/>
              </a:ext>
            </a:extLst>
          </p:cNvPr>
          <p:cNvSpPr/>
          <p:nvPr/>
        </p:nvSpPr>
        <p:spPr bwMode="auto">
          <a:xfrm>
            <a:off x="9966043" y="3068996"/>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5" name="矢印: 右 54">
            <a:extLst>
              <a:ext uri="{FF2B5EF4-FFF2-40B4-BE49-F238E27FC236}">
                <a16:creationId xmlns:a16="http://schemas.microsoft.com/office/drawing/2014/main" id="{0CF97957-072F-2DE9-D27A-018CCF76E16C}"/>
              </a:ext>
            </a:extLst>
          </p:cNvPr>
          <p:cNvSpPr/>
          <p:nvPr/>
        </p:nvSpPr>
        <p:spPr bwMode="auto">
          <a:xfrm>
            <a:off x="9966043" y="4419011"/>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6" name="矢印: 右 55">
            <a:extLst>
              <a:ext uri="{FF2B5EF4-FFF2-40B4-BE49-F238E27FC236}">
                <a16:creationId xmlns:a16="http://schemas.microsoft.com/office/drawing/2014/main" id="{B7F730A5-93C3-C6CD-7B2B-94D3CAB00381}"/>
              </a:ext>
            </a:extLst>
          </p:cNvPr>
          <p:cNvSpPr/>
          <p:nvPr/>
        </p:nvSpPr>
        <p:spPr bwMode="auto">
          <a:xfrm>
            <a:off x="9966043" y="5769026"/>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8" name="テキスト プレースホルダー 2">
            <a:extLst>
              <a:ext uri="{FF2B5EF4-FFF2-40B4-BE49-F238E27FC236}">
                <a16:creationId xmlns:a16="http://schemas.microsoft.com/office/drawing/2014/main" id="{7C6E4141-595F-89E8-3AAB-866153290D64}"/>
              </a:ext>
            </a:extLst>
          </p:cNvPr>
          <p:cNvSpPr>
            <a:spLocks noGrp="1"/>
          </p:cNvSpPr>
          <p:nvPr>
            <p:ph type="body" sz="quarter" idx="10"/>
          </p:nvPr>
        </p:nvSpPr>
        <p:spPr>
          <a:xfrm>
            <a:off x="335936" y="1088974"/>
            <a:ext cx="5580062" cy="5490061"/>
          </a:xfrm>
        </p:spPr>
        <p:txBody>
          <a:bodyPr/>
          <a:lstStyle/>
          <a:p>
            <a:r>
              <a:rPr kumimoji="1" lang="ja-JP" altLang="en-US" dirty="0"/>
              <a:t>２次元的に同様にデータを流していく</a:t>
            </a:r>
            <a:endParaRPr kumimoji="1" lang="en-US" altLang="ja-JP" dirty="0"/>
          </a:p>
          <a:p>
            <a:pPr lvl="1"/>
            <a:r>
              <a:rPr lang="ja-JP" altLang="en-US" dirty="0"/>
              <a:t>上からいれるデータは，流れてくるものとタイミングを合わせてずらす</a:t>
            </a:r>
            <a:endParaRPr lang="en-US" altLang="ja-JP" dirty="0"/>
          </a:p>
          <a:p>
            <a:pPr lvl="1"/>
            <a:r>
              <a:rPr lang="en-US" altLang="ja-JP" dirty="0"/>
              <a:t>In0*W0 + In1*W1 </a:t>
            </a:r>
            <a:endParaRPr kumimoji="1" lang="en-US" altLang="ja-JP" dirty="0"/>
          </a:p>
          <a:p>
            <a:r>
              <a:rPr lang="ja-JP" altLang="en-US" dirty="0"/>
              <a:t>シストリック：心臓の脈打ち</a:t>
            </a:r>
            <a:endParaRPr lang="en-US" altLang="ja-JP" dirty="0"/>
          </a:p>
          <a:p>
            <a:pPr lvl="1"/>
            <a:r>
              <a:rPr kumimoji="1" lang="ja-JP" altLang="en-US" dirty="0"/>
              <a:t>ドクン ドクンとデータが処理されて流れていく</a:t>
            </a:r>
            <a:endParaRPr kumimoji="1" lang="en-US" altLang="ja-JP" dirty="0"/>
          </a:p>
          <a:p>
            <a:r>
              <a:rPr lang="en-US" altLang="ja-JP" dirty="0"/>
              <a:t>Input/Output/Weight </a:t>
            </a:r>
            <a:r>
              <a:rPr lang="ja-JP" altLang="en-US" dirty="0"/>
              <a:t>のどれを演算器に貼り付けるかで，いくつかやり方がある</a:t>
            </a:r>
            <a:endParaRPr kumimoji="1" lang="en-US" altLang="ja-JP" dirty="0"/>
          </a:p>
        </p:txBody>
      </p:sp>
    </p:spTree>
    <p:extLst>
      <p:ext uri="{BB962C8B-B14F-4D97-AF65-F5344CB8AC3E}">
        <p14:creationId xmlns:p14="http://schemas.microsoft.com/office/powerpoint/2010/main" val="10103506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B16F6E-F08B-72F6-DCAB-2B03C908E779}"/>
              </a:ext>
            </a:extLst>
          </p:cNvPr>
          <p:cNvSpPr>
            <a:spLocks noGrp="1"/>
          </p:cNvSpPr>
          <p:nvPr>
            <p:ph type="title"/>
          </p:nvPr>
        </p:nvSpPr>
        <p:spPr/>
        <p:txBody>
          <a:bodyPr/>
          <a:lstStyle/>
          <a:p>
            <a:r>
              <a:rPr kumimoji="1" lang="en-US" altLang="ja-JP" dirty="0"/>
              <a:t>Tensor </a:t>
            </a:r>
            <a:r>
              <a:rPr lang="en-US" altLang="ja-JP" dirty="0"/>
              <a:t>Core (NVIDIA Ampere </a:t>
            </a:r>
            <a:r>
              <a:rPr lang="ja-JP" altLang="en-US" dirty="0"/>
              <a:t>と </a:t>
            </a:r>
            <a:r>
              <a:rPr lang="en-US" altLang="ja-JP" dirty="0"/>
              <a:t>Hopper </a:t>
            </a:r>
            <a:r>
              <a:rPr lang="ja-JP" altLang="en-US" dirty="0"/>
              <a:t>のもの</a:t>
            </a:r>
            <a:r>
              <a:rPr lang="en-US" altLang="ja-JP" dirty="0"/>
              <a:t>)</a:t>
            </a:r>
            <a:br>
              <a:rPr lang="en-US" altLang="ja-JP" dirty="0"/>
            </a:br>
            <a:r>
              <a:rPr lang="en-US" altLang="ja-JP" sz="1600" dirty="0">
                <a:hlinkClick r:id="rId2">
                  <a:extLst>
                    <a:ext uri="{A12FA001-AC4F-418D-AE19-62706E023703}">
                      <ahyp:hlinkClr xmlns:ahyp="http://schemas.microsoft.com/office/drawing/2018/hyperlinkcolor" val="tx"/>
                    </a:ext>
                  </a:extLst>
                </a:hlinkClick>
              </a:rPr>
              <a:t>https://www.nvidia.com/ja-jp/data-center/tensor-cores/</a:t>
            </a:r>
            <a:r>
              <a:rPr lang="en-US" altLang="ja-JP" sz="1600" dirty="0"/>
              <a:t>  </a:t>
            </a:r>
            <a:r>
              <a:rPr lang="ja-JP" altLang="en-US" sz="1600" dirty="0"/>
              <a:t>より</a:t>
            </a:r>
            <a:endParaRPr kumimoji="1" lang="ja-JP" altLang="en-US" sz="1600" dirty="0"/>
          </a:p>
        </p:txBody>
      </p:sp>
      <p:sp>
        <p:nvSpPr>
          <p:cNvPr id="3" name="テキスト プレースホルダー 2">
            <a:extLst>
              <a:ext uri="{FF2B5EF4-FFF2-40B4-BE49-F238E27FC236}">
                <a16:creationId xmlns:a16="http://schemas.microsoft.com/office/drawing/2014/main" id="{EE61ED7F-21A6-F644-3733-B8AA9C602AD0}"/>
              </a:ext>
            </a:extLst>
          </p:cNvPr>
          <p:cNvSpPr>
            <a:spLocks noGrp="1"/>
          </p:cNvSpPr>
          <p:nvPr>
            <p:ph type="body" sz="quarter" idx="10"/>
          </p:nvPr>
        </p:nvSpPr>
        <p:spPr>
          <a:xfrm>
            <a:off x="1775952" y="5769026"/>
            <a:ext cx="8640096" cy="810009"/>
          </a:xfrm>
        </p:spPr>
        <p:txBody>
          <a:bodyPr/>
          <a:lstStyle/>
          <a:p>
            <a:r>
              <a:rPr lang="en-US" altLang="ja-JP" dirty="0"/>
              <a:t>NVIDIA</a:t>
            </a:r>
            <a:r>
              <a:rPr lang="ja-JP" altLang="en-US" dirty="0"/>
              <a:t> </a:t>
            </a:r>
            <a:r>
              <a:rPr lang="en-US" altLang="ja-JP" dirty="0"/>
              <a:t>GPU</a:t>
            </a:r>
            <a:r>
              <a:rPr lang="ja-JP" altLang="en-US" dirty="0"/>
              <a:t> の </a:t>
            </a:r>
            <a:r>
              <a:rPr lang="en-US" altLang="ja-JP" dirty="0"/>
              <a:t>Tensor Core</a:t>
            </a:r>
            <a:r>
              <a:rPr lang="ja-JP" altLang="en-US" dirty="0"/>
              <a:t> は，より直接に行列積を一気に行う</a:t>
            </a:r>
            <a:endParaRPr kumimoji="1" lang="ja-JP" altLang="en-US" dirty="0"/>
          </a:p>
        </p:txBody>
      </p:sp>
      <p:pic>
        <p:nvPicPr>
          <p:cNvPr id="1026" name="Picture 2" descr="FP8 Tensor Cores">
            <a:extLst>
              <a:ext uri="{FF2B5EF4-FFF2-40B4-BE49-F238E27FC236}">
                <a16:creationId xmlns:a16="http://schemas.microsoft.com/office/drawing/2014/main" id="{9BA3DA5F-743C-532B-A32F-D6ED618685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5958" y="1178975"/>
            <a:ext cx="7986021" cy="4487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80361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05939" y="0"/>
            <a:ext cx="11586061" cy="908972"/>
          </a:xfrm>
        </p:spPr>
        <p:txBody>
          <a:bodyPr/>
          <a:lstStyle/>
          <a:p>
            <a:r>
              <a:rPr lang="en-US" altLang="ja-JP" sz="2800" dirty="0"/>
              <a:t>Google TPU v1 </a:t>
            </a:r>
            <a:r>
              <a:rPr lang="ja-JP" altLang="en-US" sz="2800" dirty="0"/>
              <a:t>の構造</a:t>
            </a:r>
            <a:br>
              <a:rPr lang="en-US" altLang="ja-JP" sz="2000" dirty="0"/>
            </a:br>
            <a:r>
              <a:rPr lang="en-US" altLang="ja-JP" sz="1600" dirty="0"/>
              <a:t>Norman P. Jouppi et al., In-Datacenter Performance Analysis of a Tensor Processing Unit (ISCA 2017)</a:t>
            </a:r>
            <a:r>
              <a:rPr lang="ja-JP" altLang="en-US" sz="1600" dirty="0"/>
              <a:t>より</a:t>
            </a:r>
          </a:p>
        </p:txBody>
      </p:sp>
      <p:pic>
        <p:nvPicPr>
          <p:cNvPr id="4" name="図 3">
            <a:extLst>
              <a:ext uri="{FF2B5EF4-FFF2-40B4-BE49-F238E27FC236}">
                <a16:creationId xmlns:a16="http://schemas.microsoft.com/office/drawing/2014/main" id="{80F220EB-94AA-473E-94E1-38959C0E8E22}"/>
              </a:ext>
            </a:extLst>
          </p:cNvPr>
          <p:cNvPicPr>
            <a:picLocks noChangeAspect="1"/>
          </p:cNvPicPr>
          <p:nvPr/>
        </p:nvPicPr>
        <p:blipFill>
          <a:blip r:embed="rId2"/>
          <a:stretch>
            <a:fillRect/>
          </a:stretch>
        </p:blipFill>
        <p:spPr>
          <a:xfrm>
            <a:off x="1145945" y="1268976"/>
            <a:ext cx="5540974" cy="5263381"/>
          </a:xfrm>
          <a:prstGeom prst="rect">
            <a:avLst/>
          </a:prstGeom>
        </p:spPr>
      </p:pic>
      <p:sp>
        <p:nvSpPr>
          <p:cNvPr id="3" name="テキスト プレースホルダー 2">
            <a:extLst>
              <a:ext uri="{FF2B5EF4-FFF2-40B4-BE49-F238E27FC236}">
                <a16:creationId xmlns:a16="http://schemas.microsoft.com/office/drawing/2014/main" id="{8EC24DFC-80B9-7F89-8ABD-7E2FEFD1F964}"/>
              </a:ext>
            </a:extLst>
          </p:cNvPr>
          <p:cNvSpPr>
            <a:spLocks noGrp="1"/>
          </p:cNvSpPr>
          <p:nvPr>
            <p:ph type="body" sz="quarter" idx="10"/>
          </p:nvPr>
        </p:nvSpPr>
        <p:spPr>
          <a:xfrm>
            <a:off x="7266012" y="1448978"/>
            <a:ext cx="4860055" cy="5130057"/>
          </a:xfrm>
        </p:spPr>
        <p:txBody>
          <a:bodyPr/>
          <a:lstStyle/>
          <a:p>
            <a:r>
              <a:rPr lang="ja-JP" altLang="en-US" dirty="0"/>
              <a:t>構成：</a:t>
            </a:r>
            <a:endParaRPr lang="en-US" altLang="ja-JP" dirty="0"/>
          </a:p>
          <a:p>
            <a:pPr lvl="1"/>
            <a:r>
              <a:rPr lang="ja-JP" altLang="en-US" dirty="0"/>
              <a:t>行列積を行うシストリックアレイ</a:t>
            </a:r>
            <a:endParaRPr lang="en-US" altLang="ja-JP" dirty="0"/>
          </a:p>
          <a:p>
            <a:pPr lvl="1"/>
            <a:r>
              <a:rPr lang="ja-JP" altLang="en-US" dirty="0"/>
              <a:t>活性化関数を処理する </a:t>
            </a:r>
            <a:r>
              <a:rPr lang="en-US" altLang="ja-JP" dirty="0"/>
              <a:t>SIMD </a:t>
            </a:r>
          </a:p>
          <a:p>
            <a:r>
              <a:rPr lang="ja-JP" altLang="en-US" dirty="0"/>
              <a:t>この構成はよくある</a:t>
            </a:r>
            <a:endParaRPr lang="en-US" altLang="ja-JP" dirty="0"/>
          </a:p>
        </p:txBody>
      </p:sp>
    </p:spTree>
    <p:extLst>
      <p:ext uri="{BB962C8B-B14F-4D97-AF65-F5344CB8AC3E}">
        <p14:creationId xmlns:p14="http://schemas.microsoft.com/office/powerpoint/2010/main" val="42948417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C09325-8FA7-6AAF-6B89-18526DF91052}"/>
              </a:ext>
            </a:extLst>
          </p:cNvPr>
          <p:cNvSpPr>
            <a:spLocks noGrp="1"/>
          </p:cNvSpPr>
          <p:nvPr>
            <p:ph type="title"/>
          </p:nvPr>
        </p:nvSpPr>
        <p:spPr>
          <a:xfrm>
            <a:off x="965943" y="0"/>
            <a:ext cx="11226057" cy="908972"/>
          </a:xfrm>
        </p:spPr>
        <p:txBody>
          <a:bodyPr/>
          <a:lstStyle/>
          <a:p>
            <a:r>
              <a:rPr lang="en-US" altLang="ja-JP" sz="2400" dirty="0"/>
              <a:t>META (</a:t>
            </a:r>
            <a:r>
              <a:rPr lang="ja-JP" altLang="en-US" sz="2400" dirty="0"/>
              <a:t>旧 </a:t>
            </a:r>
            <a:r>
              <a:rPr lang="en-US" altLang="ja-JP" sz="2400" dirty="0"/>
              <a:t>Facebook) MTIA v2 </a:t>
            </a:r>
            <a:r>
              <a:rPr lang="ja-JP" altLang="en-US" sz="2400" dirty="0"/>
              <a:t>の構造</a:t>
            </a:r>
            <a:r>
              <a:rPr lang="en-US" altLang="ja-JP" sz="2400" dirty="0"/>
              <a:t> </a:t>
            </a:r>
            <a:br>
              <a:rPr lang="en-US" altLang="ja-JP" sz="1600" dirty="0"/>
            </a:br>
            <a:r>
              <a:rPr lang="en-US" altLang="ja-JP" sz="1400" dirty="0"/>
              <a:t>Joel Coburn et al. Meta’s Second Generation AI Chip: Model-Chip Co-Design and </a:t>
            </a:r>
            <a:r>
              <a:rPr lang="en-US" altLang="ja-JP" sz="1400" dirty="0" err="1"/>
              <a:t>Productionization</a:t>
            </a:r>
            <a:r>
              <a:rPr lang="en-US" altLang="ja-JP" sz="1400" dirty="0"/>
              <a:t> Experiences (ISCA 2025) </a:t>
            </a:r>
            <a:r>
              <a:rPr lang="ja-JP" altLang="en-US" sz="1400" dirty="0"/>
              <a:t>より</a:t>
            </a:r>
            <a:endParaRPr kumimoji="1" lang="ja-JP" altLang="en-US" sz="1600" dirty="0"/>
          </a:p>
        </p:txBody>
      </p:sp>
      <p:sp>
        <p:nvSpPr>
          <p:cNvPr id="3" name="テキスト プレースホルダー 2">
            <a:extLst>
              <a:ext uri="{FF2B5EF4-FFF2-40B4-BE49-F238E27FC236}">
                <a16:creationId xmlns:a16="http://schemas.microsoft.com/office/drawing/2014/main" id="{6B39A73D-51A7-B2CB-E7A0-F175B03C5370}"/>
              </a:ext>
            </a:extLst>
          </p:cNvPr>
          <p:cNvSpPr>
            <a:spLocks noGrp="1"/>
          </p:cNvSpPr>
          <p:nvPr>
            <p:ph type="body" sz="quarter" idx="10"/>
          </p:nvPr>
        </p:nvSpPr>
        <p:spPr>
          <a:xfrm>
            <a:off x="1775951" y="5319021"/>
            <a:ext cx="9450105" cy="990011"/>
          </a:xfrm>
        </p:spPr>
        <p:txBody>
          <a:bodyPr/>
          <a:lstStyle/>
          <a:p>
            <a:r>
              <a:rPr kumimoji="1" lang="ja-JP" altLang="en-US" dirty="0"/>
              <a:t>先ほどと同様の構造</a:t>
            </a:r>
            <a:endParaRPr kumimoji="1" lang="en-US" altLang="ja-JP" dirty="0"/>
          </a:p>
          <a:p>
            <a:pPr lvl="1"/>
            <a:r>
              <a:rPr kumimoji="1" lang="en-US" altLang="ja-JP" dirty="0"/>
              <a:t>Dot Product Engine </a:t>
            </a:r>
            <a:r>
              <a:rPr kumimoji="1" lang="ja-JP" altLang="en-US" dirty="0"/>
              <a:t>が行列積</a:t>
            </a:r>
            <a:endParaRPr kumimoji="1" lang="en-US" altLang="ja-JP" dirty="0"/>
          </a:p>
          <a:p>
            <a:pPr lvl="1"/>
            <a:r>
              <a:rPr kumimoji="1" lang="en-US" altLang="ja-JP" dirty="0"/>
              <a:t>Reduction Engine </a:t>
            </a:r>
            <a:r>
              <a:rPr lang="ja-JP" altLang="en-US" dirty="0"/>
              <a:t>と </a:t>
            </a:r>
            <a:r>
              <a:rPr lang="en-US" altLang="ja-JP" dirty="0"/>
              <a:t>SIMD Engine </a:t>
            </a:r>
            <a:r>
              <a:rPr lang="ja-JP" altLang="en-US" dirty="0"/>
              <a:t>が活性化関数を処理</a:t>
            </a:r>
            <a:endParaRPr lang="en-US" altLang="ja-JP" dirty="0"/>
          </a:p>
          <a:p>
            <a:r>
              <a:rPr kumimoji="1" lang="en-US" altLang="ja-JP" dirty="0"/>
              <a:t>AI </a:t>
            </a:r>
            <a:r>
              <a:rPr kumimoji="1" lang="ja-JP" altLang="en-US" dirty="0"/>
              <a:t>フレームワーク対応のために，柔軟性がある </a:t>
            </a:r>
            <a:r>
              <a:rPr kumimoji="1" lang="en-US" altLang="ja-JP" dirty="0"/>
              <a:t>RISC-V CPU </a:t>
            </a:r>
            <a:r>
              <a:rPr kumimoji="1" lang="ja-JP" altLang="en-US" dirty="0"/>
              <a:t>がのっている</a:t>
            </a:r>
          </a:p>
        </p:txBody>
      </p:sp>
      <p:pic>
        <p:nvPicPr>
          <p:cNvPr id="5" name="図 4">
            <a:extLst>
              <a:ext uri="{FF2B5EF4-FFF2-40B4-BE49-F238E27FC236}">
                <a16:creationId xmlns:a16="http://schemas.microsoft.com/office/drawing/2014/main" id="{96F75E53-0D1B-EEF7-0DE4-023ECBC4055E}"/>
              </a:ext>
            </a:extLst>
          </p:cNvPr>
          <p:cNvPicPr>
            <a:picLocks noChangeAspect="1"/>
          </p:cNvPicPr>
          <p:nvPr/>
        </p:nvPicPr>
        <p:blipFill>
          <a:blip r:embed="rId2"/>
          <a:stretch>
            <a:fillRect/>
          </a:stretch>
        </p:blipFill>
        <p:spPr>
          <a:xfrm>
            <a:off x="3125967" y="908972"/>
            <a:ext cx="5884456" cy="3797336"/>
          </a:xfrm>
          <a:prstGeom prst="rect">
            <a:avLst/>
          </a:prstGeom>
        </p:spPr>
      </p:pic>
    </p:spTree>
    <p:extLst>
      <p:ext uri="{BB962C8B-B14F-4D97-AF65-F5344CB8AC3E}">
        <p14:creationId xmlns:p14="http://schemas.microsoft.com/office/powerpoint/2010/main" val="2016473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093934-A482-021A-4199-A1C2B1EE441E}"/>
              </a:ext>
            </a:extLst>
          </p:cNvPr>
          <p:cNvSpPr>
            <a:spLocks noGrp="1"/>
          </p:cNvSpPr>
          <p:nvPr>
            <p:ph type="title"/>
          </p:nvPr>
        </p:nvSpPr>
        <p:spPr/>
        <p:txBody>
          <a:bodyPr/>
          <a:lstStyle/>
          <a:p>
            <a:r>
              <a:rPr kumimoji="1" lang="ja-JP" altLang="en-US" dirty="0"/>
              <a:t>アクセラレータのまとめ</a:t>
            </a:r>
          </a:p>
        </p:txBody>
      </p:sp>
      <p:sp>
        <p:nvSpPr>
          <p:cNvPr id="3" name="テキスト プレースホルダー 2">
            <a:extLst>
              <a:ext uri="{FF2B5EF4-FFF2-40B4-BE49-F238E27FC236}">
                <a16:creationId xmlns:a16="http://schemas.microsoft.com/office/drawing/2014/main" id="{E91265DC-62AF-99A6-2EFD-8EF88708145B}"/>
              </a:ext>
            </a:extLst>
          </p:cNvPr>
          <p:cNvSpPr>
            <a:spLocks noGrp="1"/>
          </p:cNvSpPr>
          <p:nvPr>
            <p:ph type="body" sz="quarter" idx="10"/>
          </p:nvPr>
        </p:nvSpPr>
        <p:spPr/>
        <p:txBody>
          <a:bodyPr/>
          <a:lstStyle/>
          <a:p>
            <a:r>
              <a:rPr kumimoji="1" lang="ja-JP" altLang="en-US" dirty="0"/>
              <a:t>行列積では，演算器を並べて効率を向上</a:t>
            </a:r>
            <a:endParaRPr kumimoji="1" lang="en-US" altLang="ja-JP" dirty="0"/>
          </a:p>
          <a:p>
            <a:pPr lvl="1"/>
            <a:r>
              <a:rPr kumimoji="1" lang="ja-JP" altLang="en-US" dirty="0"/>
              <a:t>命令の制御だけでなく，レジスタの読み書きも省略できる</a:t>
            </a:r>
            <a:endParaRPr kumimoji="1" lang="en-US" altLang="ja-JP" dirty="0"/>
          </a:p>
          <a:p>
            <a:r>
              <a:rPr lang="en-US" altLang="ja-JP" dirty="0"/>
              <a:t>AI </a:t>
            </a:r>
            <a:r>
              <a:rPr lang="ja-JP" altLang="en-US" dirty="0"/>
              <a:t>アクセラレータの場合，以下の構成が典型的</a:t>
            </a:r>
            <a:endParaRPr lang="en-US" altLang="ja-JP" dirty="0"/>
          </a:p>
          <a:p>
            <a:pPr lvl="1"/>
            <a:r>
              <a:rPr kumimoji="1" lang="ja-JP" altLang="en-US" dirty="0"/>
              <a:t>行列積エンジン</a:t>
            </a:r>
            <a:endParaRPr kumimoji="1" lang="en-US" altLang="ja-JP" dirty="0"/>
          </a:p>
          <a:p>
            <a:pPr lvl="1"/>
            <a:r>
              <a:rPr kumimoji="1" lang="ja-JP" altLang="en-US" dirty="0"/>
              <a:t>活性化関数を処理する </a:t>
            </a:r>
            <a:r>
              <a:rPr kumimoji="1" lang="en-US" altLang="ja-JP" dirty="0"/>
              <a:t>SIMD </a:t>
            </a:r>
            <a:r>
              <a:rPr kumimoji="1" lang="ja-JP" altLang="en-US" dirty="0"/>
              <a:t>エンジン</a:t>
            </a:r>
            <a:endParaRPr kumimoji="1" lang="en-US" altLang="ja-JP" dirty="0"/>
          </a:p>
          <a:p>
            <a:pPr lvl="2"/>
            <a:r>
              <a:rPr lang="ja-JP" altLang="en-US" dirty="0"/>
              <a:t>活性化関数の処理は，あまり数珠つなぎにできないため，</a:t>
            </a:r>
            <a:br>
              <a:rPr lang="en-US" altLang="ja-JP" dirty="0"/>
            </a:br>
            <a:r>
              <a:rPr lang="en-US" altLang="ja-JP" dirty="0"/>
              <a:t>SIMD </a:t>
            </a:r>
            <a:r>
              <a:rPr lang="ja-JP" altLang="en-US" dirty="0"/>
              <a:t>になっていることが多い</a:t>
            </a:r>
            <a:endParaRPr kumimoji="1" lang="ja-JP" altLang="en-US" dirty="0"/>
          </a:p>
        </p:txBody>
      </p:sp>
    </p:spTree>
    <p:extLst>
      <p:ext uri="{BB962C8B-B14F-4D97-AF65-F5344CB8AC3E}">
        <p14:creationId xmlns:p14="http://schemas.microsoft.com/office/powerpoint/2010/main" val="6350808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C0D04B9-9012-0369-2DC8-7D72ACFBA862}"/>
              </a:ext>
            </a:extLst>
          </p:cNvPr>
          <p:cNvSpPr>
            <a:spLocks noGrp="1"/>
          </p:cNvSpPr>
          <p:nvPr>
            <p:ph type="title" idx="4294967295"/>
          </p:nvPr>
        </p:nvSpPr>
        <p:spPr>
          <a:xfrm>
            <a:off x="1775952" y="2348988"/>
            <a:ext cx="8640096" cy="900113"/>
          </a:xfrm>
        </p:spPr>
        <p:txBody>
          <a:bodyPr/>
          <a:lstStyle/>
          <a:p>
            <a:pPr algn="ctr"/>
            <a:r>
              <a:rPr lang="ja-JP" altLang="en-US" b="1" dirty="0"/>
              <a:t>まとめ</a:t>
            </a:r>
          </a:p>
        </p:txBody>
      </p:sp>
    </p:spTree>
    <p:extLst>
      <p:ext uri="{BB962C8B-B14F-4D97-AF65-F5344CB8AC3E}">
        <p14:creationId xmlns:p14="http://schemas.microsoft.com/office/powerpoint/2010/main" val="35030863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0DDBF-9620-9281-0B82-17C783F3B232}"/>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8F10A479-DE78-9B92-7C1A-6AF51E0F7A1D}"/>
              </a:ext>
            </a:extLst>
          </p:cNvPr>
          <p:cNvSpPr>
            <a:spLocks noGrp="1"/>
          </p:cNvSpPr>
          <p:nvPr>
            <p:ph type="title"/>
          </p:nvPr>
        </p:nvSpPr>
        <p:spPr/>
        <p:txBody>
          <a:bodyPr/>
          <a:lstStyle/>
          <a:p>
            <a:r>
              <a:rPr lang="ja-JP" altLang="en-US" dirty="0"/>
              <a:t>まとめ：カレー屋さんと </a:t>
            </a:r>
            <a:r>
              <a:rPr lang="en-US" altLang="ja-JP" dirty="0"/>
              <a:t>GPU</a:t>
            </a:r>
            <a:endParaRPr lang="ja-JP" altLang="en-US" dirty="0"/>
          </a:p>
        </p:txBody>
      </p:sp>
      <p:sp>
        <p:nvSpPr>
          <p:cNvPr id="5" name="テキスト プレースホルダー 4">
            <a:extLst>
              <a:ext uri="{FF2B5EF4-FFF2-40B4-BE49-F238E27FC236}">
                <a16:creationId xmlns:a16="http://schemas.microsoft.com/office/drawing/2014/main" id="{A7153707-4A06-EDB5-0CAB-C65827991573}"/>
              </a:ext>
            </a:extLst>
          </p:cNvPr>
          <p:cNvSpPr>
            <a:spLocks noGrp="1"/>
          </p:cNvSpPr>
          <p:nvPr>
            <p:ph type="body" sz="quarter" idx="10"/>
          </p:nvPr>
        </p:nvSpPr>
        <p:spPr>
          <a:xfrm>
            <a:off x="785941" y="1178975"/>
            <a:ext cx="10710119" cy="4320048"/>
          </a:xfrm>
        </p:spPr>
        <p:txBody>
          <a:bodyPr/>
          <a:lstStyle/>
          <a:p>
            <a:r>
              <a:rPr lang="ja-JP" altLang="en-US" dirty="0"/>
              <a:t>前提：</a:t>
            </a:r>
            <a:endParaRPr lang="en-US" altLang="ja-JP" dirty="0"/>
          </a:p>
          <a:p>
            <a:pPr lvl="1"/>
            <a:r>
              <a:rPr lang="ja-JP" altLang="en-US" dirty="0"/>
              <a:t>１つのカレーを作るのではなく，大量の同じカレーを作るのが目的</a:t>
            </a:r>
            <a:endParaRPr lang="en-US" altLang="ja-JP" dirty="0"/>
          </a:p>
          <a:p>
            <a:pPr lvl="1"/>
            <a:r>
              <a:rPr lang="ja-JP" altLang="en-US" dirty="0"/>
              <a:t>レシピを読む人やキッチン台担当の人を減らしても，同じカレーなら大量に作れる</a:t>
            </a:r>
            <a:endParaRPr lang="en-US" altLang="ja-JP" dirty="0"/>
          </a:p>
          <a:p>
            <a:r>
              <a:rPr lang="ja-JP" altLang="en-US" dirty="0"/>
              <a:t>効率の上げ方：</a:t>
            </a:r>
            <a:endParaRPr lang="en-US" altLang="ja-JP" dirty="0"/>
          </a:p>
          <a:p>
            <a:pPr lvl="1"/>
            <a:r>
              <a:rPr lang="ja-JP" altLang="en-US" dirty="0"/>
              <a:t>レシピを読む人の数を減らし，シェフ人数を増やす</a:t>
            </a:r>
            <a:endParaRPr lang="en-US" altLang="ja-JP" dirty="0"/>
          </a:p>
          <a:p>
            <a:pPr lvl="1"/>
            <a:r>
              <a:rPr lang="ja-JP" altLang="en-US" dirty="0"/>
              <a:t>レシピを読む人に難しいことをさせず，人件費を下げる</a:t>
            </a:r>
            <a:endParaRPr lang="en-US" altLang="ja-JP" dirty="0"/>
          </a:p>
          <a:p>
            <a:pPr lvl="2"/>
            <a:r>
              <a:rPr lang="ja-JP" altLang="en-US" dirty="0"/>
              <a:t>難しい事＝レシピの中で並列に出来ることを探す</a:t>
            </a:r>
            <a:endParaRPr lang="en-US" altLang="ja-JP" dirty="0"/>
          </a:p>
          <a:p>
            <a:r>
              <a:rPr lang="ja-JP" altLang="en-US" dirty="0"/>
              <a:t>根っこの部分では </a:t>
            </a:r>
            <a:r>
              <a:rPr lang="en-US" altLang="ja-JP" dirty="0"/>
              <a:t>GPU </a:t>
            </a:r>
            <a:r>
              <a:rPr lang="ja-JP" altLang="en-US" dirty="0"/>
              <a:t>は同じことをしている</a:t>
            </a:r>
            <a:endParaRPr lang="en-US" altLang="ja-JP" dirty="0"/>
          </a:p>
        </p:txBody>
      </p:sp>
      <p:sp>
        <p:nvSpPr>
          <p:cNvPr id="6" name="平行四辺形 5">
            <a:extLst>
              <a:ext uri="{FF2B5EF4-FFF2-40B4-BE49-F238E27FC236}">
                <a16:creationId xmlns:a16="http://schemas.microsoft.com/office/drawing/2014/main" id="{09ECFDA8-1097-169B-3A1D-388CD71E55EA}"/>
              </a:ext>
            </a:extLst>
          </p:cNvPr>
          <p:cNvSpPr/>
          <p:nvPr/>
        </p:nvSpPr>
        <p:spPr bwMode="auto">
          <a:xfrm>
            <a:off x="8166023" y="4806003"/>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 name="正方形/長方形 6">
            <a:extLst>
              <a:ext uri="{FF2B5EF4-FFF2-40B4-BE49-F238E27FC236}">
                <a16:creationId xmlns:a16="http://schemas.microsoft.com/office/drawing/2014/main" id="{DDE8B524-2B17-160D-D414-4980F13C75A4}"/>
              </a:ext>
            </a:extLst>
          </p:cNvPr>
          <p:cNvSpPr/>
          <p:nvPr/>
        </p:nvSpPr>
        <p:spPr>
          <a:xfrm>
            <a:off x="8616028" y="3995994"/>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8" name="平行四辺形 7">
            <a:extLst>
              <a:ext uri="{FF2B5EF4-FFF2-40B4-BE49-F238E27FC236}">
                <a16:creationId xmlns:a16="http://schemas.microsoft.com/office/drawing/2014/main" id="{D0B7EAD1-C827-9AAE-0F23-2410D3B60929}"/>
              </a:ext>
            </a:extLst>
          </p:cNvPr>
          <p:cNvSpPr/>
          <p:nvPr/>
        </p:nvSpPr>
        <p:spPr bwMode="auto">
          <a:xfrm>
            <a:off x="9786041" y="4175996"/>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正方形/長方形 8">
            <a:extLst>
              <a:ext uri="{FF2B5EF4-FFF2-40B4-BE49-F238E27FC236}">
                <a16:creationId xmlns:a16="http://schemas.microsoft.com/office/drawing/2014/main" id="{AFE57B0F-1E43-11DC-E48E-AF8ED08774A4}"/>
              </a:ext>
            </a:extLst>
          </p:cNvPr>
          <p:cNvSpPr/>
          <p:nvPr/>
        </p:nvSpPr>
        <p:spPr>
          <a:xfrm>
            <a:off x="10146045" y="336598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0" name="角丸四角形吹き出し 44">
            <a:extLst>
              <a:ext uri="{FF2B5EF4-FFF2-40B4-BE49-F238E27FC236}">
                <a16:creationId xmlns:a16="http://schemas.microsoft.com/office/drawing/2014/main" id="{973FE726-2E0C-A362-C7A9-8A8AA2FF7E34}"/>
              </a:ext>
            </a:extLst>
          </p:cNvPr>
          <p:cNvSpPr/>
          <p:nvPr/>
        </p:nvSpPr>
        <p:spPr bwMode="auto">
          <a:xfrm>
            <a:off x="8976032" y="3185985"/>
            <a:ext cx="1260014" cy="522648"/>
          </a:xfrm>
          <a:prstGeom prst="wedgeRoundRectCallout">
            <a:avLst>
              <a:gd name="adj1" fmla="val -32299"/>
              <a:gd name="adj2" fmla="val 154333"/>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次はみんな</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炒めやでー</a:t>
            </a:r>
          </a:p>
        </p:txBody>
      </p:sp>
      <p:sp>
        <p:nvSpPr>
          <p:cNvPr id="11" name="角丸四角形吹き出し 44">
            <a:extLst>
              <a:ext uri="{FF2B5EF4-FFF2-40B4-BE49-F238E27FC236}">
                <a16:creationId xmlns:a16="http://schemas.microsoft.com/office/drawing/2014/main" id="{94E16CE3-D10C-D16E-F51A-4CB6EAB730E8}"/>
              </a:ext>
            </a:extLst>
          </p:cNvPr>
          <p:cNvSpPr/>
          <p:nvPr/>
        </p:nvSpPr>
        <p:spPr bwMode="auto">
          <a:xfrm>
            <a:off x="10866053" y="3185985"/>
            <a:ext cx="720008" cy="324054"/>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65000"/>
                    <a:lumOff val="35000"/>
                  </a:schemeClr>
                </a:solidFill>
                <a:latin typeface="Arial Narrow" panose="020B0606020202030204" pitchFamily="34" charset="0"/>
              </a:rPr>
              <a:t>はーい</a:t>
            </a:r>
          </a:p>
        </p:txBody>
      </p:sp>
      <p:sp>
        <p:nvSpPr>
          <p:cNvPr id="12" name="平行四辺形 11">
            <a:extLst>
              <a:ext uri="{FF2B5EF4-FFF2-40B4-BE49-F238E27FC236}">
                <a16:creationId xmlns:a16="http://schemas.microsoft.com/office/drawing/2014/main" id="{CB9DA370-0D6A-C53C-307A-C169A7786F48}"/>
              </a:ext>
            </a:extLst>
          </p:cNvPr>
          <p:cNvSpPr/>
          <p:nvPr/>
        </p:nvSpPr>
        <p:spPr bwMode="auto">
          <a:xfrm>
            <a:off x="9786041" y="4806003"/>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3" name="平行四辺形 12">
            <a:extLst>
              <a:ext uri="{FF2B5EF4-FFF2-40B4-BE49-F238E27FC236}">
                <a16:creationId xmlns:a16="http://schemas.microsoft.com/office/drawing/2014/main" id="{9B8B4D33-81DF-1913-524C-028B7E97FD95}"/>
              </a:ext>
            </a:extLst>
          </p:cNvPr>
          <p:cNvSpPr/>
          <p:nvPr/>
        </p:nvSpPr>
        <p:spPr bwMode="auto">
          <a:xfrm>
            <a:off x="9696040" y="544497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cxnSp>
        <p:nvCxnSpPr>
          <p:cNvPr id="14" name="直線矢印コネクタ 13">
            <a:extLst>
              <a:ext uri="{FF2B5EF4-FFF2-40B4-BE49-F238E27FC236}">
                <a16:creationId xmlns:a16="http://schemas.microsoft.com/office/drawing/2014/main" id="{B550696A-152A-D069-A90B-AA95D7F75367}"/>
              </a:ext>
            </a:extLst>
          </p:cNvPr>
          <p:cNvCxnSpPr>
            <a:cxnSpLocks/>
          </p:cNvCxnSpPr>
          <p:nvPr/>
        </p:nvCxnSpPr>
        <p:spPr bwMode="auto">
          <a:xfrm flipV="1">
            <a:off x="9516038" y="4445999"/>
            <a:ext cx="540006" cy="450005"/>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5" name="直線矢印コネクタ 14">
            <a:extLst>
              <a:ext uri="{FF2B5EF4-FFF2-40B4-BE49-F238E27FC236}">
                <a16:creationId xmlns:a16="http://schemas.microsoft.com/office/drawing/2014/main" id="{944700BA-AA21-16D1-440F-7FBB4EE96D0D}"/>
              </a:ext>
            </a:extLst>
          </p:cNvPr>
          <p:cNvCxnSpPr>
            <a:cxnSpLocks/>
          </p:cNvCxnSpPr>
          <p:nvPr/>
        </p:nvCxnSpPr>
        <p:spPr bwMode="auto">
          <a:xfrm>
            <a:off x="9516038" y="5076006"/>
            <a:ext cx="540006"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6" name="直線矢印コネクタ 15">
            <a:extLst>
              <a:ext uri="{FF2B5EF4-FFF2-40B4-BE49-F238E27FC236}">
                <a16:creationId xmlns:a16="http://schemas.microsoft.com/office/drawing/2014/main" id="{421E0BF7-6F03-B43C-B748-CC15AD1FC528}"/>
              </a:ext>
            </a:extLst>
          </p:cNvPr>
          <p:cNvCxnSpPr>
            <a:cxnSpLocks/>
          </p:cNvCxnSpPr>
          <p:nvPr/>
        </p:nvCxnSpPr>
        <p:spPr bwMode="auto">
          <a:xfrm>
            <a:off x="9516038" y="5166007"/>
            <a:ext cx="540006" cy="540006"/>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7435036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2D77A105-11D9-BDAC-E5E6-AA06A9067DFE}"/>
              </a:ext>
            </a:extLst>
          </p:cNvPr>
          <p:cNvSpPr>
            <a:spLocks noGrp="1"/>
          </p:cNvSpPr>
          <p:nvPr>
            <p:ph type="title"/>
          </p:nvPr>
        </p:nvSpPr>
        <p:spPr>
          <a:xfrm>
            <a:off x="1415948" y="0"/>
            <a:ext cx="10776052" cy="908972"/>
          </a:xfrm>
        </p:spPr>
        <p:txBody>
          <a:bodyPr/>
          <a:lstStyle/>
          <a:p>
            <a:r>
              <a:rPr lang="ja-JP" altLang="en-US" dirty="0"/>
              <a:t>まとめ：</a:t>
            </a:r>
            <a:r>
              <a:rPr lang="en-US" altLang="ja-JP" dirty="0"/>
              <a:t>GPU </a:t>
            </a:r>
            <a:r>
              <a:rPr lang="ja-JP" altLang="en-US" dirty="0"/>
              <a:t>と </a:t>
            </a:r>
            <a:r>
              <a:rPr lang="en-US" altLang="ja-JP" dirty="0"/>
              <a:t>CPU </a:t>
            </a:r>
            <a:r>
              <a:rPr lang="ja-JP" altLang="en-US" dirty="0"/>
              <a:t>の違い</a:t>
            </a:r>
          </a:p>
        </p:txBody>
      </p:sp>
      <p:sp>
        <p:nvSpPr>
          <p:cNvPr id="5" name="テキスト プレースホルダー 4">
            <a:extLst>
              <a:ext uri="{FF2B5EF4-FFF2-40B4-BE49-F238E27FC236}">
                <a16:creationId xmlns:a16="http://schemas.microsoft.com/office/drawing/2014/main" id="{7C09C225-78DD-081A-6A4E-5AAC5817C521}"/>
              </a:ext>
            </a:extLst>
          </p:cNvPr>
          <p:cNvSpPr>
            <a:spLocks noGrp="1"/>
          </p:cNvSpPr>
          <p:nvPr>
            <p:ph type="body" sz="quarter" idx="10"/>
          </p:nvPr>
        </p:nvSpPr>
        <p:spPr>
          <a:xfrm>
            <a:off x="1776412" y="1089025"/>
            <a:ext cx="9539645" cy="5219700"/>
          </a:xfrm>
        </p:spPr>
        <p:txBody>
          <a:bodyPr/>
          <a:lstStyle/>
          <a:p>
            <a:r>
              <a:rPr lang="en-US" altLang="ja-JP" dirty="0"/>
              <a:t>GPU </a:t>
            </a:r>
            <a:r>
              <a:rPr lang="ja-JP" altLang="en-US" dirty="0"/>
              <a:t>は </a:t>
            </a:r>
            <a:r>
              <a:rPr lang="en-US" altLang="ja-JP" dirty="0"/>
              <a:t>CPU </a:t>
            </a:r>
            <a:r>
              <a:rPr lang="ja-JP" altLang="en-US" dirty="0"/>
              <a:t>とは何が違うのか？</a:t>
            </a:r>
            <a:endParaRPr lang="en-US" altLang="ja-JP" dirty="0"/>
          </a:p>
          <a:p>
            <a:pPr lvl="1"/>
            <a:r>
              <a:rPr lang="ja-JP" altLang="en-US" dirty="0"/>
              <a:t>制御部を共有して回路全体に占める演算器比率をあげている（</a:t>
            </a:r>
            <a:r>
              <a:rPr lang="en-US" altLang="ja-JP" dirty="0"/>
              <a:t>SIMD</a:t>
            </a:r>
            <a:r>
              <a:rPr lang="ja-JP" altLang="en-US" dirty="0"/>
              <a:t>）</a:t>
            </a:r>
            <a:endParaRPr lang="en-US" altLang="ja-JP" dirty="0"/>
          </a:p>
          <a:p>
            <a:pPr lvl="1"/>
            <a:r>
              <a:rPr lang="ja-JP" altLang="en-US" dirty="0"/>
              <a:t>制御部で難しいことをさせず，小型化しその分演算器比率を上げる</a:t>
            </a:r>
            <a:endParaRPr lang="en-US" altLang="ja-JP" dirty="0"/>
          </a:p>
          <a:p>
            <a:r>
              <a:rPr lang="ja-JP" altLang="en-US" dirty="0"/>
              <a:t>なぜ </a:t>
            </a:r>
            <a:r>
              <a:rPr lang="en-US" altLang="ja-JP" dirty="0"/>
              <a:t>GPU </a:t>
            </a:r>
            <a:r>
              <a:rPr lang="ja-JP" altLang="en-US" dirty="0"/>
              <a:t>やアクセラレータは，</a:t>
            </a:r>
            <a:r>
              <a:rPr lang="en-US" altLang="ja-JP" dirty="0"/>
              <a:t>AI </a:t>
            </a:r>
            <a:r>
              <a:rPr lang="ja-JP" altLang="en-US" dirty="0"/>
              <a:t>で高速で効率が良いのか？</a:t>
            </a:r>
            <a:endParaRPr lang="en-US" altLang="ja-JP" dirty="0"/>
          </a:p>
          <a:p>
            <a:pPr lvl="1"/>
            <a:r>
              <a:rPr lang="ja-JP" altLang="en-US" dirty="0"/>
              <a:t>行列積や活性化関数は，同じ処理を複数のデータに対して処理している</a:t>
            </a:r>
            <a:endParaRPr lang="en-US" altLang="ja-JP" dirty="0"/>
          </a:p>
          <a:p>
            <a:pPr lvl="1"/>
            <a:r>
              <a:rPr lang="ja-JP" altLang="en-US" dirty="0"/>
              <a:t>演算器アレイや </a:t>
            </a:r>
            <a:r>
              <a:rPr lang="en-US" altLang="ja-JP" dirty="0"/>
              <a:t>SIMD </a:t>
            </a:r>
            <a:r>
              <a:rPr lang="ja-JP" altLang="en-US" dirty="0"/>
              <a:t>型の構造で，余計なことをせずに効率よく処理できる</a:t>
            </a:r>
            <a:endParaRPr lang="en-US" altLang="ja-JP" dirty="0"/>
          </a:p>
        </p:txBody>
      </p:sp>
    </p:spTree>
    <p:extLst>
      <p:ext uri="{BB962C8B-B14F-4D97-AF65-F5344CB8AC3E}">
        <p14:creationId xmlns:p14="http://schemas.microsoft.com/office/powerpoint/2010/main" val="17307818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51549B-A370-F69E-665B-B8172C0C47A1}"/>
              </a:ext>
            </a:extLst>
          </p:cNvPr>
          <p:cNvSpPr>
            <a:spLocks noGrp="1"/>
          </p:cNvSpPr>
          <p:nvPr>
            <p:ph type="title"/>
          </p:nvPr>
        </p:nvSpPr>
        <p:spPr/>
        <p:txBody>
          <a:bodyPr/>
          <a:lstStyle/>
          <a:p>
            <a:r>
              <a:rPr kumimoji="1" lang="ja-JP" altLang="en-US" dirty="0"/>
              <a:t>補足：</a:t>
            </a:r>
            <a:r>
              <a:rPr kumimoji="1" lang="en-US" altLang="ja-JP" dirty="0"/>
              <a:t>GPU </a:t>
            </a:r>
            <a:r>
              <a:rPr kumimoji="1" lang="ja-JP" altLang="en-US" dirty="0"/>
              <a:t>に</a:t>
            </a:r>
            <a:r>
              <a:rPr kumimoji="1" lang="ja-JP" altLang="en-US"/>
              <a:t>ついての他所の講義</a:t>
            </a:r>
            <a:r>
              <a:rPr kumimoji="1" lang="ja-JP" altLang="en-US" dirty="0"/>
              <a:t>資料について</a:t>
            </a:r>
          </a:p>
        </p:txBody>
      </p:sp>
      <p:sp>
        <p:nvSpPr>
          <p:cNvPr id="3" name="テキスト プレースホルダー 2">
            <a:extLst>
              <a:ext uri="{FF2B5EF4-FFF2-40B4-BE49-F238E27FC236}">
                <a16:creationId xmlns:a16="http://schemas.microsoft.com/office/drawing/2014/main" id="{49AAAF36-0863-E104-3525-3A1586BBC87E}"/>
              </a:ext>
            </a:extLst>
          </p:cNvPr>
          <p:cNvSpPr>
            <a:spLocks noGrp="1"/>
          </p:cNvSpPr>
          <p:nvPr>
            <p:ph type="body" sz="quarter" idx="10"/>
          </p:nvPr>
        </p:nvSpPr>
        <p:spPr/>
        <p:txBody>
          <a:bodyPr/>
          <a:lstStyle/>
          <a:p>
            <a:r>
              <a:rPr lang="en-US" altLang="ja-JP" dirty="0"/>
              <a:t>Caroline Collange (</a:t>
            </a:r>
            <a:r>
              <a:rPr lang="ja-JP" altLang="en-US" dirty="0"/>
              <a:t>フランス国立情報学自動制御研究所</a:t>
            </a:r>
            <a:r>
              <a:rPr lang="en-US" altLang="ja-JP" dirty="0"/>
              <a:t>), </a:t>
            </a:r>
            <a:br>
              <a:rPr lang="en-US" altLang="ja-JP" dirty="0"/>
            </a:br>
            <a:r>
              <a:rPr lang="en-US" altLang="ja-JP" dirty="0"/>
              <a:t>"GPU architecture", </a:t>
            </a:r>
            <a:br>
              <a:rPr lang="en-US" altLang="ja-JP" dirty="0"/>
            </a:br>
            <a:r>
              <a:rPr lang="en-US" altLang="ja-JP" dirty="0">
                <a:hlinkClick r:id="rId2"/>
              </a:rPr>
              <a:t>https://team.inria.fr/pacap/members/collange/</a:t>
            </a:r>
            <a:endParaRPr lang="en-US" altLang="ja-JP" dirty="0"/>
          </a:p>
          <a:p>
            <a:r>
              <a:rPr lang="en-US" altLang="ja-JP" dirty="0"/>
              <a:t>Juan Gómez Luna and Onur Mutlu (</a:t>
            </a:r>
            <a:r>
              <a:rPr lang="ja-JP" altLang="en-US" dirty="0"/>
              <a:t>チューリッヒ工科大学</a:t>
            </a:r>
            <a:r>
              <a:rPr lang="en-US" altLang="ja-JP" dirty="0"/>
              <a:t>), </a:t>
            </a:r>
            <a:br>
              <a:rPr lang="en-US" altLang="ja-JP" dirty="0"/>
            </a:br>
            <a:r>
              <a:rPr lang="en-US" altLang="ja-JP" dirty="0"/>
              <a:t>"Computer Architecture Lecture 7: SIMD Processors and GPUs", </a:t>
            </a:r>
            <a:r>
              <a:rPr lang="en-US" altLang="ja-JP" dirty="0">
                <a:hlinkClick r:id="rId3"/>
              </a:rPr>
              <a:t>https://safari.ethz.ch/architecture/fall2018/lib/exe/fetch.php?media=comparch-fall2018-lecture7-simdandgpu-afterlecture.pdf</a:t>
            </a:r>
            <a:endParaRPr lang="en-US" altLang="ja-JP" dirty="0"/>
          </a:p>
          <a:p>
            <a:pPr marL="0" indent="0">
              <a:buNone/>
            </a:pPr>
            <a:r>
              <a:rPr kumimoji="1" lang="ja-JP" altLang="en-US" dirty="0"/>
              <a:t>より </a:t>
            </a:r>
            <a:r>
              <a:rPr kumimoji="1" lang="en-US" altLang="ja-JP" dirty="0"/>
              <a:t>GPU </a:t>
            </a:r>
            <a:r>
              <a:rPr kumimoji="1" lang="ja-JP" altLang="en-US" dirty="0"/>
              <a:t>の事を勉強したい人はたとえば上記の講義資料がおすすめです</a:t>
            </a:r>
          </a:p>
        </p:txBody>
      </p:sp>
    </p:spTree>
    <p:extLst>
      <p:ext uri="{BB962C8B-B14F-4D97-AF65-F5344CB8AC3E}">
        <p14:creationId xmlns:p14="http://schemas.microsoft.com/office/powerpoint/2010/main" val="17198554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D9328-C5D2-3AD1-D66D-6DCE99716FE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954075-3973-80A0-9A6B-09A1717C4493}"/>
              </a:ext>
            </a:extLst>
          </p:cNvPr>
          <p:cNvSpPr>
            <a:spLocks noGrp="1"/>
          </p:cNvSpPr>
          <p:nvPr>
            <p:ph type="title"/>
          </p:nvPr>
        </p:nvSpPr>
        <p:spPr/>
        <p:txBody>
          <a:bodyPr/>
          <a:lstStyle/>
          <a:p>
            <a:r>
              <a:rPr kumimoji="1" lang="ja-JP" altLang="en-US" dirty="0"/>
              <a:t>付録</a:t>
            </a:r>
          </a:p>
        </p:txBody>
      </p:sp>
      <p:sp>
        <p:nvSpPr>
          <p:cNvPr id="3" name="テキスト プレースホルダー 2">
            <a:extLst>
              <a:ext uri="{FF2B5EF4-FFF2-40B4-BE49-F238E27FC236}">
                <a16:creationId xmlns:a16="http://schemas.microsoft.com/office/drawing/2014/main" id="{E788D4FA-A2FC-4D9E-175B-2D7EAEB4C19C}"/>
              </a:ext>
            </a:extLst>
          </p:cNvPr>
          <p:cNvSpPr>
            <a:spLocks noGrp="1"/>
          </p:cNvSpPr>
          <p:nvPr>
            <p:ph type="body" sz="quarter" idx="10"/>
          </p:nvPr>
        </p:nvSpPr>
        <p:spPr/>
        <p:txBody>
          <a:bodyPr/>
          <a:lstStyle/>
          <a:p>
            <a:endParaRPr kumimoji="1" lang="ja-JP" altLang="en-US"/>
          </a:p>
        </p:txBody>
      </p:sp>
    </p:spTree>
    <p:extLst>
      <p:ext uri="{BB962C8B-B14F-4D97-AF65-F5344CB8AC3E}">
        <p14:creationId xmlns:p14="http://schemas.microsoft.com/office/powerpoint/2010/main" val="22413366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14C87B-1010-3C48-3314-4FF044D61203}"/>
              </a:ext>
            </a:extLst>
          </p:cNvPr>
          <p:cNvSpPr>
            <a:spLocks noGrp="1"/>
          </p:cNvSpPr>
          <p:nvPr>
            <p:ph type="title"/>
          </p:nvPr>
        </p:nvSpPr>
        <p:spPr/>
        <p:txBody>
          <a:bodyPr/>
          <a:lstStyle/>
          <a:p>
            <a:r>
              <a:rPr kumimoji="1" lang="ja-JP" altLang="en-US" dirty="0"/>
              <a:t>補足：本日触れなかった </a:t>
            </a:r>
            <a:r>
              <a:rPr kumimoji="1" lang="en-US" altLang="ja-JP" dirty="0"/>
              <a:t>GPU </a:t>
            </a:r>
            <a:r>
              <a:rPr kumimoji="1" lang="ja-JP" altLang="en-US" dirty="0"/>
              <a:t>に関する話題</a:t>
            </a:r>
            <a:endParaRPr kumimoji="1" lang="en-US" dirty="0"/>
          </a:p>
        </p:txBody>
      </p:sp>
      <p:sp>
        <p:nvSpPr>
          <p:cNvPr id="3" name="テキスト プレースホルダー 2">
            <a:extLst>
              <a:ext uri="{FF2B5EF4-FFF2-40B4-BE49-F238E27FC236}">
                <a16:creationId xmlns:a16="http://schemas.microsoft.com/office/drawing/2014/main" id="{6B202F3B-9356-7458-DBB9-E47F528F033C}"/>
              </a:ext>
            </a:extLst>
          </p:cNvPr>
          <p:cNvSpPr>
            <a:spLocks noGrp="1"/>
          </p:cNvSpPr>
          <p:nvPr>
            <p:ph type="body" sz="quarter" idx="10"/>
          </p:nvPr>
        </p:nvSpPr>
        <p:spPr/>
        <p:txBody>
          <a:bodyPr/>
          <a:lstStyle/>
          <a:p>
            <a:r>
              <a:rPr kumimoji="1" lang="ja-JP" altLang="en-US" dirty="0"/>
              <a:t>マルチスレッド実行によるレイテンシの隠蔽</a:t>
            </a:r>
            <a:endParaRPr kumimoji="1" lang="en-US" altLang="ja-JP" dirty="0"/>
          </a:p>
          <a:p>
            <a:pPr lvl="1"/>
            <a:r>
              <a:rPr lang="en-US" dirty="0"/>
              <a:t>GPU </a:t>
            </a:r>
            <a:r>
              <a:rPr lang="ja-JP" altLang="en-US" dirty="0"/>
              <a:t>では非常に多くのスレッドを同時に実行することで，</a:t>
            </a:r>
            <a:endParaRPr lang="en-US" altLang="ja-JP" dirty="0"/>
          </a:p>
          <a:p>
            <a:pPr lvl="2"/>
            <a:r>
              <a:rPr lang="ja-JP" altLang="en-US" dirty="0"/>
              <a:t>メモリアクセスを並列させることでレイテンシを隠蔽している</a:t>
            </a:r>
            <a:endParaRPr lang="en-US" altLang="ja-JP" dirty="0"/>
          </a:p>
          <a:p>
            <a:pPr lvl="2"/>
            <a:r>
              <a:rPr lang="ja-JP" altLang="en-US" dirty="0"/>
              <a:t>バックエッジに対する対処を行っている</a:t>
            </a:r>
            <a:endParaRPr lang="en-US" altLang="ja-JP" dirty="0"/>
          </a:p>
          <a:p>
            <a:pPr lvl="1"/>
            <a:r>
              <a:rPr kumimoji="1" lang="en-US" dirty="0"/>
              <a:t>SIMT </a:t>
            </a:r>
            <a:r>
              <a:rPr kumimoji="1" lang="ja-JP" altLang="en-US" dirty="0"/>
              <a:t>や </a:t>
            </a:r>
            <a:r>
              <a:rPr kumimoji="1" lang="en-US" altLang="ja-JP" dirty="0"/>
              <a:t>SPMD </a:t>
            </a:r>
            <a:r>
              <a:rPr kumimoji="1" lang="ja-JP" altLang="en-US" dirty="0"/>
              <a:t>においてスレッドが並列に実行されているのとは直交した概念</a:t>
            </a:r>
            <a:endParaRPr kumimoji="1" lang="en-US" altLang="ja-JP" dirty="0"/>
          </a:p>
          <a:p>
            <a:r>
              <a:rPr kumimoji="1" lang="ja-JP" altLang="en-US" dirty="0"/>
              <a:t>演算精度の低精度化</a:t>
            </a:r>
            <a:endParaRPr kumimoji="1" lang="en-US" altLang="ja-JP" dirty="0"/>
          </a:p>
          <a:p>
            <a:pPr lvl="1"/>
            <a:r>
              <a:rPr kumimoji="1" lang="ja-JP" altLang="en-US" dirty="0"/>
              <a:t>少しだけ補足</a:t>
            </a:r>
            <a:endParaRPr kumimoji="1" lang="en-US" altLang="ja-JP" dirty="0"/>
          </a:p>
        </p:txBody>
      </p:sp>
    </p:spTree>
    <p:extLst>
      <p:ext uri="{BB962C8B-B14F-4D97-AF65-F5344CB8AC3E}">
        <p14:creationId xmlns:p14="http://schemas.microsoft.com/office/powerpoint/2010/main" val="37527249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89A09-FC14-51F0-3100-D55E6F9E92F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6DA238-3F37-30D5-4CD5-C5C388D3CB7E}"/>
              </a:ext>
            </a:extLst>
          </p:cNvPr>
          <p:cNvSpPr>
            <a:spLocks noGrp="1"/>
          </p:cNvSpPr>
          <p:nvPr>
            <p:ph type="title"/>
          </p:nvPr>
        </p:nvSpPr>
        <p:spPr/>
        <p:txBody>
          <a:bodyPr/>
          <a:lstStyle/>
          <a:p>
            <a:r>
              <a:rPr kumimoji="1" lang="ja-JP" altLang="en-US" dirty="0"/>
              <a:t>バックエッジに対する対処</a:t>
            </a:r>
          </a:p>
        </p:txBody>
      </p:sp>
      <p:sp>
        <p:nvSpPr>
          <p:cNvPr id="3" name="テキスト プレースホルダー 2">
            <a:extLst>
              <a:ext uri="{FF2B5EF4-FFF2-40B4-BE49-F238E27FC236}">
                <a16:creationId xmlns:a16="http://schemas.microsoft.com/office/drawing/2014/main" id="{A558C007-1A60-5BDE-9682-F03A49479E44}"/>
              </a:ext>
            </a:extLst>
          </p:cNvPr>
          <p:cNvSpPr>
            <a:spLocks noGrp="1"/>
          </p:cNvSpPr>
          <p:nvPr>
            <p:ph type="body" sz="quarter" idx="10"/>
          </p:nvPr>
        </p:nvSpPr>
        <p:spPr/>
        <p:txBody>
          <a:bodyPr/>
          <a:lstStyle/>
          <a:p>
            <a:r>
              <a:rPr kumimoji="1" lang="en-US" altLang="ja-JP" dirty="0"/>
              <a:t>CPU </a:t>
            </a:r>
            <a:r>
              <a:rPr kumimoji="1" lang="ja-JP" altLang="en-US" dirty="0"/>
              <a:t>の場合</a:t>
            </a:r>
            <a:endParaRPr kumimoji="1" lang="en-US" altLang="ja-JP" dirty="0"/>
          </a:p>
          <a:p>
            <a:pPr lvl="1"/>
            <a:r>
              <a:rPr kumimoji="1" lang="ja-JP" altLang="en-US" dirty="0"/>
              <a:t>フォワーディング，分岐予測，命令スケジューリング</a:t>
            </a:r>
            <a:r>
              <a:rPr kumimoji="1" lang="en-US" altLang="ja-JP" dirty="0"/>
              <a:t>…</a:t>
            </a:r>
          </a:p>
          <a:p>
            <a:r>
              <a:rPr lang="en-US" altLang="ja-JP" dirty="0"/>
              <a:t>GPU </a:t>
            </a:r>
            <a:r>
              <a:rPr lang="ja-JP" altLang="en-US" dirty="0"/>
              <a:t>の場合</a:t>
            </a:r>
            <a:endParaRPr lang="en-US" altLang="ja-JP" dirty="0"/>
          </a:p>
          <a:p>
            <a:pPr lvl="1"/>
            <a:r>
              <a:rPr kumimoji="1" lang="ja-JP" altLang="en-US" dirty="0"/>
              <a:t>上記を一切行わない</a:t>
            </a:r>
            <a:endParaRPr kumimoji="1" lang="en-US" altLang="ja-JP" dirty="0"/>
          </a:p>
          <a:p>
            <a:pPr lvl="1"/>
            <a:r>
              <a:rPr kumimoji="1" lang="ja-JP" altLang="en-US" dirty="0"/>
              <a:t>全部マルチスレッディングで対処</a:t>
            </a:r>
            <a:endParaRPr kumimoji="1" lang="en-US" altLang="ja-JP" dirty="0"/>
          </a:p>
          <a:p>
            <a:pPr lvl="2"/>
            <a:r>
              <a:rPr kumimoji="1" lang="ja-JP" altLang="en-US" dirty="0">
                <a:solidFill>
                  <a:schemeClr val="accent5"/>
                </a:solidFill>
              </a:rPr>
              <a:t>動かすべきスレッドは大量にある</a:t>
            </a:r>
          </a:p>
        </p:txBody>
      </p:sp>
    </p:spTree>
    <p:extLst>
      <p:ext uri="{BB962C8B-B14F-4D97-AF65-F5344CB8AC3E}">
        <p14:creationId xmlns:p14="http://schemas.microsoft.com/office/powerpoint/2010/main" val="32261194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9E628-FA4A-6784-C429-C0AFDA4EA79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A45187-3A03-FF60-B7F8-75B63F52F3FC}"/>
              </a:ext>
            </a:extLst>
          </p:cNvPr>
          <p:cNvSpPr>
            <a:spLocks noGrp="1"/>
          </p:cNvSpPr>
          <p:nvPr>
            <p:ph type="title"/>
          </p:nvPr>
        </p:nvSpPr>
        <p:spPr/>
        <p:txBody>
          <a:bodyPr/>
          <a:lstStyle/>
          <a:p>
            <a:r>
              <a:rPr kumimoji="1" lang="en-US" altLang="ja-JP" dirty="0"/>
              <a:t>CPU </a:t>
            </a:r>
            <a:r>
              <a:rPr kumimoji="1" lang="ja-JP" altLang="en-US" dirty="0"/>
              <a:t>のバックエッジ：逆方向（右から左）</a:t>
            </a:r>
          </a:p>
        </p:txBody>
      </p:sp>
      <p:sp>
        <p:nvSpPr>
          <p:cNvPr id="3" name="テキスト プレースホルダー 2">
            <a:extLst>
              <a:ext uri="{FF2B5EF4-FFF2-40B4-BE49-F238E27FC236}">
                <a16:creationId xmlns:a16="http://schemas.microsoft.com/office/drawing/2014/main" id="{28631E83-7DAA-0F78-7DD3-5A012BF2F5FF}"/>
              </a:ext>
            </a:extLst>
          </p:cNvPr>
          <p:cNvSpPr>
            <a:spLocks noGrp="1"/>
          </p:cNvSpPr>
          <p:nvPr>
            <p:ph type="body" sz="quarter" idx="10"/>
          </p:nvPr>
        </p:nvSpPr>
        <p:spPr>
          <a:xfrm>
            <a:off x="2135956" y="5589025"/>
            <a:ext cx="8280092" cy="719701"/>
          </a:xfrm>
        </p:spPr>
        <p:txBody>
          <a:bodyPr/>
          <a:lstStyle/>
          <a:p>
            <a:r>
              <a:rPr kumimoji="1" lang="ja-JP" altLang="en-US" dirty="0"/>
              <a:t>バックエッジがあるため，命令を</a:t>
            </a:r>
            <a:r>
              <a:rPr lang="ja-JP" altLang="en-US" dirty="0"/>
              <a:t>単純に流せない場合がある</a:t>
            </a:r>
            <a:endParaRPr lang="en-US" altLang="ja-JP" dirty="0"/>
          </a:p>
          <a:p>
            <a:pPr lvl="1"/>
            <a:r>
              <a:rPr lang="ja-JP" altLang="en-US" dirty="0"/>
              <a:t>工場のラインのように，一方向に流せない</a:t>
            </a:r>
            <a:endParaRPr kumimoji="1" lang="ja-JP" altLang="en-US" dirty="0"/>
          </a:p>
        </p:txBody>
      </p:sp>
      <p:sp>
        <p:nvSpPr>
          <p:cNvPr id="4" name="正方形/長方形 3">
            <a:extLst>
              <a:ext uri="{FF2B5EF4-FFF2-40B4-BE49-F238E27FC236}">
                <a16:creationId xmlns:a16="http://schemas.microsoft.com/office/drawing/2014/main" id="{787C99E0-22C7-6B30-4716-72968CDC2A13}"/>
              </a:ext>
            </a:extLst>
          </p:cNvPr>
          <p:cNvSpPr/>
          <p:nvPr/>
        </p:nvSpPr>
        <p:spPr bwMode="auto">
          <a:xfrm>
            <a:off x="2495960" y="3429000"/>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2B0F19A9-9D49-F2E4-F30C-3E517961EC44}"/>
              </a:ext>
            </a:extLst>
          </p:cNvPr>
          <p:cNvSpPr/>
          <p:nvPr/>
        </p:nvSpPr>
        <p:spPr bwMode="auto">
          <a:xfrm>
            <a:off x="4655984" y="3429000"/>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6803BC01-349E-5ABD-2B47-A0C8F67F563B}"/>
              </a:ext>
            </a:extLst>
          </p:cNvPr>
          <p:cNvSpPr/>
          <p:nvPr/>
        </p:nvSpPr>
        <p:spPr bwMode="auto">
          <a:xfrm>
            <a:off x="8256024" y="3429000"/>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a:extLst>
              <a:ext uri="{FF2B5EF4-FFF2-40B4-BE49-F238E27FC236}">
                <a16:creationId xmlns:a16="http://schemas.microsoft.com/office/drawing/2014/main" id="{67EC5A9D-7C6B-D372-C9A2-CB171003776C}"/>
              </a:ext>
            </a:extLst>
          </p:cNvPr>
          <p:cNvSpPr>
            <a:spLocks noChangeArrowheads="1"/>
          </p:cNvSpPr>
          <p:nvPr/>
        </p:nvSpPr>
        <p:spPr bwMode="auto">
          <a:xfrm rot="-5400000">
            <a:off x="6591007" y="3834004"/>
            <a:ext cx="117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a:extLst>
              <a:ext uri="{FF2B5EF4-FFF2-40B4-BE49-F238E27FC236}">
                <a16:creationId xmlns:a16="http://schemas.microsoft.com/office/drawing/2014/main" id="{3E76BA10-C0F8-2D52-4097-741EDB1E8A45}"/>
              </a:ext>
            </a:extLst>
          </p:cNvPr>
          <p:cNvSpPr/>
          <p:nvPr/>
        </p:nvSpPr>
        <p:spPr bwMode="auto">
          <a:xfrm>
            <a:off x="1775952" y="3789004"/>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a:extLst>
              <a:ext uri="{FF2B5EF4-FFF2-40B4-BE49-F238E27FC236}">
                <a16:creationId xmlns:a16="http://schemas.microsoft.com/office/drawing/2014/main" id="{92E0E63C-2ED0-AC19-C492-FBE8830EEA58}"/>
              </a:ext>
            </a:extLst>
          </p:cNvPr>
          <p:cNvCxnSpPr>
            <a:endCxn id="4" idx="1"/>
          </p:cNvCxnSpPr>
          <p:nvPr/>
        </p:nvCxnSpPr>
        <p:spPr bwMode="auto">
          <a:xfrm>
            <a:off x="2135956" y="4149008"/>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a:extLst>
              <a:ext uri="{FF2B5EF4-FFF2-40B4-BE49-F238E27FC236}">
                <a16:creationId xmlns:a16="http://schemas.microsoft.com/office/drawing/2014/main" id="{5EF1575E-F593-7B67-281F-FAEE03755471}"/>
              </a:ext>
            </a:extLst>
          </p:cNvPr>
          <p:cNvSpPr>
            <a:spLocks/>
          </p:cNvSpPr>
          <p:nvPr/>
        </p:nvSpPr>
        <p:spPr bwMode="auto">
          <a:xfrm flipV="1">
            <a:off x="2315958" y="2978993"/>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a:extLst>
              <a:ext uri="{FF2B5EF4-FFF2-40B4-BE49-F238E27FC236}">
                <a16:creationId xmlns:a16="http://schemas.microsoft.com/office/drawing/2014/main" id="{3E6938D2-AA89-E76B-C570-89D5F77F33CE}"/>
              </a:ext>
            </a:extLst>
          </p:cNvPr>
          <p:cNvSpPr>
            <a:spLocks noChangeArrowheads="1"/>
          </p:cNvSpPr>
          <p:nvPr/>
        </p:nvSpPr>
        <p:spPr bwMode="auto">
          <a:xfrm rot="-5400000">
            <a:off x="2585960" y="2528990"/>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a:extLst>
              <a:ext uri="{FF2B5EF4-FFF2-40B4-BE49-F238E27FC236}">
                <a16:creationId xmlns:a16="http://schemas.microsoft.com/office/drawing/2014/main" id="{2168CD49-6848-B863-D57A-76B0A5C815DE}"/>
              </a:ext>
            </a:extLst>
          </p:cNvPr>
          <p:cNvCxnSpPr/>
          <p:nvPr/>
        </p:nvCxnSpPr>
        <p:spPr bwMode="auto">
          <a:xfrm>
            <a:off x="2405959" y="2438989"/>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正方形/長方形 12">
            <a:extLst>
              <a:ext uri="{FF2B5EF4-FFF2-40B4-BE49-F238E27FC236}">
                <a16:creationId xmlns:a16="http://schemas.microsoft.com/office/drawing/2014/main" id="{D2BD9FA7-650F-BD38-4593-D4DA8FBBD63C}"/>
              </a:ext>
            </a:extLst>
          </p:cNvPr>
          <p:cNvSpPr/>
          <p:nvPr/>
        </p:nvSpPr>
        <p:spPr bwMode="auto">
          <a:xfrm>
            <a:off x="2135955" y="2258987"/>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14" name="Freeform 10">
            <a:extLst>
              <a:ext uri="{FF2B5EF4-FFF2-40B4-BE49-F238E27FC236}">
                <a16:creationId xmlns:a16="http://schemas.microsoft.com/office/drawing/2014/main" id="{0F94FFB0-DE54-1BB4-7D12-26D0A05508EC}"/>
              </a:ext>
            </a:extLst>
          </p:cNvPr>
          <p:cNvSpPr>
            <a:spLocks/>
          </p:cNvSpPr>
          <p:nvPr/>
        </p:nvSpPr>
        <p:spPr bwMode="auto">
          <a:xfrm>
            <a:off x="1595950" y="1988984"/>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a:extLst>
              <a:ext uri="{FF2B5EF4-FFF2-40B4-BE49-F238E27FC236}">
                <a16:creationId xmlns:a16="http://schemas.microsoft.com/office/drawing/2014/main" id="{8C834493-7404-AFF0-2391-2E3593B1FF59}"/>
              </a:ext>
            </a:extLst>
          </p:cNvPr>
          <p:cNvSpPr>
            <a:spLocks/>
          </p:cNvSpPr>
          <p:nvPr/>
        </p:nvSpPr>
        <p:spPr bwMode="auto">
          <a:xfrm rot="16200000">
            <a:off x="3080968" y="2213985"/>
            <a:ext cx="630007"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a:extLst>
              <a:ext uri="{FF2B5EF4-FFF2-40B4-BE49-F238E27FC236}">
                <a16:creationId xmlns:a16="http://schemas.microsoft.com/office/drawing/2014/main" id="{1B714D37-1567-39B4-7215-48F5FE79FE19}"/>
              </a:ext>
            </a:extLst>
          </p:cNvPr>
          <p:cNvCxnSpPr/>
          <p:nvPr/>
        </p:nvCxnSpPr>
        <p:spPr bwMode="auto">
          <a:xfrm>
            <a:off x="1595950" y="1988984"/>
            <a:ext cx="1800020" cy="0"/>
          </a:xfrm>
          <a:prstGeom prst="straightConnector1">
            <a:avLst/>
          </a:prstGeom>
          <a:noFill/>
          <a:ln w="9525" cap="flat" cmpd="sng" algn="ctr">
            <a:solidFill>
              <a:schemeClr val="tx1"/>
            </a:solidFill>
            <a:prstDash val="solid"/>
            <a:round/>
            <a:headEnd type="none" w="sm" len="sm"/>
            <a:tailEnd type="none"/>
          </a:ln>
          <a:effectLst/>
        </p:spPr>
      </p:cxnSp>
      <p:cxnSp>
        <p:nvCxnSpPr>
          <p:cNvPr id="17" name="直線矢印コネクタ 16">
            <a:extLst>
              <a:ext uri="{FF2B5EF4-FFF2-40B4-BE49-F238E27FC236}">
                <a16:creationId xmlns:a16="http://schemas.microsoft.com/office/drawing/2014/main" id="{0D7802F2-43F0-42CF-7D26-4C5DD9F93BEC}"/>
              </a:ext>
            </a:extLst>
          </p:cNvPr>
          <p:cNvCxnSpPr/>
          <p:nvPr/>
        </p:nvCxnSpPr>
        <p:spPr bwMode="auto">
          <a:xfrm>
            <a:off x="3935976" y="4149008"/>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8" name="正方形/長方形 17">
            <a:extLst>
              <a:ext uri="{FF2B5EF4-FFF2-40B4-BE49-F238E27FC236}">
                <a16:creationId xmlns:a16="http://schemas.microsoft.com/office/drawing/2014/main" id="{11D99D4E-3303-81FC-9616-D759C435C105}"/>
              </a:ext>
            </a:extLst>
          </p:cNvPr>
          <p:cNvSpPr/>
          <p:nvPr/>
        </p:nvSpPr>
        <p:spPr bwMode="auto">
          <a:xfrm>
            <a:off x="2495960" y="396900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19" name="正方形/長方形 18">
            <a:extLst>
              <a:ext uri="{FF2B5EF4-FFF2-40B4-BE49-F238E27FC236}">
                <a16:creationId xmlns:a16="http://schemas.microsoft.com/office/drawing/2014/main" id="{7492E604-6B55-6E68-C5D5-47D4D4563979}"/>
              </a:ext>
            </a:extLst>
          </p:cNvPr>
          <p:cNvSpPr/>
          <p:nvPr/>
        </p:nvSpPr>
        <p:spPr bwMode="auto">
          <a:xfrm>
            <a:off x="3575972" y="396900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20" name="Freeform 10">
            <a:extLst>
              <a:ext uri="{FF2B5EF4-FFF2-40B4-BE49-F238E27FC236}">
                <a16:creationId xmlns:a16="http://schemas.microsoft.com/office/drawing/2014/main" id="{80B9A47B-2AD4-C23F-1272-9320F267A8EA}"/>
              </a:ext>
            </a:extLst>
          </p:cNvPr>
          <p:cNvSpPr>
            <a:spLocks/>
          </p:cNvSpPr>
          <p:nvPr/>
        </p:nvSpPr>
        <p:spPr bwMode="auto">
          <a:xfrm flipV="1">
            <a:off x="4475982" y="3969003"/>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1" name="直線矢印コネクタ 20">
            <a:extLst>
              <a:ext uri="{FF2B5EF4-FFF2-40B4-BE49-F238E27FC236}">
                <a16:creationId xmlns:a16="http://schemas.microsoft.com/office/drawing/2014/main" id="{84E17ECC-398F-B01A-E0EC-19DDACD2C9A5}"/>
              </a:ext>
            </a:extLst>
          </p:cNvPr>
          <p:cNvCxnSpPr/>
          <p:nvPr/>
        </p:nvCxnSpPr>
        <p:spPr bwMode="auto">
          <a:xfrm>
            <a:off x="4475982" y="4329010"/>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2" name="正方形/長方形 21">
            <a:extLst>
              <a:ext uri="{FF2B5EF4-FFF2-40B4-BE49-F238E27FC236}">
                <a16:creationId xmlns:a16="http://schemas.microsoft.com/office/drawing/2014/main" id="{930B924A-B2FD-69DA-234D-CE4102E05859}"/>
              </a:ext>
            </a:extLst>
          </p:cNvPr>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3" name="正方形/長方形 22">
            <a:extLst>
              <a:ext uri="{FF2B5EF4-FFF2-40B4-BE49-F238E27FC236}">
                <a16:creationId xmlns:a16="http://schemas.microsoft.com/office/drawing/2014/main" id="{BEF32163-13C5-4AD8-D497-161830518BF5}"/>
              </a:ext>
            </a:extLst>
          </p:cNvPr>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4" name="正方形/長方形 23">
            <a:extLst>
              <a:ext uri="{FF2B5EF4-FFF2-40B4-BE49-F238E27FC236}">
                <a16:creationId xmlns:a16="http://schemas.microsoft.com/office/drawing/2014/main" id="{75A72157-8195-0BE4-6ABB-DF6FC4FF5921}"/>
              </a:ext>
            </a:extLst>
          </p:cNvPr>
          <p:cNvSpPr/>
          <p:nvPr/>
        </p:nvSpPr>
        <p:spPr bwMode="auto">
          <a:xfrm>
            <a:off x="4655984" y="414900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5" name="正方形/長方形 24">
            <a:extLst>
              <a:ext uri="{FF2B5EF4-FFF2-40B4-BE49-F238E27FC236}">
                <a16:creationId xmlns:a16="http://schemas.microsoft.com/office/drawing/2014/main" id="{396A5541-5CFB-9DD1-4675-2B77164EE1D6}"/>
              </a:ext>
            </a:extLst>
          </p:cNvPr>
          <p:cNvSpPr/>
          <p:nvPr/>
        </p:nvSpPr>
        <p:spPr bwMode="auto">
          <a:xfrm>
            <a:off x="4655984" y="450901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6" name="正方形/長方形 25">
            <a:extLst>
              <a:ext uri="{FF2B5EF4-FFF2-40B4-BE49-F238E27FC236}">
                <a16:creationId xmlns:a16="http://schemas.microsoft.com/office/drawing/2014/main" id="{17601C47-E368-4502-BBC7-EF3EC5241843}"/>
              </a:ext>
            </a:extLst>
          </p:cNvPr>
          <p:cNvSpPr/>
          <p:nvPr/>
        </p:nvSpPr>
        <p:spPr bwMode="auto">
          <a:xfrm>
            <a:off x="4655984" y="486901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27" name="正方形/長方形 26">
            <a:extLst>
              <a:ext uri="{FF2B5EF4-FFF2-40B4-BE49-F238E27FC236}">
                <a16:creationId xmlns:a16="http://schemas.microsoft.com/office/drawing/2014/main" id="{108A2E86-B2C6-F98C-1332-4A295B8EA48F}"/>
              </a:ext>
            </a:extLst>
          </p:cNvPr>
          <p:cNvSpPr/>
          <p:nvPr/>
        </p:nvSpPr>
        <p:spPr bwMode="auto">
          <a:xfrm>
            <a:off x="2495960" y="486901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8" name="直線矢印コネクタ 27">
            <a:extLst>
              <a:ext uri="{FF2B5EF4-FFF2-40B4-BE49-F238E27FC236}">
                <a16:creationId xmlns:a16="http://schemas.microsoft.com/office/drawing/2014/main" id="{A606472E-1F4B-A80C-73AC-669A6D708EB3}"/>
              </a:ext>
            </a:extLst>
          </p:cNvPr>
          <p:cNvCxnSpPr/>
          <p:nvPr/>
        </p:nvCxnSpPr>
        <p:spPr bwMode="auto">
          <a:xfrm>
            <a:off x="4475982" y="4689014"/>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9" name="Freeform 10">
            <a:extLst>
              <a:ext uri="{FF2B5EF4-FFF2-40B4-BE49-F238E27FC236}">
                <a16:creationId xmlns:a16="http://schemas.microsoft.com/office/drawing/2014/main" id="{5362E02C-05A9-C926-B316-76B9D7990655}"/>
              </a:ext>
            </a:extLst>
          </p:cNvPr>
          <p:cNvSpPr>
            <a:spLocks/>
          </p:cNvSpPr>
          <p:nvPr/>
        </p:nvSpPr>
        <p:spPr bwMode="auto">
          <a:xfrm>
            <a:off x="4475982" y="1898984"/>
            <a:ext cx="180002" cy="171001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6"/>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0" name="Freeform 10">
            <a:extLst>
              <a:ext uri="{FF2B5EF4-FFF2-40B4-BE49-F238E27FC236}">
                <a16:creationId xmlns:a16="http://schemas.microsoft.com/office/drawing/2014/main" id="{D86E9977-149D-E53C-88C1-0450F9A63515}"/>
              </a:ext>
            </a:extLst>
          </p:cNvPr>
          <p:cNvSpPr>
            <a:spLocks/>
          </p:cNvSpPr>
          <p:nvPr/>
        </p:nvSpPr>
        <p:spPr bwMode="auto">
          <a:xfrm rot="10800000" flipH="1">
            <a:off x="9876039" y="3429000"/>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1" name="直線矢印コネクタ 30">
            <a:extLst>
              <a:ext uri="{FF2B5EF4-FFF2-40B4-BE49-F238E27FC236}">
                <a16:creationId xmlns:a16="http://schemas.microsoft.com/office/drawing/2014/main" id="{5827F3FF-8B53-2DCA-CDA9-B10EB3E3280C}"/>
              </a:ext>
            </a:extLst>
          </p:cNvPr>
          <p:cNvCxnSpPr/>
          <p:nvPr/>
        </p:nvCxnSpPr>
        <p:spPr bwMode="auto">
          <a:xfrm>
            <a:off x="9696040" y="4149008"/>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a:extLst>
              <a:ext uri="{FF2B5EF4-FFF2-40B4-BE49-F238E27FC236}">
                <a16:creationId xmlns:a16="http://schemas.microsoft.com/office/drawing/2014/main" id="{F3FC5FDD-DCEA-ED94-0ADA-8BD4F913D26F}"/>
              </a:ext>
            </a:extLst>
          </p:cNvPr>
          <p:cNvCxnSpPr/>
          <p:nvPr/>
        </p:nvCxnSpPr>
        <p:spPr bwMode="auto">
          <a:xfrm>
            <a:off x="7536016" y="4149008"/>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3" name="直線矢印コネクタ 32">
            <a:extLst>
              <a:ext uri="{FF2B5EF4-FFF2-40B4-BE49-F238E27FC236}">
                <a16:creationId xmlns:a16="http://schemas.microsoft.com/office/drawing/2014/main" id="{7D14EFF5-A5C6-F06B-843A-014EA71BC77A}"/>
              </a:ext>
            </a:extLst>
          </p:cNvPr>
          <p:cNvCxnSpPr/>
          <p:nvPr/>
        </p:nvCxnSpPr>
        <p:spPr bwMode="auto">
          <a:xfrm>
            <a:off x="6096000" y="3879005"/>
            <a:ext cx="360004" cy="0"/>
          </a:xfrm>
          <a:prstGeom prst="straightConnector1">
            <a:avLst/>
          </a:prstGeom>
          <a:noFill/>
          <a:ln w="9525" cap="flat" cmpd="sng" algn="ctr">
            <a:solidFill>
              <a:schemeClr val="tx1"/>
            </a:solidFill>
            <a:prstDash val="solid"/>
            <a:round/>
            <a:headEnd type="none" w="sm" len="sm"/>
            <a:tailEnd type="triangle"/>
          </a:ln>
          <a:effectLst/>
        </p:spPr>
      </p:cxnSp>
      <p:cxnSp>
        <p:nvCxnSpPr>
          <p:cNvPr id="34" name="直線矢印コネクタ 33">
            <a:extLst>
              <a:ext uri="{FF2B5EF4-FFF2-40B4-BE49-F238E27FC236}">
                <a16:creationId xmlns:a16="http://schemas.microsoft.com/office/drawing/2014/main" id="{0D87B757-D410-C607-D069-51F262EDBC53}"/>
              </a:ext>
            </a:extLst>
          </p:cNvPr>
          <p:cNvCxnSpPr/>
          <p:nvPr/>
        </p:nvCxnSpPr>
        <p:spPr bwMode="auto">
          <a:xfrm>
            <a:off x="6096000" y="4689014"/>
            <a:ext cx="360004" cy="0"/>
          </a:xfrm>
          <a:prstGeom prst="straightConnector1">
            <a:avLst/>
          </a:prstGeom>
          <a:noFill/>
          <a:ln w="9525" cap="flat" cmpd="sng" algn="ctr">
            <a:solidFill>
              <a:schemeClr val="tx1"/>
            </a:solidFill>
            <a:prstDash val="solid"/>
            <a:round/>
            <a:headEnd type="none" w="sm" len="sm"/>
            <a:tailEnd type="triangle"/>
          </a:ln>
          <a:effectLst/>
        </p:spPr>
      </p:cxnSp>
      <p:sp>
        <p:nvSpPr>
          <p:cNvPr id="35" name="正方形/長方形 34">
            <a:extLst>
              <a:ext uri="{FF2B5EF4-FFF2-40B4-BE49-F238E27FC236}">
                <a16:creationId xmlns:a16="http://schemas.microsoft.com/office/drawing/2014/main" id="{AA085E4D-51D0-4BAC-DD47-F7564C42C04E}"/>
              </a:ext>
            </a:extLst>
          </p:cNvPr>
          <p:cNvSpPr/>
          <p:nvPr/>
        </p:nvSpPr>
        <p:spPr bwMode="auto">
          <a:xfrm>
            <a:off x="8256024" y="360900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36" name="正方形/長方形 35">
            <a:extLst>
              <a:ext uri="{FF2B5EF4-FFF2-40B4-BE49-F238E27FC236}">
                <a16:creationId xmlns:a16="http://schemas.microsoft.com/office/drawing/2014/main" id="{C6923044-D810-B837-D6D8-598937535475}"/>
              </a:ext>
            </a:extLst>
          </p:cNvPr>
          <p:cNvSpPr/>
          <p:nvPr/>
        </p:nvSpPr>
        <p:spPr bwMode="auto">
          <a:xfrm>
            <a:off x="8256024" y="486901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7" name="Freeform 10">
            <a:extLst>
              <a:ext uri="{FF2B5EF4-FFF2-40B4-BE49-F238E27FC236}">
                <a16:creationId xmlns:a16="http://schemas.microsoft.com/office/drawing/2014/main" id="{C59F6E32-3C2B-2E50-83F1-58EE6823F221}"/>
              </a:ext>
            </a:extLst>
          </p:cNvPr>
          <p:cNvSpPr>
            <a:spLocks/>
          </p:cNvSpPr>
          <p:nvPr/>
        </p:nvSpPr>
        <p:spPr bwMode="auto">
          <a:xfrm>
            <a:off x="6636005" y="4599013"/>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a:extLst>
              <a:ext uri="{FF2B5EF4-FFF2-40B4-BE49-F238E27FC236}">
                <a16:creationId xmlns:a16="http://schemas.microsoft.com/office/drawing/2014/main" id="{BF07D06F-5000-493A-B095-36E03840F75B}"/>
              </a:ext>
            </a:extLst>
          </p:cNvPr>
          <p:cNvSpPr>
            <a:spLocks/>
          </p:cNvSpPr>
          <p:nvPr/>
        </p:nvSpPr>
        <p:spPr bwMode="auto">
          <a:xfrm flipV="1">
            <a:off x="8076022" y="4599012"/>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Freeform 10">
            <a:extLst>
              <a:ext uri="{FF2B5EF4-FFF2-40B4-BE49-F238E27FC236}">
                <a16:creationId xmlns:a16="http://schemas.microsoft.com/office/drawing/2014/main" id="{228A1E3E-5FCA-6172-5F07-C57C058E1457}"/>
              </a:ext>
            </a:extLst>
          </p:cNvPr>
          <p:cNvSpPr>
            <a:spLocks/>
          </p:cNvSpPr>
          <p:nvPr/>
        </p:nvSpPr>
        <p:spPr bwMode="auto">
          <a:xfrm flipV="1">
            <a:off x="8076022" y="378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0" name="正方形/長方形 39">
            <a:extLst>
              <a:ext uri="{FF2B5EF4-FFF2-40B4-BE49-F238E27FC236}">
                <a16:creationId xmlns:a16="http://schemas.microsoft.com/office/drawing/2014/main" id="{9F0C6E07-7C09-CAF2-8D95-5DF13CE5E405}"/>
              </a:ext>
            </a:extLst>
          </p:cNvPr>
          <p:cNvSpPr/>
          <p:nvPr/>
        </p:nvSpPr>
        <p:spPr bwMode="auto">
          <a:xfrm>
            <a:off x="8256024" y="4419011"/>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1" name="直線矢印コネクタ 40">
            <a:extLst>
              <a:ext uri="{FF2B5EF4-FFF2-40B4-BE49-F238E27FC236}">
                <a16:creationId xmlns:a16="http://schemas.microsoft.com/office/drawing/2014/main" id="{EFDBF669-1907-F4F3-7A34-BDD86B9D5349}"/>
              </a:ext>
            </a:extLst>
          </p:cNvPr>
          <p:cNvCxnSpPr/>
          <p:nvPr/>
        </p:nvCxnSpPr>
        <p:spPr bwMode="auto">
          <a:xfrm>
            <a:off x="10056044" y="3158997"/>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2" name="直線矢印コネクタ 41">
            <a:extLst>
              <a:ext uri="{FF2B5EF4-FFF2-40B4-BE49-F238E27FC236}">
                <a16:creationId xmlns:a16="http://schemas.microsoft.com/office/drawing/2014/main" id="{F4082D68-9654-EC4E-49A7-27E814A02280}"/>
              </a:ext>
            </a:extLst>
          </p:cNvPr>
          <p:cNvCxnSpPr/>
          <p:nvPr/>
        </p:nvCxnSpPr>
        <p:spPr bwMode="auto">
          <a:xfrm flipH="1">
            <a:off x="3395971" y="1898983"/>
            <a:ext cx="7110079" cy="0"/>
          </a:xfrm>
          <a:prstGeom prst="straightConnector1">
            <a:avLst/>
          </a:prstGeom>
          <a:noFill/>
          <a:ln w="31750" cap="flat" cmpd="sng" algn="ctr">
            <a:solidFill>
              <a:schemeClr val="accent6"/>
            </a:solidFill>
            <a:prstDash val="solid"/>
            <a:round/>
            <a:headEnd type="none" w="sm" len="sm"/>
            <a:tailEnd type="triangle"/>
          </a:ln>
          <a:effectLst/>
        </p:spPr>
      </p:cxnSp>
      <p:sp>
        <p:nvSpPr>
          <p:cNvPr id="43" name="Freeform 10">
            <a:extLst>
              <a:ext uri="{FF2B5EF4-FFF2-40B4-BE49-F238E27FC236}">
                <a16:creationId xmlns:a16="http://schemas.microsoft.com/office/drawing/2014/main" id="{E5D4A74E-11C4-E267-F6C7-4852BB45D77E}"/>
              </a:ext>
            </a:extLst>
          </p:cNvPr>
          <p:cNvSpPr>
            <a:spLocks/>
          </p:cNvSpPr>
          <p:nvPr/>
        </p:nvSpPr>
        <p:spPr bwMode="auto">
          <a:xfrm rot="10800000" flipH="1">
            <a:off x="8076022" y="3248995"/>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Freeform 10">
            <a:extLst>
              <a:ext uri="{FF2B5EF4-FFF2-40B4-BE49-F238E27FC236}">
                <a16:creationId xmlns:a16="http://schemas.microsoft.com/office/drawing/2014/main" id="{CC046564-2DCF-C359-EAFB-76E93D5241A0}"/>
              </a:ext>
            </a:extLst>
          </p:cNvPr>
          <p:cNvSpPr>
            <a:spLocks/>
          </p:cNvSpPr>
          <p:nvPr/>
        </p:nvSpPr>
        <p:spPr bwMode="auto">
          <a:xfrm rot="5400000" flipH="1" flipV="1">
            <a:off x="9561041" y="2393989"/>
            <a:ext cx="1440015"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6"/>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5" name="正方形/長方形 44">
            <a:extLst>
              <a:ext uri="{FF2B5EF4-FFF2-40B4-BE49-F238E27FC236}">
                <a16:creationId xmlns:a16="http://schemas.microsoft.com/office/drawing/2014/main" id="{EF1EA50A-94FA-76C6-2445-F62AF80594D7}"/>
              </a:ext>
            </a:extLst>
          </p:cNvPr>
          <p:cNvSpPr/>
          <p:nvPr/>
        </p:nvSpPr>
        <p:spPr bwMode="auto">
          <a:xfrm>
            <a:off x="8796030" y="396900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cxnSp>
        <p:nvCxnSpPr>
          <p:cNvPr id="46" name="直線矢印コネクタ 45">
            <a:extLst>
              <a:ext uri="{FF2B5EF4-FFF2-40B4-BE49-F238E27FC236}">
                <a16:creationId xmlns:a16="http://schemas.microsoft.com/office/drawing/2014/main" id="{0E1789AF-5193-14D7-56C3-9C1467847A3B}"/>
              </a:ext>
            </a:extLst>
          </p:cNvPr>
          <p:cNvCxnSpPr/>
          <p:nvPr/>
        </p:nvCxnSpPr>
        <p:spPr bwMode="auto">
          <a:xfrm>
            <a:off x="3395970" y="1808982"/>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7" name="直線矢印コネクタ 46">
            <a:extLst>
              <a:ext uri="{FF2B5EF4-FFF2-40B4-BE49-F238E27FC236}">
                <a16:creationId xmlns:a16="http://schemas.microsoft.com/office/drawing/2014/main" id="{4DA00113-C56A-59BC-2879-5E4F4305BABE}"/>
              </a:ext>
            </a:extLst>
          </p:cNvPr>
          <p:cNvCxnSpPr/>
          <p:nvPr/>
        </p:nvCxnSpPr>
        <p:spPr bwMode="auto">
          <a:xfrm flipH="1">
            <a:off x="3395970" y="2078985"/>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48" name="正方形/長方形 47">
            <a:extLst>
              <a:ext uri="{FF2B5EF4-FFF2-40B4-BE49-F238E27FC236}">
                <a16:creationId xmlns:a16="http://schemas.microsoft.com/office/drawing/2014/main" id="{4C7C9908-D4D7-C8F4-7F48-791E10BA8F96}"/>
              </a:ext>
            </a:extLst>
          </p:cNvPr>
          <p:cNvSpPr/>
          <p:nvPr/>
        </p:nvSpPr>
        <p:spPr bwMode="auto">
          <a:xfrm>
            <a:off x="3395970" y="1178975"/>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accent6"/>
                </a:solidFill>
                <a:latin typeface="メイリオ" panose="020B0604030504040204" pitchFamily="50" charset="-128"/>
                <a:ea typeface="メイリオ" panose="020B0604030504040204" pitchFamily="50" charset="-128"/>
              </a:rPr>
              <a:t>3. </a:t>
            </a:r>
            <a:r>
              <a:rPr lang="ja-JP" altLang="en-US" sz="1600" dirty="0">
                <a:solidFill>
                  <a:schemeClr val="accent6"/>
                </a:solidFill>
                <a:latin typeface="メイリオ" panose="020B0604030504040204" pitchFamily="50" charset="-128"/>
                <a:ea typeface="メイリオ" panose="020B0604030504040204" pitchFamily="50" charset="-128"/>
              </a:rPr>
              <a:t>分岐結果の </a:t>
            </a:r>
            <a:r>
              <a:rPr lang="en-US" altLang="ja-JP" sz="1600" dirty="0">
                <a:solidFill>
                  <a:schemeClr val="accent6"/>
                </a:solidFill>
                <a:latin typeface="メイリオ" panose="020B0604030504040204" pitchFamily="50" charset="-128"/>
                <a:ea typeface="メイリオ" panose="020B0604030504040204" pitchFamily="50" charset="-128"/>
              </a:rPr>
              <a:t>PC </a:t>
            </a:r>
            <a:r>
              <a:rPr lang="ja-JP" altLang="en-US" sz="1600" dirty="0" err="1">
                <a:solidFill>
                  <a:schemeClr val="accent6"/>
                </a:solidFill>
                <a:latin typeface="メイリオ" panose="020B0604030504040204" pitchFamily="50" charset="-128"/>
                <a:ea typeface="メイリオ" panose="020B0604030504040204" pitchFamily="50" charset="-128"/>
              </a:rPr>
              <a:t>への</a:t>
            </a:r>
            <a:r>
              <a:rPr lang="ja-JP" altLang="en-US" sz="1600" dirty="0">
                <a:solidFill>
                  <a:schemeClr val="accent6"/>
                </a:solidFill>
                <a:latin typeface="メイリオ" panose="020B0604030504040204" pitchFamily="50" charset="-128"/>
                <a:ea typeface="メイリオ" panose="020B0604030504040204" pitchFamily="50" charset="-128"/>
              </a:rPr>
              <a:t>反映</a:t>
            </a:r>
            <a:endParaRPr lang="en-US" altLang="ja-JP" sz="1600" dirty="0">
              <a:solidFill>
                <a:schemeClr val="accent6"/>
              </a:solidFill>
              <a:latin typeface="メイリオ" panose="020B0604030504040204" pitchFamily="50" charset="-128"/>
              <a:ea typeface="メイリオ" panose="020B0604030504040204" pitchFamily="50" charset="-128"/>
            </a:endParaRPr>
          </a:p>
          <a:p>
            <a:r>
              <a:rPr lang="ja-JP" altLang="en-US" sz="1600" dirty="0">
                <a:solidFill>
                  <a:schemeClr val="accent6"/>
                </a:solidFill>
                <a:latin typeface="メイリオ" panose="020B0604030504040204" pitchFamily="50" charset="-128"/>
                <a:ea typeface="メイリオ" panose="020B0604030504040204" pitchFamily="50" charset="-128"/>
              </a:rPr>
              <a:t>　 制御ハザードの原因</a:t>
            </a:r>
          </a:p>
        </p:txBody>
      </p:sp>
      <p:sp>
        <p:nvSpPr>
          <p:cNvPr id="49" name="正方形/長方形 48">
            <a:extLst>
              <a:ext uri="{FF2B5EF4-FFF2-40B4-BE49-F238E27FC236}">
                <a16:creationId xmlns:a16="http://schemas.microsoft.com/office/drawing/2014/main" id="{6E304FD3-C5F5-2973-F2AB-C7BA326BCA29}"/>
              </a:ext>
            </a:extLst>
          </p:cNvPr>
          <p:cNvSpPr/>
          <p:nvPr/>
        </p:nvSpPr>
        <p:spPr bwMode="auto">
          <a:xfrm>
            <a:off x="4565983" y="216898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accent6"/>
                </a:solidFill>
                <a:latin typeface="メイリオ" panose="020B0604030504040204" pitchFamily="50" charset="-128"/>
                <a:ea typeface="メイリオ" panose="020B0604030504040204" pitchFamily="50" charset="-128"/>
              </a:rPr>
              <a:t>2. </a:t>
            </a:r>
            <a:r>
              <a:rPr lang="ja-JP" altLang="en-US" sz="1600" dirty="0">
                <a:solidFill>
                  <a:schemeClr val="accent6"/>
                </a:solidFill>
                <a:latin typeface="メイリオ" panose="020B0604030504040204" pitchFamily="50" charset="-128"/>
                <a:ea typeface="メイリオ" panose="020B0604030504040204" pitchFamily="50" charset="-128"/>
              </a:rPr>
              <a:t>ロードの結果の書き込み</a:t>
            </a:r>
            <a:br>
              <a:rPr lang="en-US" altLang="ja-JP" sz="1600" dirty="0">
                <a:solidFill>
                  <a:schemeClr val="accent6"/>
                </a:solidFill>
                <a:latin typeface="メイリオ" panose="020B0604030504040204" pitchFamily="50" charset="-128"/>
                <a:ea typeface="メイリオ" panose="020B0604030504040204" pitchFamily="50" charset="-128"/>
              </a:rPr>
            </a:br>
            <a:r>
              <a:rPr lang="ja-JP" altLang="en-US" sz="1600" dirty="0">
                <a:solidFill>
                  <a:schemeClr val="accent6"/>
                </a:solidFill>
                <a:latin typeface="メイリオ" panose="020B0604030504040204" pitchFamily="50" charset="-128"/>
                <a:ea typeface="メイリオ" panose="020B0604030504040204" pitchFamily="50" charset="-128"/>
              </a:rPr>
              <a:t>　データハザードの原因</a:t>
            </a:r>
          </a:p>
        </p:txBody>
      </p:sp>
      <p:sp>
        <p:nvSpPr>
          <p:cNvPr id="50" name="正方形/長方形 49">
            <a:extLst>
              <a:ext uri="{FF2B5EF4-FFF2-40B4-BE49-F238E27FC236}">
                <a16:creationId xmlns:a16="http://schemas.microsoft.com/office/drawing/2014/main" id="{5F2BC571-0906-53B5-C703-37B179857538}"/>
              </a:ext>
            </a:extLst>
          </p:cNvPr>
          <p:cNvSpPr/>
          <p:nvPr/>
        </p:nvSpPr>
        <p:spPr bwMode="auto">
          <a:xfrm>
            <a:off x="6186001" y="2888994"/>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marL="342900" indent="-342900">
              <a:buAutoNum type="arabicPeriod"/>
            </a:pPr>
            <a:r>
              <a:rPr lang="ja-JP" altLang="en-US" sz="1600" dirty="0">
                <a:solidFill>
                  <a:schemeClr val="accent6"/>
                </a:solidFill>
                <a:latin typeface="メイリオ" panose="020B0604030504040204" pitchFamily="50" charset="-128"/>
                <a:ea typeface="メイリオ" panose="020B0604030504040204" pitchFamily="50" charset="-128"/>
              </a:rPr>
              <a:t>演算器自体への</a:t>
            </a:r>
            <a:br>
              <a:rPr lang="en-US" altLang="ja-JP" sz="1600" dirty="0">
                <a:solidFill>
                  <a:schemeClr val="accent6"/>
                </a:solidFill>
                <a:latin typeface="メイリオ" panose="020B0604030504040204" pitchFamily="50" charset="-128"/>
                <a:ea typeface="メイリオ" panose="020B0604030504040204" pitchFamily="50" charset="-128"/>
              </a:rPr>
            </a:br>
            <a:r>
              <a:rPr lang="ja-JP" altLang="en-US" sz="1600" dirty="0">
                <a:solidFill>
                  <a:schemeClr val="accent6"/>
                </a:solidFill>
                <a:latin typeface="メイリオ" panose="020B0604030504040204" pitchFamily="50" charset="-128"/>
                <a:ea typeface="メイリオ" panose="020B0604030504040204" pitchFamily="50" charset="-128"/>
              </a:rPr>
              <a:t>フォワーディング</a:t>
            </a:r>
          </a:p>
        </p:txBody>
      </p:sp>
      <p:cxnSp>
        <p:nvCxnSpPr>
          <p:cNvPr id="51" name="直線矢印コネクタ 50">
            <a:extLst>
              <a:ext uri="{FF2B5EF4-FFF2-40B4-BE49-F238E27FC236}">
                <a16:creationId xmlns:a16="http://schemas.microsoft.com/office/drawing/2014/main" id="{279B5DD8-1B33-DD64-5D6A-24C334AB5F8C}"/>
              </a:ext>
            </a:extLst>
          </p:cNvPr>
          <p:cNvCxnSpPr/>
          <p:nvPr/>
        </p:nvCxnSpPr>
        <p:spPr bwMode="auto">
          <a:xfrm flipV="1">
            <a:off x="6456004" y="3789004"/>
            <a:ext cx="360004" cy="2"/>
          </a:xfrm>
          <a:prstGeom prst="straightConnector1">
            <a:avLst/>
          </a:prstGeom>
          <a:noFill/>
          <a:ln w="31750" cap="flat" cmpd="sng" algn="ctr">
            <a:solidFill>
              <a:schemeClr val="accent6"/>
            </a:solidFill>
            <a:prstDash val="solid"/>
            <a:round/>
            <a:headEnd type="none" w="sm" len="sm"/>
            <a:tailEnd type="triangle"/>
          </a:ln>
          <a:effectLst/>
        </p:spPr>
      </p:cxnSp>
      <p:cxnSp>
        <p:nvCxnSpPr>
          <p:cNvPr id="52" name="直線矢印コネクタ 51">
            <a:extLst>
              <a:ext uri="{FF2B5EF4-FFF2-40B4-BE49-F238E27FC236}">
                <a16:creationId xmlns:a16="http://schemas.microsoft.com/office/drawing/2014/main" id="{00BBCFCF-6535-6ECF-E8EF-1301D8119F34}"/>
              </a:ext>
            </a:extLst>
          </p:cNvPr>
          <p:cNvCxnSpPr/>
          <p:nvPr/>
        </p:nvCxnSpPr>
        <p:spPr bwMode="auto">
          <a:xfrm flipV="1">
            <a:off x="6456004" y="4599013"/>
            <a:ext cx="360004" cy="2"/>
          </a:xfrm>
          <a:prstGeom prst="straightConnector1">
            <a:avLst/>
          </a:prstGeom>
          <a:noFill/>
          <a:ln w="31750" cap="flat" cmpd="sng" algn="ctr">
            <a:solidFill>
              <a:schemeClr val="accent6"/>
            </a:solidFill>
            <a:prstDash val="solid"/>
            <a:round/>
            <a:headEnd type="none" w="sm" len="sm"/>
            <a:tailEnd type="triangle"/>
          </a:ln>
          <a:effectLst/>
        </p:spPr>
      </p:cxnSp>
      <p:sp>
        <p:nvSpPr>
          <p:cNvPr id="53" name="Freeform 10">
            <a:extLst>
              <a:ext uri="{FF2B5EF4-FFF2-40B4-BE49-F238E27FC236}">
                <a16:creationId xmlns:a16="http://schemas.microsoft.com/office/drawing/2014/main" id="{157B28EC-0DBE-528E-3111-A8E23E44F51A}"/>
              </a:ext>
            </a:extLst>
          </p:cNvPr>
          <p:cNvSpPr>
            <a:spLocks/>
          </p:cNvSpPr>
          <p:nvPr/>
        </p:nvSpPr>
        <p:spPr bwMode="auto">
          <a:xfrm flipH="1" flipV="1">
            <a:off x="6186001" y="3338999"/>
            <a:ext cx="1620018" cy="81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6"/>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54" name="直線矢印コネクタ 53">
            <a:extLst>
              <a:ext uri="{FF2B5EF4-FFF2-40B4-BE49-F238E27FC236}">
                <a16:creationId xmlns:a16="http://schemas.microsoft.com/office/drawing/2014/main" id="{6B15C611-81A5-7182-C8EF-EABD8B17C509}"/>
              </a:ext>
            </a:extLst>
          </p:cNvPr>
          <p:cNvCxnSpPr/>
          <p:nvPr/>
        </p:nvCxnSpPr>
        <p:spPr bwMode="auto">
          <a:xfrm>
            <a:off x="6456004" y="4419013"/>
            <a:ext cx="0" cy="360004"/>
          </a:xfrm>
          <a:prstGeom prst="straightConnector1">
            <a:avLst/>
          </a:prstGeom>
          <a:noFill/>
          <a:ln w="31750" cap="flat" cmpd="sng" algn="ctr">
            <a:solidFill>
              <a:schemeClr val="accent6"/>
            </a:solidFill>
            <a:prstDash val="solid"/>
            <a:round/>
            <a:headEnd type="none" w="sm" len="sm"/>
            <a:tailEnd type="none"/>
          </a:ln>
          <a:effectLst/>
        </p:spPr>
      </p:cxnSp>
      <p:sp>
        <p:nvSpPr>
          <p:cNvPr id="55" name="Freeform 10">
            <a:extLst>
              <a:ext uri="{FF2B5EF4-FFF2-40B4-BE49-F238E27FC236}">
                <a16:creationId xmlns:a16="http://schemas.microsoft.com/office/drawing/2014/main" id="{EEA3D59B-D3BC-055A-6410-985E6C9882AE}"/>
              </a:ext>
            </a:extLst>
          </p:cNvPr>
          <p:cNvSpPr>
            <a:spLocks/>
          </p:cNvSpPr>
          <p:nvPr/>
        </p:nvSpPr>
        <p:spPr bwMode="auto">
          <a:xfrm rot="10800000" flipH="1" flipV="1">
            <a:off x="6186002" y="3338999"/>
            <a:ext cx="270003" cy="36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56" name="Freeform 10">
            <a:extLst>
              <a:ext uri="{FF2B5EF4-FFF2-40B4-BE49-F238E27FC236}">
                <a16:creationId xmlns:a16="http://schemas.microsoft.com/office/drawing/2014/main" id="{7930CBDA-55C6-ABF6-AC23-52F7C6D34754}"/>
              </a:ext>
            </a:extLst>
          </p:cNvPr>
          <p:cNvSpPr>
            <a:spLocks/>
          </p:cNvSpPr>
          <p:nvPr/>
        </p:nvSpPr>
        <p:spPr bwMode="auto">
          <a:xfrm rot="10800000" flipH="1" flipV="1">
            <a:off x="6186002" y="3699005"/>
            <a:ext cx="270003" cy="81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59" name="直線矢印コネクタ 58">
            <a:extLst>
              <a:ext uri="{FF2B5EF4-FFF2-40B4-BE49-F238E27FC236}">
                <a16:creationId xmlns:a16="http://schemas.microsoft.com/office/drawing/2014/main" id="{D243CCAA-C943-D383-39F0-089E6958D736}"/>
              </a:ext>
            </a:extLst>
          </p:cNvPr>
          <p:cNvCxnSpPr/>
          <p:nvPr/>
        </p:nvCxnSpPr>
        <p:spPr bwMode="auto">
          <a:xfrm>
            <a:off x="6456004" y="3609002"/>
            <a:ext cx="0" cy="360004"/>
          </a:xfrm>
          <a:prstGeom prst="straightConnector1">
            <a:avLst/>
          </a:prstGeom>
          <a:noFill/>
          <a:ln w="31750" cap="flat" cmpd="sng" algn="ctr">
            <a:solidFill>
              <a:schemeClr val="accent6"/>
            </a:solidFill>
            <a:prstDash val="solid"/>
            <a:round/>
            <a:headEnd type="none" w="sm" len="sm"/>
            <a:tailEnd type="none"/>
          </a:ln>
          <a:effectLst/>
        </p:spPr>
      </p:cxnSp>
    </p:spTree>
    <p:extLst>
      <p:ext uri="{BB962C8B-B14F-4D97-AF65-F5344CB8AC3E}">
        <p14:creationId xmlns:p14="http://schemas.microsoft.com/office/powerpoint/2010/main" val="5296847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44E49-B23F-238B-F72F-C9C5741C215C}"/>
            </a:ext>
          </a:extLst>
        </p:cNvPr>
        <p:cNvGrpSpPr/>
        <p:nvPr/>
      </p:nvGrpSpPr>
      <p:grpSpPr>
        <a:xfrm>
          <a:off x="0" y="0"/>
          <a:ext cx="0" cy="0"/>
          <a:chOff x="0" y="0"/>
          <a:chExt cx="0" cy="0"/>
        </a:xfrm>
      </p:grpSpPr>
      <p:grpSp>
        <p:nvGrpSpPr>
          <p:cNvPr id="34" name="グループ化 33">
            <a:extLst>
              <a:ext uri="{FF2B5EF4-FFF2-40B4-BE49-F238E27FC236}">
                <a16:creationId xmlns:a16="http://schemas.microsoft.com/office/drawing/2014/main" id="{BCB35470-CFAF-00CA-648F-AC33DF5D47BB}"/>
              </a:ext>
            </a:extLst>
          </p:cNvPr>
          <p:cNvGrpSpPr/>
          <p:nvPr/>
        </p:nvGrpSpPr>
        <p:grpSpPr>
          <a:xfrm>
            <a:off x="3125967" y="3158997"/>
            <a:ext cx="1562400" cy="576064"/>
            <a:chOff x="971600" y="5445224"/>
            <a:chExt cx="7200800" cy="576064"/>
          </a:xfrm>
        </p:grpSpPr>
        <p:sp>
          <p:nvSpPr>
            <p:cNvPr id="35" name="平行四辺形 34">
              <a:extLst>
                <a:ext uri="{FF2B5EF4-FFF2-40B4-BE49-F238E27FC236}">
                  <a16:creationId xmlns:a16="http://schemas.microsoft.com/office/drawing/2014/main" id="{52BFC259-8754-9FAC-743D-140A0C4CF576}"/>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a:extLst>
                <a:ext uri="{FF2B5EF4-FFF2-40B4-BE49-F238E27FC236}">
                  <a16:creationId xmlns:a16="http://schemas.microsoft.com/office/drawing/2014/main" id="{612E222A-CA11-A694-6251-747D89D28525}"/>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a:extLst>
              <a:ext uri="{FF2B5EF4-FFF2-40B4-BE49-F238E27FC236}">
                <a16:creationId xmlns:a16="http://schemas.microsoft.com/office/drawing/2014/main" id="{DA61337D-4B7C-13CD-2BB5-C2A7C338A5FF}"/>
              </a:ext>
            </a:extLst>
          </p:cNvPr>
          <p:cNvGrpSpPr/>
          <p:nvPr/>
        </p:nvGrpSpPr>
        <p:grpSpPr>
          <a:xfrm>
            <a:off x="4566127" y="3158997"/>
            <a:ext cx="1562400" cy="576064"/>
            <a:chOff x="971600" y="5445224"/>
            <a:chExt cx="7200800" cy="576064"/>
          </a:xfrm>
        </p:grpSpPr>
        <p:sp>
          <p:nvSpPr>
            <p:cNvPr id="50" name="平行四辺形 49">
              <a:extLst>
                <a:ext uri="{FF2B5EF4-FFF2-40B4-BE49-F238E27FC236}">
                  <a16:creationId xmlns:a16="http://schemas.microsoft.com/office/drawing/2014/main" id="{58C35D07-439B-3EA5-6B5A-2D7B53C879CA}"/>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a:extLst>
                <a:ext uri="{FF2B5EF4-FFF2-40B4-BE49-F238E27FC236}">
                  <a16:creationId xmlns:a16="http://schemas.microsoft.com/office/drawing/2014/main" id="{1B99577D-8D89-DE30-5FF6-9F4E7BE04E25}"/>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a:extLst>
              <a:ext uri="{FF2B5EF4-FFF2-40B4-BE49-F238E27FC236}">
                <a16:creationId xmlns:a16="http://schemas.microsoft.com/office/drawing/2014/main" id="{39F4252A-423D-D3EF-B818-903ECD19171C}"/>
              </a:ext>
            </a:extLst>
          </p:cNvPr>
          <p:cNvGrpSpPr/>
          <p:nvPr/>
        </p:nvGrpSpPr>
        <p:grpSpPr>
          <a:xfrm>
            <a:off x="6006287" y="3158997"/>
            <a:ext cx="1562400" cy="576064"/>
            <a:chOff x="971600" y="5445224"/>
            <a:chExt cx="7200800" cy="576064"/>
          </a:xfrm>
        </p:grpSpPr>
        <p:sp>
          <p:nvSpPr>
            <p:cNvPr id="53" name="平行四辺形 52">
              <a:extLst>
                <a:ext uri="{FF2B5EF4-FFF2-40B4-BE49-F238E27FC236}">
                  <a16:creationId xmlns:a16="http://schemas.microsoft.com/office/drawing/2014/main" id="{790F35C5-8F1A-8A72-24F6-53A2F779D091}"/>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a:extLst>
                <a:ext uri="{FF2B5EF4-FFF2-40B4-BE49-F238E27FC236}">
                  <a16:creationId xmlns:a16="http://schemas.microsoft.com/office/drawing/2014/main" id="{20D6922E-473A-6F33-2939-53DC8CDF8702}"/>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a:extLst>
              <a:ext uri="{FF2B5EF4-FFF2-40B4-BE49-F238E27FC236}">
                <a16:creationId xmlns:a16="http://schemas.microsoft.com/office/drawing/2014/main" id="{1F25D170-9EC3-FDE2-E49B-ABB0A295A003}"/>
              </a:ext>
            </a:extLst>
          </p:cNvPr>
          <p:cNvGrpSpPr/>
          <p:nvPr/>
        </p:nvGrpSpPr>
        <p:grpSpPr>
          <a:xfrm>
            <a:off x="7446447" y="3158997"/>
            <a:ext cx="1584176" cy="576064"/>
            <a:chOff x="971600" y="5445224"/>
            <a:chExt cx="7200800" cy="576064"/>
          </a:xfrm>
        </p:grpSpPr>
        <p:sp>
          <p:nvSpPr>
            <p:cNvPr id="62" name="平行四辺形 61">
              <a:extLst>
                <a:ext uri="{FF2B5EF4-FFF2-40B4-BE49-F238E27FC236}">
                  <a16:creationId xmlns:a16="http://schemas.microsoft.com/office/drawing/2014/main" id="{58BB19A5-CA70-39A2-D800-F64C062A00E9}"/>
                </a:ext>
              </a:extLst>
            </p:cNvPr>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a:extLst>
                <a:ext uri="{FF2B5EF4-FFF2-40B4-BE49-F238E27FC236}">
                  <a16:creationId xmlns:a16="http://schemas.microsoft.com/office/drawing/2014/main" id="{F7C2673F-E3D4-6C37-7E91-0C37329DCA43}"/>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a:extLst>
              <a:ext uri="{FF2B5EF4-FFF2-40B4-BE49-F238E27FC236}">
                <a16:creationId xmlns:a16="http://schemas.microsoft.com/office/drawing/2014/main" id="{BB71DA4E-EE85-8A06-E930-468B1D3DF746}"/>
              </a:ext>
            </a:extLst>
          </p:cNvPr>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a:extLst>
              <a:ext uri="{FF2B5EF4-FFF2-40B4-BE49-F238E27FC236}">
                <a16:creationId xmlns:a16="http://schemas.microsoft.com/office/drawing/2014/main" id="{94C02F7F-A0E6-1A76-91F8-B3862ED4CDD0}"/>
              </a:ext>
            </a:extLst>
          </p:cNvPr>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31D53669-C395-9D3A-1806-D7F97AB23C79}"/>
              </a:ext>
            </a:extLst>
          </p:cNvPr>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a:extLst>
              <a:ext uri="{FF2B5EF4-FFF2-40B4-BE49-F238E27FC236}">
                <a16:creationId xmlns:a16="http://schemas.microsoft.com/office/drawing/2014/main" id="{EDE105FD-DBB9-9F28-AC79-0DEA527BA1C0}"/>
              </a:ext>
            </a:extLst>
          </p:cNvPr>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2666EFC2-FBC8-29ED-BF36-F04D0D8004C3}"/>
              </a:ext>
            </a:extLst>
          </p:cNvPr>
          <p:cNvSpPr>
            <a:spLocks noGrp="1"/>
          </p:cNvSpPr>
          <p:nvPr>
            <p:ph type="title"/>
          </p:nvPr>
        </p:nvSpPr>
        <p:spPr/>
        <p:txBody>
          <a:bodyPr/>
          <a:lstStyle/>
          <a:p>
            <a:r>
              <a:rPr kumimoji="1" lang="ja-JP" altLang="en-US" dirty="0"/>
              <a:t>分岐</a:t>
            </a:r>
            <a:r>
              <a:rPr lang="ja-JP" altLang="en-US" dirty="0"/>
              <a:t>予測</a:t>
            </a:r>
            <a:endParaRPr kumimoji="1" lang="ja-JP" altLang="en-US" dirty="0"/>
          </a:p>
        </p:txBody>
      </p:sp>
      <p:sp>
        <p:nvSpPr>
          <p:cNvPr id="58" name="コンテンツ プレースホルダー 57">
            <a:extLst>
              <a:ext uri="{FF2B5EF4-FFF2-40B4-BE49-F238E27FC236}">
                <a16:creationId xmlns:a16="http://schemas.microsoft.com/office/drawing/2014/main" id="{E7C8ECA9-8250-0F7A-95AA-A2D57E81D933}"/>
              </a:ext>
            </a:extLst>
          </p:cNvPr>
          <p:cNvSpPr>
            <a:spLocks noGrp="1"/>
          </p:cNvSpPr>
          <p:nvPr>
            <p:ph type="body" sz="quarter" idx="10"/>
          </p:nvPr>
        </p:nvSpPr>
        <p:spPr>
          <a:xfrm>
            <a:off x="1775953" y="4689015"/>
            <a:ext cx="8550095" cy="1369161"/>
          </a:xfrm>
          <a:prstGeom prst="rect">
            <a:avLst/>
          </a:prstGeom>
        </p:spPr>
        <p:txBody>
          <a:bodyPr/>
          <a:lstStyle/>
          <a:p>
            <a:r>
              <a:rPr lang="ja-JP" altLang="en-US" dirty="0"/>
              <a:t>動作</a:t>
            </a:r>
            <a:endParaRPr lang="en-US" altLang="ja-JP" dirty="0"/>
          </a:p>
          <a:p>
            <a:pPr lvl="1"/>
            <a:r>
              <a:rPr lang="ja-JP" altLang="en-US" dirty="0"/>
              <a:t>「</a:t>
            </a:r>
            <a:r>
              <a:rPr lang="en-US" altLang="ja-JP" dirty="0">
                <a:solidFill>
                  <a:schemeClr val="accent5"/>
                </a:solidFill>
              </a:rPr>
              <a:t>if a &gt; 0</a:t>
            </a:r>
            <a:r>
              <a:rPr lang="ja-JP" altLang="en-US" dirty="0"/>
              <a:t>」の結果を予測して，命令を取り込む</a:t>
            </a:r>
            <a:endParaRPr lang="en-US" altLang="ja-JP" dirty="0"/>
          </a:p>
          <a:p>
            <a:pPr lvl="2"/>
            <a:r>
              <a:rPr lang="ja-JP" altLang="en-US" dirty="0"/>
              <a:t>前回はこっちに行ったので，次もこっちに違いないとかで予測</a:t>
            </a:r>
            <a:endParaRPr lang="en-US" altLang="ja-JP" dirty="0"/>
          </a:p>
          <a:p>
            <a:pPr lvl="1"/>
            <a:r>
              <a:rPr lang="ja-JP" altLang="en-US" dirty="0"/>
              <a:t>あとから予測が正しいか確認する</a:t>
            </a:r>
            <a:endParaRPr lang="en-US" altLang="ja-JP" dirty="0"/>
          </a:p>
        </p:txBody>
      </p:sp>
      <p:cxnSp>
        <p:nvCxnSpPr>
          <p:cNvPr id="67" name="直線矢印コネクタ 66">
            <a:extLst>
              <a:ext uri="{FF2B5EF4-FFF2-40B4-BE49-F238E27FC236}">
                <a16:creationId xmlns:a16="http://schemas.microsoft.com/office/drawing/2014/main" id="{AAD89168-09BA-2E49-B406-508CC8164089}"/>
              </a:ext>
            </a:extLst>
          </p:cNvPr>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0" name="角丸四角形 89">
            <a:extLst>
              <a:ext uri="{FF2B5EF4-FFF2-40B4-BE49-F238E27FC236}">
                <a16:creationId xmlns:a16="http://schemas.microsoft.com/office/drawing/2014/main" id="{C6792905-6E8C-D71F-B56D-3DC68C65100C}"/>
              </a:ext>
            </a:extLst>
          </p:cNvPr>
          <p:cNvSpPr/>
          <p:nvPr/>
        </p:nvSpPr>
        <p:spPr bwMode="auto">
          <a:xfrm>
            <a:off x="5015988"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if a &gt; 0</a:t>
            </a:r>
            <a:endParaRPr lang="ja-JP" altLang="en-US" dirty="0">
              <a:latin typeface="Arial Narrow" panose="020B0606020202030204" pitchFamily="34" charset="0"/>
            </a:endParaRPr>
          </a:p>
        </p:txBody>
      </p:sp>
      <p:sp>
        <p:nvSpPr>
          <p:cNvPr id="24" name="角丸四角形 23">
            <a:extLst>
              <a:ext uri="{FF2B5EF4-FFF2-40B4-BE49-F238E27FC236}">
                <a16:creationId xmlns:a16="http://schemas.microsoft.com/office/drawing/2014/main" id="{8B35CC77-3EAF-30F9-4C47-0198C6E92D39}"/>
              </a:ext>
            </a:extLst>
          </p:cNvPr>
          <p:cNvSpPr/>
          <p:nvPr/>
        </p:nvSpPr>
        <p:spPr bwMode="auto">
          <a:xfrm>
            <a:off x="3575972"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a=a-1</a:t>
            </a:r>
            <a:endParaRPr lang="ja-JP" altLang="en-US" dirty="0">
              <a:latin typeface="Arial Narrow" panose="020B0606020202030204" pitchFamily="34" charset="0"/>
            </a:endParaRPr>
          </a:p>
        </p:txBody>
      </p:sp>
      <p:sp>
        <p:nvSpPr>
          <p:cNvPr id="4" name="角丸四角形吹き出し 3">
            <a:extLst>
              <a:ext uri="{FF2B5EF4-FFF2-40B4-BE49-F238E27FC236}">
                <a16:creationId xmlns:a16="http://schemas.microsoft.com/office/drawing/2014/main" id="{D199EC4D-ACD1-1965-310F-2C2814CD1A0A}"/>
              </a:ext>
            </a:extLst>
          </p:cNvPr>
          <p:cNvSpPr/>
          <p:nvPr/>
        </p:nvSpPr>
        <p:spPr bwMode="auto">
          <a:xfrm>
            <a:off x="3575972" y="1358977"/>
            <a:ext cx="2520028" cy="612648"/>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err="1">
                <a:solidFill>
                  <a:schemeClr val="tx1">
                    <a:lumMod val="65000"/>
                    <a:lumOff val="35000"/>
                  </a:schemeClr>
                </a:solidFill>
                <a:latin typeface="Arial Narrow" panose="020B0606020202030204" pitchFamily="34" charset="0"/>
              </a:rPr>
              <a:t>わいの</a:t>
            </a:r>
            <a:r>
              <a:rPr lang="ja-JP" altLang="en-US" dirty="0">
                <a:solidFill>
                  <a:schemeClr val="tx1">
                    <a:lumMod val="65000"/>
                    <a:lumOff val="35000"/>
                  </a:schemeClr>
                </a:solidFill>
                <a:latin typeface="Arial Narrow" panose="020B0606020202030204" pitchFamily="34" charset="0"/>
              </a:rPr>
              <a:t>予想では </a:t>
            </a:r>
            <a:r>
              <a:rPr lang="en-US" altLang="ja-JP" dirty="0">
                <a:solidFill>
                  <a:schemeClr val="tx1">
                    <a:lumMod val="65000"/>
                    <a:lumOff val="35000"/>
                  </a:schemeClr>
                </a:solidFill>
                <a:latin typeface="Arial Narrow" panose="020B0606020202030204" pitchFamily="34" charset="0"/>
              </a:rPr>
              <a:t>else </a:t>
            </a:r>
            <a:r>
              <a:rPr lang="ja-JP" altLang="en-US" dirty="0">
                <a:solidFill>
                  <a:schemeClr val="tx1">
                    <a:lumMod val="65000"/>
                    <a:lumOff val="35000"/>
                  </a:schemeClr>
                </a:solidFill>
                <a:latin typeface="Arial Narrow" panose="020B0606020202030204" pitchFamily="34" charset="0"/>
              </a:rPr>
              <a:t>や</a:t>
            </a:r>
            <a:endParaRPr lang="en-US" altLang="ja-JP" dirty="0">
              <a:solidFill>
                <a:schemeClr val="tx1">
                  <a:lumMod val="65000"/>
                  <a:lumOff val="35000"/>
                </a:schemeClr>
              </a:solidFill>
              <a:latin typeface="Arial Narrow" panose="020B0606020202030204" pitchFamily="34" charset="0"/>
            </a:endParaRPr>
          </a:p>
        </p:txBody>
      </p:sp>
      <p:sp>
        <p:nvSpPr>
          <p:cNvPr id="27" name="角丸四角形吹き出し 26">
            <a:extLst>
              <a:ext uri="{FF2B5EF4-FFF2-40B4-BE49-F238E27FC236}">
                <a16:creationId xmlns:a16="http://schemas.microsoft.com/office/drawing/2014/main" id="{C09337C1-49E9-AD2B-5AC9-779A6618F2F3}"/>
              </a:ext>
            </a:extLst>
          </p:cNvPr>
          <p:cNvSpPr/>
          <p:nvPr/>
        </p:nvSpPr>
        <p:spPr bwMode="auto">
          <a:xfrm>
            <a:off x="8076022" y="1358977"/>
            <a:ext cx="1980022" cy="612648"/>
          </a:xfrm>
          <a:prstGeom prst="wedgeRoundRectCallout">
            <a:avLst>
              <a:gd name="adj1" fmla="val -43365"/>
              <a:gd name="adj2" fmla="val 134720"/>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ほんまかいな</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後でたしかめるで</a:t>
            </a:r>
          </a:p>
        </p:txBody>
      </p:sp>
      <p:sp>
        <p:nvSpPr>
          <p:cNvPr id="28" name="正方形/長方形 27">
            <a:extLst>
              <a:ext uri="{FF2B5EF4-FFF2-40B4-BE49-F238E27FC236}">
                <a16:creationId xmlns:a16="http://schemas.microsoft.com/office/drawing/2014/main" id="{718C5630-1FB5-921C-A579-F2EC00B15C2C}"/>
              </a:ext>
            </a:extLst>
          </p:cNvPr>
          <p:cNvSpPr/>
          <p:nvPr/>
        </p:nvSpPr>
        <p:spPr bwMode="auto">
          <a:xfrm>
            <a:off x="6636007"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2"/>
                </a:solidFill>
              </a:rPr>
              <a:t>ｳｿｸｻｰ</a:t>
            </a:r>
          </a:p>
        </p:txBody>
      </p:sp>
      <p:sp>
        <p:nvSpPr>
          <p:cNvPr id="29" name="正方形/長方形 28">
            <a:extLst>
              <a:ext uri="{FF2B5EF4-FFF2-40B4-BE49-F238E27FC236}">
                <a16:creationId xmlns:a16="http://schemas.microsoft.com/office/drawing/2014/main" id="{5EAF6833-E2FC-CB61-3B3C-7A6AB3ECE99F}"/>
              </a:ext>
            </a:extLst>
          </p:cNvPr>
          <p:cNvSpPr/>
          <p:nvPr/>
        </p:nvSpPr>
        <p:spPr bwMode="auto">
          <a:xfrm>
            <a:off x="5285992"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3">
                    <a:lumMod val="75000"/>
                  </a:schemeClr>
                </a:solidFill>
              </a:rPr>
              <a:t>ﾎﾝﾄｶﾅｰ</a:t>
            </a:r>
          </a:p>
        </p:txBody>
      </p:sp>
      <p:sp>
        <p:nvSpPr>
          <p:cNvPr id="30" name="正方形/長方形 29">
            <a:extLst>
              <a:ext uri="{FF2B5EF4-FFF2-40B4-BE49-F238E27FC236}">
                <a16:creationId xmlns:a16="http://schemas.microsoft.com/office/drawing/2014/main" id="{BBBDA0AF-B2AB-F5B0-64AF-FA2DB087E224}"/>
              </a:ext>
            </a:extLst>
          </p:cNvPr>
          <p:cNvSpPr/>
          <p:nvPr/>
        </p:nvSpPr>
        <p:spPr bwMode="auto">
          <a:xfrm>
            <a:off x="1775952" y="2438990"/>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b="1" dirty="0">
                <a:solidFill>
                  <a:schemeClr val="tx2"/>
                </a:solidFill>
                <a:latin typeface="Arial Narrow" panose="020B0606020202030204" pitchFamily="34" charset="0"/>
              </a:rPr>
              <a:t>if a &gt; 0:</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lang="en-US" altLang="ja-JP" sz="2400" dirty="0">
                <a:solidFill>
                  <a:schemeClr val="bg1"/>
                </a:solidFill>
                <a:latin typeface="Arial Narrow" panose="020B0606020202030204" pitchFamily="34" charset="0"/>
              </a:rPr>
              <a:t>    </a:t>
            </a:r>
            <a:r>
              <a:rPr lang="en-US" altLang="ja-JP" sz="2400" dirty="0">
                <a:solidFill>
                  <a:schemeClr val="tx2"/>
                </a:solidFill>
                <a:latin typeface="Arial Narrow" panose="020B0606020202030204" pitchFamily="34" charset="0"/>
              </a:rPr>
              <a:t>a=a-1</a:t>
            </a:r>
          </a:p>
          <a:p>
            <a:pPr>
              <a:lnSpc>
                <a:spcPct val="80000"/>
              </a:lnSpc>
            </a:pPr>
            <a:r>
              <a:rPr lang="ja-JP" altLang="en-US" sz="2000" dirty="0">
                <a:solidFill>
                  <a:schemeClr val="bg1"/>
                </a:solidFill>
                <a:latin typeface="Arial Narrow" panose="020B0606020202030204" pitchFamily="34" charset="0"/>
              </a:rPr>
              <a:t>  </a:t>
            </a:r>
          </a:p>
        </p:txBody>
      </p:sp>
      <p:sp>
        <p:nvSpPr>
          <p:cNvPr id="31" name="正方形/長方形 30">
            <a:extLst>
              <a:ext uri="{FF2B5EF4-FFF2-40B4-BE49-F238E27FC236}">
                <a16:creationId xmlns:a16="http://schemas.microsoft.com/office/drawing/2014/main" id="{A6AC28C6-76BB-766A-2B57-623BA566C3F8}"/>
              </a:ext>
            </a:extLst>
          </p:cNvPr>
          <p:cNvSpPr/>
          <p:nvPr/>
        </p:nvSpPr>
        <p:spPr bwMode="auto">
          <a:xfrm>
            <a:off x="2045956" y="1988984"/>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65000"/>
                    <a:lumOff val="35000"/>
                  </a:schemeClr>
                </a:solidFill>
              </a:rPr>
              <a:t>プログラム</a:t>
            </a:r>
          </a:p>
        </p:txBody>
      </p:sp>
    </p:spTree>
    <p:extLst>
      <p:ext uri="{BB962C8B-B14F-4D97-AF65-F5344CB8AC3E}">
        <p14:creationId xmlns:p14="http://schemas.microsoft.com/office/powerpoint/2010/main" val="1869573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72072-697A-764E-2468-D037C6026382}"/>
            </a:ext>
          </a:extLst>
        </p:cNvPr>
        <p:cNvGrpSpPr/>
        <p:nvPr/>
      </p:nvGrpSpPr>
      <p:grpSpPr>
        <a:xfrm>
          <a:off x="0" y="0"/>
          <a:ext cx="0" cy="0"/>
          <a:chOff x="0" y="0"/>
          <a:chExt cx="0" cy="0"/>
        </a:xfrm>
      </p:grpSpPr>
      <p:grpSp>
        <p:nvGrpSpPr>
          <p:cNvPr id="34" name="グループ化 33">
            <a:extLst>
              <a:ext uri="{FF2B5EF4-FFF2-40B4-BE49-F238E27FC236}">
                <a16:creationId xmlns:a16="http://schemas.microsoft.com/office/drawing/2014/main" id="{6A3AEFEA-9AAE-C4E3-9CE5-CA46567E1F8A}"/>
              </a:ext>
            </a:extLst>
          </p:cNvPr>
          <p:cNvGrpSpPr/>
          <p:nvPr/>
        </p:nvGrpSpPr>
        <p:grpSpPr>
          <a:xfrm>
            <a:off x="3125967" y="3158997"/>
            <a:ext cx="1562400" cy="576064"/>
            <a:chOff x="971600" y="5445224"/>
            <a:chExt cx="7200800" cy="576064"/>
          </a:xfrm>
        </p:grpSpPr>
        <p:sp>
          <p:nvSpPr>
            <p:cNvPr id="35" name="平行四辺形 34">
              <a:extLst>
                <a:ext uri="{FF2B5EF4-FFF2-40B4-BE49-F238E27FC236}">
                  <a16:creationId xmlns:a16="http://schemas.microsoft.com/office/drawing/2014/main" id="{E062E2AD-5CDD-562D-132D-CF32B49AFC58}"/>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a:extLst>
                <a:ext uri="{FF2B5EF4-FFF2-40B4-BE49-F238E27FC236}">
                  <a16:creationId xmlns:a16="http://schemas.microsoft.com/office/drawing/2014/main" id="{AF6A881D-E916-39BA-162D-7601E4C58937}"/>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a:extLst>
              <a:ext uri="{FF2B5EF4-FFF2-40B4-BE49-F238E27FC236}">
                <a16:creationId xmlns:a16="http://schemas.microsoft.com/office/drawing/2014/main" id="{C7E1E6F0-615B-95E3-A3F4-E39A39AA420E}"/>
              </a:ext>
            </a:extLst>
          </p:cNvPr>
          <p:cNvGrpSpPr/>
          <p:nvPr/>
        </p:nvGrpSpPr>
        <p:grpSpPr>
          <a:xfrm>
            <a:off x="4566127" y="3158997"/>
            <a:ext cx="1562400" cy="576064"/>
            <a:chOff x="971600" y="5445224"/>
            <a:chExt cx="7200800" cy="576064"/>
          </a:xfrm>
        </p:grpSpPr>
        <p:sp>
          <p:nvSpPr>
            <p:cNvPr id="50" name="平行四辺形 49">
              <a:extLst>
                <a:ext uri="{FF2B5EF4-FFF2-40B4-BE49-F238E27FC236}">
                  <a16:creationId xmlns:a16="http://schemas.microsoft.com/office/drawing/2014/main" id="{BE5B457F-E8EE-5203-CAAB-95098F9500C6}"/>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a:extLst>
                <a:ext uri="{FF2B5EF4-FFF2-40B4-BE49-F238E27FC236}">
                  <a16:creationId xmlns:a16="http://schemas.microsoft.com/office/drawing/2014/main" id="{BB581362-00EA-C915-AC50-2CDE9A2DB824}"/>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a:extLst>
              <a:ext uri="{FF2B5EF4-FFF2-40B4-BE49-F238E27FC236}">
                <a16:creationId xmlns:a16="http://schemas.microsoft.com/office/drawing/2014/main" id="{7227A660-ECB1-EB29-FE21-4E094744A8C1}"/>
              </a:ext>
            </a:extLst>
          </p:cNvPr>
          <p:cNvGrpSpPr/>
          <p:nvPr/>
        </p:nvGrpSpPr>
        <p:grpSpPr>
          <a:xfrm>
            <a:off x="6006287" y="3158997"/>
            <a:ext cx="1562400" cy="576064"/>
            <a:chOff x="971600" y="5445224"/>
            <a:chExt cx="7200800" cy="576064"/>
          </a:xfrm>
        </p:grpSpPr>
        <p:sp>
          <p:nvSpPr>
            <p:cNvPr id="53" name="平行四辺形 52">
              <a:extLst>
                <a:ext uri="{FF2B5EF4-FFF2-40B4-BE49-F238E27FC236}">
                  <a16:creationId xmlns:a16="http://schemas.microsoft.com/office/drawing/2014/main" id="{497EB470-B666-BDDD-2485-0CCFFA18D82F}"/>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a:extLst>
                <a:ext uri="{FF2B5EF4-FFF2-40B4-BE49-F238E27FC236}">
                  <a16:creationId xmlns:a16="http://schemas.microsoft.com/office/drawing/2014/main" id="{9188F687-72BC-F936-2171-13BABDCCF359}"/>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a:extLst>
              <a:ext uri="{FF2B5EF4-FFF2-40B4-BE49-F238E27FC236}">
                <a16:creationId xmlns:a16="http://schemas.microsoft.com/office/drawing/2014/main" id="{816B1394-8B18-675E-B707-A9CA84EF5217}"/>
              </a:ext>
            </a:extLst>
          </p:cNvPr>
          <p:cNvGrpSpPr/>
          <p:nvPr/>
        </p:nvGrpSpPr>
        <p:grpSpPr>
          <a:xfrm>
            <a:off x="7446447" y="3158997"/>
            <a:ext cx="1584176" cy="576064"/>
            <a:chOff x="971600" y="5445224"/>
            <a:chExt cx="7200800" cy="576064"/>
          </a:xfrm>
        </p:grpSpPr>
        <p:sp>
          <p:nvSpPr>
            <p:cNvPr id="62" name="平行四辺形 61">
              <a:extLst>
                <a:ext uri="{FF2B5EF4-FFF2-40B4-BE49-F238E27FC236}">
                  <a16:creationId xmlns:a16="http://schemas.microsoft.com/office/drawing/2014/main" id="{EE1D321D-F915-3E13-86E7-2BC99A45587E}"/>
                </a:ext>
              </a:extLst>
            </p:cNvPr>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a:extLst>
                <a:ext uri="{FF2B5EF4-FFF2-40B4-BE49-F238E27FC236}">
                  <a16:creationId xmlns:a16="http://schemas.microsoft.com/office/drawing/2014/main" id="{606D7715-E5BE-02DE-EA71-29A1A0A5A591}"/>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a:extLst>
              <a:ext uri="{FF2B5EF4-FFF2-40B4-BE49-F238E27FC236}">
                <a16:creationId xmlns:a16="http://schemas.microsoft.com/office/drawing/2014/main" id="{37A7934E-7C94-8B75-A45A-A5A5B39C7A09}"/>
              </a:ext>
            </a:extLst>
          </p:cNvPr>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a:extLst>
              <a:ext uri="{FF2B5EF4-FFF2-40B4-BE49-F238E27FC236}">
                <a16:creationId xmlns:a16="http://schemas.microsoft.com/office/drawing/2014/main" id="{C461495E-C52D-1D51-71C9-7017FA4DCE4B}"/>
              </a:ext>
            </a:extLst>
          </p:cNvPr>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9BC1474F-B079-9AE9-C788-557EC7847AF4}"/>
              </a:ext>
            </a:extLst>
          </p:cNvPr>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a:extLst>
              <a:ext uri="{FF2B5EF4-FFF2-40B4-BE49-F238E27FC236}">
                <a16:creationId xmlns:a16="http://schemas.microsoft.com/office/drawing/2014/main" id="{D661EE14-CCAB-CDA2-5A97-367600C24E6C}"/>
              </a:ext>
            </a:extLst>
          </p:cNvPr>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DE60C5D9-E76F-D32C-8240-B6339BAD0024}"/>
              </a:ext>
            </a:extLst>
          </p:cNvPr>
          <p:cNvSpPr>
            <a:spLocks noGrp="1"/>
          </p:cNvSpPr>
          <p:nvPr>
            <p:ph type="title"/>
          </p:nvPr>
        </p:nvSpPr>
        <p:spPr/>
        <p:txBody>
          <a:bodyPr/>
          <a:lstStyle/>
          <a:p>
            <a:r>
              <a:rPr kumimoji="1" lang="ja-JP" altLang="en-US" dirty="0"/>
              <a:t>マルチスレッドによる解決</a:t>
            </a:r>
          </a:p>
        </p:txBody>
      </p:sp>
      <p:sp>
        <p:nvSpPr>
          <p:cNvPr id="58" name="コンテンツ プレースホルダー 57">
            <a:extLst>
              <a:ext uri="{FF2B5EF4-FFF2-40B4-BE49-F238E27FC236}">
                <a16:creationId xmlns:a16="http://schemas.microsoft.com/office/drawing/2014/main" id="{5006453C-23BF-04C4-EE2D-E84C7E755604}"/>
              </a:ext>
            </a:extLst>
          </p:cNvPr>
          <p:cNvSpPr>
            <a:spLocks noGrp="1"/>
          </p:cNvSpPr>
          <p:nvPr>
            <p:ph type="body" sz="quarter" idx="10"/>
          </p:nvPr>
        </p:nvSpPr>
        <p:spPr>
          <a:xfrm>
            <a:off x="1775953" y="4689015"/>
            <a:ext cx="8550095" cy="1369161"/>
          </a:xfrm>
          <a:prstGeom prst="rect">
            <a:avLst/>
          </a:prstGeom>
        </p:spPr>
        <p:txBody>
          <a:bodyPr/>
          <a:lstStyle/>
          <a:p>
            <a:r>
              <a:rPr lang="ja-JP" altLang="en-US" dirty="0"/>
              <a:t>動作</a:t>
            </a:r>
            <a:endParaRPr lang="en-US" altLang="ja-JP" dirty="0"/>
          </a:p>
          <a:p>
            <a:pPr lvl="1"/>
            <a:r>
              <a:rPr lang="ja-JP" altLang="en-US" dirty="0"/>
              <a:t>「</a:t>
            </a:r>
            <a:r>
              <a:rPr lang="en-US" altLang="ja-JP" dirty="0">
                <a:solidFill>
                  <a:schemeClr val="accent5"/>
                </a:solidFill>
              </a:rPr>
              <a:t>if a &gt; 0</a:t>
            </a:r>
            <a:r>
              <a:rPr lang="ja-JP" altLang="en-US" dirty="0"/>
              <a:t>」の結果が出るまで他のスレッドの命令をフェッチ</a:t>
            </a:r>
            <a:endParaRPr lang="en-US" altLang="ja-JP" dirty="0"/>
          </a:p>
          <a:p>
            <a:pPr lvl="1"/>
            <a:r>
              <a:rPr lang="ja-JP" altLang="en-US" dirty="0"/>
              <a:t>フェッチすべき候補のスレッドは大量にある</a:t>
            </a:r>
            <a:endParaRPr lang="en-US" altLang="ja-JP" dirty="0"/>
          </a:p>
        </p:txBody>
      </p:sp>
      <p:cxnSp>
        <p:nvCxnSpPr>
          <p:cNvPr id="67" name="直線矢印コネクタ 66">
            <a:extLst>
              <a:ext uri="{FF2B5EF4-FFF2-40B4-BE49-F238E27FC236}">
                <a16:creationId xmlns:a16="http://schemas.microsoft.com/office/drawing/2014/main" id="{EEF47C02-8552-C127-2D67-C8A036925C58}"/>
              </a:ext>
            </a:extLst>
          </p:cNvPr>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0" name="角丸四角形 89">
            <a:extLst>
              <a:ext uri="{FF2B5EF4-FFF2-40B4-BE49-F238E27FC236}">
                <a16:creationId xmlns:a16="http://schemas.microsoft.com/office/drawing/2014/main" id="{7ACABD46-EF9F-C258-4602-C41FD3B8ECD5}"/>
              </a:ext>
            </a:extLst>
          </p:cNvPr>
          <p:cNvSpPr/>
          <p:nvPr/>
        </p:nvSpPr>
        <p:spPr bwMode="auto">
          <a:xfrm>
            <a:off x="6456004"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if a &gt; 0</a:t>
            </a:r>
            <a:endParaRPr lang="ja-JP" altLang="en-US" dirty="0">
              <a:latin typeface="Arial Narrow" panose="020B0606020202030204" pitchFamily="34" charset="0"/>
            </a:endParaRPr>
          </a:p>
        </p:txBody>
      </p:sp>
      <p:sp>
        <p:nvSpPr>
          <p:cNvPr id="24" name="角丸四角形 23">
            <a:extLst>
              <a:ext uri="{FF2B5EF4-FFF2-40B4-BE49-F238E27FC236}">
                <a16:creationId xmlns:a16="http://schemas.microsoft.com/office/drawing/2014/main" id="{91A6CC58-44FC-8AB5-CD06-E8CA63092E0D}"/>
              </a:ext>
            </a:extLst>
          </p:cNvPr>
          <p:cNvSpPr/>
          <p:nvPr/>
        </p:nvSpPr>
        <p:spPr bwMode="auto">
          <a:xfrm>
            <a:off x="5015988" y="2978995"/>
            <a:ext cx="720008"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dirty="0">
                <a:latin typeface="Arial Narrow" panose="020B0606020202030204" pitchFamily="34" charset="0"/>
              </a:rPr>
              <a:t>if a &gt; 0</a:t>
            </a:r>
            <a:endParaRPr lang="ja-JP" altLang="en-US" dirty="0">
              <a:latin typeface="Arial Narrow" panose="020B0606020202030204" pitchFamily="34" charset="0"/>
            </a:endParaRPr>
          </a:p>
        </p:txBody>
      </p:sp>
      <p:sp>
        <p:nvSpPr>
          <p:cNvPr id="4" name="角丸四角形吹き出し 3">
            <a:extLst>
              <a:ext uri="{FF2B5EF4-FFF2-40B4-BE49-F238E27FC236}">
                <a16:creationId xmlns:a16="http://schemas.microsoft.com/office/drawing/2014/main" id="{8C14CCEB-70F9-0966-AF63-F172669633F0}"/>
              </a:ext>
            </a:extLst>
          </p:cNvPr>
          <p:cNvSpPr/>
          <p:nvPr/>
        </p:nvSpPr>
        <p:spPr bwMode="auto">
          <a:xfrm>
            <a:off x="3575972" y="1358977"/>
            <a:ext cx="2700030" cy="612648"/>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tx1">
                    <a:lumMod val="65000"/>
                    <a:lumOff val="35000"/>
                  </a:schemeClr>
                </a:solidFill>
                <a:latin typeface="Arial Narrow" panose="020B0606020202030204" pitchFamily="34" charset="0"/>
              </a:rPr>
              <a:t>if </a:t>
            </a:r>
            <a:r>
              <a:rPr lang="ja-JP" altLang="en-US" dirty="0">
                <a:solidFill>
                  <a:schemeClr val="tx1">
                    <a:lumMod val="65000"/>
                    <a:lumOff val="35000"/>
                  </a:schemeClr>
                </a:solidFill>
                <a:latin typeface="Arial Narrow" panose="020B0606020202030204" pitchFamily="34" charset="0"/>
              </a:rPr>
              <a:t>の方向が確定するまで</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他のスレッド流すで</a:t>
            </a:r>
            <a:endParaRPr lang="en-US" altLang="ja-JP" dirty="0">
              <a:solidFill>
                <a:schemeClr val="tx1">
                  <a:lumMod val="65000"/>
                  <a:lumOff val="35000"/>
                </a:schemeClr>
              </a:solidFill>
              <a:latin typeface="Arial Narrow" panose="020B0606020202030204" pitchFamily="34" charset="0"/>
            </a:endParaRPr>
          </a:p>
        </p:txBody>
      </p:sp>
      <p:sp>
        <p:nvSpPr>
          <p:cNvPr id="30" name="正方形/長方形 29">
            <a:extLst>
              <a:ext uri="{FF2B5EF4-FFF2-40B4-BE49-F238E27FC236}">
                <a16:creationId xmlns:a16="http://schemas.microsoft.com/office/drawing/2014/main" id="{CCF644C7-6742-4C0A-774C-97CD8BE4E86E}"/>
              </a:ext>
            </a:extLst>
          </p:cNvPr>
          <p:cNvSpPr/>
          <p:nvPr/>
        </p:nvSpPr>
        <p:spPr bwMode="auto">
          <a:xfrm>
            <a:off x="1775952" y="2438990"/>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b="1" dirty="0">
                <a:solidFill>
                  <a:schemeClr val="bg1"/>
                </a:solidFill>
                <a:latin typeface="Arial Narrow" panose="020B0606020202030204" pitchFamily="34" charset="0"/>
              </a:rPr>
              <a:t>if a &gt; 0:</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ja-JP" altLang="en-US" sz="2000" dirty="0">
                <a:solidFill>
                  <a:schemeClr val="bg1"/>
                </a:solidFill>
                <a:latin typeface="Arial Narrow" panose="020B0606020202030204" pitchFamily="34" charset="0"/>
              </a:rPr>
              <a:t>  </a:t>
            </a:r>
          </a:p>
        </p:txBody>
      </p:sp>
      <p:sp>
        <p:nvSpPr>
          <p:cNvPr id="31" name="正方形/長方形 30">
            <a:extLst>
              <a:ext uri="{FF2B5EF4-FFF2-40B4-BE49-F238E27FC236}">
                <a16:creationId xmlns:a16="http://schemas.microsoft.com/office/drawing/2014/main" id="{E343ACE9-4A0A-0E99-8758-A9619E6026BB}"/>
              </a:ext>
            </a:extLst>
          </p:cNvPr>
          <p:cNvSpPr/>
          <p:nvPr/>
        </p:nvSpPr>
        <p:spPr bwMode="auto">
          <a:xfrm>
            <a:off x="2045956" y="1988984"/>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65000"/>
                    <a:lumOff val="35000"/>
                  </a:schemeClr>
                </a:solidFill>
              </a:rPr>
              <a:t>プログラム</a:t>
            </a:r>
          </a:p>
        </p:txBody>
      </p:sp>
      <p:sp>
        <p:nvSpPr>
          <p:cNvPr id="32" name="角丸四角形 31">
            <a:extLst>
              <a:ext uri="{FF2B5EF4-FFF2-40B4-BE49-F238E27FC236}">
                <a16:creationId xmlns:a16="http://schemas.microsoft.com/office/drawing/2014/main" id="{A9AEB786-9862-8044-378C-F4BD307D3A68}"/>
              </a:ext>
            </a:extLst>
          </p:cNvPr>
          <p:cNvSpPr/>
          <p:nvPr/>
        </p:nvSpPr>
        <p:spPr bwMode="auto">
          <a:xfrm>
            <a:off x="3575972" y="2978995"/>
            <a:ext cx="720008" cy="360004"/>
          </a:xfrm>
          <a:prstGeom prst="roundRect">
            <a:avLst/>
          </a:prstGeom>
          <a:ln>
            <a:headEnd/>
            <a:tailEnd type="triangle" w="sm" len="med"/>
          </a:ln>
        </p:spPr>
        <p:style>
          <a:lnRef idx="3">
            <a:schemeClr val="lt1"/>
          </a:lnRef>
          <a:fillRef idx="1">
            <a:schemeClr val="accent2"/>
          </a:fillRef>
          <a:effectRef idx="1">
            <a:schemeClr val="accent2"/>
          </a:effectRef>
          <a:fontRef idx="minor">
            <a:schemeClr val="lt1"/>
          </a:fontRef>
        </p:style>
        <p:txBody>
          <a:bodyPr wrap="none" rtlCol="0" anchor="ctr"/>
          <a:lstStyle/>
          <a:p>
            <a:pPr algn="ctr"/>
            <a:r>
              <a:rPr lang="en-US" altLang="ja-JP" dirty="0">
                <a:latin typeface="Arial Narrow" panose="020B0606020202030204" pitchFamily="34" charset="0"/>
              </a:rPr>
              <a:t>if a &gt; 0</a:t>
            </a:r>
            <a:endParaRPr lang="ja-JP" altLang="en-US" dirty="0">
              <a:latin typeface="Arial Narrow" panose="020B0606020202030204" pitchFamily="34" charset="0"/>
            </a:endParaRPr>
          </a:p>
        </p:txBody>
      </p:sp>
    </p:spTree>
    <p:extLst>
      <p:ext uri="{BB962C8B-B14F-4D97-AF65-F5344CB8AC3E}">
        <p14:creationId xmlns:p14="http://schemas.microsoft.com/office/powerpoint/2010/main" val="40753384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20574-DCE4-5286-2B70-607D24496A37}"/>
            </a:ext>
          </a:extLst>
        </p:cNvPr>
        <p:cNvGrpSpPr/>
        <p:nvPr/>
      </p:nvGrpSpPr>
      <p:grpSpPr>
        <a:xfrm>
          <a:off x="0" y="0"/>
          <a:ext cx="0" cy="0"/>
          <a:chOff x="0" y="0"/>
          <a:chExt cx="0" cy="0"/>
        </a:xfrm>
      </p:grpSpPr>
      <p:grpSp>
        <p:nvGrpSpPr>
          <p:cNvPr id="34" name="グループ化 33">
            <a:extLst>
              <a:ext uri="{FF2B5EF4-FFF2-40B4-BE49-F238E27FC236}">
                <a16:creationId xmlns:a16="http://schemas.microsoft.com/office/drawing/2014/main" id="{98DE91BC-24D7-611B-98D1-D13D3FC4C6EF}"/>
              </a:ext>
            </a:extLst>
          </p:cNvPr>
          <p:cNvGrpSpPr/>
          <p:nvPr/>
        </p:nvGrpSpPr>
        <p:grpSpPr>
          <a:xfrm>
            <a:off x="3125967" y="3879005"/>
            <a:ext cx="1562400" cy="576064"/>
            <a:chOff x="971600" y="5445224"/>
            <a:chExt cx="7200800" cy="576064"/>
          </a:xfrm>
        </p:grpSpPr>
        <p:sp>
          <p:nvSpPr>
            <p:cNvPr id="35" name="平行四辺形 34">
              <a:extLst>
                <a:ext uri="{FF2B5EF4-FFF2-40B4-BE49-F238E27FC236}">
                  <a16:creationId xmlns:a16="http://schemas.microsoft.com/office/drawing/2014/main" id="{7F7D753D-0EF3-9FBE-D197-66310C7A32A1}"/>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a:extLst>
                <a:ext uri="{FF2B5EF4-FFF2-40B4-BE49-F238E27FC236}">
                  <a16:creationId xmlns:a16="http://schemas.microsoft.com/office/drawing/2014/main" id="{8ADFDC6B-2DB8-7E91-56A3-A04A9CD1421D}"/>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a:extLst>
              <a:ext uri="{FF2B5EF4-FFF2-40B4-BE49-F238E27FC236}">
                <a16:creationId xmlns:a16="http://schemas.microsoft.com/office/drawing/2014/main" id="{16DF295D-0680-8CA1-6418-E922E8556F22}"/>
              </a:ext>
            </a:extLst>
          </p:cNvPr>
          <p:cNvGrpSpPr/>
          <p:nvPr/>
        </p:nvGrpSpPr>
        <p:grpSpPr>
          <a:xfrm>
            <a:off x="4566127" y="3879005"/>
            <a:ext cx="1562400" cy="576064"/>
            <a:chOff x="971600" y="5445224"/>
            <a:chExt cx="7200800" cy="576064"/>
          </a:xfrm>
        </p:grpSpPr>
        <p:sp>
          <p:nvSpPr>
            <p:cNvPr id="50" name="平行四辺形 49">
              <a:extLst>
                <a:ext uri="{FF2B5EF4-FFF2-40B4-BE49-F238E27FC236}">
                  <a16:creationId xmlns:a16="http://schemas.microsoft.com/office/drawing/2014/main" id="{33A9C105-8206-8F1C-7C47-04885197CD9C}"/>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a:extLst>
                <a:ext uri="{FF2B5EF4-FFF2-40B4-BE49-F238E27FC236}">
                  <a16:creationId xmlns:a16="http://schemas.microsoft.com/office/drawing/2014/main" id="{0C11EC0A-00D1-BBAE-16FB-84DBCBD9F3D1}"/>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a:extLst>
              <a:ext uri="{FF2B5EF4-FFF2-40B4-BE49-F238E27FC236}">
                <a16:creationId xmlns:a16="http://schemas.microsoft.com/office/drawing/2014/main" id="{FE7DAE11-DBF7-AA57-4221-DD6BD43157AB}"/>
              </a:ext>
            </a:extLst>
          </p:cNvPr>
          <p:cNvGrpSpPr/>
          <p:nvPr/>
        </p:nvGrpSpPr>
        <p:grpSpPr>
          <a:xfrm>
            <a:off x="6006287" y="3879005"/>
            <a:ext cx="1562400" cy="576064"/>
            <a:chOff x="971600" y="5445224"/>
            <a:chExt cx="7200800" cy="576064"/>
          </a:xfrm>
        </p:grpSpPr>
        <p:sp>
          <p:nvSpPr>
            <p:cNvPr id="53" name="平行四辺形 52">
              <a:extLst>
                <a:ext uri="{FF2B5EF4-FFF2-40B4-BE49-F238E27FC236}">
                  <a16:creationId xmlns:a16="http://schemas.microsoft.com/office/drawing/2014/main" id="{67BFC2DD-D8A5-67FB-5045-0375EB5C2542}"/>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a:extLst>
                <a:ext uri="{FF2B5EF4-FFF2-40B4-BE49-F238E27FC236}">
                  <a16:creationId xmlns:a16="http://schemas.microsoft.com/office/drawing/2014/main" id="{A8245F68-BBB3-C757-873C-C2094EA7CE92}"/>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a:extLst>
              <a:ext uri="{FF2B5EF4-FFF2-40B4-BE49-F238E27FC236}">
                <a16:creationId xmlns:a16="http://schemas.microsoft.com/office/drawing/2014/main" id="{840988D0-B9E5-4960-B750-7BF33305EA73}"/>
              </a:ext>
            </a:extLst>
          </p:cNvPr>
          <p:cNvGrpSpPr/>
          <p:nvPr/>
        </p:nvGrpSpPr>
        <p:grpSpPr>
          <a:xfrm>
            <a:off x="7446447" y="3879005"/>
            <a:ext cx="1584176" cy="576064"/>
            <a:chOff x="971600" y="5445224"/>
            <a:chExt cx="7200800" cy="576064"/>
          </a:xfrm>
        </p:grpSpPr>
        <p:sp>
          <p:nvSpPr>
            <p:cNvPr id="62" name="平行四辺形 61">
              <a:extLst>
                <a:ext uri="{FF2B5EF4-FFF2-40B4-BE49-F238E27FC236}">
                  <a16:creationId xmlns:a16="http://schemas.microsoft.com/office/drawing/2014/main" id="{D8366929-2C7C-61E8-0984-B77C0D85A487}"/>
                </a:ext>
              </a:extLst>
            </p:cNvPr>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a:extLst>
                <a:ext uri="{FF2B5EF4-FFF2-40B4-BE49-F238E27FC236}">
                  <a16:creationId xmlns:a16="http://schemas.microsoft.com/office/drawing/2014/main" id="{395ED10F-CA2D-DBD4-4887-CD2D2285780F}"/>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a:extLst>
              <a:ext uri="{FF2B5EF4-FFF2-40B4-BE49-F238E27FC236}">
                <a16:creationId xmlns:a16="http://schemas.microsoft.com/office/drawing/2014/main" id="{EDDC0A59-BDE4-FAF4-296D-D918413B70C6}"/>
              </a:ext>
            </a:extLst>
          </p:cNvPr>
          <p:cNvSpPr/>
          <p:nvPr/>
        </p:nvSpPr>
        <p:spPr>
          <a:xfrm>
            <a:off x="3087807" y="3014462"/>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a:extLst>
              <a:ext uri="{FF2B5EF4-FFF2-40B4-BE49-F238E27FC236}">
                <a16:creationId xmlns:a16="http://schemas.microsoft.com/office/drawing/2014/main" id="{DEF471DB-C8F7-0267-8D12-DB6ABC8F6B48}"/>
              </a:ext>
            </a:extLst>
          </p:cNvPr>
          <p:cNvSpPr/>
          <p:nvPr/>
        </p:nvSpPr>
        <p:spPr>
          <a:xfrm>
            <a:off x="4527967" y="3014462"/>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7AFED203-1EAD-954C-265D-EF3642B2755E}"/>
              </a:ext>
            </a:extLst>
          </p:cNvPr>
          <p:cNvSpPr/>
          <p:nvPr/>
        </p:nvSpPr>
        <p:spPr>
          <a:xfrm>
            <a:off x="5970014" y="3033046"/>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a:extLst>
              <a:ext uri="{FF2B5EF4-FFF2-40B4-BE49-F238E27FC236}">
                <a16:creationId xmlns:a16="http://schemas.microsoft.com/office/drawing/2014/main" id="{486221AD-1DE0-8DDA-1527-1A4CF75B3746}"/>
              </a:ext>
            </a:extLst>
          </p:cNvPr>
          <p:cNvSpPr/>
          <p:nvPr/>
        </p:nvSpPr>
        <p:spPr>
          <a:xfrm>
            <a:off x="7410174" y="3033046"/>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83B2E391-8779-92C4-63C8-4287832CD259}"/>
              </a:ext>
            </a:extLst>
          </p:cNvPr>
          <p:cNvSpPr>
            <a:spLocks noGrp="1"/>
          </p:cNvSpPr>
          <p:nvPr>
            <p:ph type="title"/>
          </p:nvPr>
        </p:nvSpPr>
        <p:spPr>
          <a:xfrm>
            <a:off x="1865953" y="11181"/>
            <a:ext cx="8712046" cy="908972"/>
          </a:xfrm>
        </p:spPr>
        <p:txBody>
          <a:bodyPr/>
          <a:lstStyle/>
          <a:p>
            <a:r>
              <a:rPr lang="ja-JP" altLang="en-US" dirty="0"/>
              <a:t>フォワーディング</a:t>
            </a:r>
            <a:endParaRPr kumimoji="1" lang="ja-JP" altLang="en-US" dirty="0"/>
          </a:p>
        </p:txBody>
      </p:sp>
      <p:sp>
        <p:nvSpPr>
          <p:cNvPr id="58" name="コンテンツ プレースホルダー 57">
            <a:extLst>
              <a:ext uri="{FF2B5EF4-FFF2-40B4-BE49-F238E27FC236}">
                <a16:creationId xmlns:a16="http://schemas.microsoft.com/office/drawing/2014/main" id="{66698FF2-1DA3-6BF5-9E6E-37330679F0E0}"/>
              </a:ext>
            </a:extLst>
          </p:cNvPr>
          <p:cNvSpPr>
            <a:spLocks noGrp="1"/>
          </p:cNvSpPr>
          <p:nvPr>
            <p:ph type="body" sz="quarter" idx="10"/>
          </p:nvPr>
        </p:nvSpPr>
        <p:spPr>
          <a:xfrm>
            <a:off x="1775953" y="5389877"/>
            <a:ext cx="8730097" cy="1009157"/>
          </a:xfrm>
          <a:prstGeom prst="rect">
            <a:avLst/>
          </a:prstGeom>
        </p:spPr>
        <p:txBody>
          <a:bodyPr/>
          <a:lstStyle/>
          <a:p>
            <a:r>
              <a:rPr lang="ja-JP" altLang="en-US" dirty="0"/>
              <a:t>フォワーディング（バイパスとも呼ぶ）</a:t>
            </a:r>
            <a:endParaRPr lang="en-US" altLang="ja-JP" dirty="0"/>
          </a:p>
          <a:p>
            <a:pPr lvl="1"/>
            <a:r>
              <a:rPr lang="ja-JP" altLang="en-US"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dirty="0"/>
              <a:t>の人が，次のサイクルに結果を使えるようショートカットを作って手元に結果をおいておく</a:t>
            </a:r>
            <a:endParaRPr lang="en-US" altLang="ja-JP" dirty="0"/>
          </a:p>
        </p:txBody>
      </p:sp>
      <p:cxnSp>
        <p:nvCxnSpPr>
          <p:cNvPr id="67" name="直線矢印コネクタ 66">
            <a:extLst>
              <a:ext uri="{FF2B5EF4-FFF2-40B4-BE49-F238E27FC236}">
                <a16:creationId xmlns:a16="http://schemas.microsoft.com/office/drawing/2014/main" id="{56CFD9D5-995F-65EC-7199-DCC384C71133}"/>
              </a:ext>
            </a:extLst>
          </p:cNvPr>
          <p:cNvCxnSpPr/>
          <p:nvPr/>
        </p:nvCxnSpPr>
        <p:spPr bwMode="auto">
          <a:xfrm>
            <a:off x="3125967" y="4689014"/>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30" name="Freeform 25">
            <a:extLst>
              <a:ext uri="{FF2B5EF4-FFF2-40B4-BE49-F238E27FC236}">
                <a16:creationId xmlns:a16="http://schemas.microsoft.com/office/drawing/2014/main" id="{C3990793-E0E3-B980-6B8D-EFC2907DDE93}"/>
              </a:ext>
            </a:extLst>
          </p:cNvPr>
          <p:cNvSpPr>
            <a:spLocks/>
          </p:cNvSpPr>
          <p:nvPr/>
        </p:nvSpPr>
        <p:spPr bwMode="auto">
          <a:xfrm>
            <a:off x="4745985"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レジスタ・ファイル</a:t>
            </a:r>
          </a:p>
        </p:txBody>
      </p:sp>
      <p:sp>
        <p:nvSpPr>
          <p:cNvPr id="31" name="AutoShape 5">
            <a:extLst>
              <a:ext uri="{FF2B5EF4-FFF2-40B4-BE49-F238E27FC236}">
                <a16:creationId xmlns:a16="http://schemas.microsoft.com/office/drawing/2014/main" id="{D4BC94E0-5FDE-9D22-D15E-1139D2B3994E}"/>
              </a:ext>
            </a:extLst>
          </p:cNvPr>
          <p:cNvSpPr>
            <a:spLocks noChangeArrowheads="1"/>
          </p:cNvSpPr>
          <p:nvPr/>
        </p:nvSpPr>
        <p:spPr bwMode="auto">
          <a:xfrm rot="-5400000">
            <a:off x="6366165" y="2403057"/>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演算器</a:t>
            </a:r>
          </a:p>
        </p:txBody>
      </p:sp>
      <p:grpSp>
        <p:nvGrpSpPr>
          <p:cNvPr id="32" name="グループ化 31">
            <a:extLst>
              <a:ext uri="{FF2B5EF4-FFF2-40B4-BE49-F238E27FC236}">
                <a16:creationId xmlns:a16="http://schemas.microsoft.com/office/drawing/2014/main" id="{392691C1-4913-AF7E-D0C3-970DF0BDCE0C}"/>
              </a:ext>
            </a:extLst>
          </p:cNvPr>
          <p:cNvGrpSpPr/>
          <p:nvPr/>
        </p:nvGrpSpPr>
        <p:grpSpPr>
          <a:xfrm>
            <a:off x="5034017" y="1718981"/>
            <a:ext cx="1008112" cy="1152128"/>
            <a:chOff x="3563888" y="2708920"/>
            <a:chExt cx="1296144" cy="432048"/>
          </a:xfrm>
        </p:grpSpPr>
        <p:sp>
          <p:nvSpPr>
            <p:cNvPr id="33" name="Freeform 9">
              <a:extLst>
                <a:ext uri="{FF2B5EF4-FFF2-40B4-BE49-F238E27FC236}">
                  <a16:creationId xmlns:a16="http://schemas.microsoft.com/office/drawing/2014/main" id="{AAE22272-6C17-C7B9-3DD3-3E80D5C6AD77}"/>
                </a:ext>
              </a:extLst>
            </p:cNvPr>
            <p:cNvSpPr>
              <a:spLocks/>
            </p:cNvSpPr>
            <p:nvPr/>
          </p:nvSpPr>
          <p:spPr bwMode="auto">
            <a:xfrm>
              <a:off x="4211960" y="2708920"/>
              <a:ext cx="648072" cy="270003"/>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w="25400">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a:extLst>
                <a:ext uri="{FF2B5EF4-FFF2-40B4-BE49-F238E27FC236}">
                  <a16:creationId xmlns:a16="http://schemas.microsoft.com/office/drawing/2014/main" id="{025EBEE5-EA6E-D9FF-A518-81E189DEE524}"/>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w="25400">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a:extLst>
              <a:ext uri="{FF2B5EF4-FFF2-40B4-BE49-F238E27FC236}">
                <a16:creationId xmlns:a16="http://schemas.microsoft.com/office/drawing/2014/main" id="{1FCB47F2-B388-C33A-3EE0-26B7427F49EB}"/>
              </a:ext>
            </a:extLst>
          </p:cNvPr>
          <p:cNvSpPr>
            <a:spLocks/>
          </p:cNvSpPr>
          <p:nvPr/>
        </p:nvSpPr>
        <p:spPr bwMode="auto">
          <a:xfrm>
            <a:off x="7482289" y="1808983"/>
            <a:ext cx="720080" cy="918111"/>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254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nvGrpSpPr>
          <p:cNvPr id="41" name="グループ化 40">
            <a:extLst>
              <a:ext uri="{FF2B5EF4-FFF2-40B4-BE49-F238E27FC236}">
                <a16:creationId xmlns:a16="http://schemas.microsoft.com/office/drawing/2014/main" id="{C971050D-4F8E-8F76-A819-ECDF170FD6BF}"/>
              </a:ext>
            </a:extLst>
          </p:cNvPr>
          <p:cNvGrpSpPr/>
          <p:nvPr/>
        </p:nvGrpSpPr>
        <p:grpSpPr>
          <a:xfrm>
            <a:off x="2135957" y="3699003"/>
            <a:ext cx="720009" cy="360004"/>
            <a:chOff x="6372020" y="3699004"/>
            <a:chExt cx="720009" cy="360004"/>
          </a:xfrm>
        </p:grpSpPr>
        <p:sp>
          <p:nvSpPr>
            <p:cNvPr id="42" name="角丸四角形 41">
              <a:extLst>
                <a:ext uri="{FF2B5EF4-FFF2-40B4-BE49-F238E27FC236}">
                  <a16:creationId xmlns:a16="http://schemas.microsoft.com/office/drawing/2014/main" id="{84E87C1E-D26C-F2F7-D3EE-8E05260614DA}"/>
                </a:ext>
              </a:extLst>
            </p:cNvPr>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sp>
          <p:nvSpPr>
            <p:cNvPr id="44" name="角丸四角形 43">
              <a:extLst>
                <a:ext uri="{FF2B5EF4-FFF2-40B4-BE49-F238E27FC236}">
                  <a16:creationId xmlns:a16="http://schemas.microsoft.com/office/drawing/2014/main" id="{8F83EE7E-A8D0-7871-97D3-B4B358032429}"/>
                </a:ext>
              </a:extLst>
            </p:cNvPr>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grpSp>
      <p:sp>
        <p:nvSpPr>
          <p:cNvPr id="96" name="正方形/長方形 95">
            <a:extLst>
              <a:ext uri="{FF2B5EF4-FFF2-40B4-BE49-F238E27FC236}">
                <a16:creationId xmlns:a16="http://schemas.microsoft.com/office/drawing/2014/main" id="{77AF3DCF-58DB-8AAF-5A87-09FD304AB52E}"/>
              </a:ext>
            </a:extLst>
          </p:cNvPr>
          <p:cNvSpPr/>
          <p:nvPr/>
        </p:nvSpPr>
        <p:spPr bwMode="auto">
          <a:xfrm>
            <a:off x="1775952" y="3158998"/>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lang="en-US" altLang="ja-JP" sz="2000" dirty="0">
                <a:solidFill>
                  <a:schemeClr val="bg1"/>
                </a:solidFill>
                <a:latin typeface="Arial Narrow" panose="020B0606020202030204" pitchFamily="34" charset="0"/>
              </a:rPr>
              <a:t>a=a+1</a:t>
            </a:r>
          </a:p>
          <a:p>
            <a:pPr>
              <a:lnSpc>
                <a:spcPct val="80000"/>
              </a:lnSpc>
            </a:pPr>
            <a:r>
              <a:rPr lang="en-US" altLang="ja-JP" sz="2000" dirty="0">
                <a:solidFill>
                  <a:schemeClr val="bg1"/>
                </a:solidFill>
                <a:latin typeface="Arial Narrow" panose="020B0606020202030204" pitchFamily="34" charset="0"/>
              </a:rPr>
              <a:t>b=a-1</a:t>
            </a:r>
          </a:p>
          <a:p>
            <a:pPr>
              <a:lnSpc>
                <a:spcPct val="80000"/>
              </a:lnSpc>
            </a:pPr>
            <a:r>
              <a:rPr lang="en-US" altLang="ja-JP" sz="2000" dirty="0">
                <a:solidFill>
                  <a:schemeClr val="bg1"/>
                </a:solidFill>
                <a:latin typeface="Arial Narrow" panose="020B0606020202030204" pitchFamily="34" charset="0"/>
              </a:rPr>
              <a:t>c=a+2</a:t>
            </a:r>
          </a:p>
          <a:p>
            <a:pPr>
              <a:lnSpc>
                <a:spcPct val="80000"/>
              </a:lnSpc>
            </a:pPr>
            <a:r>
              <a:rPr lang="en-US" altLang="ja-JP" sz="2000" dirty="0">
                <a:solidFill>
                  <a:schemeClr val="bg1"/>
                </a:solidFill>
                <a:latin typeface="Arial Narrow" panose="020B0606020202030204" pitchFamily="34" charset="0"/>
              </a:rPr>
              <a:t>e=…</a:t>
            </a:r>
          </a:p>
          <a:p>
            <a:pPr>
              <a:lnSpc>
                <a:spcPct val="80000"/>
              </a:lnSpc>
            </a:pPr>
            <a:r>
              <a:rPr lang="en-US" altLang="ja-JP" sz="2000" dirty="0">
                <a:solidFill>
                  <a:schemeClr val="bg1"/>
                </a:solidFill>
                <a:latin typeface="Arial Narrow" panose="020B0606020202030204" pitchFamily="34" charset="0"/>
              </a:rPr>
              <a:t>…</a:t>
            </a:r>
            <a:endParaRPr lang="ja-JP" altLang="en-US" sz="2000" dirty="0">
              <a:solidFill>
                <a:schemeClr val="bg1"/>
              </a:solidFill>
              <a:latin typeface="Arial Narrow" panose="020B0606020202030204" pitchFamily="34" charset="0"/>
            </a:endParaRPr>
          </a:p>
        </p:txBody>
      </p:sp>
      <p:sp>
        <p:nvSpPr>
          <p:cNvPr id="46" name="角丸四角形 45">
            <a:extLst>
              <a:ext uri="{FF2B5EF4-FFF2-40B4-BE49-F238E27FC236}">
                <a16:creationId xmlns:a16="http://schemas.microsoft.com/office/drawing/2014/main" id="{094CD7F7-D73C-7B31-0BE2-21975B4CC514}"/>
              </a:ext>
            </a:extLst>
          </p:cNvPr>
          <p:cNvSpPr/>
          <p:nvPr/>
        </p:nvSpPr>
        <p:spPr bwMode="auto">
          <a:xfrm>
            <a:off x="6456004"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a=a+1</a:t>
            </a:r>
            <a:endParaRPr lang="ja-JP" altLang="en-US" dirty="0">
              <a:latin typeface="Arial Narrow" panose="020B0606020202030204" pitchFamily="34" charset="0"/>
            </a:endParaRPr>
          </a:p>
        </p:txBody>
      </p:sp>
      <p:sp>
        <p:nvSpPr>
          <p:cNvPr id="47" name="角丸四角形 46">
            <a:extLst>
              <a:ext uri="{FF2B5EF4-FFF2-40B4-BE49-F238E27FC236}">
                <a16:creationId xmlns:a16="http://schemas.microsoft.com/office/drawing/2014/main" id="{4426B8C6-6980-A943-97D0-6AAD041A4308}"/>
              </a:ext>
            </a:extLst>
          </p:cNvPr>
          <p:cNvSpPr/>
          <p:nvPr/>
        </p:nvSpPr>
        <p:spPr bwMode="auto">
          <a:xfrm>
            <a:off x="5015988"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b=a-1</a:t>
            </a:r>
            <a:endParaRPr lang="ja-JP" altLang="en-US" dirty="0">
              <a:latin typeface="Arial Narrow" panose="020B0606020202030204" pitchFamily="34" charset="0"/>
            </a:endParaRPr>
          </a:p>
        </p:txBody>
      </p:sp>
      <p:sp>
        <p:nvSpPr>
          <p:cNvPr id="48" name="角丸四角形 47">
            <a:extLst>
              <a:ext uri="{FF2B5EF4-FFF2-40B4-BE49-F238E27FC236}">
                <a16:creationId xmlns:a16="http://schemas.microsoft.com/office/drawing/2014/main" id="{63AB72FA-BEDA-BA9D-952C-242B59C832B2}"/>
              </a:ext>
            </a:extLst>
          </p:cNvPr>
          <p:cNvSpPr/>
          <p:nvPr/>
        </p:nvSpPr>
        <p:spPr bwMode="auto">
          <a:xfrm>
            <a:off x="3575972"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c=a+2</a:t>
            </a:r>
            <a:endParaRPr lang="ja-JP" altLang="en-US" dirty="0">
              <a:latin typeface="Arial Narrow" panose="020B0606020202030204" pitchFamily="34" charset="0"/>
            </a:endParaRPr>
          </a:p>
        </p:txBody>
      </p:sp>
      <p:sp>
        <p:nvSpPr>
          <p:cNvPr id="57" name="Freeform 8">
            <a:extLst>
              <a:ext uri="{FF2B5EF4-FFF2-40B4-BE49-F238E27FC236}">
                <a16:creationId xmlns:a16="http://schemas.microsoft.com/office/drawing/2014/main" id="{DAF1910F-FC8A-4966-9CAF-508BA5600D5C}"/>
              </a:ext>
            </a:extLst>
          </p:cNvPr>
          <p:cNvSpPr>
            <a:spLocks/>
          </p:cNvSpPr>
          <p:nvPr/>
        </p:nvSpPr>
        <p:spPr bwMode="auto">
          <a:xfrm rot="16200000">
            <a:off x="6285017" y="1709966"/>
            <a:ext cx="810009" cy="118804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cap="rnd">
            <a:miter lim="800000"/>
            <a:headEnd/>
            <a:tailEnd type="none" w="med" len="med"/>
          </a:ln>
        </p:spPr>
        <p:style>
          <a:lnRef idx="3">
            <a:schemeClr val="accent2"/>
          </a:lnRef>
          <a:fillRef idx="0">
            <a:schemeClr val="accent2"/>
          </a:fillRef>
          <a:effectRef idx="2">
            <a:schemeClr val="accent2"/>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60" name="Freeform 8">
            <a:extLst>
              <a:ext uri="{FF2B5EF4-FFF2-40B4-BE49-F238E27FC236}">
                <a16:creationId xmlns:a16="http://schemas.microsoft.com/office/drawing/2014/main" id="{4EBACA9F-C5B7-C0DF-4BB1-07F7C7FB7CE3}"/>
              </a:ext>
            </a:extLst>
          </p:cNvPr>
          <p:cNvSpPr>
            <a:spLocks/>
          </p:cNvSpPr>
          <p:nvPr/>
        </p:nvSpPr>
        <p:spPr bwMode="auto">
          <a:xfrm rot="5400000">
            <a:off x="5969977" y="2025006"/>
            <a:ext cx="540078"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cap="rnd">
            <a:miter lim="800000"/>
            <a:headEnd/>
            <a:tailEnd type="triangle" w="med" len="med"/>
          </a:ln>
        </p:spPr>
        <p:style>
          <a:lnRef idx="3">
            <a:schemeClr val="accent2"/>
          </a:lnRef>
          <a:fillRef idx="0">
            <a:schemeClr val="accent2"/>
          </a:fillRef>
          <a:effectRef idx="2">
            <a:schemeClr val="accent2"/>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63" name="Freeform 8">
            <a:extLst>
              <a:ext uri="{FF2B5EF4-FFF2-40B4-BE49-F238E27FC236}">
                <a16:creationId xmlns:a16="http://schemas.microsoft.com/office/drawing/2014/main" id="{DDB91C2F-BC8E-1705-F95C-EA266E03EC03}"/>
              </a:ext>
            </a:extLst>
          </p:cNvPr>
          <p:cNvSpPr>
            <a:spLocks/>
          </p:cNvSpPr>
          <p:nvPr/>
        </p:nvSpPr>
        <p:spPr bwMode="auto">
          <a:xfrm rot="5400000">
            <a:off x="5969977" y="2475011"/>
            <a:ext cx="540078"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cap="rnd">
            <a:miter lim="800000"/>
            <a:headEnd/>
            <a:tailEnd type="triangle" w="med" len="med"/>
          </a:ln>
        </p:spPr>
        <p:style>
          <a:lnRef idx="3">
            <a:schemeClr val="accent2"/>
          </a:lnRef>
          <a:fillRef idx="0">
            <a:schemeClr val="accent2"/>
          </a:fillRef>
          <a:effectRef idx="2">
            <a:schemeClr val="accent2"/>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65" name="角丸四角形吹き出し 64">
            <a:extLst>
              <a:ext uri="{FF2B5EF4-FFF2-40B4-BE49-F238E27FC236}">
                <a16:creationId xmlns:a16="http://schemas.microsoft.com/office/drawing/2014/main" id="{CB9C535F-9952-FA79-85D2-4B761A1B3FD2}"/>
              </a:ext>
            </a:extLst>
          </p:cNvPr>
          <p:cNvSpPr/>
          <p:nvPr/>
        </p:nvSpPr>
        <p:spPr bwMode="auto">
          <a:xfrm>
            <a:off x="6546006" y="2888995"/>
            <a:ext cx="2970033" cy="342645"/>
          </a:xfrm>
          <a:prstGeom prst="wedgeRoundRectCallout">
            <a:avLst>
              <a:gd name="adj1" fmla="val -46291"/>
              <a:gd name="adj2" fmla="val 103500"/>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近道つくればいいじゃない</a:t>
            </a:r>
          </a:p>
        </p:txBody>
      </p:sp>
    </p:spTree>
    <p:extLst>
      <p:ext uri="{BB962C8B-B14F-4D97-AF65-F5344CB8AC3E}">
        <p14:creationId xmlns:p14="http://schemas.microsoft.com/office/powerpoint/2010/main" val="24011405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2A3B9-9713-CB19-F54C-70B3A73DC288}"/>
            </a:ext>
          </a:extLst>
        </p:cNvPr>
        <p:cNvGrpSpPr/>
        <p:nvPr/>
      </p:nvGrpSpPr>
      <p:grpSpPr>
        <a:xfrm>
          <a:off x="0" y="0"/>
          <a:ext cx="0" cy="0"/>
          <a:chOff x="0" y="0"/>
          <a:chExt cx="0" cy="0"/>
        </a:xfrm>
      </p:grpSpPr>
      <p:grpSp>
        <p:nvGrpSpPr>
          <p:cNvPr id="34" name="グループ化 33">
            <a:extLst>
              <a:ext uri="{FF2B5EF4-FFF2-40B4-BE49-F238E27FC236}">
                <a16:creationId xmlns:a16="http://schemas.microsoft.com/office/drawing/2014/main" id="{A3259471-E3FF-887B-56B5-4CE112BF6DAB}"/>
              </a:ext>
            </a:extLst>
          </p:cNvPr>
          <p:cNvGrpSpPr/>
          <p:nvPr/>
        </p:nvGrpSpPr>
        <p:grpSpPr>
          <a:xfrm>
            <a:off x="3125967" y="3879005"/>
            <a:ext cx="1562400" cy="576064"/>
            <a:chOff x="971600" y="5445224"/>
            <a:chExt cx="7200800" cy="576064"/>
          </a:xfrm>
        </p:grpSpPr>
        <p:sp>
          <p:nvSpPr>
            <p:cNvPr id="35" name="平行四辺形 34">
              <a:extLst>
                <a:ext uri="{FF2B5EF4-FFF2-40B4-BE49-F238E27FC236}">
                  <a16:creationId xmlns:a16="http://schemas.microsoft.com/office/drawing/2014/main" id="{3545FB9C-9AD6-B785-71F7-69C0699B6274}"/>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a:extLst>
                <a:ext uri="{FF2B5EF4-FFF2-40B4-BE49-F238E27FC236}">
                  <a16:creationId xmlns:a16="http://schemas.microsoft.com/office/drawing/2014/main" id="{F83341EE-90FA-0648-2735-0658AFD99FD9}"/>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a:extLst>
              <a:ext uri="{FF2B5EF4-FFF2-40B4-BE49-F238E27FC236}">
                <a16:creationId xmlns:a16="http://schemas.microsoft.com/office/drawing/2014/main" id="{6674FFE4-3B14-5FA5-CFE6-E5EFFD4B8488}"/>
              </a:ext>
            </a:extLst>
          </p:cNvPr>
          <p:cNvGrpSpPr/>
          <p:nvPr/>
        </p:nvGrpSpPr>
        <p:grpSpPr>
          <a:xfrm>
            <a:off x="4566127" y="3879005"/>
            <a:ext cx="1562400" cy="576064"/>
            <a:chOff x="971600" y="5445224"/>
            <a:chExt cx="7200800" cy="576064"/>
          </a:xfrm>
        </p:grpSpPr>
        <p:sp>
          <p:nvSpPr>
            <p:cNvPr id="50" name="平行四辺形 49">
              <a:extLst>
                <a:ext uri="{FF2B5EF4-FFF2-40B4-BE49-F238E27FC236}">
                  <a16:creationId xmlns:a16="http://schemas.microsoft.com/office/drawing/2014/main" id="{8F2C68CE-3DCD-0266-AE9B-1D9AA0113C4E}"/>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a:extLst>
                <a:ext uri="{FF2B5EF4-FFF2-40B4-BE49-F238E27FC236}">
                  <a16:creationId xmlns:a16="http://schemas.microsoft.com/office/drawing/2014/main" id="{017599DD-538B-ACC6-A4F4-3352B6C82FA2}"/>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a:extLst>
              <a:ext uri="{FF2B5EF4-FFF2-40B4-BE49-F238E27FC236}">
                <a16:creationId xmlns:a16="http://schemas.microsoft.com/office/drawing/2014/main" id="{8D556263-F870-5051-E9C0-8D7A9A8D6BC8}"/>
              </a:ext>
            </a:extLst>
          </p:cNvPr>
          <p:cNvGrpSpPr/>
          <p:nvPr/>
        </p:nvGrpSpPr>
        <p:grpSpPr>
          <a:xfrm>
            <a:off x="6006287" y="3879005"/>
            <a:ext cx="1562400" cy="576064"/>
            <a:chOff x="971600" y="5445224"/>
            <a:chExt cx="7200800" cy="576064"/>
          </a:xfrm>
        </p:grpSpPr>
        <p:sp>
          <p:nvSpPr>
            <p:cNvPr id="53" name="平行四辺形 52">
              <a:extLst>
                <a:ext uri="{FF2B5EF4-FFF2-40B4-BE49-F238E27FC236}">
                  <a16:creationId xmlns:a16="http://schemas.microsoft.com/office/drawing/2014/main" id="{0DC727E5-F773-194D-3550-1230ED6044E0}"/>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a:extLst>
                <a:ext uri="{FF2B5EF4-FFF2-40B4-BE49-F238E27FC236}">
                  <a16:creationId xmlns:a16="http://schemas.microsoft.com/office/drawing/2014/main" id="{5807D2AB-4725-71F4-93C7-0455D48E0C74}"/>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a:extLst>
              <a:ext uri="{FF2B5EF4-FFF2-40B4-BE49-F238E27FC236}">
                <a16:creationId xmlns:a16="http://schemas.microsoft.com/office/drawing/2014/main" id="{B3AB26FD-0E0D-E237-7129-7580E4B05DCF}"/>
              </a:ext>
            </a:extLst>
          </p:cNvPr>
          <p:cNvGrpSpPr/>
          <p:nvPr/>
        </p:nvGrpSpPr>
        <p:grpSpPr>
          <a:xfrm>
            <a:off x="7446447" y="3879005"/>
            <a:ext cx="1584176" cy="576064"/>
            <a:chOff x="971600" y="5445224"/>
            <a:chExt cx="7200800" cy="576064"/>
          </a:xfrm>
        </p:grpSpPr>
        <p:sp>
          <p:nvSpPr>
            <p:cNvPr id="62" name="平行四辺形 61">
              <a:extLst>
                <a:ext uri="{FF2B5EF4-FFF2-40B4-BE49-F238E27FC236}">
                  <a16:creationId xmlns:a16="http://schemas.microsoft.com/office/drawing/2014/main" id="{2C5408D4-C089-24A1-50E7-170E2017E629}"/>
                </a:ext>
              </a:extLst>
            </p:cNvPr>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a:extLst>
                <a:ext uri="{FF2B5EF4-FFF2-40B4-BE49-F238E27FC236}">
                  <a16:creationId xmlns:a16="http://schemas.microsoft.com/office/drawing/2014/main" id="{824B58EA-A986-3124-EC91-3797CF9FF580}"/>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a:extLst>
              <a:ext uri="{FF2B5EF4-FFF2-40B4-BE49-F238E27FC236}">
                <a16:creationId xmlns:a16="http://schemas.microsoft.com/office/drawing/2014/main" id="{F2F08845-3CDE-5BB9-2F29-1DC2FF4C4754}"/>
              </a:ext>
            </a:extLst>
          </p:cNvPr>
          <p:cNvSpPr/>
          <p:nvPr/>
        </p:nvSpPr>
        <p:spPr>
          <a:xfrm>
            <a:off x="3087807" y="3014462"/>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a:extLst>
              <a:ext uri="{FF2B5EF4-FFF2-40B4-BE49-F238E27FC236}">
                <a16:creationId xmlns:a16="http://schemas.microsoft.com/office/drawing/2014/main" id="{438FBCEF-6E05-623E-6FBE-F8C2FDB5FBF7}"/>
              </a:ext>
            </a:extLst>
          </p:cNvPr>
          <p:cNvSpPr/>
          <p:nvPr/>
        </p:nvSpPr>
        <p:spPr>
          <a:xfrm>
            <a:off x="4527967" y="3014462"/>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8F44F5F4-6C37-7FF0-6282-4EEF6FAFBE1C}"/>
              </a:ext>
            </a:extLst>
          </p:cNvPr>
          <p:cNvSpPr/>
          <p:nvPr/>
        </p:nvSpPr>
        <p:spPr>
          <a:xfrm>
            <a:off x="5970014" y="3033046"/>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a:extLst>
              <a:ext uri="{FF2B5EF4-FFF2-40B4-BE49-F238E27FC236}">
                <a16:creationId xmlns:a16="http://schemas.microsoft.com/office/drawing/2014/main" id="{DB1B3131-2A71-4956-6AAB-623BE27E4A81}"/>
              </a:ext>
            </a:extLst>
          </p:cNvPr>
          <p:cNvSpPr/>
          <p:nvPr/>
        </p:nvSpPr>
        <p:spPr>
          <a:xfrm>
            <a:off x="7410174" y="3033046"/>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A9D04A8A-07B5-56B5-6CAF-06572771D1E1}"/>
              </a:ext>
            </a:extLst>
          </p:cNvPr>
          <p:cNvSpPr>
            <a:spLocks noGrp="1"/>
          </p:cNvSpPr>
          <p:nvPr>
            <p:ph type="title"/>
          </p:nvPr>
        </p:nvSpPr>
        <p:spPr>
          <a:xfrm>
            <a:off x="1865953" y="11181"/>
            <a:ext cx="8712046" cy="908972"/>
          </a:xfrm>
        </p:spPr>
        <p:txBody>
          <a:bodyPr/>
          <a:lstStyle/>
          <a:p>
            <a:r>
              <a:rPr lang="ja-JP" altLang="en-US" dirty="0"/>
              <a:t>マルチスレッドによる解決</a:t>
            </a:r>
            <a:endParaRPr kumimoji="1" lang="ja-JP" altLang="en-US" dirty="0"/>
          </a:p>
        </p:txBody>
      </p:sp>
      <p:sp>
        <p:nvSpPr>
          <p:cNvPr id="58" name="コンテンツ プレースホルダー 57">
            <a:extLst>
              <a:ext uri="{FF2B5EF4-FFF2-40B4-BE49-F238E27FC236}">
                <a16:creationId xmlns:a16="http://schemas.microsoft.com/office/drawing/2014/main" id="{5C6B7387-5D82-EB9E-BAF1-070ECC3DEE5E}"/>
              </a:ext>
            </a:extLst>
          </p:cNvPr>
          <p:cNvSpPr>
            <a:spLocks noGrp="1"/>
          </p:cNvSpPr>
          <p:nvPr>
            <p:ph type="body" sz="quarter" idx="10"/>
          </p:nvPr>
        </p:nvSpPr>
        <p:spPr>
          <a:xfrm>
            <a:off x="1775953" y="5389877"/>
            <a:ext cx="8730097" cy="1009157"/>
          </a:xfrm>
          <a:prstGeom prst="rect">
            <a:avLst/>
          </a:prstGeom>
        </p:spPr>
        <p:txBody>
          <a:bodyPr/>
          <a:lstStyle/>
          <a:p>
            <a:r>
              <a:rPr lang="ja-JP" altLang="en-US" dirty="0"/>
              <a:t>レジスタ・ファイルに値が書き込まれるまで，他のスレッドを流す</a:t>
            </a:r>
            <a:endParaRPr lang="en-US" altLang="ja-JP" dirty="0"/>
          </a:p>
          <a:p>
            <a:pPr lvl="1"/>
            <a:r>
              <a:rPr lang="ja-JP" altLang="en-US" dirty="0"/>
              <a:t>複数のスレッドの </a:t>
            </a:r>
            <a:r>
              <a:rPr lang="en-US" altLang="ja-JP" dirty="0"/>
              <a:t>a </a:t>
            </a:r>
            <a:r>
              <a:rPr lang="ja-JP" altLang="en-US" dirty="0"/>
              <a:t>が同時に存在するので，レジスタは大きくなる</a:t>
            </a:r>
            <a:endParaRPr lang="en-US" altLang="ja-JP" dirty="0"/>
          </a:p>
        </p:txBody>
      </p:sp>
      <p:cxnSp>
        <p:nvCxnSpPr>
          <p:cNvPr id="67" name="直線矢印コネクタ 66">
            <a:extLst>
              <a:ext uri="{FF2B5EF4-FFF2-40B4-BE49-F238E27FC236}">
                <a16:creationId xmlns:a16="http://schemas.microsoft.com/office/drawing/2014/main" id="{86FC4587-87F6-8CB3-AF07-D124EB8A7314}"/>
              </a:ext>
            </a:extLst>
          </p:cNvPr>
          <p:cNvCxnSpPr/>
          <p:nvPr/>
        </p:nvCxnSpPr>
        <p:spPr bwMode="auto">
          <a:xfrm>
            <a:off x="3125967" y="4689014"/>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30" name="Freeform 25">
            <a:extLst>
              <a:ext uri="{FF2B5EF4-FFF2-40B4-BE49-F238E27FC236}">
                <a16:creationId xmlns:a16="http://schemas.microsoft.com/office/drawing/2014/main" id="{7CD775F3-8C94-D8BC-273C-3A69B4D02395}"/>
              </a:ext>
            </a:extLst>
          </p:cNvPr>
          <p:cNvSpPr>
            <a:spLocks/>
          </p:cNvSpPr>
          <p:nvPr/>
        </p:nvSpPr>
        <p:spPr bwMode="auto">
          <a:xfrm>
            <a:off x="4745985"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レジスタ・ファイル</a:t>
            </a:r>
          </a:p>
        </p:txBody>
      </p:sp>
      <p:sp>
        <p:nvSpPr>
          <p:cNvPr id="31" name="AutoShape 5">
            <a:extLst>
              <a:ext uri="{FF2B5EF4-FFF2-40B4-BE49-F238E27FC236}">
                <a16:creationId xmlns:a16="http://schemas.microsoft.com/office/drawing/2014/main" id="{0C6B5542-23A6-F1C4-34E2-479CFB199BA0}"/>
              </a:ext>
            </a:extLst>
          </p:cNvPr>
          <p:cNvSpPr>
            <a:spLocks noChangeArrowheads="1"/>
          </p:cNvSpPr>
          <p:nvPr/>
        </p:nvSpPr>
        <p:spPr bwMode="auto">
          <a:xfrm rot="-5400000">
            <a:off x="6366165" y="2403057"/>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演算器</a:t>
            </a:r>
          </a:p>
        </p:txBody>
      </p:sp>
      <p:grpSp>
        <p:nvGrpSpPr>
          <p:cNvPr id="32" name="グループ化 31">
            <a:extLst>
              <a:ext uri="{FF2B5EF4-FFF2-40B4-BE49-F238E27FC236}">
                <a16:creationId xmlns:a16="http://schemas.microsoft.com/office/drawing/2014/main" id="{9BBFA9A6-3BB9-DD5F-8A3F-4EEA602FC624}"/>
              </a:ext>
            </a:extLst>
          </p:cNvPr>
          <p:cNvGrpSpPr/>
          <p:nvPr/>
        </p:nvGrpSpPr>
        <p:grpSpPr>
          <a:xfrm>
            <a:off x="5034017" y="1718981"/>
            <a:ext cx="1008112" cy="1152128"/>
            <a:chOff x="3563888" y="2708920"/>
            <a:chExt cx="1296144" cy="432048"/>
          </a:xfrm>
        </p:grpSpPr>
        <p:sp>
          <p:nvSpPr>
            <p:cNvPr id="33" name="Freeform 9">
              <a:extLst>
                <a:ext uri="{FF2B5EF4-FFF2-40B4-BE49-F238E27FC236}">
                  <a16:creationId xmlns:a16="http://schemas.microsoft.com/office/drawing/2014/main" id="{D739EE52-8F7B-1D50-E2D6-695E6F6EC4D2}"/>
                </a:ext>
              </a:extLst>
            </p:cNvPr>
            <p:cNvSpPr>
              <a:spLocks/>
            </p:cNvSpPr>
            <p:nvPr/>
          </p:nvSpPr>
          <p:spPr bwMode="auto">
            <a:xfrm>
              <a:off x="4211960" y="2708920"/>
              <a:ext cx="648072" cy="270003"/>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w="25400">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a:extLst>
                <a:ext uri="{FF2B5EF4-FFF2-40B4-BE49-F238E27FC236}">
                  <a16:creationId xmlns:a16="http://schemas.microsoft.com/office/drawing/2014/main" id="{682A14FA-A64D-0AEA-6104-DAC7D6C3C516}"/>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w="25400">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a:extLst>
              <a:ext uri="{FF2B5EF4-FFF2-40B4-BE49-F238E27FC236}">
                <a16:creationId xmlns:a16="http://schemas.microsoft.com/office/drawing/2014/main" id="{60F67D03-FA09-4369-909A-8EE4C258F716}"/>
              </a:ext>
            </a:extLst>
          </p:cNvPr>
          <p:cNvSpPr>
            <a:spLocks/>
          </p:cNvSpPr>
          <p:nvPr/>
        </p:nvSpPr>
        <p:spPr bwMode="auto">
          <a:xfrm>
            <a:off x="7482289" y="1808983"/>
            <a:ext cx="720080" cy="918111"/>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254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nvGrpSpPr>
          <p:cNvPr id="41" name="グループ化 40">
            <a:extLst>
              <a:ext uri="{FF2B5EF4-FFF2-40B4-BE49-F238E27FC236}">
                <a16:creationId xmlns:a16="http://schemas.microsoft.com/office/drawing/2014/main" id="{478F0418-BCDF-9160-A15F-C7D0BA9105B8}"/>
              </a:ext>
            </a:extLst>
          </p:cNvPr>
          <p:cNvGrpSpPr/>
          <p:nvPr/>
        </p:nvGrpSpPr>
        <p:grpSpPr>
          <a:xfrm>
            <a:off x="2135957" y="3699003"/>
            <a:ext cx="720009" cy="360004"/>
            <a:chOff x="6372020" y="3699004"/>
            <a:chExt cx="720009" cy="360004"/>
          </a:xfrm>
        </p:grpSpPr>
        <p:sp>
          <p:nvSpPr>
            <p:cNvPr id="42" name="角丸四角形 41">
              <a:extLst>
                <a:ext uri="{FF2B5EF4-FFF2-40B4-BE49-F238E27FC236}">
                  <a16:creationId xmlns:a16="http://schemas.microsoft.com/office/drawing/2014/main" id="{4A163298-2735-514F-B7A8-C8C2ECECA91A}"/>
                </a:ext>
              </a:extLst>
            </p:cNvPr>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sp>
          <p:nvSpPr>
            <p:cNvPr id="44" name="角丸四角形 43">
              <a:extLst>
                <a:ext uri="{FF2B5EF4-FFF2-40B4-BE49-F238E27FC236}">
                  <a16:creationId xmlns:a16="http://schemas.microsoft.com/office/drawing/2014/main" id="{C484DEFE-EBE3-A7CA-FDC0-97DA21C4900F}"/>
                </a:ext>
              </a:extLst>
            </p:cNvPr>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grpSp>
      <p:sp>
        <p:nvSpPr>
          <p:cNvPr id="96" name="正方形/長方形 95">
            <a:extLst>
              <a:ext uri="{FF2B5EF4-FFF2-40B4-BE49-F238E27FC236}">
                <a16:creationId xmlns:a16="http://schemas.microsoft.com/office/drawing/2014/main" id="{67D7949E-4993-05F2-0F8F-AF54F6632A57}"/>
              </a:ext>
            </a:extLst>
          </p:cNvPr>
          <p:cNvSpPr/>
          <p:nvPr/>
        </p:nvSpPr>
        <p:spPr bwMode="auto">
          <a:xfrm>
            <a:off x="1775952" y="3158998"/>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lang="en-US" altLang="ja-JP" sz="2000" dirty="0">
                <a:solidFill>
                  <a:schemeClr val="bg1"/>
                </a:solidFill>
                <a:latin typeface="Arial Narrow" panose="020B0606020202030204" pitchFamily="34" charset="0"/>
              </a:rPr>
              <a:t>a=a+1</a:t>
            </a:r>
          </a:p>
          <a:p>
            <a:pPr>
              <a:lnSpc>
                <a:spcPct val="80000"/>
              </a:lnSpc>
            </a:pPr>
            <a:r>
              <a:rPr lang="en-US" altLang="ja-JP" sz="2000" dirty="0">
                <a:solidFill>
                  <a:schemeClr val="bg1"/>
                </a:solidFill>
                <a:latin typeface="Arial Narrow" panose="020B0606020202030204" pitchFamily="34" charset="0"/>
              </a:rPr>
              <a:t>b=a-1</a:t>
            </a:r>
          </a:p>
          <a:p>
            <a:pPr>
              <a:lnSpc>
                <a:spcPct val="80000"/>
              </a:lnSpc>
            </a:pPr>
            <a:r>
              <a:rPr lang="en-US" altLang="ja-JP" sz="2000" dirty="0">
                <a:solidFill>
                  <a:schemeClr val="bg1"/>
                </a:solidFill>
                <a:latin typeface="Arial Narrow" panose="020B0606020202030204" pitchFamily="34" charset="0"/>
              </a:rPr>
              <a:t>c=a+2</a:t>
            </a:r>
          </a:p>
          <a:p>
            <a:pPr>
              <a:lnSpc>
                <a:spcPct val="80000"/>
              </a:lnSpc>
            </a:pPr>
            <a:r>
              <a:rPr lang="en-US" altLang="ja-JP" sz="2000" dirty="0">
                <a:solidFill>
                  <a:schemeClr val="bg1"/>
                </a:solidFill>
                <a:latin typeface="Arial Narrow" panose="020B0606020202030204" pitchFamily="34" charset="0"/>
              </a:rPr>
              <a:t>e=…</a:t>
            </a:r>
          </a:p>
          <a:p>
            <a:pPr>
              <a:lnSpc>
                <a:spcPct val="80000"/>
              </a:lnSpc>
            </a:pPr>
            <a:r>
              <a:rPr lang="en-US" altLang="ja-JP" sz="2000" dirty="0">
                <a:solidFill>
                  <a:schemeClr val="bg1"/>
                </a:solidFill>
                <a:latin typeface="Arial Narrow" panose="020B0606020202030204" pitchFamily="34" charset="0"/>
              </a:rPr>
              <a:t>…</a:t>
            </a:r>
            <a:endParaRPr lang="ja-JP" altLang="en-US" sz="2000" dirty="0">
              <a:solidFill>
                <a:schemeClr val="bg1"/>
              </a:solidFill>
              <a:latin typeface="Arial Narrow" panose="020B0606020202030204" pitchFamily="34" charset="0"/>
            </a:endParaRPr>
          </a:p>
        </p:txBody>
      </p:sp>
      <p:sp>
        <p:nvSpPr>
          <p:cNvPr id="46" name="角丸四角形 45">
            <a:extLst>
              <a:ext uri="{FF2B5EF4-FFF2-40B4-BE49-F238E27FC236}">
                <a16:creationId xmlns:a16="http://schemas.microsoft.com/office/drawing/2014/main" id="{557F0C4A-356D-8AD6-E898-7282793F5CA2}"/>
              </a:ext>
            </a:extLst>
          </p:cNvPr>
          <p:cNvSpPr/>
          <p:nvPr/>
        </p:nvSpPr>
        <p:spPr bwMode="auto">
          <a:xfrm>
            <a:off x="6456004"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a=a+1</a:t>
            </a:r>
            <a:endParaRPr lang="ja-JP" altLang="en-US" dirty="0">
              <a:latin typeface="Arial Narrow" panose="020B0606020202030204" pitchFamily="34" charset="0"/>
            </a:endParaRPr>
          </a:p>
        </p:txBody>
      </p:sp>
      <p:sp>
        <p:nvSpPr>
          <p:cNvPr id="47" name="角丸四角形 46">
            <a:extLst>
              <a:ext uri="{FF2B5EF4-FFF2-40B4-BE49-F238E27FC236}">
                <a16:creationId xmlns:a16="http://schemas.microsoft.com/office/drawing/2014/main" id="{F3698B88-803F-D72A-B5FE-DD75323F910D}"/>
              </a:ext>
            </a:extLst>
          </p:cNvPr>
          <p:cNvSpPr/>
          <p:nvPr/>
        </p:nvSpPr>
        <p:spPr bwMode="auto">
          <a:xfrm>
            <a:off x="5015988" y="3699003"/>
            <a:ext cx="720008"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dirty="0">
                <a:latin typeface="Arial Narrow" panose="020B0606020202030204" pitchFamily="34" charset="0"/>
              </a:rPr>
              <a:t>a=a+1</a:t>
            </a:r>
            <a:endParaRPr lang="ja-JP" altLang="en-US" dirty="0">
              <a:latin typeface="Arial Narrow" panose="020B0606020202030204" pitchFamily="34" charset="0"/>
            </a:endParaRPr>
          </a:p>
        </p:txBody>
      </p:sp>
      <p:sp>
        <p:nvSpPr>
          <p:cNvPr id="48" name="角丸四角形 47">
            <a:extLst>
              <a:ext uri="{FF2B5EF4-FFF2-40B4-BE49-F238E27FC236}">
                <a16:creationId xmlns:a16="http://schemas.microsoft.com/office/drawing/2014/main" id="{1DEE9052-7203-C555-4FBB-ECC6398AF638}"/>
              </a:ext>
            </a:extLst>
          </p:cNvPr>
          <p:cNvSpPr/>
          <p:nvPr/>
        </p:nvSpPr>
        <p:spPr bwMode="auto">
          <a:xfrm>
            <a:off x="3575972" y="3699003"/>
            <a:ext cx="720008" cy="360004"/>
          </a:xfrm>
          <a:prstGeom prst="roundRect">
            <a:avLst/>
          </a:prstGeom>
          <a:ln>
            <a:headEnd/>
            <a:tailEnd type="triangle" w="sm" len="med"/>
          </a:ln>
        </p:spPr>
        <p:style>
          <a:lnRef idx="3">
            <a:schemeClr val="lt1"/>
          </a:lnRef>
          <a:fillRef idx="1">
            <a:schemeClr val="accent2"/>
          </a:fillRef>
          <a:effectRef idx="1">
            <a:schemeClr val="accent2"/>
          </a:effectRef>
          <a:fontRef idx="minor">
            <a:schemeClr val="lt1"/>
          </a:fontRef>
        </p:style>
        <p:txBody>
          <a:bodyPr wrap="none" rtlCol="0" anchor="ctr"/>
          <a:lstStyle/>
          <a:p>
            <a:pPr algn="ctr"/>
            <a:r>
              <a:rPr lang="en-US" altLang="ja-JP" dirty="0">
                <a:latin typeface="Arial Narrow" panose="020B0606020202030204" pitchFamily="34" charset="0"/>
              </a:rPr>
              <a:t>a=a+1</a:t>
            </a:r>
            <a:endParaRPr lang="ja-JP" altLang="en-US" dirty="0">
              <a:latin typeface="Arial Narrow" panose="020B0606020202030204" pitchFamily="34" charset="0"/>
            </a:endParaRPr>
          </a:p>
        </p:txBody>
      </p:sp>
      <p:sp>
        <p:nvSpPr>
          <p:cNvPr id="45" name="角丸四角形吹き出し 44">
            <a:extLst>
              <a:ext uri="{FF2B5EF4-FFF2-40B4-BE49-F238E27FC236}">
                <a16:creationId xmlns:a16="http://schemas.microsoft.com/office/drawing/2014/main" id="{3BCAB2F3-3F0C-871C-0A84-5E67049C8A11}"/>
              </a:ext>
            </a:extLst>
          </p:cNvPr>
          <p:cNvSpPr/>
          <p:nvPr/>
        </p:nvSpPr>
        <p:spPr bwMode="auto">
          <a:xfrm>
            <a:off x="3575972" y="2168986"/>
            <a:ext cx="2700030" cy="612648"/>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レジスタに書かれるまで</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他のスレッド流すで</a:t>
            </a:r>
            <a:endParaRPr lang="en-US" altLang="ja-JP" dirty="0">
              <a:solidFill>
                <a:schemeClr val="tx1">
                  <a:lumMod val="65000"/>
                  <a:lumOff val="35000"/>
                </a:schemeClr>
              </a:solidFill>
              <a:latin typeface="Arial Narrow" panose="020B0606020202030204" pitchFamily="34" charset="0"/>
            </a:endParaRPr>
          </a:p>
        </p:txBody>
      </p:sp>
    </p:spTree>
    <p:extLst>
      <p:ext uri="{BB962C8B-B14F-4D97-AF65-F5344CB8AC3E}">
        <p14:creationId xmlns:p14="http://schemas.microsoft.com/office/powerpoint/2010/main" val="3951851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180CF7-D4A2-E09C-48E0-BB79EED663AA}"/>
              </a:ext>
            </a:extLst>
          </p:cNvPr>
          <p:cNvSpPr>
            <a:spLocks noGrp="1"/>
          </p:cNvSpPr>
          <p:nvPr>
            <p:ph type="title"/>
          </p:nvPr>
        </p:nvSpPr>
        <p:spPr/>
        <p:txBody>
          <a:bodyPr/>
          <a:lstStyle/>
          <a:p>
            <a:r>
              <a:rPr kumimoji="1" lang="ja-JP" altLang="en-US" dirty="0"/>
              <a:t>今回触れなかった部分の補足</a:t>
            </a:r>
          </a:p>
        </p:txBody>
      </p:sp>
      <p:sp>
        <p:nvSpPr>
          <p:cNvPr id="3" name="テキスト プレースホルダー 2">
            <a:extLst>
              <a:ext uri="{FF2B5EF4-FFF2-40B4-BE49-F238E27FC236}">
                <a16:creationId xmlns:a16="http://schemas.microsoft.com/office/drawing/2014/main" id="{711343A1-DB4E-E61E-485F-D91E20F61381}"/>
              </a:ext>
            </a:extLst>
          </p:cNvPr>
          <p:cNvSpPr>
            <a:spLocks noGrp="1"/>
          </p:cNvSpPr>
          <p:nvPr>
            <p:ph type="body" sz="quarter" idx="10"/>
          </p:nvPr>
        </p:nvSpPr>
        <p:spPr>
          <a:xfrm>
            <a:off x="965943" y="1088974"/>
            <a:ext cx="9990111" cy="5490061"/>
          </a:xfrm>
        </p:spPr>
        <p:txBody>
          <a:bodyPr/>
          <a:lstStyle/>
          <a:p>
            <a:r>
              <a:rPr kumimoji="1" lang="ja-JP" altLang="en-US" sz="1600" dirty="0"/>
              <a:t>演算の低精度化</a:t>
            </a:r>
            <a:endParaRPr kumimoji="1" lang="en-US" altLang="ja-JP" sz="1600" dirty="0"/>
          </a:p>
          <a:p>
            <a:pPr lvl="1"/>
            <a:r>
              <a:rPr lang="en-US" altLang="ja-JP" sz="1600" dirty="0"/>
              <a:t>GPU </a:t>
            </a:r>
            <a:r>
              <a:rPr lang="ja-JP" altLang="en-US" sz="1600" dirty="0"/>
              <a:t>では演算の精度も低下させて消費エネルギーを削減している</a:t>
            </a:r>
            <a:endParaRPr lang="en-US" altLang="ja-JP" sz="1600" dirty="0"/>
          </a:p>
          <a:p>
            <a:r>
              <a:rPr kumimoji="1" lang="ja-JP" altLang="en-US" sz="1600" dirty="0"/>
              <a:t>マイクロスケーリング（</a:t>
            </a:r>
            <a:r>
              <a:rPr kumimoji="1" lang="en-US" altLang="ja-JP" sz="1600" dirty="0"/>
              <a:t>MX</a:t>
            </a:r>
            <a:r>
              <a:rPr kumimoji="1" lang="ja-JP" altLang="en-US" sz="1600" dirty="0"/>
              <a:t>）</a:t>
            </a:r>
            <a:endParaRPr kumimoji="1" lang="en-US" altLang="ja-JP" sz="1600" dirty="0"/>
          </a:p>
          <a:p>
            <a:pPr lvl="1"/>
            <a:r>
              <a:rPr lang="ja-JP" altLang="en-US" sz="1600" dirty="0"/>
              <a:t>複数の低制度のデータと，</a:t>
            </a:r>
            <a:r>
              <a:rPr lang="ja-JP" altLang="en-US" sz="1600" dirty="0">
                <a:solidFill>
                  <a:schemeClr val="accent5"/>
                </a:solidFill>
              </a:rPr>
              <a:t>共有された指数部から構成</a:t>
            </a:r>
            <a:endParaRPr lang="en-US" altLang="ja-JP" sz="1600" dirty="0">
              <a:solidFill>
                <a:schemeClr val="accent5"/>
              </a:solidFill>
            </a:endParaRPr>
          </a:p>
          <a:p>
            <a:pPr lvl="2"/>
            <a:r>
              <a:rPr lang="ja-JP" altLang="en-US" sz="1600" dirty="0"/>
              <a:t>個々の</a:t>
            </a:r>
            <a:r>
              <a:rPr kumimoji="1" lang="ja-JP" altLang="en-US" sz="1600" dirty="0"/>
              <a:t>乗算は低精度となり，回路が簡略化される</a:t>
            </a:r>
            <a:endParaRPr kumimoji="1" lang="en-US" altLang="ja-JP" sz="1600" dirty="0"/>
          </a:p>
          <a:p>
            <a:pPr lvl="2"/>
            <a:r>
              <a:rPr lang="ja-JP" altLang="en-US" sz="1600" dirty="0"/>
              <a:t>推論だけでなく，学習でも使用する取り組みが進んでいる</a:t>
            </a:r>
            <a:endParaRPr lang="en-US" altLang="ja-JP" sz="1600" dirty="0"/>
          </a:p>
          <a:p>
            <a:pPr lvl="2"/>
            <a:r>
              <a:rPr lang="ja-JP" altLang="en-US" sz="1600" dirty="0"/>
              <a:t>なぜ指数を共有できるのか？</a:t>
            </a:r>
            <a:endParaRPr lang="en-US" altLang="ja-JP" sz="1600" dirty="0"/>
          </a:p>
          <a:p>
            <a:pPr lvl="3"/>
            <a:r>
              <a:rPr lang="ja-JP" altLang="en-US" sz="1600" dirty="0"/>
              <a:t>行列演算などでドット積を取ると，最も指数が大きいものが結果に対して支配的になる</a:t>
            </a:r>
            <a:endParaRPr lang="en-US" altLang="ja-JP" sz="1600" dirty="0"/>
          </a:p>
          <a:p>
            <a:pPr lvl="3"/>
            <a:r>
              <a:rPr lang="ja-JP" altLang="en-US" sz="1600" dirty="0"/>
              <a:t>指数が小さいものは精度が低下しても結果への影響が小さい</a:t>
            </a:r>
            <a:endParaRPr lang="en-US" altLang="ja-JP" sz="1600" dirty="0"/>
          </a:p>
          <a:p>
            <a:pPr lvl="1"/>
            <a:r>
              <a:rPr lang="en-US" altLang="ja-JP" sz="1600" dirty="0"/>
              <a:t>MS/ARM/Meta/Intel/AMD/Qualcomm </a:t>
            </a:r>
            <a:r>
              <a:rPr lang="ja-JP" altLang="en-US" sz="1600" dirty="0"/>
              <a:t>による標準化</a:t>
            </a:r>
            <a:endParaRPr lang="en-US" altLang="ja-JP" sz="1600" dirty="0"/>
          </a:p>
          <a:p>
            <a:pPr lvl="2"/>
            <a:r>
              <a:rPr lang="en-US" altLang="ja-JP" sz="1600" dirty="0"/>
              <a:t>OCP </a:t>
            </a:r>
            <a:r>
              <a:rPr lang="en-US" altLang="ja-JP" sz="1600" dirty="0" err="1"/>
              <a:t>Microscaling</a:t>
            </a:r>
            <a:r>
              <a:rPr lang="en-US" altLang="ja-JP" sz="1600" dirty="0"/>
              <a:t> Formats (MX) Specification Version 1.0</a:t>
            </a:r>
          </a:p>
          <a:p>
            <a:pPr lvl="2"/>
            <a:r>
              <a:rPr lang="en-US" altLang="ja-JP" sz="1600" dirty="0">
                <a:hlinkClick r:id="rId2"/>
              </a:rPr>
              <a:t>https://www.opencompute.org/documents/ocp-microscaling-formats-mx-v1-0-spec-final-pdf</a:t>
            </a:r>
            <a:endParaRPr lang="en-US" altLang="ja-JP" sz="1600" dirty="0"/>
          </a:p>
          <a:p>
            <a:pPr lvl="1"/>
            <a:r>
              <a:rPr lang="en-US" altLang="ja-JP" sz="1600" dirty="0"/>
              <a:t>NVIDIA GPU </a:t>
            </a:r>
            <a:r>
              <a:rPr lang="ja-JP" altLang="en-US" sz="1600" dirty="0"/>
              <a:t>でも </a:t>
            </a:r>
            <a:r>
              <a:rPr lang="en-US" altLang="ja-JP" sz="1600" dirty="0"/>
              <a:t>Blackwell </a:t>
            </a:r>
            <a:r>
              <a:rPr lang="ja-JP" altLang="en-US" sz="1600" dirty="0"/>
              <a:t>世代から採用</a:t>
            </a:r>
            <a:endParaRPr lang="en-US" altLang="ja-JP" sz="1600" dirty="0"/>
          </a:p>
          <a:p>
            <a:pPr marL="0" indent="0">
              <a:buNone/>
            </a:pPr>
            <a:r>
              <a:rPr kumimoji="1" lang="ja-JP" altLang="en-US" sz="1600" dirty="0"/>
              <a:t>（時間がたりないので省略</a:t>
            </a:r>
          </a:p>
        </p:txBody>
      </p:sp>
    </p:spTree>
    <p:extLst>
      <p:ext uri="{BB962C8B-B14F-4D97-AF65-F5344CB8AC3E}">
        <p14:creationId xmlns:p14="http://schemas.microsoft.com/office/powerpoint/2010/main" val="15693954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7395-9236-C8E4-8363-B9FECA326DCA}"/>
            </a:ext>
          </a:extLst>
        </p:cNvPr>
        <p:cNvGrpSpPr/>
        <p:nvPr/>
      </p:nvGrpSpPr>
      <p:grpSpPr>
        <a:xfrm>
          <a:off x="0" y="0"/>
          <a:ext cx="0" cy="0"/>
          <a:chOff x="0" y="0"/>
          <a:chExt cx="0" cy="0"/>
        </a:xfrm>
      </p:grpSpPr>
      <p:grpSp>
        <p:nvGrpSpPr>
          <p:cNvPr id="34" name="グループ化 33">
            <a:extLst>
              <a:ext uri="{FF2B5EF4-FFF2-40B4-BE49-F238E27FC236}">
                <a16:creationId xmlns:a16="http://schemas.microsoft.com/office/drawing/2014/main" id="{95C07C18-3F30-253D-FD72-F066C517F139}"/>
              </a:ext>
            </a:extLst>
          </p:cNvPr>
          <p:cNvGrpSpPr/>
          <p:nvPr/>
        </p:nvGrpSpPr>
        <p:grpSpPr>
          <a:xfrm>
            <a:off x="5105989" y="3158997"/>
            <a:ext cx="1562400" cy="576064"/>
            <a:chOff x="971600" y="5445224"/>
            <a:chExt cx="7200800" cy="576064"/>
          </a:xfrm>
        </p:grpSpPr>
        <p:sp>
          <p:nvSpPr>
            <p:cNvPr id="35" name="平行四辺形 34">
              <a:extLst>
                <a:ext uri="{FF2B5EF4-FFF2-40B4-BE49-F238E27FC236}">
                  <a16:creationId xmlns:a16="http://schemas.microsoft.com/office/drawing/2014/main" id="{4A1F4793-DF01-4A7B-68E8-D5A6E1343C8C}"/>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a:extLst>
                <a:ext uri="{FF2B5EF4-FFF2-40B4-BE49-F238E27FC236}">
                  <a16:creationId xmlns:a16="http://schemas.microsoft.com/office/drawing/2014/main" id="{CD940479-C290-926C-615F-8E268BDB2819}"/>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a:extLst>
              <a:ext uri="{FF2B5EF4-FFF2-40B4-BE49-F238E27FC236}">
                <a16:creationId xmlns:a16="http://schemas.microsoft.com/office/drawing/2014/main" id="{ED1A92C0-B7AD-2931-9AD8-160182751BF7}"/>
              </a:ext>
            </a:extLst>
          </p:cNvPr>
          <p:cNvGrpSpPr/>
          <p:nvPr/>
        </p:nvGrpSpPr>
        <p:grpSpPr>
          <a:xfrm>
            <a:off x="6546149" y="3158997"/>
            <a:ext cx="1562400" cy="576064"/>
            <a:chOff x="971600" y="5445224"/>
            <a:chExt cx="7200800" cy="576064"/>
          </a:xfrm>
        </p:grpSpPr>
        <p:sp>
          <p:nvSpPr>
            <p:cNvPr id="50" name="平行四辺形 49">
              <a:extLst>
                <a:ext uri="{FF2B5EF4-FFF2-40B4-BE49-F238E27FC236}">
                  <a16:creationId xmlns:a16="http://schemas.microsoft.com/office/drawing/2014/main" id="{C691F7F0-3F24-B53D-44F5-D52C975E8D3D}"/>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a:extLst>
                <a:ext uri="{FF2B5EF4-FFF2-40B4-BE49-F238E27FC236}">
                  <a16:creationId xmlns:a16="http://schemas.microsoft.com/office/drawing/2014/main" id="{79FADB28-9FA5-F50B-A5E8-02E9475BB0A2}"/>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a:extLst>
              <a:ext uri="{FF2B5EF4-FFF2-40B4-BE49-F238E27FC236}">
                <a16:creationId xmlns:a16="http://schemas.microsoft.com/office/drawing/2014/main" id="{519DF8AA-EBFA-8BB8-7A23-67B91ED848DA}"/>
              </a:ext>
            </a:extLst>
          </p:cNvPr>
          <p:cNvGrpSpPr/>
          <p:nvPr/>
        </p:nvGrpSpPr>
        <p:grpSpPr>
          <a:xfrm>
            <a:off x="7986309" y="3158997"/>
            <a:ext cx="1562400" cy="576064"/>
            <a:chOff x="971600" y="5445224"/>
            <a:chExt cx="7200800" cy="576064"/>
          </a:xfrm>
        </p:grpSpPr>
        <p:sp>
          <p:nvSpPr>
            <p:cNvPr id="53" name="平行四辺形 52">
              <a:extLst>
                <a:ext uri="{FF2B5EF4-FFF2-40B4-BE49-F238E27FC236}">
                  <a16:creationId xmlns:a16="http://schemas.microsoft.com/office/drawing/2014/main" id="{11BAFC48-6C57-E50F-E198-1871BBABA566}"/>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a:extLst>
                <a:ext uri="{FF2B5EF4-FFF2-40B4-BE49-F238E27FC236}">
                  <a16:creationId xmlns:a16="http://schemas.microsoft.com/office/drawing/2014/main" id="{8FBB159D-997D-B414-7AAC-F183A6F81BC4}"/>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a:extLst>
              <a:ext uri="{FF2B5EF4-FFF2-40B4-BE49-F238E27FC236}">
                <a16:creationId xmlns:a16="http://schemas.microsoft.com/office/drawing/2014/main" id="{E1844D45-3B86-96AD-C37E-174000520C01}"/>
              </a:ext>
            </a:extLst>
          </p:cNvPr>
          <p:cNvGrpSpPr/>
          <p:nvPr/>
        </p:nvGrpSpPr>
        <p:grpSpPr>
          <a:xfrm>
            <a:off x="9426469" y="3158997"/>
            <a:ext cx="1584176" cy="576064"/>
            <a:chOff x="971600" y="5445224"/>
            <a:chExt cx="7200800" cy="576064"/>
          </a:xfrm>
        </p:grpSpPr>
        <p:sp>
          <p:nvSpPr>
            <p:cNvPr id="62" name="平行四辺形 61">
              <a:extLst>
                <a:ext uri="{FF2B5EF4-FFF2-40B4-BE49-F238E27FC236}">
                  <a16:creationId xmlns:a16="http://schemas.microsoft.com/office/drawing/2014/main" id="{63A7FA36-F38D-D47E-3D7A-ECA02D9A9F1A}"/>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a:extLst>
                <a:ext uri="{FF2B5EF4-FFF2-40B4-BE49-F238E27FC236}">
                  <a16:creationId xmlns:a16="http://schemas.microsoft.com/office/drawing/2014/main" id="{2E58BFD2-8853-7121-C445-25BFE5B6AAE7}"/>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a:extLst>
              <a:ext uri="{FF2B5EF4-FFF2-40B4-BE49-F238E27FC236}">
                <a16:creationId xmlns:a16="http://schemas.microsoft.com/office/drawing/2014/main" id="{D7954B4F-071E-1BCD-A3F5-2424D4023BA5}"/>
              </a:ext>
            </a:extLst>
          </p:cNvPr>
          <p:cNvSpPr/>
          <p:nvPr/>
        </p:nvSpPr>
        <p:spPr>
          <a:xfrm>
            <a:off x="5067829"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a:extLst>
              <a:ext uri="{FF2B5EF4-FFF2-40B4-BE49-F238E27FC236}">
                <a16:creationId xmlns:a16="http://schemas.microsoft.com/office/drawing/2014/main" id="{C48F4EB9-7183-8589-5A70-4E10A1FC5355}"/>
              </a:ext>
            </a:extLst>
          </p:cNvPr>
          <p:cNvSpPr/>
          <p:nvPr/>
        </p:nvSpPr>
        <p:spPr>
          <a:xfrm>
            <a:off x="6507989"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05BC7066-13E6-68EE-6187-BBE394E49771}"/>
              </a:ext>
            </a:extLst>
          </p:cNvPr>
          <p:cNvSpPr/>
          <p:nvPr/>
        </p:nvSpPr>
        <p:spPr>
          <a:xfrm>
            <a:off x="7950036"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a:extLst>
              <a:ext uri="{FF2B5EF4-FFF2-40B4-BE49-F238E27FC236}">
                <a16:creationId xmlns:a16="http://schemas.microsoft.com/office/drawing/2014/main" id="{206C31B8-150E-A0D3-75B5-27897CA517A7}"/>
              </a:ext>
            </a:extLst>
          </p:cNvPr>
          <p:cNvSpPr/>
          <p:nvPr/>
        </p:nvSpPr>
        <p:spPr>
          <a:xfrm>
            <a:off x="9390196" y="2313038"/>
            <a:ext cx="937991" cy="738664"/>
          </a:xfrm>
          <a:prstGeom prst="rect">
            <a:avLst/>
          </a:prstGeom>
        </p:spPr>
        <p:txBody>
          <a:bodyPr wrap="square">
            <a:spAutoFit/>
          </a:bodyPr>
          <a:lstStyle/>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25F79E0B-149F-4A30-D986-1077B902848B}"/>
              </a:ext>
            </a:extLst>
          </p:cNvPr>
          <p:cNvSpPr>
            <a:spLocks noGrp="1"/>
          </p:cNvSpPr>
          <p:nvPr>
            <p:ph type="title"/>
          </p:nvPr>
        </p:nvSpPr>
        <p:spPr/>
        <p:txBody>
          <a:bodyPr/>
          <a:lstStyle/>
          <a:p>
            <a:r>
              <a:rPr lang="ja-JP" altLang="en-US" dirty="0"/>
              <a:t>カレー屋さんのコストカット</a:t>
            </a:r>
            <a:endParaRPr kumimoji="1" lang="ja-JP" altLang="en-US" dirty="0"/>
          </a:p>
        </p:txBody>
      </p:sp>
      <p:cxnSp>
        <p:nvCxnSpPr>
          <p:cNvPr id="67" name="直線矢印コネクタ 66">
            <a:extLst>
              <a:ext uri="{FF2B5EF4-FFF2-40B4-BE49-F238E27FC236}">
                <a16:creationId xmlns:a16="http://schemas.microsoft.com/office/drawing/2014/main" id="{BB87C232-F4E3-1670-09D1-BD80AFE11657}"/>
              </a:ext>
            </a:extLst>
          </p:cNvPr>
          <p:cNvCxnSpPr/>
          <p:nvPr/>
        </p:nvCxnSpPr>
        <p:spPr bwMode="auto">
          <a:xfrm>
            <a:off x="5105989"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7" name="正方形/長方形 96">
            <a:extLst>
              <a:ext uri="{FF2B5EF4-FFF2-40B4-BE49-F238E27FC236}">
                <a16:creationId xmlns:a16="http://schemas.microsoft.com/office/drawing/2014/main" id="{FF894902-9F9A-FF0A-25B2-74A76A4806D3}"/>
              </a:ext>
            </a:extLst>
          </p:cNvPr>
          <p:cNvSpPr/>
          <p:nvPr/>
        </p:nvSpPr>
        <p:spPr bwMode="auto">
          <a:xfrm>
            <a:off x="3935976" y="1628980"/>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レシピ</a:t>
            </a:r>
          </a:p>
        </p:txBody>
      </p:sp>
      <p:sp>
        <p:nvSpPr>
          <p:cNvPr id="30" name="Freeform 25">
            <a:extLst>
              <a:ext uri="{FF2B5EF4-FFF2-40B4-BE49-F238E27FC236}">
                <a16:creationId xmlns:a16="http://schemas.microsoft.com/office/drawing/2014/main" id="{A5722ACE-E01F-9372-E2B8-F8140CE8D868}"/>
              </a:ext>
            </a:extLst>
          </p:cNvPr>
          <p:cNvSpPr>
            <a:spLocks/>
          </p:cNvSpPr>
          <p:nvPr/>
        </p:nvSpPr>
        <p:spPr bwMode="auto">
          <a:xfrm>
            <a:off x="6726007"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キッチン台</a:t>
            </a:r>
          </a:p>
        </p:txBody>
      </p:sp>
      <p:sp>
        <p:nvSpPr>
          <p:cNvPr id="31" name="AutoShape 5">
            <a:extLst>
              <a:ext uri="{FF2B5EF4-FFF2-40B4-BE49-F238E27FC236}">
                <a16:creationId xmlns:a16="http://schemas.microsoft.com/office/drawing/2014/main" id="{19A45841-A94B-5880-22EB-FB4372AD6767}"/>
              </a:ext>
            </a:extLst>
          </p:cNvPr>
          <p:cNvSpPr>
            <a:spLocks noChangeArrowheads="1"/>
          </p:cNvSpPr>
          <p:nvPr/>
        </p:nvSpPr>
        <p:spPr bwMode="auto">
          <a:xfrm rot="-5400000">
            <a:off x="8346187" y="1683049"/>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コンロ</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まな板</a:t>
            </a:r>
          </a:p>
        </p:txBody>
      </p:sp>
      <p:grpSp>
        <p:nvGrpSpPr>
          <p:cNvPr id="32" name="グループ化 31">
            <a:extLst>
              <a:ext uri="{FF2B5EF4-FFF2-40B4-BE49-F238E27FC236}">
                <a16:creationId xmlns:a16="http://schemas.microsoft.com/office/drawing/2014/main" id="{3152753D-53C8-4DF0-7227-1C57F6047EF3}"/>
              </a:ext>
            </a:extLst>
          </p:cNvPr>
          <p:cNvGrpSpPr/>
          <p:nvPr/>
        </p:nvGrpSpPr>
        <p:grpSpPr>
          <a:xfrm>
            <a:off x="7014039" y="1719053"/>
            <a:ext cx="1008112" cy="432048"/>
            <a:chOff x="3563888" y="2708920"/>
            <a:chExt cx="1296144" cy="432048"/>
          </a:xfrm>
        </p:grpSpPr>
        <p:sp>
          <p:nvSpPr>
            <p:cNvPr id="33" name="Freeform 9">
              <a:extLst>
                <a:ext uri="{FF2B5EF4-FFF2-40B4-BE49-F238E27FC236}">
                  <a16:creationId xmlns:a16="http://schemas.microsoft.com/office/drawing/2014/main" id="{2D451DFB-E00B-05C2-BFF2-B55AFE2894D2}"/>
                </a:ext>
              </a:extLst>
            </p:cNvPr>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a:extLst>
                <a:ext uri="{FF2B5EF4-FFF2-40B4-BE49-F238E27FC236}">
                  <a16:creationId xmlns:a16="http://schemas.microsoft.com/office/drawing/2014/main" id="{0A862A74-54E7-E4FF-7E6C-796091A6855A}"/>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a:extLst>
              <a:ext uri="{FF2B5EF4-FFF2-40B4-BE49-F238E27FC236}">
                <a16:creationId xmlns:a16="http://schemas.microsoft.com/office/drawing/2014/main" id="{473956E2-51DF-F808-8B25-88023009DE28}"/>
              </a:ext>
            </a:extLst>
          </p:cNvPr>
          <p:cNvSpPr>
            <a:spLocks/>
          </p:cNvSpPr>
          <p:nvPr/>
        </p:nvSpPr>
        <p:spPr bwMode="auto">
          <a:xfrm>
            <a:off x="9462311" y="1719053"/>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solidFill>
              <a:schemeClr val="accent3"/>
            </a:solidFill>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nvGrpSpPr>
          <p:cNvPr id="41" name="グループ化 40">
            <a:extLst>
              <a:ext uri="{FF2B5EF4-FFF2-40B4-BE49-F238E27FC236}">
                <a16:creationId xmlns:a16="http://schemas.microsoft.com/office/drawing/2014/main" id="{00E39F6A-CA80-430E-ECE1-27A4F196FABD}"/>
              </a:ext>
            </a:extLst>
          </p:cNvPr>
          <p:cNvGrpSpPr/>
          <p:nvPr/>
        </p:nvGrpSpPr>
        <p:grpSpPr>
          <a:xfrm>
            <a:off x="4025978" y="2618990"/>
            <a:ext cx="720009" cy="360004"/>
            <a:chOff x="6372020" y="3699004"/>
            <a:chExt cx="720009" cy="360004"/>
          </a:xfrm>
        </p:grpSpPr>
        <p:sp>
          <p:nvSpPr>
            <p:cNvPr id="42" name="角丸四角形 41">
              <a:extLst>
                <a:ext uri="{FF2B5EF4-FFF2-40B4-BE49-F238E27FC236}">
                  <a16:creationId xmlns:a16="http://schemas.microsoft.com/office/drawing/2014/main" id="{C77DDDE8-37BA-1BB9-1104-D379CDD8C1B7}"/>
                </a:ext>
              </a:extLst>
            </p:cNvPr>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sp>
          <p:nvSpPr>
            <p:cNvPr id="44" name="角丸四角形 43">
              <a:extLst>
                <a:ext uri="{FF2B5EF4-FFF2-40B4-BE49-F238E27FC236}">
                  <a16:creationId xmlns:a16="http://schemas.microsoft.com/office/drawing/2014/main" id="{739877FB-0445-E6C1-CC49-E8D34C25AC87}"/>
                </a:ext>
              </a:extLst>
            </p:cNvPr>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grpSp>
      <p:sp>
        <p:nvSpPr>
          <p:cNvPr id="96" name="正方形/長方形 95">
            <a:extLst>
              <a:ext uri="{FF2B5EF4-FFF2-40B4-BE49-F238E27FC236}">
                <a16:creationId xmlns:a16="http://schemas.microsoft.com/office/drawing/2014/main" id="{9DF9E633-E113-C416-6DAF-1AF4153FAFB0}"/>
              </a:ext>
            </a:extLst>
          </p:cNvPr>
          <p:cNvSpPr/>
          <p:nvPr/>
        </p:nvSpPr>
        <p:spPr bwMode="auto">
          <a:xfrm>
            <a:off x="3665973" y="2078985"/>
            <a:ext cx="1260014" cy="1710019"/>
          </a:xfrm>
          <a:prstGeom prst="rect">
            <a:avLst/>
          </a:prstGeom>
          <a:ln>
            <a:headEnd/>
            <a:tailEnd type="non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solidFill>
                <a:latin typeface="Arial Narrow" panose="020B0606020202030204" pitchFamily="34" charset="0"/>
              </a:rPr>
              <a:t>1. </a:t>
            </a:r>
            <a:r>
              <a:rPr lang="ja-JP" altLang="en-US" sz="1400" dirty="0">
                <a:solidFill>
                  <a:schemeClr val="tx1"/>
                </a:solidFill>
                <a:latin typeface="Arial Narrow" panose="020B0606020202030204" pitchFamily="34" charset="0"/>
              </a:rPr>
              <a:t>人参を切る</a:t>
            </a:r>
            <a:endParaRPr lang="en-US" altLang="ja-JP" sz="1400" dirty="0">
              <a:solidFill>
                <a:schemeClr val="tx1"/>
              </a:solidFill>
              <a:latin typeface="Arial Narrow" panose="020B0606020202030204" pitchFamily="34" charset="0"/>
            </a:endParaRPr>
          </a:p>
          <a:p>
            <a:r>
              <a:rPr lang="en-US" altLang="ja-JP" sz="1400" dirty="0">
                <a:solidFill>
                  <a:schemeClr val="tx1"/>
                </a:solidFill>
                <a:latin typeface="Arial Narrow" panose="020B0606020202030204" pitchFamily="34" charset="0"/>
              </a:rPr>
              <a:t>2. </a:t>
            </a:r>
            <a:r>
              <a:rPr lang="ja-JP" altLang="en-US" sz="1400" dirty="0">
                <a:solidFill>
                  <a:schemeClr val="tx1"/>
                </a:solidFill>
                <a:latin typeface="Arial Narrow" panose="020B0606020202030204" pitchFamily="34" charset="0"/>
              </a:rPr>
              <a:t>玉葱を切る</a:t>
            </a:r>
            <a:endParaRPr lang="en-US" altLang="ja-JP" sz="1400" dirty="0">
              <a:solidFill>
                <a:schemeClr val="tx1"/>
              </a:solidFill>
              <a:latin typeface="Arial Narrow" panose="020B0606020202030204" pitchFamily="34" charset="0"/>
            </a:endParaRPr>
          </a:p>
          <a:p>
            <a:r>
              <a:rPr lang="en-US" altLang="ja-JP" sz="1400" dirty="0">
                <a:solidFill>
                  <a:schemeClr val="tx1"/>
                </a:solidFill>
                <a:latin typeface="Arial Narrow" panose="020B0606020202030204" pitchFamily="34" charset="0"/>
              </a:rPr>
              <a:t>3. </a:t>
            </a:r>
            <a:r>
              <a:rPr lang="ja-JP" altLang="en-US" sz="1400" dirty="0">
                <a:solidFill>
                  <a:schemeClr val="tx1"/>
                </a:solidFill>
                <a:latin typeface="Arial Narrow" panose="020B0606020202030204" pitchFamily="34" charset="0"/>
              </a:rPr>
              <a:t>肉を切る</a:t>
            </a:r>
            <a:endParaRPr lang="en-US" altLang="ja-JP" sz="1400" dirty="0">
              <a:solidFill>
                <a:schemeClr val="tx1"/>
              </a:solidFill>
              <a:latin typeface="Arial Narrow" panose="020B0606020202030204" pitchFamily="34" charset="0"/>
            </a:endParaRPr>
          </a:p>
          <a:p>
            <a:r>
              <a:rPr lang="en-US" altLang="ja-JP" sz="1400" dirty="0">
                <a:solidFill>
                  <a:schemeClr val="tx1"/>
                </a:solidFill>
                <a:latin typeface="Arial Narrow" panose="020B0606020202030204" pitchFamily="34" charset="0"/>
              </a:rPr>
              <a:t>4. </a:t>
            </a:r>
            <a:r>
              <a:rPr lang="ja-JP" altLang="en-US" sz="1400" dirty="0">
                <a:solidFill>
                  <a:schemeClr val="tx1"/>
                </a:solidFill>
                <a:latin typeface="Arial Narrow" panose="020B0606020202030204" pitchFamily="34" charset="0"/>
              </a:rPr>
              <a:t>芋を切る</a:t>
            </a:r>
            <a:endParaRPr lang="en-US" altLang="ja-JP" sz="1400" dirty="0">
              <a:solidFill>
                <a:schemeClr val="tx1"/>
              </a:solidFill>
              <a:latin typeface="Arial Narrow" panose="020B0606020202030204" pitchFamily="34" charset="0"/>
            </a:endParaRPr>
          </a:p>
          <a:p>
            <a:r>
              <a:rPr lang="en-US" altLang="ja-JP" sz="1400" dirty="0">
                <a:solidFill>
                  <a:schemeClr val="tx1"/>
                </a:solidFill>
                <a:latin typeface="Arial Narrow" panose="020B0606020202030204" pitchFamily="34" charset="0"/>
              </a:rPr>
              <a:t>5. </a:t>
            </a:r>
            <a:r>
              <a:rPr lang="ja-JP" altLang="en-US" sz="1400" dirty="0">
                <a:solidFill>
                  <a:schemeClr val="tx1"/>
                </a:solidFill>
                <a:latin typeface="Arial Narrow" panose="020B0606020202030204" pitchFamily="34" charset="0"/>
              </a:rPr>
              <a:t>炒める</a:t>
            </a:r>
          </a:p>
        </p:txBody>
      </p:sp>
      <p:sp>
        <p:nvSpPr>
          <p:cNvPr id="5" name="角丸四角形 45">
            <a:extLst>
              <a:ext uri="{FF2B5EF4-FFF2-40B4-BE49-F238E27FC236}">
                <a16:creationId xmlns:a16="http://schemas.microsoft.com/office/drawing/2014/main" id="{1F9FEE8B-2C3E-5D42-B5E8-DB24C18465AD}"/>
              </a:ext>
            </a:extLst>
          </p:cNvPr>
          <p:cNvSpPr/>
          <p:nvPr/>
        </p:nvSpPr>
        <p:spPr bwMode="auto">
          <a:xfrm>
            <a:off x="6912026" y="2978995"/>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100" dirty="0">
                <a:solidFill>
                  <a:schemeClr val="bg1"/>
                </a:solidFill>
                <a:latin typeface="Arial Narrow" panose="020B0606020202030204" pitchFamily="34" charset="0"/>
              </a:rPr>
              <a:t>人参切る</a:t>
            </a:r>
          </a:p>
        </p:txBody>
      </p:sp>
      <p:sp>
        <p:nvSpPr>
          <p:cNvPr id="6" name="角丸四角形 46">
            <a:extLst>
              <a:ext uri="{FF2B5EF4-FFF2-40B4-BE49-F238E27FC236}">
                <a16:creationId xmlns:a16="http://schemas.microsoft.com/office/drawing/2014/main" id="{5023CA6F-EC02-73DC-BD2A-A08B6A56B572}"/>
              </a:ext>
            </a:extLst>
          </p:cNvPr>
          <p:cNvSpPr/>
          <p:nvPr/>
        </p:nvSpPr>
        <p:spPr bwMode="auto">
          <a:xfrm>
            <a:off x="5472010" y="2978995"/>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dirty="0">
                <a:solidFill>
                  <a:schemeClr val="bg1"/>
                </a:solidFill>
                <a:latin typeface="Arial Narrow" panose="020B0606020202030204" pitchFamily="34" charset="0"/>
              </a:rPr>
              <a:t>玉葱切る</a:t>
            </a:r>
            <a:endParaRPr kumimoji="1" lang="ja-JP" altLang="en-US" sz="1100" dirty="0">
              <a:solidFill>
                <a:schemeClr val="bg1"/>
              </a:solidFill>
              <a:latin typeface="Arial Narrow" panose="020B0606020202030204" pitchFamily="34" charset="0"/>
            </a:endParaRPr>
          </a:p>
        </p:txBody>
      </p:sp>
      <p:sp>
        <p:nvSpPr>
          <p:cNvPr id="8" name="角丸四角形吹き出し 42">
            <a:extLst>
              <a:ext uri="{FF2B5EF4-FFF2-40B4-BE49-F238E27FC236}">
                <a16:creationId xmlns:a16="http://schemas.microsoft.com/office/drawing/2014/main" id="{E1EA902E-9E42-6BDD-E156-C947248B6C7C}"/>
              </a:ext>
            </a:extLst>
          </p:cNvPr>
          <p:cNvSpPr/>
          <p:nvPr/>
        </p:nvSpPr>
        <p:spPr bwMode="auto">
          <a:xfrm>
            <a:off x="10056044" y="1988985"/>
            <a:ext cx="1080012" cy="522648"/>
          </a:xfrm>
          <a:prstGeom prst="wedgeRoundRectCallout">
            <a:avLst>
              <a:gd name="adj1" fmla="val -46134"/>
              <a:gd name="adj2" fmla="val 94815"/>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台に</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戻す係です！</a:t>
            </a:r>
          </a:p>
        </p:txBody>
      </p:sp>
      <p:sp>
        <p:nvSpPr>
          <p:cNvPr id="9" name="角丸四角形吹き出し 44">
            <a:extLst>
              <a:ext uri="{FF2B5EF4-FFF2-40B4-BE49-F238E27FC236}">
                <a16:creationId xmlns:a16="http://schemas.microsoft.com/office/drawing/2014/main" id="{6115DC85-DD7D-E70C-155E-748546BBE8D9}"/>
              </a:ext>
            </a:extLst>
          </p:cNvPr>
          <p:cNvSpPr/>
          <p:nvPr/>
        </p:nvSpPr>
        <p:spPr bwMode="auto">
          <a:xfrm>
            <a:off x="7176012" y="1988985"/>
            <a:ext cx="1080012" cy="522648"/>
          </a:xfrm>
          <a:prstGeom prst="wedgeRoundRectCallout">
            <a:avLst>
              <a:gd name="adj1" fmla="val -41466"/>
              <a:gd name="adj2" fmla="val 84351"/>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材料</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取る係です！</a:t>
            </a:r>
          </a:p>
        </p:txBody>
      </p:sp>
      <p:sp>
        <p:nvSpPr>
          <p:cNvPr id="10" name="角丸四角形吹き出し 44">
            <a:extLst>
              <a:ext uri="{FF2B5EF4-FFF2-40B4-BE49-F238E27FC236}">
                <a16:creationId xmlns:a16="http://schemas.microsoft.com/office/drawing/2014/main" id="{3302280A-DE28-7263-E7F4-87EF2A04C2EA}"/>
              </a:ext>
            </a:extLst>
          </p:cNvPr>
          <p:cNvSpPr/>
          <p:nvPr/>
        </p:nvSpPr>
        <p:spPr bwMode="auto">
          <a:xfrm>
            <a:off x="5555994" y="2168987"/>
            <a:ext cx="1260014" cy="342645"/>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レシピを読むぜ</a:t>
            </a:r>
          </a:p>
        </p:txBody>
      </p:sp>
      <p:sp>
        <p:nvSpPr>
          <p:cNvPr id="11" name="角丸四角形吹き出し 44">
            <a:extLst>
              <a:ext uri="{FF2B5EF4-FFF2-40B4-BE49-F238E27FC236}">
                <a16:creationId xmlns:a16="http://schemas.microsoft.com/office/drawing/2014/main" id="{AE931AAC-8459-FB23-D48C-303F9CA99901}"/>
              </a:ext>
            </a:extLst>
          </p:cNvPr>
          <p:cNvSpPr/>
          <p:nvPr/>
        </p:nvSpPr>
        <p:spPr bwMode="auto">
          <a:xfrm>
            <a:off x="8526027" y="2258987"/>
            <a:ext cx="1170013"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シェフです！</a:t>
            </a:r>
          </a:p>
        </p:txBody>
      </p:sp>
      <p:sp>
        <p:nvSpPr>
          <p:cNvPr id="12" name="正方形/長方形 11">
            <a:extLst>
              <a:ext uri="{FF2B5EF4-FFF2-40B4-BE49-F238E27FC236}">
                <a16:creationId xmlns:a16="http://schemas.microsoft.com/office/drawing/2014/main" id="{A2EBFD69-1717-5A16-6321-78DF71C7F77C}"/>
              </a:ext>
            </a:extLst>
          </p:cNvPr>
          <p:cNvSpPr/>
          <p:nvPr/>
        </p:nvSpPr>
        <p:spPr>
          <a:xfrm>
            <a:off x="1151962" y="1592922"/>
            <a:ext cx="1620018"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13" name="角丸四角形吹き出し 28">
            <a:extLst>
              <a:ext uri="{FF2B5EF4-FFF2-40B4-BE49-F238E27FC236}">
                <a16:creationId xmlns:a16="http://schemas.microsoft.com/office/drawing/2014/main" id="{527D8168-05B8-2FAA-1A99-F6813B47715E}"/>
              </a:ext>
            </a:extLst>
          </p:cNvPr>
          <p:cNvSpPr/>
          <p:nvPr/>
        </p:nvSpPr>
        <p:spPr bwMode="auto">
          <a:xfrm>
            <a:off x="2231974" y="962915"/>
            <a:ext cx="2964016"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85000"/>
                    <a:lumOff val="15000"/>
                  </a:schemeClr>
                </a:solidFill>
                <a:latin typeface="Arial Narrow" panose="020B0606020202030204" pitchFamily="34" charset="0"/>
              </a:rPr>
              <a:t>シェフもなんとかならないかなぁ</a:t>
            </a:r>
          </a:p>
        </p:txBody>
      </p:sp>
      <p:sp>
        <p:nvSpPr>
          <p:cNvPr id="14" name="正方形/長方形 13">
            <a:extLst>
              <a:ext uri="{FF2B5EF4-FFF2-40B4-BE49-F238E27FC236}">
                <a16:creationId xmlns:a16="http://schemas.microsoft.com/office/drawing/2014/main" id="{C3D051D2-9DB7-7DE9-71D0-6D21D13B6FCB}"/>
              </a:ext>
            </a:extLst>
          </p:cNvPr>
          <p:cNvSpPr/>
          <p:nvPr/>
        </p:nvSpPr>
        <p:spPr bwMode="auto">
          <a:xfrm>
            <a:off x="1151962" y="1178975"/>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kumimoji="1" lang="ja-JP" altLang="en-US" sz="1600" dirty="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4" name="テキスト プレースホルダー 4">
                <a:extLst>
                  <a:ext uri="{FF2B5EF4-FFF2-40B4-BE49-F238E27FC236}">
                    <a16:creationId xmlns:a16="http://schemas.microsoft.com/office/drawing/2014/main" id="{4D2721EA-8C17-99FF-1F33-B1D36AD9BDFD}"/>
                  </a:ext>
                </a:extLst>
              </p:cNvPr>
              <p:cNvSpPr>
                <a:spLocks noGrp="1"/>
              </p:cNvSpPr>
              <p:nvPr>
                <p:ph type="body" sz="quarter" idx="10"/>
              </p:nvPr>
            </p:nvSpPr>
            <p:spPr>
              <a:xfrm>
                <a:off x="245935" y="4689014"/>
                <a:ext cx="11790131" cy="1170013"/>
              </a:xfrm>
            </p:spPr>
            <p:txBody>
              <a:bodyPr/>
              <a:lstStyle/>
              <a:p>
                <a14:m>
                  <m:oMath xmlns:m="http://schemas.openxmlformats.org/officeDocument/2006/math">
                    <m:r>
                      <m:rPr>
                        <m:nor/>
                      </m:rPr>
                      <a:rPr lang="ja-JP" altLang="en-US" sz="1800" dirty="0" smtClean="0"/>
                      <m:t>効率 </m:t>
                    </m:r>
                    <m:r>
                      <a:rPr lang="en-US" altLang="ja-JP" sz="1800" i="1" dirty="0">
                        <a:latin typeface="Cambria Math" panose="02040503050406030204" pitchFamily="18" charset="0"/>
                      </a:rPr>
                      <m:t>𝜂</m:t>
                    </m:r>
                    <m:r>
                      <a:rPr lang="en-US" altLang="ja-JP" sz="1800" i="1" dirty="0">
                        <a:latin typeface="Cambria Math" panose="02040503050406030204" pitchFamily="18" charset="0"/>
                      </a:rPr>
                      <m:t>=</m:t>
                    </m:r>
                    <m:f>
                      <m:fPr>
                        <m:ctrlPr>
                          <a:rPr lang="en-US" altLang="ja-JP" sz="1800" i="1" dirty="0">
                            <a:latin typeface="Cambria Math" panose="02040503050406030204" pitchFamily="18" charset="0"/>
                          </a:rPr>
                        </m:ctrlPr>
                      </m:fPr>
                      <m:num>
                        <m:sSub>
                          <m:sSubPr>
                            <m:ctrlPr>
                              <a:rPr lang="en-US" altLang="ja-JP" sz="1800" i="1" dirty="0">
                                <a:latin typeface="Cambria Math" panose="02040503050406030204" pitchFamily="18" charset="0"/>
                              </a:rPr>
                            </m:ctrlPr>
                          </m:sSubPr>
                          <m:e>
                            <m:r>
                              <a:rPr lang="en-US" altLang="ja-JP" sz="1800" i="1" dirty="0">
                                <a:latin typeface="Cambria Math" panose="02040503050406030204" pitchFamily="18" charset="0"/>
                              </a:rPr>
                              <m:t>𝑃</m:t>
                            </m:r>
                          </m:e>
                          <m:sub>
                            <m:r>
                              <a:rPr lang="en-US" altLang="ja-JP" sz="1800" b="0" i="1" dirty="0" smtClean="0">
                                <a:latin typeface="Cambria Math" panose="02040503050406030204" pitchFamily="18" charset="0"/>
                              </a:rPr>
                              <m:t>𝑚𝑖𝑛</m:t>
                            </m:r>
                          </m:sub>
                        </m:sSub>
                      </m:num>
                      <m:den>
                        <m:sSub>
                          <m:sSubPr>
                            <m:ctrlPr>
                              <a:rPr lang="en-US" altLang="ja-JP" sz="1800" i="1" dirty="0">
                                <a:latin typeface="Cambria Math" panose="02040503050406030204" pitchFamily="18" charset="0"/>
                              </a:rPr>
                            </m:ctrlPr>
                          </m:sSubPr>
                          <m:e>
                            <m:r>
                              <a:rPr lang="en-US" altLang="ja-JP" sz="1800" i="1" dirty="0">
                                <a:latin typeface="Cambria Math" panose="02040503050406030204" pitchFamily="18" charset="0"/>
                              </a:rPr>
                              <m:t>𝑃</m:t>
                            </m:r>
                          </m:e>
                          <m:sub>
                            <m:r>
                              <a:rPr lang="en-US" altLang="ja-JP" sz="1800" i="1" dirty="0">
                                <a:latin typeface="Cambria Math" panose="02040503050406030204" pitchFamily="18" charset="0"/>
                              </a:rPr>
                              <m:t>𝑎𝑐𝑡𝑢𝑎</m:t>
                            </m:r>
                            <m:r>
                              <a:rPr lang="en-US" altLang="ja-JP" sz="1800" i="1" dirty="0" err="1">
                                <a:latin typeface="Cambria Math" panose="02040503050406030204" pitchFamily="18" charset="0"/>
                              </a:rPr>
                              <m:t>𝑙</m:t>
                            </m:r>
                          </m:sub>
                        </m:sSub>
                      </m:den>
                    </m:f>
                    <m:r>
                      <a:rPr lang="en-US" altLang="ja-JP" sz="1800" b="0" i="1" dirty="0" smtClean="0">
                        <a:latin typeface="Cambria Math" panose="02040503050406030204" pitchFamily="18" charset="0"/>
                      </a:rPr>
                      <m:t>=</m:t>
                    </m:r>
                    <m:f>
                      <m:fPr>
                        <m:ctrlPr>
                          <a:rPr lang="en-US" altLang="ja-JP" sz="1800" i="1" dirty="0">
                            <a:latin typeface="Cambria Math" panose="02040503050406030204" pitchFamily="18" charset="0"/>
                          </a:rPr>
                        </m:ctrlPr>
                      </m:fPr>
                      <m:num>
                        <m:sSub>
                          <m:sSubPr>
                            <m:ctrlPr>
                              <a:rPr lang="en-US" altLang="ja-JP" sz="1800" i="1" dirty="0">
                                <a:latin typeface="Cambria Math" panose="02040503050406030204" pitchFamily="18" charset="0"/>
                              </a:rPr>
                            </m:ctrlPr>
                          </m:sSubPr>
                          <m:e>
                            <m:r>
                              <a:rPr lang="en-US" altLang="ja-JP" sz="1800" i="1" dirty="0">
                                <a:latin typeface="Cambria Math" panose="02040503050406030204" pitchFamily="18" charset="0"/>
                              </a:rPr>
                              <m:t>𝑃</m:t>
                            </m:r>
                          </m:e>
                          <m:sub>
                            <m:r>
                              <a:rPr lang="en-US" altLang="ja-JP" sz="1800" b="0" i="1" dirty="0" smtClean="0">
                                <a:latin typeface="Cambria Math" panose="02040503050406030204" pitchFamily="18" charset="0"/>
                              </a:rPr>
                              <m:t>𝑚𝑖𝑛</m:t>
                            </m:r>
                          </m:sub>
                        </m:sSub>
                      </m:num>
                      <m:den>
                        <m:sSub>
                          <m:sSubPr>
                            <m:ctrlPr>
                              <a:rPr lang="en-US" altLang="ja-JP" sz="1800" i="1" dirty="0">
                                <a:latin typeface="Cambria Math" panose="02040503050406030204" pitchFamily="18" charset="0"/>
                              </a:rPr>
                            </m:ctrlPr>
                          </m:sSubPr>
                          <m:e>
                            <m:r>
                              <a:rPr lang="en-US" altLang="ja-JP" sz="1800" i="1" dirty="0">
                                <a:latin typeface="Cambria Math" panose="02040503050406030204" pitchFamily="18" charset="0"/>
                              </a:rPr>
                              <m:t>𝑃</m:t>
                            </m:r>
                          </m:e>
                          <m:sub>
                            <m:r>
                              <a:rPr lang="en-US" altLang="ja-JP" sz="1800" b="0" i="1" dirty="0" smtClean="0">
                                <a:latin typeface="Cambria Math" panose="02040503050406030204" pitchFamily="18" charset="0"/>
                              </a:rPr>
                              <m:t>𝑚𝑖𝑛</m:t>
                            </m:r>
                          </m:sub>
                        </m:sSub>
                        <m:r>
                          <a:rPr lang="en-US" altLang="ja-JP" sz="1800" b="0" i="1" dirty="0" smtClean="0">
                            <a:latin typeface="Cambria Math" panose="02040503050406030204" pitchFamily="18" charset="0"/>
                          </a:rPr>
                          <m:t>+</m:t>
                        </m:r>
                        <m:sSub>
                          <m:sSubPr>
                            <m:ctrlPr>
                              <a:rPr lang="en-US" altLang="ja-JP" sz="1800" i="1" dirty="0">
                                <a:latin typeface="Cambria Math" panose="02040503050406030204" pitchFamily="18" charset="0"/>
                              </a:rPr>
                            </m:ctrlPr>
                          </m:sSubPr>
                          <m:e>
                            <m:r>
                              <a:rPr lang="en-US" altLang="ja-JP" sz="1800" i="1" dirty="0">
                                <a:latin typeface="Cambria Math" panose="02040503050406030204" pitchFamily="18" charset="0"/>
                              </a:rPr>
                              <m:t>𝑃</m:t>
                            </m:r>
                          </m:e>
                          <m:sub>
                            <m:r>
                              <a:rPr lang="en-US" altLang="ja-JP" sz="1800" b="0" i="1" dirty="0" smtClean="0">
                                <a:latin typeface="Cambria Math" panose="02040503050406030204" pitchFamily="18" charset="0"/>
                              </a:rPr>
                              <m:t>𝑜𝑣𝑒𝑟h𝑒𝑎𝑑</m:t>
                            </m:r>
                          </m:sub>
                        </m:sSub>
                      </m:den>
                    </m:f>
                  </m:oMath>
                </a14:m>
                <a:endParaRPr lang="en-US" altLang="ja-JP" sz="1800" dirty="0"/>
              </a:p>
              <a:p>
                <a:pPr lvl="1"/>
                <a14:m>
                  <m:oMath xmlns:m="http://schemas.openxmlformats.org/officeDocument/2006/math">
                    <m:sSub>
                      <m:sSubPr>
                        <m:ctrlPr>
                          <a:rPr lang="en-US" altLang="ja-JP" sz="1800" b="0" i="1" dirty="0" smtClean="0">
                            <a:latin typeface="Cambria Math" panose="02040503050406030204" pitchFamily="18" charset="0"/>
                          </a:rPr>
                        </m:ctrlPr>
                      </m:sSubPr>
                      <m:e>
                        <m:r>
                          <a:rPr lang="en-US" altLang="ja-JP" sz="1800" i="1" dirty="0" smtClean="0">
                            <a:latin typeface="Cambria Math" panose="02040503050406030204" pitchFamily="18" charset="0"/>
                          </a:rPr>
                          <m:t>𝑃</m:t>
                        </m:r>
                      </m:e>
                      <m:sub>
                        <m:r>
                          <m:rPr>
                            <m:sty m:val="p"/>
                          </m:rPr>
                          <a:rPr lang="en-US" altLang="ja-JP" sz="1800" b="0" i="1" dirty="0" err="1" smtClean="0">
                            <a:latin typeface="Cambria Math" panose="02040503050406030204" pitchFamily="18" charset="0"/>
                          </a:rPr>
                          <m:t>min</m:t>
                        </m:r>
                      </m:sub>
                    </m:sSub>
                    <m:r>
                      <a:rPr lang="en-US" altLang="ja-JP" sz="1800" i="1" dirty="0" smtClean="0">
                        <a:latin typeface="Cambria Math" panose="02040503050406030204" pitchFamily="18" charset="0"/>
                      </a:rPr>
                      <m:t>=</m:t>
                    </m:r>
                  </m:oMath>
                </a14:m>
                <a:r>
                  <a:rPr lang="en-US" altLang="ja-JP" sz="1800" dirty="0"/>
                  <a:t> </a:t>
                </a:r>
                <a:r>
                  <a:rPr lang="ja-JP" altLang="en-US" sz="1800" dirty="0"/>
                  <a:t>材料の原価とシェフの人件費（絶対カレーを作るのに必要）</a:t>
                </a:r>
                <a:endParaRPr lang="en-US" altLang="ja-JP" sz="1800" dirty="0"/>
              </a:p>
              <a:p>
                <a:pPr lvl="1"/>
                <a14:m>
                  <m:oMath xmlns:m="http://schemas.openxmlformats.org/officeDocument/2006/math">
                    <m:sSub>
                      <m:sSubPr>
                        <m:ctrlPr>
                          <a:rPr lang="en-US" altLang="ja-JP" sz="1800" i="1" dirty="0" smtClean="0">
                            <a:latin typeface="Cambria Math" panose="02040503050406030204" pitchFamily="18" charset="0"/>
                          </a:rPr>
                        </m:ctrlPr>
                      </m:sSubPr>
                      <m:e>
                        <m:r>
                          <a:rPr lang="en-US" altLang="ja-JP" sz="1800" i="1" dirty="0" smtClean="0">
                            <a:latin typeface="Cambria Math" panose="02040503050406030204" pitchFamily="18" charset="0"/>
                          </a:rPr>
                          <m:t>𝑃</m:t>
                        </m:r>
                      </m:e>
                      <m:sub>
                        <m:r>
                          <a:rPr lang="en-US" altLang="ja-JP" sz="1800" i="1" dirty="0" smtClean="0">
                            <a:latin typeface="Cambria Math" panose="02040503050406030204" pitchFamily="18" charset="0"/>
                          </a:rPr>
                          <m:t>𝑎𝑐𝑡𝑢𝑎</m:t>
                        </m:r>
                        <m:r>
                          <a:rPr lang="en-US" altLang="ja-JP" sz="1800" i="1" dirty="0" err="1">
                            <a:latin typeface="Cambria Math" panose="02040503050406030204" pitchFamily="18" charset="0"/>
                          </a:rPr>
                          <m:t>𝑙</m:t>
                        </m:r>
                      </m:sub>
                    </m:sSub>
                    <m:r>
                      <a:rPr lang="en-US" altLang="ja-JP" sz="1800" i="1" dirty="0">
                        <a:latin typeface="Cambria Math" panose="02040503050406030204" pitchFamily="18" charset="0"/>
                      </a:rPr>
                      <m:t>=</m:t>
                    </m:r>
                  </m:oMath>
                </a14:m>
                <a:r>
                  <a:rPr lang="ja-JP" altLang="en-US" sz="1800" dirty="0"/>
                  <a:t> キッチン台，他の係の人　（必ずしもなくても）</a:t>
                </a:r>
                <a:endParaRPr lang="en-US" altLang="ja-JP" sz="1800" dirty="0"/>
              </a:p>
              <a:p>
                <a:r>
                  <a:rPr lang="ja-JP" altLang="en-US" sz="1800" dirty="0"/>
                  <a:t>トータルコストを下げる：</a:t>
                </a:r>
                <a:endParaRPr lang="en-US" altLang="ja-JP" sz="1800" dirty="0"/>
              </a:p>
              <a:p>
                <a:pPr lvl="1"/>
                <a14:m>
                  <m:oMath xmlns:m="http://schemas.openxmlformats.org/officeDocument/2006/math">
                    <m:sSub>
                      <m:sSubPr>
                        <m:ctrlPr>
                          <a:rPr lang="en-US" altLang="ja-JP" sz="1800" b="1" i="1" dirty="0" smtClean="0">
                            <a:solidFill>
                              <a:schemeClr val="accent5"/>
                            </a:solidFill>
                            <a:latin typeface="Cambria Math" panose="02040503050406030204" pitchFamily="18" charset="0"/>
                          </a:rPr>
                        </m:ctrlPr>
                      </m:sSubPr>
                      <m:e>
                        <m:r>
                          <a:rPr lang="en-US" altLang="ja-JP" sz="1800" b="1" i="1" dirty="0">
                            <a:solidFill>
                              <a:schemeClr val="accent5"/>
                            </a:solidFill>
                            <a:latin typeface="Cambria Math" panose="02040503050406030204" pitchFamily="18" charset="0"/>
                          </a:rPr>
                          <m:t>𝑷</m:t>
                        </m:r>
                      </m:e>
                      <m:sub>
                        <m:r>
                          <a:rPr lang="en-US" altLang="ja-JP" sz="1800" b="1" i="1" dirty="0">
                            <a:solidFill>
                              <a:schemeClr val="accent5"/>
                            </a:solidFill>
                            <a:latin typeface="Cambria Math" panose="02040503050406030204" pitchFamily="18" charset="0"/>
                          </a:rPr>
                          <m:t>𝒎𝒊𝒏</m:t>
                        </m:r>
                      </m:sub>
                    </m:sSub>
                  </m:oMath>
                </a14:m>
                <a:r>
                  <a:rPr lang="en-US" altLang="ja-JP" sz="1800" b="1" dirty="0">
                    <a:solidFill>
                      <a:schemeClr val="accent5"/>
                    </a:solidFill>
                  </a:rPr>
                  <a:t> </a:t>
                </a:r>
                <a:r>
                  <a:rPr lang="ja-JP" altLang="en-US" sz="1800" b="1" dirty="0">
                    <a:solidFill>
                      <a:schemeClr val="accent5"/>
                    </a:solidFill>
                  </a:rPr>
                  <a:t>を減らす </a:t>
                </a:r>
                <a:r>
                  <a:rPr lang="en-US" altLang="ja-JP" sz="1800" b="1" dirty="0">
                    <a:solidFill>
                      <a:schemeClr val="accent5"/>
                    </a:solidFill>
                  </a:rPr>
                  <a:t>= </a:t>
                </a:r>
                <a:r>
                  <a:rPr lang="ja-JP" altLang="en-US" sz="1800" b="1" dirty="0">
                    <a:solidFill>
                      <a:schemeClr val="accent5"/>
                    </a:solidFill>
                  </a:rPr>
                  <a:t>切り方を雑にして質を下げて（演算の精度を下げる）トータルコストを下げる</a:t>
                </a:r>
                <a:endParaRPr lang="en-US" altLang="ja-JP" sz="1800" b="1" dirty="0">
                  <a:solidFill>
                    <a:schemeClr val="accent5"/>
                  </a:solidFill>
                </a:endParaRPr>
              </a:p>
              <a:p>
                <a:pPr lvl="1"/>
                <a:r>
                  <a:rPr lang="ja-JP" altLang="en-US" sz="1800" dirty="0"/>
                  <a:t>見た目の効率 </a:t>
                </a:r>
                <a14:m>
                  <m:oMath xmlns:m="http://schemas.openxmlformats.org/officeDocument/2006/math">
                    <m:r>
                      <a:rPr lang="en-US" altLang="ja-JP" sz="1800" i="1" dirty="0">
                        <a:latin typeface="Cambria Math" panose="02040503050406030204" pitchFamily="18" charset="0"/>
                      </a:rPr>
                      <m:t>𝜂</m:t>
                    </m:r>
                    <m:r>
                      <a:rPr lang="en-US" altLang="ja-JP" sz="1800" b="0" i="1" dirty="0" smtClean="0">
                        <a:latin typeface="Cambria Math" panose="02040503050406030204" pitchFamily="18" charset="0"/>
                      </a:rPr>
                      <m:t> </m:t>
                    </m:r>
                  </m:oMath>
                </a14:m>
                <a:r>
                  <a:rPr lang="ja-JP" altLang="en-US" sz="1800" dirty="0"/>
                  <a:t>はこの場合は改善されない（</a:t>
                </a:r>
                <a14:m>
                  <m:oMath xmlns:m="http://schemas.openxmlformats.org/officeDocument/2006/math">
                    <m:sSub>
                      <m:sSubPr>
                        <m:ctrlPr>
                          <a:rPr lang="en-US" altLang="ja-JP" sz="1800" i="1" dirty="0">
                            <a:latin typeface="Cambria Math" panose="02040503050406030204" pitchFamily="18" charset="0"/>
                          </a:rPr>
                        </m:ctrlPr>
                      </m:sSubPr>
                      <m:e>
                        <m:r>
                          <a:rPr lang="en-US" altLang="ja-JP" sz="1800" i="1" dirty="0">
                            <a:latin typeface="Cambria Math" panose="02040503050406030204" pitchFamily="18" charset="0"/>
                          </a:rPr>
                          <m:t>𝑃</m:t>
                        </m:r>
                      </m:e>
                      <m:sub>
                        <m:r>
                          <a:rPr lang="en-US" altLang="ja-JP" sz="1800" i="1" dirty="0">
                            <a:latin typeface="Cambria Math" panose="02040503050406030204" pitchFamily="18" charset="0"/>
                          </a:rPr>
                          <m:t>𝑜𝑣𝑒𝑟h𝑒𝑎𝑑</m:t>
                        </m:r>
                      </m:sub>
                    </m:sSub>
                  </m:oMath>
                </a14:m>
                <a:r>
                  <a:rPr lang="ja-JP" altLang="en-US" sz="1800" dirty="0"/>
                  <a:t> </a:t>
                </a:r>
                <a:r>
                  <a:rPr lang="ja-JP" altLang="en-US" sz="1800"/>
                  <a:t>の相対的な割合が増す）</a:t>
                </a:r>
                <a:endParaRPr lang="en-US" altLang="ja-JP" sz="1800" dirty="0"/>
              </a:p>
            </p:txBody>
          </p:sp>
        </mc:Choice>
        <mc:Fallback xmlns="">
          <p:sp>
            <p:nvSpPr>
              <p:cNvPr id="4" name="テキスト プレースホルダー 4">
                <a:extLst>
                  <a:ext uri="{FF2B5EF4-FFF2-40B4-BE49-F238E27FC236}">
                    <a16:creationId xmlns:a16="http://schemas.microsoft.com/office/drawing/2014/main" id="{4D2721EA-8C17-99FF-1F33-B1D36AD9BDFD}"/>
                  </a:ext>
                </a:extLst>
              </p:cNvPr>
              <p:cNvSpPr>
                <a:spLocks noGrp="1" noRot="1" noChangeAspect="1" noMove="1" noResize="1" noEditPoints="1" noAdjustHandles="1" noChangeArrowheads="1" noChangeShapeType="1" noTextEdit="1"/>
              </p:cNvSpPr>
              <p:nvPr>
                <p:ph type="body" sz="quarter" idx="10"/>
              </p:nvPr>
            </p:nvSpPr>
            <p:spPr>
              <a:xfrm>
                <a:off x="245935" y="4689014"/>
                <a:ext cx="11790131" cy="1170013"/>
              </a:xfrm>
              <a:blipFill>
                <a:blip r:embed="rId3"/>
                <a:stretch>
                  <a:fillRect l="-310" t="-61458" b="-78646"/>
                </a:stretch>
              </a:blipFill>
            </p:spPr>
            <p:txBody>
              <a:bodyPr/>
              <a:lstStyle/>
              <a:p>
                <a:r>
                  <a:rPr lang="en-US">
                    <a:noFill/>
                  </a:rPr>
                  <a:t> </a:t>
                </a:r>
              </a:p>
            </p:txBody>
          </p:sp>
        </mc:Fallback>
      </mc:AlternateContent>
    </p:spTree>
    <p:extLst>
      <p:ext uri="{BB962C8B-B14F-4D97-AF65-F5344CB8AC3E}">
        <p14:creationId xmlns:p14="http://schemas.microsoft.com/office/powerpoint/2010/main" val="27167915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出欠と感想</a:t>
            </a:r>
            <a:endParaRPr kumimoji="1" lang="ja-JP" altLang="en-US" dirty="0"/>
          </a:p>
        </p:txBody>
      </p:sp>
      <p:sp>
        <p:nvSpPr>
          <p:cNvPr id="3" name="テキスト プレースホルダー 2"/>
          <p:cNvSpPr>
            <a:spLocks noGrp="1"/>
          </p:cNvSpPr>
          <p:nvPr>
            <p:ph type="body" sz="quarter" idx="10"/>
          </p:nvPr>
        </p:nvSpPr>
        <p:spPr>
          <a:xfrm>
            <a:off x="1865953" y="1088977"/>
            <a:ext cx="8532044" cy="5219751"/>
          </a:xfrm>
        </p:spPr>
        <p:txBody>
          <a:bodyPr/>
          <a:lstStyle/>
          <a:p>
            <a:r>
              <a:rPr lang="ja-JP" altLang="en-US" dirty="0"/>
              <a:t>本日の講義でよくわかったところ，わからなかったところ，</a:t>
            </a:r>
            <a:br>
              <a:rPr lang="en-US" altLang="ja-JP" dirty="0"/>
            </a:br>
            <a:r>
              <a:rPr lang="ja-JP" altLang="en-US" dirty="0"/>
              <a:t>質問，感想などを </a:t>
            </a:r>
            <a:r>
              <a:rPr lang="en-US" altLang="ja-JP" dirty="0"/>
              <a:t>UTOL </a:t>
            </a:r>
            <a:r>
              <a:rPr lang="ja-JP" altLang="en-US" dirty="0"/>
              <a:t>の出席欄に書いてください</a:t>
            </a:r>
            <a:endParaRPr lang="en-US" altLang="ja-JP" dirty="0"/>
          </a:p>
          <a:p>
            <a:pPr lvl="1"/>
            <a:r>
              <a:rPr lang="en-US" altLang="ja-JP" dirty="0"/>
              <a:t>LMS </a:t>
            </a:r>
            <a:r>
              <a:rPr lang="ja-JP" altLang="en-US" dirty="0"/>
              <a:t>の出席を設定するので，そこにお願いします</a:t>
            </a:r>
            <a:endParaRPr lang="en-US" altLang="ja-JP" dirty="0"/>
          </a:p>
          <a:p>
            <a:pPr lvl="1"/>
            <a:r>
              <a:rPr lang="ja-JP" altLang="en-US" dirty="0"/>
              <a:t>パスワード ：</a:t>
            </a:r>
            <a:r>
              <a:rPr lang="en-US" altLang="ja-JP" dirty="0"/>
              <a:t>arc</a:t>
            </a:r>
          </a:p>
          <a:p>
            <a:r>
              <a:rPr lang="ja-JP" altLang="en-US" dirty="0"/>
              <a:t>意見や内容へのリクエストもあったら書いてください</a:t>
            </a:r>
            <a:endParaRPr lang="en-US" altLang="ja-JP" dirty="0"/>
          </a:p>
          <a:p>
            <a:r>
              <a:rPr lang="en-US" altLang="ja-JP" dirty="0">
                <a:solidFill>
                  <a:schemeClr val="accent5"/>
                </a:solidFill>
              </a:rPr>
              <a:t>UTOL </a:t>
            </a:r>
            <a:r>
              <a:rPr lang="ja-JP" altLang="en-US" dirty="0">
                <a:solidFill>
                  <a:schemeClr val="accent5"/>
                </a:solidFill>
              </a:rPr>
              <a:t>の出席の締め切りは</a:t>
            </a:r>
            <a:r>
              <a:rPr lang="en-US" altLang="ja-JP" dirty="0">
                <a:solidFill>
                  <a:schemeClr val="accent5"/>
                </a:solidFill>
              </a:rPr>
              <a:t>1</a:t>
            </a:r>
            <a:r>
              <a:rPr lang="ja-JP" altLang="en-US" dirty="0">
                <a:solidFill>
                  <a:schemeClr val="accent5"/>
                </a:solidFill>
              </a:rPr>
              <a:t>週間後に設定してあります</a:t>
            </a:r>
            <a:endParaRPr lang="en-US" altLang="ja-JP" dirty="0">
              <a:solidFill>
                <a:schemeClr val="accent5"/>
              </a:solidFill>
            </a:endParaRPr>
          </a:p>
          <a:p>
            <a:pPr lvl="1"/>
            <a:r>
              <a:rPr lang="ja-JP" altLang="en-US" dirty="0"/>
              <a:t>仕様上「遅刻」表示になりますが，特に減点等しません</a:t>
            </a:r>
            <a:endParaRPr lang="en-US" altLang="ja-JP" dirty="0"/>
          </a:p>
        </p:txBody>
      </p:sp>
    </p:spTree>
    <p:extLst>
      <p:ext uri="{BB962C8B-B14F-4D97-AF65-F5344CB8AC3E}">
        <p14:creationId xmlns:p14="http://schemas.microsoft.com/office/powerpoint/2010/main" val="3225474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D92FC6-C481-4334-E992-204B439ABF09}"/>
              </a:ext>
            </a:extLst>
          </p:cNvPr>
          <p:cNvSpPr>
            <a:spLocks noGrp="1"/>
          </p:cNvSpPr>
          <p:nvPr>
            <p:ph type="title"/>
          </p:nvPr>
        </p:nvSpPr>
        <p:spPr/>
        <p:txBody>
          <a:bodyPr/>
          <a:lstStyle/>
          <a:p>
            <a:r>
              <a:rPr lang="ja-JP" altLang="en-US" dirty="0"/>
              <a:t>出席</a:t>
            </a:r>
            <a:endParaRPr kumimoji="1" lang="ja-JP" altLang="en-US" dirty="0"/>
          </a:p>
        </p:txBody>
      </p:sp>
      <p:sp>
        <p:nvSpPr>
          <p:cNvPr id="3" name="テキスト プレースホルダー 2">
            <a:extLst>
              <a:ext uri="{FF2B5EF4-FFF2-40B4-BE49-F238E27FC236}">
                <a16:creationId xmlns:a16="http://schemas.microsoft.com/office/drawing/2014/main" id="{BA87AF6B-357A-C55C-6782-832EA49BA99E}"/>
              </a:ext>
            </a:extLst>
          </p:cNvPr>
          <p:cNvSpPr>
            <a:spLocks noGrp="1"/>
          </p:cNvSpPr>
          <p:nvPr>
            <p:ph type="body" sz="quarter" idx="10"/>
          </p:nvPr>
        </p:nvSpPr>
        <p:spPr>
          <a:xfrm>
            <a:off x="1775952" y="1088974"/>
            <a:ext cx="9180102" cy="5219751"/>
          </a:xfrm>
        </p:spPr>
        <p:txBody>
          <a:bodyPr/>
          <a:lstStyle/>
          <a:p>
            <a:r>
              <a:rPr lang="ja-JP" altLang="en-US" dirty="0">
                <a:solidFill>
                  <a:schemeClr val="accent6"/>
                </a:solidFill>
              </a:rPr>
              <a:t>以下のスプレッドシートの自分の席のところに学籍番号を書いてください</a:t>
            </a:r>
            <a:endParaRPr kumimoji="1" lang="en-US" altLang="ja-JP" dirty="0">
              <a:hlinkClick r:id="" action="ppaction://noaction"/>
            </a:endParaRPr>
          </a:p>
          <a:p>
            <a:pPr lvl="1"/>
            <a:r>
              <a:rPr lang="en-US" altLang="ja-JP" dirty="0">
                <a:hlinkClick r:id="rId2"/>
              </a:rPr>
              <a:t>https://docs.google.com/spreadsheets/d/1k83-YtfDNx_Ak40dVgQflaGyh97C2KRbWH-WpvMG5tM/edit?usp=sharing</a:t>
            </a:r>
            <a:endParaRPr lang="en-US" altLang="ja-JP" dirty="0"/>
          </a:p>
          <a:p>
            <a:pPr lvl="1"/>
            <a:r>
              <a:rPr lang="ja-JP" altLang="en-US" dirty="0"/>
              <a:t>学生側から見た場合の配置で（画面上が教団側），席の対応する行と列のところに書いてください</a:t>
            </a:r>
            <a:endParaRPr lang="en-US" altLang="ja-JP" dirty="0"/>
          </a:p>
          <a:p>
            <a:endParaRPr kumimoji="1" lang="ja-JP" altLang="en-US" dirty="0"/>
          </a:p>
        </p:txBody>
      </p:sp>
    </p:spTree>
    <p:extLst>
      <p:ext uri="{BB962C8B-B14F-4D97-AF65-F5344CB8AC3E}">
        <p14:creationId xmlns:p14="http://schemas.microsoft.com/office/powerpoint/2010/main" val="3642383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69AADD-6D4C-BD4F-CB1B-C4BFB5B7A254}"/>
              </a:ext>
            </a:extLst>
          </p:cNvPr>
          <p:cNvSpPr>
            <a:spLocks noGrp="1"/>
          </p:cNvSpPr>
          <p:nvPr>
            <p:ph type="title"/>
          </p:nvPr>
        </p:nvSpPr>
        <p:spPr/>
        <p:txBody>
          <a:bodyPr/>
          <a:lstStyle/>
          <a:p>
            <a:r>
              <a:rPr kumimoji="1" lang="ja-JP" altLang="en-US" dirty="0"/>
              <a:t>課題について</a:t>
            </a:r>
          </a:p>
        </p:txBody>
      </p:sp>
      <p:sp>
        <p:nvSpPr>
          <p:cNvPr id="3" name="テキスト プレースホルダー 2">
            <a:extLst>
              <a:ext uri="{FF2B5EF4-FFF2-40B4-BE49-F238E27FC236}">
                <a16:creationId xmlns:a16="http://schemas.microsoft.com/office/drawing/2014/main" id="{150C1DD4-121A-4B4B-32CC-A9387E272686}"/>
              </a:ext>
            </a:extLst>
          </p:cNvPr>
          <p:cNvSpPr>
            <a:spLocks noGrp="1"/>
          </p:cNvSpPr>
          <p:nvPr>
            <p:ph type="body" sz="quarter" idx="10"/>
          </p:nvPr>
        </p:nvSpPr>
        <p:spPr/>
        <p:txBody>
          <a:bodyPr/>
          <a:lstStyle/>
          <a:p>
            <a:r>
              <a:rPr kumimoji="1" lang="ja-JP" altLang="en-US" dirty="0"/>
              <a:t>第１１回講義資料を参照</a:t>
            </a:r>
          </a:p>
        </p:txBody>
      </p:sp>
    </p:spTree>
    <p:extLst>
      <p:ext uri="{BB962C8B-B14F-4D97-AF65-F5344CB8AC3E}">
        <p14:creationId xmlns:p14="http://schemas.microsoft.com/office/powerpoint/2010/main" val="34099383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82FB01-44A9-7AA7-085D-FC694D01F7DB}"/>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B4BF61A1-BB25-3B50-6979-C43846972047}"/>
              </a:ext>
            </a:extLst>
          </p:cNvPr>
          <p:cNvSpPr>
            <a:spLocks noGrp="1"/>
          </p:cNvSpPr>
          <p:nvPr>
            <p:ph type="body" sz="quarter" idx="10"/>
          </p:nvPr>
        </p:nvSpPr>
        <p:spPr/>
        <p:txBody>
          <a:bodyPr/>
          <a:lstStyle/>
          <a:p>
            <a:r>
              <a:rPr lang="ja-JP" altLang="en-US" dirty="0"/>
              <a:t>最近は</a:t>
            </a:r>
            <a:r>
              <a:rPr lang="en-US" altLang="ja-JP" dirty="0"/>
              <a:t>AI</a:t>
            </a:r>
            <a:r>
              <a:rPr lang="ja-JP" altLang="en-US" dirty="0"/>
              <a:t>が脆弱性を見つけたり，</a:t>
            </a:r>
            <a:r>
              <a:rPr lang="en-US" altLang="ja-JP" dirty="0"/>
              <a:t>AI</a:t>
            </a:r>
            <a:r>
              <a:rPr lang="ja-JP" altLang="en-US" dirty="0"/>
              <a:t>が暴走してサイバー攻撃を行ったりと，セキュリティの分野も新しいステージに進んでいると思うので，ハードウェアや</a:t>
            </a:r>
            <a:r>
              <a:rPr lang="en-US" altLang="ja-JP" dirty="0"/>
              <a:t>OS</a:t>
            </a:r>
            <a:r>
              <a:rPr lang="ja-JP" altLang="en-US" dirty="0"/>
              <a:t>等の低レイヤーのセキュリティもより難しい分野になって行くのかなというに思いました．</a:t>
            </a:r>
            <a:endParaRPr kumimoji="1" lang="ja-JP" altLang="en-US" dirty="0"/>
          </a:p>
        </p:txBody>
      </p:sp>
    </p:spTree>
    <p:extLst>
      <p:ext uri="{BB962C8B-B14F-4D97-AF65-F5344CB8AC3E}">
        <p14:creationId xmlns:p14="http://schemas.microsoft.com/office/powerpoint/2010/main" val="4060102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664F3-BC31-B053-1A18-724A36BBC3C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4920EED-9823-CD3C-BD26-640301EE0B59}"/>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B99F178C-623C-CF3C-9904-B3B5AC0683DF}"/>
              </a:ext>
            </a:extLst>
          </p:cNvPr>
          <p:cNvSpPr>
            <a:spLocks noGrp="1"/>
          </p:cNvSpPr>
          <p:nvPr>
            <p:ph type="body" sz="quarter" idx="10"/>
          </p:nvPr>
        </p:nvSpPr>
        <p:spPr/>
        <p:txBody>
          <a:bodyPr/>
          <a:lstStyle/>
          <a:p>
            <a:r>
              <a:rPr lang="en-US" altLang="ja-JP" dirty="0" err="1"/>
              <a:t>pectre</a:t>
            </a:r>
            <a:r>
              <a:rPr lang="ja-JP" altLang="en-US" dirty="0"/>
              <a:t>対策のところの範囲チェックの後にさらにガードを設けるという対策は、事情を知らなければ無駄なコードにも見えますが、原理を踏まえると実は必要だということがわかりました。</a:t>
            </a:r>
          </a:p>
          <a:p>
            <a:r>
              <a:rPr lang="ja-JP" altLang="en-US" dirty="0"/>
              <a:t>１－２割性能低下することを許容したとしても、結局攻撃側とのいたちごっとになってしまうのではないかと思った。</a:t>
            </a:r>
          </a:p>
          <a:p>
            <a:endParaRPr kumimoji="1" lang="ja-JP" altLang="en-US" dirty="0"/>
          </a:p>
        </p:txBody>
      </p:sp>
    </p:spTree>
    <p:extLst>
      <p:ext uri="{BB962C8B-B14F-4D97-AF65-F5344CB8AC3E}">
        <p14:creationId xmlns:p14="http://schemas.microsoft.com/office/powerpoint/2010/main" val="25010485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25051-77E3-B90B-4B13-858B5BE3AF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58E4E0B-365E-89B6-738E-A90373B5AA17}"/>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F67D27EB-6768-FFE1-BD86-584065854D2A}"/>
              </a:ext>
            </a:extLst>
          </p:cNvPr>
          <p:cNvSpPr>
            <a:spLocks noGrp="1"/>
          </p:cNvSpPr>
          <p:nvPr>
            <p:ph type="body" sz="quarter" idx="10"/>
          </p:nvPr>
        </p:nvSpPr>
        <p:spPr/>
        <p:txBody>
          <a:bodyPr/>
          <a:lstStyle/>
          <a:p>
            <a:r>
              <a:rPr lang="en-US" altLang="ja-JP" dirty="0" err="1"/>
              <a:t>spectre</a:t>
            </a:r>
            <a:r>
              <a:rPr lang="ja-JP" altLang="en-US" dirty="0"/>
              <a:t>かわいいですね</a:t>
            </a:r>
            <a:br>
              <a:rPr lang="en-US" altLang="ja-JP" dirty="0"/>
            </a:br>
            <a:r>
              <a:rPr lang="ja-JP" altLang="en-US" dirty="0"/>
              <a:t>やってることはあまり可愛くなさそうでしたけど、、</a:t>
            </a:r>
          </a:p>
          <a:p>
            <a:endParaRPr kumimoji="1" lang="ja-JP" altLang="en-US" dirty="0"/>
          </a:p>
        </p:txBody>
      </p:sp>
    </p:spTree>
    <p:extLst>
      <p:ext uri="{BB962C8B-B14F-4D97-AF65-F5344CB8AC3E}">
        <p14:creationId xmlns:p14="http://schemas.microsoft.com/office/powerpoint/2010/main" val="14095481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8AC74-7AB2-05C7-C582-A5929DEFB70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828045-E570-94BF-3B73-63A54F19EF09}"/>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E31991B2-CA5B-C8AE-A546-4538DD00D8C2}"/>
              </a:ext>
            </a:extLst>
          </p:cNvPr>
          <p:cNvSpPr>
            <a:spLocks noGrp="1"/>
          </p:cNvSpPr>
          <p:nvPr>
            <p:ph type="body" sz="quarter" idx="10"/>
          </p:nvPr>
        </p:nvSpPr>
        <p:spPr/>
        <p:txBody>
          <a:bodyPr/>
          <a:lstStyle/>
          <a:p>
            <a:r>
              <a:rPr lang="ja-JP" altLang="en-US" dirty="0"/>
              <a:t>よく</a:t>
            </a:r>
            <a:r>
              <a:rPr lang="en-US" altLang="ja-JP" dirty="0"/>
              <a:t>C</a:t>
            </a:r>
            <a:r>
              <a:rPr lang="ja-JP" altLang="en-US" dirty="0"/>
              <a:t>を触っていると出てくる「</a:t>
            </a:r>
            <a:r>
              <a:rPr lang="en-US" altLang="ja-JP" dirty="0"/>
              <a:t>Segmentation Fault</a:t>
            </a:r>
            <a:r>
              <a:rPr lang="ja-JP" altLang="en-US" dirty="0"/>
              <a:t>」もこの辺りに関係しているエラーなのでしょうか（授業内で言及されていたら聞き逃しです、申し訳ありません）</a:t>
            </a:r>
            <a:r>
              <a:rPr lang="en-US" altLang="ja-JP" dirty="0"/>
              <a:t>"</a:t>
            </a:r>
          </a:p>
          <a:p>
            <a:endParaRPr kumimoji="1" lang="ja-JP" altLang="en-US" dirty="0"/>
          </a:p>
        </p:txBody>
      </p:sp>
    </p:spTree>
    <p:extLst>
      <p:ext uri="{BB962C8B-B14F-4D97-AF65-F5344CB8AC3E}">
        <p14:creationId xmlns:p14="http://schemas.microsoft.com/office/powerpoint/2010/main" val="16445262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9DEDB-B16E-ABC5-51E4-6DCB6F95B57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7BE132-08D2-1E5D-9F2F-3BC5E7CE41C5}"/>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235940A3-AB1C-B624-6FB9-026BB61924B4}"/>
              </a:ext>
            </a:extLst>
          </p:cNvPr>
          <p:cNvSpPr>
            <a:spLocks noGrp="1"/>
          </p:cNvSpPr>
          <p:nvPr>
            <p:ph type="body" sz="quarter" idx="10"/>
          </p:nvPr>
        </p:nvSpPr>
        <p:spPr/>
        <p:txBody>
          <a:bodyPr/>
          <a:lstStyle/>
          <a:p>
            <a:r>
              <a:rPr lang="ja-JP" altLang="en-US" dirty="0"/>
              <a:t>攻撃の話は面白かったが、難しくて</a:t>
            </a:r>
            <a:r>
              <a:rPr lang="en-US" altLang="ja-JP" dirty="0"/>
              <a:t>4</a:t>
            </a:r>
            <a:r>
              <a:rPr lang="ja-JP" altLang="en-US" dirty="0"/>
              <a:t>割ぐらいしか理解できなかった。難しい攻撃手法をいっぱい考えるすごい人がいるものだなーと思った。多分紹介されていない攻撃手法とかもいっぱいあるそうだが、ハードウェアや</a:t>
            </a:r>
            <a:r>
              <a:rPr lang="en-US" altLang="ja-JP" dirty="0"/>
              <a:t>OS</a:t>
            </a:r>
            <a:r>
              <a:rPr lang="ja-JP" altLang="en-US" dirty="0"/>
              <a:t>を作るときにそれらを全部考慮しないといけないのはすごく大変そうだなと思った。</a:t>
            </a:r>
          </a:p>
          <a:p>
            <a:endParaRPr kumimoji="1" lang="ja-JP" altLang="en-US" dirty="0"/>
          </a:p>
        </p:txBody>
      </p:sp>
    </p:spTree>
    <p:extLst>
      <p:ext uri="{BB962C8B-B14F-4D97-AF65-F5344CB8AC3E}">
        <p14:creationId xmlns:p14="http://schemas.microsoft.com/office/powerpoint/2010/main" val="31861496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408DE-0F6C-8607-9D4A-3587F06527B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1AF12D-1D76-C40E-25BB-290CBD241076}"/>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F4FA8D0A-C718-28B4-E197-88F68CCABC89}"/>
              </a:ext>
            </a:extLst>
          </p:cNvPr>
          <p:cNvSpPr>
            <a:spLocks noGrp="1"/>
          </p:cNvSpPr>
          <p:nvPr>
            <p:ph type="body" sz="quarter" idx="10"/>
          </p:nvPr>
        </p:nvSpPr>
        <p:spPr/>
        <p:txBody>
          <a:bodyPr/>
          <a:lstStyle/>
          <a:p>
            <a:r>
              <a:rPr lang="ja-JP" altLang="en-US" sz="1600" dirty="0"/>
              <a:t>ページテーブルの理解があっているか，確認させてください（長いので合っていれば質問回答時間に扱わなくて大丈夫です．間違っている箇所があればその部分を指摘してくれたら幸いです）．</a:t>
            </a:r>
          </a:p>
          <a:p>
            <a:r>
              <a:rPr lang="ja-JP" altLang="en-US" sz="1600" dirty="0"/>
              <a:t>・</a:t>
            </a:r>
            <a:r>
              <a:rPr lang="en-US" altLang="ja-JP" sz="1600" dirty="0"/>
              <a:t>32bit</a:t>
            </a:r>
            <a:r>
              <a:rPr lang="ja-JP" altLang="en-US" sz="1600" dirty="0"/>
              <a:t>アドレス，ページサイズ</a:t>
            </a:r>
            <a:r>
              <a:rPr lang="en-US" altLang="ja-JP" sz="1600" dirty="0"/>
              <a:t>4KB</a:t>
            </a:r>
            <a:r>
              <a:rPr lang="ja-JP" altLang="en-US" sz="1600" dirty="0"/>
              <a:t>ではページテーブル</a:t>
            </a:r>
            <a:r>
              <a:rPr lang="en-US" altLang="ja-JP" sz="1600" dirty="0"/>
              <a:t>1</a:t>
            </a:r>
            <a:r>
              <a:rPr lang="ja-JP" altLang="en-US" sz="1600" dirty="0"/>
              <a:t>エントリに</a:t>
            </a:r>
            <a:r>
              <a:rPr lang="en-US" altLang="ja-JP" sz="1600" dirty="0"/>
              <a:t>20bit</a:t>
            </a:r>
            <a:r>
              <a:rPr lang="ja-JP" altLang="en-US" sz="1600" dirty="0"/>
              <a:t>用意しておけば良い．この時，</a:t>
            </a:r>
            <a:r>
              <a:rPr lang="en-US" altLang="ja-JP" sz="1600" dirty="0"/>
              <a:t>2</a:t>
            </a:r>
            <a:r>
              <a:rPr lang="ja-JP" altLang="en-US" sz="1600" dirty="0"/>
              <a:t>段ページテーブルだと，最大確保要領は</a:t>
            </a:r>
            <a:r>
              <a:rPr lang="en-US" altLang="ja-JP" sz="1600" dirty="0"/>
              <a:t>2^10 + 2^10 * 2^10 ≒ 2^20bit </a:t>
            </a:r>
            <a:r>
              <a:rPr lang="ja-JP" altLang="en-US" sz="1600" dirty="0"/>
              <a:t>で単段ページテーブルと変わらないが，</a:t>
            </a:r>
            <a:r>
              <a:rPr lang="en-US" altLang="ja-JP" sz="1600" dirty="0"/>
              <a:t>1</a:t>
            </a:r>
            <a:r>
              <a:rPr lang="ja-JP" altLang="en-US" sz="1600" dirty="0"/>
              <a:t>段目のテーブルで</a:t>
            </a:r>
            <a:r>
              <a:rPr lang="en-US" altLang="ja-JP" sz="1600" dirty="0"/>
              <a:t>NULL</a:t>
            </a:r>
            <a:r>
              <a:rPr lang="ja-JP" altLang="en-US" sz="1600" dirty="0"/>
              <a:t>の分は</a:t>
            </a:r>
            <a:r>
              <a:rPr lang="en-US" altLang="ja-JP" sz="1600" dirty="0"/>
              <a:t>2</a:t>
            </a:r>
            <a:r>
              <a:rPr lang="ja-JP" altLang="en-US" sz="1600" dirty="0"/>
              <a:t>段目のテーブルが作られないから平均的な確保要領はとても小さくなる．実際，最小確保要領は（ページが一つは存在するとして，すなわち</a:t>
            </a:r>
            <a:r>
              <a:rPr lang="en-US" altLang="ja-JP" sz="1600" dirty="0"/>
              <a:t>2</a:t>
            </a:r>
            <a:r>
              <a:rPr lang="ja-JP" altLang="en-US" sz="1600" dirty="0"/>
              <a:t>段目のページテーブルが</a:t>
            </a:r>
            <a:r>
              <a:rPr lang="en-US" altLang="ja-JP" sz="1600" dirty="0"/>
              <a:t>1</a:t>
            </a:r>
            <a:r>
              <a:rPr lang="ja-JP" altLang="en-US" sz="1600" dirty="0"/>
              <a:t>つは存在するとして）</a:t>
            </a:r>
            <a:r>
              <a:rPr lang="en-US" altLang="ja-JP" sz="1600" dirty="0"/>
              <a:t>2^10 + 2^10 = 2^11bit</a:t>
            </a:r>
            <a:r>
              <a:rPr lang="ja-JP" altLang="en-US" sz="1600" dirty="0"/>
              <a:t>で</a:t>
            </a:r>
            <a:r>
              <a:rPr lang="en-US" altLang="ja-JP" sz="1600" dirty="0"/>
              <a:t>2^20bit</a:t>
            </a:r>
            <a:r>
              <a:rPr lang="ja-JP" altLang="en-US" sz="1600" dirty="0"/>
              <a:t>より小さい．</a:t>
            </a:r>
          </a:p>
          <a:p>
            <a:r>
              <a:rPr lang="ja-JP" altLang="en-US" sz="1600" dirty="0"/>
              <a:t>・再帰的に考えれば，段数を増やせば増やすほど最小確保要領は小さくなるが，実際には最小確保要領は平均的なページの数（つまり，単段ページテーブルにおいて</a:t>
            </a:r>
            <a:r>
              <a:rPr lang="en-US" altLang="ja-JP" sz="1600" dirty="0"/>
              <a:t>NULL</a:t>
            </a:r>
            <a:r>
              <a:rPr lang="ja-JP" altLang="en-US" sz="1600" dirty="0"/>
              <a:t>でないエントリの平均的な数）* </a:t>
            </a:r>
            <a:r>
              <a:rPr lang="en-US" altLang="ja-JP" sz="1600" dirty="0"/>
              <a:t>20bit </a:t>
            </a:r>
            <a:r>
              <a:rPr lang="ja-JP" altLang="en-US" sz="1600" dirty="0"/>
              <a:t>を下回る必要はない．というのもどうせ多段だろうが平均的にはこれだけの領域は確保されるから．この段数の範囲で，最小確保要領と，物理アクセスを得られるまでの時間とのトレードオフで最適な段数が決まる．</a:t>
            </a:r>
          </a:p>
          <a:p>
            <a:endParaRPr kumimoji="1" lang="ja-JP" altLang="en-US" sz="1600" dirty="0"/>
          </a:p>
        </p:txBody>
      </p:sp>
    </p:spTree>
    <p:extLst>
      <p:ext uri="{BB962C8B-B14F-4D97-AF65-F5344CB8AC3E}">
        <p14:creationId xmlns:p14="http://schemas.microsoft.com/office/powerpoint/2010/main" val="123718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C0E24-13B2-3E10-8187-EF4BC778D0E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A7174A3-DF74-98A2-CF66-317E172EE06A}"/>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89997B21-0475-CF52-5E7E-B13485EB255C}"/>
              </a:ext>
            </a:extLst>
          </p:cNvPr>
          <p:cNvSpPr>
            <a:spLocks noGrp="1"/>
          </p:cNvSpPr>
          <p:nvPr>
            <p:ph type="body" sz="quarter" idx="10"/>
          </p:nvPr>
        </p:nvSpPr>
        <p:spPr/>
        <p:txBody>
          <a:bodyPr/>
          <a:lstStyle/>
          <a:p>
            <a:r>
              <a:rPr lang="ja-JP" altLang="en-US" dirty="0"/>
              <a:t>システムコールは関数呼び出し的にユーザプログラムから呼び出されるが，この形にすることでシステムコールに対応する命令のオペランドがユーザープログラムによって自由に指定されない（</a:t>
            </a:r>
            <a:r>
              <a:rPr lang="en-US" altLang="ja-JP" dirty="0"/>
              <a:t>OS</a:t>
            </a:r>
            <a:r>
              <a:rPr lang="ja-JP" altLang="en-US" dirty="0"/>
              <a:t>が管理する）という点にセキュリティ上のメリットがあると考えて良いか？</a:t>
            </a:r>
          </a:p>
          <a:p>
            <a:endParaRPr kumimoji="1" lang="ja-JP" altLang="en-US" dirty="0"/>
          </a:p>
        </p:txBody>
      </p:sp>
    </p:spTree>
    <p:extLst>
      <p:ext uri="{BB962C8B-B14F-4D97-AF65-F5344CB8AC3E}">
        <p14:creationId xmlns:p14="http://schemas.microsoft.com/office/powerpoint/2010/main" val="38167916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F8DC5-DEA5-56CB-963E-F39F838180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BC5E92D-45C7-212C-0068-34D70DB60A24}"/>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B2862491-C548-34E2-745A-9B961DA831D6}"/>
              </a:ext>
            </a:extLst>
          </p:cNvPr>
          <p:cNvSpPr>
            <a:spLocks noGrp="1"/>
          </p:cNvSpPr>
          <p:nvPr>
            <p:ph type="body" sz="quarter" idx="10"/>
          </p:nvPr>
        </p:nvSpPr>
        <p:spPr/>
        <p:txBody>
          <a:bodyPr/>
          <a:lstStyle/>
          <a:p>
            <a:r>
              <a:rPr lang="ja-JP" altLang="en-US" dirty="0"/>
              <a:t>またそれを踏まえるとバッファオーバーフローのスライド</a:t>
            </a:r>
            <a:r>
              <a:rPr lang="en-US" altLang="ja-JP" dirty="0"/>
              <a:t>p.65</a:t>
            </a:r>
            <a:r>
              <a:rPr lang="ja-JP" altLang="en-US" dirty="0"/>
              <a:t>で「外部プログラムを起動するシステムコールを呼ぶ」とあるが，正しくは「システムコールに対応する命令」ではないのか？（自由にオペランドを設定できるため，権限のあるプロセスを外部プログラムに置き換え，外部プログラムのプロセスに権限を持った状態にできてしまう，ということだと思いました）（システムコールは，呼ぶだけならユーザプログラムからいつでも呼べるという理解をしています）</a:t>
            </a:r>
            <a:endParaRPr kumimoji="1" lang="ja-JP" altLang="en-US" dirty="0"/>
          </a:p>
        </p:txBody>
      </p:sp>
    </p:spTree>
    <p:extLst>
      <p:ext uri="{BB962C8B-B14F-4D97-AF65-F5344CB8AC3E}">
        <p14:creationId xmlns:p14="http://schemas.microsoft.com/office/powerpoint/2010/main" val="28511075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75EC0-19CE-B477-B6EA-064C6042C6F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516DADC-4E19-480D-1807-C35B591CBC43}"/>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3F5FF346-D6AE-06CE-BFE8-CE22C6C2234B}"/>
              </a:ext>
            </a:extLst>
          </p:cNvPr>
          <p:cNvSpPr>
            <a:spLocks noGrp="1"/>
          </p:cNvSpPr>
          <p:nvPr>
            <p:ph type="body" sz="quarter" idx="10"/>
          </p:nvPr>
        </p:nvSpPr>
        <p:spPr/>
        <p:txBody>
          <a:bodyPr/>
          <a:lstStyle/>
          <a:p>
            <a:r>
              <a:rPr lang="en-US" altLang="ja-JP" dirty="0" err="1"/>
              <a:t>Spectre</a:t>
            </a:r>
            <a:r>
              <a:rPr lang="ja-JP" altLang="en-US" dirty="0"/>
              <a:t>の話でいろいろ対策案があったのですが、今のところのどの対処法でも性能が低下してしまっているのですが、こういった脆弱性の対策と性能は完全なトレードオフになっているのでしょうか？</a:t>
            </a:r>
            <a:endParaRPr kumimoji="1" lang="ja-JP" altLang="en-US" dirty="0"/>
          </a:p>
        </p:txBody>
      </p:sp>
    </p:spTree>
    <p:extLst>
      <p:ext uri="{BB962C8B-B14F-4D97-AF65-F5344CB8AC3E}">
        <p14:creationId xmlns:p14="http://schemas.microsoft.com/office/powerpoint/2010/main" val="9055253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B8764-0E36-BCE8-C5BC-B97EBE9A86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D80915-4250-70F2-DA30-9546E173A39B}"/>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26EA9AC9-F2D3-EDCB-FCB4-658D903FCF78}"/>
              </a:ext>
            </a:extLst>
          </p:cNvPr>
          <p:cNvSpPr>
            <a:spLocks noGrp="1"/>
          </p:cNvSpPr>
          <p:nvPr>
            <p:ph type="body" sz="quarter" idx="10"/>
          </p:nvPr>
        </p:nvSpPr>
        <p:spPr/>
        <p:txBody>
          <a:bodyPr/>
          <a:lstStyle/>
          <a:p>
            <a:r>
              <a:rPr lang="ja-JP" altLang="en-US" dirty="0"/>
              <a:t>おばけしか見てなくて、枝を持っていることに気付いてなかった</a:t>
            </a:r>
          </a:p>
          <a:p>
            <a:endParaRPr kumimoji="1" lang="ja-JP" altLang="en-US" dirty="0"/>
          </a:p>
        </p:txBody>
      </p:sp>
    </p:spTree>
    <p:extLst>
      <p:ext uri="{BB962C8B-B14F-4D97-AF65-F5344CB8AC3E}">
        <p14:creationId xmlns:p14="http://schemas.microsoft.com/office/powerpoint/2010/main" val="37610080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D3A4F-13F6-4632-FC23-5EA9683F212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E16152-7F17-0B76-862E-DE9969DAE669}"/>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ED42E562-2564-484D-7A16-B1F2DFFE4D57}"/>
              </a:ext>
            </a:extLst>
          </p:cNvPr>
          <p:cNvSpPr>
            <a:spLocks noGrp="1"/>
          </p:cNvSpPr>
          <p:nvPr>
            <p:ph type="body" sz="quarter" idx="10"/>
          </p:nvPr>
        </p:nvSpPr>
        <p:spPr/>
        <p:txBody>
          <a:bodyPr/>
          <a:lstStyle/>
          <a:p>
            <a:r>
              <a:rPr lang="ja-JP" altLang="en-US" dirty="0"/>
              <a:t>近年では、</a:t>
            </a:r>
            <a:r>
              <a:rPr lang="en-US" altLang="ja-JP" dirty="0"/>
              <a:t>Rust</a:t>
            </a:r>
            <a:r>
              <a:rPr lang="ja-JP" altLang="en-US" dirty="0"/>
              <a:t>のようなメモリ安全性を保証する言語が</a:t>
            </a:r>
            <a:r>
              <a:rPr lang="en-US" altLang="ja-JP" dirty="0"/>
              <a:t>OS</a:t>
            </a:r>
            <a:r>
              <a:rPr lang="ja-JP" altLang="en-US" dirty="0"/>
              <a:t>やシステムソフトウェアにも徐々に導入されていると認識していますが、今後バッファオーバーフローなどの脆弱性はどの程度減少すると期待できるのでしょうか。個人的に自分がやっている分野はまだ</a:t>
            </a:r>
            <a:r>
              <a:rPr lang="en-US" altLang="ja-JP" dirty="0"/>
              <a:t>C/C++</a:t>
            </a:r>
            <a:r>
              <a:rPr lang="ja-JP" altLang="en-US" dirty="0"/>
              <a:t>が多い</a:t>
            </a:r>
            <a:r>
              <a:rPr lang="en-US" altLang="ja-JP" dirty="0"/>
              <a:t>(</a:t>
            </a:r>
            <a:r>
              <a:rPr lang="ja-JP" altLang="en-US" dirty="0"/>
              <a:t>特に脆弱性などは気にせず</a:t>
            </a:r>
            <a:r>
              <a:rPr lang="en-US" altLang="ja-JP" dirty="0"/>
              <a:t>)</a:t>
            </a:r>
            <a:r>
              <a:rPr lang="ja-JP" altLang="en-US" dirty="0"/>
              <a:t>ので</a:t>
            </a:r>
            <a:r>
              <a:rPr lang="en-US" altLang="ja-JP" dirty="0"/>
              <a:t>Rust</a:t>
            </a:r>
            <a:r>
              <a:rPr lang="ja-JP" altLang="en-US" dirty="0"/>
              <a:t>を使う必要性まで特に感じてはないですが。</a:t>
            </a:r>
          </a:p>
          <a:p>
            <a:endParaRPr kumimoji="1" lang="ja-JP" altLang="en-US" dirty="0"/>
          </a:p>
        </p:txBody>
      </p:sp>
    </p:spTree>
    <p:extLst>
      <p:ext uri="{BB962C8B-B14F-4D97-AF65-F5344CB8AC3E}">
        <p14:creationId xmlns:p14="http://schemas.microsoft.com/office/powerpoint/2010/main" val="38224115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1ABEA-A912-E862-06C5-2CBBEF5006C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F345137-5C28-4B04-E318-88B4649DDB10}"/>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293B1DDE-5251-DD2B-E6D1-407BDF662C5F}"/>
              </a:ext>
            </a:extLst>
          </p:cNvPr>
          <p:cNvSpPr>
            <a:spLocks noGrp="1"/>
          </p:cNvSpPr>
          <p:nvPr>
            <p:ph type="body" sz="quarter" idx="10"/>
          </p:nvPr>
        </p:nvSpPr>
        <p:spPr/>
        <p:txBody>
          <a:bodyPr/>
          <a:lstStyle/>
          <a:p>
            <a:r>
              <a:rPr lang="en-US" altLang="ja-JP" dirty="0" err="1"/>
              <a:t>Spectre</a:t>
            </a:r>
            <a:r>
              <a:rPr lang="en-US" altLang="ja-JP" dirty="0"/>
              <a:t> Variant 1</a:t>
            </a:r>
            <a:r>
              <a:rPr lang="ja-JP" altLang="en-US" dirty="0"/>
              <a:t>で、</a:t>
            </a:r>
            <a:r>
              <a:rPr lang="en-US" altLang="ja-JP" dirty="0"/>
              <a:t>`array1_size`</a:t>
            </a:r>
            <a:r>
              <a:rPr lang="ja-JP" altLang="en-US" dirty="0"/>
              <a:t>を意図的にキャッシュミスさせて分岐の確定を遅らせ、その間に範囲外アクセスを</a:t>
            </a:r>
            <a:r>
              <a:rPr lang="en-US" altLang="ja-JP" dirty="0" err="1"/>
              <a:t>OoO</a:t>
            </a:r>
            <a:r>
              <a:rPr lang="ja-JP" altLang="en-US" dirty="0"/>
              <a:t>実行させるとのことでしたが、実際の</a:t>
            </a:r>
            <a:r>
              <a:rPr lang="en-US" altLang="ja-JP" dirty="0"/>
              <a:t>CPU</a:t>
            </a:r>
            <a:r>
              <a:rPr lang="ja-JP" altLang="en-US" dirty="0"/>
              <a:t>ではこの投機実行の時間幅を攻撃者がどの程度制御できるのでしょうか。</a:t>
            </a:r>
            <a:endParaRPr kumimoji="1" lang="ja-JP" altLang="en-US" dirty="0"/>
          </a:p>
        </p:txBody>
      </p:sp>
    </p:spTree>
    <p:extLst>
      <p:ext uri="{BB962C8B-B14F-4D97-AF65-F5344CB8AC3E}">
        <p14:creationId xmlns:p14="http://schemas.microsoft.com/office/powerpoint/2010/main" val="16835504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8E752-37DA-67D4-CB01-35D40BEDD12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8FC5BCC-7DB8-C7EA-E99C-0133C8B7E59A}"/>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50E424F5-AE14-E652-0C99-CAE934557B46}"/>
              </a:ext>
            </a:extLst>
          </p:cNvPr>
          <p:cNvSpPr>
            <a:spLocks noGrp="1"/>
          </p:cNvSpPr>
          <p:nvPr>
            <p:ph type="body" sz="quarter" idx="10"/>
          </p:nvPr>
        </p:nvSpPr>
        <p:spPr/>
        <p:txBody>
          <a:bodyPr/>
          <a:lstStyle/>
          <a:p>
            <a:r>
              <a:rPr lang="ja-JP" altLang="en-US" dirty="0"/>
              <a:t>論理メモリと物理メモリのページ番号などはパタヘネで初めて勉強したときは酷く混乱した記憶があります そして</a:t>
            </a:r>
            <a:r>
              <a:rPr lang="en-US" altLang="ja-JP" dirty="0"/>
              <a:t>TLB</a:t>
            </a:r>
            <a:r>
              <a:rPr lang="ja-JP" altLang="en-US" dirty="0"/>
              <a:t>が導入されてもっと複雑に</a:t>
            </a:r>
            <a:r>
              <a:rPr lang="en-US" altLang="ja-JP" dirty="0"/>
              <a:t>… </a:t>
            </a:r>
            <a:r>
              <a:rPr lang="ja-JP" altLang="en-US" dirty="0"/>
              <a:t>確かそのときはメモリアクセスの全パターン</a:t>
            </a:r>
            <a:r>
              <a:rPr lang="en-US" altLang="ja-JP" dirty="0"/>
              <a:t>(</a:t>
            </a:r>
            <a:r>
              <a:rPr lang="ja-JP" altLang="en-US" dirty="0"/>
              <a:t>キャッシュ→</a:t>
            </a:r>
            <a:r>
              <a:rPr lang="en-US" altLang="ja-JP" dirty="0"/>
              <a:t>TLB→</a:t>
            </a:r>
            <a:r>
              <a:rPr lang="ja-JP" altLang="en-US" dirty="0"/>
              <a:t>ページテーブル、でいいんですかね</a:t>
            </a:r>
            <a:r>
              <a:rPr lang="en-US" altLang="ja-JP" dirty="0"/>
              <a:t>)</a:t>
            </a:r>
            <a:r>
              <a:rPr lang="ja-JP" altLang="en-US" dirty="0"/>
              <a:t>を書き出して勉強した記憶があります</a:t>
            </a:r>
          </a:p>
          <a:p>
            <a:endParaRPr kumimoji="1" lang="ja-JP" altLang="en-US" dirty="0"/>
          </a:p>
        </p:txBody>
      </p:sp>
    </p:spTree>
    <p:extLst>
      <p:ext uri="{BB962C8B-B14F-4D97-AF65-F5344CB8AC3E}">
        <p14:creationId xmlns:p14="http://schemas.microsoft.com/office/powerpoint/2010/main" val="24002441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FE545-41A0-CACB-31FF-0CC200274A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92552BA-F057-C7B1-34D6-89E6F7075B43}"/>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31C3A6FB-67BC-7017-DF57-B1A39E0C22D6}"/>
              </a:ext>
            </a:extLst>
          </p:cNvPr>
          <p:cNvSpPr>
            <a:spLocks noGrp="1"/>
          </p:cNvSpPr>
          <p:nvPr>
            <p:ph type="body" sz="quarter" idx="10"/>
          </p:nvPr>
        </p:nvSpPr>
        <p:spPr/>
        <p:txBody>
          <a:bodyPr/>
          <a:lstStyle/>
          <a:p>
            <a:r>
              <a:rPr lang="ja-JP" altLang="en-US" dirty="0"/>
              <a:t>ソフトウェアによる対策が開発された後にもハードウェアによる</a:t>
            </a:r>
            <a:r>
              <a:rPr lang="en-US" altLang="ja-JP" dirty="0" err="1"/>
              <a:t>Spectre</a:t>
            </a:r>
            <a:r>
              <a:rPr lang="ja-JP" altLang="en-US" dirty="0"/>
              <a:t>の対策が研究されているのは、やはり前者ではオーバーヘッドが大きいためなのか、およびハードウェアによる対策への期待感が実際のところどの程度なのかが気になりました。</a:t>
            </a:r>
          </a:p>
          <a:p>
            <a:endParaRPr kumimoji="1" lang="ja-JP" altLang="en-US" dirty="0"/>
          </a:p>
        </p:txBody>
      </p:sp>
    </p:spTree>
    <p:extLst>
      <p:ext uri="{BB962C8B-B14F-4D97-AF65-F5344CB8AC3E}">
        <p14:creationId xmlns:p14="http://schemas.microsoft.com/office/powerpoint/2010/main" val="22498466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20F22-BE6B-E64E-3896-5E99DA577C2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FEE95E0-3664-064F-A607-13736ADE4FD3}"/>
              </a:ext>
            </a:extLst>
          </p:cNvPr>
          <p:cNvSpPr>
            <a:spLocks noGrp="1"/>
          </p:cNvSpPr>
          <p:nvPr>
            <p:ph type="title"/>
          </p:nvPr>
        </p:nvSpPr>
        <p:spPr/>
        <p:txBody>
          <a:bodyPr/>
          <a:lstStyle/>
          <a:p>
            <a:r>
              <a:rPr kumimoji="1" lang="ja-JP" altLang="en-US" dirty="0"/>
              <a:t>質問や感想</a:t>
            </a:r>
          </a:p>
        </p:txBody>
      </p:sp>
      <p:sp>
        <p:nvSpPr>
          <p:cNvPr id="3" name="テキスト プレースホルダー 2">
            <a:extLst>
              <a:ext uri="{FF2B5EF4-FFF2-40B4-BE49-F238E27FC236}">
                <a16:creationId xmlns:a16="http://schemas.microsoft.com/office/drawing/2014/main" id="{A134987B-D286-493C-F4D8-3AF739D7FB0D}"/>
              </a:ext>
            </a:extLst>
          </p:cNvPr>
          <p:cNvSpPr>
            <a:spLocks noGrp="1"/>
          </p:cNvSpPr>
          <p:nvPr>
            <p:ph type="body" sz="quarter" idx="10"/>
          </p:nvPr>
        </p:nvSpPr>
        <p:spPr/>
        <p:txBody>
          <a:bodyPr/>
          <a:lstStyle/>
          <a:p>
            <a:r>
              <a:rPr lang="ja-JP" altLang="en-US" dirty="0"/>
              <a:t>あと、</a:t>
            </a:r>
            <a:r>
              <a:rPr lang="en-US" altLang="ja-JP" dirty="0" err="1"/>
              <a:t>spectre</a:t>
            </a:r>
            <a:r>
              <a:rPr lang="en-US" altLang="ja-JP" dirty="0"/>
              <a:t> </a:t>
            </a:r>
            <a:r>
              <a:rPr lang="ja-JP" altLang="en-US" dirty="0"/>
              <a:t>という命名（直訳すると幽霊？）については、</a:t>
            </a:r>
            <a:r>
              <a:rPr lang="en-US" altLang="ja-JP" dirty="0"/>
              <a:t>007</a:t>
            </a:r>
            <a:r>
              <a:rPr lang="ja-JP" altLang="en-US" dirty="0"/>
              <a:t>シリーズファンとしては（映画内では、ジェームズボンドの天敵として再三登場する影の悪の組織みたいな存在です）通ずるものを感じ、親近感が湧いています。きっとマイクロアーキテクチャの研究者に取ってはそういう存在なんでしょうか。</a:t>
            </a:r>
            <a:endParaRPr kumimoji="1" lang="ja-JP" altLang="en-US" dirty="0"/>
          </a:p>
        </p:txBody>
      </p:sp>
    </p:spTree>
    <p:extLst>
      <p:ext uri="{BB962C8B-B14F-4D97-AF65-F5344CB8AC3E}">
        <p14:creationId xmlns:p14="http://schemas.microsoft.com/office/powerpoint/2010/main" val="9669294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erulean">
  <a:themeElements>
    <a:clrScheme name="ユーザー定義 3">
      <a:dk1>
        <a:sysClr val="windowText" lastClr="000000"/>
      </a:dk1>
      <a:lt1>
        <a:sysClr val="window" lastClr="FFFFFF"/>
      </a:lt1>
      <a:dk2>
        <a:srgbClr val="F4EB00"/>
      </a:dk2>
      <a:lt2>
        <a:srgbClr val="C4FF4A"/>
      </a:lt2>
      <a:accent1>
        <a:srgbClr val="5782B5"/>
      </a:accent1>
      <a:accent2>
        <a:srgbClr val="B65A58"/>
      </a:accent2>
      <a:accent3>
        <a:srgbClr val="81945C"/>
      </a:accent3>
      <a:accent4>
        <a:srgbClr val="5C6994"/>
      </a:accent4>
      <a:accent5>
        <a:srgbClr val="4E8EA2"/>
      </a:accent5>
      <a:accent6>
        <a:srgbClr val="C77D63"/>
      </a:accent6>
      <a:hlink>
        <a:srgbClr val="3A3AC6"/>
      </a:hlink>
      <a:folHlink>
        <a:srgbClr val="631D63"/>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aco-shioya-09</Template>
  <TotalTime>65616</TotalTime>
  <Words>10795</Words>
  <Application>Microsoft Office PowerPoint</Application>
  <PresentationFormat>ワイド画面</PresentationFormat>
  <Paragraphs>1595</Paragraphs>
  <Slides>115</Slides>
  <Notes>15</Notes>
  <HiddenSlides>0</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115</vt:i4>
      </vt:variant>
    </vt:vector>
  </HeadingPairs>
  <TitlesOfParts>
    <vt:vector size="128" baseType="lpstr">
      <vt:lpstr>HG丸ｺﾞｼｯｸM-PRO</vt:lpstr>
      <vt:lpstr>MeiryoKe_PGothic</vt:lpstr>
      <vt:lpstr>ＭＳ Ｐゴシック</vt:lpstr>
      <vt:lpstr>メイリオ</vt:lpstr>
      <vt:lpstr>Arial Narrow</vt:lpstr>
      <vt:lpstr>Calibri</vt:lpstr>
      <vt:lpstr>Cambria Math</vt:lpstr>
      <vt:lpstr>Consolas</vt:lpstr>
      <vt:lpstr>Courier New</vt:lpstr>
      <vt:lpstr>Segoe UI</vt:lpstr>
      <vt:lpstr>Verdana</vt:lpstr>
      <vt:lpstr>Wingdings</vt:lpstr>
      <vt:lpstr>cerulean</vt:lpstr>
      <vt:lpstr>先進計算機構成論 12</vt:lpstr>
      <vt:lpstr>本日の話題：Graphics Processing Unit（GPU）</vt:lpstr>
      <vt:lpstr>目標</vt:lpstr>
      <vt:lpstr>もくじ</vt:lpstr>
      <vt:lpstr>これまでの振り返りとエネルギー効率の定義</vt:lpstr>
      <vt:lpstr>CPU の動作は料理に似ている（第１回）</vt:lpstr>
      <vt:lpstr>命令パイプライン（第３回）</vt:lpstr>
      <vt:lpstr>CMOS 回路におけるスイッチングの消費エネルギー（第２回）</vt:lpstr>
      <vt:lpstr>これも水流で考える</vt:lpstr>
      <vt:lpstr>振り返りからわかること</vt:lpstr>
      <vt:lpstr>CPU や GPU などの「エネルギー効率」とは 牧野先生の Principles of High-Performance Processor Design より</vt:lpstr>
      <vt:lpstr>カレー屋さんパイプラインで考える</vt:lpstr>
      <vt:lpstr>GPU のアーキテクチャ</vt:lpstr>
      <vt:lpstr>GPU が対象とする処理</vt:lpstr>
      <vt:lpstr>並列処理できる部分が自明なループの例</vt:lpstr>
      <vt:lpstr>対象とする処理の違い</vt:lpstr>
      <vt:lpstr>単一の連続した処理=１つのカレーを速く作る場合</vt:lpstr>
      <vt:lpstr>大量の単純な処理の繰り返し = カレーをたくさん作る場合</vt:lpstr>
      <vt:lpstr>ループのマルチスレッド化による並列実行</vt:lpstr>
      <vt:lpstr>マルチスレッド化による並列実行</vt:lpstr>
      <vt:lpstr>マルチコアとの違い：回路量あたりの性能の向上</vt:lpstr>
      <vt:lpstr>代表的な GPU のアーキテクチャ</vt:lpstr>
      <vt:lpstr>GPU の基本的な構造</vt:lpstr>
      <vt:lpstr>フリンの分類と SIMD </vt:lpstr>
      <vt:lpstr>フリンの分類 混乱したらこの図を見返そう</vt:lpstr>
      <vt:lpstr>SISD（Single Instruction stream/Single Data stream）</vt:lpstr>
      <vt:lpstr>SIMD（Single Instruction stream/Multiple Data stream）</vt:lpstr>
      <vt:lpstr>SIMD（Single Instruction stream/Multiple Data stream）</vt:lpstr>
      <vt:lpstr>MISD（Multiple Instruction stream/Single Data stream）</vt:lpstr>
      <vt:lpstr>MIMD（Multiple Instruction stream/Multiple Data stream）</vt:lpstr>
      <vt:lpstr>フリンの分類と実際</vt:lpstr>
      <vt:lpstr>余談：SIMD の発音</vt:lpstr>
      <vt:lpstr>もくじ</vt:lpstr>
      <vt:lpstr>回路量当たりの性能の背景：演算器と制御部</vt:lpstr>
      <vt:lpstr>またカレー屋さんで考えていく</vt:lpstr>
      <vt:lpstr>GPU における回路量あたりの性能向上</vt:lpstr>
      <vt:lpstr>SIMD では複数の演算器間で制御部を共有できる</vt:lpstr>
      <vt:lpstr>SIMD は同じ回路量で高い性能を実現できる</vt:lpstr>
      <vt:lpstr>GPU における回路量あたりの性能向上</vt:lpstr>
      <vt:lpstr>GPU では制御部自体を簡素化</vt:lpstr>
      <vt:lpstr>仕事の割り振りは超大変</vt:lpstr>
      <vt:lpstr>AMD Bulldozer のコア部分に占める演算器部分 チップ写真は https://en.wikichip.org/wiki/File:Bulldozer_Die_Shot.jpg より</vt:lpstr>
      <vt:lpstr>Apple A18/M4 CPU の場合 Cardyak’s Microarchitecture Cheat Sheet より https://docs.google.com/spreadsheets/d/18ln8SKIGRK5_6NymgdB9oLbTJCFwx0iFI-vUs6WFyuE/edit?gid=1076260513#gid=1076260513</vt:lpstr>
      <vt:lpstr>NVIDIA GPU の場合 Rodrigo Huerta et al., Dissecting and Modeling the Architecture  of Modern GPU Cores より https://dl.acm.org/doi/10.1145/3725843.3756041</vt:lpstr>
      <vt:lpstr>GPU における回路量当たりの性能向上</vt:lpstr>
      <vt:lpstr>補足：データの供給について</vt:lpstr>
      <vt:lpstr>もくじ</vt:lpstr>
      <vt:lpstr>プログラミング・モデル</vt:lpstr>
      <vt:lpstr>ハードウェア方式とプログラミング・モデル</vt:lpstr>
      <vt:lpstr>もくじ</vt:lpstr>
      <vt:lpstr>用語の定義</vt:lpstr>
      <vt:lpstr>SIMD 命令：複数のデータを対象に同時に演算を行う</vt:lpstr>
      <vt:lpstr>SIMD 命令を使う方法</vt:lpstr>
      <vt:lpstr>（余談）組み込み関数（intrinsic）</vt:lpstr>
      <vt:lpstr>（余談）組み込み関数の使用例</vt:lpstr>
      <vt:lpstr>カレー屋さんの場合の SIMD 命令や組み込み関数</vt:lpstr>
      <vt:lpstr>２つのプログラミング・モデル</vt:lpstr>
      <vt:lpstr>SIMD 命令と SPMD</vt:lpstr>
      <vt:lpstr>SPMD による並列化の例</vt:lpstr>
      <vt:lpstr>SPMD で書かれたプログラムの実行</vt:lpstr>
      <vt:lpstr>カレー屋さんの SIMT</vt:lpstr>
      <vt:lpstr>SIMT の構造</vt:lpstr>
      <vt:lpstr>GPU におけるソフトとハードの関係 図は Caroline Collange “GPU architecture part 2: SIMT control flow management” より</vt:lpstr>
      <vt:lpstr>カレー屋さんにおける SIMD 命令と SIMT</vt:lpstr>
      <vt:lpstr>SIMT の利点と問題点</vt:lpstr>
      <vt:lpstr>問題１：スレッド間で違う方向に分岐すると実行速度が落ちる  （Branch divergence）</vt:lpstr>
      <vt:lpstr>カレー屋さんにおける branch divergence </vt:lpstr>
      <vt:lpstr>問題２ 水平方向の演算が自然には表現できない</vt:lpstr>
      <vt:lpstr>カレー屋さんにおける 水平演算</vt:lpstr>
      <vt:lpstr>SIMD 命令と SIMT のまとめ</vt:lpstr>
      <vt:lpstr>GPU のアーキテクチャのまとめ</vt:lpstr>
      <vt:lpstr>アクセラレータについて</vt:lpstr>
      <vt:lpstr>アクセラレータや GPU は何故 CPU より速いのか？</vt:lpstr>
      <vt:lpstr>行列積アクセラレータの場合</vt:lpstr>
      <vt:lpstr>カレー屋さんの場合：キッチン台に毎回戻すのが無駄</vt:lpstr>
      <vt:lpstr>カレー屋さんの場合：戻さず流れ作業に</vt:lpstr>
      <vt:lpstr>カレー屋さんの場合</vt:lpstr>
      <vt:lpstr>行列積の場合：シストリックアレイ</vt:lpstr>
      <vt:lpstr>行列積の場合：シストリックアレイ</vt:lpstr>
      <vt:lpstr>Tensor Core (NVIDIA Ampere と Hopper のもの) https://www.nvidia.com/ja-jp/data-center/tensor-cores/  より</vt:lpstr>
      <vt:lpstr>Google TPU v1 の構造 Norman P. Jouppi et al., In-Datacenter Performance Analysis of a Tensor Processing Unit (ISCA 2017)より</vt:lpstr>
      <vt:lpstr>META (旧 Facebook) MTIA v2 の構造  Joel Coburn et al. Meta’s Second Generation AI Chip: Model-Chip Co-Design and Productionization Experiences (ISCA 2025) より</vt:lpstr>
      <vt:lpstr>アクセラレータのまとめ</vt:lpstr>
      <vt:lpstr>まとめ</vt:lpstr>
      <vt:lpstr>まとめ：カレー屋さんと GPU</vt:lpstr>
      <vt:lpstr>まとめ：GPU と CPU の違い</vt:lpstr>
      <vt:lpstr>補足：GPU についての他所の講義資料について</vt:lpstr>
      <vt:lpstr>付録</vt:lpstr>
      <vt:lpstr>補足：本日触れなかった GPU に関する話題</vt:lpstr>
      <vt:lpstr>バックエッジに対する対処</vt:lpstr>
      <vt:lpstr>CPU のバックエッジ：逆方向（右から左）</vt:lpstr>
      <vt:lpstr>分岐予測</vt:lpstr>
      <vt:lpstr>マルチスレッドによる解決</vt:lpstr>
      <vt:lpstr>フォワーディング</vt:lpstr>
      <vt:lpstr>マルチスレッドによる解決</vt:lpstr>
      <vt:lpstr>今回触れなかった部分の補足</vt:lpstr>
      <vt:lpstr>カレー屋さんのコストカット</vt:lpstr>
      <vt:lpstr>出欠と感想</vt:lpstr>
      <vt:lpstr>出席</vt:lpstr>
      <vt:lpstr>課題について</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lpstr>質問や感想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shioya</dc:creator>
  <cp:lastModifiedBy>塩谷　亮太</cp:lastModifiedBy>
  <cp:revision>16333</cp:revision>
  <cp:lastPrinted>2014-12-10T13:40:48Z</cp:lastPrinted>
  <dcterms:created xsi:type="dcterms:W3CDTF">2014-11-17T10:53:59Z</dcterms:created>
  <dcterms:modified xsi:type="dcterms:W3CDTF">2026-07-28T01:07:59Z</dcterms:modified>
</cp:coreProperties>
</file>