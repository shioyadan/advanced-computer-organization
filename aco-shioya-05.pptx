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1"/>
  </p:sldMasterIdLst>
  <p:notesMasterIdLst>
    <p:notesMasterId r:id="rId106"/>
  </p:notesMasterIdLst>
  <p:sldIdLst>
    <p:sldId id="440" r:id="rId2"/>
    <p:sldId id="512" r:id="rId3"/>
    <p:sldId id="513" r:id="rId4"/>
    <p:sldId id="612" r:id="rId5"/>
    <p:sldId id="516" r:id="rId6"/>
    <p:sldId id="517" r:id="rId7"/>
    <p:sldId id="518" r:id="rId8"/>
    <p:sldId id="674" r:id="rId9"/>
    <p:sldId id="675" r:id="rId10"/>
    <p:sldId id="676" r:id="rId11"/>
    <p:sldId id="521" r:id="rId12"/>
    <p:sldId id="522" r:id="rId13"/>
    <p:sldId id="523" r:id="rId14"/>
    <p:sldId id="524" r:id="rId15"/>
    <p:sldId id="525" r:id="rId16"/>
    <p:sldId id="526" r:id="rId17"/>
    <p:sldId id="527" r:id="rId18"/>
    <p:sldId id="528" r:id="rId19"/>
    <p:sldId id="529" r:id="rId20"/>
    <p:sldId id="530" r:id="rId21"/>
    <p:sldId id="531" r:id="rId22"/>
    <p:sldId id="532" r:id="rId23"/>
    <p:sldId id="535" r:id="rId24"/>
    <p:sldId id="534" r:id="rId25"/>
    <p:sldId id="536" r:id="rId26"/>
    <p:sldId id="537" r:id="rId27"/>
    <p:sldId id="539" r:id="rId28"/>
    <p:sldId id="538" r:id="rId29"/>
    <p:sldId id="540" r:id="rId30"/>
    <p:sldId id="541" r:id="rId31"/>
    <p:sldId id="542" r:id="rId32"/>
    <p:sldId id="533" r:id="rId33"/>
    <p:sldId id="548" r:id="rId34"/>
    <p:sldId id="543" r:id="rId35"/>
    <p:sldId id="546" r:id="rId36"/>
    <p:sldId id="547" r:id="rId37"/>
    <p:sldId id="544" r:id="rId38"/>
    <p:sldId id="677" r:id="rId39"/>
    <p:sldId id="613" r:id="rId40"/>
    <p:sldId id="554" r:id="rId41"/>
    <p:sldId id="555" r:id="rId42"/>
    <p:sldId id="553" r:id="rId43"/>
    <p:sldId id="552" r:id="rId44"/>
    <p:sldId id="551" r:id="rId45"/>
    <p:sldId id="556" r:id="rId46"/>
    <p:sldId id="557" r:id="rId47"/>
    <p:sldId id="550" r:id="rId48"/>
    <p:sldId id="559" r:id="rId49"/>
    <p:sldId id="560" r:id="rId50"/>
    <p:sldId id="561" r:id="rId51"/>
    <p:sldId id="562" r:id="rId52"/>
    <p:sldId id="678" r:id="rId53"/>
    <p:sldId id="563" r:id="rId54"/>
    <p:sldId id="685" r:id="rId55"/>
    <p:sldId id="686" r:id="rId56"/>
    <p:sldId id="687" r:id="rId57"/>
    <p:sldId id="688" r:id="rId58"/>
    <p:sldId id="689" r:id="rId59"/>
    <p:sldId id="690" r:id="rId60"/>
    <p:sldId id="572" r:id="rId61"/>
    <p:sldId id="573" r:id="rId62"/>
    <p:sldId id="574" r:id="rId63"/>
    <p:sldId id="575" r:id="rId64"/>
    <p:sldId id="576" r:id="rId65"/>
    <p:sldId id="577" r:id="rId66"/>
    <p:sldId id="568" r:id="rId67"/>
    <p:sldId id="589" r:id="rId68"/>
    <p:sldId id="582" r:id="rId69"/>
    <p:sldId id="583" r:id="rId70"/>
    <p:sldId id="586" r:id="rId71"/>
    <p:sldId id="584" r:id="rId72"/>
    <p:sldId id="587" r:id="rId73"/>
    <p:sldId id="588" r:id="rId74"/>
    <p:sldId id="585" r:id="rId75"/>
    <p:sldId id="591" r:id="rId76"/>
    <p:sldId id="590" r:id="rId77"/>
    <p:sldId id="592" r:id="rId78"/>
    <p:sldId id="593" r:id="rId79"/>
    <p:sldId id="565" r:id="rId80"/>
    <p:sldId id="854" r:id="rId81"/>
    <p:sldId id="855" r:id="rId82"/>
    <p:sldId id="639" r:id="rId83"/>
    <p:sldId id="648" r:id="rId84"/>
    <p:sldId id="856" r:id="rId85"/>
    <p:sldId id="857" r:id="rId86"/>
    <p:sldId id="858" r:id="rId87"/>
    <p:sldId id="859" r:id="rId88"/>
    <p:sldId id="860" r:id="rId89"/>
    <p:sldId id="861" r:id="rId90"/>
    <p:sldId id="862" r:id="rId91"/>
    <p:sldId id="863" r:id="rId92"/>
    <p:sldId id="864" r:id="rId93"/>
    <p:sldId id="865" r:id="rId94"/>
    <p:sldId id="866" r:id="rId95"/>
    <p:sldId id="867" r:id="rId96"/>
    <p:sldId id="868" r:id="rId97"/>
    <p:sldId id="869" r:id="rId98"/>
    <p:sldId id="870" r:id="rId99"/>
    <p:sldId id="871" r:id="rId100"/>
    <p:sldId id="880" r:id="rId101"/>
    <p:sldId id="881" r:id="rId102"/>
    <p:sldId id="872" r:id="rId103"/>
    <p:sldId id="873" r:id="rId104"/>
    <p:sldId id="874" r:id="rId10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33FF"/>
    <a:srgbClr val="FF9900"/>
    <a:srgbClr val="009999"/>
    <a:srgbClr val="4E4EF6"/>
    <a:srgbClr val="006699"/>
    <a:srgbClr val="FFFFFF"/>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0" autoAdjust="0"/>
    <p:restoredTop sz="96862" autoAdjust="0"/>
  </p:normalViewPr>
  <p:slideViewPr>
    <p:cSldViewPr>
      <p:cViewPr varScale="1">
        <p:scale>
          <a:sx n="143" d="100"/>
          <a:sy n="143" d="100"/>
        </p:scale>
        <p:origin x="116" y="48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2026/6/1</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13</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942212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14</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650384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15</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1851806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16</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2949822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17</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3353816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30</a:t>
            </a:fld>
            <a:endParaRPr kumimoji="1" lang="ja-JP" altLang="en-US"/>
          </a:p>
        </p:txBody>
      </p:sp>
    </p:spTree>
    <p:extLst>
      <p:ext uri="{BB962C8B-B14F-4D97-AF65-F5344CB8AC3E}">
        <p14:creationId xmlns:p14="http://schemas.microsoft.com/office/powerpoint/2010/main" val="3632998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31</a:t>
            </a:fld>
            <a:endParaRPr kumimoji="1" lang="ja-JP" altLang="en-US"/>
          </a:p>
        </p:txBody>
      </p:sp>
    </p:spTree>
    <p:extLst>
      <p:ext uri="{BB962C8B-B14F-4D97-AF65-F5344CB8AC3E}">
        <p14:creationId xmlns:p14="http://schemas.microsoft.com/office/powerpoint/2010/main" val="2960246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44</a:t>
            </a:fld>
            <a:endParaRPr kumimoji="1" lang="ja-JP" altLang="en-US"/>
          </a:p>
        </p:txBody>
      </p:sp>
    </p:spTree>
    <p:extLst>
      <p:ext uri="{BB962C8B-B14F-4D97-AF65-F5344CB8AC3E}">
        <p14:creationId xmlns:p14="http://schemas.microsoft.com/office/powerpoint/2010/main" val="666697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45</a:t>
            </a:fld>
            <a:endParaRPr kumimoji="1" lang="ja-JP" altLang="en-US"/>
          </a:p>
        </p:txBody>
      </p:sp>
    </p:spTree>
    <p:extLst>
      <p:ext uri="{BB962C8B-B14F-4D97-AF65-F5344CB8AC3E}">
        <p14:creationId xmlns:p14="http://schemas.microsoft.com/office/powerpoint/2010/main" val="1759919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63</a:t>
            </a:fld>
            <a:endParaRPr kumimoji="1" lang="ja-JP" altLang="en-US"/>
          </a:p>
        </p:txBody>
      </p:sp>
    </p:spTree>
    <p:extLst>
      <p:ext uri="{BB962C8B-B14F-4D97-AF65-F5344CB8AC3E}">
        <p14:creationId xmlns:p14="http://schemas.microsoft.com/office/powerpoint/2010/main" val="1462837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7F3D3427-5051-5379-015F-3E42D5A44B63}"/>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9" name="直線コネクタ 8">
            <a:extLst>
              <a:ext uri="{FF2B5EF4-FFF2-40B4-BE49-F238E27FC236}">
                <a16:creationId xmlns:a16="http://schemas.microsoft.com/office/drawing/2014/main" id="{AED9C875-ACB9-9A82-3D2E-F8FE4B2ACA89}"/>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3BFBD119-9076-BF7C-BD08-925CA913FF2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1" name="直線コネクタ 10">
            <a:extLst>
              <a:ext uri="{FF2B5EF4-FFF2-40B4-BE49-F238E27FC236}">
                <a16:creationId xmlns:a16="http://schemas.microsoft.com/office/drawing/2014/main" id="{DD8AB707-DF2C-A333-49BD-B518A1D16921}"/>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2" name="正方形/長方形 11">
            <a:extLst>
              <a:ext uri="{FF2B5EF4-FFF2-40B4-BE49-F238E27FC236}">
                <a16:creationId xmlns:a16="http://schemas.microsoft.com/office/drawing/2014/main" id="{F35DEA87-3111-62FA-4EC7-0AD84F069EAF}"/>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3" name="直線コネクタ 12">
            <a:extLst>
              <a:ext uri="{FF2B5EF4-FFF2-40B4-BE49-F238E27FC236}">
                <a16:creationId xmlns:a16="http://schemas.microsoft.com/office/drawing/2014/main" id="{85E03A68-7ED4-41E0-532F-2B44665BCBCA}"/>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2068498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4" name="Rectangle 20">
            <a:extLst>
              <a:ext uri="{FF2B5EF4-FFF2-40B4-BE49-F238E27FC236}">
                <a16:creationId xmlns:a16="http://schemas.microsoft.com/office/drawing/2014/main" id="{09277AEF-3306-EB14-319D-C9936A20E39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7" name="Rectangle 20">
            <a:extLst>
              <a:ext uri="{FF2B5EF4-FFF2-40B4-BE49-F238E27FC236}">
                <a16:creationId xmlns:a16="http://schemas.microsoft.com/office/drawing/2014/main" id="{5F8EB56A-100F-AF7A-C776-9434171D2CF6}"/>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9" name="Rectangle 20">
            <a:extLst>
              <a:ext uri="{FF2B5EF4-FFF2-40B4-BE49-F238E27FC236}">
                <a16:creationId xmlns:a16="http://schemas.microsoft.com/office/drawing/2014/main" id="{21464E23-801D-B360-03E1-8AB3FB913351}"/>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4201609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773214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896574947"/>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2D5F1A73-A3EB-E252-17CF-30B89F3C7AE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95778E54-A5E7-1B8D-DD56-A347FE5638C8}"/>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8" name="正方形/長方形 7">
            <a:extLst>
              <a:ext uri="{FF2B5EF4-FFF2-40B4-BE49-F238E27FC236}">
                <a16:creationId xmlns:a16="http://schemas.microsoft.com/office/drawing/2014/main" id="{0CA006FA-2EAF-700F-1F1E-1AD9A8AD1F46}"/>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239174819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s://docs.google.com/spreadsheets/d/1Sufjhmcvn4_wInaJ3sAv3Qf47gH4Q1Ku_dlsfGvo3B4/edit?usp=drive_link"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dirty="0"/>
              <a:t>先進計算機構成論 </a:t>
            </a:r>
            <a:r>
              <a:rPr lang="en-US" altLang="ja-JP" sz="2800" dirty="0"/>
              <a:t>05</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前回の内容</a:t>
            </a:r>
          </a:p>
        </p:txBody>
      </p:sp>
      <p:sp>
        <p:nvSpPr>
          <p:cNvPr id="3" name="テキスト プレースホルダー 2"/>
          <p:cNvSpPr>
            <a:spLocks noGrp="1"/>
          </p:cNvSpPr>
          <p:nvPr>
            <p:ph type="body" sz="quarter" idx="10"/>
          </p:nvPr>
        </p:nvSpPr>
        <p:spPr/>
        <p:txBody>
          <a:bodyPr/>
          <a:lstStyle/>
          <a:p>
            <a:r>
              <a:rPr lang="ja-JP" altLang="en-US" dirty="0"/>
              <a:t>パイプライン</a:t>
            </a:r>
            <a:endParaRPr lang="en-US" altLang="ja-JP" dirty="0"/>
          </a:p>
          <a:p>
            <a:r>
              <a:rPr lang="ja-JP" altLang="en-US" dirty="0"/>
              <a:t>各種のハザードと解消方法</a:t>
            </a:r>
            <a:endParaRPr lang="en-US" altLang="ja-JP" dirty="0"/>
          </a:p>
          <a:p>
            <a:pPr lvl="1"/>
            <a:r>
              <a:rPr lang="ja-JP" altLang="en-US" dirty="0"/>
              <a:t>構造ハザード</a:t>
            </a:r>
            <a:endParaRPr lang="en-US" altLang="ja-JP" dirty="0"/>
          </a:p>
          <a:p>
            <a:pPr lvl="1"/>
            <a:r>
              <a:rPr lang="ja-JP" altLang="en-US" dirty="0"/>
              <a:t>非構造ハザード</a:t>
            </a:r>
            <a:endParaRPr lang="en-US" altLang="ja-JP" dirty="0"/>
          </a:p>
          <a:p>
            <a:pPr lvl="2"/>
            <a:r>
              <a:rPr lang="ja-JP" altLang="en-US" dirty="0"/>
              <a:t>データ・ハザード</a:t>
            </a:r>
            <a:endParaRPr lang="en-US" altLang="ja-JP" dirty="0"/>
          </a:p>
          <a:p>
            <a:pPr lvl="2"/>
            <a:r>
              <a:rPr lang="ja-JP" altLang="en-US" dirty="0"/>
              <a:t>制御ハザード</a:t>
            </a:r>
            <a:endParaRPr lang="en-US" altLang="ja-JP" dirty="0"/>
          </a:p>
        </p:txBody>
      </p:sp>
    </p:spTree>
    <p:extLst>
      <p:ext uri="{BB962C8B-B14F-4D97-AF65-F5344CB8AC3E}">
        <p14:creationId xmlns:p14="http://schemas.microsoft.com/office/powerpoint/2010/main" val="185169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命令パイプラインと性能</a:t>
            </a:r>
            <a:endParaRPr kumimoji="1" lang="en-US" altLang="ja-JP" dirty="0"/>
          </a:p>
          <a:p>
            <a:pPr marL="457200" indent="-457200">
              <a:buFont typeface="+mj-lt"/>
              <a:buAutoNum type="arabicPeriod"/>
            </a:pPr>
            <a:r>
              <a:rPr kumimoji="1" lang="ja-JP" altLang="en-US" dirty="0"/>
              <a:t>分岐予測の基本</a:t>
            </a:r>
            <a:endParaRPr kumimoji="1" lang="en-US" altLang="ja-JP" dirty="0"/>
          </a:p>
        </p:txBody>
      </p:sp>
    </p:spTree>
    <p:extLst>
      <p:ext uri="{BB962C8B-B14F-4D97-AF65-F5344CB8AC3E}">
        <p14:creationId xmlns:p14="http://schemas.microsoft.com/office/powerpoint/2010/main" val="4290881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F6C3DF1-F9EC-B285-2E83-D56AE7F0639E}"/>
              </a:ext>
            </a:extLst>
          </p:cNvPr>
          <p:cNvSpPr>
            <a:spLocks noGrp="1"/>
          </p:cNvSpPr>
          <p:nvPr>
            <p:ph type="title"/>
          </p:nvPr>
        </p:nvSpPr>
        <p:spPr/>
        <p:txBody>
          <a:bodyPr/>
          <a:lstStyle/>
          <a:p>
            <a:r>
              <a:rPr kumimoji="1" lang="ja-JP" altLang="en-US" b="1" dirty="0"/>
              <a:t>命令パイプラインと性能</a:t>
            </a:r>
            <a:endParaRPr kumimoji="1" lang="en-US" altLang="ja-JP" b="1" dirty="0"/>
          </a:p>
        </p:txBody>
      </p:sp>
    </p:spTree>
    <p:extLst>
      <p:ext uri="{BB962C8B-B14F-4D97-AF65-F5344CB8AC3E}">
        <p14:creationId xmlns:p14="http://schemas.microsoft.com/office/powerpoint/2010/main" val="2650633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7" name="直線コネクタ 126"/>
          <p:cNvCxnSpPr/>
          <p:nvPr/>
        </p:nvCxnSpPr>
        <p:spPr bwMode="auto">
          <a:xfrm>
            <a:off x="2045955" y="216898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パイプライン化によるスループット向上</a:t>
            </a:r>
            <a:endParaRPr kumimoji="1" lang="ja-JP" altLang="en-US" dirty="0"/>
          </a:p>
        </p:txBody>
      </p:sp>
      <p:cxnSp>
        <p:nvCxnSpPr>
          <p:cNvPr id="96" name="直線矢印コネクタ 95"/>
          <p:cNvCxnSpPr/>
          <p:nvPr/>
        </p:nvCxnSpPr>
        <p:spPr bwMode="auto">
          <a:xfrm>
            <a:off x="2225958" y="1628980"/>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2135957" y="4599013"/>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57"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27963" y="4166749"/>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sp>
        <p:nvSpPr>
          <p:cNvPr id="128" name="角丸四角形 127"/>
          <p:cNvSpPr/>
          <p:nvPr/>
        </p:nvSpPr>
        <p:spPr bwMode="auto">
          <a:xfrm>
            <a:off x="1671471" y="2024826"/>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endCxn id="169" idx="1"/>
          </p:cNvCxnSpPr>
          <p:nvPr/>
        </p:nvCxnSpPr>
        <p:spPr bwMode="auto">
          <a:xfrm flipV="1">
            <a:off x="2045956"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671471" y="2744834"/>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2045956" y="3519001"/>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671471" y="3374841"/>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2060435" y="4923175"/>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85951" y="4779015"/>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85951" y="5499023"/>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85951" y="6129030"/>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endCxn id="150" idx="1"/>
          </p:cNvCxnSpPr>
          <p:nvPr/>
        </p:nvCxnSpPr>
        <p:spPr bwMode="auto">
          <a:xfrm>
            <a:off x="2135956" y="5679025"/>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stCxn id="139" idx="3"/>
            <a:endCxn id="157" idx="1"/>
          </p:cNvCxnSpPr>
          <p:nvPr/>
        </p:nvCxnSpPr>
        <p:spPr bwMode="auto">
          <a:xfrm flipV="1">
            <a:off x="2118251" y="6309030"/>
            <a:ext cx="1547722" cy="2"/>
          </a:xfrm>
          <a:prstGeom prst="line">
            <a:avLst/>
          </a:prstGeom>
          <a:noFill/>
          <a:ln w="9525" cap="flat" cmpd="sng" algn="ctr">
            <a:solidFill>
              <a:schemeClr val="tx1"/>
            </a:solidFill>
            <a:prstDash val="dash"/>
            <a:round/>
            <a:headEnd type="none" w="med" len="med"/>
            <a:tailEnd type="none" w="med" len="med"/>
          </a:ln>
          <a:effectLst/>
        </p:spPr>
      </p:cxnSp>
      <p:grpSp>
        <p:nvGrpSpPr>
          <p:cNvPr id="13" name="グループ化 12"/>
          <p:cNvGrpSpPr/>
          <p:nvPr/>
        </p:nvGrpSpPr>
        <p:grpSpPr>
          <a:xfrm>
            <a:off x="2765963" y="4779015"/>
            <a:ext cx="2160020" cy="360000"/>
            <a:chOff x="4481999" y="4959017"/>
            <a:chExt cx="2160020" cy="360000"/>
          </a:xfrm>
        </p:grpSpPr>
        <p:sp>
          <p:nvSpPr>
            <p:cNvPr id="142"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4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7"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8"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49" name="グループ化 148"/>
          <p:cNvGrpSpPr/>
          <p:nvPr/>
        </p:nvGrpSpPr>
        <p:grpSpPr>
          <a:xfrm>
            <a:off x="3215968" y="5499027"/>
            <a:ext cx="2160020" cy="360000"/>
            <a:chOff x="4481999" y="4959017"/>
            <a:chExt cx="2160020" cy="360000"/>
          </a:xfrm>
        </p:grpSpPr>
        <p:sp>
          <p:nvSpPr>
            <p:cNvPr id="15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54"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56" name="グループ化 155"/>
          <p:cNvGrpSpPr/>
          <p:nvPr/>
        </p:nvGrpSpPr>
        <p:grpSpPr>
          <a:xfrm>
            <a:off x="3665973" y="6129030"/>
            <a:ext cx="2160020" cy="360000"/>
            <a:chOff x="4481999" y="4959017"/>
            <a:chExt cx="2160020" cy="360000"/>
          </a:xfrm>
        </p:grpSpPr>
        <p:sp>
          <p:nvSpPr>
            <p:cNvPr id="157"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8"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9"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0"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1"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2" name="グループ化 161"/>
          <p:cNvGrpSpPr/>
          <p:nvPr/>
        </p:nvGrpSpPr>
        <p:grpSpPr>
          <a:xfrm>
            <a:off x="2765963" y="1988984"/>
            <a:ext cx="2160020" cy="360000"/>
            <a:chOff x="4481999" y="4959017"/>
            <a:chExt cx="2160020" cy="360000"/>
          </a:xfrm>
        </p:grpSpPr>
        <p:sp>
          <p:nvSpPr>
            <p:cNvPr id="163"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6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6"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7"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8" name="グループ化 167"/>
          <p:cNvGrpSpPr/>
          <p:nvPr/>
        </p:nvGrpSpPr>
        <p:grpSpPr>
          <a:xfrm>
            <a:off x="5015988" y="2708992"/>
            <a:ext cx="2160020" cy="360000"/>
            <a:chOff x="4481999" y="4959017"/>
            <a:chExt cx="2160020" cy="360000"/>
          </a:xfrm>
        </p:grpSpPr>
        <p:sp>
          <p:nvSpPr>
            <p:cNvPr id="16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11"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1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219" name="グループ化 218"/>
          <p:cNvGrpSpPr/>
          <p:nvPr/>
        </p:nvGrpSpPr>
        <p:grpSpPr>
          <a:xfrm>
            <a:off x="7266013" y="3338999"/>
            <a:ext cx="2160020" cy="360000"/>
            <a:chOff x="4481999" y="4959017"/>
            <a:chExt cx="2160020" cy="360000"/>
          </a:xfrm>
        </p:grpSpPr>
        <p:sp>
          <p:nvSpPr>
            <p:cNvPr id="22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23"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24"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spTree>
    <p:extLst>
      <p:ext uri="{BB962C8B-B14F-4D97-AF65-F5344CB8AC3E}">
        <p14:creationId xmlns:p14="http://schemas.microsoft.com/office/powerpoint/2010/main" val="1668365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パイプライン化の意味</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パイプライン化の効果：</a:t>
            </a:r>
            <a:endParaRPr lang="en-US" altLang="ja-JP" dirty="0"/>
          </a:p>
          <a:p>
            <a:pPr lvl="1"/>
            <a:r>
              <a:rPr kumimoji="1" lang="ja-JP" altLang="en-US" dirty="0"/>
              <a:t>スループットの向上</a:t>
            </a:r>
            <a:endParaRPr kumimoji="1" lang="en-US" altLang="ja-JP" dirty="0"/>
          </a:p>
          <a:p>
            <a:pPr lvl="1"/>
            <a:r>
              <a:rPr kumimoji="1" lang="en-US" altLang="ja-JP" dirty="0"/>
              <a:t>= </a:t>
            </a:r>
            <a:r>
              <a:rPr kumimoji="1" lang="ja-JP" altLang="en-US" dirty="0"/>
              <a:t>単位時間あたりに処理できる命令の数の増加</a:t>
            </a:r>
            <a:endParaRPr kumimoji="1" lang="en-US" altLang="ja-JP" dirty="0"/>
          </a:p>
          <a:p>
            <a:pPr lvl="1"/>
            <a:r>
              <a:rPr kumimoji="1" lang="en-US" altLang="ja-JP" dirty="0"/>
              <a:t>= </a:t>
            </a:r>
            <a:r>
              <a:rPr kumimoji="1" lang="ja-JP" altLang="en-US" dirty="0">
                <a:solidFill>
                  <a:schemeClr val="accent5"/>
                </a:solidFill>
              </a:rPr>
              <a:t>動作クロック周波数の向上</a:t>
            </a:r>
            <a:endParaRPr kumimoji="1" lang="en-US" altLang="ja-JP" dirty="0">
              <a:solidFill>
                <a:schemeClr val="accent5"/>
              </a:solidFill>
            </a:endParaRPr>
          </a:p>
        </p:txBody>
      </p:sp>
    </p:spTree>
    <p:extLst>
      <p:ext uri="{BB962C8B-B14F-4D97-AF65-F5344CB8AC3E}">
        <p14:creationId xmlns:p14="http://schemas.microsoft.com/office/powerpoint/2010/main" val="2926440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2" name="直線コネクタ 181"/>
          <p:cNvCxnSpPr/>
          <p:nvPr/>
        </p:nvCxnSpPr>
        <p:spPr bwMode="auto">
          <a:xfrm flipV="1">
            <a:off x="3665973" y="4239010"/>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21" name="直線コネクタ 20"/>
          <p:cNvCxnSpPr/>
          <p:nvPr/>
        </p:nvCxnSpPr>
        <p:spPr bwMode="auto">
          <a:xfrm flipV="1">
            <a:off x="2765963" y="1358978"/>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78" name="直線コネクタ 177"/>
          <p:cNvCxnSpPr/>
          <p:nvPr/>
        </p:nvCxnSpPr>
        <p:spPr bwMode="auto">
          <a:xfrm flipH="1" flipV="1">
            <a:off x="5015989" y="1358978"/>
            <a:ext cx="3771" cy="2250071"/>
          </a:xfrm>
          <a:prstGeom prst="line">
            <a:avLst/>
          </a:prstGeom>
          <a:noFill/>
          <a:ln w="9525" cap="flat" cmpd="sng" algn="ctr">
            <a:solidFill>
              <a:schemeClr val="tx1"/>
            </a:solidFill>
            <a:prstDash val="solid"/>
            <a:round/>
            <a:headEnd type="none" w="med" len="med"/>
            <a:tailEnd type="none" w="med" len="med"/>
          </a:ln>
          <a:effectLst/>
        </p:spPr>
      </p:cxnSp>
      <p:cxnSp>
        <p:nvCxnSpPr>
          <p:cNvPr id="179" name="直線コネクタ 178"/>
          <p:cNvCxnSpPr/>
          <p:nvPr/>
        </p:nvCxnSpPr>
        <p:spPr bwMode="auto">
          <a:xfrm flipV="1">
            <a:off x="7266013" y="1358978"/>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0" name="直線コネクタ 179"/>
          <p:cNvCxnSpPr/>
          <p:nvPr/>
        </p:nvCxnSpPr>
        <p:spPr bwMode="auto">
          <a:xfrm flipV="1">
            <a:off x="2765963" y="4239010"/>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1" name="直線コネクタ 180"/>
          <p:cNvCxnSpPr/>
          <p:nvPr/>
        </p:nvCxnSpPr>
        <p:spPr bwMode="auto">
          <a:xfrm flipH="1" flipV="1">
            <a:off x="3215969" y="4239010"/>
            <a:ext cx="3771" cy="2250071"/>
          </a:xfrm>
          <a:prstGeom prst="line">
            <a:avLst/>
          </a:prstGeom>
          <a:noFill/>
          <a:ln w="9525" cap="flat" cmpd="sng" algn="ctr">
            <a:solidFill>
              <a:schemeClr val="tx1"/>
            </a:solidFill>
            <a:prstDash val="solid"/>
            <a:round/>
            <a:headEnd type="none" w="med" len="med"/>
            <a:tailEnd type="none" w="med" len="med"/>
          </a:ln>
          <a:effectLst/>
        </p:spPr>
      </p:cxnSp>
      <p:cxnSp>
        <p:nvCxnSpPr>
          <p:cNvPr id="127" name="直線コネクタ 126"/>
          <p:cNvCxnSpPr/>
          <p:nvPr/>
        </p:nvCxnSpPr>
        <p:spPr bwMode="auto">
          <a:xfrm>
            <a:off x="2045955" y="2403147"/>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パイプライン化によるクロック周期の短縮</a:t>
            </a:r>
            <a:br>
              <a:rPr lang="en-US" altLang="ja-JP" dirty="0"/>
            </a:br>
            <a:r>
              <a:rPr lang="ja-JP" altLang="en-US" sz="2000" dirty="0"/>
              <a:t>クロックの立ち上がりごとに，１命令が処理</a:t>
            </a:r>
            <a:endParaRPr kumimoji="1" lang="ja-JP" altLang="en-US" dirty="0"/>
          </a:p>
        </p:txBody>
      </p:sp>
      <p:cxnSp>
        <p:nvCxnSpPr>
          <p:cNvPr id="96" name="直線矢印コネクタ 95"/>
          <p:cNvCxnSpPr/>
          <p:nvPr/>
        </p:nvCxnSpPr>
        <p:spPr bwMode="auto">
          <a:xfrm>
            <a:off x="2135957" y="1268976"/>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2135957" y="4149008"/>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045956" y="908972"/>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27963" y="3716744"/>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sp>
        <p:nvSpPr>
          <p:cNvPr id="128" name="角丸四角形 127"/>
          <p:cNvSpPr/>
          <p:nvPr/>
        </p:nvSpPr>
        <p:spPr bwMode="auto">
          <a:xfrm>
            <a:off x="1671471" y="2258987"/>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endCxn id="169" idx="1"/>
          </p:cNvCxnSpPr>
          <p:nvPr/>
        </p:nvCxnSpPr>
        <p:spPr bwMode="auto">
          <a:xfrm flipV="1">
            <a:off x="2045956"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671471" y="2744834"/>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2045956" y="3338999"/>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671471" y="3194839"/>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2060435" y="5373180"/>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85951" y="5229020"/>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85951" y="5679025"/>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85951" y="6129030"/>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endCxn id="150" idx="1"/>
          </p:cNvCxnSpPr>
          <p:nvPr/>
        </p:nvCxnSpPr>
        <p:spPr bwMode="auto">
          <a:xfrm>
            <a:off x="2135956" y="5859027"/>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stCxn id="139" idx="3"/>
            <a:endCxn id="157" idx="1"/>
          </p:cNvCxnSpPr>
          <p:nvPr/>
        </p:nvCxnSpPr>
        <p:spPr bwMode="auto">
          <a:xfrm flipV="1">
            <a:off x="2118251" y="6309030"/>
            <a:ext cx="1547722" cy="2"/>
          </a:xfrm>
          <a:prstGeom prst="line">
            <a:avLst/>
          </a:prstGeom>
          <a:noFill/>
          <a:ln w="9525" cap="flat" cmpd="sng" algn="ctr">
            <a:solidFill>
              <a:schemeClr val="tx1"/>
            </a:solidFill>
            <a:prstDash val="dash"/>
            <a:round/>
            <a:headEnd type="none" w="med" len="med"/>
            <a:tailEnd type="none" w="med" len="med"/>
          </a:ln>
          <a:effectLst/>
        </p:spPr>
      </p:cxnSp>
      <p:grpSp>
        <p:nvGrpSpPr>
          <p:cNvPr id="162" name="グループ化 161"/>
          <p:cNvGrpSpPr/>
          <p:nvPr/>
        </p:nvGrpSpPr>
        <p:grpSpPr>
          <a:xfrm>
            <a:off x="2765963" y="2223145"/>
            <a:ext cx="2160020" cy="360000"/>
            <a:chOff x="4481999" y="4959017"/>
            <a:chExt cx="2160020" cy="360000"/>
          </a:xfrm>
        </p:grpSpPr>
        <p:sp>
          <p:nvSpPr>
            <p:cNvPr id="163"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6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6"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7"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8" name="グループ化 167"/>
          <p:cNvGrpSpPr/>
          <p:nvPr/>
        </p:nvGrpSpPr>
        <p:grpSpPr>
          <a:xfrm>
            <a:off x="5015988" y="2708992"/>
            <a:ext cx="2160020" cy="360000"/>
            <a:chOff x="4481999" y="4959017"/>
            <a:chExt cx="2160020" cy="360000"/>
          </a:xfrm>
        </p:grpSpPr>
        <p:sp>
          <p:nvSpPr>
            <p:cNvPr id="16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11"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1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219" name="グループ化 218"/>
          <p:cNvGrpSpPr/>
          <p:nvPr/>
        </p:nvGrpSpPr>
        <p:grpSpPr>
          <a:xfrm>
            <a:off x="7266013" y="3158997"/>
            <a:ext cx="2160020" cy="360000"/>
            <a:chOff x="4481999" y="4959017"/>
            <a:chExt cx="2160020" cy="360000"/>
          </a:xfrm>
        </p:grpSpPr>
        <p:sp>
          <p:nvSpPr>
            <p:cNvPr id="22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23"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24"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cxnSp>
        <p:nvCxnSpPr>
          <p:cNvPr id="78" name="直線コネクタ 77"/>
          <p:cNvCxnSpPr/>
          <p:nvPr/>
        </p:nvCxnSpPr>
        <p:spPr bwMode="auto">
          <a:xfrm flipV="1">
            <a:off x="2765963"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79" name="直線コネクタ 78"/>
          <p:cNvCxnSpPr/>
          <p:nvPr/>
        </p:nvCxnSpPr>
        <p:spPr bwMode="auto">
          <a:xfrm flipH="1">
            <a:off x="2765965" y="1448978"/>
            <a:ext cx="1080011"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0" name="直線コネクタ 79"/>
          <p:cNvCxnSpPr/>
          <p:nvPr/>
        </p:nvCxnSpPr>
        <p:spPr bwMode="auto">
          <a:xfrm flipV="1">
            <a:off x="3845975"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1" name="直線コネクタ 80"/>
          <p:cNvCxnSpPr/>
          <p:nvPr/>
        </p:nvCxnSpPr>
        <p:spPr bwMode="auto">
          <a:xfrm flipH="1">
            <a:off x="3845976" y="1988984"/>
            <a:ext cx="1170013"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2" name="直線コネクタ 81"/>
          <p:cNvCxnSpPr/>
          <p:nvPr/>
        </p:nvCxnSpPr>
        <p:spPr bwMode="auto">
          <a:xfrm flipV="1">
            <a:off x="5015988"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3" name="直線コネクタ 82"/>
          <p:cNvCxnSpPr/>
          <p:nvPr/>
        </p:nvCxnSpPr>
        <p:spPr bwMode="auto">
          <a:xfrm flipH="1">
            <a:off x="5015990" y="1448978"/>
            <a:ext cx="1080011"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4" name="直線コネクタ 83"/>
          <p:cNvCxnSpPr/>
          <p:nvPr/>
        </p:nvCxnSpPr>
        <p:spPr bwMode="auto">
          <a:xfrm flipV="1">
            <a:off x="6096000"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5" name="直線コネクタ 84"/>
          <p:cNvCxnSpPr/>
          <p:nvPr/>
        </p:nvCxnSpPr>
        <p:spPr bwMode="auto">
          <a:xfrm flipH="1">
            <a:off x="6096001" y="1988984"/>
            <a:ext cx="1170013"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6" name="直線コネクタ 85"/>
          <p:cNvCxnSpPr/>
          <p:nvPr/>
        </p:nvCxnSpPr>
        <p:spPr bwMode="auto">
          <a:xfrm flipV="1">
            <a:off x="7266013"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7" name="直線コネクタ 86"/>
          <p:cNvCxnSpPr/>
          <p:nvPr/>
        </p:nvCxnSpPr>
        <p:spPr bwMode="auto">
          <a:xfrm flipH="1">
            <a:off x="7266015" y="1448978"/>
            <a:ext cx="1080011"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8" name="直線コネクタ 87"/>
          <p:cNvCxnSpPr/>
          <p:nvPr/>
        </p:nvCxnSpPr>
        <p:spPr bwMode="auto">
          <a:xfrm flipV="1">
            <a:off x="8346025"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9" name="直線コネクタ 88"/>
          <p:cNvCxnSpPr/>
          <p:nvPr/>
        </p:nvCxnSpPr>
        <p:spPr bwMode="auto">
          <a:xfrm flipH="1">
            <a:off x="8346026" y="1988984"/>
            <a:ext cx="1170013"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0" name="直線コネクタ 89"/>
          <p:cNvCxnSpPr/>
          <p:nvPr/>
        </p:nvCxnSpPr>
        <p:spPr bwMode="auto">
          <a:xfrm flipV="1">
            <a:off x="9516038"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1" name="直線コネクタ 90"/>
          <p:cNvCxnSpPr/>
          <p:nvPr/>
        </p:nvCxnSpPr>
        <p:spPr bwMode="auto">
          <a:xfrm flipV="1">
            <a:off x="2765963"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2" name="直線コネクタ 91"/>
          <p:cNvCxnSpPr/>
          <p:nvPr/>
        </p:nvCxnSpPr>
        <p:spPr bwMode="auto">
          <a:xfrm flipH="1">
            <a:off x="2765966" y="4419001"/>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4" name="直線コネクタ 93"/>
          <p:cNvCxnSpPr/>
          <p:nvPr/>
        </p:nvCxnSpPr>
        <p:spPr bwMode="auto">
          <a:xfrm flipH="1" flipV="1">
            <a:off x="2991001" y="4959001"/>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7" name="直線コネクタ 96"/>
          <p:cNvCxnSpPr/>
          <p:nvPr/>
        </p:nvCxnSpPr>
        <p:spPr bwMode="auto">
          <a:xfrm flipV="1">
            <a:off x="2991000"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8" name="直線コネクタ 107"/>
          <p:cNvCxnSpPr/>
          <p:nvPr/>
        </p:nvCxnSpPr>
        <p:spPr bwMode="auto">
          <a:xfrm flipV="1">
            <a:off x="3215968"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9" name="直線コネクタ 108"/>
          <p:cNvCxnSpPr/>
          <p:nvPr/>
        </p:nvCxnSpPr>
        <p:spPr bwMode="auto">
          <a:xfrm flipH="1">
            <a:off x="3215971" y="4419001"/>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0" name="直線コネクタ 109"/>
          <p:cNvCxnSpPr/>
          <p:nvPr/>
        </p:nvCxnSpPr>
        <p:spPr bwMode="auto">
          <a:xfrm flipH="1" flipV="1">
            <a:off x="3441006" y="4959001"/>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1" name="直線コネクタ 110"/>
          <p:cNvCxnSpPr/>
          <p:nvPr/>
        </p:nvCxnSpPr>
        <p:spPr bwMode="auto">
          <a:xfrm flipV="1">
            <a:off x="3441005"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2" name="直線コネクタ 111"/>
          <p:cNvCxnSpPr/>
          <p:nvPr/>
        </p:nvCxnSpPr>
        <p:spPr bwMode="auto">
          <a:xfrm flipV="1">
            <a:off x="3665973"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3" name="直線コネクタ 112"/>
          <p:cNvCxnSpPr/>
          <p:nvPr/>
        </p:nvCxnSpPr>
        <p:spPr bwMode="auto">
          <a:xfrm flipH="1">
            <a:off x="3665976" y="4419001"/>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4" name="直線コネクタ 113"/>
          <p:cNvCxnSpPr/>
          <p:nvPr/>
        </p:nvCxnSpPr>
        <p:spPr bwMode="auto">
          <a:xfrm flipH="1" flipV="1">
            <a:off x="3891011" y="4959001"/>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5" name="直線コネクタ 114"/>
          <p:cNvCxnSpPr/>
          <p:nvPr/>
        </p:nvCxnSpPr>
        <p:spPr bwMode="auto">
          <a:xfrm flipV="1">
            <a:off x="3891010"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6" name="直線コネクタ 115"/>
          <p:cNvCxnSpPr/>
          <p:nvPr/>
        </p:nvCxnSpPr>
        <p:spPr bwMode="auto">
          <a:xfrm flipV="1">
            <a:off x="4115978"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7" name="直線コネクタ 116"/>
          <p:cNvCxnSpPr/>
          <p:nvPr/>
        </p:nvCxnSpPr>
        <p:spPr bwMode="auto">
          <a:xfrm flipH="1">
            <a:off x="4115981" y="4419001"/>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8" name="直線コネクタ 117"/>
          <p:cNvCxnSpPr/>
          <p:nvPr/>
        </p:nvCxnSpPr>
        <p:spPr bwMode="auto">
          <a:xfrm flipH="1" flipV="1">
            <a:off x="4341016" y="4959001"/>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9" name="直線コネクタ 118"/>
          <p:cNvCxnSpPr/>
          <p:nvPr/>
        </p:nvCxnSpPr>
        <p:spPr bwMode="auto">
          <a:xfrm flipV="1">
            <a:off x="4341015"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0" name="直線コネクタ 119"/>
          <p:cNvCxnSpPr/>
          <p:nvPr/>
        </p:nvCxnSpPr>
        <p:spPr bwMode="auto">
          <a:xfrm flipV="1">
            <a:off x="4565983"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1" name="直線コネクタ 120"/>
          <p:cNvCxnSpPr/>
          <p:nvPr/>
        </p:nvCxnSpPr>
        <p:spPr bwMode="auto">
          <a:xfrm flipH="1">
            <a:off x="4565986" y="4419001"/>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2" name="直線コネクタ 121"/>
          <p:cNvCxnSpPr/>
          <p:nvPr/>
        </p:nvCxnSpPr>
        <p:spPr bwMode="auto">
          <a:xfrm flipH="1" flipV="1">
            <a:off x="4791021" y="4959001"/>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3" name="直線コネクタ 122"/>
          <p:cNvCxnSpPr/>
          <p:nvPr/>
        </p:nvCxnSpPr>
        <p:spPr bwMode="auto">
          <a:xfrm flipV="1">
            <a:off x="4791020"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4" name="直線コネクタ 123"/>
          <p:cNvCxnSpPr/>
          <p:nvPr/>
        </p:nvCxnSpPr>
        <p:spPr bwMode="auto">
          <a:xfrm flipV="1">
            <a:off x="5015988"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5" name="直線コネクタ 124"/>
          <p:cNvCxnSpPr/>
          <p:nvPr/>
        </p:nvCxnSpPr>
        <p:spPr bwMode="auto">
          <a:xfrm flipH="1">
            <a:off x="5015991" y="4419001"/>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6" name="直線コネクタ 125"/>
          <p:cNvCxnSpPr/>
          <p:nvPr/>
        </p:nvCxnSpPr>
        <p:spPr bwMode="auto">
          <a:xfrm flipH="1" flipV="1">
            <a:off x="5241026" y="4959001"/>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9" name="直線コネクタ 128"/>
          <p:cNvCxnSpPr/>
          <p:nvPr/>
        </p:nvCxnSpPr>
        <p:spPr bwMode="auto">
          <a:xfrm flipV="1">
            <a:off x="5241025"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30" name="直線コネクタ 129"/>
          <p:cNvCxnSpPr/>
          <p:nvPr/>
        </p:nvCxnSpPr>
        <p:spPr bwMode="auto">
          <a:xfrm flipV="1">
            <a:off x="5465993"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31" name="直線コネクタ 130"/>
          <p:cNvCxnSpPr/>
          <p:nvPr/>
        </p:nvCxnSpPr>
        <p:spPr bwMode="auto">
          <a:xfrm flipH="1">
            <a:off x="5465996" y="4419001"/>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2" name="直線コネクタ 171"/>
          <p:cNvCxnSpPr/>
          <p:nvPr/>
        </p:nvCxnSpPr>
        <p:spPr bwMode="auto">
          <a:xfrm flipH="1" flipV="1">
            <a:off x="5691031" y="4959001"/>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3" name="直線コネクタ 172"/>
          <p:cNvCxnSpPr/>
          <p:nvPr/>
        </p:nvCxnSpPr>
        <p:spPr bwMode="auto">
          <a:xfrm flipV="1">
            <a:off x="5691030"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4" name="直線コネクタ 173"/>
          <p:cNvCxnSpPr/>
          <p:nvPr/>
        </p:nvCxnSpPr>
        <p:spPr bwMode="auto">
          <a:xfrm flipV="1">
            <a:off x="5915998"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5" name="直線コネクタ 174"/>
          <p:cNvCxnSpPr/>
          <p:nvPr/>
        </p:nvCxnSpPr>
        <p:spPr bwMode="auto">
          <a:xfrm flipH="1">
            <a:off x="5916001" y="4419001"/>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6" name="直線コネクタ 175"/>
          <p:cNvCxnSpPr/>
          <p:nvPr/>
        </p:nvCxnSpPr>
        <p:spPr bwMode="auto">
          <a:xfrm flipH="1" flipV="1">
            <a:off x="6141036" y="4959001"/>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7" name="直線コネクタ 176"/>
          <p:cNvCxnSpPr/>
          <p:nvPr/>
        </p:nvCxnSpPr>
        <p:spPr bwMode="auto">
          <a:xfrm flipV="1">
            <a:off x="6141035"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83" name="直線コネクタ 182"/>
          <p:cNvCxnSpPr/>
          <p:nvPr/>
        </p:nvCxnSpPr>
        <p:spPr bwMode="auto">
          <a:xfrm flipV="1">
            <a:off x="5015988" y="4239010"/>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4" name="直線コネクタ 183"/>
          <p:cNvCxnSpPr/>
          <p:nvPr/>
        </p:nvCxnSpPr>
        <p:spPr bwMode="auto">
          <a:xfrm flipV="1">
            <a:off x="4115978" y="4239010"/>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5" name="直線コネクタ 184"/>
          <p:cNvCxnSpPr/>
          <p:nvPr/>
        </p:nvCxnSpPr>
        <p:spPr bwMode="auto">
          <a:xfrm flipH="1" flipV="1">
            <a:off x="4565984" y="4239010"/>
            <a:ext cx="3771" cy="2250071"/>
          </a:xfrm>
          <a:prstGeom prst="line">
            <a:avLst/>
          </a:prstGeom>
          <a:noFill/>
          <a:ln w="9525" cap="flat" cmpd="sng" algn="ctr">
            <a:solidFill>
              <a:schemeClr val="tx1"/>
            </a:solidFill>
            <a:prstDash val="solid"/>
            <a:round/>
            <a:headEnd type="none" w="med" len="med"/>
            <a:tailEnd type="none" w="med" len="med"/>
          </a:ln>
          <a:effectLst/>
        </p:spPr>
      </p:cxnSp>
      <p:cxnSp>
        <p:nvCxnSpPr>
          <p:cNvPr id="186" name="直線コネクタ 185"/>
          <p:cNvCxnSpPr/>
          <p:nvPr/>
        </p:nvCxnSpPr>
        <p:spPr bwMode="auto">
          <a:xfrm flipV="1">
            <a:off x="6366003" y="4239010"/>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7" name="直線コネクタ 186"/>
          <p:cNvCxnSpPr/>
          <p:nvPr/>
        </p:nvCxnSpPr>
        <p:spPr bwMode="auto">
          <a:xfrm flipV="1">
            <a:off x="5465993" y="4239010"/>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8" name="直線コネクタ 187"/>
          <p:cNvCxnSpPr/>
          <p:nvPr/>
        </p:nvCxnSpPr>
        <p:spPr bwMode="auto">
          <a:xfrm flipH="1" flipV="1">
            <a:off x="5915999" y="4239010"/>
            <a:ext cx="3771" cy="2250071"/>
          </a:xfrm>
          <a:prstGeom prst="line">
            <a:avLst/>
          </a:prstGeom>
          <a:noFill/>
          <a:ln w="9525" cap="flat" cmpd="sng" algn="ctr">
            <a:solidFill>
              <a:schemeClr val="tx1"/>
            </a:solidFill>
            <a:prstDash val="solid"/>
            <a:round/>
            <a:headEnd type="none" w="med" len="med"/>
            <a:tailEnd type="none" w="med" len="med"/>
          </a:ln>
          <a:effectLst/>
        </p:spPr>
      </p:cxnSp>
      <p:grpSp>
        <p:nvGrpSpPr>
          <p:cNvPr id="13" name="グループ化 12"/>
          <p:cNvGrpSpPr/>
          <p:nvPr/>
        </p:nvGrpSpPr>
        <p:grpSpPr>
          <a:xfrm>
            <a:off x="2765963" y="5229020"/>
            <a:ext cx="2160020" cy="360000"/>
            <a:chOff x="4481999" y="4959017"/>
            <a:chExt cx="2160020" cy="360000"/>
          </a:xfrm>
        </p:grpSpPr>
        <p:sp>
          <p:nvSpPr>
            <p:cNvPr id="142"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4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7"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8"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49" name="グループ化 148"/>
          <p:cNvGrpSpPr/>
          <p:nvPr/>
        </p:nvGrpSpPr>
        <p:grpSpPr>
          <a:xfrm>
            <a:off x="3215968" y="5679029"/>
            <a:ext cx="2160020" cy="360000"/>
            <a:chOff x="4481999" y="4959017"/>
            <a:chExt cx="2160020" cy="360000"/>
          </a:xfrm>
        </p:grpSpPr>
        <p:sp>
          <p:nvSpPr>
            <p:cNvPr id="15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54"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56" name="グループ化 155"/>
          <p:cNvGrpSpPr/>
          <p:nvPr/>
        </p:nvGrpSpPr>
        <p:grpSpPr>
          <a:xfrm>
            <a:off x="3665973" y="6129030"/>
            <a:ext cx="2160020" cy="360000"/>
            <a:chOff x="4481999" y="4959017"/>
            <a:chExt cx="2160020" cy="360000"/>
          </a:xfrm>
        </p:grpSpPr>
        <p:sp>
          <p:nvSpPr>
            <p:cNvPr id="157"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8"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9"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0"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1"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spTree>
    <p:extLst>
      <p:ext uri="{BB962C8B-B14F-4D97-AF65-F5344CB8AC3E}">
        <p14:creationId xmlns:p14="http://schemas.microsoft.com/office/powerpoint/2010/main" val="28870227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グループ化 8"/>
          <p:cNvGrpSpPr/>
          <p:nvPr/>
        </p:nvGrpSpPr>
        <p:grpSpPr>
          <a:xfrm>
            <a:off x="4655984" y="2168990"/>
            <a:ext cx="2700030" cy="990011"/>
            <a:chOff x="3221985" y="3338999"/>
            <a:chExt cx="3510039" cy="1260014"/>
          </a:xfrm>
        </p:grpSpPr>
        <p:sp>
          <p:nvSpPr>
            <p:cNvPr id="29" name="Line 9"/>
            <p:cNvSpPr>
              <a:spLocks noChangeShapeType="1"/>
            </p:cNvSpPr>
            <p:nvPr/>
          </p:nvSpPr>
          <p:spPr bwMode="auto">
            <a:xfrm>
              <a:off x="3222113" y="3518387"/>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10"/>
            <p:cNvSpPr>
              <a:spLocks noChangeShapeType="1"/>
            </p:cNvSpPr>
            <p:nvPr/>
          </p:nvSpPr>
          <p:spPr bwMode="auto">
            <a:xfrm>
              <a:off x="3222113" y="3878749"/>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1" name="Line 11"/>
            <p:cNvSpPr>
              <a:spLocks noChangeShapeType="1"/>
            </p:cNvSpPr>
            <p:nvPr/>
          </p:nvSpPr>
          <p:spPr bwMode="auto">
            <a:xfrm>
              <a:off x="4212713" y="369777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2" name="Line 12"/>
            <p:cNvSpPr>
              <a:spLocks noChangeShapeType="1"/>
            </p:cNvSpPr>
            <p:nvPr/>
          </p:nvSpPr>
          <p:spPr bwMode="auto">
            <a:xfrm flipV="1">
              <a:off x="4662129" y="3699003"/>
              <a:ext cx="89873" cy="973"/>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3" name="Line 13"/>
            <p:cNvSpPr>
              <a:spLocks noChangeShapeType="1"/>
            </p:cNvSpPr>
            <p:nvPr/>
          </p:nvSpPr>
          <p:spPr bwMode="auto">
            <a:xfrm flipV="1">
              <a:off x="4482127" y="4059007"/>
              <a:ext cx="269875" cy="133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4" name="Line 14"/>
            <p:cNvSpPr>
              <a:spLocks noChangeShapeType="1"/>
            </p:cNvSpPr>
            <p:nvPr/>
          </p:nvSpPr>
          <p:spPr bwMode="auto">
            <a:xfrm flipV="1">
              <a:off x="5382009" y="3879005"/>
              <a:ext cx="358775" cy="158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35" name="Picture 7" descr="OR"/>
            <p:cNvPicPr>
              <a:picLocks noChangeAspect="1" noChangeArrowheads="1"/>
            </p:cNvPicPr>
            <p:nvPr/>
          </p:nvPicPr>
          <p:blipFill>
            <a:blip r:embed="rId2" cstate="print"/>
            <a:srcRect/>
            <a:stretch>
              <a:fillRect/>
            </a:stretch>
          </p:blipFill>
          <p:spPr bwMode="auto">
            <a:xfrm>
              <a:off x="4572000" y="3519001"/>
              <a:ext cx="1079500" cy="717550"/>
            </a:xfrm>
            <a:prstGeom prst="rect">
              <a:avLst/>
            </a:prstGeom>
            <a:noFill/>
          </p:spPr>
        </p:pic>
        <p:pic>
          <p:nvPicPr>
            <p:cNvPr id="36" name="Picture 6" descr="AND"/>
            <p:cNvPicPr>
              <a:picLocks noChangeAspect="1" noChangeArrowheads="1"/>
            </p:cNvPicPr>
            <p:nvPr/>
          </p:nvPicPr>
          <p:blipFill>
            <a:blip r:embed="rId3" cstate="print"/>
            <a:srcRect/>
            <a:stretch>
              <a:fillRect/>
            </a:stretch>
          </p:blipFill>
          <p:spPr bwMode="auto">
            <a:xfrm>
              <a:off x="3491988" y="3338999"/>
              <a:ext cx="1079500" cy="720725"/>
            </a:xfrm>
            <a:prstGeom prst="rect">
              <a:avLst/>
            </a:prstGeom>
            <a:noFill/>
          </p:spPr>
        </p:pic>
        <p:sp>
          <p:nvSpPr>
            <p:cNvPr id="37" name="Line 10"/>
            <p:cNvSpPr>
              <a:spLocks noChangeShapeType="1"/>
            </p:cNvSpPr>
            <p:nvPr/>
          </p:nvSpPr>
          <p:spPr bwMode="auto">
            <a:xfrm>
              <a:off x="5472138" y="423875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38" name="Picture 6" descr="AND"/>
            <p:cNvPicPr>
              <a:picLocks noChangeAspect="1" noChangeArrowheads="1"/>
            </p:cNvPicPr>
            <p:nvPr/>
          </p:nvPicPr>
          <p:blipFill>
            <a:blip r:embed="rId3" cstate="print"/>
            <a:srcRect/>
            <a:stretch>
              <a:fillRect/>
            </a:stretch>
          </p:blipFill>
          <p:spPr bwMode="auto">
            <a:xfrm>
              <a:off x="5652012" y="3699003"/>
              <a:ext cx="1079500" cy="720725"/>
            </a:xfrm>
            <a:prstGeom prst="rect">
              <a:avLst/>
            </a:prstGeom>
            <a:noFill/>
          </p:spPr>
        </p:pic>
        <p:sp>
          <p:nvSpPr>
            <p:cNvPr id="39" name="Line 13"/>
            <p:cNvSpPr>
              <a:spLocks noChangeShapeType="1"/>
            </p:cNvSpPr>
            <p:nvPr/>
          </p:nvSpPr>
          <p:spPr bwMode="auto">
            <a:xfrm flipV="1">
              <a:off x="4481999" y="4059007"/>
              <a:ext cx="231" cy="18000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0" name="Line 13"/>
            <p:cNvSpPr>
              <a:spLocks noChangeShapeType="1"/>
            </p:cNvSpPr>
            <p:nvPr/>
          </p:nvSpPr>
          <p:spPr bwMode="auto">
            <a:xfrm>
              <a:off x="3221986" y="4239009"/>
              <a:ext cx="1260014"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1" name="Line 13"/>
            <p:cNvSpPr>
              <a:spLocks noChangeShapeType="1"/>
            </p:cNvSpPr>
            <p:nvPr/>
          </p:nvSpPr>
          <p:spPr bwMode="auto">
            <a:xfrm>
              <a:off x="3221985" y="4599013"/>
              <a:ext cx="2250025"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2" name="Line 13"/>
            <p:cNvSpPr>
              <a:spLocks noChangeShapeType="1"/>
            </p:cNvSpPr>
            <p:nvPr/>
          </p:nvSpPr>
          <p:spPr bwMode="auto">
            <a:xfrm flipV="1">
              <a:off x="5472010" y="4239009"/>
              <a:ext cx="231" cy="360004"/>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3" name="Line 10"/>
            <p:cNvSpPr>
              <a:spLocks noChangeShapeType="1"/>
            </p:cNvSpPr>
            <p:nvPr/>
          </p:nvSpPr>
          <p:spPr bwMode="auto">
            <a:xfrm>
              <a:off x="6462021" y="4059007"/>
              <a:ext cx="270003"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grpSp>
      <p:sp>
        <p:nvSpPr>
          <p:cNvPr id="2" name="タイトル 1"/>
          <p:cNvSpPr>
            <a:spLocks noGrp="1"/>
          </p:cNvSpPr>
          <p:nvPr>
            <p:ph type="title"/>
          </p:nvPr>
        </p:nvSpPr>
        <p:spPr/>
        <p:txBody>
          <a:bodyPr/>
          <a:lstStyle/>
          <a:p>
            <a:pPr marL="457200" indent="-457200"/>
            <a:r>
              <a:rPr kumimoji="1" lang="ja-JP" altLang="en-US" dirty="0"/>
              <a:t>ステージ内の信号の伝播を考える</a:t>
            </a:r>
          </a:p>
        </p:txBody>
      </p:sp>
      <p:sp>
        <p:nvSpPr>
          <p:cNvPr id="3" name="テキスト プレースホルダー 2"/>
          <p:cNvSpPr>
            <a:spLocks noGrp="1"/>
          </p:cNvSpPr>
          <p:nvPr>
            <p:ph type="body" sz="quarter" idx="10"/>
          </p:nvPr>
        </p:nvSpPr>
        <p:spPr>
          <a:xfrm>
            <a:off x="2135956" y="4149013"/>
            <a:ext cx="8280092" cy="2159717"/>
          </a:xfrm>
        </p:spPr>
        <p:txBody>
          <a:bodyPr/>
          <a:lstStyle/>
          <a:p>
            <a:r>
              <a:rPr kumimoji="1" lang="ja-JP" altLang="en-US" dirty="0"/>
              <a:t>パイプライン：ステージ：</a:t>
            </a:r>
            <a:endParaRPr kumimoji="1" lang="en-US" altLang="ja-JP" dirty="0"/>
          </a:p>
          <a:p>
            <a:pPr lvl="1"/>
            <a:r>
              <a:rPr kumimoji="1" lang="ja-JP" altLang="en-US" dirty="0"/>
              <a:t>複数のパイプライン・ラッチで挟まれてた，</a:t>
            </a:r>
            <a:endParaRPr kumimoji="1" lang="en-US" altLang="ja-JP" dirty="0"/>
          </a:p>
          <a:p>
            <a:pPr lvl="1"/>
            <a:r>
              <a:rPr kumimoji="1" lang="ja-JP" altLang="en-US" dirty="0"/>
              <a:t>組み合わせ回路（ゲート）</a:t>
            </a:r>
            <a:endParaRPr kumimoji="1" lang="en-US" altLang="ja-JP" dirty="0"/>
          </a:p>
          <a:p>
            <a:r>
              <a:rPr kumimoji="1" lang="ja-JP" altLang="en-US" dirty="0"/>
              <a:t>矢印の動き：</a:t>
            </a:r>
            <a:endParaRPr kumimoji="1" lang="en-US" altLang="ja-JP" dirty="0"/>
          </a:p>
          <a:p>
            <a:pPr lvl="1"/>
            <a:r>
              <a:rPr kumimoji="1" lang="ja-JP" altLang="en-US" dirty="0"/>
              <a:t>クロック開始時に，左のラッチからでた信号が</a:t>
            </a:r>
            <a:endParaRPr kumimoji="1" lang="en-US" altLang="ja-JP" dirty="0"/>
          </a:p>
          <a:p>
            <a:pPr lvl="1"/>
            <a:r>
              <a:rPr kumimoji="1" lang="ja-JP" altLang="en-US" dirty="0"/>
              <a:t>組み合わせ回路を通って，伝播していく様子</a:t>
            </a:r>
          </a:p>
        </p:txBody>
      </p:sp>
      <p:sp>
        <p:nvSpPr>
          <p:cNvPr id="4" name="右矢印 3"/>
          <p:cNvSpPr/>
          <p:nvPr/>
        </p:nvSpPr>
        <p:spPr bwMode="auto">
          <a:xfrm>
            <a:off x="1775952" y="2258986"/>
            <a:ext cx="2880032"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1685951" y="2168986"/>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8" name="グループ化 7"/>
          <p:cNvGrpSpPr/>
          <p:nvPr/>
        </p:nvGrpSpPr>
        <p:grpSpPr>
          <a:xfrm>
            <a:off x="4475982" y="1988983"/>
            <a:ext cx="180002" cy="1440016"/>
            <a:chOff x="2051972" y="998973"/>
            <a:chExt cx="360004" cy="1350015"/>
          </a:xfrm>
        </p:grpSpPr>
        <p:sp>
          <p:nvSpPr>
            <p:cNvPr id="6" name="正方形/長方形 5"/>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二等辺三角形 6"/>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10" name="グループ化 9"/>
          <p:cNvGrpSpPr/>
          <p:nvPr/>
        </p:nvGrpSpPr>
        <p:grpSpPr>
          <a:xfrm>
            <a:off x="7356014" y="1988983"/>
            <a:ext cx="180002" cy="1440016"/>
            <a:chOff x="2051972" y="998973"/>
            <a:chExt cx="360004" cy="1350015"/>
          </a:xfrm>
        </p:grpSpPr>
        <p:sp>
          <p:nvSpPr>
            <p:cNvPr id="11" name="正方形/長方形 10"/>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2" name="二等辺三角形 11"/>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Tree>
    <p:extLst>
      <p:ext uri="{BB962C8B-B14F-4D97-AF65-F5344CB8AC3E}">
        <p14:creationId xmlns:p14="http://schemas.microsoft.com/office/powerpoint/2010/main" val="539151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fill="hold" grpId="0" nodeType="clickEffect">
                                  <p:stCondLst>
                                    <p:cond delay="0"/>
                                  </p:stCondLst>
                                  <p:childTnLst>
                                    <p:animMotion origin="layout" path="M 5.55556E-7 -4.44444E-6 L 0.3151 -4.44444E-6 " pathEditMode="relative" rAng="0" ptsTypes="AA">
                                      <p:cBhvr>
                                        <p:cTn id="6" dur="8000" fill="hold"/>
                                        <p:tgtEl>
                                          <p:spTgt spid="4"/>
                                        </p:tgtEl>
                                        <p:attrNameLst>
                                          <p:attrName>ppt_x</p:attrName>
                                          <p:attrName>ppt_y</p:attrName>
                                        </p:attrNameLst>
                                      </p:cBhvr>
                                      <p:rCtr x="1574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marL="457200" indent="-457200"/>
            <a:r>
              <a:rPr kumimoji="1" lang="ja-JP" altLang="en-US" dirty="0"/>
              <a:t>２段にパイプライン化した場合</a:t>
            </a:r>
          </a:p>
        </p:txBody>
      </p:sp>
      <p:sp>
        <p:nvSpPr>
          <p:cNvPr id="3" name="テキスト プレースホルダー 2"/>
          <p:cNvSpPr>
            <a:spLocks noGrp="1"/>
          </p:cNvSpPr>
          <p:nvPr>
            <p:ph type="body" sz="quarter" idx="10"/>
          </p:nvPr>
        </p:nvSpPr>
        <p:spPr>
          <a:xfrm>
            <a:off x="2135956" y="4869021"/>
            <a:ext cx="8280092" cy="1439709"/>
          </a:xfrm>
        </p:spPr>
        <p:txBody>
          <a:bodyPr/>
          <a:lstStyle/>
          <a:p>
            <a:r>
              <a:rPr kumimoji="1" lang="ja-JP" altLang="en-US" dirty="0"/>
              <a:t>クロック周波数は２倍に：</a:t>
            </a:r>
            <a:endParaRPr kumimoji="1" lang="en-US" altLang="ja-JP" dirty="0"/>
          </a:p>
          <a:p>
            <a:pPr lvl="1"/>
            <a:r>
              <a:rPr lang="ja-JP" altLang="en-US" dirty="0"/>
              <a:t>各矢印の伸びる速度（信号が伝播する速度）自体は同じ</a:t>
            </a:r>
          </a:p>
          <a:p>
            <a:pPr lvl="1"/>
            <a:r>
              <a:rPr kumimoji="1" lang="ja-JP" altLang="en-US" dirty="0"/>
              <a:t>２段パイプラインでは，ラッチから２回信号が出ている</a:t>
            </a:r>
            <a:endParaRPr kumimoji="1" lang="en-US" altLang="ja-JP" dirty="0"/>
          </a:p>
        </p:txBody>
      </p:sp>
      <p:sp>
        <p:nvSpPr>
          <p:cNvPr id="4" name="右矢印 3"/>
          <p:cNvSpPr/>
          <p:nvPr/>
        </p:nvSpPr>
        <p:spPr bwMode="auto">
          <a:xfrm>
            <a:off x="1775952" y="1268976"/>
            <a:ext cx="2880032"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1685951" y="1178975"/>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0" name="右矢印 19"/>
          <p:cNvSpPr/>
          <p:nvPr/>
        </p:nvSpPr>
        <p:spPr bwMode="auto">
          <a:xfrm>
            <a:off x="4655984" y="2978995"/>
            <a:ext cx="1440016"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8" name="グループ化 7"/>
          <p:cNvGrpSpPr/>
          <p:nvPr/>
        </p:nvGrpSpPr>
        <p:grpSpPr>
          <a:xfrm>
            <a:off x="4475982" y="998973"/>
            <a:ext cx="180002" cy="1440016"/>
            <a:chOff x="2051972" y="998973"/>
            <a:chExt cx="360004" cy="1350015"/>
          </a:xfrm>
        </p:grpSpPr>
        <p:sp>
          <p:nvSpPr>
            <p:cNvPr id="6" name="正方形/長方形 5"/>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二等辺三角形 6"/>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4" name="正方形/長方形 23"/>
          <p:cNvSpPr/>
          <p:nvPr/>
        </p:nvSpPr>
        <p:spPr bwMode="auto">
          <a:xfrm>
            <a:off x="4655984" y="2888995"/>
            <a:ext cx="1260014"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 name="右矢印 12"/>
          <p:cNvSpPr/>
          <p:nvPr/>
        </p:nvSpPr>
        <p:spPr bwMode="auto">
          <a:xfrm>
            <a:off x="3215968" y="2978995"/>
            <a:ext cx="1440016"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7" name="グループ化 16"/>
          <p:cNvGrpSpPr/>
          <p:nvPr/>
        </p:nvGrpSpPr>
        <p:grpSpPr>
          <a:xfrm>
            <a:off x="5915998" y="2708992"/>
            <a:ext cx="180002" cy="1440016"/>
            <a:chOff x="2051972" y="998973"/>
            <a:chExt cx="360004" cy="1350015"/>
          </a:xfrm>
        </p:grpSpPr>
        <p:sp>
          <p:nvSpPr>
            <p:cNvPr id="18" name="正方形/長方形 17"/>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9" name="二等辺三角形 18"/>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21" name="グループ化 20"/>
          <p:cNvGrpSpPr/>
          <p:nvPr/>
        </p:nvGrpSpPr>
        <p:grpSpPr>
          <a:xfrm>
            <a:off x="7356014" y="2708992"/>
            <a:ext cx="180002" cy="1440016"/>
            <a:chOff x="2051972" y="998973"/>
            <a:chExt cx="360004" cy="1350015"/>
          </a:xfrm>
        </p:grpSpPr>
        <p:sp>
          <p:nvSpPr>
            <p:cNvPr id="22" name="正方形/長方形 21"/>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3" name="二等辺三角形 22"/>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5" name="正方形/長方形 24"/>
          <p:cNvSpPr/>
          <p:nvPr/>
        </p:nvSpPr>
        <p:spPr bwMode="auto">
          <a:xfrm>
            <a:off x="3125972" y="2888995"/>
            <a:ext cx="1350015"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4" name="グループ化 13"/>
          <p:cNvGrpSpPr/>
          <p:nvPr/>
        </p:nvGrpSpPr>
        <p:grpSpPr>
          <a:xfrm>
            <a:off x="4475982" y="2708992"/>
            <a:ext cx="180002" cy="1440016"/>
            <a:chOff x="2051972" y="998973"/>
            <a:chExt cx="360004" cy="1350015"/>
          </a:xfrm>
        </p:grpSpPr>
        <p:sp>
          <p:nvSpPr>
            <p:cNvPr id="15" name="正方形/長方形 14"/>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6" name="二等辺三角形 15"/>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7" name="正方形/長方形 26"/>
          <p:cNvSpPr/>
          <p:nvPr/>
        </p:nvSpPr>
        <p:spPr bwMode="auto">
          <a:xfrm>
            <a:off x="2495960" y="99897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パイプライン化せず</a:t>
            </a:r>
          </a:p>
        </p:txBody>
      </p:sp>
      <p:sp>
        <p:nvSpPr>
          <p:cNvPr id="28" name="正方形/長方形 27"/>
          <p:cNvSpPr/>
          <p:nvPr/>
        </p:nvSpPr>
        <p:spPr bwMode="auto">
          <a:xfrm>
            <a:off x="2495960" y="270899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２段パイプライン</a:t>
            </a:r>
          </a:p>
        </p:txBody>
      </p:sp>
      <p:sp>
        <p:nvSpPr>
          <p:cNvPr id="9" name="正方形/長方形 8">
            <a:extLst>
              <a:ext uri="{FF2B5EF4-FFF2-40B4-BE49-F238E27FC236}">
                <a16:creationId xmlns:a16="http://schemas.microsoft.com/office/drawing/2014/main" id="{FEFB1DA2-F2B8-5883-F71B-9F2E497E0948}"/>
              </a:ext>
            </a:extLst>
          </p:cNvPr>
          <p:cNvSpPr/>
          <p:nvPr/>
        </p:nvSpPr>
        <p:spPr bwMode="auto">
          <a:xfrm>
            <a:off x="7539974" y="1268976"/>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0" name="グループ化 9"/>
          <p:cNvGrpSpPr/>
          <p:nvPr/>
        </p:nvGrpSpPr>
        <p:grpSpPr>
          <a:xfrm>
            <a:off x="7356014" y="998973"/>
            <a:ext cx="180002" cy="1440016"/>
            <a:chOff x="2051972" y="998973"/>
            <a:chExt cx="360004" cy="1350015"/>
          </a:xfrm>
        </p:grpSpPr>
        <p:sp>
          <p:nvSpPr>
            <p:cNvPr id="11" name="正方形/長方形 10"/>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2" name="二等辺三角形 11"/>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Tree>
    <p:extLst>
      <p:ext uri="{BB962C8B-B14F-4D97-AF65-F5344CB8AC3E}">
        <p14:creationId xmlns:p14="http://schemas.microsoft.com/office/powerpoint/2010/main" val="3464492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fill="hold" grpId="0" nodeType="clickEffect">
                                  <p:stCondLst>
                                    <p:cond delay="0"/>
                                  </p:stCondLst>
                                  <p:childTnLst>
                                    <p:animMotion origin="layout" path="M -2.08333E-6 0 L 0.22878 0 " pathEditMode="relative" rAng="0" ptsTypes="AA">
                                      <p:cBhvr>
                                        <p:cTn id="6" dur="8000" fill="hold"/>
                                        <p:tgtEl>
                                          <p:spTgt spid="4"/>
                                        </p:tgtEl>
                                        <p:attrNameLst>
                                          <p:attrName>ppt_x</p:attrName>
                                          <p:attrName>ppt_y</p:attrName>
                                        </p:attrNameLst>
                                      </p:cBhvr>
                                      <p:rCtr x="11432" y="0"/>
                                    </p:animMotion>
                                  </p:childTnLst>
                                </p:cTn>
                              </p:par>
                              <p:par>
                                <p:cTn id="7" presetID="42" presetClass="path" presetSubtype="0" repeatCount="indefinite" fill="hold" grpId="0" nodeType="withEffect">
                                  <p:stCondLst>
                                    <p:cond delay="0"/>
                                  </p:stCondLst>
                                  <p:childTnLst>
                                    <p:animMotion origin="layout" path="M 3.54167E-6 4.44444E-6 L 0.1181 4.44444E-6 " pathEditMode="relative" rAng="0" ptsTypes="AA">
                                      <p:cBhvr>
                                        <p:cTn id="8" dur="4000" fill="hold"/>
                                        <p:tgtEl>
                                          <p:spTgt spid="13"/>
                                        </p:tgtEl>
                                        <p:attrNameLst>
                                          <p:attrName>ppt_x</p:attrName>
                                          <p:attrName>ppt_y</p:attrName>
                                        </p:attrNameLst>
                                      </p:cBhvr>
                                      <p:rCtr x="5534" y="0"/>
                                    </p:animMotion>
                                  </p:childTnLst>
                                </p:cTn>
                              </p:par>
                              <p:par>
                                <p:cTn id="9" presetID="42" presetClass="path" presetSubtype="0" repeatCount="indefinite" fill="hold" grpId="0" nodeType="withEffect">
                                  <p:stCondLst>
                                    <p:cond delay="0"/>
                                  </p:stCondLst>
                                  <p:childTnLst>
                                    <p:animMotion origin="layout" path="M 4.58333E-6 4.44444E-6 L 0.11822 4.44444E-6 " pathEditMode="relative" rAng="0" ptsTypes="AA">
                                      <p:cBhvr>
                                        <p:cTn id="10" dur="4000" fill="hold"/>
                                        <p:tgtEl>
                                          <p:spTgt spid="20"/>
                                        </p:tgtEl>
                                        <p:attrNameLst>
                                          <p:attrName>ppt_x</p:attrName>
                                          <p:attrName>ppt_y</p:attrName>
                                        </p:attrNameLst>
                                      </p:cBhvr>
                                      <p:rCtr x="59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marL="457200" indent="-457200"/>
            <a:r>
              <a:rPr kumimoji="1" lang="en-US" altLang="ja-JP" dirty="0"/>
              <a:t>4</a:t>
            </a:r>
            <a:r>
              <a:rPr kumimoji="1" lang="ja-JP" altLang="en-US" dirty="0"/>
              <a:t>段にパイプライン化した場合</a:t>
            </a:r>
          </a:p>
        </p:txBody>
      </p:sp>
      <p:sp>
        <p:nvSpPr>
          <p:cNvPr id="3" name="テキスト プレースホルダー 2"/>
          <p:cNvSpPr>
            <a:spLocks noGrp="1"/>
          </p:cNvSpPr>
          <p:nvPr>
            <p:ph type="body" sz="quarter" idx="10"/>
          </p:nvPr>
        </p:nvSpPr>
        <p:spPr>
          <a:xfrm>
            <a:off x="2135956" y="6039336"/>
            <a:ext cx="8280092" cy="449698"/>
          </a:xfrm>
        </p:spPr>
        <p:txBody>
          <a:bodyPr/>
          <a:lstStyle/>
          <a:p>
            <a:r>
              <a:rPr lang="ja-JP" altLang="en-US" dirty="0"/>
              <a:t>クロックが４倍に</a:t>
            </a:r>
            <a:endParaRPr lang="en-US" altLang="ja-JP" dirty="0"/>
          </a:p>
          <a:p>
            <a:pPr lvl="1"/>
            <a:r>
              <a:rPr lang="ja-JP" altLang="en-US" dirty="0"/>
              <a:t>４段パイプラインでは，ラッチから４回信号が出ている</a:t>
            </a:r>
            <a:endParaRPr lang="en-US" altLang="ja-JP" dirty="0"/>
          </a:p>
        </p:txBody>
      </p:sp>
      <p:sp>
        <p:nvSpPr>
          <p:cNvPr id="4" name="右矢印 3"/>
          <p:cNvSpPr/>
          <p:nvPr/>
        </p:nvSpPr>
        <p:spPr bwMode="auto">
          <a:xfrm>
            <a:off x="1775952" y="1268976"/>
            <a:ext cx="2880032"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1685951" y="1178975"/>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0" name="右矢印 19"/>
          <p:cNvSpPr/>
          <p:nvPr/>
        </p:nvSpPr>
        <p:spPr bwMode="auto">
          <a:xfrm>
            <a:off x="4655984" y="2978995"/>
            <a:ext cx="1440016"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8" name="グループ化 7"/>
          <p:cNvGrpSpPr/>
          <p:nvPr/>
        </p:nvGrpSpPr>
        <p:grpSpPr>
          <a:xfrm>
            <a:off x="4475982" y="998973"/>
            <a:ext cx="180002" cy="1440016"/>
            <a:chOff x="2051972" y="998973"/>
            <a:chExt cx="360004" cy="1350015"/>
          </a:xfrm>
        </p:grpSpPr>
        <p:sp>
          <p:nvSpPr>
            <p:cNvPr id="6" name="正方形/長方形 5"/>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二等辺三角形 6"/>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4" name="正方形/長方形 23"/>
          <p:cNvSpPr/>
          <p:nvPr/>
        </p:nvSpPr>
        <p:spPr bwMode="auto">
          <a:xfrm>
            <a:off x="4655984" y="2888995"/>
            <a:ext cx="1260014"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 name="右矢印 12"/>
          <p:cNvSpPr/>
          <p:nvPr/>
        </p:nvSpPr>
        <p:spPr bwMode="auto">
          <a:xfrm>
            <a:off x="3215968" y="2978995"/>
            <a:ext cx="1440016"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7" name="グループ化 16"/>
          <p:cNvGrpSpPr/>
          <p:nvPr/>
        </p:nvGrpSpPr>
        <p:grpSpPr>
          <a:xfrm>
            <a:off x="5915998" y="2708992"/>
            <a:ext cx="180002" cy="1440016"/>
            <a:chOff x="2051972" y="998973"/>
            <a:chExt cx="360004" cy="1350015"/>
          </a:xfrm>
        </p:grpSpPr>
        <p:sp>
          <p:nvSpPr>
            <p:cNvPr id="18" name="正方形/長方形 17"/>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9" name="二等辺三角形 18"/>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21" name="グループ化 20"/>
          <p:cNvGrpSpPr/>
          <p:nvPr/>
        </p:nvGrpSpPr>
        <p:grpSpPr>
          <a:xfrm>
            <a:off x="7356014" y="2708992"/>
            <a:ext cx="180002" cy="1440016"/>
            <a:chOff x="2051972" y="998973"/>
            <a:chExt cx="360004" cy="1350015"/>
          </a:xfrm>
        </p:grpSpPr>
        <p:sp>
          <p:nvSpPr>
            <p:cNvPr id="22" name="正方形/長方形 21"/>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3" name="二等辺三角形 22"/>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5" name="正方形/長方形 24"/>
          <p:cNvSpPr/>
          <p:nvPr/>
        </p:nvSpPr>
        <p:spPr bwMode="auto">
          <a:xfrm>
            <a:off x="3125972" y="2888995"/>
            <a:ext cx="1350015"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4" name="グループ化 13"/>
          <p:cNvGrpSpPr/>
          <p:nvPr/>
        </p:nvGrpSpPr>
        <p:grpSpPr>
          <a:xfrm>
            <a:off x="4475982" y="2708992"/>
            <a:ext cx="180002" cy="1440016"/>
            <a:chOff x="2051972" y="998973"/>
            <a:chExt cx="360004" cy="1350015"/>
          </a:xfrm>
        </p:grpSpPr>
        <p:sp>
          <p:nvSpPr>
            <p:cNvPr id="15" name="正方形/長方形 14"/>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6" name="二等辺三角形 15"/>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7" name="正方形/長方形 26"/>
          <p:cNvSpPr/>
          <p:nvPr/>
        </p:nvSpPr>
        <p:spPr bwMode="auto">
          <a:xfrm>
            <a:off x="2495960" y="99897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パイプライン化せず</a:t>
            </a:r>
          </a:p>
        </p:txBody>
      </p:sp>
      <p:sp>
        <p:nvSpPr>
          <p:cNvPr id="28" name="正方形/長方形 27"/>
          <p:cNvSpPr/>
          <p:nvPr/>
        </p:nvSpPr>
        <p:spPr bwMode="auto">
          <a:xfrm>
            <a:off x="2495960" y="270899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２段パイプライン</a:t>
            </a:r>
          </a:p>
        </p:txBody>
      </p:sp>
      <p:sp>
        <p:nvSpPr>
          <p:cNvPr id="54" name="正方形/長方形 53"/>
          <p:cNvSpPr/>
          <p:nvPr/>
        </p:nvSpPr>
        <p:spPr bwMode="auto">
          <a:xfrm>
            <a:off x="6816008" y="4509012"/>
            <a:ext cx="540006"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右矢印 44"/>
          <p:cNvSpPr/>
          <p:nvPr/>
        </p:nvSpPr>
        <p:spPr bwMode="auto">
          <a:xfrm>
            <a:off x="6096000" y="4599013"/>
            <a:ext cx="720008"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正方形/長方形 52"/>
          <p:cNvSpPr/>
          <p:nvPr/>
        </p:nvSpPr>
        <p:spPr bwMode="auto">
          <a:xfrm>
            <a:off x="6096000" y="4509012"/>
            <a:ext cx="540006"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右矢印 43"/>
          <p:cNvSpPr/>
          <p:nvPr/>
        </p:nvSpPr>
        <p:spPr bwMode="auto">
          <a:xfrm>
            <a:off x="5375992" y="4599013"/>
            <a:ext cx="720008"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正方形/長方形 51"/>
          <p:cNvSpPr/>
          <p:nvPr/>
        </p:nvSpPr>
        <p:spPr bwMode="auto">
          <a:xfrm>
            <a:off x="5375992" y="4509012"/>
            <a:ext cx="540006"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3" name="右矢印 42"/>
          <p:cNvSpPr/>
          <p:nvPr/>
        </p:nvSpPr>
        <p:spPr bwMode="auto">
          <a:xfrm>
            <a:off x="4655984" y="4599013"/>
            <a:ext cx="720008"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0" name="正方形/長方形 29"/>
          <p:cNvSpPr/>
          <p:nvPr/>
        </p:nvSpPr>
        <p:spPr bwMode="auto">
          <a:xfrm>
            <a:off x="4655984" y="4509013"/>
            <a:ext cx="540006"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1" name="右矢印 30"/>
          <p:cNvSpPr/>
          <p:nvPr/>
        </p:nvSpPr>
        <p:spPr bwMode="auto">
          <a:xfrm>
            <a:off x="3935976" y="4599013"/>
            <a:ext cx="720008"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8" name="正方形/長方形 37"/>
          <p:cNvSpPr/>
          <p:nvPr/>
        </p:nvSpPr>
        <p:spPr bwMode="auto">
          <a:xfrm>
            <a:off x="3125972" y="4509013"/>
            <a:ext cx="1350015"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32" name="グループ化 31"/>
          <p:cNvGrpSpPr/>
          <p:nvPr/>
        </p:nvGrpSpPr>
        <p:grpSpPr>
          <a:xfrm>
            <a:off x="5915998" y="4329010"/>
            <a:ext cx="180002" cy="1440016"/>
            <a:chOff x="2051972" y="998973"/>
            <a:chExt cx="360004" cy="1350015"/>
          </a:xfrm>
        </p:grpSpPr>
        <p:sp>
          <p:nvSpPr>
            <p:cNvPr id="33" name="正方形/長方形 32"/>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34" name="二等辺三角形 33"/>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35" name="グループ化 34"/>
          <p:cNvGrpSpPr/>
          <p:nvPr/>
        </p:nvGrpSpPr>
        <p:grpSpPr>
          <a:xfrm>
            <a:off x="7356014" y="4329010"/>
            <a:ext cx="180002" cy="1440016"/>
            <a:chOff x="2051972" y="998973"/>
            <a:chExt cx="360004" cy="1350015"/>
          </a:xfrm>
        </p:grpSpPr>
        <p:sp>
          <p:nvSpPr>
            <p:cNvPr id="36" name="正方形/長方形 35"/>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37" name="二等辺三角形 36"/>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39" name="グループ化 38"/>
          <p:cNvGrpSpPr/>
          <p:nvPr/>
        </p:nvGrpSpPr>
        <p:grpSpPr>
          <a:xfrm>
            <a:off x="4475982" y="4329010"/>
            <a:ext cx="180002" cy="1440016"/>
            <a:chOff x="2051972" y="998973"/>
            <a:chExt cx="360004" cy="1350015"/>
          </a:xfrm>
        </p:grpSpPr>
        <p:sp>
          <p:nvSpPr>
            <p:cNvPr id="40" name="正方形/長方形 39"/>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1" name="二等辺三角形 40"/>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42" name="正方形/長方形 41"/>
          <p:cNvSpPr/>
          <p:nvPr/>
        </p:nvSpPr>
        <p:spPr bwMode="auto">
          <a:xfrm>
            <a:off x="2495960" y="4329010"/>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４段パイプライン</a:t>
            </a:r>
          </a:p>
        </p:txBody>
      </p:sp>
      <p:grpSp>
        <p:nvGrpSpPr>
          <p:cNvPr id="46" name="グループ化 45"/>
          <p:cNvGrpSpPr/>
          <p:nvPr/>
        </p:nvGrpSpPr>
        <p:grpSpPr>
          <a:xfrm>
            <a:off x="5195990" y="4329010"/>
            <a:ext cx="180002" cy="1440016"/>
            <a:chOff x="2051972" y="998973"/>
            <a:chExt cx="360004" cy="1350015"/>
          </a:xfrm>
        </p:grpSpPr>
        <p:sp>
          <p:nvSpPr>
            <p:cNvPr id="47" name="正方形/長方形 46"/>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8" name="二等辺三角形 47"/>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49" name="グループ化 48"/>
          <p:cNvGrpSpPr/>
          <p:nvPr/>
        </p:nvGrpSpPr>
        <p:grpSpPr>
          <a:xfrm>
            <a:off x="6636006" y="4329010"/>
            <a:ext cx="180002" cy="1440016"/>
            <a:chOff x="2051972" y="998973"/>
            <a:chExt cx="360004" cy="1350015"/>
          </a:xfrm>
        </p:grpSpPr>
        <p:sp>
          <p:nvSpPr>
            <p:cNvPr id="50" name="正方形/長方形 49"/>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1" name="二等辺三角形 50"/>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9" name="正方形/長方形 8">
            <a:extLst>
              <a:ext uri="{FF2B5EF4-FFF2-40B4-BE49-F238E27FC236}">
                <a16:creationId xmlns:a16="http://schemas.microsoft.com/office/drawing/2014/main" id="{423C0FDB-0656-5310-8087-6C09226BD9B9}"/>
              </a:ext>
            </a:extLst>
          </p:cNvPr>
          <p:cNvSpPr/>
          <p:nvPr/>
        </p:nvSpPr>
        <p:spPr bwMode="auto">
          <a:xfrm>
            <a:off x="7536016" y="1268976"/>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0" name="グループ化 9"/>
          <p:cNvGrpSpPr/>
          <p:nvPr/>
        </p:nvGrpSpPr>
        <p:grpSpPr>
          <a:xfrm>
            <a:off x="7356014" y="998973"/>
            <a:ext cx="180002" cy="1440016"/>
            <a:chOff x="2051972" y="998973"/>
            <a:chExt cx="360004" cy="1350015"/>
          </a:xfrm>
        </p:grpSpPr>
        <p:sp>
          <p:nvSpPr>
            <p:cNvPr id="11" name="正方形/長方形 10"/>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2" name="二等辺三角形 11"/>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Tree>
    <p:extLst>
      <p:ext uri="{BB962C8B-B14F-4D97-AF65-F5344CB8AC3E}">
        <p14:creationId xmlns:p14="http://schemas.microsoft.com/office/powerpoint/2010/main" val="27374376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fill="hold" grpId="0" nodeType="clickEffect">
                                  <p:stCondLst>
                                    <p:cond delay="0"/>
                                  </p:stCondLst>
                                  <p:childTnLst>
                                    <p:animMotion origin="layout" path="M -2.08333E-7 0 L 0.2362 0 " pathEditMode="relative" rAng="0" ptsTypes="AA">
                                      <p:cBhvr>
                                        <p:cTn id="6" dur="8000" fill="hold"/>
                                        <p:tgtEl>
                                          <p:spTgt spid="4"/>
                                        </p:tgtEl>
                                        <p:attrNameLst>
                                          <p:attrName>ppt_x</p:attrName>
                                          <p:attrName>ppt_y</p:attrName>
                                        </p:attrNameLst>
                                      </p:cBhvr>
                                      <p:rCtr x="11810" y="0"/>
                                    </p:animMotion>
                                  </p:childTnLst>
                                </p:cTn>
                              </p:par>
                              <p:par>
                                <p:cTn id="7" presetID="42" presetClass="path" presetSubtype="0" repeatCount="indefinite" fill="hold" grpId="0" nodeType="withEffect">
                                  <p:stCondLst>
                                    <p:cond delay="0"/>
                                  </p:stCondLst>
                                  <p:childTnLst>
                                    <p:animMotion origin="layout" path="M -4.79167E-6 4.44444E-6 L 0.1181 4.44444E-6 " pathEditMode="relative" rAng="0" ptsTypes="AA">
                                      <p:cBhvr>
                                        <p:cTn id="8" dur="4000" fill="hold"/>
                                        <p:tgtEl>
                                          <p:spTgt spid="13"/>
                                        </p:tgtEl>
                                        <p:attrNameLst>
                                          <p:attrName>ppt_x</p:attrName>
                                          <p:attrName>ppt_y</p:attrName>
                                        </p:attrNameLst>
                                      </p:cBhvr>
                                      <p:rCtr x="6263" y="0"/>
                                    </p:animMotion>
                                  </p:childTnLst>
                                </p:cTn>
                              </p:par>
                              <p:par>
                                <p:cTn id="9" presetID="42" presetClass="path" presetSubtype="0" repeatCount="indefinite" fill="hold" grpId="0" nodeType="withEffect">
                                  <p:stCondLst>
                                    <p:cond delay="0"/>
                                  </p:stCondLst>
                                  <p:childTnLst>
                                    <p:animMotion origin="layout" path="M 4.58333E-6 4.44444E-6 L 0.1108 4.44444E-6 " pathEditMode="relative" rAng="0" ptsTypes="AA">
                                      <p:cBhvr>
                                        <p:cTn id="10" dur="4000" fill="hold"/>
                                        <p:tgtEl>
                                          <p:spTgt spid="20"/>
                                        </p:tgtEl>
                                        <p:attrNameLst>
                                          <p:attrName>ppt_x</p:attrName>
                                          <p:attrName>ppt_y</p:attrName>
                                        </p:attrNameLst>
                                      </p:cBhvr>
                                      <p:rCtr x="5534" y="0"/>
                                    </p:animMotion>
                                  </p:childTnLst>
                                </p:cTn>
                              </p:par>
                              <p:par>
                                <p:cTn id="11" presetID="42" presetClass="path" presetSubtype="0" repeatCount="indefinite" fill="hold" grpId="0" nodeType="withEffect">
                                  <p:stCondLst>
                                    <p:cond delay="0"/>
                                  </p:stCondLst>
                                  <p:childTnLst>
                                    <p:animMotion origin="layout" path="M -0.00742 1.85185E-6 L 0.05899 1.85185E-6 " pathEditMode="relative" rAng="0" ptsTypes="AA">
                                      <p:cBhvr>
                                        <p:cTn id="12" dur="2000" fill="hold"/>
                                        <p:tgtEl>
                                          <p:spTgt spid="31"/>
                                        </p:tgtEl>
                                        <p:attrNameLst>
                                          <p:attrName>ppt_x</p:attrName>
                                          <p:attrName>ppt_y</p:attrName>
                                        </p:attrNameLst>
                                      </p:cBhvr>
                                      <p:rCtr x="2956" y="0"/>
                                    </p:animMotion>
                                  </p:childTnLst>
                                </p:cTn>
                              </p:par>
                              <p:par>
                                <p:cTn id="13" presetID="42" presetClass="path" presetSubtype="0" repeatCount="indefinite" fill="hold" grpId="0" nodeType="withEffect">
                                  <p:stCondLst>
                                    <p:cond delay="0"/>
                                  </p:stCondLst>
                                  <p:childTnLst>
                                    <p:animMotion origin="layout" path="M 3.54167E-6 1.85185E-6 L 0.05911 1.85185E-6 " pathEditMode="relative" rAng="0" ptsTypes="AA">
                                      <p:cBhvr>
                                        <p:cTn id="14" dur="2000" fill="hold"/>
                                        <p:tgtEl>
                                          <p:spTgt spid="43"/>
                                        </p:tgtEl>
                                        <p:attrNameLst>
                                          <p:attrName>ppt_x</p:attrName>
                                          <p:attrName>ppt_y</p:attrName>
                                        </p:attrNameLst>
                                      </p:cBhvr>
                                      <p:rCtr x="3320" y="0"/>
                                    </p:animMotion>
                                  </p:childTnLst>
                                </p:cTn>
                              </p:par>
                              <p:par>
                                <p:cTn id="15" presetID="42" presetClass="path" presetSubtype="0" repeatCount="indefinite" fill="hold" grpId="0" nodeType="withEffect">
                                  <p:stCondLst>
                                    <p:cond delay="0"/>
                                  </p:stCondLst>
                                  <p:childTnLst>
                                    <p:animMotion origin="layout" path="M -2.70833E-6 1.85185E-6 L 0.0517 1.85185E-6 " pathEditMode="relative" rAng="0" ptsTypes="AA">
                                      <p:cBhvr>
                                        <p:cTn id="16" dur="2000" fill="hold"/>
                                        <p:tgtEl>
                                          <p:spTgt spid="44"/>
                                        </p:tgtEl>
                                        <p:attrNameLst>
                                          <p:attrName>ppt_x</p:attrName>
                                          <p:attrName>ppt_y</p:attrName>
                                        </p:attrNameLst>
                                      </p:cBhvr>
                                      <p:rCtr x="2578" y="0"/>
                                    </p:animMotion>
                                  </p:childTnLst>
                                </p:cTn>
                              </p:par>
                              <p:par>
                                <p:cTn id="17" presetID="42" presetClass="path" presetSubtype="0" repeatCount="indefinite" fill="hold" grpId="0" nodeType="withEffect">
                                  <p:stCondLst>
                                    <p:cond delay="0"/>
                                  </p:stCondLst>
                                  <p:childTnLst>
                                    <p:animMotion origin="layout" path="M 2.70833E-6 1.85185E-6 L 0.05169 1.85185E-6 " pathEditMode="relative" rAng="0" ptsTypes="AA">
                                      <p:cBhvr>
                                        <p:cTn id="18" dur="2000" fill="hold"/>
                                        <p:tgtEl>
                                          <p:spTgt spid="45"/>
                                        </p:tgtEl>
                                        <p:attrNameLst>
                                          <p:attrName>ppt_x</p:attrName>
                                          <p:attrName>ppt_y</p:attrName>
                                        </p:attrNameLst>
                                      </p:cBhvr>
                                      <p:rCtr x="257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animBg="1"/>
      <p:bldP spid="13" grpId="0" animBg="1"/>
      <p:bldP spid="45" grpId="0" animBg="1"/>
      <p:bldP spid="44" grpId="0" animBg="1"/>
      <p:bldP spid="43"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パイプライン化の限界</a:t>
            </a:r>
          </a:p>
        </p:txBody>
      </p:sp>
      <p:sp>
        <p:nvSpPr>
          <p:cNvPr id="3" name="テキスト プレースホルダー 2"/>
          <p:cNvSpPr>
            <a:spLocks noGrp="1"/>
          </p:cNvSpPr>
          <p:nvPr>
            <p:ph type="body" sz="quarter" idx="10"/>
          </p:nvPr>
        </p:nvSpPr>
        <p:spPr>
          <a:xfrm>
            <a:off x="2135956" y="3699003"/>
            <a:ext cx="8280092" cy="2789724"/>
          </a:xfrm>
        </p:spPr>
        <p:txBody>
          <a:bodyPr/>
          <a:lstStyle/>
          <a:p>
            <a:r>
              <a:rPr lang="ja-JP" altLang="en-US" dirty="0"/>
              <a:t>パイプライン段数を増やしていけば，どこまでも速くなるのか？</a:t>
            </a:r>
            <a:endParaRPr lang="en-US" altLang="ja-JP" dirty="0"/>
          </a:p>
          <a:p>
            <a:pPr lvl="1"/>
            <a:r>
              <a:rPr kumimoji="1" lang="ja-JP" altLang="en-US" dirty="0"/>
              <a:t>ならない</a:t>
            </a:r>
            <a:endParaRPr kumimoji="1" lang="en-US" altLang="ja-JP" dirty="0"/>
          </a:p>
          <a:p>
            <a:r>
              <a:rPr kumimoji="1" lang="ja-JP" altLang="en-US" dirty="0"/>
              <a:t>理由：</a:t>
            </a:r>
            <a:endParaRPr kumimoji="1" lang="en-US" altLang="ja-JP" dirty="0"/>
          </a:p>
          <a:p>
            <a:pPr marL="817200" lvl="1" indent="-457200">
              <a:buFont typeface="+mj-lt"/>
              <a:buAutoNum type="arabicPeriod"/>
            </a:pPr>
            <a:r>
              <a:rPr lang="ja-JP" altLang="en-US" dirty="0"/>
              <a:t>回路的な理由による周波数向上の限界</a:t>
            </a:r>
            <a:endParaRPr kumimoji="1" lang="en-US" altLang="ja-JP" dirty="0"/>
          </a:p>
          <a:p>
            <a:pPr marL="817200" lvl="1" indent="-457200">
              <a:buFont typeface="+mj-lt"/>
              <a:buAutoNum type="arabicPeriod"/>
            </a:pPr>
            <a:r>
              <a:rPr kumimoji="1" lang="ja-JP" altLang="en-US" dirty="0"/>
              <a:t>アーキテクチャ的な理由による実効性能の限界</a:t>
            </a:r>
            <a:endParaRPr kumimoji="1" lang="en-US" altLang="ja-JP" dirty="0"/>
          </a:p>
        </p:txBody>
      </p:sp>
      <p:sp>
        <p:nvSpPr>
          <p:cNvPr id="4" name="正方形/長方形 3"/>
          <p:cNvSpPr/>
          <p:nvPr/>
        </p:nvSpPr>
        <p:spPr>
          <a:xfrm>
            <a:off x="1865953" y="1772925"/>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grpSp>
        <p:nvGrpSpPr>
          <p:cNvPr id="6" name="グループ化 5"/>
          <p:cNvGrpSpPr/>
          <p:nvPr/>
        </p:nvGrpSpPr>
        <p:grpSpPr>
          <a:xfrm>
            <a:off x="4475982" y="2582933"/>
            <a:ext cx="1562400" cy="576064"/>
            <a:chOff x="971600" y="5445224"/>
            <a:chExt cx="7200800" cy="576064"/>
          </a:xfrm>
        </p:grpSpPr>
        <p:sp>
          <p:nvSpPr>
            <p:cNvPr id="7" name="平行四辺形 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 name="平行四辺形 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915998" y="2582933"/>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2" name="グループ化 11"/>
          <p:cNvGrpSpPr/>
          <p:nvPr/>
        </p:nvGrpSpPr>
        <p:grpSpPr>
          <a:xfrm>
            <a:off x="7356014" y="2582933"/>
            <a:ext cx="1562400" cy="576064"/>
            <a:chOff x="971600" y="5445224"/>
            <a:chExt cx="7200800" cy="576064"/>
          </a:xfrm>
        </p:grpSpPr>
        <p:sp>
          <p:nvSpPr>
            <p:cNvPr id="13" name="平行四辺形 1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4" name="平行四辺形 1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5" name="グループ化 14"/>
          <p:cNvGrpSpPr/>
          <p:nvPr/>
        </p:nvGrpSpPr>
        <p:grpSpPr>
          <a:xfrm>
            <a:off x="8796030" y="2582933"/>
            <a:ext cx="1584176" cy="576064"/>
            <a:chOff x="971600" y="5445224"/>
            <a:chExt cx="7200800" cy="576064"/>
          </a:xfrm>
        </p:grpSpPr>
        <p:sp>
          <p:nvSpPr>
            <p:cNvPr id="16" name="平行四辺形 15"/>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 name="平行四辺形 16"/>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8" name="正方形/長方形 17"/>
          <p:cNvSpPr/>
          <p:nvPr/>
        </p:nvSpPr>
        <p:spPr>
          <a:xfrm>
            <a:off x="4925988" y="177292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6276003" y="177292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0" name="正方形/長方形 19"/>
          <p:cNvSpPr/>
          <p:nvPr/>
        </p:nvSpPr>
        <p:spPr>
          <a:xfrm>
            <a:off x="7806020" y="177292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1" name="正方形/長方形 20"/>
          <p:cNvSpPr/>
          <p:nvPr/>
        </p:nvSpPr>
        <p:spPr>
          <a:xfrm>
            <a:off x="9156035" y="177292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角丸四角形 21"/>
          <p:cNvSpPr/>
          <p:nvPr/>
        </p:nvSpPr>
        <p:spPr bwMode="auto">
          <a:xfrm>
            <a:off x="6366003"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4" name="角丸四角形 23"/>
          <p:cNvSpPr/>
          <p:nvPr/>
        </p:nvSpPr>
        <p:spPr bwMode="auto">
          <a:xfrm>
            <a:off x="7715730"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5" name="角丸四角形 24"/>
          <p:cNvSpPr/>
          <p:nvPr/>
        </p:nvSpPr>
        <p:spPr bwMode="auto">
          <a:xfrm>
            <a:off x="9065745"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3" name="角丸四角形 22"/>
          <p:cNvSpPr/>
          <p:nvPr/>
        </p:nvSpPr>
        <p:spPr bwMode="auto">
          <a:xfrm>
            <a:off x="4835986"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9" name="角丸四角形吹き出し 28"/>
          <p:cNvSpPr/>
          <p:nvPr/>
        </p:nvSpPr>
        <p:spPr bwMode="auto">
          <a:xfrm>
            <a:off x="2945965" y="1142918"/>
            <a:ext cx="2520028"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85000"/>
                    <a:lumOff val="15000"/>
                  </a:schemeClr>
                </a:solidFill>
                <a:latin typeface="Arial Narrow" panose="020B0606020202030204" pitchFamily="34" charset="0"/>
              </a:rPr>
              <a:t>ひょっとして･･･ 無限に</a:t>
            </a:r>
            <a:endParaRPr lang="en-US" altLang="ja-JP" sz="1400" dirty="0">
              <a:solidFill>
                <a:schemeClr val="tx1">
                  <a:lumMod val="85000"/>
                  <a:lumOff val="15000"/>
                </a:schemeClr>
              </a:solidFill>
              <a:latin typeface="Arial Narrow" panose="020B0606020202030204" pitchFamily="34" charset="0"/>
            </a:endParaRPr>
          </a:p>
          <a:p>
            <a:r>
              <a:rPr lang="ja-JP" altLang="en-US" sz="1400" dirty="0">
                <a:solidFill>
                  <a:schemeClr val="tx1">
                    <a:lumMod val="85000"/>
                    <a:lumOff val="15000"/>
                  </a:schemeClr>
                </a:solidFill>
                <a:latin typeface="Arial Narrow" panose="020B0606020202030204" pitchFamily="34" charset="0"/>
              </a:rPr>
              <a:t>速くできるんじゃ</a:t>
            </a:r>
            <a:r>
              <a:rPr lang="ja-JP" altLang="en-US" sz="1400" dirty="0" err="1">
                <a:solidFill>
                  <a:schemeClr val="tx1">
                    <a:lumMod val="85000"/>
                    <a:lumOff val="15000"/>
                  </a:schemeClr>
                </a:solidFill>
                <a:latin typeface="Arial Narrow" panose="020B0606020202030204" pitchFamily="34" charset="0"/>
              </a:rPr>
              <a:t>ね</a:t>
            </a:r>
            <a:r>
              <a:rPr lang="ja-JP" altLang="en-US" sz="1400" dirty="0">
                <a:solidFill>
                  <a:schemeClr val="tx1">
                    <a:lumMod val="85000"/>
                    <a:lumOff val="15000"/>
                  </a:schemeClr>
                </a:solidFill>
                <a:latin typeface="Arial Narrow" panose="020B0606020202030204" pitchFamily="34" charset="0"/>
              </a:rPr>
              <a:t>！？</a:t>
            </a:r>
          </a:p>
        </p:txBody>
      </p:sp>
      <p:sp>
        <p:nvSpPr>
          <p:cNvPr id="31" name="正方形/長方形 30"/>
          <p:cNvSpPr/>
          <p:nvPr/>
        </p:nvSpPr>
        <p:spPr bwMode="auto">
          <a:xfrm>
            <a:off x="5555995" y="168292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1"/>
                </a:solidFill>
              </a:rPr>
              <a:t>ｵｲﾔﾒﾛ</a:t>
            </a:r>
          </a:p>
        </p:txBody>
      </p:sp>
      <p:sp>
        <p:nvSpPr>
          <p:cNvPr id="32" name="正方形/長方形 31"/>
          <p:cNvSpPr/>
          <p:nvPr/>
        </p:nvSpPr>
        <p:spPr bwMode="auto">
          <a:xfrm>
            <a:off x="8346026" y="168292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ﾑﾘﾑﾘ</a:t>
            </a:r>
          </a:p>
        </p:txBody>
      </p:sp>
      <p:sp>
        <p:nvSpPr>
          <p:cNvPr id="33" name="正方形/長方形 32"/>
          <p:cNvSpPr/>
          <p:nvPr/>
        </p:nvSpPr>
        <p:spPr bwMode="auto">
          <a:xfrm>
            <a:off x="6906010" y="1718981"/>
            <a:ext cx="540006" cy="450005"/>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3">
                    <a:lumMod val="75000"/>
                  </a:schemeClr>
                </a:solidFill>
              </a:rPr>
              <a:t>ﾔﾒﾃ</a:t>
            </a:r>
          </a:p>
        </p:txBody>
      </p:sp>
      <p:sp>
        <p:nvSpPr>
          <p:cNvPr id="34" name="正方形/長方形 33"/>
          <p:cNvSpPr/>
          <p:nvPr/>
        </p:nvSpPr>
        <p:spPr bwMode="auto">
          <a:xfrm>
            <a:off x="1865954" y="135897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ja-JP" altLang="en-US" sz="1600" dirty="0">
              <a:solidFill>
                <a:schemeClr val="tx1">
                  <a:lumMod val="85000"/>
                  <a:lumOff val="15000"/>
                </a:schemeClr>
              </a:solidFill>
            </a:endParaRPr>
          </a:p>
        </p:txBody>
      </p:sp>
      <p:sp>
        <p:nvSpPr>
          <p:cNvPr id="35" name="正方形/長方形 34"/>
          <p:cNvSpPr/>
          <p:nvPr/>
        </p:nvSpPr>
        <p:spPr>
          <a:xfrm>
            <a:off x="2585962" y="1538979"/>
            <a:ext cx="502061" cy="369332"/>
          </a:xfrm>
          <a:prstGeom prst="rect">
            <a:avLst/>
          </a:prstGeom>
        </p:spPr>
        <p:txBody>
          <a:bodyPr wrap="none">
            <a:spAutoFit/>
          </a:bodyPr>
          <a:lstStyle/>
          <a:p>
            <a:r>
              <a:rPr lang="ja-JP" altLang="en-US" dirty="0">
                <a:solidFill>
                  <a:schemeClr val="tx1">
                    <a:lumMod val="85000"/>
                    <a:lumOff val="15000"/>
                  </a:schemeClr>
                </a:solidFill>
              </a:rPr>
              <a:t>💡</a:t>
            </a:r>
          </a:p>
        </p:txBody>
      </p:sp>
      <p:sp>
        <p:nvSpPr>
          <p:cNvPr id="36" name="正方形/長方形 35">
            <a:extLst>
              <a:ext uri="{FF2B5EF4-FFF2-40B4-BE49-F238E27FC236}">
                <a16:creationId xmlns:a16="http://schemas.microsoft.com/office/drawing/2014/main" id="{693CAF5A-4D0E-9371-5EB3-8B5A3678E18F}"/>
              </a:ext>
            </a:extLst>
          </p:cNvPr>
          <p:cNvSpPr/>
          <p:nvPr/>
        </p:nvSpPr>
        <p:spPr>
          <a:xfrm>
            <a:off x="1955954" y="1538980"/>
            <a:ext cx="1620018" cy="307777"/>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ﾋﾗﾒｲﾀ！</a:t>
            </a:r>
          </a:p>
        </p:txBody>
      </p:sp>
    </p:spTree>
    <p:extLst>
      <p:ext uri="{BB962C8B-B14F-4D97-AF65-F5344CB8AC3E}">
        <p14:creationId xmlns:p14="http://schemas.microsoft.com/office/powerpoint/2010/main" val="3123867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回路的な理由</a:t>
            </a:r>
          </a:p>
        </p:txBody>
      </p:sp>
      <p:sp>
        <p:nvSpPr>
          <p:cNvPr id="3" name="テキスト プレースホルダー 2"/>
          <p:cNvSpPr>
            <a:spLocks noGrp="1"/>
          </p:cNvSpPr>
          <p:nvPr>
            <p:ph type="body" sz="quarter" idx="10"/>
          </p:nvPr>
        </p:nvSpPr>
        <p:spPr/>
        <p:txBody>
          <a:bodyPr/>
          <a:lstStyle/>
          <a:p>
            <a:r>
              <a:rPr kumimoji="1" lang="ja-JP" altLang="en-US" dirty="0"/>
              <a:t>理由：</a:t>
            </a:r>
            <a:endParaRPr kumimoji="1" lang="en-US" altLang="ja-JP" dirty="0"/>
          </a:p>
          <a:p>
            <a:pPr marL="817200" lvl="1" indent="-457200">
              <a:buFont typeface="+mj-lt"/>
              <a:buAutoNum type="arabicPeriod"/>
            </a:pPr>
            <a:r>
              <a:rPr kumimoji="1" lang="en-US" altLang="ja-JP" dirty="0"/>
              <a:t>D-FF </a:t>
            </a:r>
            <a:r>
              <a:rPr kumimoji="1" lang="ja-JP" altLang="en-US" dirty="0"/>
              <a:t>自体の遅延のため</a:t>
            </a:r>
            <a:endParaRPr kumimoji="1" lang="en-US" altLang="ja-JP" dirty="0"/>
          </a:p>
          <a:p>
            <a:pPr marL="817200" lvl="1" indent="-457200">
              <a:buFont typeface="+mj-lt"/>
              <a:buAutoNum type="arabicPeriod"/>
            </a:pPr>
            <a:r>
              <a:rPr kumimoji="1" lang="ja-JP" altLang="en-US" dirty="0"/>
              <a:t>消費電力と熱のため</a:t>
            </a:r>
          </a:p>
        </p:txBody>
      </p:sp>
    </p:spTree>
    <p:extLst>
      <p:ext uri="{BB962C8B-B14F-4D97-AF65-F5344CB8AC3E}">
        <p14:creationId xmlns:p14="http://schemas.microsoft.com/office/powerpoint/2010/main" val="33138741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13</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の回路</a:t>
            </a:r>
            <a:endParaRPr lang="en-US" altLang="ja-JP" dirty="0"/>
          </a:p>
        </p:txBody>
      </p:sp>
      <p:grpSp>
        <p:nvGrpSpPr>
          <p:cNvPr id="3" name="グループ化 2"/>
          <p:cNvGrpSpPr/>
          <p:nvPr/>
        </p:nvGrpSpPr>
        <p:grpSpPr>
          <a:xfrm>
            <a:off x="3395971" y="4779016"/>
            <a:ext cx="5400675" cy="1620223"/>
            <a:chOff x="1673205" y="1448415"/>
            <a:chExt cx="5400675" cy="1620223"/>
          </a:xfrm>
        </p:grpSpPr>
        <p:sp>
          <p:nvSpPr>
            <p:cNvPr id="700460" name="Freeform 44"/>
            <p:cNvSpPr>
              <a:spLocks/>
            </p:cNvSpPr>
            <p:nvPr/>
          </p:nvSpPr>
          <p:spPr bwMode="auto">
            <a:xfrm>
              <a:off x="2752705" y="1987550"/>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59" name="Freeform 43"/>
            <p:cNvSpPr>
              <a:spLocks/>
            </p:cNvSpPr>
            <p:nvPr/>
          </p:nvSpPr>
          <p:spPr bwMode="auto">
            <a:xfrm>
              <a:off x="4913292" y="1987550"/>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46" name="Picture 30" descr="NOT"/>
            <p:cNvPicPr>
              <a:picLocks noChangeAspect="1" noChangeArrowheads="1"/>
            </p:cNvPicPr>
            <p:nvPr/>
          </p:nvPicPr>
          <p:blipFill>
            <a:blip r:embed="rId3" cstate="print"/>
            <a:srcRect/>
            <a:stretch>
              <a:fillRect/>
            </a:stretch>
          </p:blipFill>
          <p:spPr bwMode="auto">
            <a:xfrm flipH="1">
              <a:off x="3113067" y="1627188"/>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3113067" y="2347913"/>
              <a:ext cx="717550" cy="720725"/>
            </a:xfrm>
            <a:prstGeom prst="rect">
              <a:avLst/>
            </a:prstGeom>
            <a:noFill/>
          </p:spPr>
        </p:pic>
        <p:pic>
          <p:nvPicPr>
            <p:cNvPr id="700448" name="Picture 32" descr="NOT"/>
            <p:cNvPicPr>
              <a:picLocks noChangeAspect="1" noChangeArrowheads="1"/>
            </p:cNvPicPr>
            <p:nvPr/>
          </p:nvPicPr>
          <p:blipFill>
            <a:blip r:embed="rId3" cstate="print"/>
            <a:srcRect/>
            <a:stretch>
              <a:fillRect/>
            </a:stretch>
          </p:blipFill>
          <p:spPr bwMode="auto">
            <a:xfrm flipH="1">
              <a:off x="5273655" y="1627188"/>
              <a:ext cx="717550" cy="720725"/>
            </a:xfrm>
            <a:prstGeom prst="rect">
              <a:avLst/>
            </a:prstGeom>
            <a:noFill/>
          </p:spPr>
        </p:pic>
        <p:pic>
          <p:nvPicPr>
            <p:cNvPr id="700449" name="Picture 33" descr="NOT"/>
            <p:cNvPicPr>
              <a:picLocks noChangeAspect="1" noChangeArrowheads="1"/>
            </p:cNvPicPr>
            <p:nvPr/>
          </p:nvPicPr>
          <p:blipFill>
            <a:blip r:embed="rId3" cstate="print"/>
            <a:srcRect/>
            <a:stretch>
              <a:fillRect/>
            </a:stretch>
          </p:blipFill>
          <p:spPr bwMode="auto">
            <a:xfrm>
              <a:off x="5273655" y="2347913"/>
              <a:ext cx="717550" cy="720725"/>
            </a:xfrm>
            <a:prstGeom prst="rect">
              <a:avLst/>
            </a:prstGeom>
            <a:noFill/>
          </p:spPr>
        </p:pic>
        <p:sp>
          <p:nvSpPr>
            <p:cNvPr id="700461" name="Line 45"/>
            <p:cNvSpPr>
              <a:spLocks noChangeShapeType="1"/>
            </p:cNvSpPr>
            <p:nvPr/>
          </p:nvSpPr>
          <p:spPr bwMode="auto">
            <a:xfrm>
              <a:off x="4192567" y="2708275"/>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53" name="Group 37"/>
            <p:cNvGrpSpPr>
              <a:grpSpLocks/>
            </p:cNvGrpSpPr>
            <p:nvPr/>
          </p:nvGrpSpPr>
          <p:grpSpPr bwMode="auto">
            <a:xfrm>
              <a:off x="4822805" y="2257425"/>
              <a:ext cx="180975" cy="180975"/>
              <a:chOff x="2823" y="1990"/>
              <a:chExt cx="227" cy="227"/>
            </a:xfrm>
          </p:grpSpPr>
          <p:sp>
            <p:nvSpPr>
              <p:cNvPr id="700454" name="Rectangle 3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5" name="Oval 3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56" name="Group 40"/>
            <p:cNvGrpSpPr>
              <a:grpSpLocks/>
            </p:cNvGrpSpPr>
            <p:nvPr/>
          </p:nvGrpSpPr>
          <p:grpSpPr bwMode="auto">
            <a:xfrm>
              <a:off x="4462442" y="2617788"/>
              <a:ext cx="180975" cy="180975"/>
              <a:chOff x="2823" y="1990"/>
              <a:chExt cx="227" cy="227"/>
            </a:xfrm>
          </p:grpSpPr>
          <p:sp>
            <p:nvSpPr>
              <p:cNvPr id="700457" name="Rectangle 4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8" name="Oval 4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62" name="Line 46"/>
            <p:cNvSpPr>
              <a:spLocks noChangeShapeType="1"/>
            </p:cNvSpPr>
            <p:nvPr/>
          </p:nvSpPr>
          <p:spPr bwMode="auto">
            <a:xfrm>
              <a:off x="2033567" y="2708275"/>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66" name="Group 50"/>
            <p:cNvGrpSpPr>
              <a:grpSpLocks/>
            </p:cNvGrpSpPr>
            <p:nvPr/>
          </p:nvGrpSpPr>
          <p:grpSpPr bwMode="auto">
            <a:xfrm>
              <a:off x="2663805" y="2257425"/>
              <a:ext cx="180975" cy="180975"/>
              <a:chOff x="2823" y="1990"/>
              <a:chExt cx="227" cy="227"/>
            </a:xfrm>
          </p:grpSpPr>
          <p:sp>
            <p:nvSpPr>
              <p:cNvPr id="700467" name="Rectangle 5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8" name="Oval 5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69" name="Group 53"/>
            <p:cNvGrpSpPr>
              <a:grpSpLocks/>
            </p:cNvGrpSpPr>
            <p:nvPr/>
          </p:nvGrpSpPr>
          <p:grpSpPr bwMode="auto">
            <a:xfrm>
              <a:off x="2303442" y="2617788"/>
              <a:ext cx="180975" cy="180975"/>
              <a:chOff x="2823" y="1990"/>
              <a:chExt cx="227" cy="227"/>
            </a:xfrm>
          </p:grpSpPr>
          <p:sp>
            <p:nvSpPr>
              <p:cNvPr id="700470" name="Rectangle 54"/>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71" name="Oval 55"/>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2" name="Line 56"/>
            <p:cNvSpPr>
              <a:spLocks noChangeShapeType="1"/>
            </p:cNvSpPr>
            <p:nvPr/>
          </p:nvSpPr>
          <p:spPr bwMode="auto">
            <a:xfrm>
              <a:off x="6353155" y="2708275"/>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1673205" y="2528888"/>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6713517" y="2528888"/>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476" name="Line 60"/>
            <p:cNvSpPr>
              <a:spLocks noChangeShapeType="1"/>
            </p:cNvSpPr>
            <p:nvPr/>
          </p:nvSpPr>
          <p:spPr bwMode="auto">
            <a:xfrm flipH="1" flipV="1">
              <a:off x="2303442" y="2617788"/>
              <a:ext cx="449263" cy="90487"/>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63" name="Group 47"/>
            <p:cNvGrpSpPr>
              <a:grpSpLocks/>
            </p:cNvGrpSpPr>
            <p:nvPr/>
          </p:nvGrpSpPr>
          <p:grpSpPr bwMode="auto">
            <a:xfrm>
              <a:off x="2663805" y="2617788"/>
              <a:ext cx="180975" cy="180975"/>
              <a:chOff x="2823" y="1990"/>
              <a:chExt cx="227" cy="227"/>
            </a:xfrm>
          </p:grpSpPr>
          <p:sp>
            <p:nvSpPr>
              <p:cNvPr id="700464" name="Rectangle 4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5" name="Oval 4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7" name="Line 61"/>
            <p:cNvSpPr>
              <a:spLocks noChangeShapeType="1"/>
            </p:cNvSpPr>
            <p:nvPr/>
          </p:nvSpPr>
          <p:spPr bwMode="auto">
            <a:xfrm flipH="1" flipV="1">
              <a:off x="4822805" y="2257425"/>
              <a:ext cx="88900" cy="45085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52" name="Group 36"/>
            <p:cNvGrpSpPr>
              <a:grpSpLocks/>
            </p:cNvGrpSpPr>
            <p:nvPr/>
          </p:nvGrpSpPr>
          <p:grpSpPr bwMode="auto">
            <a:xfrm>
              <a:off x="4822805" y="2617788"/>
              <a:ext cx="180975" cy="180975"/>
              <a:chOff x="2823" y="1990"/>
              <a:chExt cx="227" cy="227"/>
            </a:xfrm>
          </p:grpSpPr>
          <p:sp>
            <p:nvSpPr>
              <p:cNvPr id="700451" name="Rectangle 35"/>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0" name="Oval 3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9" name="Rectangle 93"/>
            <p:cNvSpPr>
              <a:spLocks noChangeArrowheads="1"/>
            </p:cNvSpPr>
            <p:nvPr/>
          </p:nvSpPr>
          <p:spPr bwMode="auto">
            <a:xfrm>
              <a:off x="4013231" y="1448415"/>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0</a:t>
              </a:r>
            </a:p>
          </p:txBody>
        </p:sp>
      </p:grpSp>
      <p:grpSp>
        <p:nvGrpSpPr>
          <p:cNvPr id="5" name="グループ化 4"/>
          <p:cNvGrpSpPr/>
          <p:nvPr/>
        </p:nvGrpSpPr>
        <p:grpSpPr>
          <a:xfrm>
            <a:off x="3395971" y="2798993"/>
            <a:ext cx="5400675" cy="1621452"/>
            <a:chOff x="1673205" y="4328498"/>
            <a:chExt cx="5400675" cy="1621452"/>
          </a:xfrm>
        </p:grpSpPr>
        <p:sp>
          <p:nvSpPr>
            <p:cNvPr id="700478" name="Freeform 62"/>
            <p:cNvSpPr>
              <a:spLocks/>
            </p:cNvSpPr>
            <p:nvPr/>
          </p:nvSpPr>
          <p:spPr bwMode="auto">
            <a:xfrm>
              <a:off x="2752705" y="4868863"/>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4913292" y="4868863"/>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3113067" y="4508500"/>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3113067" y="5229225"/>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5273655" y="4508500"/>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5273655" y="5229225"/>
              <a:ext cx="717550" cy="720725"/>
            </a:xfrm>
            <a:prstGeom prst="rect">
              <a:avLst/>
            </a:prstGeom>
            <a:noFill/>
          </p:spPr>
        </p:pic>
        <p:sp>
          <p:nvSpPr>
            <p:cNvPr id="700484" name="Line 68"/>
            <p:cNvSpPr>
              <a:spLocks noChangeShapeType="1"/>
            </p:cNvSpPr>
            <p:nvPr/>
          </p:nvSpPr>
          <p:spPr bwMode="auto">
            <a:xfrm>
              <a:off x="4192567" y="5589588"/>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4822805" y="5138738"/>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4462442" y="5499100"/>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2033567" y="5589588"/>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2663805" y="5138738"/>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2303442" y="5499100"/>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6353155" y="5589588"/>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1673205" y="5410200"/>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6713517" y="5410200"/>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2662217" y="5140325"/>
              <a:ext cx="90488" cy="449263"/>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2663805" y="5499100"/>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4462442" y="5499100"/>
              <a:ext cx="449263" cy="90488"/>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4822805" y="5499100"/>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10" name="Rectangle 94"/>
            <p:cNvSpPr>
              <a:spLocks noChangeArrowheads="1"/>
            </p:cNvSpPr>
            <p:nvPr/>
          </p:nvSpPr>
          <p:spPr bwMode="auto">
            <a:xfrm>
              <a:off x="4013231" y="4328498"/>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1</a:t>
              </a:r>
            </a:p>
          </p:txBody>
        </p:sp>
      </p:grpSp>
      <p:grpSp>
        <p:nvGrpSpPr>
          <p:cNvPr id="700516" name="Group 100"/>
          <p:cNvGrpSpPr>
            <a:grpSpLocks/>
          </p:cNvGrpSpPr>
          <p:nvPr/>
        </p:nvGrpSpPr>
        <p:grpSpPr bwMode="auto">
          <a:xfrm>
            <a:off x="9786042" y="4689014"/>
            <a:ext cx="358775" cy="360362"/>
            <a:chOff x="159" y="2500"/>
            <a:chExt cx="226" cy="227"/>
          </a:xfrm>
        </p:grpSpPr>
        <p:sp>
          <p:nvSpPr>
            <p:cNvPr id="700511" name="Freeform 95"/>
            <p:cNvSpPr>
              <a:spLocks/>
            </p:cNvSpPr>
            <p:nvPr/>
          </p:nvSpPr>
          <p:spPr bwMode="auto">
            <a:xfrm>
              <a:off x="159" y="2500"/>
              <a:ext cx="113" cy="227"/>
            </a:xfrm>
            <a:custGeom>
              <a:avLst/>
              <a:gdLst/>
              <a:ahLst/>
              <a:cxnLst>
                <a:cxn ang="0">
                  <a:pos x="0" y="227"/>
                </a:cxn>
                <a:cxn ang="0">
                  <a:pos x="113" y="227"/>
                </a:cxn>
                <a:cxn ang="0">
                  <a:pos x="113" y="0"/>
                </a:cxn>
              </a:cxnLst>
              <a:rect l="0" t="0" r="r" b="b"/>
              <a:pathLst>
                <a:path w="113" h="227">
                  <a:moveTo>
                    <a:pt x="0" y="227"/>
                  </a:moveTo>
                  <a:lnTo>
                    <a:pt x="113" y="227"/>
                  </a:lnTo>
                  <a:lnTo>
                    <a:pt x="113" y="0"/>
                  </a:lnTo>
                </a:path>
              </a:pathLst>
            </a:custGeom>
            <a:noFill/>
            <a:ln w="9525"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p>
          </p:txBody>
        </p:sp>
        <p:sp>
          <p:nvSpPr>
            <p:cNvPr id="700512" name="Line 96"/>
            <p:cNvSpPr>
              <a:spLocks noChangeShapeType="1"/>
            </p:cNvSpPr>
            <p:nvPr/>
          </p:nvSpPr>
          <p:spPr bwMode="auto">
            <a:xfrm>
              <a:off x="272" y="2500"/>
              <a:ext cx="113"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grpSp>
      <p:sp>
        <p:nvSpPr>
          <p:cNvPr id="700513" name="Freeform 97"/>
          <p:cNvSpPr>
            <a:spLocks/>
          </p:cNvSpPr>
          <p:nvPr/>
        </p:nvSpPr>
        <p:spPr bwMode="auto">
          <a:xfrm flipV="1">
            <a:off x="2225957" y="4869017"/>
            <a:ext cx="360362" cy="360363"/>
          </a:xfrm>
          <a:custGeom>
            <a:avLst/>
            <a:gdLst/>
            <a:ahLst/>
            <a:cxnLst>
              <a:cxn ang="0">
                <a:pos x="0" y="227"/>
              </a:cxn>
              <a:cxn ang="0">
                <a:pos x="114" y="227"/>
              </a:cxn>
              <a:cxn ang="0">
                <a:pos x="114" y="0"/>
              </a:cxn>
              <a:cxn ang="0">
                <a:pos x="227" y="0"/>
              </a:cxn>
            </a:cxnLst>
            <a:rect l="0" t="0" r="r" b="b"/>
            <a:pathLst>
              <a:path w="227" h="227">
                <a:moveTo>
                  <a:pt x="0" y="227"/>
                </a:moveTo>
                <a:lnTo>
                  <a:pt x="114" y="227"/>
                </a:lnTo>
                <a:lnTo>
                  <a:pt x="114" y="0"/>
                </a:lnTo>
                <a:lnTo>
                  <a:pt x="227" y="0"/>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514" name="AutoShape 98"/>
          <p:cNvSpPr>
            <a:spLocks noChangeArrowheads="1"/>
          </p:cNvSpPr>
          <p:nvPr/>
        </p:nvSpPr>
        <p:spPr bwMode="auto">
          <a:xfrm>
            <a:off x="2855964" y="4419011"/>
            <a:ext cx="539750" cy="1439734"/>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00515" name="AutoShape 99"/>
          <p:cNvSpPr>
            <a:spLocks noChangeArrowheads="1"/>
          </p:cNvSpPr>
          <p:nvPr/>
        </p:nvSpPr>
        <p:spPr bwMode="auto">
          <a:xfrm rot="-10800000">
            <a:off x="8976032" y="4329010"/>
            <a:ext cx="539750" cy="1439735"/>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5" name="Rectangle 5"/>
          <p:cNvSpPr txBox="1">
            <a:spLocks noChangeArrowheads="1"/>
          </p:cNvSpPr>
          <p:nvPr/>
        </p:nvSpPr>
        <p:spPr>
          <a:xfrm>
            <a:off x="2225958" y="1628980"/>
            <a:ext cx="8281219" cy="630844"/>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構造：マルチプレクサが入った２つのインバータのループ</a:t>
            </a:r>
            <a:endParaRPr lang="en-US" altLang="ja-JP" kern="0" dirty="0"/>
          </a:p>
          <a:p>
            <a:pPr lvl="1"/>
            <a:r>
              <a:rPr lang="ja-JP" altLang="en-US" kern="0" dirty="0"/>
              <a:t>マルチプレクサを，切り替えスイッチとして説明</a:t>
            </a:r>
          </a:p>
          <a:p>
            <a:pPr lvl="1"/>
            <a:r>
              <a:rPr lang="ja-JP" altLang="en-US" kern="0" dirty="0"/>
              <a:t>クロックの立ち上がりのたびに，</a:t>
            </a:r>
            <a:r>
              <a:rPr lang="en-US" altLang="ja-JP" i="1" kern="0" dirty="0"/>
              <a:t>d</a:t>
            </a:r>
            <a:r>
              <a:rPr lang="ja-JP" altLang="en-US" kern="0" dirty="0"/>
              <a:t> の値がサンプリングされる</a:t>
            </a:r>
            <a:endParaRPr lang="en-US" altLang="ja-JP" kern="0" dirty="0"/>
          </a:p>
          <a:p>
            <a:pPr lvl="1"/>
            <a:r>
              <a:rPr lang="ja-JP" altLang="en-US" kern="0" dirty="0"/>
              <a:t>その値が次のサイクルの間 </a:t>
            </a:r>
            <a:r>
              <a:rPr lang="en-US" altLang="ja-JP" i="1" kern="0" dirty="0"/>
              <a:t>q</a:t>
            </a:r>
            <a:r>
              <a:rPr lang="ja-JP" altLang="en-US" kern="0" dirty="0"/>
              <a:t> から出力される</a:t>
            </a:r>
            <a:endParaRPr lang="en-US" altLang="ja-JP" kern="0" dirty="0"/>
          </a:p>
        </p:txBody>
      </p:sp>
      <p:sp>
        <p:nvSpPr>
          <p:cNvPr id="77" name="Rectangle 93"/>
          <p:cNvSpPr>
            <a:spLocks noChangeArrowheads="1"/>
          </p:cNvSpPr>
          <p:nvPr/>
        </p:nvSpPr>
        <p:spPr bwMode="auto">
          <a:xfrm>
            <a:off x="8886032" y="3879005"/>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立ち上がり</a:t>
            </a:r>
            <a:endParaRPr lang="en-US" altLang="ja-JP" dirty="0"/>
          </a:p>
        </p:txBody>
      </p:sp>
      <p:sp>
        <p:nvSpPr>
          <p:cNvPr id="78" name="Rectangle 93"/>
          <p:cNvSpPr>
            <a:spLocks noChangeArrowheads="1"/>
          </p:cNvSpPr>
          <p:nvPr/>
        </p:nvSpPr>
        <p:spPr bwMode="auto">
          <a:xfrm>
            <a:off x="1865954" y="5859027"/>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立ち下がり</a:t>
            </a:r>
            <a:endParaRPr lang="en-US" altLang="ja-JP" dirty="0"/>
          </a:p>
        </p:txBody>
      </p:sp>
    </p:spTree>
    <p:extLst>
      <p:ext uri="{BB962C8B-B14F-4D97-AF65-F5344CB8AC3E}">
        <p14:creationId xmlns:p14="http://schemas.microsoft.com/office/powerpoint/2010/main" val="3142427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14</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の動作 ① クロック信号が </a:t>
            </a:r>
            <a:r>
              <a:rPr lang="en-US" altLang="ja-JP" dirty="0"/>
              <a:t>Low </a:t>
            </a:r>
            <a:r>
              <a:rPr lang="ja-JP" altLang="en-US" dirty="0"/>
              <a:t>にあるとき</a:t>
            </a:r>
            <a:endParaRPr lang="en-US" altLang="ja-JP" dirty="0"/>
          </a:p>
        </p:txBody>
      </p:sp>
      <p:sp>
        <p:nvSpPr>
          <p:cNvPr id="700478" name="Freeform 62"/>
          <p:cNvSpPr>
            <a:spLocks/>
          </p:cNvSpPr>
          <p:nvPr/>
        </p:nvSpPr>
        <p:spPr bwMode="auto">
          <a:xfrm>
            <a:off x="4295622" y="2708635"/>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6456210" y="2708635"/>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4655984" y="2348272"/>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4655984" y="3068997"/>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6816572" y="2348272"/>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6816572" y="3068997"/>
            <a:ext cx="717550" cy="720725"/>
          </a:xfrm>
          <a:prstGeom prst="rect">
            <a:avLst/>
          </a:prstGeom>
          <a:noFill/>
        </p:spPr>
      </p:pic>
      <p:sp>
        <p:nvSpPr>
          <p:cNvPr id="700484" name="Line 68"/>
          <p:cNvSpPr>
            <a:spLocks noChangeShapeType="1"/>
          </p:cNvSpPr>
          <p:nvPr/>
        </p:nvSpPr>
        <p:spPr bwMode="auto">
          <a:xfrm>
            <a:off x="5735485" y="3429359"/>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6365723" y="2978510"/>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6005360" y="3338872"/>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3576485" y="3429359"/>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4206723" y="2978510"/>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3846360" y="3338872"/>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896072" y="342935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3216122" y="3249972"/>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8256435" y="3249972"/>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3846130" y="3338282"/>
            <a:ext cx="449493" cy="91077"/>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4206723" y="3338872"/>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6366156" y="3068279"/>
            <a:ext cx="88464" cy="36108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6365723" y="3338872"/>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5" name="Rectangle 5"/>
          <p:cNvSpPr txBox="1">
            <a:spLocks noChangeArrowheads="1"/>
          </p:cNvSpPr>
          <p:nvPr/>
        </p:nvSpPr>
        <p:spPr>
          <a:xfrm>
            <a:off x="2386782" y="4149008"/>
            <a:ext cx="8281219" cy="2070860"/>
          </a:xfrm>
          <a:prstGeom prst="rect">
            <a:avLst/>
          </a:prstGeom>
        </p:spPr>
        <p:txBody>
          <a:bodyPr anchor="t"/>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左側のループ：</a:t>
            </a:r>
            <a:endParaRPr lang="en-US" altLang="ja-JP" kern="0" dirty="0"/>
          </a:p>
          <a:p>
            <a:pPr lvl="1"/>
            <a:r>
              <a:rPr lang="en-US" altLang="ja-JP" i="1" kern="0" dirty="0"/>
              <a:t>d</a:t>
            </a:r>
            <a:r>
              <a:rPr lang="en-US" altLang="ja-JP" kern="0" dirty="0"/>
              <a:t> </a:t>
            </a:r>
            <a:r>
              <a:rPr lang="ja-JP" altLang="en-US" kern="0" dirty="0"/>
              <a:t>の入力の変化に応じて，インバータの状態が随時切り替わる</a:t>
            </a:r>
            <a:endParaRPr lang="en-US" altLang="ja-JP" kern="0" dirty="0"/>
          </a:p>
          <a:p>
            <a:pPr lvl="1"/>
            <a:r>
              <a:rPr lang="ja-JP" altLang="en-US" kern="0" dirty="0"/>
              <a:t>右側のループとは遮断されている</a:t>
            </a:r>
            <a:endParaRPr lang="en-US" altLang="ja-JP" kern="0" dirty="0"/>
          </a:p>
          <a:p>
            <a:r>
              <a:rPr lang="ja-JP" altLang="en-US" kern="0" dirty="0"/>
              <a:t>右側のループ：</a:t>
            </a:r>
            <a:endParaRPr lang="en-US" altLang="ja-JP" kern="0" dirty="0"/>
          </a:p>
          <a:p>
            <a:pPr lvl="1"/>
            <a:r>
              <a:rPr lang="ja-JP" altLang="en-US" kern="0" dirty="0"/>
              <a:t>ループのインバータの状態（</a:t>
            </a:r>
            <a:r>
              <a:rPr lang="en-US" altLang="ja-JP" kern="0" dirty="0"/>
              <a:t>=</a:t>
            </a:r>
            <a:r>
              <a:rPr lang="ja-JP" altLang="en-US" kern="0" dirty="0"/>
              <a:t>記憶）が </a:t>
            </a:r>
            <a:r>
              <a:rPr lang="en-US" altLang="ja-JP" i="1" kern="0" dirty="0"/>
              <a:t>q</a:t>
            </a:r>
            <a:r>
              <a:rPr lang="en-US" altLang="ja-JP" kern="0" dirty="0"/>
              <a:t> </a:t>
            </a:r>
            <a:r>
              <a:rPr lang="ja-JP" altLang="en-US" kern="0" dirty="0"/>
              <a:t>に出力され続ける</a:t>
            </a:r>
            <a:endParaRPr lang="en-US" altLang="ja-JP" kern="0" dirty="0"/>
          </a:p>
        </p:txBody>
      </p:sp>
      <p:cxnSp>
        <p:nvCxnSpPr>
          <p:cNvPr id="92" name="直線コネクタ 91"/>
          <p:cNvCxnSpPr/>
          <p:nvPr/>
        </p:nvCxnSpPr>
        <p:spPr bwMode="auto">
          <a:xfrm flipV="1">
            <a:off x="276596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3" name="直線コネクタ 92"/>
          <p:cNvCxnSpPr/>
          <p:nvPr/>
        </p:nvCxnSpPr>
        <p:spPr bwMode="auto">
          <a:xfrm flipH="1">
            <a:off x="2765965"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4" name="直線コネクタ 93"/>
          <p:cNvCxnSpPr/>
          <p:nvPr/>
        </p:nvCxnSpPr>
        <p:spPr bwMode="auto">
          <a:xfrm flipV="1">
            <a:off x="384597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5" name="直線コネクタ 94"/>
          <p:cNvCxnSpPr/>
          <p:nvPr/>
        </p:nvCxnSpPr>
        <p:spPr bwMode="auto">
          <a:xfrm flipH="1">
            <a:off x="3845976" y="1988984"/>
            <a:ext cx="1170013" cy="0"/>
          </a:xfrm>
          <a:prstGeom prst="line">
            <a:avLst/>
          </a:prstGeom>
          <a:ln w="47625"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6" name="直線コネクタ 95"/>
          <p:cNvCxnSpPr/>
          <p:nvPr/>
        </p:nvCxnSpPr>
        <p:spPr bwMode="auto">
          <a:xfrm flipV="1">
            <a:off x="5015988" y="1448978"/>
            <a:ext cx="0" cy="540006"/>
          </a:xfrm>
          <a:prstGeom prst="line">
            <a:avLst/>
          </a:prstGeom>
          <a:ln w="19050" cap="rnd">
            <a:solidFill>
              <a:schemeClr val="tx1">
                <a:lumMod val="75000"/>
                <a:lumOff val="25000"/>
              </a:schemeClr>
            </a:solidFill>
            <a:headEnd type="none" w="med" len="med"/>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97" name="直線コネクタ 96"/>
          <p:cNvCxnSpPr/>
          <p:nvPr/>
        </p:nvCxnSpPr>
        <p:spPr bwMode="auto">
          <a:xfrm flipH="1">
            <a:off x="5015990"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8" name="直線コネクタ 97"/>
          <p:cNvCxnSpPr/>
          <p:nvPr/>
        </p:nvCxnSpPr>
        <p:spPr bwMode="auto">
          <a:xfrm flipV="1">
            <a:off x="6096000" y="1448978"/>
            <a:ext cx="0" cy="540006"/>
          </a:xfrm>
          <a:prstGeom prst="line">
            <a:avLst/>
          </a:prstGeom>
          <a:ln w="19050" cap="rnd">
            <a:solidFill>
              <a:schemeClr val="tx1">
                <a:lumMod val="75000"/>
                <a:lumOff val="25000"/>
              </a:schemeClr>
            </a:solidFill>
            <a:headEnd type="triangle" w="lg" len="lg"/>
            <a:tailEnd type="none" w="lg" len="lg"/>
          </a:ln>
          <a:effectLst/>
        </p:spPr>
        <p:style>
          <a:lnRef idx="3">
            <a:schemeClr val="accent5"/>
          </a:lnRef>
          <a:fillRef idx="0">
            <a:schemeClr val="accent5"/>
          </a:fillRef>
          <a:effectRef idx="2">
            <a:schemeClr val="accent5"/>
          </a:effectRef>
          <a:fontRef idx="minor">
            <a:schemeClr val="tx1"/>
          </a:fontRef>
        </p:style>
      </p:cxnSp>
      <p:cxnSp>
        <p:nvCxnSpPr>
          <p:cNvPr id="99" name="直線コネクタ 98"/>
          <p:cNvCxnSpPr/>
          <p:nvPr/>
        </p:nvCxnSpPr>
        <p:spPr bwMode="auto">
          <a:xfrm flipH="1">
            <a:off x="6096001"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0" name="直線コネクタ 99"/>
          <p:cNvCxnSpPr/>
          <p:nvPr/>
        </p:nvCxnSpPr>
        <p:spPr bwMode="auto">
          <a:xfrm flipV="1">
            <a:off x="726601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1" name="直線コネクタ 100"/>
          <p:cNvCxnSpPr/>
          <p:nvPr/>
        </p:nvCxnSpPr>
        <p:spPr bwMode="auto">
          <a:xfrm flipH="1">
            <a:off x="7266015"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2" name="直線コネクタ 101"/>
          <p:cNvCxnSpPr/>
          <p:nvPr/>
        </p:nvCxnSpPr>
        <p:spPr bwMode="auto">
          <a:xfrm flipV="1">
            <a:off x="834602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3" name="直線コネクタ 102"/>
          <p:cNvCxnSpPr/>
          <p:nvPr/>
        </p:nvCxnSpPr>
        <p:spPr bwMode="auto">
          <a:xfrm flipH="1">
            <a:off x="8346026"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4" name="直線コネクタ 103"/>
          <p:cNvCxnSpPr/>
          <p:nvPr/>
        </p:nvCxnSpPr>
        <p:spPr bwMode="auto">
          <a:xfrm flipV="1">
            <a:off x="9516038"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sp>
        <p:nvSpPr>
          <p:cNvPr id="2" name="円/楕円 1"/>
          <p:cNvSpPr/>
          <p:nvPr/>
        </p:nvSpPr>
        <p:spPr bwMode="auto">
          <a:xfrm>
            <a:off x="4205979" y="1538979"/>
            <a:ext cx="360004" cy="360004"/>
          </a:xfrm>
          <a:prstGeom prst="ellips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1"/>
                </a:solidFill>
                <a:latin typeface="+mn-ea"/>
              </a:rPr>
              <a:t>１</a:t>
            </a:r>
          </a:p>
        </p:txBody>
      </p:sp>
      <p:sp>
        <p:nvSpPr>
          <p:cNvPr id="106" name="円/楕円 105"/>
          <p:cNvSpPr/>
          <p:nvPr/>
        </p:nvSpPr>
        <p:spPr bwMode="auto">
          <a:xfrm>
            <a:off x="510598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２</a:t>
            </a:r>
          </a:p>
        </p:txBody>
      </p:sp>
      <p:sp>
        <p:nvSpPr>
          <p:cNvPr id="107" name="円/楕円 106"/>
          <p:cNvSpPr/>
          <p:nvPr/>
        </p:nvSpPr>
        <p:spPr bwMode="auto">
          <a:xfrm>
            <a:off x="5375992" y="998973"/>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３</a:t>
            </a:r>
          </a:p>
        </p:txBody>
      </p:sp>
      <p:sp>
        <p:nvSpPr>
          <p:cNvPr id="108" name="円/楕円 107"/>
          <p:cNvSpPr/>
          <p:nvPr/>
        </p:nvSpPr>
        <p:spPr bwMode="auto">
          <a:xfrm>
            <a:off x="6186001"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４</a:t>
            </a:r>
          </a:p>
        </p:txBody>
      </p:sp>
    </p:spTree>
    <p:extLst>
      <p:ext uri="{BB962C8B-B14F-4D97-AF65-F5344CB8AC3E}">
        <p14:creationId xmlns:p14="http://schemas.microsoft.com/office/powerpoint/2010/main" val="4081497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15</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の動作 ② クロック信号の立ち上がり</a:t>
            </a:r>
            <a:endParaRPr lang="en-US" altLang="ja-JP" dirty="0"/>
          </a:p>
        </p:txBody>
      </p:sp>
      <p:sp>
        <p:nvSpPr>
          <p:cNvPr id="700478" name="Freeform 62"/>
          <p:cNvSpPr>
            <a:spLocks/>
          </p:cNvSpPr>
          <p:nvPr/>
        </p:nvSpPr>
        <p:spPr bwMode="auto">
          <a:xfrm>
            <a:off x="4295622" y="2708635"/>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6456210" y="2708635"/>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4655984" y="2348272"/>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4655984" y="3068997"/>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6816572" y="2348272"/>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6816572" y="3068997"/>
            <a:ext cx="717550" cy="720725"/>
          </a:xfrm>
          <a:prstGeom prst="rect">
            <a:avLst/>
          </a:prstGeom>
          <a:noFill/>
        </p:spPr>
      </p:pic>
      <p:sp>
        <p:nvSpPr>
          <p:cNvPr id="700484" name="Line 68"/>
          <p:cNvSpPr>
            <a:spLocks noChangeShapeType="1"/>
          </p:cNvSpPr>
          <p:nvPr/>
        </p:nvSpPr>
        <p:spPr bwMode="auto">
          <a:xfrm>
            <a:off x="5735485" y="3429359"/>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6365723" y="2978510"/>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6005360" y="3338872"/>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3576485" y="3429359"/>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4206723" y="2978510"/>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3846360" y="3338872"/>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896072" y="342935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3216122" y="3249972"/>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8256435" y="3249972"/>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3935975" y="3248998"/>
            <a:ext cx="359646" cy="18036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4206723" y="3338872"/>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6276002" y="3068996"/>
            <a:ext cx="178618" cy="360363"/>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6365723" y="3338872"/>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5" name="Rectangle 5"/>
          <p:cNvSpPr txBox="1">
            <a:spLocks noChangeArrowheads="1"/>
          </p:cNvSpPr>
          <p:nvPr/>
        </p:nvSpPr>
        <p:spPr>
          <a:xfrm>
            <a:off x="2386782" y="4149008"/>
            <a:ext cx="8281219" cy="2070860"/>
          </a:xfrm>
          <a:prstGeom prst="rect">
            <a:avLst/>
          </a:prstGeom>
        </p:spPr>
        <p:txBody>
          <a:bodyPr anchor="t"/>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左側のループ：</a:t>
            </a:r>
            <a:endParaRPr lang="en-US" altLang="ja-JP" kern="0" dirty="0"/>
          </a:p>
          <a:p>
            <a:pPr lvl="1"/>
            <a:r>
              <a:rPr lang="en-US" altLang="ja-JP" i="1" kern="0" dirty="0"/>
              <a:t>d</a:t>
            </a:r>
            <a:r>
              <a:rPr lang="en-US" altLang="ja-JP" kern="0" dirty="0"/>
              <a:t> </a:t>
            </a:r>
            <a:r>
              <a:rPr lang="ja-JP" altLang="en-US" kern="0" dirty="0"/>
              <a:t>と遮断され，ループが形成される</a:t>
            </a:r>
            <a:endParaRPr lang="en-US" altLang="ja-JP" kern="0" dirty="0"/>
          </a:p>
          <a:p>
            <a:pPr lvl="1"/>
            <a:r>
              <a:rPr lang="ja-JP" altLang="en-US" kern="0" dirty="0"/>
              <a:t>直前まで </a:t>
            </a:r>
            <a:r>
              <a:rPr lang="en-US" altLang="ja-JP" i="1" kern="0" dirty="0"/>
              <a:t>d</a:t>
            </a:r>
            <a:r>
              <a:rPr lang="en-US" altLang="ja-JP" kern="0" dirty="0"/>
              <a:t> </a:t>
            </a:r>
            <a:r>
              <a:rPr lang="ja-JP" altLang="en-US" kern="0" dirty="0"/>
              <a:t>に入力されていた信号が記憶される</a:t>
            </a:r>
            <a:endParaRPr lang="en-US" altLang="ja-JP" kern="0" dirty="0"/>
          </a:p>
          <a:p>
            <a:r>
              <a:rPr lang="ja-JP" altLang="en-US" kern="0" dirty="0"/>
              <a:t>右側のループ：</a:t>
            </a:r>
            <a:endParaRPr lang="en-US" altLang="ja-JP" kern="0" dirty="0"/>
          </a:p>
          <a:p>
            <a:pPr lvl="1"/>
            <a:r>
              <a:rPr lang="ja-JP" altLang="en-US" kern="0" dirty="0"/>
              <a:t>左側のループと繋がり，ループが解除される</a:t>
            </a:r>
            <a:endParaRPr lang="en-US" altLang="ja-JP" kern="0" dirty="0"/>
          </a:p>
        </p:txBody>
      </p:sp>
      <p:cxnSp>
        <p:nvCxnSpPr>
          <p:cNvPr id="53" name="直線コネクタ 52"/>
          <p:cNvCxnSpPr/>
          <p:nvPr/>
        </p:nvCxnSpPr>
        <p:spPr bwMode="auto">
          <a:xfrm flipV="1">
            <a:off x="276596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4" name="直線コネクタ 53"/>
          <p:cNvCxnSpPr/>
          <p:nvPr/>
        </p:nvCxnSpPr>
        <p:spPr bwMode="auto">
          <a:xfrm flipH="1">
            <a:off x="2765965"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5" name="直線コネクタ 54"/>
          <p:cNvCxnSpPr/>
          <p:nvPr/>
        </p:nvCxnSpPr>
        <p:spPr bwMode="auto">
          <a:xfrm flipV="1">
            <a:off x="384597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6" name="直線コネクタ 55"/>
          <p:cNvCxnSpPr/>
          <p:nvPr/>
        </p:nvCxnSpPr>
        <p:spPr bwMode="auto">
          <a:xfrm flipH="1">
            <a:off x="3845976"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7" name="直線コネクタ 56"/>
          <p:cNvCxnSpPr/>
          <p:nvPr/>
        </p:nvCxnSpPr>
        <p:spPr bwMode="auto">
          <a:xfrm flipV="1">
            <a:off x="5015988" y="1448978"/>
            <a:ext cx="0" cy="540006"/>
          </a:xfrm>
          <a:prstGeom prst="line">
            <a:avLst/>
          </a:prstGeom>
          <a:ln w="38100" cap="rnd">
            <a:solidFill>
              <a:schemeClr val="accent5"/>
            </a:solidFill>
            <a:headEnd type="none" w="med" len="med"/>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8" name="直線コネクタ 57"/>
          <p:cNvCxnSpPr/>
          <p:nvPr/>
        </p:nvCxnSpPr>
        <p:spPr bwMode="auto">
          <a:xfrm flipH="1">
            <a:off x="5015990"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9" name="直線コネクタ 58"/>
          <p:cNvCxnSpPr/>
          <p:nvPr/>
        </p:nvCxnSpPr>
        <p:spPr bwMode="auto">
          <a:xfrm flipV="1">
            <a:off x="6096000" y="1448978"/>
            <a:ext cx="0" cy="540006"/>
          </a:xfrm>
          <a:prstGeom prst="line">
            <a:avLst/>
          </a:prstGeom>
          <a:ln w="19050" cap="rnd">
            <a:solidFill>
              <a:schemeClr val="tx1">
                <a:lumMod val="75000"/>
                <a:lumOff val="25000"/>
              </a:schemeClr>
            </a:solidFill>
            <a:headEnd type="triangle" w="lg" len="lg"/>
            <a:tailEnd type="none" w="lg" len="lg"/>
          </a:ln>
          <a:effectLst/>
        </p:spPr>
        <p:style>
          <a:lnRef idx="3">
            <a:schemeClr val="accent5"/>
          </a:lnRef>
          <a:fillRef idx="0">
            <a:schemeClr val="accent5"/>
          </a:fillRef>
          <a:effectRef idx="2">
            <a:schemeClr val="accent5"/>
          </a:effectRef>
          <a:fontRef idx="minor">
            <a:schemeClr val="tx1"/>
          </a:fontRef>
        </p:style>
      </p:cxnSp>
      <p:cxnSp>
        <p:nvCxnSpPr>
          <p:cNvPr id="60" name="直線コネクタ 59"/>
          <p:cNvCxnSpPr/>
          <p:nvPr/>
        </p:nvCxnSpPr>
        <p:spPr bwMode="auto">
          <a:xfrm flipH="1">
            <a:off x="6096001"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1" name="直線コネクタ 60"/>
          <p:cNvCxnSpPr/>
          <p:nvPr/>
        </p:nvCxnSpPr>
        <p:spPr bwMode="auto">
          <a:xfrm flipV="1">
            <a:off x="726601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2" name="直線コネクタ 61"/>
          <p:cNvCxnSpPr/>
          <p:nvPr/>
        </p:nvCxnSpPr>
        <p:spPr bwMode="auto">
          <a:xfrm flipH="1">
            <a:off x="7266015"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3" name="直線コネクタ 62"/>
          <p:cNvCxnSpPr/>
          <p:nvPr/>
        </p:nvCxnSpPr>
        <p:spPr bwMode="auto">
          <a:xfrm flipV="1">
            <a:off x="834602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4" name="直線コネクタ 63"/>
          <p:cNvCxnSpPr/>
          <p:nvPr/>
        </p:nvCxnSpPr>
        <p:spPr bwMode="auto">
          <a:xfrm flipH="1">
            <a:off x="8346026"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5" name="直線コネクタ 64"/>
          <p:cNvCxnSpPr/>
          <p:nvPr/>
        </p:nvCxnSpPr>
        <p:spPr bwMode="auto">
          <a:xfrm flipV="1">
            <a:off x="9516038"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sp>
        <p:nvSpPr>
          <p:cNvPr id="66" name="円/楕円 65"/>
          <p:cNvSpPr/>
          <p:nvPr/>
        </p:nvSpPr>
        <p:spPr bwMode="auto">
          <a:xfrm>
            <a:off x="420597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67" name="円/楕円 66"/>
          <p:cNvSpPr/>
          <p:nvPr/>
        </p:nvSpPr>
        <p:spPr bwMode="auto">
          <a:xfrm>
            <a:off x="5105989" y="1538979"/>
            <a:ext cx="360004" cy="360004"/>
          </a:xfrm>
          <a:prstGeom prst="ellips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5"/>
                </a:solidFill>
                <a:latin typeface="+mn-ea"/>
              </a:rPr>
              <a:t>２</a:t>
            </a:r>
          </a:p>
        </p:txBody>
      </p:sp>
      <p:sp>
        <p:nvSpPr>
          <p:cNvPr id="68" name="円/楕円 67"/>
          <p:cNvSpPr/>
          <p:nvPr/>
        </p:nvSpPr>
        <p:spPr bwMode="auto">
          <a:xfrm>
            <a:off x="5375992" y="998973"/>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３</a:t>
            </a:r>
          </a:p>
        </p:txBody>
      </p:sp>
      <p:sp>
        <p:nvSpPr>
          <p:cNvPr id="69" name="円/楕円 68"/>
          <p:cNvSpPr/>
          <p:nvPr/>
        </p:nvSpPr>
        <p:spPr bwMode="auto">
          <a:xfrm>
            <a:off x="6186001"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４</a:t>
            </a:r>
          </a:p>
        </p:txBody>
      </p:sp>
      <p:sp>
        <p:nvSpPr>
          <p:cNvPr id="3" name="円弧 2"/>
          <p:cNvSpPr/>
          <p:nvPr/>
        </p:nvSpPr>
        <p:spPr bwMode="auto">
          <a:xfrm>
            <a:off x="3935976" y="3068997"/>
            <a:ext cx="540006" cy="450005"/>
          </a:xfrm>
          <a:prstGeom prst="arc">
            <a:avLst>
              <a:gd name="adj1" fmla="val 11670164"/>
              <a:gd name="adj2" fmla="val 16233113"/>
            </a:avLst>
          </a:prstGeom>
          <a:noFill/>
          <a:ln w="38100" cap="flat" cmpd="sng" algn="ctr">
            <a:solidFill>
              <a:schemeClr val="accent5"/>
            </a:solidFill>
            <a:prstDash val="solid"/>
            <a:round/>
            <a:headEnd type="none" w="med" len="med"/>
            <a:tailEnd type="stealth"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71" name="円弧 70"/>
          <p:cNvSpPr/>
          <p:nvPr/>
        </p:nvSpPr>
        <p:spPr bwMode="auto">
          <a:xfrm rot="16200000" flipH="1">
            <a:off x="6006002" y="3159000"/>
            <a:ext cx="540006" cy="360003"/>
          </a:xfrm>
          <a:prstGeom prst="arc">
            <a:avLst>
              <a:gd name="adj1" fmla="val 11670164"/>
              <a:gd name="adj2" fmla="val 16233113"/>
            </a:avLst>
          </a:prstGeom>
          <a:noFill/>
          <a:ln w="38100" cap="flat" cmpd="sng" algn="ctr">
            <a:solidFill>
              <a:schemeClr val="accent5"/>
            </a:solidFill>
            <a:prstDash val="solid"/>
            <a:round/>
            <a:headEnd type="none" w="med" len="med"/>
            <a:tailEnd type="stealth"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Tree>
    <p:extLst>
      <p:ext uri="{BB962C8B-B14F-4D97-AF65-F5344CB8AC3E}">
        <p14:creationId xmlns:p14="http://schemas.microsoft.com/office/powerpoint/2010/main" val="1133823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16</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の動作 ③ クロック信号が </a:t>
            </a:r>
            <a:r>
              <a:rPr lang="en-US" altLang="ja-JP" dirty="0"/>
              <a:t>High</a:t>
            </a:r>
          </a:p>
        </p:txBody>
      </p:sp>
      <p:sp>
        <p:nvSpPr>
          <p:cNvPr id="700478" name="Freeform 62"/>
          <p:cNvSpPr>
            <a:spLocks/>
          </p:cNvSpPr>
          <p:nvPr/>
        </p:nvSpPr>
        <p:spPr bwMode="auto">
          <a:xfrm>
            <a:off x="4295622" y="2708635"/>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6456210" y="2708635"/>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4655984" y="2348272"/>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4655984" y="3068997"/>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6816572" y="2348272"/>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6816572" y="3068997"/>
            <a:ext cx="717550" cy="720725"/>
          </a:xfrm>
          <a:prstGeom prst="rect">
            <a:avLst/>
          </a:prstGeom>
          <a:noFill/>
        </p:spPr>
      </p:pic>
      <p:sp>
        <p:nvSpPr>
          <p:cNvPr id="700484" name="Line 68"/>
          <p:cNvSpPr>
            <a:spLocks noChangeShapeType="1"/>
          </p:cNvSpPr>
          <p:nvPr/>
        </p:nvSpPr>
        <p:spPr bwMode="auto">
          <a:xfrm>
            <a:off x="5735485" y="3429359"/>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6365723" y="2978510"/>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6005360" y="3338872"/>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3576485" y="3429359"/>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4206723" y="2978510"/>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3846360" y="3338872"/>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896072" y="342935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3216122" y="3249972"/>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8256435" y="3249972"/>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4205979" y="3068996"/>
            <a:ext cx="89642" cy="360362"/>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4206723" y="3338872"/>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6006000" y="3338999"/>
            <a:ext cx="448621" cy="90359"/>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6365723" y="3338872"/>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mc:AlternateContent xmlns:mc="http://schemas.openxmlformats.org/markup-compatibility/2006" xmlns:a14="http://schemas.microsoft.com/office/drawing/2010/main">
        <mc:Choice Requires="a14">
          <p:sp>
            <p:nvSpPr>
              <p:cNvPr id="75" name="Rectangle 5"/>
              <p:cNvSpPr txBox="1">
                <a:spLocks noChangeArrowheads="1"/>
              </p:cNvSpPr>
              <p:nvPr/>
            </p:nvSpPr>
            <p:spPr>
              <a:xfrm>
                <a:off x="2386782" y="4149008"/>
                <a:ext cx="8281219" cy="2070860"/>
              </a:xfrm>
              <a:prstGeom prst="rect">
                <a:avLst/>
              </a:prstGeom>
            </p:spPr>
            <p:txBody>
              <a:bodyPr anchor="t"/>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左側のループ：</a:t>
                </a:r>
                <a:endParaRPr lang="en-US" altLang="ja-JP" kern="0" dirty="0"/>
              </a:p>
              <a:p>
                <a:pPr lvl="1"/>
                <a:r>
                  <a:rPr lang="ja-JP" altLang="en-US" kern="0" dirty="0"/>
                  <a:t>クロックが立ち上がる直前の </a:t>
                </a:r>
                <a14:m>
                  <m:oMath xmlns:m="http://schemas.openxmlformats.org/officeDocument/2006/math">
                    <m:r>
                      <a:rPr lang="en-US" altLang="ja-JP" i="1" kern="0" dirty="0">
                        <a:latin typeface="Cambria Math" panose="02040503050406030204" pitchFamily="18" charset="0"/>
                      </a:rPr>
                      <m:t>𝑑</m:t>
                    </m:r>
                    <m:r>
                      <a:rPr lang="en-US" altLang="ja-JP" kern="0" dirty="0">
                        <a:latin typeface="Cambria Math" panose="02040503050406030204" pitchFamily="18" charset="0"/>
                      </a:rPr>
                      <m:t> </m:t>
                    </m:r>
                  </m:oMath>
                </a14:m>
                <a:r>
                  <a:rPr lang="ja-JP" altLang="en-US" kern="0" dirty="0"/>
                  <a:t>の内容を出し続ける</a:t>
                </a:r>
                <a:endParaRPr lang="en-US" altLang="ja-JP" kern="0" dirty="0"/>
              </a:p>
              <a:p>
                <a:r>
                  <a:rPr lang="ja-JP" altLang="en-US" kern="0" dirty="0"/>
                  <a:t>右側のループ：</a:t>
                </a:r>
                <a:endParaRPr lang="en-US" altLang="ja-JP" kern="0" dirty="0"/>
              </a:p>
              <a:p>
                <a:pPr lvl="1"/>
                <a:r>
                  <a:rPr lang="ja-JP" altLang="en-US" kern="0" dirty="0"/>
                  <a:t>左側のループの出力を反転して </a:t>
                </a:r>
                <a14:m>
                  <m:oMath xmlns:m="http://schemas.openxmlformats.org/officeDocument/2006/math">
                    <m:r>
                      <a:rPr lang="en-US" altLang="ja-JP" i="1" kern="0" dirty="0">
                        <a:latin typeface="Cambria Math" panose="02040503050406030204" pitchFamily="18" charset="0"/>
                      </a:rPr>
                      <m:t>𝑞</m:t>
                    </m:r>
                  </m:oMath>
                </a14:m>
                <a:r>
                  <a:rPr lang="en-US" altLang="ja-JP" kern="0" dirty="0"/>
                  <a:t> </a:t>
                </a:r>
                <a:r>
                  <a:rPr lang="ja-JP" altLang="en-US" kern="0" dirty="0"/>
                  <a:t>に出力</a:t>
                </a:r>
                <a:endParaRPr lang="en-US" altLang="ja-JP" kern="0" dirty="0"/>
              </a:p>
            </p:txBody>
          </p:sp>
        </mc:Choice>
        <mc:Fallback xmlns="">
          <p:sp>
            <p:nvSpPr>
              <p:cNvPr id="75" name="Rectangle 5"/>
              <p:cNvSpPr txBox="1">
                <a:spLocks noRot="1" noChangeAspect="1" noMove="1" noResize="1" noEditPoints="1" noAdjustHandles="1" noChangeArrowheads="1" noChangeShapeType="1" noTextEdit="1"/>
              </p:cNvSpPr>
              <p:nvPr/>
            </p:nvSpPr>
            <p:spPr>
              <a:xfrm>
                <a:off x="2386782" y="4149008"/>
                <a:ext cx="8281219" cy="2070860"/>
              </a:xfrm>
              <a:prstGeom prst="rect">
                <a:avLst/>
              </a:prstGeom>
              <a:blipFill>
                <a:blip r:embed="rId4"/>
                <a:stretch>
                  <a:fillRect l="-663" t="-885" b="-3835"/>
                </a:stretch>
              </a:blipFill>
            </p:spPr>
            <p:txBody>
              <a:bodyPr/>
              <a:lstStyle/>
              <a:p>
                <a:r>
                  <a:rPr lang="ja-JP" altLang="en-US">
                    <a:noFill/>
                  </a:rPr>
                  <a:t> </a:t>
                </a:r>
              </a:p>
            </p:txBody>
          </p:sp>
        </mc:Fallback>
      </mc:AlternateContent>
      <p:cxnSp>
        <p:nvCxnSpPr>
          <p:cNvPr id="53" name="直線コネクタ 52"/>
          <p:cNvCxnSpPr/>
          <p:nvPr/>
        </p:nvCxnSpPr>
        <p:spPr bwMode="auto">
          <a:xfrm flipV="1">
            <a:off x="276596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4" name="直線コネクタ 53"/>
          <p:cNvCxnSpPr/>
          <p:nvPr/>
        </p:nvCxnSpPr>
        <p:spPr bwMode="auto">
          <a:xfrm flipH="1">
            <a:off x="2765965"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5" name="直線コネクタ 54"/>
          <p:cNvCxnSpPr/>
          <p:nvPr/>
        </p:nvCxnSpPr>
        <p:spPr bwMode="auto">
          <a:xfrm flipV="1">
            <a:off x="384597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6" name="直線コネクタ 55"/>
          <p:cNvCxnSpPr/>
          <p:nvPr/>
        </p:nvCxnSpPr>
        <p:spPr bwMode="auto">
          <a:xfrm flipH="1">
            <a:off x="3845976"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7" name="直線コネクタ 56"/>
          <p:cNvCxnSpPr/>
          <p:nvPr/>
        </p:nvCxnSpPr>
        <p:spPr bwMode="auto">
          <a:xfrm flipV="1">
            <a:off x="5015988" y="1448978"/>
            <a:ext cx="0" cy="540006"/>
          </a:xfrm>
          <a:prstGeom prst="line">
            <a:avLst/>
          </a:prstGeom>
          <a:ln w="19050" cap="rnd">
            <a:solidFill>
              <a:schemeClr val="tx1">
                <a:lumMod val="75000"/>
                <a:lumOff val="25000"/>
              </a:schemeClr>
            </a:solidFill>
            <a:headEnd type="none" w="med" len="med"/>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8" name="直線コネクタ 57"/>
          <p:cNvCxnSpPr/>
          <p:nvPr/>
        </p:nvCxnSpPr>
        <p:spPr bwMode="auto">
          <a:xfrm flipH="1">
            <a:off x="5015990" y="1448978"/>
            <a:ext cx="1080011" cy="0"/>
          </a:xfrm>
          <a:prstGeom prst="line">
            <a:avLst/>
          </a:prstGeom>
          <a:ln w="38100" cap="rnd">
            <a:solidFill>
              <a:schemeClr val="accent5"/>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9" name="直線コネクタ 58"/>
          <p:cNvCxnSpPr/>
          <p:nvPr/>
        </p:nvCxnSpPr>
        <p:spPr bwMode="auto">
          <a:xfrm flipV="1">
            <a:off x="6096000" y="1448978"/>
            <a:ext cx="0" cy="540006"/>
          </a:xfrm>
          <a:prstGeom prst="line">
            <a:avLst/>
          </a:prstGeom>
          <a:ln w="19050" cap="rnd">
            <a:solidFill>
              <a:schemeClr val="tx1">
                <a:lumMod val="75000"/>
                <a:lumOff val="25000"/>
              </a:schemeClr>
            </a:solidFill>
            <a:headEnd type="triangle" w="lg" len="lg"/>
            <a:tailEnd type="none" w="lg" len="lg"/>
          </a:ln>
          <a:effectLst/>
        </p:spPr>
        <p:style>
          <a:lnRef idx="3">
            <a:schemeClr val="accent5"/>
          </a:lnRef>
          <a:fillRef idx="0">
            <a:schemeClr val="accent5"/>
          </a:fillRef>
          <a:effectRef idx="2">
            <a:schemeClr val="accent5"/>
          </a:effectRef>
          <a:fontRef idx="minor">
            <a:schemeClr val="tx1"/>
          </a:fontRef>
        </p:style>
      </p:cxnSp>
      <p:cxnSp>
        <p:nvCxnSpPr>
          <p:cNvPr id="60" name="直線コネクタ 59"/>
          <p:cNvCxnSpPr/>
          <p:nvPr/>
        </p:nvCxnSpPr>
        <p:spPr bwMode="auto">
          <a:xfrm flipH="1">
            <a:off x="6096001"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1" name="直線コネクタ 60"/>
          <p:cNvCxnSpPr/>
          <p:nvPr/>
        </p:nvCxnSpPr>
        <p:spPr bwMode="auto">
          <a:xfrm flipV="1">
            <a:off x="726601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2" name="直線コネクタ 61"/>
          <p:cNvCxnSpPr/>
          <p:nvPr/>
        </p:nvCxnSpPr>
        <p:spPr bwMode="auto">
          <a:xfrm flipH="1">
            <a:off x="7266015"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3" name="直線コネクタ 62"/>
          <p:cNvCxnSpPr/>
          <p:nvPr/>
        </p:nvCxnSpPr>
        <p:spPr bwMode="auto">
          <a:xfrm flipV="1">
            <a:off x="834602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4" name="直線コネクタ 63"/>
          <p:cNvCxnSpPr/>
          <p:nvPr/>
        </p:nvCxnSpPr>
        <p:spPr bwMode="auto">
          <a:xfrm flipH="1">
            <a:off x="8346026"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5" name="直線コネクタ 64"/>
          <p:cNvCxnSpPr/>
          <p:nvPr/>
        </p:nvCxnSpPr>
        <p:spPr bwMode="auto">
          <a:xfrm flipV="1">
            <a:off x="9516038"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sp>
        <p:nvSpPr>
          <p:cNvPr id="66" name="円/楕円 65"/>
          <p:cNvSpPr/>
          <p:nvPr/>
        </p:nvSpPr>
        <p:spPr bwMode="auto">
          <a:xfrm>
            <a:off x="420597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67" name="円/楕円 66"/>
          <p:cNvSpPr/>
          <p:nvPr/>
        </p:nvSpPr>
        <p:spPr bwMode="auto">
          <a:xfrm>
            <a:off x="510598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２</a:t>
            </a:r>
          </a:p>
        </p:txBody>
      </p:sp>
      <p:sp>
        <p:nvSpPr>
          <p:cNvPr id="68" name="円/楕円 67"/>
          <p:cNvSpPr/>
          <p:nvPr/>
        </p:nvSpPr>
        <p:spPr bwMode="auto">
          <a:xfrm>
            <a:off x="5375992" y="998973"/>
            <a:ext cx="360004" cy="360004"/>
          </a:xfrm>
          <a:prstGeom prst="ellips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5"/>
                </a:solidFill>
                <a:latin typeface="+mn-ea"/>
              </a:rPr>
              <a:t>３</a:t>
            </a:r>
          </a:p>
        </p:txBody>
      </p:sp>
      <p:sp>
        <p:nvSpPr>
          <p:cNvPr id="69" name="円/楕円 68"/>
          <p:cNvSpPr/>
          <p:nvPr/>
        </p:nvSpPr>
        <p:spPr bwMode="auto">
          <a:xfrm>
            <a:off x="6186001"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４</a:t>
            </a:r>
          </a:p>
        </p:txBody>
      </p:sp>
    </p:spTree>
    <p:extLst>
      <p:ext uri="{BB962C8B-B14F-4D97-AF65-F5344CB8AC3E}">
        <p14:creationId xmlns:p14="http://schemas.microsoft.com/office/powerpoint/2010/main" val="2657056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17</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の動作 ④ クロック信号の立ち下がり</a:t>
            </a:r>
            <a:endParaRPr lang="en-US" altLang="ja-JP" dirty="0"/>
          </a:p>
        </p:txBody>
      </p:sp>
      <p:sp>
        <p:nvSpPr>
          <p:cNvPr id="700478" name="Freeform 62"/>
          <p:cNvSpPr>
            <a:spLocks/>
          </p:cNvSpPr>
          <p:nvPr/>
        </p:nvSpPr>
        <p:spPr bwMode="auto">
          <a:xfrm>
            <a:off x="4295622" y="2708635"/>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6456210" y="2708635"/>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4655984" y="2348272"/>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4655984" y="3068997"/>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6816572" y="2348272"/>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6816572" y="3068997"/>
            <a:ext cx="717550" cy="720725"/>
          </a:xfrm>
          <a:prstGeom prst="rect">
            <a:avLst/>
          </a:prstGeom>
          <a:noFill/>
        </p:spPr>
      </p:pic>
      <p:sp>
        <p:nvSpPr>
          <p:cNvPr id="700484" name="Line 68"/>
          <p:cNvSpPr>
            <a:spLocks noChangeShapeType="1"/>
          </p:cNvSpPr>
          <p:nvPr/>
        </p:nvSpPr>
        <p:spPr bwMode="auto">
          <a:xfrm>
            <a:off x="5735485" y="3429359"/>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6365723" y="2978510"/>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6005360" y="3338872"/>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3576485" y="3429359"/>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4206723" y="2978510"/>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3846360" y="3338872"/>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896072" y="342935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3216122" y="3249972"/>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8256435" y="3249972"/>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3935975" y="3248998"/>
            <a:ext cx="359646" cy="18036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4206723" y="3338872"/>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6095999" y="3248998"/>
            <a:ext cx="358620" cy="180359"/>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6365723" y="3338872"/>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5" name="Rectangle 5"/>
          <p:cNvSpPr txBox="1">
            <a:spLocks noChangeArrowheads="1"/>
          </p:cNvSpPr>
          <p:nvPr/>
        </p:nvSpPr>
        <p:spPr>
          <a:xfrm>
            <a:off x="2386782" y="4149008"/>
            <a:ext cx="8281219" cy="2070860"/>
          </a:xfrm>
          <a:prstGeom prst="rect">
            <a:avLst/>
          </a:prstGeom>
        </p:spPr>
        <p:txBody>
          <a:bodyPr anchor="t"/>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左側のループ：</a:t>
            </a:r>
            <a:endParaRPr lang="en-US" altLang="ja-JP" kern="0" dirty="0"/>
          </a:p>
          <a:p>
            <a:pPr lvl="1"/>
            <a:r>
              <a:rPr lang="ja-JP" altLang="en-US" kern="0" dirty="0"/>
              <a:t>ループが解除される</a:t>
            </a:r>
            <a:endParaRPr lang="en-US" altLang="ja-JP" kern="0" dirty="0"/>
          </a:p>
          <a:p>
            <a:r>
              <a:rPr lang="ja-JP" altLang="en-US" kern="0" dirty="0"/>
              <a:t>右側のループ：</a:t>
            </a:r>
            <a:endParaRPr lang="en-US" altLang="ja-JP" kern="0" dirty="0"/>
          </a:p>
          <a:p>
            <a:pPr lvl="1"/>
            <a:r>
              <a:rPr lang="ja-JP" altLang="en-US" kern="0" dirty="0"/>
              <a:t>左側のループと遮断され，ループが形成される</a:t>
            </a:r>
            <a:endParaRPr lang="en-US" altLang="ja-JP" kern="0" dirty="0"/>
          </a:p>
          <a:p>
            <a:pPr lvl="1"/>
            <a:r>
              <a:rPr lang="ja-JP" altLang="en-US" kern="0" dirty="0"/>
              <a:t>それまで左側から入力された内容を出し続ける</a:t>
            </a:r>
            <a:endParaRPr lang="en-US" altLang="ja-JP" kern="0" dirty="0"/>
          </a:p>
        </p:txBody>
      </p:sp>
      <p:cxnSp>
        <p:nvCxnSpPr>
          <p:cNvPr id="53" name="直線コネクタ 52"/>
          <p:cNvCxnSpPr/>
          <p:nvPr/>
        </p:nvCxnSpPr>
        <p:spPr bwMode="auto">
          <a:xfrm flipV="1">
            <a:off x="276596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4" name="直線コネクタ 53"/>
          <p:cNvCxnSpPr/>
          <p:nvPr/>
        </p:nvCxnSpPr>
        <p:spPr bwMode="auto">
          <a:xfrm flipH="1">
            <a:off x="2765965"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5" name="直線コネクタ 54"/>
          <p:cNvCxnSpPr/>
          <p:nvPr/>
        </p:nvCxnSpPr>
        <p:spPr bwMode="auto">
          <a:xfrm flipV="1">
            <a:off x="384597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6" name="直線コネクタ 55"/>
          <p:cNvCxnSpPr/>
          <p:nvPr/>
        </p:nvCxnSpPr>
        <p:spPr bwMode="auto">
          <a:xfrm flipH="1">
            <a:off x="3845976"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7" name="直線コネクタ 56"/>
          <p:cNvCxnSpPr/>
          <p:nvPr/>
        </p:nvCxnSpPr>
        <p:spPr bwMode="auto">
          <a:xfrm flipV="1">
            <a:off x="5015988" y="1448978"/>
            <a:ext cx="0" cy="540006"/>
          </a:xfrm>
          <a:prstGeom prst="line">
            <a:avLst/>
          </a:prstGeom>
          <a:ln w="19050" cap="rnd">
            <a:solidFill>
              <a:schemeClr val="tx1">
                <a:lumMod val="75000"/>
                <a:lumOff val="25000"/>
              </a:schemeClr>
            </a:solidFill>
            <a:headEnd type="none" w="med" len="med"/>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8" name="直線コネクタ 57"/>
          <p:cNvCxnSpPr/>
          <p:nvPr/>
        </p:nvCxnSpPr>
        <p:spPr bwMode="auto">
          <a:xfrm flipH="1">
            <a:off x="5015990"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9" name="直線コネクタ 58"/>
          <p:cNvCxnSpPr/>
          <p:nvPr/>
        </p:nvCxnSpPr>
        <p:spPr bwMode="auto">
          <a:xfrm flipV="1">
            <a:off x="6096000" y="1448978"/>
            <a:ext cx="0" cy="540006"/>
          </a:xfrm>
          <a:prstGeom prst="line">
            <a:avLst/>
          </a:prstGeom>
          <a:ln w="38100" cap="rnd">
            <a:solidFill>
              <a:schemeClr val="accent5"/>
            </a:solidFill>
            <a:headEnd type="triangle" w="lg" len="lg"/>
            <a:tailEnd type="none" w="lg" len="lg"/>
          </a:ln>
          <a:effectLst/>
        </p:spPr>
        <p:style>
          <a:lnRef idx="3">
            <a:schemeClr val="accent5"/>
          </a:lnRef>
          <a:fillRef idx="0">
            <a:schemeClr val="accent5"/>
          </a:fillRef>
          <a:effectRef idx="2">
            <a:schemeClr val="accent5"/>
          </a:effectRef>
          <a:fontRef idx="minor">
            <a:schemeClr val="tx1"/>
          </a:fontRef>
        </p:style>
      </p:cxnSp>
      <p:cxnSp>
        <p:nvCxnSpPr>
          <p:cNvPr id="60" name="直線コネクタ 59"/>
          <p:cNvCxnSpPr/>
          <p:nvPr/>
        </p:nvCxnSpPr>
        <p:spPr bwMode="auto">
          <a:xfrm flipH="1">
            <a:off x="6096001"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1" name="直線コネクタ 60"/>
          <p:cNvCxnSpPr/>
          <p:nvPr/>
        </p:nvCxnSpPr>
        <p:spPr bwMode="auto">
          <a:xfrm flipV="1">
            <a:off x="726601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2" name="直線コネクタ 61"/>
          <p:cNvCxnSpPr/>
          <p:nvPr/>
        </p:nvCxnSpPr>
        <p:spPr bwMode="auto">
          <a:xfrm flipH="1">
            <a:off x="7266015"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3" name="直線コネクタ 62"/>
          <p:cNvCxnSpPr/>
          <p:nvPr/>
        </p:nvCxnSpPr>
        <p:spPr bwMode="auto">
          <a:xfrm flipV="1">
            <a:off x="834602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4" name="直線コネクタ 63"/>
          <p:cNvCxnSpPr/>
          <p:nvPr/>
        </p:nvCxnSpPr>
        <p:spPr bwMode="auto">
          <a:xfrm flipH="1">
            <a:off x="8346026"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5" name="直線コネクタ 64"/>
          <p:cNvCxnSpPr/>
          <p:nvPr/>
        </p:nvCxnSpPr>
        <p:spPr bwMode="auto">
          <a:xfrm flipV="1">
            <a:off x="9516038"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sp>
        <p:nvSpPr>
          <p:cNvPr id="66" name="円/楕円 65"/>
          <p:cNvSpPr/>
          <p:nvPr/>
        </p:nvSpPr>
        <p:spPr bwMode="auto">
          <a:xfrm>
            <a:off x="420597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67" name="円/楕円 66"/>
          <p:cNvSpPr/>
          <p:nvPr/>
        </p:nvSpPr>
        <p:spPr bwMode="auto">
          <a:xfrm>
            <a:off x="510598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２</a:t>
            </a:r>
          </a:p>
        </p:txBody>
      </p:sp>
      <p:sp>
        <p:nvSpPr>
          <p:cNvPr id="68" name="円/楕円 67"/>
          <p:cNvSpPr/>
          <p:nvPr/>
        </p:nvSpPr>
        <p:spPr bwMode="auto">
          <a:xfrm>
            <a:off x="5375992" y="998973"/>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３</a:t>
            </a:r>
          </a:p>
        </p:txBody>
      </p:sp>
      <p:sp>
        <p:nvSpPr>
          <p:cNvPr id="69" name="円/楕円 68"/>
          <p:cNvSpPr/>
          <p:nvPr/>
        </p:nvSpPr>
        <p:spPr bwMode="auto">
          <a:xfrm>
            <a:off x="6186001" y="1538979"/>
            <a:ext cx="360004" cy="360004"/>
          </a:xfrm>
          <a:prstGeom prst="ellips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5"/>
                </a:solidFill>
                <a:latin typeface="+mn-ea"/>
              </a:rPr>
              <a:t>４</a:t>
            </a:r>
          </a:p>
        </p:txBody>
      </p:sp>
      <p:sp>
        <p:nvSpPr>
          <p:cNvPr id="3" name="円弧 2"/>
          <p:cNvSpPr/>
          <p:nvPr/>
        </p:nvSpPr>
        <p:spPr bwMode="auto">
          <a:xfrm>
            <a:off x="6096000" y="3068997"/>
            <a:ext cx="540006" cy="450005"/>
          </a:xfrm>
          <a:prstGeom prst="arc">
            <a:avLst>
              <a:gd name="adj1" fmla="val 11670164"/>
              <a:gd name="adj2" fmla="val 16233113"/>
            </a:avLst>
          </a:prstGeom>
          <a:noFill/>
          <a:ln w="38100" cap="flat" cmpd="sng" algn="ctr">
            <a:solidFill>
              <a:schemeClr val="accent5"/>
            </a:solidFill>
            <a:prstDash val="solid"/>
            <a:round/>
            <a:headEnd type="none" w="med" len="med"/>
            <a:tailEnd type="stealth"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71" name="円弧 70"/>
          <p:cNvSpPr/>
          <p:nvPr/>
        </p:nvSpPr>
        <p:spPr bwMode="auto">
          <a:xfrm rot="16200000" flipH="1">
            <a:off x="4025979" y="2978995"/>
            <a:ext cx="450005" cy="450006"/>
          </a:xfrm>
          <a:prstGeom prst="arc">
            <a:avLst>
              <a:gd name="adj1" fmla="val 11670164"/>
              <a:gd name="adj2" fmla="val 16233113"/>
            </a:avLst>
          </a:prstGeom>
          <a:noFill/>
          <a:ln w="38100" cap="flat" cmpd="sng" algn="ctr">
            <a:solidFill>
              <a:schemeClr val="accent5"/>
            </a:solidFill>
            <a:prstDash val="solid"/>
            <a:round/>
            <a:headEnd type="none" w="med" len="med"/>
            <a:tailEnd type="stealth"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Tree>
    <p:extLst>
      <p:ext uri="{BB962C8B-B14F-4D97-AF65-F5344CB8AC3E}">
        <p14:creationId xmlns:p14="http://schemas.microsoft.com/office/powerpoint/2010/main" val="2724786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en-US" altLang="ja-JP" dirty="0"/>
              <a:t>D-FF </a:t>
            </a:r>
            <a:r>
              <a:rPr kumimoji="1" lang="ja-JP" altLang="en-US" dirty="0"/>
              <a:t>の遅延</a:t>
            </a:r>
          </a:p>
        </p:txBody>
      </p:sp>
      <p:sp>
        <p:nvSpPr>
          <p:cNvPr id="4" name="テキスト プレースホルダー 3"/>
          <p:cNvSpPr>
            <a:spLocks noGrp="1"/>
          </p:cNvSpPr>
          <p:nvPr>
            <p:ph type="body" sz="quarter" idx="10"/>
          </p:nvPr>
        </p:nvSpPr>
        <p:spPr/>
        <p:txBody>
          <a:bodyPr/>
          <a:lstStyle/>
          <a:p>
            <a:r>
              <a:rPr kumimoji="1" lang="en-US" altLang="ja-JP" dirty="0"/>
              <a:t>D-FF </a:t>
            </a:r>
            <a:r>
              <a:rPr kumimoji="1" lang="ja-JP" altLang="en-US" dirty="0"/>
              <a:t>の遅延：これまでの４フェーズの動作の遅延</a:t>
            </a:r>
            <a:endParaRPr kumimoji="1" lang="en-US" altLang="ja-JP" dirty="0"/>
          </a:p>
          <a:p>
            <a:pPr lvl="1"/>
            <a:r>
              <a:rPr kumimoji="1" lang="ja-JP" altLang="en-US" dirty="0"/>
              <a:t>スイッチが切り替わるまでの遅延</a:t>
            </a:r>
            <a:endParaRPr kumimoji="1" lang="en-US" altLang="ja-JP" dirty="0"/>
          </a:p>
          <a:p>
            <a:pPr lvl="1"/>
            <a:r>
              <a:rPr kumimoji="1" lang="ja-JP" altLang="en-US" dirty="0"/>
              <a:t>スイッチが切り替わった後，</a:t>
            </a:r>
            <a:br>
              <a:rPr kumimoji="1" lang="en-US" altLang="ja-JP" dirty="0"/>
            </a:br>
            <a:r>
              <a:rPr kumimoji="1" lang="ja-JP" altLang="en-US" dirty="0"/>
              <a:t>インバータの入力に応じて出力が変化するまでの遅延</a:t>
            </a:r>
            <a:endParaRPr kumimoji="1" lang="en-US" altLang="ja-JP" dirty="0"/>
          </a:p>
          <a:p>
            <a:r>
              <a:rPr kumimoji="1" lang="ja-JP" altLang="en-US" dirty="0"/>
              <a:t>クロック周波数を上げすぎると，これらの限界にぶつかる</a:t>
            </a:r>
            <a:endParaRPr kumimoji="1" lang="en-US" altLang="ja-JP" dirty="0"/>
          </a:p>
          <a:p>
            <a:pPr lvl="1"/>
            <a:r>
              <a:rPr kumimoji="1" lang="ja-JP" altLang="en-US" dirty="0"/>
              <a:t>１ステージ内の組み合わせ回路の遅延：</a:t>
            </a:r>
            <a:br>
              <a:rPr kumimoji="1" lang="en-US" altLang="ja-JP" dirty="0"/>
            </a:br>
            <a:r>
              <a:rPr kumimoji="1" lang="ja-JP" altLang="en-US" dirty="0"/>
              <a:t>インバータ換算で通常１０から２０段分ぐらい</a:t>
            </a:r>
            <a:endParaRPr kumimoji="1" lang="en-US" altLang="ja-JP" dirty="0"/>
          </a:p>
          <a:p>
            <a:pPr lvl="1"/>
            <a:r>
              <a:rPr kumimoji="1" lang="ja-JP" altLang="en-US" dirty="0"/>
              <a:t>なので，</a:t>
            </a:r>
            <a:r>
              <a:rPr kumimoji="1" lang="en-US" altLang="ja-JP" dirty="0"/>
              <a:t>D-FF </a:t>
            </a:r>
            <a:r>
              <a:rPr kumimoji="1" lang="ja-JP" altLang="en-US" dirty="0"/>
              <a:t>自体の遅延は意外とバカにならない</a:t>
            </a:r>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18</a:t>
            </a:fld>
            <a:endParaRPr kumimoji="1" lang="ja-JP" altLang="en-US" dirty="0"/>
          </a:p>
        </p:txBody>
      </p:sp>
    </p:spTree>
    <p:extLst>
      <p:ext uri="{BB962C8B-B14F-4D97-AF65-F5344CB8AC3E}">
        <p14:creationId xmlns:p14="http://schemas.microsoft.com/office/powerpoint/2010/main" val="4109591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理由２：消費電力と熱</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クロック周波数を上げる</a:t>
            </a:r>
            <a:endParaRPr kumimoji="1" lang="en-US" altLang="ja-JP" dirty="0"/>
          </a:p>
          <a:p>
            <a:pPr lvl="1"/>
            <a:r>
              <a:rPr kumimoji="1" lang="ja-JP" altLang="en-US" dirty="0"/>
              <a:t>→ 単位時間あたりの回路全体の充放電の回数が増える</a:t>
            </a:r>
            <a:endParaRPr kumimoji="1" lang="en-US" altLang="ja-JP" dirty="0"/>
          </a:p>
          <a:p>
            <a:pPr lvl="1"/>
            <a:r>
              <a:rPr kumimoji="1" lang="ja-JP" altLang="en-US" dirty="0"/>
              <a:t>→ 消費電力と，それによって発生する熱がそれだけ増える</a:t>
            </a:r>
            <a:endParaRPr kumimoji="1" lang="en-US" altLang="ja-JP" dirty="0"/>
          </a:p>
          <a:p>
            <a:pPr marL="457200" indent="-457200">
              <a:buFont typeface="+mj-lt"/>
              <a:buAutoNum type="arabicPeriod"/>
            </a:pPr>
            <a:r>
              <a:rPr kumimoji="1" lang="ja-JP" altLang="en-US" dirty="0"/>
              <a:t>電力供給の限界</a:t>
            </a:r>
            <a:endParaRPr lang="en-US" altLang="ja-JP" dirty="0"/>
          </a:p>
          <a:p>
            <a:pPr lvl="1"/>
            <a:r>
              <a:rPr kumimoji="1" lang="en-US" altLang="ja-JP" dirty="0"/>
              <a:t>CPU </a:t>
            </a:r>
            <a:r>
              <a:rPr kumimoji="1" lang="ja-JP" altLang="en-US" dirty="0"/>
              <a:t>のチップの端子から流し込める電流の限界</a:t>
            </a:r>
            <a:endParaRPr kumimoji="1" lang="en-US" altLang="ja-JP" dirty="0"/>
          </a:p>
          <a:p>
            <a:pPr lvl="1"/>
            <a:r>
              <a:rPr lang="ja-JP" altLang="en-US" i="1" dirty="0"/>
              <a:t>オームの法則：</a:t>
            </a:r>
            <a:r>
              <a:rPr lang="en-US" altLang="ja-JP" i="1" dirty="0"/>
              <a:t>V=IR</a:t>
            </a:r>
          </a:p>
          <a:p>
            <a:pPr lvl="2"/>
            <a:r>
              <a:rPr kumimoji="1" lang="ja-JP" altLang="en-US" i="1" dirty="0"/>
              <a:t>端子のピンの数で </a:t>
            </a:r>
            <a:r>
              <a:rPr kumimoji="1" lang="en-US" altLang="ja-JP" i="1" dirty="0"/>
              <a:t>R </a:t>
            </a:r>
            <a:r>
              <a:rPr kumimoji="1" lang="ja-JP" altLang="en-US" i="1" dirty="0"/>
              <a:t>が決まる</a:t>
            </a:r>
            <a:endParaRPr kumimoji="1" lang="en-US" altLang="ja-JP" i="1" dirty="0"/>
          </a:p>
          <a:p>
            <a:pPr marL="457200" indent="-457200">
              <a:buFont typeface="+mj-lt"/>
              <a:buAutoNum type="arabicPeriod"/>
            </a:pPr>
            <a:r>
              <a:rPr kumimoji="1" lang="ja-JP" altLang="en-US" dirty="0"/>
              <a:t>放熱の限界</a:t>
            </a:r>
            <a:endParaRPr kumimoji="1" lang="en-US" altLang="ja-JP" dirty="0"/>
          </a:p>
          <a:p>
            <a:pPr lvl="1"/>
            <a:r>
              <a:rPr kumimoji="1" lang="ja-JP" altLang="en-US" dirty="0"/>
              <a:t>温度の上昇に，放熱が追いつかない</a:t>
            </a:r>
            <a:endParaRPr kumimoji="1" lang="en-US" altLang="ja-JP" dirty="0"/>
          </a:p>
        </p:txBody>
      </p:sp>
    </p:spTree>
    <p:extLst>
      <p:ext uri="{BB962C8B-B14F-4D97-AF65-F5344CB8AC3E}">
        <p14:creationId xmlns:p14="http://schemas.microsoft.com/office/powerpoint/2010/main" val="385786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パイプライン化の限界</a:t>
            </a:r>
          </a:p>
        </p:txBody>
      </p:sp>
      <p:sp>
        <p:nvSpPr>
          <p:cNvPr id="3" name="テキスト プレースホルダー 2"/>
          <p:cNvSpPr>
            <a:spLocks noGrp="1"/>
          </p:cNvSpPr>
          <p:nvPr>
            <p:ph type="body" sz="quarter" idx="10"/>
          </p:nvPr>
        </p:nvSpPr>
        <p:spPr/>
        <p:txBody>
          <a:bodyPr/>
          <a:lstStyle/>
          <a:p>
            <a:r>
              <a:rPr lang="ja-JP" altLang="en-US" dirty="0"/>
              <a:t>速度が上がらなくなる理由：</a:t>
            </a:r>
            <a:endParaRPr lang="en-US" altLang="ja-JP" dirty="0"/>
          </a:p>
          <a:p>
            <a:pPr marL="817200" lvl="1" indent="-457200">
              <a:buFont typeface="+mj-lt"/>
              <a:buAutoNum type="arabicPeriod"/>
            </a:pPr>
            <a:r>
              <a:rPr lang="ja-JP" altLang="en-US" dirty="0"/>
              <a:t>回路的な理由による周波数向上の限界</a:t>
            </a:r>
            <a:endParaRPr lang="en-US" altLang="ja-JP" dirty="0"/>
          </a:p>
          <a:p>
            <a:pPr marL="817200" lvl="1" indent="-457200">
              <a:buFont typeface="+mj-lt"/>
              <a:buAutoNum type="arabicPeriod"/>
            </a:pPr>
            <a:r>
              <a:rPr lang="ja-JP" altLang="en-US" b="1" dirty="0">
                <a:solidFill>
                  <a:schemeClr val="accent5"/>
                </a:solidFill>
              </a:rPr>
              <a:t>アーキテクチャ的な理由による実効性能の限界</a:t>
            </a:r>
            <a:endParaRPr kumimoji="1" lang="ja-JP" altLang="en-US" b="1" dirty="0">
              <a:solidFill>
                <a:schemeClr val="accent5"/>
              </a:solidFill>
            </a:endParaRPr>
          </a:p>
        </p:txBody>
      </p:sp>
    </p:spTree>
    <p:extLst>
      <p:ext uri="{BB962C8B-B14F-4D97-AF65-F5344CB8AC3E}">
        <p14:creationId xmlns:p14="http://schemas.microsoft.com/office/powerpoint/2010/main" val="31891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アーキテクチャ的な理由による実効性能の限界</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バックエッジがないパイプライン</a:t>
            </a:r>
            <a:endParaRPr kumimoji="1" lang="en-US" altLang="ja-JP" dirty="0"/>
          </a:p>
          <a:p>
            <a:pPr lvl="1"/>
            <a:r>
              <a:rPr kumimoji="1" lang="ja-JP" altLang="en-US" dirty="0"/>
              <a:t>（回路的な限界にあたるまでは</a:t>
            </a:r>
            <a:endParaRPr kumimoji="1" lang="en-US" altLang="ja-JP" dirty="0"/>
          </a:p>
          <a:p>
            <a:pPr lvl="1"/>
            <a:r>
              <a:rPr kumimoji="1" lang="ja-JP" altLang="en-US" dirty="0"/>
              <a:t>パイプライン段数を増やせば増やすほど性能（周波数）が上がる</a:t>
            </a:r>
            <a:endParaRPr kumimoji="1" lang="en-US" altLang="ja-JP" dirty="0"/>
          </a:p>
          <a:p>
            <a:r>
              <a:rPr kumimoji="1" lang="ja-JP" altLang="en-US" dirty="0"/>
              <a:t>バックエッジがあるパイプライン</a:t>
            </a:r>
            <a:endParaRPr kumimoji="1" lang="en-US" altLang="ja-JP" dirty="0"/>
          </a:p>
          <a:p>
            <a:pPr lvl="1"/>
            <a:r>
              <a:rPr kumimoji="1" lang="ja-JP" altLang="en-US" dirty="0"/>
              <a:t>パイプライン段数を増やすと，</a:t>
            </a:r>
            <a:endParaRPr kumimoji="1" lang="en-US" altLang="ja-JP" dirty="0"/>
          </a:p>
          <a:p>
            <a:pPr lvl="2"/>
            <a:r>
              <a:rPr lang="ja-JP" altLang="en-US" dirty="0"/>
              <a:t>周波数そのものは上がる・・・が，</a:t>
            </a:r>
            <a:endParaRPr lang="en-US" altLang="ja-JP" dirty="0"/>
          </a:p>
          <a:p>
            <a:pPr lvl="2"/>
            <a:r>
              <a:rPr kumimoji="1" lang="ja-JP" altLang="en-US" dirty="0"/>
              <a:t>場合によって，命令を処理できる実効的な速度が落ちる</a:t>
            </a:r>
          </a:p>
        </p:txBody>
      </p:sp>
    </p:spTree>
    <p:extLst>
      <p:ext uri="{BB962C8B-B14F-4D97-AF65-F5344CB8AC3E}">
        <p14:creationId xmlns:p14="http://schemas.microsoft.com/office/powerpoint/2010/main" val="909836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バックエッジ：逆方向（右から左）にいく信号</a:t>
            </a:r>
          </a:p>
        </p:txBody>
      </p:sp>
      <p:sp>
        <p:nvSpPr>
          <p:cNvPr id="3" name="テキスト プレースホルダー 2"/>
          <p:cNvSpPr>
            <a:spLocks noGrp="1"/>
          </p:cNvSpPr>
          <p:nvPr>
            <p:ph type="body" sz="quarter" idx="10"/>
          </p:nvPr>
        </p:nvSpPr>
        <p:spPr>
          <a:xfrm>
            <a:off x="2135956" y="5589025"/>
            <a:ext cx="8280092" cy="719701"/>
          </a:xfrm>
        </p:spPr>
        <p:txBody>
          <a:bodyPr/>
          <a:lstStyle/>
          <a:p>
            <a:r>
              <a:rPr kumimoji="1" lang="ja-JP" altLang="en-US" dirty="0"/>
              <a:t>バックエッジがあるため，命令を</a:t>
            </a:r>
            <a:r>
              <a:rPr lang="ja-JP" altLang="en-US" dirty="0"/>
              <a:t>単純に流せない場合がある</a:t>
            </a:r>
            <a:endParaRPr lang="en-US" altLang="ja-JP" dirty="0"/>
          </a:p>
          <a:p>
            <a:pPr lvl="1"/>
            <a:r>
              <a:rPr lang="ja-JP" altLang="en-US" dirty="0"/>
              <a:t>工場のラインのように，一方向に流せない</a:t>
            </a:r>
            <a:endParaRPr kumimoji="1" lang="ja-JP" altLang="en-US" dirty="0"/>
          </a:p>
        </p:txBody>
      </p:sp>
      <p:sp>
        <p:nvSpPr>
          <p:cNvPr id="4" name="正方形/長方形 3"/>
          <p:cNvSpPr/>
          <p:nvPr/>
        </p:nvSpPr>
        <p:spPr bwMode="auto">
          <a:xfrm>
            <a:off x="2495960"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91007" y="3834004"/>
            <a:ext cx="117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789004"/>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4149008"/>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978993"/>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2528990"/>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2438989"/>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正方形/長方形 12"/>
          <p:cNvSpPr/>
          <p:nvPr/>
        </p:nvSpPr>
        <p:spPr bwMode="auto">
          <a:xfrm>
            <a:off x="2135955" y="225898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14" name="Freeform 10"/>
          <p:cNvSpPr>
            <a:spLocks/>
          </p:cNvSpPr>
          <p:nvPr/>
        </p:nvSpPr>
        <p:spPr bwMode="auto">
          <a:xfrm>
            <a:off x="1595950" y="1988984"/>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80968" y="2213985"/>
            <a:ext cx="630007"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988984"/>
            <a:ext cx="1800020" cy="0"/>
          </a:xfrm>
          <a:prstGeom prst="straightConnector1">
            <a:avLst/>
          </a:prstGeom>
          <a:noFill/>
          <a:ln w="9525" cap="flat" cmpd="sng" algn="ctr">
            <a:solidFill>
              <a:schemeClr val="tx1"/>
            </a:solidFill>
            <a:prstDash val="solid"/>
            <a:round/>
            <a:headEnd type="none" w="sm" len="sm"/>
            <a:tailEnd type="none"/>
          </a:ln>
          <a:effectLst/>
        </p:spPr>
      </p:cxnSp>
      <p:cxnSp>
        <p:nvCxnSpPr>
          <p:cNvPr id="17" name="直線矢印コネクタ 16"/>
          <p:cNvCxnSpPr/>
          <p:nvPr/>
        </p:nvCxnSpPr>
        <p:spPr bwMode="auto">
          <a:xfrm>
            <a:off x="3935976" y="4149008"/>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8" name="正方形/長方形 17"/>
          <p:cNvSpPr/>
          <p:nvPr/>
        </p:nvSpPr>
        <p:spPr bwMode="auto">
          <a:xfrm>
            <a:off x="2495960"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9" name="正方形/長方形 18"/>
          <p:cNvSpPr/>
          <p:nvPr/>
        </p:nvSpPr>
        <p:spPr bwMode="auto">
          <a:xfrm>
            <a:off x="3575972"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0" name="Freeform 10"/>
          <p:cNvSpPr>
            <a:spLocks/>
          </p:cNvSpPr>
          <p:nvPr/>
        </p:nvSpPr>
        <p:spPr bwMode="auto">
          <a:xfrm flipV="1">
            <a:off x="4475982" y="3969003"/>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1" name="直線矢印コネクタ 20"/>
          <p:cNvCxnSpPr/>
          <p:nvPr/>
        </p:nvCxnSpPr>
        <p:spPr bwMode="auto">
          <a:xfrm>
            <a:off x="4475982" y="4329010"/>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2" name="正方形/長方形 21"/>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3" name="正方形/長方形 22"/>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414900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6" name="正方形/長方形 25"/>
          <p:cNvSpPr/>
          <p:nvPr/>
        </p:nvSpPr>
        <p:spPr bwMode="auto">
          <a:xfrm>
            <a:off x="4655984"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7" name="正方形/長方形 26"/>
          <p:cNvSpPr/>
          <p:nvPr/>
        </p:nvSpPr>
        <p:spPr bwMode="auto">
          <a:xfrm>
            <a:off x="2495960"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8" name="直線矢印コネクタ 27"/>
          <p:cNvCxnSpPr/>
          <p:nvPr/>
        </p:nvCxnSpPr>
        <p:spPr bwMode="auto">
          <a:xfrm>
            <a:off x="4475982" y="4689014"/>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9" name="Freeform 10"/>
          <p:cNvSpPr>
            <a:spLocks/>
          </p:cNvSpPr>
          <p:nvPr/>
        </p:nvSpPr>
        <p:spPr bwMode="auto">
          <a:xfrm>
            <a:off x="4475982" y="1898984"/>
            <a:ext cx="180002" cy="171001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0" name="Freeform 10"/>
          <p:cNvSpPr>
            <a:spLocks/>
          </p:cNvSpPr>
          <p:nvPr/>
        </p:nvSpPr>
        <p:spPr bwMode="auto">
          <a:xfrm rot="10800000" flipH="1">
            <a:off x="9876039" y="3429000"/>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1" name="直線矢印コネクタ 30"/>
          <p:cNvCxnSpPr/>
          <p:nvPr/>
        </p:nvCxnSpPr>
        <p:spPr bwMode="auto">
          <a:xfrm>
            <a:off x="9696040" y="4149008"/>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7536016" y="4149008"/>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3" name="直線矢印コネクタ 32"/>
          <p:cNvCxnSpPr/>
          <p:nvPr/>
        </p:nvCxnSpPr>
        <p:spPr bwMode="auto">
          <a:xfrm>
            <a:off x="6096000" y="3879005"/>
            <a:ext cx="360004" cy="0"/>
          </a:xfrm>
          <a:prstGeom prst="straightConnector1">
            <a:avLst/>
          </a:prstGeom>
          <a:noFill/>
          <a:ln w="9525" cap="flat" cmpd="sng" algn="ctr">
            <a:solidFill>
              <a:schemeClr val="tx1"/>
            </a:solidFill>
            <a:prstDash val="solid"/>
            <a:round/>
            <a:headEnd type="none" w="sm" len="sm"/>
            <a:tailEnd type="triangle"/>
          </a:ln>
          <a:effectLst/>
        </p:spPr>
      </p:cxnSp>
      <p:cxnSp>
        <p:nvCxnSpPr>
          <p:cNvPr id="34" name="直線矢印コネクタ 33"/>
          <p:cNvCxnSpPr/>
          <p:nvPr/>
        </p:nvCxnSpPr>
        <p:spPr bwMode="auto">
          <a:xfrm>
            <a:off x="6096000" y="4689014"/>
            <a:ext cx="360004" cy="0"/>
          </a:xfrm>
          <a:prstGeom prst="straightConnector1">
            <a:avLst/>
          </a:prstGeom>
          <a:noFill/>
          <a:ln w="9525" cap="flat" cmpd="sng" algn="ctr">
            <a:solidFill>
              <a:schemeClr val="tx1"/>
            </a:solidFill>
            <a:prstDash val="solid"/>
            <a:round/>
            <a:headEnd type="none" w="sm" len="sm"/>
            <a:tailEnd type="triangle"/>
          </a:ln>
          <a:effectLst/>
        </p:spPr>
      </p:cxnSp>
      <p:sp>
        <p:nvSpPr>
          <p:cNvPr id="35" name="正方形/長方形 34"/>
          <p:cNvSpPr/>
          <p:nvPr/>
        </p:nvSpPr>
        <p:spPr bwMode="auto">
          <a:xfrm>
            <a:off x="8256024"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6" name="正方形/長方形 35"/>
          <p:cNvSpPr/>
          <p:nvPr/>
        </p:nvSpPr>
        <p:spPr bwMode="auto">
          <a:xfrm>
            <a:off x="8256024"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7" name="Freeform 10"/>
          <p:cNvSpPr>
            <a:spLocks/>
          </p:cNvSpPr>
          <p:nvPr/>
        </p:nvSpPr>
        <p:spPr bwMode="auto">
          <a:xfrm>
            <a:off x="6636005" y="4599013"/>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4599012"/>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Freeform 10"/>
          <p:cNvSpPr>
            <a:spLocks/>
          </p:cNvSpPr>
          <p:nvPr/>
        </p:nvSpPr>
        <p:spPr bwMode="auto">
          <a:xfrm flipV="1">
            <a:off x="8076022" y="378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0" name="正方形/長方形 39"/>
          <p:cNvSpPr/>
          <p:nvPr/>
        </p:nvSpPr>
        <p:spPr bwMode="auto">
          <a:xfrm>
            <a:off x="8256024" y="4419011"/>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1" name="直線矢印コネクタ 40"/>
          <p:cNvCxnSpPr/>
          <p:nvPr/>
        </p:nvCxnSpPr>
        <p:spPr bwMode="auto">
          <a:xfrm>
            <a:off x="10056044" y="3158997"/>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2" name="直線矢印コネクタ 41"/>
          <p:cNvCxnSpPr/>
          <p:nvPr/>
        </p:nvCxnSpPr>
        <p:spPr bwMode="auto">
          <a:xfrm flipH="1">
            <a:off x="3395971" y="1898983"/>
            <a:ext cx="7110079" cy="0"/>
          </a:xfrm>
          <a:prstGeom prst="straightConnector1">
            <a:avLst/>
          </a:prstGeom>
          <a:noFill/>
          <a:ln w="31750" cap="flat" cmpd="sng" algn="ctr">
            <a:solidFill>
              <a:schemeClr val="accent6"/>
            </a:solidFill>
            <a:prstDash val="solid"/>
            <a:round/>
            <a:headEnd type="none" w="sm" len="sm"/>
            <a:tailEnd type="triangle"/>
          </a:ln>
          <a:effectLst/>
        </p:spPr>
      </p:cxnSp>
      <p:sp>
        <p:nvSpPr>
          <p:cNvPr id="43" name="Freeform 10"/>
          <p:cNvSpPr>
            <a:spLocks/>
          </p:cNvSpPr>
          <p:nvPr/>
        </p:nvSpPr>
        <p:spPr bwMode="auto">
          <a:xfrm rot="10800000" flipH="1">
            <a:off x="8076022" y="3248995"/>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rot="5400000" flipH="1" flipV="1">
            <a:off x="9561041" y="2393989"/>
            <a:ext cx="1440015"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正方形/長方形 44"/>
          <p:cNvSpPr/>
          <p:nvPr/>
        </p:nvSpPr>
        <p:spPr bwMode="auto">
          <a:xfrm>
            <a:off x="8796030"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cxnSp>
        <p:nvCxnSpPr>
          <p:cNvPr id="46" name="直線矢印コネクタ 45"/>
          <p:cNvCxnSpPr/>
          <p:nvPr/>
        </p:nvCxnSpPr>
        <p:spPr bwMode="auto">
          <a:xfrm>
            <a:off x="3395970" y="1808982"/>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7" name="直線矢印コネクタ 46"/>
          <p:cNvCxnSpPr/>
          <p:nvPr/>
        </p:nvCxnSpPr>
        <p:spPr bwMode="auto">
          <a:xfrm flipH="1">
            <a:off x="3395970" y="2078985"/>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48" name="正方形/長方形 47"/>
          <p:cNvSpPr/>
          <p:nvPr/>
        </p:nvSpPr>
        <p:spPr bwMode="auto">
          <a:xfrm>
            <a:off x="3395970" y="1178975"/>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accent6"/>
                </a:solidFill>
                <a:latin typeface="メイリオ" panose="020B0604030504040204" pitchFamily="50" charset="-128"/>
                <a:ea typeface="メイリオ" panose="020B0604030504040204" pitchFamily="50" charset="-128"/>
              </a:rPr>
              <a:t>3. </a:t>
            </a:r>
            <a:r>
              <a:rPr lang="ja-JP" altLang="en-US" sz="1600" dirty="0">
                <a:solidFill>
                  <a:schemeClr val="accent6"/>
                </a:solidFill>
                <a:latin typeface="メイリオ" panose="020B0604030504040204" pitchFamily="50" charset="-128"/>
                <a:ea typeface="メイリオ" panose="020B0604030504040204" pitchFamily="50" charset="-128"/>
              </a:rPr>
              <a:t>分岐結果の </a:t>
            </a:r>
            <a:r>
              <a:rPr lang="en-US" altLang="ja-JP" sz="1600" dirty="0">
                <a:solidFill>
                  <a:schemeClr val="accent6"/>
                </a:solidFill>
                <a:latin typeface="メイリオ" panose="020B0604030504040204" pitchFamily="50" charset="-128"/>
                <a:ea typeface="メイリオ" panose="020B0604030504040204" pitchFamily="50" charset="-128"/>
              </a:rPr>
              <a:t>PC </a:t>
            </a:r>
            <a:r>
              <a:rPr lang="ja-JP" altLang="en-US" sz="1600" dirty="0" err="1">
                <a:solidFill>
                  <a:schemeClr val="accent6"/>
                </a:solidFill>
                <a:latin typeface="メイリオ" panose="020B0604030504040204" pitchFamily="50" charset="-128"/>
                <a:ea typeface="メイリオ" panose="020B0604030504040204" pitchFamily="50" charset="-128"/>
              </a:rPr>
              <a:t>への</a:t>
            </a:r>
            <a:r>
              <a:rPr lang="ja-JP" altLang="en-US" sz="1600" dirty="0">
                <a:solidFill>
                  <a:schemeClr val="accent6"/>
                </a:solidFill>
                <a:latin typeface="メイリオ" panose="020B0604030504040204" pitchFamily="50" charset="-128"/>
                <a:ea typeface="メイリオ" panose="020B0604030504040204" pitchFamily="50" charset="-128"/>
              </a:rPr>
              <a:t>反映</a:t>
            </a:r>
            <a:endParaRPr lang="en-US" altLang="ja-JP" sz="1600" dirty="0">
              <a:solidFill>
                <a:schemeClr val="accent6"/>
              </a:solidFill>
              <a:latin typeface="メイリオ" panose="020B0604030504040204" pitchFamily="50" charset="-128"/>
              <a:ea typeface="メイリオ" panose="020B0604030504040204" pitchFamily="50" charset="-128"/>
            </a:endParaRPr>
          </a:p>
          <a:p>
            <a:r>
              <a:rPr lang="ja-JP" altLang="en-US" sz="1600" dirty="0">
                <a:solidFill>
                  <a:schemeClr val="accent6"/>
                </a:solidFill>
                <a:latin typeface="メイリオ" panose="020B0604030504040204" pitchFamily="50" charset="-128"/>
                <a:ea typeface="メイリオ" panose="020B0604030504040204" pitchFamily="50" charset="-128"/>
              </a:rPr>
              <a:t>　 制御ハザードの原因</a:t>
            </a:r>
          </a:p>
        </p:txBody>
      </p:sp>
      <p:sp>
        <p:nvSpPr>
          <p:cNvPr id="49" name="正方形/長方形 48"/>
          <p:cNvSpPr/>
          <p:nvPr/>
        </p:nvSpPr>
        <p:spPr bwMode="auto">
          <a:xfrm>
            <a:off x="4565983" y="216898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accent6"/>
                </a:solidFill>
                <a:latin typeface="メイリオ" panose="020B0604030504040204" pitchFamily="50" charset="-128"/>
                <a:ea typeface="メイリオ" panose="020B0604030504040204" pitchFamily="50" charset="-128"/>
              </a:rPr>
              <a:t>2. </a:t>
            </a:r>
            <a:r>
              <a:rPr lang="ja-JP" altLang="en-US" sz="1600" dirty="0">
                <a:solidFill>
                  <a:schemeClr val="accent6"/>
                </a:solidFill>
                <a:latin typeface="メイリオ" panose="020B0604030504040204" pitchFamily="50" charset="-128"/>
                <a:ea typeface="メイリオ" panose="020B0604030504040204" pitchFamily="50" charset="-128"/>
              </a:rPr>
              <a:t>ロードの結果の書き込み</a:t>
            </a:r>
            <a:br>
              <a:rPr lang="en-US" altLang="ja-JP" sz="1600" dirty="0">
                <a:solidFill>
                  <a:schemeClr val="accent6"/>
                </a:solidFill>
                <a:latin typeface="メイリオ" panose="020B0604030504040204" pitchFamily="50" charset="-128"/>
                <a:ea typeface="メイリオ" panose="020B0604030504040204" pitchFamily="50" charset="-128"/>
              </a:rPr>
            </a:br>
            <a:r>
              <a:rPr lang="ja-JP" altLang="en-US" sz="1600" dirty="0">
                <a:solidFill>
                  <a:schemeClr val="accent6"/>
                </a:solidFill>
                <a:latin typeface="メイリオ" panose="020B0604030504040204" pitchFamily="50" charset="-128"/>
                <a:ea typeface="メイリオ" panose="020B0604030504040204" pitchFamily="50" charset="-128"/>
              </a:rPr>
              <a:t>　データハザードの原因</a:t>
            </a:r>
          </a:p>
        </p:txBody>
      </p:sp>
      <p:sp>
        <p:nvSpPr>
          <p:cNvPr id="50" name="正方形/長方形 49"/>
          <p:cNvSpPr/>
          <p:nvPr/>
        </p:nvSpPr>
        <p:spPr bwMode="auto">
          <a:xfrm>
            <a:off x="6186001" y="2888994"/>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marL="342900" indent="-342900">
              <a:buAutoNum type="arabicPeriod"/>
            </a:pPr>
            <a:r>
              <a:rPr lang="ja-JP" altLang="en-US" sz="1600" dirty="0">
                <a:solidFill>
                  <a:schemeClr val="accent6"/>
                </a:solidFill>
                <a:latin typeface="メイリオ" panose="020B0604030504040204" pitchFamily="50" charset="-128"/>
                <a:ea typeface="メイリオ" panose="020B0604030504040204" pitchFamily="50" charset="-128"/>
              </a:rPr>
              <a:t>演算器自体への</a:t>
            </a:r>
            <a:br>
              <a:rPr lang="en-US" altLang="ja-JP" sz="1600" dirty="0">
                <a:solidFill>
                  <a:schemeClr val="accent6"/>
                </a:solidFill>
                <a:latin typeface="メイリオ" panose="020B0604030504040204" pitchFamily="50" charset="-128"/>
                <a:ea typeface="メイリオ" panose="020B0604030504040204" pitchFamily="50" charset="-128"/>
              </a:rPr>
            </a:br>
            <a:r>
              <a:rPr lang="ja-JP" altLang="en-US" sz="1600" dirty="0">
                <a:solidFill>
                  <a:schemeClr val="accent6"/>
                </a:solidFill>
                <a:latin typeface="メイリオ" panose="020B0604030504040204" pitchFamily="50" charset="-128"/>
                <a:ea typeface="メイリオ" panose="020B0604030504040204" pitchFamily="50" charset="-128"/>
              </a:rPr>
              <a:t>フォワーディング</a:t>
            </a:r>
          </a:p>
        </p:txBody>
      </p:sp>
      <p:cxnSp>
        <p:nvCxnSpPr>
          <p:cNvPr id="51" name="直線矢印コネクタ 50"/>
          <p:cNvCxnSpPr/>
          <p:nvPr/>
        </p:nvCxnSpPr>
        <p:spPr bwMode="auto">
          <a:xfrm flipV="1">
            <a:off x="6456004" y="3789004"/>
            <a:ext cx="360004" cy="2"/>
          </a:xfrm>
          <a:prstGeom prst="straightConnector1">
            <a:avLst/>
          </a:prstGeom>
          <a:noFill/>
          <a:ln w="31750" cap="flat" cmpd="sng" algn="ctr">
            <a:solidFill>
              <a:schemeClr val="accent6"/>
            </a:solidFill>
            <a:prstDash val="solid"/>
            <a:round/>
            <a:headEnd type="none" w="sm" len="sm"/>
            <a:tailEnd type="triangle"/>
          </a:ln>
          <a:effectLst/>
        </p:spPr>
      </p:cxnSp>
      <p:cxnSp>
        <p:nvCxnSpPr>
          <p:cNvPr id="52" name="直線矢印コネクタ 51"/>
          <p:cNvCxnSpPr/>
          <p:nvPr/>
        </p:nvCxnSpPr>
        <p:spPr bwMode="auto">
          <a:xfrm flipV="1">
            <a:off x="6456004" y="4599013"/>
            <a:ext cx="360004" cy="2"/>
          </a:xfrm>
          <a:prstGeom prst="straightConnector1">
            <a:avLst/>
          </a:prstGeom>
          <a:noFill/>
          <a:ln w="31750" cap="flat" cmpd="sng" algn="ctr">
            <a:solidFill>
              <a:schemeClr val="accent6"/>
            </a:solidFill>
            <a:prstDash val="solid"/>
            <a:round/>
            <a:headEnd type="none" w="sm" len="sm"/>
            <a:tailEnd type="triangle"/>
          </a:ln>
          <a:effectLst/>
        </p:spPr>
      </p:cxnSp>
      <p:sp>
        <p:nvSpPr>
          <p:cNvPr id="53" name="Freeform 10"/>
          <p:cNvSpPr>
            <a:spLocks/>
          </p:cNvSpPr>
          <p:nvPr/>
        </p:nvSpPr>
        <p:spPr bwMode="auto">
          <a:xfrm flipH="1" flipV="1">
            <a:off x="6186001" y="3338999"/>
            <a:ext cx="1620018" cy="81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4" name="直線矢印コネクタ 53"/>
          <p:cNvCxnSpPr/>
          <p:nvPr/>
        </p:nvCxnSpPr>
        <p:spPr bwMode="auto">
          <a:xfrm>
            <a:off x="6456004" y="4419013"/>
            <a:ext cx="0" cy="360004"/>
          </a:xfrm>
          <a:prstGeom prst="straightConnector1">
            <a:avLst/>
          </a:prstGeom>
          <a:noFill/>
          <a:ln w="31750" cap="flat" cmpd="sng" algn="ctr">
            <a:solidFill>
              <a:schemeClr val="accent6"/>
            </a:solidFill>
            <a:prstDash val="solid"/>
            <a:round/>
            <a:headEnd type="none" w="sm" len="sm"/>
            <a:tailEnd type="none"/>
          </a:ln>
          <a:effectLst/>
        </p:spPr>
      </p:cxnSp>
      <p:sp>
        <p:nvSpPr>
          <p:cNvPr id="55" name="Freeform 10"/>
          <p:cNvSpPr>
            <a:spLocks/>
          </p:cNvSpPr>
          <p:nvPr/>
        </p:nvSpPr>
        <p:spPr bwMode="auto">
          <a:xfrm rot="10800000" flipH="1" flipV="1">
            <a:off x="6186002" y="3338999"/>
            <a:ext cx="270003" cy="36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56" name="Freeform 10"/>
          <p:cNvSpPr>
            <a:spLocks/>
          </p:cNvSpPr>
          <p:nvPr/>
        </p:nvSpPr>
        <p:spPr bwMode="auto">
          <a:xfrm rot="10800000" flipH="1" flipV="1">
            <a:off x="6186002" y="3699005"/>
            <a:ext cx="270003" cy="81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9" name="直線矢印コネクタ 58"/>
          <p:cNvCxnSpPr/>
          <p:nvPr/>
        </p:nvCxnSpPr>
        <p:spPr bwMode="auto">
          <a:xfrm>
            <a:off x="6456004" y="3609002"/>
            <a:ext cx="0" cy="360004"/>
          </a:xfrm>
          <a:prstGeom prst="straightConnector1">
            <a:avLst/>
          </a:prstGeom>
          <a:noFill/>
          <a:ln w="31750" cap="flat" cmpd="sng" algn="ctr">
            <a:solidFill>
              <a:schemeClr val="accent6"/>
            </a:solidFill>
            <a:prstDash val="solid"/>
            <a:round/>
            <a:headEnd type="none" w="sm" len="sm"/>
            <a:tailEnd type="none"/>
          </a:ln>
          <a:effectLst/>
        </p:spPr>
      </p:cxnSp>
    </p:spTree>
    <p:extLst>
      <p:ext uri="{BB962C8B-B14F-4D97-AF65-F5344CB8AC3E}">
        <p14:creationId xmlns:p14="http://schemas.microsoft.com/office/powerpoint/2010/main" val="7575789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問題となるバックエッジ</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latin typeface="メイリオ" panose="020B0604030504040204" pitchFamily="50" charset="-128"/>
              </a:rPr>
              <a:t>演算器のフォワーディング</a:t>
            </a:r>
            <a:endParaRPr lang="en-US" altLang="ja-JP" dirty="0">
              <a:latin typeface="メイリオ" panose="020B0604030504040204" pitchFamily="50" charset="-128"/>
            </a:endParaRPr>
          </a:p>
          <a:p>
            <a:pPr marL="457200" indent="-457200">
              <a:buFont typeface="+mj-lt"/>
              <a:buAutoNum type="arabicPeriod"/>
            </a:pPr>
            <a:r>
              <a:rPr lang="ja-JP" altLang="en-US" dirty="0">
                <a:latin typeface="メイリオ" panose="020B0604030504040204" pitchFamily="50" charset="-128"/>
              </a:rPr>
              <a:t>ロードによるデータ・メモリの読み出し</a:t>
            </a:r>
            <a:endParaRPr lang="en-US" altLang="ja-JP" dirty="0">
              <a:latin typeface="メイリオ" panose="020B0604030504040204" pitchFamily="50" charset="-128"/>
            </a:endParaRPr>
          </a:p>
          <a:p>
            <a:pPr marL="457200" indent="-457200">
              <a:buFont typeface="+mj-lt"/>
              <a:buAutoNum type="arabicPeriod"/>
            </a:pPr>
            <a:r>
              <a:rPr lang="ja-JP" altLang="en-US" dirty="0">
                <a:latin typeface="メイリオ" panose="020B0604030504040204" pitchFamily="50" charset="-128"/>
              </a:rPr>
              <a:t>分岐結果の </a:t>
            </a:r>
            <a:r>
              <a:rPr lang="en-US" altLang="ja-JP" dirty="0">
                <a:latin typeface="メイリオ" panose="020B0604030504040204" pitchFamily="50" charset="-128"/>
              </a:rPr>
              <a:t>PC </a:t>
            </a:r>
            <a:r>
              <a:rPr lang="ja-JP" altLang="en-US" dirty="0" err="1">
                <a:latin typeface="メイリオ" panose="020B0604030504040204" pitchFamily="50" charset="-128"/>
              </a:rPr>
              <a:t>への</a:t>
            </a:r>
            <a:r>
              <a:rPr lang="ja-JP" altLang="en-US" dirty="0">
                <a:latin typeface="メイリオ" panose="020B0604030504040204" pitchFamily="50" charset="-128"/>
              </a:rPr>
              <a:t>反映</a:t>
            </a:r>
            <a:endParaRPr kumimoji="1" lang="ja-JP" altLang="en-US" dirty="0"/>
          </a:p>
        </p:txBody>
      </p:sp>
    </p:spTree>
    <p:extLst>
      <p:ext uri="{BB962C8B-B14F-4D97-AF65-F5344CB8AC3E}">
        <p14:creationId xmlns:p14="http://schemas.microsoft.com/office/powerpoint/2010/main" val="3499536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marL="457200" indent="-457200">
              <a:buFont typeface="+mj-lt"/>
              <a:buAutoNum type="arabicPeriod"/>
            </a:pPr>
            <a:r>
              <a:rPr lang="ja-JP" altLang="en-US" dirty="0">
                <a:latin typeface="メイリオ" panose="020B0604030504040204" pitchFamily="50" charset="-128"/>
              </a:rPr>
              <a:t>演算器のフォワーディング</a:t>
            </a:r>
            <a:endParaRPr lang="en-US" altLang="ja-JP" dirty="0">
              <a:latin typeface="メイリオ" panose="020B0604030504040204" pitchFamily="50" charset="-128"/>
            </a:endParaRPr>
          </a:p>
        </p:txBody>
      </p:sp>
      <p:sp>
        <p:nvSpPr>
          <p:cNvPr id="3" name="テキスト プレースホルダー 2"/>
          <p:cNvSpPr>
            <a:spLocks noGrp="1"/>
          </p:cNvSpPr>
          <p:nvPr>
            <p:ph type="body" sz="quarter" idx="10"/>
          </p:nvPr>
        </p:nvSpPr>
        <p:spPr>
          <a:xfrm>
            <a:off x="2045955" y="3789005"/>
            <a:ext cx="8280092" cy="1619711"/>
          </a:xfrm>
        </p:spPr>
        <p:txBody>
          <a:bodyPr/>
          <a:lstStyle/>
          <a:p>
            <a:r>
              <a:rPr kumimoji="1" lang="ja-JP" altLang="en-US" dirty="0"/>
              <a:t>ここは結構遅延が長い</a:t>
            </a:r>
            <a:endParaRPr kumimoji="1" lang="en-US" altLang="ja-JP" dirty="0"/>
          </a:p>
          <a:p>
            <a:pPr lvl="1"/>
            <a:r>
              <a:rPr kumimoji="1" lang="ja-JP" altLang="en-US" dirty="0"/>
              <a:t>クロック周波数の低下につながるのでパイプライン化したくなる</a:t>
            </a:r>
            <a:endParaRPr kumimoji="1" lang="en-US" altLang="ja-JP" dirty="0"/>
          </a:p>
        </p:txBody>
      </p:sp>
      <p:sp>
        <p:nvSpPr>
          <p:cNvPr id="4" name="フリーフォーム 3"/>
          <p:cNvSpPr>
            <a:spLocks noChangeArrowheads="1"/>
          </p:cNvSpPr>
          <p:nvPr/>
        </p:nvSpPr>
        <p:spPr bwMode="auto">
          <a:xfrm rot="-5400000">
            <a:off x="7491017" y="2213989"/>
            <a:ext cx="1260013" cy="450005"/>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cxnSp>
        <p:nvCxnSpPr>
          <p:cNvPr id="5" name="直線矢印コネクタ 4"/>
          <p:cNvCxnSpPr/>
          <p:nvPr/>
        </p:nvCxnSpPr>
        <p:spPr bwMode="auto">
          <a:xfrm>
            <a:off x="7086012" y="2078987"/>
            <a:ext cx="810009" cy="0"/>
          </a:xfrm>
          <a:prstGeom prst="straightConnector1">
            <a:avLst/>
          </a:prstGeom>
          <a:noFill/>
          <a:ln w="31750" cap="flat" cmpd="sng" algn="ctr">
            <a:solidFill>
              <a:schemeClr val="accent5"/>
            </a:solidFill>
            <a:prstDash val="solid"/>
            <a:round/>
            <a:headEnd type="none" w="sm" len="sm"/>
            <a:tailEnd type="triangle"/>
          </a:ln>
          <a:effectLst/>
        </p:spPr>
      </p:cxnSp>
      <p:cxnSp>
        <p:nvCxnSpPr>
          <p:cNvPr id="6" name="直線矢印コネクタ 5"/>
          <p:cNvCxnSpPr/>
          <p:nvPr/>
        </p:nvCxnSpPr>
        <p:spPr bwMode="auto">
          <a:xfrm>
            <a:off x="7086012" y="2888996"/>
            <a:ext cx="810009" cy="0"/>
          </a:xfrm>
          <a:prstGeom prst="straightConnector1">
            <a:avLst/>
          </a:prstGeom>
          <a:noFill/>
          <a:ln w="31750" cap="flat" cmpd="sng" algn="ctr">
            <a:solidFill>
              <a:schemeClr val="accent5"/>
            </a:solidFill>
            <a:prstDash val="solid"/>
            <a:round/>
            <a:headEnd type="none" w="sm" len="sm"/>
            <a:tailEnd type="triangle"/>
          </a:ln>
          <a:effectLst/>
        </p:spPr>
      </p:cxnSp>
      <p:sp>
        <p:nvSpPr>
          <p:cNvPr id="7" name="正方形/長方形 6"/>
          <p:cNvSpPr/>
          <p:nvPr/>
        </p:nvSpPr>
        <p:spPr bwMode="auto">
          <a:xfrm>
            <a:off x="7266013" y="1808984"/>
            <a:ext cx="270003"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8" name="二等辺三角形 7"/>
          <p:cNvSpPr/>
          <p:nvPr/>
        </p:nvSpPr>
        <p:spPr bwMode="auto">
          <a:xfrm>
            <a:off x="7310617" y="3068998"/>
            <a:ext cx="180002" cy="180002"/>
          </a:xfrm>
          <a:prstGeom prst="triangle">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Freeform 10"/>
          <p:cNvSpPr>
            <a:spLocks/>
          </p:cNvSpPr>
          <p:nvPr/>
        </p:nvSpPr>
        <p:spPr bwMode="auto">
          <a:xfrm flipH="1" flipV="1">
            <a:off x="6816008" y="1268977"/>
            <a:ext cx="1620018"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4925" cap="flat" cmpd="sng">
            <a:solidFill>
              <a:schemeClr val="accent5"/>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0" name="直線矢印コネクタ 9"/>
          <p:cNvCxnSpPr/>
          <p:nvPr/>
        </p:nvCxnSpPr>
        <p:spPr bwMode="auto">
          <a:xfrm>
            <a:off x="7086011" y="1898985"/>
            <a:ext cx="0" cy="360004"/>
          </a:xfrm>
          <a:prstGeom prst="straightConnector1">
            <a:avLst/>
          </a:prstGeom>
          <a:noFill/>
          <a:ln w="38100" cap="flat" cmpd="sng" algn="ctr">
            <a:solidFill>
              <a:schemeClr val="accent5"/>
            </a:solidFill>
            <a:prstDash val="solid"/>
            <a:round/>
            <a:headEnd type="none" w="sm" len="sm"/>
            <a:tailEnd type="none"/>
          </a:ln>
          <a:effectLst/>
        </p:spPr>
      </p:cxnSp>
      <p:cxnSp>
        <p:nvCxnSpPr>
          <p:cNvPr id="11" name="直線矢印コネクタ 10"/>
          <p:cNvCxnSpPr/>
          <p:nvPr/>
        </p:nvCxnSpPr>
        <p:spPr bwMode="auto">
          <a:xfrm>
            <a:off x="7086011" y="2708994"/>
            <a:ext cx="0" cy="360004"/>
          </a:xfrm>
          <a:prstGeom prst="straightConnector1">
            <a:avLst/>
          </a:prstGeom>
          <a:noFill/>
          <a:ln w="38100" cap="flat" cmpd="sng" algn="ctr">
            <a:solidFill>
              <a:schemeClr val="accent5"/>
            </a:solidFill>
            <a:prstDash val="solid"/>
            <a:round/>
            <a:headEnd type="none" w="sm" len="sm"/>
            <a:tailEnd type="none"/>
          </a:ln>
          <a:effectLst/>
        </p:spPr>
      </p:cxnSp>
      <p:sp>
        <p:nvSpPr>
          <p:cNvPr id="12" name="Freeform 10"/>
          <p:cNvSpPr>
            <a:spLocks/>
          </p:cNvSpPr>
          <p:nvPr/>
        </p:nvSpPr>
        <p:spPr bwMode="auto">
          <a:xfrm rot="10800000" flipH="1" flipV="1">
            <a:off x="6816009" y="1268979"/>
            <a:ext cx="270003"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5"/>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 name="Freeform 10"/>
          <p:cNvSpPr>
            <a:spLocks/>
          </p:cNvSpPr>
          <p:nvPr/>
        </p:nvSpPr>
        <p:spPr bwMode="auto">
          <a:xfrm rot="10800000" flipH="1" flipV="1">
            <a:off x="6816009" y="1988986"/>
            <a:ext cx="270003" cy="81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4925" cap="flat" cmpd="sng">
            <a:solidFill>
              <a:schemeClr val="accent5"/>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4" name="直線矢印コネクタ 13"/>
          <p:cNvCxnSpPr/>
          <p:nvPr/>
        </p:nvCxnSpPr>
        <p:spPr bwMode="auto">
          <a:xfrm>
            <a:off x="6636007" y="2168988"/>
            <a:ext cx="450005" cy="0"/>
          </a:xfrm>
          <a:prstGeom prst="straightConnector1">
            <a:avLst/>
          </a:prstGeom>
          <a:noFill/>
          <a:ln w="9525" cap="flat" cmpd="sng" algn="ctr">
            <a:solidFill>
              <a:schemeClr val="tx1"/>
            </a:solidFill>
            <a:prstDash val="solid"/>
            <a:round/>
            <a:headEnd type="none" w="sm" len="sm"/>
            <a:tailEnd type="triangle"/>
          </a:ln>
          <a:effectLst/>
        </p:spPr>
      </p:cxnSp>
      <p:cxnSp>
        <p:nvCxnSpPr>
          <p:cNvPr id="15" name="直線矢印コネクタ 14"/>
          <p:cNvCxnSpPr/>
          <p:nvPr/>
        </p:nvCxnSpPr>
        <p:spPr bwMode="auto">
          <a:xfrm>
            <a:off x="6636007" y="2978997"/>
            <a:ext cx="450005" cy="0"/>
          </a:xfrm>
          <a:prstGeom prst="straightConnector1">
            <a:avLst/>
          </a:prstGeom>
          <a:noFill/>
          <a:ln w="9525" cap="flat" cmpd="sng" algn="ctr">
            <a:solidFill>
              <a:schemeClr val="tx1"/>
            </a:solidFill>
            <a:prstDash val="solid"/>
            <a:round/>
            <a:headEnd type="none" w="sm" len="sm"/>
            <a:tailEnd type="triangle"/>
          </a:ln>
          <a:effectLst/>
        </p:spPr>
      </p:cxnSp>
      <p:cxnSp>
        <p:nvCxnSpPr>
          <p:cNvPr id="16" name="直線矢印コネクタ 15"/>
          <p:cNvCxnSpPr/>
          <p:nvPr/>
        </p:nvCxnSpPr>
        <p:spPr bwMode="auto">
          <a:xfrm>
            <a:off x="8346026" y="243899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39" name="フリーフォーム 38"/>
          <p:cNvSpPr>
            <a:spLocks noChangeArrowheads="1"/>
          </p:cNvSpPr>
          <p:nvPr/>
        </p:nvSpPr>
        <p:spPr bwMode="auto">
          <a:xfrm rot="-5400000">
            <a:off x="3890977" y="2213989"/>
            <a:ext cx="1260013" cy="450005"/>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cxnSp>
        <p:nvCxnSpPr>
          <p:cNvPr id="40" name="直線矢印コネクタ 39"/>
          <p:cNvCxnSpPr/>
          <p:nvPr/>
        </p:nvCxnSpPr>
        <p:spPr bwMode="auto">
          <a:xfrm>
            <a:off x="3935976" y="2078985"/>
            <a:ext cx="360004" cy="2"/>
          </a:xfrm>
          <a:prstGeom prst="straightConnector1">
            <a:avLst/>
          </a:prstGeom>
          <a:noFill/>
          <a:ln w="31750" cap="flat" cmpd="sng" algn="ctr">
            <a:solidFill>
              <a:schemeClr val="accent5"/>
            </a:solidFill>
            <a:prstDash val="solid"/>
            <a:round/>
            <a:headEnd type="none" w="sm" len="sm"/>
            <a:tailEnd type="triangle"/>
          </a:ln>
          <a:effectLst/>
        </p:spPr>
      </p:cxnSp>
      <p:cxnSp>
        <p:nvCxnSpPr>
          <p:cNvPr id="41" name="直線矢印コネクタ 40"/>
          <p:cNvCxnSpPr/>
          <p:nvPr/>
        </p:nvCxnSpPr>
        <p:spPr bwMode="auto">
          <a:xfrm>
            <a:off x="3935976" y="2888994"/>
            <a:ext cx="360004" cy="2"/>
          </a:xfrm>
          <a:prstGeom prst="straightConnector1">
            <a:avLst/>
          </a:prstGeom>
          <a:noFill/>
          <a:ln w="31750" cap="flat" cmpd="sng" algn="ctr">
            <a:solidFill>
              <a:schemeClr val="accent5"/>
            </a:solidFill>
            <a:prstDash val="solid"/>
            <a:round/>
            <a:headEnd type="none" w="sm" len="sm"/>
            <a:tailEnd type="triangle"/>
          </a:ln>
          <a:effectLst/>
        </p:spPr>
      </p:cxnSp>
      <p:sp>
        <p:nvSpPr>
          <p:cNvPr id="42" name="正方形/長方形 41"/>
          <p:cNvSpPr/>
          <p:nvPr/>
        </p:nvSpPr>
        <p:spPr bwMode="auto">
          <a:xfrm>
            <a:off x="3665973" y="1808984"/>
            <a:ext cx="270003"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3" name="二等辺三角形 42"/>
          <p:cNvSpPr/>
          <p:nvPr/>
        </p:nvSpPr>
        <p:spPr bwMode="auto">
          <a:xfrm>
            <a:off x="3710577" y="3068998"/>
            <a:ext cx="180002" cy="180002"/>
          </a:xfrm>
          <a:prstGeom prst="triangle">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49" name="直線矢印コネクタ 48"/>
          <p:cNvCxnSpPr/>
          <p:nvPr/>
        </p:nvCxnSpPr>
        <p:spPr bwMode="auto">
          <a:xfrm>
            <a:off x="3215969" y="2078985"/>
            <a:ext cx="450005" cy="0"/>
          </a:xfrm>
          <a:prstGeom prst="straightConnector1">
            <a:avLst/>
          </a:prstGeom>
          <a:noFill/>
          <a:ln w="9525" cap="flat" cmpd="sng" algn="ctr">
            <a:solidFill>
              <a:schemeClr val="tx1"/>
            </a:solidFill>
            <a:prstDash val="solid"/>
            <a:round/>
            <a:headEnd type="none" w="sm" len="sm"/>
            <a:tailEnd type="triangle"/>
          </a:ln>
          <a:effectLst/>
        </p:spPr>
      </p:cxnSp>
      <p:cxnSp>
        <p:nvCxnSpPr>
          <p:cNvPr id="50" name="直線矢印コネクタ 49"/>
          <p:cNvCxnSpPr/>
          <p:nvPr/>
        </p:nvCxnSpPr>
        <p:spPr bwMode="auto">
          <a:xfrm>
            <a:off x="3215969" y="2888994"/>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54" name="正方形/長方形 53"/>
          <p:cNvSpPr/>
          <p:nvPr/>
        </p:nvSpPr>
        <p:spPr bwMode="auto">
          <a:xfrm>
            <a:off x="8796031" y="1808982"/>
            <a:ext cx="270003"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5" name="正方形/長方形 54"/>
          <p:cNvSpPr/>
          <p:nvPr/>
        </p:nvSpPr>
        <p:spPr bwMode="auto">
          <a:xfrm>
            <a:off x="5105990" y="1808982"/>
            <a:ext cx="270003"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cxnSp>
        <p:nvCxnSpPr>
          <p:cNvPr id="56" name="直線矢印コネクタ 55"/>
          <p:cNvCxnSpPr/>
          <p:nvPr/>
        </p:nvCxnSpPr>
        <p:spPr bwMode="auto">
          <a:xfrm>
            <a:off x="4745985" y="2438989"/>
            <a:ext cx="360004" cy="2"/>
          </a:xfrm>
          <a:prstGeom prst="straightConnector1">
            <a:avLst/>
          </a:prstGeom>
          <a:noFill/>
          <a:ln w="31750" cap="flat" cmpd="sng" algn="ctr">
            <a:solidFill>
              <a:schemeClr val="accent5"/>
            </a:solidFill>
            <a:prstDash val="solid"/>
            <a:round/>
            <a:headEnd type="none" w="sm" len="sm"/>
            <a:tailEnd type="triangle"/>
          </a:ln>
          <a:effectLst/>
        </p:spPr>
      </p:cxnSp>
    </p:spTree>
    <p:extLst>
      <p:ext uri="{BB962C8B-B14F-4D97-AF65-F5344CB8AC3E}">
        <p14:creationId xmlns:p14="http://schemas.microsoft.com/office/powerpoint/2010/main" val="1106083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メイリオ" panose="020B0604030504040204" pitchFamily="50" charset="-128"/>
              </a:rPr>
              <a:t>演算器のパイプライン化</a:t>
            </a:r>
            <a:endParaRPr lang="en-US" altLang="ja-JP" dirty="0">
              <a:latin typeface="メイリオ" panose="020B0604030504040204" pitchFamily="50" charset="-128"/>
            </a:endParaRPr>
          </a:p>
        </p:txBody>
      </p:sp>
      <p:sp>
        <p:nvSpPr>
          <p:cNvPr id="3" name="テキスト プレースホルダー 2"/>
          <p:cNvSpPr>
            <a:spLocks noGrp="1"/>
          </p:cNvSpPr>
          <p:nvPr>
            <p:ph type="body" sz="quarter" idx="10"/>
          </p:nvPr>
        </p:nvSpPr>
        <p:spPr>
          <a:xfrm>
            <a:off x="2045955" y="3789005"/>
            <a:ext cx="8280092" cy="1619711"/>
          </a:xfrm>
        </p:spPr>
        <p:txBody>
          <a:bodyPr/>
          <a:lstStyle/>
          <a:p>
            <a:r>
              <a:rPr kumimoji="1" lang="ja-JP" altLang="en-US" dirty="0"/>
              <a:t>演算器のパイプライン化</a:t>
            </a:r>
            <a:endParaRPr kumimoji="1" lang="en-US" altLang="ja-JP" dirty="0"/>
          </a:p>
          <a:p>
            <a:pPr lvl="1"/>
            <a:r>
              <a:rPr kumimoji="1" lang="ja-JP" altLang="en-US" dirty="0"/>
              <a:t>たとえば加算を，下位３２ビットと上位３２ビットを</a:t>
            </a:r>
            <a:br>
              <a:rPr kumimoji="1" lang="en-US" altLang="ja-JP" dirty="0"/>
            </a:br>
            <a:r>
              <a:rPr kumimoji="1" lang="ja-JP" altLang="en-US" dirty="0"/>
              <a:t>２ステージかけてやる</a:t>
            </a:r>
            <a:endParaRPr kumimoji="1" lang="en-US" altLang="ja-JP" dirty="0"/>
          </a:p>
          <a:p>
            <a:pPr lvl="1"/>
            <a:r>
              <a:rPr kumimoji="1" lang="ja-JP" altLang="en-US" dirty="0"/>
              <a:t>１ステージあたりの遅延は半分になる</a:t>
            </a:r>
            <a:endParaRPr kumimoji="1" lang="en-US" altLang="ja-JP" dirty="0"/>
          </a:p>
        </p:txBody>
      </p:sp>
      <p:sp>
        <p:nvSpPr>
          <p:cNvPr id="4" name="フリーフォーム 3"/>
          <p:cNvSpPr>
            <a:spLocks noChangeArrowheads="1"/>
          </p:cNvSpPr>
          <p:nvPr/>
        </p:nvSpPr>
        <p:spPr bwMode="auto">
          <a:xfrm rot="-5400000">
            <a:off x="3170969" y="2213989"/>
            <a:ext cx="1260013" cy="450005"/>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cxnSp>
        <p:nvCxnSpPr>
          <p:cNvPr id="5" name="直線矢印コネクタ 4"/>
          <p:cNvCxnSpPr/>
          <p:nvPr/>
        </p:nvCxnSpPr>
        <p:spPr bwMode="auto">
          <a:xfrm>
            <a:off x="2765964" y="2078987"/>
            <a:ext cx="810009" cy="0"/>
          </a:xfrm>
          <a:prstGeom prst="straightConnector1">
            <a:avLst/>
          </a:prstGeom>
          <a:noFill/>
          <a:ln w="31750" cap="flat" cmpd="sng" algn="ctr">
            <a:solidFill>
              <a:schemeClr val="accent5"/>
            </a:solidFill>
            <a:prstDash val="solid"/>
            <a:round/>
            <a:headEnd type="none" w="sm" len="sm"/>
            <a:tailEnd type="triangle"/>
          </a:ln>
          <a:effectLst/>
        </p:spPr>
      </p:cxnSp>
      <p:cxnSp>
        <p:nvCxnSpPr>
          <p:cNvPr id="6" name="直線矢印コネクタ 5"/>
          <p:cNvCxnSpPr/>
          <p:nvPr/>
        </p:nvCxnSpPr>
        <p:spPr bwMode="auto">
          <a:xfrm>
            <a:off x="2765964" y="2888996"/>
            <a:ext cx="810009" cy="0"/>
          </a:xfrm>
          <a:prstGeom prst="straightConnector1">
            <a:avLst/>
          </a:prstGeom>
          <a:noFill/>
          <a:ln w="31750" cap="flat" cmpd="sng" algn="ctr">
            <a:solidFill>
              <a:schemeClr val="accent5"/>
            </a:solidFill>
            <a:prstDash val="solid"/>
            <a:round/>
            <a:headEnd type="none" w="sm" len="sm"/>
            <a:tailEnd type="triangle"/>
          </a:ln>
          <a:effectLst/>
        </p:spPr>
      </p:cxnSp>
      <p:sp>
        <p:nvSpPr>
          <p:cNvPr id="7" name="正方形/長方形 6"/>
          <p:cNvSpPr/>
          <p:nvPr/>
        </p:nvSpPr>
        <p:spPr bwMode="auto">
          <a:xfrm>
            <a:off x="2945965" y="1808984"/>
            <a:ext cx="270003"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8" name="二等辺三角形 7"/>
          <p:cNvSpPr/>
          <p:nvPr/>
        </p:nvSpPr>
        <p:spPr bwMode="auto">
          <a:xfrm>
            <a:off x="2990569" y="3068998"/>
            <a:ext cx="180002" cy="180002"/>
          </a:xfrm>
          <a:prstGeom prst="triangle">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Freeform 10"/>
          <p:cNvSpPr>
            <a:spLocks/>
          </p:cNvSpPr>
          <p:nvPr/>
        </p:nvSpPr>
        <p:spPr bwMode="auto">
          <a:xfrm flipH="1" flipV="1">
            <a:off x="2495960" y="1268977"/>
            <a:ext cx="1620018"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4925" cap="flat" cmpd="sng">
            <a:solidFill>
              <a:schemeClr val="accent5"/>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0" name="直線矢印コネクタ 9"/>
          <p:cNvCxnSpPr/>
          <p:nvPr/>
        </p:nvCxnSpPr>
        <p:spPr bwMode="auto">
          <a:xfrm>
            <a:off x="2765963" y="1898985"/>
            <a:ext cx="0" cy="360004"/>
          </a:xfrm>
          <a:prstGeom prst="straightConnector1">
            <a:avLst/>
          </a:prstGeom>
          <a:noFill/>
          <a:ln w="38100" cap="flat" cmpd="sng" algn="ctr">
            <a:solidFill>
              <a:schemeClr val="accent5"/>
            </a:solidFill>
            <a:prstDash val="solid"/>
            <a:round/>
            <a:headEnd type="none" w="sm" len="sm"/>
            <a:tailEnd type="none"/>
          </a:ln>
          <a:effectLst/>
        </p:spPr>
      </p:cxnSp>
      <p:cxnSp>
        <p:nvCxnSpPr>
          <p:cNvPr id="11" name="直線矢印コネクタ 10"/>
          <p:cNvCxnSpPr/>
          <p:nvPr/>
        </p:nvCxnSpPr>
        <p:spPr bwMode="auto">
          <a:xfrm>
            <a:off x="2765963" y="2708994"/>
            <a:ext cx="0" cy="360004"/>
          </a:xfrm>
          <a:prstGeom prst="straightConnector1">
            <a:avLst/>
          </a:prstGeom>
          <a:noFill/>
          <a:ln w="38100" cap="flat" cmpd="sng" algn="ctr">
            <a:solidFill>
              <a:schemeClr val="accent5"/>
            </a:solidFill>
            <a:prstDash val="solid"/>
            <a:round/>
            <a:headEnd type="none" w="sm" len="sm"/>
            <a:tailEnd type="none"/>
          </a:ln>
          <a:effectLst/>
        </p:spPr>
      </p:cxnSp>
      <p:sp>
        <p:nvSpPr>
          <p:cNvPr id="12" name="Freeform 10"/>
          <p:cNvSpPr>
            <a:spLocks/>
          </p:cNvSpPr>
          <p:nvPr/>
        </p:nvSpPr>
        <p:spPr bwMode="auto">
          <a:xfrm rot="10800000" flipH="1" flipV="1">
            <a:off x="2495961" y="1268979"/>
            <a:ext cx="270003"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5"/>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 name="Freeform 10"/>
          <p:cNvSpPr>
            <a:spLocks/>
          </p:cNvSpPr>
          <p:nvPr/>
        </p:nvSpPr>
        <p:spPr bwMode="auto">
          <a:xfrm rot="10800000" flipH="1" flipV="1">
            <a:off x="2495961" y="1988986"/>
            <a:ext cx="270003" cy="81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4925" cap="flat" cmpd="sng">
            <a:solidFill>
              <a:schemeClr val="accent5"/>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4" name="直線矢印コネクタ 13"/>
          <p:cNvCxnSpPr/>
          <p:nvPr/>
        </p:nvCxnSpPr>
        <p:spPr bwMode="auto">
          <a:xfrm>
            <a:off x="2315959" y="2168988"/>
            <a:ext cx="450005" cy="0"/>
          </a:xfrm>
          <a:prstGeom prst="straightConnector1">
            <a:avLst/>
          </a:prstGeom>
          <a:noFill/>
          <a:ln w="9525" cap="flat" cmpd="sng" algn="ctr">
            <a:solidFill>
              <a:schemeClr val="tx1"/>
            </a:solidFill>
            <a:prstDash val="solid"/>
            <a:round/>
            <a:headEnd type="none" w="sm" len="sm"/>
            <a:tailEnd type="triangle"/>
          </a:ln>
          <a:effectLst/>
        </p:spPr>
      </p:cxnSp>
      <p:cxnSp>
        <p:nvCxnSpPr>
          <p:cNvPr id="15" name="直線矢印コネクタ 14"/>
          <p:cNvCxnSpPr/>
          <p:nvPr/>
        </p:nvCxnSpPr>
        <p:spPr bwMode="auto">
          <a:xfrm>
            <a:off x="2315959" y="2978997"/>
            <a:ext cx="450005" cy="0"/>
          </a:xfrm>
          <a:prstGeom prst="straightConnector1">
            <a:avLst/>
          </a:prstGeom>
          <a:noFill/>
          <a:ln w="9525" cap="flat" cmpd="sng" algn="ctr">
            <a:solidFill>
              <a:schemeClr val="tx1"/>
            </a:solidFill>
            <a:prstDash val="solid"/>
            <a:round/>
            <a:headEnd type="none" w="sm" len="sm"/>
            <a:tailEnd type="triangle"/>
          </a:ln>
          <a:effectLst/>
        </p:spPr>
      </p:cxnSp>
      <p:cxnSp>
        <p:nvCxnSpPr>
          <p:cNvPr id="16" name="直線矢印コネクタ 15"/>
          <p:cNvCxnSpPr/>
          <p:nvPr/>
        </p:nvCxnSpPr>
        <p:spPr bwMode="auto">
          <a:xfrm>
            <a:off x="4025978" y="243899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54" name="正方形/長方形 53"/>
          <p:cNvSpPr/>
          <p:nvPr/>
        </p:nvSpPr>
        <p:spPr bwMode="auto">
          <a:xfrm>
            <a:off x="4475983" y="1808982"/>
            <a:ext cx="270003"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7" name="フリーフォーム 26"/>
          <p:cNvSpPr>
            <a:spLocks noChangeArrowheads="1"/>
          </p:cNvSpPr>
          <p:nvPr/>
        </p:nvSpPr>
        <p:spPr bwMode="auto">
          <a:xfrm rot="-5400000">
            <a:off x="6816010" y="2348987"/>
            <a:ext cx="1260013" cy="180002"/>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cxnSp>
        <p:nvCxnSpPr>
          <p:cNvPr id="28" name="直線矢印コネクタ 27"/>
          <p:cNvCxnSpPr/>
          <p:nvPr/>
        </p:nvCxnSpPr>
        <p:spPr bwMode="auto">
          <a:xfrm flipV="1">
            <a:off x="6366004" y="2078985"/>
            <a:ext cx="990011" cy="2"/>
          </a:xfrm>
          <a:prstGeom prst="straightConnector1">
            <a:avLst/>
          </a:prstGeom>
          <a:noFill/>
          <a:ln w="31750" cap="flat" cmpd="sng" algn="ctr">
            <a:solidFill>
              <a:schemeClr val="accent5"/>
            </a:solidFill>
            <a:prstDash val="solid"/>
            <a:round/>
            <a:headEnd type="none" w="sm" len="sm"/>
            <a:tailEnd type="triangle"/>
          </a:ln>
          <a:effectLst/>
        </p:spPr>
      </p:cxnSp>
      <p:cxnSp>
        <p:nvCxnSpPr>
          <p:cNvPr id="29" name="直線矢印コネクタ 28"/>
          <p:cNvCxnSpPr/>
          <p:nvPr/>
        </p:nvCxnSpPr>
        <p:spPr bwMode="auto">
          <a:xfrm flipV="1">
            <a:off x="6366004" y="2888994"/>
            <a:ext cx="990011" cy="2"/>
          </a:xfrm>
          <a:prstGeom prst="straightConnector1">
            <a:avLst/>
          </a:prstGeom>
          <a:noFill/>
          <a:ln w="31750" cap="flat" cmpd="sng" algn="ctr">
            <a:solidFill>
              <a:schemeClr val="accent5"/>
            </a:solidFill>
            <a:prstDash val="solid"/>
            <a:round/>
            <a:headEnd type="none" w="sm" len="sm"/>
            <a:tailEnd type="triangle"/>
          </a:ln>
          <a:effectLst/>
        </p:spPr>
      </p:cxnSp>
      <p:sp>
        <p:nvSpPr>
          <p:cNvPr id="30" name="正方形/長方形 29"/>
          <p:cNvSpPr/>
          <p:nvPr/>
        </p:nvSpPr>
        <p:spPr bwMode="auto">
          <a:xfrm>
            <a:off x="6546005" y="1808984"/>
            <a:ext cx="270003"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31" name="二等辺三角形 30"/>
          <p:cNvSpPr/>
          <p:nvPr/>
        </p:nvSpPr>
        <p:spPr bwMode="auto">
          <a:xfrm>
            <a:off x="6590609" y="3068998"/>
            <a:ext cx="180002" cy="180002"/>
          </a:xfrm>
          <a:prstGeom prst="triangle">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2" name="Freeform 10"/>
          <p:cNvSpPr>
            <a:spLocks/>
          </p:cNvSpPr>
          <p:nvPr/>
        </p:nvSpPr>
        <p:spPr bwMode="auto">
          <a:xfrm flipH="1" flipV="1">
            <a:off x="6095999" y="1268975"/>
            <a:ext cx="3240037"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4925" cap="flat" cmpd="sng">
            <a:solidFill>
              <a:schemeClr val="accent5"/>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3" name="直線矢印コネクタ 32"/>
          <p:cNvCxnSpPr/>
          <p:nvPr/>
        </p:nvCxnSpPr>
        <p:spPr bwMode="auto">
          <a:xfrm>
            <a:off x="6366003" y="1898985"/>
            <a:ext cx="0" cy="360004"/>
          </a:xfrm>
          <a:prstGeom prst="straightConnector1">
            <a:avLst/>
          </a:prstGeom>
          <a:noFill/>
          <a:ln w="38100" cap="flat" cmpd="sng" algn="ctr">
            <a:solidFill>
              <a:schemeClr val="accent5"/>
            </a:solidFill>
            <a:prstDash val="solid"/>
            <a:round/>
            <a:headEnd type="none" w="sm" len="sm"/>
            <a:tailEnd type="none"/>
          </a:ln>
          <a:effectLst/>
        </p:spPr>
      </p:cxnSp>
      <p:cxnSp>
        <p:nvCxnSpPr>
          <p:cNvPr id="34" name="直線矢印コネクタ 33"/>
          <p:cNvCxnSpPr/>
          <p:nvPr/>
        </p:nvCxnSpPr>
        <p:spPr bwMode="auto">
          <a:xfrm>
            <a:off x="6366003" y="2708994"/>
            <a:ext cx="0" cy="360004"/>
          </a:xfrm>
          <a:prstGeom prst="straightConnector1">
            <a:avLst/>
          </a:prstGeom>
          <a:noFill/>
          <a:ln w="38100" cap="flat" cmpd="sng" algn="ctr">
            <a:solidFill>
              <a:schemeClr val="accent5"/>
            </a:solidFill>
            <a:prstDash val="solid"/>
            <a:round/>
            <a:headEnd type="none" w="sm" len="sm"/>
            <a:tailEnd type="none"/>
          </a:ln>
          <a:effectLst/>
        </p:spPr>
      </p:cxnSp>
      <p:sp>
        <p:nvSpPr>
          <p:cNvPr id="35" name="Freeform 10"/>
          <p:cNvSpPr>
            <a:spLocks/>
          </p:cNvSpPr>
          <p:nvPr/>
        </p:nvSpPr>
        <p:spPr bwMode="auto">
          <a:xfrm rot="10800000" flipH="1" flipV="1">
            <a:off x="6096001" y="1268979"/>
            <a:ext cx="270003"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5"/>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6" name="Freeform 10"/>
          <p:cNvSpPr>
            <a:spLocks/>
          </p:cNvSpPr>
          <p:nvPr/>
        </p:nvSpPr>
        <p:spPr bwMode="auto">
          <a:xfrm rot="10800000" flipH="1" flipV="1">
            <a:off x="6096001" y="1988986"/>
            <a:ext cx="270003" cy="81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4925" cap="flat" cmpd="sng">
            <a:solidFill>
              <a:schemeClr val="accent5"/>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7" name="直線矢印コネクタ 36"/>
          <p:cNvCxnSpPr/>
          <p:nvPr/>
        </p:nvCxnSpPr>
        <p:spPr bwMode="auto">
          <a:xfrm>
            <a:off x="5915999" y="2168988"/>
            <a:ext cx="450005" cy="0"/>
          </a:xfrm>
          <a:prstGeom prst="straightConnector1">
            <a:avLst/>
          </a:prstGeom>
          <a:noFill/>
          <a:ln w="9525" cap="flat" cmpd="sng" algn="ctr">
            <a:solidFill>
              <a:schemeClr val="tx1"/>
            </a:solidFill>
            <a:prstDash val="solid"/>
            <a:round/>
            <a:headEnd type="none" w="sm" len="sm"/>
            <a:tailEnd type="triangle"/>
          </a:ln>
          <a:effectLst/>
        </p:spPr>
      </p:cxnSp>
      <p:cxnSp>
        <p:nvCxnSpPr>
          <p:cNvPr id="38" name="直線矢印コネクタ 37"/>
          <p:cNvCxnSpPr/>
          <p:nvPr/>
        </p:nvCxnSpPr>
        <p:spPr bwMode="auto">
          <a:xfrm>
            <a:off x="5915999" y="2978997"/>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46" name="フリーフォーム 45"/>
          <p:cNvSpPr>
            <a:spLocks noChangeArrowheads="1"/>
          </p:cNvSpPr>
          <p:nvPr/>
        </p:nvSpPr>
        <p:spPr bwMode="auto">
          <a:xfrm rot="-5400000">
            <a:off x="8166025" y="2348987"/>
            <a:ext cx="1260013" cy="180002"/>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cxnSp>
        <p:nvCxnSpPr>
          <p:cNvPr id="47" name="直線矢印コネクタ 46"/>
          <p:cNvCxnSpPr/>
          <p:nvPr/>
        </p:nvCxnSpPr>
        <p:spPr bwMode="auto">
          <a:xfrm>
            <a:off x="7536017" y="2078985"/>
            <a:ext cx="1170013" cy="0"/>
          </a:xfrm>
          <a:prstGeom prst="straightConnector1">
            <a:avLst/>
          </a:prstGeom>
          <a:noFill/>
          <a:ln w="31750" cap="flat" cmpd="sng" algn="ctr">
            <a:solidFill>
              <a:schemeClr val="accent5"/>
            </a:solidFill>
            <a:prstDash val="solid"/>
            <a:round/>
            <a:headEnd type="none" w="sm" len="sm"/>
            <a:tailEnd type="triangle"/>
          </a:ln>
          <a:effectLst/>
        </p:spPr>
      </p:cxnSp>
      <p:cxnSp>
        <p:nvCxnSpPr>
          <p:cNvPr id="48" name="直線矢印コネクタ 47"/>
          <p:cNvCxnSpPr/>
          <p:nvPr/>
        </p:nvCxnSpPr>
        <p:spPr bwMode="auto">
          <a:xfrm>
            <a:off x="7446015" y="2888994"/>
            <a:ext cx="1260014" cy="0"/>
          </a:xfrm>
          <a:prstGeom prst="straightConnector1">
            <a:avLst/>
          </a:prstGeom>
          <a:noFill/>
          <a:ln w="31750" cap="flat" cmpd="sng" algn="ctr">
            <a:solidFill>
              <a:schemeClr val="accent5"/>
            </a:solidFill>
            <a:prstDash val="solid"/>
            <a:round/>
            <a:headEnd type="none" w="sm" len="sm"/>
            <a:tailEnd type="triangle"/>
          </a:ln>
          <a:effectLst/>
        </p:spPr>
      </p:cxnSp>
      <p:cxnSp>
        <p:nvCxnSpPr>
          <p:cNvPr id="51" name="直線矢印コネクタ 50"/>
          <p:cNvCxnSpPr/>
          <p:nvPr/>
        </p:nvCxnSpPr>
        <p:spPr bwMode="auto">
          <a:xfrm>
            <a:off x="8886031" y="2438989"/>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5" name="正方形/長方形 44"/>
          <p:cNvSpPr/>
          <p:nvPr/>
        </p:nvSpPr>
        <p:spPr bwMode="auto">
          <a:xfrm>
            <a:off x="8076023" y="1808982"/>
            <a:ext cx="270003"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58204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メイリオ" panose="020B0604030504040204" pitchFamily="50" charset="-128"/>
              </a:rPr>
              <a:t>演算器をパイプライン化</a:t>
            </a:r>
            <a:r>
              <a:rPr kumimoji="1" lang="ja-JP" altLang="en-US" dirty="0"/>
              <a:t>した場合の問題</a:t>
            </a:r>
          </a:p>
        </p:txBody>
      </p:sp>
      <p:sp>
        <p:nvSpPr>
          <p:cNvPr id="3" name="テキスト プレースホルダー 2"/>
          <p:cNvSpPr>
            <a:spLocks noGrp="1"/>
          </p:cNvSpPr>
          <p:nvPr>
            <p:ph type="body" sz="quarter" idx="10"/>
          </p:nvPr>
        </p:nvSpPr>
        <p:spPr>
          <a:xfrm>
            <a:off x="1775952" y="2708993"/>
            <a:ext cx="8820098" cy="3690041"/>
          </a:xfrm>
        </p:spPr>
        <p:txBody>
          <a:bodyPr/>
          <a:lstStyle/>
          <a:p>
            <a:r>
              <a:rPr kumimoji="1" lang="ja-JP" altLang="en-US" dirty="0"/>
              <a:t>依存関係にある命令を連続して実行できなくなる</a:t>
            </a:r>
            <a:endParaRPr kumimoji="1" lang="en-US" altLang="ja-JP" dirty="0"/>
          </a:p>
          <a:p>
            <a:pPr lvl="1"/>
            <a:r>
              <a:rPr lang="en-US" altLang="ja-JP" b="1" dirty="0">
                <a:latin typeface="Courier New" panose="02070309020205020404" pitchFamily="49" charset="0"/>
                <a:cs typeface="Courier New" panose="02070309020205020404" pitchFamily="49" charset="0"/>
              </a:rPr>
              <a:t>I0 </a:t>
            </a:r>
            <a:r>
              <a:rPr lang="ja-JP" altLang="en-US" dirty="0">
                <a:cs typeface="Courier New" panose="02070309020205020404" pitchFamily="49" charset="0"/>
              </a:rPr>
              <a:t>の </a:t>
            </a:r>
            <a:r>
              <a:rPr lang="en-US" altLang="ja-JP" dirty="0">
                <a:cs typeface="Courier New" panose="02070309020205020404" pitchFamily="49" charset="0"/>
              </a:rPr>
              <a:t>EX2 </a:t>
            </a:r>
            <a:r>
              <a:rPr lang="ja-JP" altLang="en-US" dirty="0">
                <a:cs typeface="Courier New" panose="02070309020205020404" pitchFamily="49" charset="0"/>
              </a:rPr>
              <a:t>が終わる前に，</a:t>
            </a:r>
            <a:r>
              <a:rPr lang="en-US" altLang="ja-JP" b="1" dirty="0">
                <a:latin typeface="Courier New" panose="02070309020205020404" pitchFamily="49" charset="0"/>
                <a:cs typeface="Courier New" panose="02070309020205020404" pitchFamily="49" charset="0"/>
              </a:rPr>
              <a:t>I1 </a:t>
            </a:r>
            <a:r>
              <a:rPr lang="ja-JP" altLang="en-US" dirty="0">
                <a:latin typeface="Courier New" panose="02070309020205020404" pitchFamily="49" charset="0"/>
                <a:cs typeface="Courier New" panose="02070309020205020404" pitchFamily="49" charset="0"/>
              </a:rPr>
              <a:t>の </a:t>
            </a:r>
            <a:r>
              <a:rPr lang="en-US" altLang="ja-JP" dirty="0">
                <a:cs typeface="Courier New" panose="02070309020205020404" pitchFamily="49" charset="0"/>
              </a:rPr>
              <a:t>EX1 </a:t>
            </a:r>
            <a:r>
              <a:rPr lang="ja-JP" altLang="en-US" dirty="0">
                <a:cs typeface="Courier New" panose="02070309020205020404" pitchFamily="49" charset="0"/>
              </a:rPr>
              <a:t>が始まる</a:t>
            </a:r>
            <a:endParaRPr lang="en-US" altLang="ja-JP" dirty="0">
              <a:cs typeface="Courier New" panose="02070309020205020404" pitchFamily="49" charset="0"/>
            </a:endParaRPr>
          </a:p>
          <a:p>
            <a:pPr lvl="1"/>
            <a:r>
              <a:rPr kumimoji="1" lang="ja-JP" altLang="en-US" dirty="0">
                <a:cs typeface="Courier New" panose="02070309020205020404" pitchFamily="49" charset="0"/>
              </a:rPr>
              <a:t>もし，他に実行するべき命令がおけなければ，遊ばせとくしかない</a:t>
            </a:r>
            <a:endParaRPr kumimoji="1" lang="en-US" altLang="ja-JP" dirty="0">
              <a:cs typeface="Courier New" panose="02070309020205020404" pitchFamily="49" charset="0"/>
            </a:endParaRPr>
          </a:p>
          <a:p>
            <a:r>
              <a:rPr kumimoji="1" lang="ja-JP" altLang="en-US" dirty="0">
                <a:cs typeface="Courier New" panose="02070309020205020404" pitchFamily="49" charset="0"/>
              </a:rPr>
              <a:t>場合によっては性能が返って下がる</a:t>
            </a:r>
            <a:endParaRPr kumimoji="1" lang="en-US" altLang="ja-JP" dirty="0">
              <a:cs typeface="Courier New" panose="02070309020205020404" pitchFamily="49" charset="0"/>
            </a:endParaRPr>
          </a:p>
          <a:p>
            <a:pPr lvl="1"/>
            <a:r>
              <a:rPr kumimoji="1" lang="ja-JP" altLang="en-US" dirty="0">
                <a:cs typeface="Courier New" panose="02070309020205020404" pitchFamily="49" charset="0"/>
              </a:rPr>
              <a:t>周波数が上がったが，２サイクルに１回しか命令が実行できない</a:t>
            </a:r>
            <a:endParaRPr kumimoji="1" lang="en-US" altLang="ja-JP" dirty="0">
              <a:cs typeface="Courier New" panose="02070309020205020404" pitchFamily="49" charset="0"/>
            </a:endParaRPr>
          </a:p>
          <a:p>
            <a:r>
              <a:rPr kumimoji="1" lang="ja-JP" altLang="en-US" dirty="0">
                <a:cs typeface="Courier New" panose="02070309020205020404" pitchFamily="49" charset="0"/>
              </a:rPr>
              <a:t>基本的な整数演算はパイプライン化せず１ステージを死守するのが普通</a:t>
            </a:r>
            <a:endParaRPr kumimoji="1" lang="en-US" altLang="ja-JP" dirty="0">
              <a:cs typeface="Courier New" panose="02070309020205020404" pitchFamily="49" charset="0"/>
            </a:endParaRPr>
          </a:p>
          <a:p>
            <a:pPr lvl="1"/>
            <a:r>
              <a:rPr kumimoji="1" lang="ja-JP" altLang="en-US" dirty="0">
                <a:cs typeface="Courier New" panose="02070309020205020404" pitchFamily="49" charset="0"/>
              </a:rPr>
              <a:t>乗除算や，浮動小数点演算はあきらめてパイプライン化</a:t>
            </a:r>
            <a:endParaRPr kumimoji="1" lang="en-US" altLang="ja-JP" dirty="0">
              <a:cs typeface="Courier New" panose="02070309020205020404" pitchFamily="49" charset="0"/>
            </a:endParaRPr>
          </a:p>
        </p:txBody>
      </p:sp>
      <p:sp>
        <p:nvSpPr>
          <p:cNvPr id="17" name="Rectangle 69"/>
          <p:cNvSpPr>
            <a:spLocks noChangeArrowheads="1"/>
          </p:cNvSpPr>
          <p:nvPr/>
        </p:nvSpPr>
        <p:spPr bwMode="auto">
          <a:xfrm>
            <a:off x="2495960"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8" name="Rectangle 70"/>
          <p:cNvSpPr>
            <a:spLocks noChangeArrowheads="1"/>
          </p:cNvSpPr>
          <p:nvPr/>
        </p:nvSpPr>
        <p:spPr bwMode="auto">
          <a:xfrm>
            <a:off x="2945965"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9" name="Rectangle 71"/>
          <p:cNvSpPr>
            <a:spLocks noChangeArrowheads="1"/>
          </p:cNvSpPr>
          <p:nvPr/>
        </p:nvSpPr>
        <p:spPr bwMode="auto">
          <a:xfrm>
            <a:off x="3395970" y="126897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EX</a:t>
            </a:r>
          </a:p>
        </p:txBody>
      </p:sp>
      <p:sp>
        <p:nvSpPr>
          <p:cNvPr id="20" name="Rectangle 72"/>
          <p:cNvSpPr>
            <a:spLocks noChangeArrowheads="1"/>
          </p:cNvSpPr>
          <p:nvPr/>
        </p:nvSpPr>
        <p:spPr bwMode="auto">
          <a:xfrm>
            <a:off x="3845975"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dirty="0"/>
              <a:t>MEM</a:t>
            </a:r>
          </a:p>
        </p:txBody>
      </p:sp>
      <p:sp>
        <p:nvSpPr>
          <p:cNvPr id="21" name="Rectangle 69"/>
          <p:cNvSpPr>
            <a:spLocks noChangeArrowheads="1"/>
          </p:cNvSpPr>
          <p:nvPr/>
        </p:nvSpPr>
        <p:spPr bwMode="auto">
          <a:xfrm>
            <a:off x="2945965"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 name="Rectangle 70"/>
          <p:cNvSpPr>
            <a:spLocks noChangeArrowheads="1"/>
          </p:cNvSpPr>
          <p:nvPr/>
        </p:nvSpPr>
        <p:spPr bwMode="auto">
          <a:xfrm>
            <a:off x="3395970"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3" name="Rectangle 71"/>
          <p:cNvSpPr>
            <a:spLocks noChangeArrowheads="1"/>
          </p:cNvSpPr>
          <p:nvPr/>
        </p:nvSpPr>
        <p:spPr bwMode="auto">
          <a:xfrm>
            <a:off x="3845975" y="171898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a:t>EX</a:t>
            </a:r>
          </a:p>
        </p:txBody>
      </p:sp>
      <p:sp>
        <p:nvSpPr>
          <p:cNvPr id="24" name="Rectangle 72"/>
          <p:cNvSpPr>
            <a:spLocks noChangeArrowheads="1"/>
          </p:cNvSpPr>
          <p:nvPr/>
        </p:nvSpPr>
        <p:spPr bwMode="auto">
          <a:xfrm>
            <a:off x="4295980"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5" name="Rectangle 73"/>
          <p:cNvSpPr>
            <a:spLocks noChangeArrowheads="1"/>
          </p:cNvSpPr>
          <p:nvPr/>
        </p:nvSpPr>
        <p:spPr bwMode="auto">
          <a:xfrm>
            <a:off x="4745985"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6" name="Rectangle 73"/>
          <p:cNvSpPr>
            <a:spLocks noChangeArrowheads="1"/>
          </p:cNvSpPr>
          <p:nvPr/>
        </p:nvSpPr>
        <p:spPr bwMode="auto">
          <a:xfrm>
            <a:off x="4295980"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7" name="Rectangle 69"/>
          <p:cNvSpPr>
            <a:spLocks noChangeArrowheads="1"/>
          </p:cNvSpPr>
          <p:nvPr/>
        </p:nvSpPr>
        <p:spPr bwMode="auto">
          <a:xfrm>
            <a:off x="6816008"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8" name="Rectangle 70"/>
          <p:cNvSpPr>
            <a:spLocks noChangeArrowheads="1"/>
          </p:cNvSpPr>
          <p:nvPr/>
        </p:nvSpPr>
        <p:spPr bwMode="auto">
          <a:xfrm>
            <a:off x="7266013"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9" name="Rectangle 71"/>
          <p:cNvSpPr>
            <a:spLocks noChangeArrowheads="1"/>
          </p:cNvSpPr>
          <p:nvPr/>
        </p:nvSpPr>
        <p:spPr bwMode="auto">
          <a:xfrm>
            <a:off x="7716018" y="126897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EX1</a:t>
            </a:r>
          </a:p>
        </p:txBody>
      </p:sp>
      <p:sp>
        <p:nvSpPr>
          <p:cNvPr id="30" name="Rectangle 72"/>
          <p:cNvSpPr>
            <a:spLocks noChangeArrowheads="1"/>
          </p:cNvSpPr>
          <p:nvPr/>
        </p:nvSpPr>
        <p:spPr bwMode="auto">
          <a:xfrm>
            <a:off x="8616028"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dirty="0"/>
              <a:t>MEM</a:t>
            </a:r>
          </a:p>
        </p:txBody>
      </p:sp>
      <p:sp>
        <p:nvSpPr>
          <p:cNvPr id="31" name="Rectangle 69"/>
          <p:cNvSpPr>
            <a:spLocks noChangeArrowheads="1"/>
          </p:cNvSpPr>
          <p:nvPr/>
        </p:nvSpPr>
        <p:spPr bwMode="auto">
          <a:xfrm>
            <a:off x="7266013"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2" name="Rectangle 70"/>
          <p:cNvSpPr>
            <a:spLocks noChangeArrowheads="1"/>
          </p:cNvSpPr>
          <p:nvPr/>
        </p:nvSpPr>
        <p:spPr bwMode="auto">
          <a:xfrm>
            <a:off x="7716018"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3" name="Rectangle 71"/>
          <p:cNvSpPr>
            <a:spLocks noChangeArrowheads="1"/>
          </p:cNvSpPr>
          <p:nvPr/>
        </p:nvSpPr>
        <p:spPr bwMode="auto">
          <a:xfrm>
            <a:off x="8166023" y="126897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EX2</a:t>
            </a:r>
          </a:p>
        </p:txBody>
      </p:sp>
      <p:sp>
        <p:nvSpPr>
          <p:cNvPr id="34" name="Rectangle 72"/>
          <p:cNvSpPr>
            <a:spLocks noChangeArrowheads="1"/>
          </p:cNvSpPr>
          <p:nvPr/>
        </p:nvSpPr>
        <p:spPr bwMode="auto">
          <a:xfrm>
            <a:off x="9066033"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5" name="Rectangle 73"/>
          <p:cNvSpPr>
            <a:spLocks noChangeArrowheads="1"/>
          </p:cNvSpPr>
          <p:nvPr/>
        </p:nvSpPr>
        <p:spPr bwMode="auto">
          <a:xfrm>
            <a:off x="9516038"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6" name="Rectangle 73"/>
          <p:cNvSpPr>
            <a:spLocks noChangeArrowheads="1"/>
          </p:cNvSpPr>
          <p:nvPr/>
        </p:nvSpPr>
        <p:spPr bwMode="auto">
          <a:xfrm>
            <a:off x="9066033"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7" name="Rectangle 71"/>
          <p:cNvSpPr>
            <a:spLocks noChangeArrowheads="1"/>
          </p:cNvSpPr>
          <p:nvPr/>
        </p:nvSpPr>
        <p:spPr bwMode="auto">
          <a:xfrm>
            <a:off x="8166023" y="171898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EX1</a:t>
            </a:r>
          </a:p>
        </p:txBody>
      </p:sp>
      <p:sp>
        <p:nvSpPr>
          <p:cNvPr id="38" name="Rectangle 71"/>
          <p:cNvSpPr>
            <a:spLocks noChangeArrowheads="1"/>
          </p:cNvSpPr>
          <p:nvPr/>
        </p:nvSpPr>
        <p:spPr bwMode="auto">
          <a:xfrm>
            <a:off x="8616028" y="171898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EX2</a:t>
            </a:r>
          </a:p>
        </p:txBody>
      </p:sp>
      <p:sp>
        <p:nvSpPr>
          <p:cNvPr id="39" name="Rectangle 69"/>
          <p:cNvSpPr>
            <a:spLocks noChangeArrowheads="1"/>
          </p:cNvSpPr>
          <p:nvPr/>
        </p:nvSpPr>
        <p:spPr bwMode="auto">
          <a:xfrm>
            <a:off x="3395970"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0" name="Rectangle 70"/>
          <p:cNvSpPr>
            <a:spLocks noChangeArrowheads="1"/>
          </p:cNvSpPr>
          <p:nvPr/>
        </p:nvSpPr>
        <p:spPr bwMode="auto">
          <a:xfrm>
            <a:off x="3845975"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1" name="Rectangle 71"/>
          <p:cNvSpPr>
            <a:spLocks noChangeArrowheads="1"/>
          </p:cNvSpPr>
          <p:nvPr/>
        </p:nvSpPr>
        <p:spPr bwMode="auto">
          <a:xfrm>
            <a:off x="4295980" y="216898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a:t>EX</a:t>
            </a:r>
          </a:p>
        </p:txBody>
      </p:sp>
      <p:sp>
        <p:nvSpPr>
          <p:cNvPr id="42" name="Rectangle 72"/>
          <p:cNvSpPr>
            <a:spLocks noChangeArrowheads="1"/>
          </p:cNvSpPr>
          <p:nvPr/>
        </p:nvSpPr>
        <p:spPr bwMode="auto">
          <a:xfrm>
            <a:off x="4745985"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43" name="Rectangle 73"/>
          <p:cNvSpPr>
            <a:spLocks noChangeArrowheads="1"/>
          </p:cNvSpPr>
          <p:nvPr/>
        </p:nvSpPr>
        <p:spPr bwMode="auto">
          <a:xfrm>
            <a:off x="5195990"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44" name="Rectangle 69"/>
          <p:cNvSpPr>
            <a:spLocks noChangeArrowheads="1"/>
          </p:cNvSpPr>
          <p:nvPr/>
        </p:nvSpPr>
        <p:spPr bwMode="auto">
          <a:xfrm>
            <a:off x="7716018"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5" name="Rectangle 70"/>
          <p:cNvSpPr>
            <a:spLocks noChangeArrowheads="1"/>
          </p:cNvSpPr>
          <p:nvPr/>
        </p:nvSpPr>
        <p:spPr bwMode="auto">
          <a:xfrm>
            <a:off x="8166023"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6" name="Rectangle 72"/>
          <p:cNvSpPr>
            <a:spLocks noChangeArrowheads="1"/>
          </p:cNvSpPr>
          <p:nvPr/>
        </p:nvSpPr>
        <p:spPr bwMode="auto">
          <a:xfrm>
            <a:off x="9516038"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47" name="Rectangle 73"/>
          <p:cNvSpPr>
            <a:spLocks noChangeArrowheads="1"/>
          </p:cNvSpPr>
          <p:nvPr/>
        </p:nvSpPr>
        <p:spPr bwMode="auto">
          <a:xfrm>
            <a:off x="9966043"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48" name="Rectangle 71"/>
          <p:cNvSpPr>
            <a:spLocks noChangeArrowheads="1"/>
          </p:cNvSpPr>
          <p:nvPr/>
        </p:nvSpPr>
        <p:spPr bwMode="auto">
          <a:xfrm>
            <a:off x="8616028" y="216898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EX1</a:t>
            </a:r>
          </a:p>
        </p:txBody>
      </p:sp>
      <p:sp>
        <p:nvSpPr>
          <p:cNvPr id="49" name="Rectangle 71"/>
          <p:cNvSpPr>
            <a:spLocks noChangeArrowheads="1"/>
          </p:cNvSpPr>
          <p:nvPr/>
        </p:nvSpPr>
        <p:spPr bwMode="auto">
          <a:xfrm>
            <a:off x="9066033" y="216898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EX2</a:t>
            </a:r>
          </a:p>
        </p:txBody>
      </p:sp>
      <p:cxnSp>
        <p:nvCxnSpPr>
          <p:cNvPr id="50" name="直線コネクタ 49"/>
          <p:cNvCxnSpPr>
            <a:stCxn id="51" idx="3"/>
            <a:endCxn id="17" idx="1"/>
          </p:cNvCxnSpPr>
          <p:nvPr/>
        </p:nvCxnSpPr>
        <p:spPr bwMode="auto">
          <a:xfrm flipV="1">
            <a:off x="2208252" y="1448976"/>
            <a:ext cx="287708" cy="2"/>
          </a:xfrm>
          <a:prstGeom prst="line">
            <a:avLst/>
          </a:prstGeom>
          <a:noFill/>
          <a:ln w="9525" cap="flat" cmpd="sng" algn="ctr">
            <a:solidFill>
              <a:schemeClr val="tx1"/>
            </a:solidFill>
            <a:prstDash val="dash"/>
            <a:round/>
            <a:headEnd type="none" w="med" len="med"/>
            <a:tailEnd type="none" w="med" len="med"/>
          </a:ln>
          <a:effectLst/>
        </p:spPr>
      </p:cxnSp>
      <p:sp>
        <p:nvSpPr>
          <p:cNvPr id="51" name="角丸四角形 50"/>
          <p:cNvSpPr/>
          <p:nvPr/>
        </p:nvSpPr>
        <p:spPr bwMode="auto">
          <a:xfrm>
            <a:off x="1775952" y="1268976"/>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52" name="角丸四角形 51"/>
          <p:cNvSpPr/>
          <p:nvPr/>
        </p:nvSpPr>
        <p:spPr bwMode="auto">
          <a:xfrm>
            <a:off x="1775952" y="1718981"/>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53" name="角丸四角形 52"/>
          <p:cNvSpPr/>
          <p:nvPr/>
        </p:nvSpPr>
        <p:spPr bwMode="auto">
          <a:xfrm>
            <a:off x="1775952" y="2168986"/>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54" name="直線コネクタ 53"/>
          <p:cNvCxnSpPr>
            <a:endCxn id="21" idx="1"/>
          </p:cNvCxnSpPr>
          <p:nvPr/>
        </p:nvCxnSpPr>
        <p:spPr bwMode="auto">
          <a:xfrm flipV="1">
            <a:off x="2225957" y="1898981"/>
            <a:ext cx="720008" cy="2"/>
          </a:xfrm>
          <a:prstGeom prst="line">
            <a:avLst/>
          </a:prstGeom>
          <a:noFill/>
          <a:ln w="9525" cap="flat" cmpd="sng" algn="ctr">
            <a:solidFill>
              <a:schemeClr val="tx1"/>
            </a:solidFill>
            <a:prstDash val="dash"/>
            <a:round/>
            <a:headEnd type="none" w="med" len="med"/>
            <a:tailEnd type="none" w="med" len="med"/>
          </a:ln>
          <a:effectLst/>
        </p:spPr>
      </p:cxnSp>
      <p:cxnSp>
        <p:nvCxnSpPr>
          <p:cNvPr id="55" name="直線コネクタ 54"/>
          <p:cNvCxnSpPr>
            <a:stCxn id="53" idx="3"/>
            <a:endCxn id="39" idx="1"/>
          </p:cNvCxnSpPr>
          <p:nvPr/>
        </p:nvCxnSpPr>
        <p:spPr bwMode="auto">
          <a:xfrm flipV="1">
            <a:off x="2208252" y="2348986"/>
            <a:ext cx="1187718" cy="2"/>
          </a:xfrm>
          <a:prstGeom prst="line">
            <a:avLst/>
          </a:prstGeom>
          <a:noFill/>
          <a:ln w="9525" cap="flat" cmpd="sng" algn="ctr">
            <a:solidFill>
              <a:schemeClr val="tx1"/>
            </a:solidFill>
            <a:prstDash val="dash"/>
            <a:round/>
            <a:headEnd type="none" w="med" len="med"/>
            <a:tailEnd type="none" w="med" len="med"/>
          </a:ln>
          <a:effectLst/>
        </p:spPr>
      </p:cxnSp>
      <p:cxnSp>
        <p:nvCxnSpPr>
          <p:cNvPr id="56" name="直線コネクタ 55"/>
          <p:cNvCxnSpPr>
            <a:stCxn id="57" idx="3"/>
          </p:cNvCxnSpPr>
          <p:nvPr/>
        </p:nvCxnSpPr>
        <p:spPr bwMode="auto">
          <a:xfrm flipV="1">
            <a:off x="6528300" y="1448976"/>
            <a:ext cx="287708" cy="2"/>
          </a:xfrm>
          <a:prstGeom prst="line">
            <a:avLst/>
          </a:prstGeom>
          <a:noFill/>
          <a:ln w="9525" cap="flat" cmpd="sng" algn="ctr">
            <a:solidFill>
              <a:schemeClr val="tx1"/>
            </a:solidFill>
            <a:prstDash val="dash"/>
            <a:round/>
            <a:headEnd type="none" w="med" len="med"/>
            <a:tailEnd type="none" w="med" len="med"/>
          </a:ln>
          <a:effectLst/>
        </p:spPr>
      </p:cxnSp>
      <p:sp>
        <p:nvSpPr>
          <p:cNvPr id="57" name="角丸四角形 56"/>
          <p:cNvSpPr/>
          <p:nvPr/>
        </p:nvSpPr>
        <p:spPr bwMode="auto">
          <a:xfrm>
            <a:off x="6096000" y="1268976"/>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58" name="角丸四角形 57"/>
          <p:cNvSpPr/>
          <p:nvPr/>
        </p:nvSpPr>
        <p:spPr bwMode="auto">
          <a:xfrm>
            <a:off x="6096000" y="1718981"/>
            <a:ext cx="432300" cy="360004"/>
          </a:xfrm>
          <a:prstGeom prst="roundRect">
            <a:avLst/>
          </a:prstGeom>
          <a:solidFill>
            <a:schemeClr val="tx1">
              <a:lumMod val="50000"/>
              <a:lumOff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59" name="角丸四角形 58"/>
          <p:cNvSpPr/>
          <p:nvPr/>
        </p:nvSpPr>
        <p:spPr bwMode="auto">
          <a:xfrm>
            <a:off x="6096000" y="2168986"/>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60" name="直線コネクタ 59"/>
          <p:cNvCxnSpPr/>
          <p:nvPr/>
        </p:nvCxnSpPr>
        <p:spPr bwMode="auto">
          <a:xfrm flipV="1">
            <a:off x="6546005" y="1898981"/>
            <a:ext cx="720008" cy="2"/>
          </a:xfrm>
          <a:prstGeom prst="line">
            <a:avLst/>
          </a:prstGeom>
          <a:noFill/>
          <a:ln w="9525" cap="flat" cmpd="sng" algn="ctr">
            <a:solidFill>
              <a:schemeClr val="tx1"/>
            </a:solidFill>
            <a:prstDash val="dash"/>
            <a:round/>
            <a:headEnd type="none" w="med" len="med"/>
            <a:tailEnd type="none" w="med" len="med"/>
          </a:ln>
          <a:effectLst/>
        </p:spPr>
      </p:cxnSp>
      <p:cxnSp>
        <p:nvCxnSpPr>
          <p:cNvPr id="61" name="直線コネクタ 60"/>
          <p:cNvCxnSpPr>
            <a:stCxn id="59" idx="3"/>
          </p:cNvCxnSpPr>
          <p:nvPr/>
        </p:nvCxnSpPr>
        <p:spPr bwMode="auto">
          <a:xfrm flipV="1">
            <a:off x="6528300" y="2348986"/>
            <a:ext cx="1187718" cy="2"/>
          </a:xfrm>
          <a:prstGeom prst="line">
            <a:avLst/>
          </a:prstGeom>
          <a:noFill/>
          <a:ln w="9525" cap="flat" cmpd="sng" algn="ctr">
            <a:solidFill>
              <a:schemeClr val="tx1"/>
            </a:solidFill>
            <a:prstDash val="dash"/>
            <a:round/>
            <a:headEnd type="none" w="med" len="med"/>
            <a:tailEnd type="none" w="med" len="med"/>
          </a:ln>
          <a:effectLst/>
        </p:spPr>
      </p:cxnSp>
    </p:spTree>
    <p:extLst>
      <p:ext uri="{BB962C8B-B14F-4D97-AF65-F5344CB8AC3E}">
        <p14:creationId xmlns:p14="http://schemas.microsoft.com/office/powerpoint/2010/main" val="20968082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問題となるバックエッジ</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latin typeface="メイリオ" panose="020B0604030504040204" pitchFamily="50" charset="-128"/>
              </a:rPr>
              <a:t>演算器のフォワーディング</a:t>
            </a:r>
            <a:endParaRPr lang="en-US" altLang="ja-JP" dirty="0">
              <a:latin typeface="メイリオ" panose="020B0604030504040204" pitchFamily="50" charset="-128"/>
            </a:endParaRPr>
          </a:p>
          <a:p>
            <a:pPr marL="457200" indent="-457200">
              <a:buFont typeface="+mj-lt"/>
              <a:buAutoNum type="arabicPeriod"/>
            </a:pPr>
            <a:r>
              <a:rPr lang="ja-JP" altLang="en-US" b="1" dirty="0">
                <a:latin typeface="メイリオ" panose="020B0604030504040204" pitchFamily="50" charset="-128"/>
              </a:rPr>
              <a:t>ロードによるデータ・メモリの読み出し</a:t>
            </a:r>
            <a:endParaRPr lang="en-US" altLang="ja-JP" b="1" dirty="0">
              <a:latin typeface="メイリオ" panose="020B0604030504040204" pitchFamily="50" charset="-128"/>
            </a:endParaRPr>
          </a:p>
          <a:p>
            <a:pPr marL="457200" indent="-457200">
              <a:buFont typeface="+mj-lt"/>
              <a:buAutoNum type="arabicPeriod"/>
            </a:pPr>
            <a:r>
              <a:rPr lang="ja-JP" altLang="en-US" dirty="0">
                <a:latin typeface="メイリオ" panose="020B0604030504040204" pitchFamily="50" charset="-128"/>
              </a:rPr>
              <a:t>分岐結果の </a:t>
            </a:r>
            <a:r>
              <a:rPr lang="en-US" altLang="ja-JP" dirty="0">
                <a:latin typeface="メイリオ" panose="020B0604030504040204" pitchFamily="50" charset="-128"/>
              </a:rPr>
              <a:t>PC </a:t>
            </a:r>
            <a:r>
              <a:rPr lang="ja-JP" altLang="en-US" dirty="0" err="1">
                <a:latin typeface="メイリオ" panose="020B0604030504040204" pitchFamily="50" charset="-128"/>
              </a:rPr>
              <a:t>への</a:t>
            </a:r>
            <a:r>
              <a:rPr lang="ja-JP" altLang="en-US" dirty="0">
                <a:latin typeface="メイリオ" panose="020B0604030504040204" pitchFamily="50" charset="-128"/>
              </a:rPr>
              <a:t>反映</a:t>
            </a:r>
            <a:endParaRPr kumimoji="1" lang="ja-JP" altLang="en-US" dirty="0"/>
          </a:p>
        </p:txBody>
      </p:sp>
    </p:spTree>
    <p:extLst>
      <p:ext uri="{BB962C8B-B14F-4D97-AF65-F5344CB8AC3E}">
        <p14:creationId xmlns:p14="http://schemas.microsoft.com/office/powerpoint/2010/main" val="11232418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メイリオ" panose="020B0604030504040204" pitchFamily="50" charset="-128"/>
              </a:rPr>
              <a:t>ロードによるデータ・メモリの読み出し</a:t>
            </a:r>
            <a:endParaRPr lang="en-US" altLang="ja-JP" dirty="0">
              <a:latin typeface="メイリオ" panose="020B0604030504040204" pitchFamily="50" charset="-128"/>
            </a:endParaRPr>
          </a:p>
        </p:txBody>
      </p:sp>
      <p:sp>
        <p:nvSpPr>
          <p:cNvPr id="3" name="テキスト プレースホルダー 2"/>
          <p:cNvSpPr>
            <a:spLocks noGrp="1"/>
          </p:cNvSpPr>
          <p:nvPr>
            <p:ph type="body" sz="quarter" idx="10"/>
          </p:nvPr>
        </p:nvSpPr>
        <p:spPr>
          <a:xfrm>
            <a:off x="1775952" y="3609003"/>
            <a:ext cx="8820098" cy="2790031"/>
          </a:xfrm>
        </p:spPr>
        <p:txBody>
          <a:bodyPr/>
          <a:lstStyle/>
          <a:p>
            <a:r>
              <a:rPr kumimoji="1" lang="ja-JP" altLang="en-US" dirty="0">
                <a:cs typeface="Courier New" panose="02070309020205020404" pitchFamily="49" charset="0"/>
              </a:rPr>
              <a:t>演算器の場合とほぼ同様</a:t>
            </a:r>
            <a:endParaRPr kumimoji="1" lang="en-US" altLang="ja-JP" dirty="0">
              <a:cs typeface="Courier New" panose="02070309020205020404" pitchFamily="49" charset="0"/>
            </a:endParaRPr>
          </a:p>
          <a:p>
            <a:pPr lvl="1"/>
            <a:r>
              <a:rPr lang="ja-JP" altLang="en-US" dirty="0">
                <a:cs typeface="Courier New" panose="02070309020205020404" pitchFamily="49" charset="0"/>
              </a:rPr>
              <a:t>上は，</a:t>
            </a:r>
            <a:r>
              <a:rPr lang="en-US" altLang="ja-JP" dirty="0">
                <a:cs typeface="Courier New" panose="02070309020205020404" pitchFamily="49" charset="0"/>
              </a:rPr>
              <a:t>MEM </a:t>
            </a:r>
            <a:r>
              <a:rPr lang="ja-JP" altLang="en-US" dirty="0">
                <a:cs typeface="Courier New" panose="02070309020205020404" pitchFamily="49" charset="0"/>
              </a:rPr>
              <a:t>が </a:t>
            </a:r>
            <a:r>
              <a:rPr lang="en-US" altLang="ja-JP" dirty="0">
                <a:cs typeface="Courier New" panose="02070309020205020404" pitchFamily="49" charset="0"/>
              </a:rPr>
              <a:t>M1 </a:t>
            </a:r>
            <a:r>
              <a:rPr lang="ja-JP" altLang="en-US" dirty="0">
                <a:cs typeface="Courier New" panose="02070309020205020404" pitchFamily="49" charset="0"/>
              </a:rPr>
              <a:t>と </a:t>
            </a:r>
            <a:r>
              <a:rPr lang="en-US" altLang="ja-JP" dirty="0">
                <a:cs typeface="Courier New" panose="02070309020205020404" pitchFamily="49" charset="0"/>
              </a:rPr>
              <a:t>M2 </a:t>
            </a:r>
            <a:r>
              <a:rPr lang="ja-JP" altLang="en-US" dirty="0">
                <a:cs typeface="Courier New" panose="02070309020205020404" pitchFamily="49" charset="0"/>
              </a:rPr>
              <a:t>にパイプライン化された場合</a:t>
            </a:r>
            <a:endParaRPr lang="en-US" altLang="ja-JP" dirty="0">
              <a:cs typeface="Courier New" panose="02070309020205020404" pitchFamily="49" charset="0"/>
            </a:endParaRPr>
          </a:p>
          <a:p>
            <a:pPr lvl="2"/>
            <a:r>
              <a:rPr kumimoji="1" lang="en-US" altLang="ja-JP" dirty="0">
                <a:cs typeface="Courier New" panose="02070309020205020404" pitchFamily="49" charset="0"/>
              </a:rPr>
              <a:t>I1 </a:t>
            </a:r>
            <a:r>
              <a:rPr kumimoji="1" lang="ja-JP" altLang="en-US" dirty="0">
                <a:cs typeface="Courier New" panose="02070309020205020404" pitchFamily="49" charset="0"/>
              </a:rPr>
              <a:t>と </a:t>
            </a:r>
            <a:r>
              <a:rPr kumimoji="1" lang="en-US" altLang="ja-JP" dirty="0">
                <a:cs typeface="Courier New" panose="02070309020205020404" pitchFamily="49" charset="0"/>
              </a:rPr>
              <a:t>I2 </a:t>
            </a:r>
            <a:r>
              <a:rPr kumimoji="1" lang="ja-JP" altLang="en-US" dirty="0">
                <a:cs typeface="Courier New" panose="02070309020205020404" pitchFamily="49" charset="0"/>
              </a:rPr>
              <a:t>は，</a:t>
            </a:r>
            <a:r>
              <a:rPr kumimoji="1" lang="en-US" altLang="ja-JP" dirty="0">
                <a:cs typeface="Courier New" panose="02070309020205020404" pitchFamily="49" charset="0"/>
              </a:rPr>
              <a:t>I0 </a:t>
            </a:r>
            <a:r>
              <a:rPr kumimoji="1" lang="ja-JP" altLang="en-US" dirty="0">
                <a:cs typeface="Courier New" panose="02070309020205020404" pitchFamily="49" charset="0"/>
              </a:rPr>
              <a:t>の結果を使えない</a:t>
            </a:r>
            <a:endParaRPr kumimoji="1" lang="en-US" altLang="ja-JP" dirty="0">
              <a:cs typeface="Courier New" panose="02070309020205020404" pitchFamily="49" charset="0"/>
            </a:endParaRPr>
          </a:p>
          <a:p>
            <a:pPr lvl="1"/>
            <a:r>
              <a:rPr kumimoji="1" lang="en-US" altLang="ja-JP" dirty="0">
                <a:cs typeface="Courier New" panose="02070309020205020404" pitchFamily="49" charset="0"/>
              </a:rPr>
              <a:t>MEM </a:t>
            </a:r>
            <a:r>
              <a:rPr kumimoji="1" lang="ja-JP" altLang="en-US" dirty="0">
                <a:cs typeface="Courier New" panose="02070309020205020404" pitchFamily="49" charset="0"/>
              </a:rPr>
              <a:t>ステージをパイプライン化すると，この部分が長くなる</a:t>
            </a:r>
            <a:endParaRPr kumimoji="1" lang="en-US" altLang="ja-JP" dirty="0">
              <a:cs typeface="Courier New" panose="02070309020205020404" pitchFamily="49" charset="0"/>
            </a:endParaRPr>
          </a:p>
          <a:p>
            <a:r>
              <a:rPr kumimoji="1" lang="ja-JP" altLang="en-US" dirty="0">
                <a:cs typeface="Courier New" panose="02070309020205020404" pitchFamily="49" charset="0"/>
              </a:rPr>
              <a:t>しかし，この部分をパイプライン化することはよくある</a:t>
            </a:r>
            <a:endParaRPr kumimoji="1" lang="en-US" altLang="ja-JP" dirty="0">
              <a:cs typeface="Courier New" panose="02070309020205020404" pitchFamily="49" charset="0"/>
            </a:endParaRPr>
          </a:p>
          <a:p>
            <a:pPr lvl="1"/>
            <a:r>
              <a:rPr lang="ja-JP" altLang="en-US" dirty="0">
                <a:cs typeface="Courier New" panose="02070309020205020404" pitchFamily="49" charset="0"/>
              </a:rPr>
              <a:t>ロードは演算よりは出現頻度が低い</a:t>
            </a:r>
            <a:endParaRPr lang="en-US" altLang="ja-JP" dirty="0">
              <a:cs typeface="Courier New" panose="02070309020205020404" pitchFamily="49" charset="0"/>
            </a:endParaRPr>
          </a:p>
          <a:p>
            <a:pPr lvl="1"/>
            <a:r>
              <a:rPr kumimoji="1" lang="ja-JP" altLang="en-US" dirty="0">
                <a:cs typeface="Courier New" panose="02070309020205020404" pitchFamily="49" charset="0"/>
              </a:rPr>
              <a:t>メモリ（キャッシュ）のレイテンシは演算器よりかなり長くなることが多いためしかたない</a:t>
            </a:r>
            <a:endParaRPr kumimoji="1" lang="en-US" altLang="ja-JP" dirty="0">
              <a:cs typeface="Courier New" panose="02070309020205020404" pitchFamily="49" charset="0"/>
            </a:endParaRPr>
          </a:p>
        </p:txBody>
      </p:sp>
      <p:sp>
        <p:nvSpPr>
          <p:cNvPr id="17" name="Rectangle 69"/>
          <p:cNvSpPr>
            <a:spLocks noChangeArrowheads="1"/>
          </p:cNvSpPr>
          <p:nvPr/>
        </p:nvSpPr>
        <p:spPr bwMode="auto">
          <a:xfrm>
            <a:off x="3935976"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8" name="Rectangle 70"/>
          <p:cNvSpPr>
            <a:spLocks noChangeArrowheads="1"/>
          </p:cNvSpPr>
          <p:nvPr/>
        </p:nvSpPr>
        <p:spPr bwMode="auto">
          <a:xfrm>
            <a:off x="4385981"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9" name="Rectangle 71"/>
          <p:cNvSpPr>
            <a:spLocks noChangeArrowheads="1"/>
          </p:cNvSpPr>
          <p:nvPr/>
        </p:nvSpPr>
        <p:spPr bwMode="auto">
          <a:xfrm>
            <a:off x="4835986"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0" name="Rectangle 72"/>
          <p:cNvSpPr>
            <a:spLocks noChangeArrowheads="1"/>
          </p:cNvSpPr>
          <p:nvPr/>
        </p:nvSpPr>
        <p:spPr bwMode="auto">
          <a:xfrm>
            <a:off x="5285991" y="126897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M1</a:t>
            </a:r>
          </a:p>
        </p:txBody>
      </p:sp>
      <p:sp>
        <p:nvSpPr>
          <p:cNvPr id="21" name="Rectangle 69"/>
          <p:cNvSpPr>
            <a:spLocks noChangeArrowheads="1"/>
          </p:cNvSpPr>
          <p:nvPr/>
        </p:nvSpPr>
        <p:spPr bwMode="auto">
          <a:xfrm>
            <a:off x="4385981"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 name="Rectangle 70"/>
          <p:cNvSpPr>
            <a:spLocks noChangeArrowheads="1"/>
          </p:cNvSpPr>
          <p:nvPr/>
        </p:nvSpPr>
        <p:spPr bwMode="auto">
          <a:xfrm>
            <a:off x="4835986"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3" name="Rectangle 71"/>
          <p:cNvSpPr>
            <a:spLocks noChangeArrowheads="1"/>
          </p:cNvSpPr>
          <p:nvPr/>
        </p:nvSpPr>
        <p:spPr bwMode="auto">
          <a:xfrm>
            <a:off x="5285991" y="171898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5" name="Rectangle 73"/>
          <p:cNvSpPr>
            <a:spLocks noChangeArrowheads="1"/>
          </p:cNvSpPr>
          <p:nvPr/>
        </p:nvSpPr>
        <p:spPr bwMode="auto">
          <a:xfrm>
            <a:off x="6636006"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6" name="Rectangle 73"/>
          <p:cNvSpPr>
            <a:spLocks noChangeArrowheads="1"/>
          </p:cNvSpPr>
          <p:nvPr/>
        </p:nvSpPr>
        <p:spPr bwMode="auto">
          <a:xfrm>
            <a:off x="6186001"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9" name="Rectangle 69"/>
          <p:cNvSpPr>
            <a:spLocks noChangeArrowheads="1"/>
          </p:cNvSpPr>
          <p:nvPr/>
        </p:nvSpPr>
        <p:spPr bwMode="auto">
          <a:xfrm>
            <a:off x="4835986"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0" name="Rectangle 70"/>
          <p:cNvSpPr>
            <a:spLocks noChangeArrowheads="1"/>
          </p:cNvSpPr>
          <p:nvPr/>
        </p:nvSpPr>
        <p:spPr bwMode="auto">
          <a:xfrm>
            <a:off x="5285991"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1" name="Rectangle 71"/>
          <p:cNvSpPr>
            <a:spLocks noChangeArrowheads="1"/>
          </p:cNvSpPr>
          <p:nvPr/>
        </p:nvSpPr>
        <p:spPr bwMode="auto">
          <a:xfrm>
            <a:off x="5735996" y="216898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3" name="Rectangle 73"/>
          <p:cNvSpPr>
            <a:spLocks noChangeArrowheads="1"/>
          </p:cNvSpPr>
          <p:nvPr/>
        </p:nvSpPr>
        <p:spPr bwMode="auto">
          <a:xfrm>
            <a:off x="7086011"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50" name="直線コネクタ 49"/>
          <p:cNvCxnSpPr>
            <a:stCxn id="51" idx="3"/>
            <a:endCxn id="17" idx="1"/>
          </p:cNvCxnSpPr>
          <p:nvPr/>
        </p:nvCxnSpPr>
        <p:spPr bwMode="auto">
          <a:xfrm flipV="1">
            <a:off x="3648268" y="1448976"/>
            <a:ext cx="287708" cy="2"/>
          </a:xfrm>
          <a:prstGeom prst="line">
            <a:avLst/>
          </a:prstGeom>
          <a:noFill/>
          <a:ln w="9525" cap="flat" cmpd="sng" algn="ctr">
            <a:solidFill>
              <a:schemeClr val="tx1"/>
            </a:solidFill>
            <a:prstDash val="dash"/>
            <a:round/>
            <a:headEnd type="none" w="med" len="med"/>
            <a:tailEnd type="none" w="med" len="med"/>
          </a:ln>
          <a:effectLst/>
        </p:spPr>
      </p:cxnSp>
      <p:sp>
        <p:nvSpPr>
          <p:cNvPr id="51" name="角丸四角形 50"/>
          <p:cNvSpPr/>
          <p:nvPr/>
        </p:nvSpPr>
        <p:spPr bwMode="auto">
          <a:xfrm>
            <a:off x="3215968" y="1268976"/>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52" name="角丸四角形 51"/>
          <p:cNvSpPr/>
          <p:nvPr/>
        </p:nvSpPr>
        <p:spPr bwMode="auto">
          <a:xfrm>
            <a:off x="3215968" y="1718981"/>
            <a:ext cx="432300" cy="360004"/>
          </a:xfrm>
          <a:prstGeom prst="roundRect">
            <a:avLst/>
          </a:prstGeom>
          <a:solidFill>
            <a:schemeClr val="tx1">
              <a:lumMod val="75000"/>
              <a:lumOff val="25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53" name="角丸四角形 52"/>
          <p:cNvSpPr/>
          <p:nvPr/>
        </p:nvSpPr>
        <p:spPr bwMode="auto">
          <a:xfrm>
            <a:off x="3215968" y="2168986"/>
            <a:ext cx="432300" cy="360004"/>
          </a:xfrm>
          <a:prstGeom prst="roundRect">
            <a:avLst/>
          </a:prstGeom>
          <a:solidFill>
            <a:schemeClr val="tx1">
              <a:lumMod val="75000"/>
              <a:lumOff val="25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54" name="直線コネクタ 53"/>
          <p:cNvCxnSpPr>
            <a:endCxn id="21" idx="1"/>
          </p:cNvCxnSpPr>
          <p:nvPr/>
        </p:nvCxnSpPr>
        <p:spPr bwMode="auto">
          <a:xfrm flipV="1">
            <a:off x="3665973" y="1898981"/>
            <a:ext cx="720008" cy="2"/>
          </a:xfrm>
          <a:prstGeom prst="line">
            <a:avLst/>
          </a:prstGeom>
          <a:noFill/>
          <a:ln w="9525" cap="flat" cmpd="sng" algn="ctr">
            <a:solidFill>
              <a:schemeClr val="tx1"/>
            </a:solidFill>
            <a:prstDash val="dash"/>
            <a:round/>
            <a:headEnd type="none" w="med" len="med"/>
            <a:tailEnd type="none" w="med" len="med"/>
          </a:ln>
          <a:effectLst/>
        </p:spPr>
      </p:cxnSp>
      <p:cxnSp>
        <p:nvCxnSpPr>
          <p:cNvPr id="55" name="直線コネクタ 54"/>
          <p:cNvCxnSpPr>
            <a:stCxn id="53" idx="3"/>
            <a:endCxn id="39" idx="1"/>
          </p:cNvCxnSpPr>
          <p:nvPr/>
        </p:nvCxnSpPr>
        <p:spPr bwMode="auto">
          <a:xfrm flipV="1">
            <a:off x="3648268" y="2348986"/>
            <a:ext cx="1187718" cy="2"/>
          </a:xfrm>
          <a:prstGeom prst="line">
            <a:avLst/>
          </a:prstGeom>
          <a:noFill/>
          <a:ln w="9525" cap="flat" cmpd="sng" algn="ctr">
            <a:solidFill>
              <a:schemeClr val="tx1"/>
            </a:solidFill>
            <a:prstDash val="dash"/>
            <a:round/>
            <a:headEnd type="none" w="med" len="med"/>
            <a:tailEnd type="none" w="med" len="med"/>
          </a:ln>
          <a:effectLst/>
        </p:spPr>
      </p:cxnSp>
      <p:sp>
        <p:nvSpPr>
          <p:cNvPr id="62" name="Rectangle 72"/>
          <p:cNvSpPr>
            <a:spLocks noChangeArrowheads="1"/>
          </p:cNvSpPr>
          <p:nvPr/>
        </p:nvSpPr>
        <p:spPr bwMode="auto">
          <a:xfrm>
            <a:off x="5735996" y="126897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M2</a:t>
            </a:r>
          </a:p>
        </p:txBody>
      </p:sp>
      <p:sp>
        <p:nvSpPr>
          <p:cNvPr id="65" name="Rectangle 72"/>
          <p:cNvSpPr>
            <a:spLocks noChangeArrowheads="1"/>
          </p:cNvSpPr>
          <p:nvPr/>
        </p:nvSpPr>
        <p:spPr bwMode="auto">
          <a:xfrm>
            <a:off x="5735996" y="171898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M1</a:t>
            </a:r>
          </a:p>
        </p:txBody>
      </p:sp>
      <p:sp>
        <p:nvSpPr>
          <p:cNvPr id="66" name="Rectangle 72"/>
          <p:cNvSpPr>
            <a:spLocks noChangeArrowheads="1"/>
          </p:cNvSpPr>
          <p:nvPr/>
        </p:nvSpPr>
        <p:spPr bwMode="auto">
          <a:xfrm>
            <a:off x="6186001" y="171898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M2</a:t>
            </a:r>
          </a:p>
        </p:txBody>
      </p:sp>
      <p:sp>
        <p:nvSpPr>
          <p:cNvPr id="67" name="Rectangle 72"/>
          <p:cNvSpPr>
            <a:spLocks noChangeArrowheads="1"/>
          </p:cNvSpPr>
          <p:nvPr/>
        </p:nvSpPr>
        <p:spPr bwMode="auto">
          <a:xfrm>
            <a:off x="6186001" y="216898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M1</a:t>
            </a:r>
          </a:p>
        </p:txBody>
      </p:sp>
      <p:sp>
        <p:nvSpPr>
          <p:cNvPr id="68" name="Rectangle 72"/>
          <p:cNvSpPr>
            <a:spLocks noChangeArrowheads="1"/>
          </p:cNvSpPr>
          <p:nvPr/>
        </p:nvSpPr>
        <p:spPr bwMode="auto">
          <a:xfrm>
            <a:off x="6636006" y="216898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M2</a:t>
            </a:r>
          </a:p>
        </p:txBody>
      </p:sp>
      <p:sp>
        <p:nvSpPr>
          <p:cNvPr id="69" name="Rectangle 69"/>
          <p:cNvSpPr>
            <a:spLocks noChangeArrowheads="1"/>
          </p:cNvSpPr>
          <p:nvPr/>
        </p:nvSpPr>
        <p:spPr bwMode="auto">
          <a:xfrm>
            <a:off x="5285991"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0" name="Rectangle 70"/>
          <p:cNvSpPr>
            <a:spLocks noChangeArrowheads="1"/>
          </p:cNvSpPr>
          <p:nvPr/>
        </p:nvSpPr>
        <p:spPr bwMode="auto">
          <a:xfrm>
            <a:off x="5735996"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1" name="Rectangle 71"/>
          <p:cNvSpPr>
            <a:spLocks noChangeArrowheads="1"/>
          </p:cNvSpPr>
          <p:nvPr/>
        </p:nvSpPr>
        <p:spPr bwMode="auto">
          <a:xfrm>
            <a:off x="6186001" y="261899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72" name="Rectangle 73"/>
          <p:cNvSpPr>
            <a:spLocks noChangeArrowheads="1"/>
          </p:cNvSpPr>
          <p:nvPr/>
        </p:nvSpPr>
        <p:spPr bwMode="auto">
          <a:xfrm>
            <a:off x="7536016"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73" name="角丸四角形 72"/>
          <p:cNvSpPr/>
          <p:nvPr/>
        </p:nvSpPr>
        <p:spPr bwMode="auto">
          <a:xfrm>
            <a:off x="3215968" y="2618991"/>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I3</a:t>
            </a:r>
            <a:endParaRPr lang="ja-JP" altLang="en-US" b="1" dirty="0">
              <a:latin typeface="Courier New" panose="02070309020205020404" pitchFamily="49" charset="0"/>
              <a:cs typeface="Courier New" panose="02070309020205020404" pitchFamily="49" charset="0"/>
            </a:endParaRPr>
          </a:p>
        </p:txBody>
      </p:sp>
      <p:cxnSp>
        <p:nvCxnSpPr>
          <p:cNvPr id="74" name="直線コネクタ 73"/>
          <p:cNvCxnSpPr>
            <a:stCxn id="73" idx="3"/>
            <a:endCxn id="69" idx="1"/>
          </p:cNvCxnSpPr>
          <p:nvPr/>
        </p:nvCxnSpPr>
        <p:spPr bwMode="auto">
          <a:xfrm flipV="1">
            <a:off x="3648269" y="2798991"/>
            <a:ext cx="1637723" cy="2"/>
          </a:xfrm>
          <a:prstGeom prst="line">
            <a:avLst/>
          </a:prstGeom>
          <a:noFill/>
          <a:ln w="9525" cap="flat" cmpd="sng" algn="ctr">
            <a:solidFill>
              <a:schemeClr val="tx1"/>
            </a:solidFill>
            <a:prstDash val="dash"/>
            <a:round/>
            <a:headEnd type="none" w="med" len="med"/>
            <a:tailEnd type="none" w="med" len="med"/>
          </a:ln>
          <a:effectLst/>
        </p:spPr>
      </p:cxnSp>
      <p:sp>
        <p:nvSpPr>
          <p:cNvPr id="75" name="Rectangle 72"/>
          <p:cNvSpPr>
            <a:spLocks noChangeArrowheads="1"/>
          </p:cNvSpPr>
          <p:nvPr/>
        </p:nvSpPr>
        <p:spPr bwMode="auto">
          <a:xfrm>
            <a:off x="6636006" y="261899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M1</a:t>
            </a:r>
          </a:p>
        </p:txBody>
      </p:sp>
      <p:sp>
        <p:nvSpPr>
          <p:cNvPr id="76" name="Rectangle 72"/>
          <p:cNvSpPr>
            <a:spLocks noChangeArrowheads="1"/>
          </p:cNvSpPr>
          <p:nvPr/>
        </p:nvSpPr>
        <p:spPr bwMode="auto">
          <a:xfrm>
            <a:off x="7086011" y="261899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M2</a:t>
            </a:r>
          </a:p>
        </p:txBody>
      </p:sp>
    </p:spTree>
    <p:extLst>
      <p:ext uri="{BB962C8B-B14F-4D97-AF65-F5344CB8AC3E}">
        <p14:creationId xmlns:p14="http://schemas.microsoft.com/office/powerpoint/2010/main" val="754944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問題となるバックエッジ</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latin typeface="メイリオ" panose="020B0604030504040204" pitchFamily="50" charset="-128"/>
              </a:rPr>
              <a:t>演算器のフォワーディング</a:t>
            </a:r>
            <a:endParaRPr lang="en-US" altLang="ja-JP" dirty="0">
              <a:latin typeface="メイリオ" panose="020B0604030504040204" pitchFamily="50" charset="-128"/>
            </a:endParaRPr>
          </a:p>
          <a:p>
            <a:pPr marL="457200" indent="-457200">
              <a:buFont typeface="+mj-lt"/>
              <a:buAutoNum type="arabicPeriod"/>
            </a:pPr>
            <a:r>
              <a:rPr lang="ja-JP" altLang="en-US" dirty="0">
                <a:latin typeface="メイリオ" panose="020B0604030504040204" pitchFamily="50" charset="-128"/>
              </a:rPr>
              <a:t>ロードによるデータ・メモリの読み出し</a:t>
            </a:r>
            <a:endParaRPr lang="en-US" altLang="ja-JP" dirty="0">
              <a:latin typeface="メイリオ" panose="020B0604030504040204" pitchFamily="50" charset="-128"/>
            </a:endParaRPr>
          </a:p>
          <a:p>
            <a:pPr marL="457200" indent="-457200">
              <a:buFont typeface="+mj-lt"/>
              <a:buAutoNum type="arabicPeriod"/>
            </a:pPr>
            <a:r>
              <a:rPr lang="ja-JP" altLang="en-US" b="1" dirty="0">
                <a:latin typeface="メイリオ" panose="020B0604030504040204" pitchFamily="50" charset="-128"/>
              </a:rPr>
              <a:t>分岐結果の </a:t>
            </a:r>
            <a:r>
              <a:rPr lang="en-US" altLang="ja-JP" b="1" dirty="0">
                <a:latin typeface="メイリオ" panose="020B0604030504040204" pitchFamily="50" charset="-128"/>
              </a:rPr>
              <a:t>PC </a:t>
            </a:r>
            <a:r>
              <a:rPr lang="ja-JP" altLang="en-US" b="1" dirty="0" err="1">
                <a:latin typeface="メイリオ" panose="020B0604030504040204" pitchFamily="50" charset="-128"/>
              </a:rPr>
              <a:t>への</a:t>
            </a:r>
            <a:r>
              <a:rPr lang="ja-JP" altLang="en-US" b="1" dirty="0">
                <a:latin typeface="メイリオ" panose="020B0604030504040204" pitchFamily="50" charset="-128"/>
              </a:rPr>
              <a:t>反映</a:t>
            </a:r>
            <a:endParaRPr kumimoji="1" lang="ja-JP" altLang="en-US" b="1" dirty="0"/>
          </a:p>
        </p:txBody>
      </p:sp>
    </p:spTree>
    <p:extLst>
      <p:ext uri="{BB962C8B-B14F-4D97-AF65-F5344CB8AC3E}">
        <p14:creationId xmlns:p14="http://schemas.microsoft.com/office/powerpoint/2010/main" val="2802984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a:t>
            </a:r>
            <a:r>
              <a:rPr lang="ja-JP" altLang="en-US" dirty="0"/>
              <a:t>予測</a:t>
            </a:r>
            <a:endParaRPr kumimoji="1" lang="ja-JP" altLang="en-US" dirty="0"/>
          </a:p>
        </p:txBody>
      </p:sp>
      <p:sp>
        <p:nvSpPr>
          <p:cNvPr id="58" name="コンテンツ プレースホルダー 57"/>
          <p:cNvSpPr>
            <a:spLocks noGrp="1"/>
          </p:cNvSpPr>
          <p:nvPr>
            <p:ph type="body" sz="quarter" idx="10"/>
          </p:nvPr>
        </p:nvSpPr>
        <p:spPr>
          <a:xfrm>
            <a:off x="1775953" y="4689015"/>
            <a:ext cx="8550095" cy="1369161"/>
          </a:xfrm>
          <a:prstGeom prst="rect">
            <a:avLst/>
          </a:prstGeom>
        </p:spPr>
        <p:txBody>
          <a:bodyPr/>
          <a:lstStyle/>
          <a:p>
            <a:r>
              <a:rPr lang="ja-JP" altLang="en-US" dirty="0"/>
              <a:t>動作</a:t>
            </a:r>
            <a:endParaRPr lang="en-US" altLang="ja-JP" dirty="0"/>
          </a:p>
          <a:p>
            <a:pPr lvl="1"/>
            <a:r>
              <a:rPr lang="ja-JP" altLang="en-US" dirty="0"/>
              <a:t>「</a:t>
            </a:r>
            <a:r>
              <a:rPr lang="en-US" altLang="ja-JP" dirty="0">
                <a:solidFill>
                  <a:schemeClr val="accent5"/>
                </a:solidFill>
              </a:rPr>
              <a:t>if a &gt; 0</a:t>
            </a:r>
            <a:r>
              <a:rPr lang="ja-JP" altLang="en-US" dirty="0"/>
              <a:t>」の結果を予測して，命令を取り込む</a:t>
            </a:r>
            <a:endParaRPr lang="en-US" altLang="ja-JP" dirty="0"/>
          </a:p>
          <a:p>
            <a:pPr lvl="2"/>
            <a:r>
              <a:rPr lang="ja-JP" altLang="en-US" dirty="0"/>
              <a:t>前回はこっちに行ったので，次もこっちに違いないとかで予測</a:t>
            </a:r>
            <a:endParaRPr lang="en-US" altLang="ja-JP" dirty="0"/>
          </a:p>
          <a:p>
            <a:pPr lvl="1"/>
            <a:r>
              <a:rPr lang="ja-JP" altLang="en-US" dirty="0"/>
              <a:t>あとから予測が正しいか確認する</a:t>
            </a:r>
            <a:endParaRPr lang="en-US" altLang="ja-JP"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5015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a=a-1</a:t>
            </a:r>
          </a:p>
          <a:p>
            <a:pPr>
              <a:lnSpc>
                <a:spcPct val="80000"/>
              </a:lnSpc>
            </a:pP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2045956"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24" name="角丸四角形 23"/>
          <p:cNvSpPr/>
          <p:nvPr/>
        </p:nvSpPr>
        <p:spPr bwMode="auto">
          <a:xfrm>
            <a:off x="3575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 name="角丸四角形吹き出し 3"/>
          <p:cNvSpPr/>
          <p:nvPr/>
        </p:nvSpPr>
        <p:spPr bwMode="auto">
          <a:xfrm>
            <a:off x="3575972" y="1358977"/>
            <a:ext cx="2520028" cy="612648"/>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err="1">
                <a:solidFill>
                  <a:schemeClr val="tx1">
                    <a:lumMod val="65000"/>
                    <a:lumOff val="35000"/>
                  </a:schemeClr>
                </a:solidFill>
                <a:latin typeface="Arial Narrow" panose="020B0606020202030204" pitchFamily="34" charset="0"/>
              </a:rPr>
              <a:t>わいの</a:t>
            </a:r>
            <a:r>
              <a:rPr lang="ja-JP" altLang="en-US" dirty="0">
                <a:solidFill>
                  <a:schemeClr val="tx1">
                    <a:lumMod val="65000"/>
                    <a:lumOff val="35000"/>
                  </a:schemeClr>
                </a:solidFill>
                <a:latin typeface="Arial Narrow" panose="020B0606020202030204" pitchFamily="34" charset="0"/>
              </a:rPr>
              <a:t>予想では </a:t>
            </a:r>
            <a:r>
              <a:rPr lang="en-US" altLang="ja-JP" dirty="0">
                <a:solidFill>
                  <a:schemeClr val="tx1">
                    <a:lumMod val="65000"/>
                    <a:lumOff val="35000"/>
                  </a:schemeClr>
                </a:solidFill>
                <a:latin typeface="Arial Narrow" panose="020B0606020202030204" pitchFamily="34" charset="0"/>
              </a:rPr>
              <a:t>else </a:t>
            </a:r>
            <a:r>
              <a:rPr lang="ja-JP" altLang="en-US" dirty="0">
                <a:solidFill>
                  <a:schemeClr val="tx1">
                    <a:lumMod val="65000"/>
                    <a:lumOff val="35000"/>
                  </a:schemeClr>
                </a:solidFill>
                <a:latin typeface="Arial Narrow" panose="020B0606020202030204" pitchFamily="34" charset="0"/>
              </a:rPr>
              <a:t>や</a:t>
            </a:r>
            <a:endParaRPr lang="en-US" altLang="ja-JP" dirty="0">
              <a:solidFill>
                <a:schemeClr val="tx1">
                  <a:lumMod val="65000"/>
                  <a:lumOff val="35000"/>
                </a:schemeClr>
              </a:solidFill>
              <a:latin typeface="Arial Narrow" panose="020B0606020202030204" pitchFamily="34" charset="0"/>
            </a:endParaRPr>
          </a:p>
        </p:txBody>
      </p:sp>
      <p:sp>
        <p:nvSpPr>
          <p:cNvPr id="27" name="角丸四角形吹き出し 26"/>
          <p:cNvSpPr/>
          <p:nvPr/>
        </p:nvSpPr>
        <p:spPr bwMode="auto">
          <a:xfrm>
            <a:off x="8076022" y="1358977"/>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ほんまかいな</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後でたしかめるで</a:t>
            </a:r>
          </a:p>
        </p:txBody>
      </p:sp>
      <p:sp>
        <p:nvSpPr>
          <p:cNvPr id="28" name="正方形/長方形 27"/>
          <p:cNvSpPr/>
          <p:nvPr/>
        </p:nvSpPr>
        <p:spPr bwMode="auto">
          <a:xfrm>
            <a:off x="6636007"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ｳｿｸｻｰ</a:t>
            </a:r>
          </a:p>
        </p:txBody>
      </p:sp>
      <p:sp>
        <p:nvSpPr>
          <p:cNvPr id="29" name="正方形/長方形 28"/>
          <p:cNvSpPr/>
          <p:nvPr/>
        </p:nvSpPr>
        <p:spPr bwMode="auto">
          <a:xfrm>
            <a:off x="5285992"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3">
                    <a:lumMod val="75000"/>
                  </a:schemeClr>
                </a:solidFill>
              </a:rPr>
              <a:t>ﾎﾝﾄｶﾅｰ</a:t>
            </a:r>
          </a:p>
        </p:txBody>
      </p:sp>
    </p:spTree>
    <p:extLst>
      <p:ext uri="{BB962C8B-B14F-4D97-AF65-F5344CB8AC3E}">
        <p14:creationId xmlns:p14="http://schemas.microsoft.com/office/powerpoint/2010/main" val="1000364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a:t>
            </a:r>
            <a:r>
              <a:rPr lang="ja-JP" altLang="en-US" dirty="0"/>
              <a:t>予測ペナルティ</a:t>
            </a:r>
            <a:endParaRPr kumimoji="1" lang="ja-JP" altLang="en-US" dirty="0"/>
          </a:p>
        </p:txBody>
      </p:sp>
      <p:sp>
        <p:nvSpPr>
          <p:cNvPr id="58" name="コンテンツ プレースホルダー 57"/>
          <p:cNvSpPr>
            <a:spLocks noGrp="1"/>
          </p:cNvSpPr>
          <p:nvPr>
            <p:ph type="body" sz="quarter" idx="10"/>
          </p:nvPr>
        </p:nvSpPr>
        <p:spPr>
          <a:xfrm>
            <a:off x="2225958" y="4869017"/>
            <a:ext cx="8190091" cy="1369161"/>
          </a:xfrm>
          <a:prstGeom prst="rect">
            <a:avLst/>
          </a:prstGeom>
        </p:spPr>
        <p:txBody>
          <a:bodyPr/>
          <a:lstStyle/>
          <a:p>
            <a:r>
              <a:rPr lang="ja-JP" altLang="en-US" dirty="0"/>
              <a:t>予測が間違っていた場合，以降の処理を</a:t>
            </a:r>
            <a:br>
              <a:rPr lang="en-US" altLang="ja-JP" dirty="0"/>
            </a:br>
            <a:r>
              <a:rPr lang="ja-JP" altLang="en-US" dirty="0"/>
              <a:t>取り消してやり直す</a:t>
            </a:r>
            <a:endParaRPr lang="en-US" altLang="ja-JP" dirty="0"/>
          </a:p>
          <a:p>
            <a:r>
              <a:rPr lang="ja-JP" altLang="en-US" dirty="0"/>
              <a:t>この図では，無駄になるのは</a:t>
            </a:r>
            <a:r>
              <a:rPr lang="en-US" altLang="ja-JP" dirty="0"/>
              <a:t>3</a:t>
            </a:r>
            <a:r>
              <a:rPr lang="ja-JP" altLang="en-US" dirty="0"/>
              <a:t>命令分</a:t>
            </a:r>
            <a:endParaRPr lang="en-US" altLang="ja-JP"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7896020"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a=a-1</a:t>
            </a:r>
          </a:p>
          <a:p>
            <a:pPr>
              <a:lnSpc>
                <a:spcPct val="80000"/>
              </a:lnSpc>
            </a:pP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2045956"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24" name="角丸四角形 23"/>
          <p:cNvSpPr/>
          <p:nvPr/>
        </p:nvSpPr>
        <p:spPr bwMode="auto">
          <a:xfrm>
            <a:off x="6456004"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 name="角丸四角形吹き出し 3"/>
          <p:cNvSpPr/>
          <p:nvPr/>
        </p:nvSpPr>
        <p:spPr bwMode="auto">
          <a:xfrm>
            <a:off x="3395970" y="1358977"/>
            <a:ext cx="2880032" cy="612648"/>
          </a:xfrm>
          <a:prstGeom prst="wedgeRoundRectCallout">
            <a:avLst>
              <a:gd name="adj1" fmla="val -38140"/>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Arial Narrow" panose="020B0606020202030204" pitchFamily="34" charset="0"/>
              </a:rPr>
              <a:t>a=a+1 </a:t>
            </a:r>
            <a:r>
              <a:rPr lang="ja-JP" altLang="en-US" dirty="0">
                <a:solidFill>
                  <a:schemeClr val="tx1">
                    <a:lumMod val="65000"/>
                    <a:lumOff val="35000"/>
                  </a:schemeClr>
                </a:solidFill>
                <a:latin typeface="Arial Narrow" panose="020B0606020202030204" pitchFamily="34" charset="0"/>
              </a:rPr>
              <a:t>からやりなおしや！</a:t>
            </a:r>
          </a:p>
        </p:txBody>
      </p:sp>
      <p:sp>
        <p:nvSpPr>
          <p:cNvPr id="27" name="角丸四角形吹き出し 26"/>
          <p:cNvSpPr/>
          <p:nvPr/>
        </p:nvSpPr>
        <p:spPr bwMode="auto">
          <a:xfrm>
            <a:off x="8076022" y="1358977"/>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Arial Narrow" panose="020B0606020202030204" pitchFamily="34" charset="0"/>
              </a:rPr>
              <a:t>間違っとるが</a:t>
            </a:r>
            <a:r>
              <a:rPr lang="ja-JP" altLang="en-US" dirty="0" err="1">
                <a:solidFill>
                  <a:schemeClr val="tx1">
                    <a:lumMod val="65000"/>
                    <a:lumOff val="35000"/>
                  </a:schemeClr>
                </a:solidFill>
                <a:latin typeface="Arial Narrow" panose="020B0606020202030204" pitchFamily="34" charset="0"/>
              </a:rPr>
              <a:t>な</a:t>
            </a:r>
            <a:endParaRPr lang="ja-JP" altLang="en-US" dirty="0">
              <a:solidFill>
                <a:schemeClr val="tx1">
                  <a:lumMod val="65000"/>
                  <a:lumOff val="35000"/>
                </a:schemeClr>
              </a:solidFill>
              <a:latin typeface="Arial Narrow" panose="020B0606020202030204" pitchFamily="34" charset="0"/>
            </a:endParaRPr>
          </a:p>
        </p:txBody>
      </p:sp>
      <p:sp>
        <p:nvSpPr>
          <p:cNvPr id="28" name="角丸四角形 27"/>
          <p:cNvSpPr/>
          <p:nvPr/>
        </p:nvSpPr>
        <p:spPr bwMode="auto">
          <a:xfrm>
            <a:off x="5015988"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9" name="角丸四角形 28"/>
          <p:cNvSpPr/>
          <p:nvPr/>
        </p:nvSpPr>
        <p:spPr bwMode="auto">
          <a:xfrm>
            <a:off x="3575972"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30" name="正方形/長方形 29"/>
          <p:cNvSpPr/>
          <p:nvPr/>
        </p:nvSpPr>
        <p:spPr bwMode="auto">
          <a:xfrm>
            <a:off x="6636007"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ﾓｳﾔﾀﾞ</a:t>
            </a:r>
          </a:p>
        </p:txBody>
      </p:sp>
      <p:sp>
        <p:nvSpPr>
          <p:cNvPr id="31" name="正方形/長方形 30"/>
          <p:cNvSpPr/>
          <p:nvPr/>
        </p:nvSpPr>
        <p:spPr bwMode="auto">
          <a:xfrm>
            <a:off x="5285992"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3">
                    <a:lumMod val="75000"/>
                  </a:schemeClr>
                </a:solidFill>
              </a:rPr>
              <a:t>ﾏｼﾞﾃﾞ</a:t>
            </a:r>
          </a:p>
        </p:txBody>
      </p:sp>
    </p:spTree>
    <p:extLst>
      <p:ext uri="{BB962C8B-B14F-4D97-AF65-F5344CB8AC3E}">
        <p14:creationId xmlns:p14="http://schemas.microsoft.com/office/powerpoint/2010/main" val="1136484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4"/>
                                        </p:tgtEl>
                                      </p:cBhvr>
                                    </p:animEffect>
                                    <p:anim calcmode="lin" valueType="num">
                                      <p:cBhvr>
                                        <p:cTn id="7" dur="1000"/>
                                        <p:tgtEl>
                                          <p:spTgt spid="24"/>
                                        </p:tgtEl>
                                        <p:attrNameLst>
                                          <p:attrName>ppt_x</p:attrName>
                                        </p:attrNameLst>
                                      </p:cBhvr>
                                      <p:tavLst>
                                        <p:tav tm="0">
                                          <p:val>
                                            <p:strVal val="ppt_x"/>
                                          </p:val>
                                        </p:tav>
                                        <p:tav tm="100000">
                                          <p:val>
                                            <p:strVal val="ppt_x"/>
                                          </p:val>
                                        </p:tav>
                                      </p:tavLst>
                                    </p:anim>
                                    <p:anim calcmode="lin" valueType="num">
                                      <p:cBhvr>
                                        <p:cTn id="8" dur="1000"/>
                                        <p:tgtEl>
                                          <p:spTgt spid="24"/>
                                        </p:tgtEl>
                                        <p:attrNameLst>
                                          <p:attrName>ppt_y</p:attrName>
                                        </p:attrNameLst>
                                      </p:cBhvr>
                                      <p:tavLst>
                                        <p:tav tm="0">
                                          <p:val>
                                            <p:strVal val="ppt_y"/>
                                          </p:val>
                                        </p:tav>
                                        <p:tav tm="100000">
                                          <p:val>
                                            <p:strVal val="ppt_y+.1"/>
                                          </p:val>
                                        </p:tav>
                                      </p:tavLst>
                                    </p:anim>
                                    <p:set>
                                      <p:cBhvr>
                                        <p:cTn id="9" dur="1" fill="hold">
                                          <p:stCondLst>
                                            <p:cond delay="999"/>
                                          </p:stCondLst>
                                        </p:cTn>
                                        <p:tgtEl>
                                          <p:spTgt spid="24"/>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28"/>
                                        </p:tgtEl>
                                      </p:cBhvr>
                                    </p:animEffect>
                                    <p:anim calcmode="lin" valueType="num">
                                      <p:cBhvr>
                                        <p:cTn id="12" dur="1000"/>
                                        <p:tgtEl>
                                          <p:spTgt spid="28"/>
                                        </p:tgtEl>
                                        <p:attrNameLst>
                                          <p:attrName>ppt_x</p:attrName>
                                        </p:attrNameLst>
                                      </p:cBhvr>
                                      <p:tavLst>
                                        <p:tav tm="0">
                                          <p:val>
                                            <p:strVal val="ppt_x"/>
                                          </p:val>
                                        </p:tav>
                                        <p:tav tm="100000">
                                          <p:val>
                                            <p:strVal val="ppt_x"/>
                                          </p:val>
                                        </p:tav>
                                      </p:tavLst>
                                    </p:anim>
                                    <p:anim calcmode="lin" valueType="num">
                                      <p:cBhvr>
                                        <p:cTn id="13" dur="1000"/>
                                        <p:tgtEl>
                                          <p:spTgt spid="28"/>
                                        </p:tgtEl>
                                        <p:attrNameLst>
                                          <p:attrName>ppt_y</p:attrName>
                                        </p:attrNameLst>
                                      </p:cBhvr>
                                      <p:tavLst>
                                        <p:tav tm="0">
                                          <p:val>
                                            <p:strVal val="ppt_y"/>
                                          </p:val>
                                        </p:tav>
                                        <p:tav tm="100000">
                                          <p:val>
                                            <p:strVal val="ppt_y+.1"/>
                                          </p:val>
                                        </p:tav>
                                      </p:tavLst>
                                    </p:anim>
                                    <p:set>
                                      <p:cBhvr>
                                        <p:cTn id="14" dur="1" fill="hold">
                                          <p:stCondLst>
                                            <p:cond delay="999"/>
                                          </p:stCondLst>
                                        </p:cTn>
                                        <p:tgtEl>
                                          <p:spTgt spid="28"/>
                                        </p:tgtEl>
                                        <p:attrNameLst>
                                          <p:attrName>style.visibility</p:attrName>
                                        </p:attrNameLst>
                                      </p:cBhvr>
                                      <p:to>
                                        <p:strVal val="hidden"/>
                                      </p:to>
                                    </p:set>
                                  </p:childTnLst>
                                </p:cTn>
                              </p:par>
                              <p:par>
                                <p:cTn id="15" presetID="42" presetClass="exit" presetSubtype="0" fill="hold" grpId="0" nodeType="withEffect">
                                  <p:stCondLst>
                                    <p:cond delay="0"/>
                                  </p:stCondLst>
                                  <p:childTnLst>
                                    <p:animEffect transition="out" filter="fade">
                                      <p:cBhvr>
                                        <p:cTn id="16" dur="1000"/>
                                        <p:tgtEl>
                                          <p:spTgt spid="29"/>
                                        </p:tgtEl>
                                      </p:cBhvr>
                                    </p:animEffect>
                                    <p:anim calcmode="lin" valueType="num">
                                      <p:cBhvr>
                                        <p:cTn id="17" dur="1000"/>
                                        <p:tgtEl>
                                          <p:spTgt spid="29"/>
                                        </p:tgtEl>
                                        <p:attrNameLst>
                                          <p:attrName>ppt_x</p:attrName>
                                        </p:attrNameLst>
                                      </p:cBhvr>
                                      <p:tavLst>
                                        <p:tav tm="0">
                                          <p:val>
                                            <p:strVal val="ppt_x"/>
                                          </p:val>
                                        </p:tav>
                                        <p:tav tm="100000">
                                          <p:val>
                                            <p:strVal val="ppt_x"/>
                                          </p:val>
                                        </p:tav>
                                      </p:tavLst>
                                    </p:anim>
                                    <p:anim calcmode="lin" valueType="num">
                                      <p:cBhvr>
                                        <p:cTn id="18" dur="1000"/>
                                        <p:tgtEl>
                                          <p:spTgt spid="29"/>
                                        </p:tgtEl>
                                        <p:attrNameLst>
                                          <p:attrName>ppt_y</p:attrName>
                                        </p:attrNameLst>
                                      </p:cBhvr>
                                      <p:tavLst>
                                        <p:tav tm="0">
                                          <p:val>
                                            <p:strVal val="ppt_y"/>
                                          </p:val>
                                        </p:tav>
                                        <p:tav tm="100000">
                                          <p:val>
                                            <p:strVal val="ppt_y+.1"/>
                                          </p:val>
                                        </p:tav>
                                      </p:tavLst>
                                    </p:anim>
                                    <p:set>
                                      <p:cBhvr>
                                        <p:cTn id="19" dur="1" fill="hold">
                                          <p:stCondLst>
                                            <p:cond delay="9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分岐予測ペナルティの大きさ</a:t>
            </a:r>
          </a:p>
        </p:txBody>
      </p:sp>
      <p:sp>
        <p:nvSpPr>
          <p:cNvPr id="3" name="テキスト プレースホルダー 2"/>
          <p:cNvSpPr>
            <a:spLocks noGrp="1"/>
          </p:cNvSpPr>
          <p:nvPr>
            <p:ph type="body" sz="quarter" idx="10"/>
          </p:nvPr>
        </p:nvSpPr>
        <p:spPr>
          <a:xfrm>
            <a:off x="2135956" y="3789005"/>
            <a:ext cx="8280092" cy="2519721"/>
          </a:xfrm>
        </p:spPr>
        <p:txBody>
          <a:bodyPr/>
          <a:lstStyle/>
          <a:p>
            <a:r>
              <a:rPr kumimoji="1" lang="ja-JP" altLang="en-US" dirty="0"/>
              <a:t>パイプラインを深くすると，</a:t>
            </a:r>
            <a:endParaRPr kumimoji="1" lang="en-US" altLang="ja-JP" dirty="0"/>
          </a:p>
          <a:p>
            <a:pPr lvl="1"/>
            <a:r>
              <a:rPr kumimoji="1" lang="en-US" altLang="ja-JP" dirty="0"/>
              <a:t>= if </a:t>
            </a:r>
            <a:r>
              <a:rPr kumimoji="1" lang="ja-JP" altLang="en-US" dirty="0"/>
              <a:t>が右に到達してミスが判明するまでのステージが増える</a:t>
            </a:r>
            <a:endParaRPr kumimoji="1" lang="en-US" altLang="ja-JP" dirty="0"/>
          </a:p>
          <a:p>
            <a:pPr lvl="1"/>
            <a:r>
              <a:rPr kumimoji="1" lang="en-US" altLang="ja-JP" dirty="0">
                <a:solidFill>
                  <a:schemeClr val="accent5"/>
                </a:solidFill>
              </a:rPr>
              <a:t>= </a:t>
            </a:r>
            <a:r>
              <a:rPr kumimoji="1" lang="ja-JP" altLang="en-US" dirty="0">
                <a:solidFill>
                  <a:schemeClr val="accent5"/>
                </a:solidFill>
              </a:rPr>
              <a:t>予測ミス時に取り消される命令数が大きくなる</a:t>
            </a:r>
            <a:endParaRPr kumimoji="1" lang="en-US" altLang="ja-JP" dirty="0">
              <a:solidFill>
                <a:schemeClr val="accent5"/>
              </a:solidFill>
            </a:endParaRPr>
          </a:p>
          <a:p>
            <a:pPr lvl="2"/>
            <a:r>
              <a:rPr kumimoji="1" lang="ja-JP" altLang="en-US" dirty="0"/>
              <a:t>一瞬で全員を消せず，取り消す命令数に応じた時間がかかる</a:t>
            </a:r>
            <a:endParaRPr kumimoji="1" lang="en-US" altLang="ja-JP" dirty="0"/>
          </a:p>
          <a:p>
            <a:r>
              <a:rPr kumimoji="1" lang="ja-JP" altLang="en-US" dirty="0"/>
              <a:t>実時間が伸びているわけではないことに注意</a:t>
            </a:r>
            <a:endParaRPr kumimoji="1" lang="en-US" altLang="ja-JP" dirty="0"/>
          </a:p>
          <a:p>
            <a:pPr lvl="1"/>
            <a:r>
              <a:rPr kumimoji="1" lang="en-US" altLang="ja-JP" dirty="0"/>
              <a:t>if </a:t>
            </a:r>
            <a:r>
              <a:rPr kumimoji="1" lang="ja-JP" altLang="en-US" dirty="0"/>
              <a:t>が右に到達するまでの</a:t>
            </a:r>
            <a:r>
              <a:rPr lang="ja-JP" altLang="en-US" dirty="0"/>
              <a:t>実</a:t>
            </a:r>
            <a:r>
              <a:rPr kumimoji="1" lang="ja-JP" altLang="en-US" dirty="0"/>
              <a:t>時間は変わってない</a:t>
            </a:r>
            <a:endParaRPr lang="en-US" altLang="ja-JP" dirty="0"/>
          </a:p>
          <a:p>
            <a:pPr lvl="1"/>
            <a:r>
              <a:rPr kumimoji="1" lang="ja-JP" altLang="en-US" dirty="0"/>
              <a:t>矢印が伸びるアニメーションを思い出してほしい</a:t>
            </a:r>
          </a:p>
        </p:txBody>
      </p:sp>
      <p:grpSp>
        <p:nvGrpSpPr>
          <p:cNvPr id="4" name="グループ化 3"/>
          <p:cNvGrpSpPr/>
          <p:nvPr/>
        </p:nvGrpSpPr>
        <p:grpSpPr>
          <a:xfrm>
            <a:off x="3215968" y="1718981"/>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656128" y="1718981"/>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096288" y="1718981"/>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536448" y="1718981"/>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3177808" y="85443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1" name="角丸四角形 20"/>
          <p:cNvSpPr/>
          <p:nvPr/>
        </p:nvSpPr>
        <p:spPr bwMode="auto">
          <a:xfrm>
            <a:off x="8346025" y="1538979"/>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t>
            </a:r>
            <a:endParaRPr lang="ja-JP" altLang="en-US" dirty="0">
              <a:latin typeface="Arial Narrow" panose="020B0606020202030204" pitchFamily="34" charset="0"/>
            </a:endParaRPr>
          </a:p>
        </p:txBody>
      </p:sp>
      <p:sp>
        <p:nvSpPr>
          <p:cNvPr id="24" name="角丸四角形 23"/>
          <p:cNvSpPr/>
          <p:nvPr/>
        </p:nvSpPr>
        <p:spPr bwMode="auto">
          <a:xfrm>
            <a:off x="6996010" y="1538979"/>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25" name="角丸四角形 24"/>
          <p:cNvSpPr/>
          <p:nvPr/>
        </p:nvSpPr>
        <p:spPr bwMode="auto">
          <a:xfrm>
            <a:off x="5555994" y="1538979"/>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26" name="角丸四角形 25"/>
          <p:cNvSpPr/>
          <p:nvPr/>
        </p:nvSpPr>
        <p:spPr bwMode="auto">
          <a:xfrm>
            <a:off x="4115978" y="1538979"/>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grpSp>
        <p:nvGrpSpPr>
          <p:cNvPr id="29" name="グループ化 28"/>
          <p:cNvGrpSpPr/>
          <p:nvPr/>
        </p:nvGrpSpPr>
        <p:grpSpPr>
          <a:xfrm>
            <a:off x="3215969" y="2798993"/>
            <a:ext cx="810009"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2" name="グループ化 31"/>
          <p:cNvGrpSpPr/>
          <p:nvPr/>
        </p:nvGrpSpPr>
        <p:grpSpPr>
          <a:xfrm>
            <a:off x="4656129" y="2798993"/>
            <a:ext cx="809865" cy="576064"/>
            <a:chOff x="971600" y="5445224"/>
            <a:chExt cx="7200800" cy="576064"/>
          </a:xfrm>
        </p:grpSpPr>
        <p:sp>
          <p:nvSpPr>
            <p:cNvPr id="33" name="平行四辺形 32"/>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4" name="平行四辺形 33"/>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5" name="グループ化 34"/>
          <p:cNvGrpSpPr/>
          <p:nvPr/>
        </p:nvGrpSpPr>
        <p:grpSpPr>
          <a:xfrm>
            <a:off x="6096289" y="2798993"/>
            <a:ext cx="809721" cy="576064"/>
            <a:chOff x="971600" y="5445224"/>
            <a:chExt cx="7200800" cy="576064"/>
          </a:xfrm>
        </p:grpSpPr>
        <p:sp>
          <p:nvSpPr>
            <p:cNvPr id="36" name="平行四辺形 35"/>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7536449" y="2798993"/>
            <a:ext cx="809577" cy="576064"/>
            <a:chOff x="971600" y="5445224"/>
            <a:chExt cx="7200800" cy="576064"/>
          </a:xfrm>
        </p:grpSpPr>
        <p:sp>
          <p:nvSpPr>
            <p:cNvPr id="39" name="平行四辺形 38"/>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0" name="平行四辺形 39"/>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1" name="グループ化 40"/>
          <p:cNvGrpSpPr/>
          <p:nvPr/>
        </p:nvGrpSpPr>
        <p:grpSpPr>
          <a:xfrm>
            <a:off x="3935977" y="2798993"/>
            <a:ext cx="810009" cy="576064"/>
            <a:chOff x="971600" y="5445224"/>
            <a:chExt cx="7200800" cy="576064"/>
          </a:xfrm>
        </p:grpSpPr>
        <p:sp>
          <p:nvSpPr>
            <p:cNvPr id="42" name="平行四辺形 41"/>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平行四辺形 42"/>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4" name="グループ化 43"/>
          <p:cNvGrpSpPr/>
          <p:nvPr/>
        </p:nvGrpSpPr>
        <p:grpSpPr>
          <a:xfrm>
            <a:off x="5375993" y="2798993"/>
            <a:ext cx="809865" cy="576064"/>
            <a:chOff x="971600" y="5445224"/>
            <a:chExt cx="7200800" cy="576064"/>
          </a:xfrm>
        </p:grpSpPr>
        <p:sp>
          <p:nvSpPr>
            <p:cNvPr id="45" name="平行四辺形 44"/>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6" name="平行四辺形 45"/>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7" name="グループ化 46"/>
          <p:cNvGrpSpPr/>
          <p:nvPr/>
        </p:nvGrpSpPr>
        <p:grpSpPr>
          <a:xfrm>
            <a:off x="6816009" y="2798993"/>
            <a:ext cx="809721" cy="576064"/>
            <a:chOff x="971600" y="5445224"/>
            <a:chExt cx="7200800" cy="576064"/>
          </a:xfrm>
        </p:grpSpPr>
        <p:sp>
          <p:nvSpPr>
            <p:cNvPr id="48" name="平行四辺形 47"/>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9" name="平行四辺形 48"/>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0" name="グループ化 49"/>
          <p:cNvGrpSpPr/>
          <p:nvPr/>
        </p:nvGrpSpPr>
        <p:grpSpPr>
          <a:xfrm>
            <a:off x="8256025" y="2798993"/>
            <a:ext cx="809577" cy="576064"/>
            <a:chOff x="971600" y="5445224"/>
            <a:chExt cx="7200800" cy="576064"/>
          </a:xfrm>
        </p:grpSpPr>
        <p:sp>
          <p:nvSpPr>
            <p:cNvPr id="51" name="平行四辺形 50"/>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2" name="平行四辺形 5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53" name="角丸四角形 52"/>
          <p:cNvSpPr/>
          <p:nvPr/>
        </p:nvSpPr>
        <p:spPr bwMode="auto">
          <a:xfrm>
            <a:off x="8346025" y="2708992"/>
            <a:ext cx="540006"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t>
            </a:r>
            <a:endParaRPr lang="ja-JP" altLang="en-US" dirty="0">
              <a:latin typeface="Arial Narrow" panose="020B0606020202030204" pitchFamily="34" charset="0"/>
            </a:endParaRPr>
          </a:p>
        </p:txBody>
      </p:sp>
      <p:sp>
        <p:nvSpPr>
          <p:cNvPr id="54" name="角丸四角形 53"/>
          <p:cNvSpPr/>
          <p:nvPr/>
        </p:nvSpPr>
        <p:spPr bwMode="auto">
          <a:xfrm>
            <a:off x="6996010" y="2708992"/>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55" name="角丸四角形 54"/>
          <p:cNvSpPr/>
          <p:nvPr/>
        </p:nvSpPr>
        <p:spPr bwMode="auto">
          <a:xfrm>
            <a:off x="5555994" y="2708992"/>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56" name="角丸四角形 55"/>
          <p:cNvSpPr/>
          <p:nvPr/>
        </p:nvSpPr>
        <p:spPr bwMode="auto">
          <a:xfrm>
            <a:off x="4115978" y="2708992"/>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57" name="角丸四角形 56"/>
          <p:cNvSpPr/>
          <p:nvPr/>
        </p:nvSpPr>
        <p:spPr bwMode="auto">
          <a:xfrm>
            <a:off x="6276002" y="2708992"/>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58" name="角丸四角形 57"/>
          <p:cNvSpPr/>
          <p:nvPr/>
        </p:nvSpPr>
        <p:spPr bwMode="auto">
          <a:xfrm>
            <a:off x="4835986" y="2708992"/>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59" name="角丸四角形 58"/>
          <p:cNvSpPr/>
          <p:nvPr/>
        </p:nvSpPr>
        <p:spPr bwMode="auto">
          <a:xfrm>
            <a:off x="3395970" y="2708992"/>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60" name="角丸四角形 59"/>
          <p:cNvSpPr/>
          <p:nvPr/>
        </p:nvSpPr>
        <p:spPr bwMode="auto">
          <a:xfrm>
            <a:off x="7716018" y="2708992"/>
            <a:ext cx="54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Tree>
    <p:extLst>
      <p:ext uri="{BB962C8B-B14F-4D97-AF65-F5344CB8AC3E}">
        <p14:creationId xmlns:p14="http://schemas.microsoft.com/office/powerpoint/2010/main" val="616950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パイプライン化の限界のまとめ</a:t>
            </a:r>
            <a:endParaRPr lang="ja-JP" altLang="en-US" dirty="0"/>
          </a:p>
        </p:txBody>
      </p:sp>
      <p:sp>
        <p:nvSpPr>
          <p:cNvPr id="3" name="テキスト プレースホルダー 2"/>
          <p:cNvSpPr>
            <a:spLocks noGrp="1"/>
          </p:cNvSpPr>
          <p:nvPr>
            <p:ph type="body" sz="quarter" idx="10"/>
          </p:nvPr>
        </p:nvSpPr>
        <p:spPr/>
        <p:txBody>
          <a:bodyPr/>
          <a:lstStyle/>
          <a:p>
            <a:r>
              <a:rPr lang="ja-JP" altLang="en-US" dirty="0"/>
              <a:t>速度が上がらなくなる理由：</a:t>
            </a:r>
            <a:endParaRPr lang="en-US" altLang="ja-JP" dirty="0"/>
          </a:p>
          <a:p>
            <a:pPr lvl="1"/>
            <a:r>
              <a:rPr lang="ja-JP" altLang="en-US" dirty="0"/>
              <a:t>回路的な理由による周波数向上の限界</a:t>
            </a:r>
            <a:endParaRPr lang="en-US" altLang="ja-JP" dirty="0"/>
          </a:p>
          <a:p>
            <a:pPr lvl="2"/>
            <a:r>
              <a:rPr lang="en-US" altLang="ja-JP" dirty="0"/>
              <a:t>D-FF </a:t>
            </a:r>
            <a:r>
              <a:rPr lang="ja-JP" altLang="en-US" dirty="0"/>
              <a:t>の遅延</a:t>
            </a:r>
            <a:endParaRPr lang="en-US" altLang="ja-JP" dirty="0"/>
          </a:p>
          <a:p>
            <a:pPr lvl="2"/>
            <a:r>
              <a:rPr lang="ja-JP" altLang="en-US" dirty="0"/>
              <a:t>電力と熱</a:t>
            </a:r>
            <a:endParaRPr lang="en-US" altLang="ja-JP" dirty="0"/>
          </a:p>
          <a:p>
            <a:pPr lvl="1"/>
            <a:r>
              <a:rPr lang="ja-JP" altLang="en-US" dirty="0"/>
              <a:t>アーキテクチャ的な理由による実効性能の限界</a:t>
            </a:r>
            <a:endParaRPr lang="en-US" altLang="ja-JP" dirty="0"/>
          </a:p>
          <a:p>
            <a:pPr lvl="2"/>
            <a:r>
              <a:rPr lang="ja-JP" altLang="en-US" dirty="0"/>
              <a:t>バックエッジによる実効性能の低下</a:t>
            </a:r>
            <a:endParaRPr lang="en-US" altLang="ja-JP" dirty="0"/>
          </a:p>
          <a:p>
            <a:pPr lvl="2"/>
            <a:r>
              <a:rPr lang="ja-JP" altLang="en-US" dirty="0"/>
              <a:t>（今日話した話題意外に，スーパスカラ固有の性能低下も</a:t>
            </a:r>
          </a:p>
        </p:txBody>
      </p:sp>
    </p:spTree>
    <p:extLst>
      <p:ext uri="{BB962C8B-B14F-4D97-AF65-F5344CB8AC3E}">
        <p14:creationId xmlns:p14="http://schemas.microsoft.com/office/powerpoint/2010/main" val="39121063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実際の </a:t>
            </a:r>
            <a:r>
              <a:rPr lang="en-US" altLang="ja-JP" dirty="0"/>
              <a:t>CPU </a:t>
            </a:r>
            <a:r>
              <a:rPr lang="ja-JP" altLang="en-US" dirty="0"/>
              <a:t>のパイプライン段数</a:t>
            </a:r>
            <a:endParaRPr lang="en-US" altLang="ja-JP" dirty="0"/>
          </a:p>
        </p:txBody>
      </p:sp>
      <p:sp>
        <p:nvSpPr>
          <p:cNvPr id="3" name="テキスト プレースホルダー 2"/>
          <p:cNvSpPr>
            <a:spLocks noGrp="1"/>
          </p:cNvSpPr>
          <p:nvPr>
            <p:ph type="body" sz="quarter" idx="10"/>
          </p:nvPr>
        </p:nvSpPr>
        <p:spPr/>
        <p:txBody>
          <a:bodyPr/>
          <a:lstStyle/>
          <a:p>
            <a:r>
              <a:rPr lang="ja-JP" altLang="en-US" dirty="0"/>
              <a:t>現在は大体１５～２０段</a:t>
            </a:r>
            <a:endParaRPr lang="en-US" altLang="ja-JP" dirty="0"/>
          </a:p>
          <a:p>
            <a:r>
              <a:rPr lang="en-US" altLang="ja-JP" dirty="0"/>
              <a:t>Intel Pentium4 </a:t>
            </a:r>
            <a:r>
              <a:rPr lang="ja-JP" altLang="en-US" dirty="0"/>
              <a:t>（</a:t>
            </a:r>
            <a:r>
              <a:rPr lang="en-US" altLang="ja-JP" dirty="0"/>
              <a:t>Prescott</a:t>
            </a:r>
            <a:r>
              <a:rPr lang="ja-JP" altLang="en-US" dirty="0"/>
              <a:t>）３１段</a:t>
            </a:r>
            <a:endParaRPr lang="en-US" altLang="ja-JP" dirty="0"/>
          </a:p>
          <a:p>
            <a:pPr lvl="1"/>
            <a:r>
              <a:rPr lang="en-US" altLang="ja-JP" dirty="0"/>
              <a:t>2004</a:t>
            </a:r>
            <a:r>
              <a:rPr lang="ja-JP" altLang="en-US" dirty="0"/>
              <a:t>年発売で </a:t>
            </a:r>
            <a:r>
              <a:rPr lang="en-US" altLang="ja-JP" dirty="0"/>
              <a:t>3.8 GHz</a:t>
            </a:r>
          </a:p>
          <a:p>
            <a:pPr lvl="1"/>
            <a:r>
              <a:rPr lang="ja-JP" altLang="en-US" dirty="0"/>
              <a:t>おそらく，歴史上最大の段数</a:t>
            </a:r>
            <a:endParaRPr lang="en-US" altLang="ja-JP" dirty="0"/>
          </a:p>
          <a:p>
            <a:pPr lvl="2"/>
            <a:r>
              <a:rPr lang="ja-JP" altLang="en-US" dirty="0"/>
              <a:t>熱くなりすぎ </a:t>
            </a:r>
            <a:r>
              <a:rPr lang="en-US" altLang="ja-JP" dirty="0"/>
              <a:t>&amp; </a:t>
            </a:r>
            <a:r>
              <a:rPr lang="ja-JP" altLang="en-US" dirty="0"/>
              <a:t>性能が出ずで，この後ステージ数は減少</a:t>
            </a:r>
            <a:endParaRPr lang="en-US" altLang="ja-JP" dirty="0"/>
          </a:p>
          <a:p>
            <a:r>
              <a:rPr lang="en-US" altLang="ja-JP" dirty="0"/>
              <a:t>AMD Zen</a:t>
            </a:r>
            <a:r>
              <a:rPr lang="ja-JP" altLang="en-US" dirty="0"/>
              <a:t>：１９段</a:t>
            </a:r>
            <a:endParaRPr lang="en-US" altLang="ja-JP" dirty="0"/>
          </a:p>
          <a:p>
            <a:pPr lvl="1"/>
            <a:r>
              <a:rPr lang="en-US" altLang="ja-JP" dirty="0"/>
              <a:t>2017</a:t>
            </a:r>
            <a:r>
              <a:rPr lang="ja-JP" altLang="en-US" dirty="0"/>
              <a:t>年発売で </a:t>
            </a:r>
            <a:r>
              <a:rPr lang="en-US" altLang="ja-JP" dirty="0"/>
              <a:t>4.2GHz</a:t>
            </a:r>
            <a:endParaRPr lang="ja-JP" altLang="en-US" dirty="0"/>
          </a:p>
        </p:txBody>
      </p:sp>
    </p:spTree>
    <p:extLst>
      <p:ext uri="{BB962C8B-B14F-4D97-AF65-F5344CB8AC3E}">
        <p14:creationId xmlns:p14="http://schemas.microsoft.com/office/powerpoint/2010/main" val="1941529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Sony/IBM/</a:t>
            </a:r>
            <a:r>
              <a:rPr lang="ja-JP" altLang="en-US" dirty="0"/>
              <a:t>東芝 </a:t>
            </a:r>
            <a:r>
              <a:rPr lang="en-US" altLang="ja-JP" dirty="0"/>
              <a:t>Cell (SPE)</a:t>
            </a:r>
            <a:br>
              <a:rPr lang="en-US" altLang="ja-JP" dirty="0"/>
            </a:br>
            <a:r>
              <a:rPr lang="en-US" altLang="ja-JP" sz="1400" dirty="0"/>
              <a:t>Cell Broadband Engine Architecture and its first implementation—A performance view </a:t>
            </a:r>
            <a:r>
              <a:rPr lang="ja-JP" altLang="en-US" sz="1400" dirty="0"/>
              <a:t>より</a:t>
            </a:r>
            <a:endParaRPr lang="ja-JP" altLang="en-US" sz="1600" dirty="0"/>
          </a:p>
        </p:txBody>
      </p:sp>
      <p:pic>
        <p:nvPicPr>
          <p:cNvPr id="4" name="図 3"/>
          <p:cNvPicPr>
            <a:picLocks noChangeAspect="1"/>
          </p:cNvPicPr>
          <p:nvPr/>
        </p:nvPicPr>
        <p:blipFill>
          <a:blip r:embed="rId2"/>
          <a:stretch>
            <a:fillRect/>
          </a:stretch>
        </p:blipFill>
        <p:spPr>
          <a:xfrm>
            <a:off x="1955954" y="1808982"/>
            <a:ext cx="8352042" cy="3689818"/>
          </a:xfrm>
          <a:prstGeom prst="rect">
            <a:avLst/>
          </a:prstGeom>
        </p:spPr>
      </p:pic>
    </p:spTree>
    <p:extLst>
      <p:ext uri="{BB962C8B-B14F-4D97-AF65-F5344CB8AC3E}">
        <p14:creationId xmlns:p14="http://schemas.microsoft.com/office/powerpoint/2010/main" val="27424156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sz="2400" dirty="0"/>
              <a:t>AMD JAGUAR</a:t>
            </a:r>
            <a:br>
              <a:rPr lang="en-US" altLang="ja-JP" sz="1800" dirty="0"/>
            </a:br>
            <a:r>
              <a:rPr lang="en-US" altLang="ja-JP" sz="1800" dirty="0"/>
              <a:t>"JAGUAR” AMD’s Next Generation Low Power x86 Core </a:t>
            </a:r>
            <a:r>
              <a:rPr lang="ja-JP" altLang="en-US" sz="1800" dirty="0"/>
              <a:t>より</a:t>
            </a:r>
          </a:p>
        </p:txBody>
      </p:sp>
      <p:pic>
        <p:nvPicPr>
          <p:cNvPr id="4" name="図 3"/>
          <p:cNvPicPr>
            <a:picLocks noChangeAspect="1"/>
          </p:cNvPicPr>
          <p:nvPr/>
        </p:nvPicPr>
        <p:blipFill>
          <a:blip r:embed="rId2"/>
          <a:stretch>
            <a:fillRect/>
          </a:stretch>
        </p:blipFill>
        <p:spPr>
          <a:xfrm>
            <a:off x="1865953" y="1808983"/>
            <a:ext cx="8532044" cy="3564315"/>
          </a:xfrm>
          <a:prstGeom prst="rect">
            <a:avLst/>
          </a:prstGeom>
        </p:spPr>
      </p:pic>
    </p:spTree>
    <p:extLst>
      <p:ext uri="{BB962C8B-B14F-4D97-AF65-F5344CB8AC3E}">
        <p14:creationId xmlns:p14="http://schemas.microsoft.com/office/powerpoint/2010/main" val="32209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ARM Cortex-A15 </a:t>
            </a:r>
            <a:br>
              <a:rPr lang="en-US" altLang="ja-JP" dirty="0"/>
            </a:br>
            <a:r>
              <a:rPr lang="en-US" altLang="ja-JP" sz="1600" dirty="0"/>
              <a:t>Exploring the Design of the Cortex-A15 Processor</a:t>
            </a:r>
            <a:br>
              <a:rPr lang="en-US" altLang="ja-JP" sz="1600" dirty="0"/>
            </a:br>
            <a:r>
              <a:rPr lang="en-US" altLang="ja-JP" sz="1600" dirty="0"/>
              <a:t>ARM’s next generation mobile applications processor </a:t>
            </a:r>
            <a:r>
              <a:rPr lang="ja-JP" altLang="en-US" sz="1600" dirty="0"/>
              <a:t>より</a:t>
            </a:r>
          </a:p>
        </p:txBody>
      </p:sp>
      <p:pic>
        <p:nvPicPr>
          <p:cNvPr id="4" name="図 3"/>
          <p:cNvPicPr>
            <a:picLocks noChangeAspect="1"/>
          </p:cNvPicPr>
          <p:nvPr/>
        </p:nvPicPr>
        <p:blipFill>
          <a:blip r:embed="rId2"/>
          <a:stretch>
            <a:fillRect/>
          </a:stretch>
        </p:blipFill>
        <p:spPr>
          <a:xfrm>
            <a:off x="2135956" y="972524"/>
            <a:ext cx="7857758" cy="5859027"/>
          </a:xfrm>
          <a:prstGeom prst="rect">
            <a:avLst/>
          </a:prstGeom>
        </p:spPr>
      </p:pic>
    </p:spTree>
    <p:extLst>
      <p:ext uri="{BB962C8B-B14F-4D97-AF65-F5344CB8AC3E}">
        <p14:creationId xmlns:p14="http://schemas.microsoft.com/office/powerpoint/2010/main" val="1970650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46EBD5-4F49-1DCE-6A30-E1B47639496B}"/>
              </a:ext>
            </a:extLst>
          </p:cNvPr>
          <p:cNvSpPr>
            <a:spLocks noGrp="1"/>
          </p:cNvSpPr>
          <p:nvPr>
            <p:ph type="title"/>
          </p:nvPr>
        </p:nvSpPr>
        <p:spPr/>
        <p:txBody>
          <a:bodyPr/>
          <a:lstStyle/>
          <a:p>
            <a:r>
              <a:rPr kumimoji="1" lang="en-US" altLang="ja-JP" dirty="0"/>
              <a:t>IBM POWER9</a:t>
            </a:r>
            <a:br>
              <a:rPr kumimoji="1" lang="en-US" altLang="ja-JP" dirty="0"/>
            </a:br>
            <a:r>
              <a:rPr lang="en-US" altLang="ja-JP" sz="1600" dirty="0"/>
              <a:t>IBM POWER9 processor core </a:t>
            </a:r>
            <a:r>
              <a:rPr lang="ja-JP" altLang="en-US" sz="1600" dirty="0"/>
              <a:t>より</a:t>
            </a:r>
            <a:endParaRPr kumimoji="1" lang="ja-JP" altLang="en-US" dirty="0"/>
          </a:p>
        </p:txBody>
      </p:sp>
      <p:pic>
        <p:nvPicPr>
          <p:cNvPr id="5" name="図 4">
            <a:extLst>
              <a:ext uri="{FF2B5EF4-FFF2-40B4-BE49-F238E27FC236}">
                <a16:creationId xmlns:a16="http://schemas.microsoft.com/office/drawing/2014/main" id="{0A73BD24-78C0-1A38-4B00-BD8DEAB4F029}"/>
              </a:ext>
            </a:extLst>
          </p:cNvPr>
          <p:cNvPicPr>
            <a:picLocks noChangeAspect="1"/>
          </p:cNvPicPr>
          <p:nvPr/>
        </p:nvPicPr>
        <p:blipFill>
          <a:blip r:embed="rId2"/>
          <a:stretch>
            <a:fillRect/>
          </a:stretch>
        </p:blipFill>
        <p:spPr>
          <a:xfrm>
            <a:off x="2315958" y="998973"/>
            <a:ext cx="6826194" cy="5799325"/>
          </a:xfrm>
          <a:prstGeom prst="rect">
            <a:avLst/>
          </a:prstGeom>
        </p:spPr>
      </p:pic>
    </p:spTree>
    <p:extLst>
      <p:ext uri="{BB962C8B-B14F-4D97-AF65-F5344CB8AC3E}">
        <p14:creationId xmlns:p14="http://schemas.microsoft.com/office/powerpoint/2010/main" val="2985895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F6C3DF1-F9EC-B285-2E83-D56AE7F0639E}"/>
              </a:ext>
            </a:extLst>
          </p:cNvPr>
          <p:cNvSpPr>
            <a:spLocks noGrp="1"/>
          </p:cNvSpPr>
          <p:nvPr>
            <p:ph type="title"/>
          </p:nvPr>
        </p:nvSpPr>
        <p:spPr/>
        <p:txBody>
          <a:bodyPr/>
          <a:lstStyle/>
          <a:p>
            <a:r>
              <a:rPr kumimoji="1" lang="ja-JP" altLang="en-US" b="1" dirty="0"/>
              <a:t>分岐予測の基本</a:t>
            </a:r>
            <a:endParaRPr kumimoji="1" lang="en-US" altLang="ja-JP" b="1" dirty="0"/>
          </a:p>
        </p:txBody>
      </p:sp>
    </p:spTree>
    <p:extLst>
      <p:ext uri="{BB962C8B-B14F-4D97-AF65-F5344CB8AC3E}">
        <p14:creationId xmlns:p14="http://schemas.microsoft.com/office/powerpoint/2010/main" val="3828913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用語の定義（１）</a:t>
            </a:r>
          </a:p>
        </p:txBody>
      </p:sp>
      <p:sp>
        <p:nvSpPr>
          <p:cNvPr id="3" name="テキスト プレースホルダー 2"/>
          <p:cNvSpPr>
            <a:spLocks noGrp="1"/>
          </p:cNvSpPr>
          <p:nvPr>
            <p:ph type="body" sz="quarter" idx="10"/>
          </p:nvPr>
        </p:nvSpPr>
        <p:spPr/>
        <p:txBody>
          <a:bodyPr/>
          <a:lstStyle/>
          <a:p>
            <a:r>
              <a:rPr lang="ja-JP" altLang="en-US" dirty="0"/>
              <a:t>方向分岐</a:t>
            </a:r>
            <a:endParaRPr lang="en-US" altLang="ja-JP" dirty="0"/>
          </a:p>
          <a:p>
            <a:pPr lvl="1"/>
            <a:r>
              <a:rPr lang="en-US" altLang="ja-JP" dirty="0"/>
              <a:t>if </a:t>
            </a:r>
            <a:r>
              <a:rPr lang="ja-JP" altLang="en-US" dirty="0"/>
              <a:t>文のように，２方向に分岐する分岐命令</a:t>
            </a:r>
            <a:endParaRPr lang="en-US" altLang="ja-JP" dirty="0"/>
          </a:p>
          <a:p>
            <a:r>
              <a:rPr lang="ja-JP" altLang="en-US" dirty="0"/>
              <a:t>間接分岐</a:t>
            </a:r>
            <a:endParaRPr lang="en-US" altLang="ja-JP" dirty="0"/>
          </a:p>
          <a:p>
            <a:pPr lvl="1"/>
            <a:r>
              <a:rPr lang="ja-JP" altLang="en-US" dirty="0"/>
              <a:t>レジスタに格納されている値のアドレスに飛ぶ分岐命令</a:t>
            </a:r>
            <a:endParaRPr lang="en-US" altLang="ja-JP" dirty="0"/>
          </a:p>
          <a:p>
            <a:pPr lvl="1"/>
            <a:r>
              <a:rPr lang="ja-JP" altLang="en-US" dirty="0"/>
              <a:t>任意の場所に飛ぶことができる</a:t>
            </a:r>
            <a:endParaRPr lang="en-US" altLang="ja-JP" dirty="0"/>
          </a:p>
        </p:txBody>
      </p:sp>
    </p:spTree>
    <p:extLst>
      <p:ext uri="{BB962C8B-B14F-4D97-AF65-F5344CB8AC3E}">
        <p14:creationId xmlns:p14="http://schemas.microsoft.com/office/powerpoint/2010/main" val="17727543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用語の定義（２）</a:t>
            </a:r>
          </a:p>
        </p:txBody>
      </p:sp>
      <p:sp>
        <p:nvSpPr>
          <p:cNvPr id="3" name="テキスト プレースホルダー 2"/>
          <p:cNvSpPr>
            <a:spLocks noGrp="1"/>
          </p:cNvSpPr>
          <p:nvPr>
            <p:ph type="body" sz="quarter" idx="10"/>
          </p:nvPr>
        </p:nvSpPr>
        <p:spPr/>
        <p:txBody>
          <a:bodyPr/>
          <a:lstStyle/>
          <a:p>
            <a:r>
              <a:rPr kumimoji="1" lang="ja-JP" altLang="en-US" dirty="0"/>
              <a:t>分岐の成立</a:t>
            </a:r>
            <a:r>
              <a:rPr kumimoji="1" lang="en-US" altLang="ja-JP" dirty="0"/>
              <a:t>/</a:t>
            </a:r>
            <a:r>
              <a:rPr kumimoji="1" lang="ja-JP" altLang="en-US" dirty="0"/>
              <a:t>不成立</a:t>
            </a:r>
            <a:endParaRPr kumimoji="1" lang="en-US" altLang="ja-JP" dirty="0"/>
          </a:p>
          <a:p>
            <a:pPr lvl="1"/>
            <a:r>
              <a:rPr kumimoji="1" lang="ja-JP" altLang="en-US" dirty="0"/>
              <a:t>条件が成立（</a:t>
            </a:r>
            <a:r>
              <a:rPr kumimoji="1" lang="en-US" altLang="ja-JP" dirty="0"/>
              <a:t>taken</a:t>
            </a:r>
            <a:r>
              <a:rPr kumimoji="1" lang="ja-JP" altLang="en-US" dirty="0"/>
              <a:t>）：　　指定されたアドレスへジャンプ</a:t>
            </a:r>
            <a:endParaRPr kumimoji="1" lang="en-US" altLang="ja-JP" dirty="0"/>
          </a:p>
          <a:p>
            <a:pPr lvl="1"/>
            <a:r>
              <a:rPr kumimoji="1" lang="ja-JP" altLang="en-US" dirty="0"/>
              <a:t>条件が不成立（</a:t>
            </a:r>
            <a:r>
              <a:rPr kumimoji="1" lang="en-US" altLang="ja-JP" dirty="0"/>
              <a:t>untaken</a:t>
            </a:r>
            <a:r>
              <a:rPr kumimoji="1" lang="ja-JP" altLang="en-US" dirty="0"/>
              <a:t>）：次の命令（</a:t>
            </a:r>
            <a:r>
              <a:rPr kumimoji="1" lang="en-US" altLang="ja-JP" dirty="0"/>
              <a:t>PC+</a:t>
            </a:r>
            <a:r>
              <a:rPr kumimoji="1" lang="ja-JP" altLang="en-US" dirty="0"/>
              <a:t>４）に移る</a:t>
            </a:r>
            <a:endParaRPr kumimoji="1" lang="en-US" altLang="ja-JP" dirty="0"/>
          </a:p>
          <a:p>
            <a:r>
              <a:rPr lang="ja-JP" altLang="en-US" dirty="0"/>
              <a:t>例：</a:t>
            </a:r>
            <a:r>
              <a:rPr lang="en-US" altLang="ja-JP" dirty="0" err="1"/>
              <a:t>bne</a:t>
            </a:r>
            <a:r>
              <a:rPr lang="en-US" altLang="ja-JP" dirty="0"/>
              <a:t> x1, x2, TARGET</a:t>
            </a:r>
          </a:p>
          <a:p>
            <a:pPr lvl="1"/>
            <a:r>
              <a:rPr lang="ja-JP" altLang="en-US" dirty="0"/>
              <a:t>成立：　</a:t>
            </a:r>
            <a:r>
              <a:rPr lang="en-US" altLang="ja-JP" dirty="0"/>
              <a:t>x1 </a:t>
            </a:r>
            <a:r>
              <a:rPr lang="ja-JP" altLang="en-US" dirty="0"/>
              <a:t>と </a:t>
            </a:r>
            <a:r>
              <a:rPr lang="en-US" altLang="ja-JP" dirty="0"/>
              <a:t>x2 </a:t>
            </a:r>
            <a:r>
              <a:rPr lang="ja-JP" altLang="en-US" dirty="0"/>
              <a:t>の値が異なった場合は，</a:t>
            </a:r>
            <a:r>
              <a:rPr lang="en-US" altLang="ja-JP" dirty="0"/>
              <a:t>TARGET </a:t>
            </a:r>
            <a:r>
              <a:rPr lang="ja-JP" altLang="en-US" dirty="0"/>
              <a:t>にジャンプ</a:t>
            </a:r>
            <a:endParaRPr lang="en-US" altLang="ja-JP" dirty="0"/>
          </a:p>
          <a:p>
            <a:pPr lvl="1"/>
            <a:r>
              <a:rPr lang="ja-JP" altLang="en-US" dirty="0"/>
              <a:t>不成立：</a:t>
            </a:r>
            <a:r>
              <a:rPr lang="en-US" altLang="ja-JP" dirty="0"/>
              <a:t>x1 </a:t>
            </a:r>
            <a:r>
              <a:rPr lang="ja-JP" altLang="en-US" dirty="0"/>
              <a:t>と </a:t>
            </a:r>
            <a:r>
              <a:rPr lang="en-US" altLang="ja-JP" dirty="0"/>
              <a:t>x2 </a:t>
            </a:r>
            <a:r>
              <a:rPr lang="ja-JP" altLang="en-US" dirty="0"/>
              <a:t>の値が同じ場合は，次の </a:t>
            </a:r>
            <a:r>
              <a:rPr lang="en-US" altLang="ja-JP" dirty="0"/>
              <a:t>PC </a:t>
            </a:r>
            <a:r>
              <a:rPr lang="ja-JP" altLang="en-US" dirty="0"/>
              <a:t>に</a:t>
            </a:r>
            <a:endParaRPr lang="en-US" altLang="ja-JP" dirty="0"/>
          </a:p>
        </p:txBody>
      </p:sp>
    </p:spTree>
    <p:extLst>
      <p:ext uri="{BB962C8B-B14F-4D97-AF65-F5344CB8AC3E}">
        <p14:creationId xmlns:p14="http://schemas.microsoft.com/office/powerpoint/2010/main" val="24469800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用語の定義（３）</a:t>
            </a:r>
          </a:p>
        </p:txBody>
      </p:sp>
      <p:sp>
        <p:nvSpPr>
          <p:cNvPr id="3" name="テキスト プレースホルダー 2"/>
          <p:cNvSpPr>
            <a:spLocks noGrp="1"/>
          </p:cNvSpPr>
          <p:nvPr>
            <p:ph type="body" sz="quarter" idx="10"/>
          </p:nvPr>
        </p:nvSpPr>
        <p:spPr>
          <a:xfrm>
            <a:off x="2135956" y="1088975"/>
            <a:ext cx="8280092" cy="3870043"/>
          </a:xfrm>
        </p:spPr>
        <p:txBody>
          <a:bodyPr/>
          <a:lstStyle/>
          <a:p>
            <a:r>
              <a:rPr lang="ja-JP" altLang="en-US" dirty="0"/>
              <a:t>分岐先 アドレス </a:t>
            </a:r>
            <a:r>
              <a:rPr lang="en-US" altLang="ja-JP" dirty="0"/>
              <a:t>or </a:t>
            </a:r>
            <a:r>
              <a:rPr lang="ja-JP" altLang="en-US" dirty="0"/>
              <a:t>ターゲット</a:t>
            </a:r>
            <a:endParaRPr lang="en-US" altLang="ja-JP" dirty="0"/>
          </a:p>
          <a:p>
            <a:pPr lvl="1"/>
            <a:r>
              <a:rPr lang="ja-JP" altLang="en-US" dirty="0"/>
              <a:t>分岐が成立した際の飛び先のアドレスのこと</a:t>
            </a:r>
            <a:endParaRPr lang="en-US" altLang="ja-JP" dirty="0"/>
          </a:p>
          <a:p>
            <a:r>
              <a:rPr lang="ja-JP" altLang="en-US" dirty="0"/>
              <a:t>前方分岐：</a:t>
            </a:r>
            <a:endParaRPr lang="en-US" altLang="ja-JP" dirty="0"/>
          </a:p>
          <a:p>
            <a:pPr lvl="1"/>
            <a:r>
              <a:rPr lang="ja-JP" altLang="en-US" dirty="0"/>
              <a:t>分岐先ターゲットが分岐自身のアドレスよりも大きい分岐のこと</a:t>
            </a:r>
            <a:endParaRPr lang="en-US" altLang="ja-JP" dirty="0"/>
          </a:p>
          <a:p>
            <a:pPr lvl="1"/>
            <a:r>
              <a:rPr lang="ja-JP" altLang="en-US" dirty="0">
                <a:solidFill>
                  <a:schemeClr val="accent5"/>
                </a:solidFill>
              </a:rPr>
              <a:t>プログラムの進行方向に対して前方に飛ぶことから</a:t>
            </a:r>
            <a:endParaRPr lang="en-US" altLang="ja-JP" dirty="0">
              <a:solidFill>
                <a:schemeClr val="accent5"/>
              </a:solidFill>
            </a:endParaRPr>
          </a:p>
          <a:p>
            <a:r>
              <a:rPr lang="ja-JP" altLang="en-US" dirty="0"/>
              <a:t>後方分岐：</a:t>
            </a:r>
            <a:endParaRPr lang="en-US" altLang="ja-JP" dirty="0"/>
          </a:p>
          <a:p>
            <a:pPr lvl="1"/>
            <a:r>
              <a:rPr lang="ja-JP" altLang="en-US" dirty="0"/>
              <a:t>分岐先ターゲットが分岐自身のアドレスよりも小さい分岐のこと</a:t>
            </a:r>
            <a:endParaRPr lang="en-US" altLang="ja-JP" dirty="0"/>
          </a:p>
          <a:p>
            <a:pPr lvl="1"/>
            <a:r>
              <a:rPr lang="ja-JP" altLang="en-US" dirty="0"/>
              <a:t>後方に飛ぶ </a:t>
            </a:r>
            <a:r>
              <a:rPr lang="en-US" altLang="ja-JP" dirty="0"/>
              <a:t>= </a:t>
            </a:r>
            <a:r>
              <a:rPr lang="ja-JP" altLang="en-US" dirty="0"/>
              <a:t>ループを作る</a:t>
            </a:r>
            <a:endParaRPr lang="en-US" altLang="ja-JP" dirty="0"/>
          </a:p>
        </p:txBody>
      </p:sp>
      <p:sp>
        <p:nvSpPr>
          <p:cNvPr id="4" name="正方形/長方形 3"/>
          <p:cNvSpPr/>
          <p:nvPr/>
        </p:nvSpPr>
        <p:spPr bwMode="auto">
          <a:xfrm>
            <a:off x="8436026" y="4869017"/>
            <a:ext cx="1260014"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dirty="0">
                <a:solidFill>
                  <a:schemeClr val="bg1"/>
                </a:solidFill>
                <a:latin typeface="Arial Narrow" panose="020B0606020202030204" pitchFamily="34" charset="0"/>
              </a:rPr>
              <a:t>BACK:</a:t>
            </a:r>
          </a:p>
          <a:p>
            <a:pPr>
              <a:lnSpc>
                <a:spcPct val="80000"/>
              </a:lnSpc>
            </a:pPr>
            <a:r>
              <a:rPr lang="en-US" altLang="ja-JP" dirty="0">
                <a:solidFill>
                  <a:schemeClr val="bg1"/>
                </a:solidFill>
                <a:latin typeface="Arial Narrow" panose="020B0606020202030204" pitchFamily="34" charset="0"/>
              </a:rPr>
              <a:t>  ...</a:t>
            </a:r>
          </a:p>
          <a:p>
            <a:pPr>
              <a:lnSpc>
                <a:spcPct val="80000"/>
              </a:lnSpc>
            </a:pPr>
            <a:r>
              <a:rPr lang="en-US" altLang="ja-JP" dirty="0">
                <a:solidFill>
                  <a:schemeClr val="bg1"/>
                </a:solidFill>
                <a:latin typeface="Arial Narrow" panose="020B0606020202030204" pitchFamily="34" charset="0"/>
              </a:rPr>
              <a:t>  branch</a:t>
            </a:r>
          </a:p>
          <a:p>
            <a:pPr>
              <a:lnSpc>
                <a:spcPct val="80000"/>
              </a:lnSpc>
            </a:pPr>
            <a:r>
              <a:rPr lang="en-US" altLang="ja-JP" dirty="0">
                <a:solidFill>
                  <a:schemeClr val="bg1"/>
                </a:solidFill>
                <a:latin typeface="Arial Narrow" panose="020B0606020202030204" pitchFamily="34" charset="0"/>
              </a:rPr>
              <a:t>  ...</a:t>
            </a:r>
          </a:p>
          <a:p>
            <a:pPr>
              <a:lnSpc>
                <a:spcPct val="80000"/>
              </a:lnSpc>
            </a:pPr>
            <a:r>
              <a:rPr lang="en-US" altLang="ja-JP" dirty="0">
                <a:solidFill>
                  <a:schemeClr val="bg1"/>
                </a:solidFill>
                <a:latin typeface="Arial Narrow" panose="020B0606020202030204" pitchFamily="34" charset="0"/>
              </a:rPr>
              <a:t>FORWARD:</a:t>
            </a:r>
          </a:p>
        </p:txBody>
      </p:sp>
      <p:cxnSp>
        <p:nvCxnSpPr>
          <p:cNvPr id="6" name="直線矢印コネクタ 5"/>
          <p:cNvCxnSpPr/>
          <p:nvPr/>
        </p:nvCxnSpPr>
        <p:spPr bwMode="auto">
          <a:xfrm>
            <a:off x="8166023" y="4869017"/>
            <a:ext cx="0" cy="1710019"/>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028959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分岐予測</a:t>
            </a:r>
          </a:p>
        </p:txBody>
      </p:sp>
      <p:sp>
        <p:nvSpPr>
          <p:cNvPr id="3" name="テキスト プレースホルダー 2"/>
          <p:cNvSpPr>
            <a:spLocks noGrp="1"/>
          </p:cNvSpPr>
          <p:nvPr>
            <p:ph type="body" sz="quarter" idx="10"/>
          </p:nvPr>
        </p:nvSpPr>
        <p:spPr/>
        <p:txBody>
          <a:bodyPr/>
          <a:lstStyle/>
          <a:p>
            <a:r>
              <a:rPr kumimoji="1" lang="ja-JP" altLang="en-US" dirty="0"/>
              <a:t>分岐予測では，以下の３つを全て行う必要がある</a:t>
            </a:r>
            <a:endParaRPr kumimoji="1" lang="en-US" altLang="ja-JP" dirty="0"/>
          </a:p>
          <a:p>
            <a:pPr marL="817200" lvl="1" indent="-457200">
              <a:buFont typeface="+mj-lt"/>
              <a:buAutoNum type="arabicPeriod"/>
            </a:pPr>
            <a:r>
              <a:rPr kumimoji="1" lang="ja-JP" altLang="en-US" dirty="0"/>
              <a:t>分岐命令かどうか予測（分岐種別の予測）</a:t>
            </a:r>
            <a:endParaRPr kumimoji="1" lang="en-US" altLang="ja-JP" dirty="0"/>
          </a:p>
          <a:p>
            <a:pPr marL="817200" lvl="1" indent="-457200">
              <a:buFont typeface="+mj-lt"/>
              <a:buAutoNum type="arabicPeriod"/>
            </a:pPr>
            <a:r>
              <a:rPr kumimoji="1" lang="ja-JP" altLang="en-US" dirty="0"/>
              <a:t>分岐先ターゲット予測</a:t>
            </a:r>
            <a:endParaRPr kumimoji="1" lang="en-US" altLang="ja-JP" dirty="0"/>
          </a:p>
          <a:p>
            <a:pPr marL="817200" lvl="1" indent="-457200">
              <a:buFont typeface="+mj-lt"/>
              <a:buAutoNum type="arabicPeriod"/>
            </a:pPr>
            <a:r>
              <a:rPr kumimoji="1" lang="ja-JP" altLang="en-US" dirty="0"/>
              <a:t>分岐方向予測</a:t>
            </a:r>
            <a:endParaRPr kumimoji="1" lang="en-US" altLang="ja-JP" dirty="0"/>
          </a:p>
          <a:p>
            <a:r>
              <a:rPr lang="en-US" altLang="ja-JP" dirty="0"/>
              <a:t>if-then-else </a:t>
            </a:r>
            <a:r>
              <a:rPr lang="ja-JP" altLang="en-US" dirty="0"/>
              <a:t>の方向だけを予測していれば良いわけではない</a:t>
            </a:r>
            <a:endParaRPr kumimoji="1" lang="en-US" altLang="ja-JP" dirty="0"/>
          </a:p>
          <a:p>
            <a:r>
              <a:rPr kumimoji="1" lang="ja-JP" altLang="en-US" dirty="0"/>
              <a:t>（今は方向分岐のみを扱い，間接分岐は考えない</a:t>
            </a:r>
          </a:p>
        </p:txBody>
      </p:sp>
    </p:spTree>
    <p:extLst>
      <p:ext uri="{BB962C8B-B14F-4D97-AF65-F5344CB8AC3E}">
        <p14:creationId xmlns:p14="http://schemas.microsoft.com/office/powerpoint/2010/main" val="38975263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2888994"/>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2888994"/>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2888994"/>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2888994"/>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024451"/>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024451"/>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043035"/>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043035"/>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１．分岐</a:t>
            </a:r>
            <a:r>
              <a:rPr lang="ja-JP" altLang="en-US" dirty="0"/>
              <a:t>かどうか予測の必要性</a:t>
            </a:r>
            <a:endParaRPr kumimoji="1" lang="ja-JP" altLang="en-US" dirty="0"/>
          </a:p>
        </p:txBody>
      </p:sp>
      <p:sp>
        <p:nvSpPr>
          <p:cNvPr id="58" name="コンテンツ プレースホルダー 57"/>
          <p:cNvSpPr>
            <a:spLocks noGrp="1"/>
          </p:cNvSpPr>
          <p:nvPr>
            <p:ph type="body" sz="quarter" idx="10"/>
          </p:nvPr>
        </p:nvSpPr>
        <p:spPr>
          <a:xfrm>
            <a:off x="1775952" y="4689015"/>
            <a:ext cx="8820098" cy="1369161"/>
          </a:xfrm>
          <a:prstGeom prst="rect">
            <a:avLst/>
          </a:prstGeom>
        </p:spPr>
        <p:txBody>
          <a:bodyPr/>
          <a:lstStyle/>
          <a:p>
            <a:r>
              <a:rPr lang="ja-JP" altLang="en-US" dirty="0"/>
              <a:t>メモリから命令が取れるまでは，それが分岐かどうかはわからない</a:t>
            </a:r>
            <a:endParaRPr lang="en-US" altLang="ja-JP" dirty="0"/>
          </a:p>
          <a:p>
            <a:pPr lvl="1"/>
            <a:r>
              <a:rPr lang="ja-JP" altLang="en-US" dirty="0"/>
              <a:t>命令フェッチは複数段にパイプライン化されていることが多い</a:t>
            </a:r>
            <a:endParaRPr lang="en-US" altLang="ja-JP" dirty="0"/>
          </a:p>
          <a:p>
            <a:pPr lvl="1"/>
            <a:r>
              <a:rPr lang="ja-JP" altLang="en-US" dirty="0"/>
              <a:t>以降のターゲットや方向の予測をすべきかどうかが，わからない</a:t>
            </a:r>
            <a:endParaRPr lang="en-US" altLang="ja-JP" dirty="0"/>
          </a:p>
          <a:p>
            <a:r>
              <a:rPr lang="ja-JP" altLang="en-US" dirty="0"/>
              <a:t>一方パイプライン先頭では即座に次のアドレスを予測しないといけない</a:t>
            </a:r>
            <a:endParaRPr lang="en-US" altLang="ja-JP" dirty="0"/>
          </a:p>
          <a:p>
            <a:pPr lvl="1"/>
            <a:r>
              <a:rPr lang="ja-JP" altLang="en-US" dirty="0"/>
              <a:t>分岐かどうかわかるまでまっていては，バブルができる</a:t>
            </a:r>
            <a:endParaRPr lang="en-US" altLang="ja-JP" dirty="0"/>
          </a:p>
        </p:txBody>
      </p:sp>
      <p:cxnSp>
        <p:nvCxnSpPr>
          <p:cNvPr id="67" name="直線矢印コネクタ 66"/>
          <p:cNvCxnSpPr/>
          <p:nvPr/>
        </p:nvCxnSpPr>
        <p:spPr bwMode="auto">
          <a:xfrm>
            <a:off x="3125967" y="3699003"/>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5015988" y="270899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err="1">
                <a:latin typeface="Arial Narrow" panose="020B0606020202030204" pitchFamily="34" charset="0"/>
              </a:rPr>
              <a:t>bne</a:t>
            </a:r>
            <a:endParaRPr lang="ja-JP" altLang="en-US" dirty="0">
              <a:latin typeface="Arial Narrow" panose="020B0606020202030204" pitchFamily="34" charset="0"/>
            </a:endParaRPr>
          </a:p>
        </p:txBody>
      </p:sp>
      <p:sp>
        <p:nvSpPr>
          <p:cNvPr id="96" name="正方形/長方形 95"/>
          <p:cNvSpPr/>
          <p:nvPr/>
        </p:nvSpPr>
        <p:spPr bwMode="auto">
          <a:xfrm>
            <a:off x="1775952" y="2168987"/>
            <a:ext cx="1260014"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dirty="0">
                <a:solidFill>
                  <a:schemeClr val="bg1"/>
                </a:solidFill>
                <a:latin typeface="Arial Narrow" panose="020B0606020202030204" pitchFamily="34" charset="0"/>
              </a:rPr>
              <a:t>  </a:t>
            </a:r>
            <a:r>
              <a:rPr lang="en-US" altLang="ja-JP" dirty="0" err="1">
                <a:solidFill>
                  <a:schemeClr val="bg1"/>
                </a:solidFill>
                <a:latin typeface="Arial Narrow" panose="020B0606020202030204" pitchFamily="34" charset="0"/>
              </a:rPr>
              <a:t>bne</a:t>
            </a:r>
            <a:r>
              <a:rPr lang="en-US" altLang="ja-JP" dirty="0">
                <a:solidFill>
                  <a:schemeClr val="bg1"/>
                </a:solidFill>
                <a:latin typeface="Arial Narrow" panose="020B0606020202030204" pitchFamily="34" charset="0"/>
              </a:rPr>
              <a:t> x1,x2,L</a:t>
            </a:r>
          </a:p>
          <a:p>
            <a:pPr>
              <a:lnSpc>
                <a:spcPct val="80000"/>
              </a:lnSpc>
            </a:pPr>
            <a:r>
              <a:rPr lang="en-US" altLang="ja-JP" dirty="0">
                <a:solidFill>
                  <a:schemeClr val="bg1"/>
                </a:solidFill>
                <a:latin typeface="Arial Narrow" panose="020B0606020202030204" pitchFamily="34" charset="0"/>
              </a:rPr>
              <a:t>  add ...</a:t>
            </a:r>
          </a:p>
          <a:p>
            <a:pPr>
              <a:lnSpc>
                <a:spcPct val="80000"/>
              </a:lnSpc>
            </a:pPr>
            <a:r>
              <a:rPr lang="en-US" altLang="ja-JP" dirty="0">
                <a:solidFill>
                  <a:schemeClr val="bg1"/>
                </a:solidFill>
                <a:latin typeface="Arial Narrow" panose="020B0606020202030204" pitchFamily="34" charset="0"/>
              </a:rPr>
              <a:t>  ...</a:t>
            </a:r>
          </a:p>
          <a:p>
            <a:pPr>
              <a:lnSpc>
                <a:spcPct val="80000"/>
              </a:lnSpc>
            </a:pPr>
            <a:r>
              <a:rPr lang="en-US" altLang="ja-JP" dirty="0">
                <a:solidFill>
                  <a:schemeClr val="bg1"/>
                </a:solidFill>
                <a:latin typeface="Arial Narrow" panose="020B0606020202030204" pitchFamily="34" charset="0"/>
              </a:rPr>
              <a:t>L:</a:t>
            </a:r>
          </a:p>
          <a:p>
            <a:pPr>
              <a:lnSpc>
                <a:spcPct val="80000"/>
              </a:lnSpc>
            </a:pPr>
            <a:r>
              <a:rPr lang="en-US" altLang="ja-JP" dirty="0">
                <a:solidFill>
                  <a:schemeClr val="bg1"/>
                </a:solidFill>
                <a:latin typeface="Arial Narrow" panose="020B0606020202030204" pitchFamily="34" charset="0"/>
              </a:rPr>
              <a:t>  sub ...</a:t>
            </a:r>
            <a:endParaRPr lang="ja-JP" altLang="en-US" dirty="0">
              <a:solidFill>
                <a:schemeClr val="bg1"/>
              </a:solidFill>
              <a:latin typeface="Arial Narrow" panose="020B0606020202030204" pitchFamily="34" charset="0"/>
            </a:endParaRPr>
          </a:p>
        </p:txBody>
      </p:sp>
      <p:sp>
        <p:nvSpPr>
          <p:cNvPr id="97" name="正方形/長方形 96"/>
          <p:cNvSpPr/>
          <p:nvPr/>
        </p:nvSpPr>
        <p:spPr bwMode="auto">
          <a:xfrm>
            <a:off x="2045956" y="171898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24" name="角丸四角形 23"/>
          <p:cNvSpPr/>
          <p:nvPr/>
        </p:nvSpPr>
        <p:spPr bwMode="auto">
          <a:xfrm>
            <a:off x="3575972" y="270899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a:t>
            </a:r>
          </a:p>
        </p:txBody>
      </p:sp>
      <p:sp>
        <p:nvSpPr>
          <p:cNvPr id="4" name="角丸四角形吹き出し 3"/>
          <p:cNvSpPr/>
          <p:nvPr/>
        </p:nvSpPr>
        <p:spPr bwMode="auto">
          <a:xfrm>
            <a:off x="3395970" y="1088974"/>
            <a:ext cx="1890022" cy="612648"/>
          </a:xfrm>
          <a:prstGeom prst="wedgeRoundRectCallout">
            <a:avLst>
              <a:gd name="adj1" fmla="val -35668"/>
              <a:gd name="adj2" fmla="val 128501"/>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中身わからんし</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予測できない</a:t>
            </a:r>
            <a:r>
              <a:rPr lang="en-US" altLang="ja-JP" dirty="0">
                <a:solidFill>
                  <a:schemeClr val="tx1">
                    <a:lumMod val="65000"/>
                    <a:lumOff val="35000"/>
                  </a:schemeClr>
                </a:solidFill>
                <a:latin typeface="Arial Narrow" panose="020B0606020202030204" pitchFamily="34" charset="0"/>
              </a:rPr>
              <a:t>ZE</a:t>
            </a:r>
          </a:p>
        </p:txBody>
      </p:sp>
      <p:sp>
        <p:nvSpPr>
          <p:cNvPr id="30" name="角丸四角形吹き出し 29"/>
          <p:cNvSpPr/>
          <p:nvPr/>
        </p:nvSpPr>
        <p:spPr bwMode="auto">
          <a:xfrm>
            <a:off x="5375992" y="1088974"/>
            <a:ext cx="2160024" cy="612648"/>
          </a:xfrm>
          <a:prstGeom prst="wedgeRoundRectCallout">
            <a:avLst>
              <a:gd name="adj1" fmla="val -54056"/>
              <a:gd name="adj2" fmla="val 139384"/>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解析したところ</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これは分岐でした</a:t>
            </a:r>
            <a:endParaRPr lang="en-US" altLang="ja-JP" dirty="0">
              <a:solidFill>
                <a:schemeClr val="tx1">
                  <a:lumMod val="65000"/>
                  <a:lumOff val="35000"/>
                </a:schemeClr>
              </a:solidFill>
              <a:latin typeface="Arial Narrow" panose="020B0606020202030204" pitchFamily="34" charset="0"/>
            </a:endParaRPr>
          </a:p>
        </p:txBody>
      </p:sp>
    </p:spTree>
    <p:extLst>
      <p:ext uri="{BB962C8B-B14F-4D97-AF65-F5344CB8AC3E}">
        <p14:creationId xmlns:p14="http://schemas.microsoft.com/office/powerpoint/2010/main" val="2741269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2888994"/>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2888994"/>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2888994"/>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2888994"/>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024451"/>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024451"/>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043035"/>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043035"/>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２．分岐</a:t>
            </a:r>
            <a:r>
              <a:rPr lang="ja-JP" altLang="en-US" dirty="0"/>
              <a:t>先ターゲットの予測の必要性</a:t>
            </a:r>
            <a:endParaRPr kumimoji="1" lang="ja-JP" altLang="en-US" dirty="0"/>
          </a:p>
        </p:txBody>
      </p:sp>
      <p:sp>
        <p:nvSpPr>
          <p:cNvPr id="58" name="コンテンツ プレースホルダー 57"/>
          <p:cNvSpPr>
            <a:spLocks noGrp="1"/>
          </p:cNvSpPr>
          <p:nvPr>
            <p:ph type="body" sz="quarter" idx="10"/>
          </p:nvPr>
        </p:nvSpPr>
        <p:spPr>
          <a:xfrm>
            <a:off x="1235947" y="4689015"/>
            <a:ext cx="9090102" cy="1369161"/>
          </a:xfrm>
          <a:prstGeom prst="rect">
            <a:avLst/>
          </a:prstGeom>
        </p:spPr>
        <p:txBody>
          <a:bodyPr/>
          <a:lstStyle/>
          <a:p>
            <a:r>
              <a:rPr lang="ja-JP" altLang="en-US" dirty="0"/>
              <a:t>メモリから命令が取れるまでは，分岐成立時の飛び先の場所もわからない</a:t>
            </a:r>
            <a:endParaRPr lang="en-US" altLang="ja-JP" dirty="0"/>
          </a:p>
          <a:p>
            <a:pPr lvl="1"/>
            <a:r>
              <a:rPr lang="ja-JP" altLang="en-US" dirty="0"/>
              <a:t>いくつ先 </a:t>
            </a:r>
            <a:r>
              <a:rPr lang="en-US" altLang="ja-JP" dirty="0"/>
              <a:t>or </a:t>
            </a:r>
            <a:r>
              <a:rPr lang="ja-JP" altLang="en-US" dirty="0"/>
              <a:t>いくつ前に飛ぶのか？</a:t>
            </a:r>
            <a:endParaRPr lang="en-US" altLang="ja-JP" dirty="0"/>
          </a:p>
        </p:txBody>
      </p:sp>
      <p:cxnSp>
        <p:nvCxnSpPr>
          <p:cNvPr id="67" name="直線矢印コネクタ 66"/>
          <p:cNvCxnSpPr/>
          <p:nvPr/>
        </p:nvCxnSpPr>
        <p:spPr bwMode="auto">
          <a:xfrm>
            <a:off x="3125967" y="3699003"/>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5015988" y="270899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96" name="正方形/長方形 95"/>
          <p:cNvSpPr/>
          <p:nvPr/>
        </p:nvSpPr>
        <p:spPr bwMode="auto">
          <a:xfrm>
            <a:off x="1775952" y="2168987"/>
            <a:ext cx="1260014"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dirty="0">
                <a:solidFill>
                  <a:schemeClr val="bg1"/>
                </a:solidFill>
                <a:latin typeface="Arial Narrow" panose="020B0606020202030204" pitchFamily="34" charset="0"/>
              </a:rPr>
              <a:t>  </a:t>
            </a:r>
            <a:r>
              <a:rPr lang="en-US" altLang="ja-JP" dirty="0" err="1">
                <a:solidFill>
                  <a:schemeClr val="bg1"/>
                </a:solidFill>
                <a:latin typeface="Arial Narrow" panose="020B0606020202030204" pitchFamily="34" charset="0"/>
              </a:rPr>
              <a:t>bne</a:t>
            </a:r>
            <a:r>
              <a:rPr lang="en-US" altLang="ja-JP" dirty="0">
                <a:solidFill>
                  <a:schemeClr val="bg1"/>
                </a:solidFill>
                <a:latin typeface="Arial Narrow" panose="020B0606020202030204" pitchFamily="34" charset="0"/>
              </a:rPr>
              <a:t> x1,x2,</a:t>
            </a:r>
            <a:r>
              <a:rPr lang="en-US" altLang="ja-JP" b="1" dirty="0">
                <a:solidFill>
                  <a:srgbClr val="FF0000"/>
                </a:solidFill>
                <a:latin typeface="Arial Narrow" panose="020B0606020202030204" pitchFamily="34" charset="0"/>
              </a:rPr>
              <a:t>L</a:t>
            </a:r>
          </a:p>
          <a:p>
            <a:pPr>
              <a:lnSpc>
                <a:spcPct val="80000"/>
              </a:lnSpc>
            </a:pPr>
            <a:r>
              <a:rPr lang="en-US" altLang="ja-JP" dirty="0">
                <a:solidFill>
                  <a:schemeClr val="bg1"/>
                </a:solidFill>
                <a:latin typeface="Arial Narrow" panose="020B0606020202030204" pitchFamily="34" charset="0"/>
              </a:rPr>
              <a:t>  add ...</a:t>
            </a:r>
          </a:p>
          <a:p>
            <a:pPr>
              <a:lnSpc>
                <a:spcPct val="80000"/>
              </a:lnSpc>
            </a:pPr>
            <a:r>
              <a:rPr lang="en-US" altLang="ja-JP" dirty="0">
                <a:solidFill>
                  <a:schemeClr val="bg1"/>
                </a:solidFill>
                <a:latin typeface="Arial Narrow" panose="020B0606020202030204" pitchFamily="34" charset="0"/>
              </a:rPr>
              <a:t>  ...</a:t>
            </a:r>
          </a:p>
          <a:p>
            <a:pPr>
              <a:lnSpc>
                <a:spcPct val="80000"/>
              </a:lnSpc>
            </a:pPr>
            <a:r>
              <a:rPr lang="en-US" altLang="ja-JP" b="1" dirty="0">
                <a:solidFill>
                  <a:srgbClr val="FF0000"/>
                </a:solidFill>
                <a:latin typeface="Arial Narrow" panose="020B0606020202030204" pitchFamily="34" charset="0"/>
              </a:rPr>
              <a:t>L</a:t>
            </a:r>
            <a:r>
              <a:rPr lang="en-US" altLang="ja-JP" dirty="0">
                <a:solidFill>
                  <a:schemeClr val="bg1"/>
                </a:solidFill>
                <a:latin typeface="Arial Narrow" panose="020B0606020202030204" pitchFamily="34" charset="0"/>
              </a:rPr>
              <a:t>:</a:t>
            </a:r>
          </a:p>
          <a:p>
            <a:pPr>
              <a:lnSpc>
                <a:spcPct val="80000"/>
              </a:lnSpc>
            </a:pPr>
            <a:r>
              <a:rPr lang="en-US" altLang="ja-JP" dirty="0">
                <a:solidFill>
                  <a:schemeClr val="bg1"/>
                </a:solidFill>
                <a:latin typeface="Arial Narrow" panose="020B0606020202030204" pitchFamily="34" charset="0"/>
              </a:rPr>
              <a:t>  sub ...</a:t>
            </a:r>
            <a:endParaRPr lang="ja-JP" altLang="en-US" dirty="0">
              <a:solidFill>
                <a:schemeClr val="bg1"/>
              </a:solidFill>
              <a:latin typeface="Arial Narrow" panose="020B0606020202030204" pitchFamily="34" charset="0"/>
            </a:endParaRPr>
          </a:p>
        </p:txBody>
      </p:sp>
      <p:sp>
        <p:nvSpPr>
          <p:cNvPr id="97" name="正方形/長方形 96"/>
          <p:cNvSpPr/>
          <p:nvPr/>
        </p:nvSpPr>
        <p:spPr bwMode="auto">
          <a:xfrm>
            <a:off x="2045956" y="171898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24" name="角丸四角形 23"/>
          <p:cNvSpPr/>
          <p:nvPr/>
        </p:nvSpPr>
        <p:spPr bwMode="auto">
          <a:xfrm>
            <a:off x="3575972" y="270899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a:t>
            </a:r>
          </a:p>
        </p:txBody>
      </p:sp>
      <p:sp>
        <p:nvSpPr>
          <p:cNvPr id="4" name="角丸四角形吹き出し 3"/>
          <p:cNvSpPr/>
          <p:nvPr/>
        </p:nvSpPr>
        <p:spPr bwMode="auto">
          <a:xfrm>
            <a:off x="3575973" y="818972"/>
            <a:ext cx="2790031" cy="990012"/>
          </a:xfrm>
          <a:prstGeom prst="wedgeRoundRectCallout">
            <a:avLst>
              <a:gd name="adj1" fmla="val -44731"/>
              <a:gd name="adj2" fmla="val 89741"/>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成立する</a:t>
            </a:r>
            <a:r>
              <a:rPr lang="en-US" altLang="ja-JP" dirty="0">
                <a:solidFill>
                  <a:schemeClr val="tx1">
                    <a:lumMod val="65000"/>
                    <a:lumOff val="35000"/>
                  </a:schemeClr>
                </a:solidFill>
                <a:latin typeface="Arial Narrow" panose="020B0606020202030204" pitchFamily="34" charset="0"/>
              </a:rPr>
              <a:t>…</a:t>
            </a:r>
            <a:r>
              <a:rPr lang="ja-JP" altLang="en-US" dirty="0">
                <a:solidFill>
                  <a:schemeClr val="tx1">
                    <a:lumMod val="65000"/>
                    <a:lumOff val="35000"/>
                  </a:schemeClr>
                </a:solidFill>
                <a:latin typeface="Arial Narrow" panose="020B0606020202030204" pitchFamily="34" charset="0"/>
              </a:rPr>
              <a:t>！するが</a:t>
            </a:r>
            <a:r>
              <a:rPr lang="en-US" altLang="ja-JP" dirty="0">
                <a:solidFill>
                  <a:schemeClr val="tx1">
                    <a:lumMod val="65000"/>
                    <a:lumOff val="35000"/>
                  </a:schemeClr>
                </a:solidFill>
                <a:latin typeface="Arial Narrow" panose="020B0606020202030204" pitchFamily="34" charset="0"/>
              </a:rPr>
              <a:t>…</a:t>
            </a:r>
            <a:r>
              <a:rPr lang="ja-JP" altLang="en-US" dirty="0">
                <a:solidFill>
                  <a:schemeClr val="tx1">
                    <a:lumMod val="65000"/>
                    <a:lumOff val="35000"/>
                  </a:schemeClr>
                </a:solidFill>
                <a:latin typeface="Arial Narrow" panose="020B0606020202030204" pitchFamily="34" charset="0"/>
              </a:rPr>
              <a:t>！</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今回まだ飛び先の場所の</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指定まではしていない</a:t>
            </a:r>
            <a:r>
              <a:rPr lang="en-US" altLang="ja-JP" dirty="0">
                <a:solidFill>
                  <a:schemeClr val="tx1">
                    <a:lumMod val="65000"/>
                    <a:lumOff val="35000"/>
                  </a:schemeClr>
                </a:solidFill>
                <a:latin typeface="Arial Narrow" panose="020B0606020202030204" pitchFamily="34" charset="0"/>
              </a:rPr>
              <a:t>...</a:t>
            </a:r>
            <a:r>
              <a:rPr lang="ja-JP" altLang="en-US" dirty="0">
                <a:solidFill>
                  <a:schemeClr val="tx1">
                    <a:lumMod val="65000"/>
                    <a:lumOff val="35000"/>
                  </a:schemeClr>
                </a:solidFill>
                <a:latin typeface="Arial Narrow" panose="020B0606020202030204" pitchFamily="34" charset="0"/>
              </a:rPr>
              <a:t>！</a:t>
            </a:r>
            <a:endParaRPr lang="en-US" altLang="ja-JP" dirty="0">
              <a:solidFill>
                <a:schemeClr val="tx1">
                  <a:lumMod val="65000"/>
                  <a:lumOff val="35000"/>
                </a:schemeClr>
              </a:solidFill>
              <a:latin typeface="Arial Narrow" panose="020B0606020202030204" pitchFamily="34" charset="0"/>
            </a:endParaRPr>
          </a:p>
        </p:txBody>
      </p:sp>
      <p:sp>
        <p:nvSpPr>
          <p:cNvPr id="28" name="角丸四角形吹き出し 27"/>
          <p:cNvSpPr/>
          <p:nvPr/>
        </p:nvSpPr>
        <p:spPr bwMode="auto">
          <a:xfrm>
            <a:off x="8076021" y="818972"/>
            <a:ext cx="2250026" cy="1080011"/>
          </a:xfrm>
          <a:prstGeom prst="wedgeRoundRectCallout">
            <a:avLst>
              <a:gd name="adj1" fmla="val -44212"/>
              <a:gd name="adj2" fmla="val 966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いいから飛び先も</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予測しなされ</a:t>
            </a:r>
            <a:endParaRPr lang="en-US" altLang="ja-JP" dirty="0">
              <a:solidFill>
                <a:schemeClr val="tx1">
                  <a:lumMod val="65000"/>
                  <a:lumOff val="35000"/>
                </a:schemeClr>
              </a:solidFill>
              <a:latin typeface="Arial Narrow" panose="020B0606020202030204" pitchFamily="34" charset="0"/>
            </a:endParaRPr>
          </a:p>
        </p:txBody>
      </p:sp>
      <p:sp>
        <p:nvSpPr>
          <p:cNvPr id="29" name="正方形/長方形 28"/>
          <p:cNvSpPr/>
          <p:nvPr/>
        </p:nvSpPr>
        <p:spPr bwMode="auto">
          <a:xfrm>
            <a:off x="3665974" y="2168986"/>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400" dirty="0">
                <a:solidFill>
                  <a:schemeClr val="accent1"/>
                </a:solidFill>
              </a:rPr>
              <a:t>ﾜﾚﾜﾚｶﾞ</a:t>
            </a:r>
            <a:br>
              <a:rPr lang="en-US" altLang="ja-JP" sz="1400" dirty="0">
                <a:solidFill>
                  <a:schemeClr val="accent1"/>
                </a:solidFill>
              </a:rPr>
            </a:br>
            <a:r>
              <a:rPr lang="ja-JP" altLang="en-US" sz="1400" dirty="0">
                <a:solidFill>
                  <a:schemeClr val="accent1"/>
                </a:solidFill>
              </a:rPr>
              <a:t>ｿﾉｷﾆﾅﾚﾊﾞ</a:t>
            </a:r>
          </a:p>
        </p:txBody>
      </p:sp>
    </p:spTree>
    <p:extLst>
      <p:ext uri="{BB962C8B-B14F-4D97-AF65-F5344CB8AC3E}">
        <p14:creationId xmlns:p14="http://schemas.microsoft.com/office/powerpoint/2010/main" val="2880209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BTB</a:t>
            </a:r>
            <a:r>
              <a:rPr lang="ja-JP" altLang="en-US" dirty="0"/>
              <a:t>（</a:t>
            </a:r>
            <a:r>
              <a:rPr lang="en-US" altLang="ja-JP" dirty="0"/>
              <a:t>Branch Target Buffer</a:t>
            </a:r>
            <a:r>
              <a:rPr lang="ja-JP" altLang="en-US" dirty="0"/>
              <a:t>）による予測</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dirty="0"/>
              <a:t>BTB </a:t>
            </a:r>
            <a:r>
              <a:rPr lang="ja-JP" altLang="en-US" dirty="0"/>
              <a:t>と呼ぶ表を使って以下を予測</a:t>
            </a:r>
            <a:endParaRPr lang="en-US" altLang="ja-JP" dirty="0"/>
          </a:p>
          <a:p>
            <a:pPr marL="817200" lvl="1" indent="-457200">
              <a:buFont typeface="+mj-lt"/>
              <a:buAutoNum type="arabicPeriod"/>
            </a:pPr>
            <a:r>
              <a:rPr lang="ja-JP" altLang="en-US" dirty="0"/>
              <a:t>分岐命令かどうか予測</a:t>
            </a:r>
            <a:endParaRPr lang="en-US" altLang="ja-JP" dirty="0"/>
          </a:p>
          <a:p>
            <a:pPr marL="817200" lvl="1" indent="-457200">
              <a:buFont typeface="+mj-lt"/>
              <a:buAutoNum type="arabicPeriod"/>
            </a:pPr>
            <a:r>
              <a:rPr lang="ja-JP" altLang="en-US" dirty="0"/>
              <a:t>分岐先ターゲット予測</a:t>
            </a:r>
            <a:endParaRPr lang="en-US" altLang="ja-JP" dirty="0"/>
          </a:p>
          <a:p>
            <a:r>
              <a:rPr kumimoji="1" lang="en-US" altLang="ja-JP" dirty="0"/>
              <a:t>BTB</a:t>
            </a:r>
          </a:p>
          <a:p>
            <a:pPr lvl="1"/>
            <a:r>
              <a:rPr kumimoji="1" lang="ja-JP" altLang="en-US" dirty="0"/>
              <a:t>入力：</a:t>
            </a:r>
            <a:r>
              <a:rPr kumimoji="1" lang="en-US" altLang="ja-JP" dirty="0"/>
              <a:t>PC</a:t>
            </a:r>
          </a:p>
          <a:p>
            <a:pPr lvl="1"/>
            <a:r>
              <a:rPr kumimoji="1" lang="ja-JP" altLang="en-US" dirty="0"/>
              <a:t>出力：</a:t>
            </a:r>
            <a:endParaRPr kumimoji="1" lang="en-US" altLang="ja-JP" dirty="0"/>
          </a:p>
          <a:p>
            <a:pPr lvl="2"/>
            <a:r>
              <a:rPr lang="en-US" altLang="ja-JP" dirty="0"/>
              <a:t>hit or miss</a:t>
            </a:r>
          </a:p>
          <a:p>
            <a:pPr lvl="2"/>
            <a:r>
              <a:rPr kumimoji="1" lang="ja-JP" altLang="en-US" dirty="0"/>
              <a:t>ターゲットのアドレス</a:t>
            </a:r>
            <a:endParaRPr kumimoji="1" lang="en-US" altLang="ja-JP" dirty="0"/>
          </a:p>
          <a:p>
            <a:r>
              <a:rPr kumimoji="1" lang="ja-JP" altLang="en-US" dirty="0"/>
              <a:t>分岐命令の実行時に，この表にターゲットを登録しておく</a:t>
            </a:r>
            <a:endParaRPr kumimoji="1" lang="en-US" altLang="ja-JP" dirty="0"/>
          </a:p>
          <a:p>
            <a:pPr lvl="1"/>
            <a:r>
              <a:rPr kumimoji="1" lang="ja-JP" altLang="en-US" dirty="0"/>
              <a:t>次回からは，表をひくとターゲットがとれる</a:t>
            </a:r>
          </a:p>
        </p:txBody>
      </p:sp>
    </p:spTree>
    <p:extLst>
      <p:ext uri="{BB962C8B-B14F-4D97-AF65-F5344CB8AC3E}">
        <p14:creationId xmlns:p14="http://schemas.microsoft.com/office/powerpoint/2010/main" val="30360336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BTB</a:t>
            </a:r>
            <a:r>
              <a:rPr kumimoji="1" lang="ja-JP" altLang="en-US" dirty="0"/>
              <a:t>（</a:t>
            </a:r>
            <a:r>
              <a:rPr kumimoji="1" lang="en-US" altLang="ja-JP" dirty="0"/>
              <a:t>Branch Target Buffer</a:t>
            </a:r>
            <a:r>
              <a:rPr kumimoji="1" lang="ja-JP" altLang="en-US" dirty="0"/>
              <a:t>）による予測</a:t>
            </a:r>
          </a:p>
        </p:txBody>
      </p:sp>
      <p:sp>
        <p:nvSpPr>
          <p:cNvPr id="3" name="テキスト プレースホルダー 2"/>
          <p:cNvSpPr>
            <a:spLocks noGrp="1"/>
          </p:cNvSpPr>
          <p:nvPr>
            <p:ph type="body" sz="quarter" idx="10"/>
          </p:nvPr>
        </p:nvSpPr>
        <p:spPr>
          <a:xfrm>
            <a:off x="2135956" y="5949029"/>
            <a:ext cx="8280092" cy="359697"/>
          </a:xfrm>
        </p:spPr>
        <p:txBody>
          <a:bodyPr/>
          <a:lstStyle/>
          <a:p>
            <a:r>
              <a:rPr kumimoji="1" lang="ja-JP" altLang="en-US" dirty="0"/>
              <a:t>分岐かどうかと，分岐先ターゲットを同時に予測</a:t>
            </a:r>
          </a:p>
        </p:txBody>
      </p:sp>
      <p:sp>
        <p:nvSpPr>
          <p:cNvPr id="5" name="Rectangle 13"/>
          <p:cNvSpPr>
            <a:spLocks noChangeArrowheads="1"/>
          </p:cNvSpPr>
          <p:nvPr/>
        </p:nvSpPr>
        <p:spPr bwMode="auto">
          <a:xfrm>
            <a:off x="3935106" y="1267286"/>
            <a:ext cx="720725"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6" name="Rectangle 89"/>
          <p:cNvSpPr>
            <a:spLocks noChangeArrowheads="1"/>
          </p:cNvSpPr>
          <p:nvPr/>
        </p:nvSpPr>
        <p:spPr bwMode="auto">
          <a:xfrm>
            <a:off x="2495243" y="1267286"/>
            <a:ext cx="1439863"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7" name="Rectangle 128"/>
          <p:cNvSpPr>
            <a:spLocks noChangeArrowheads="1"/>
          </p:cNvSpPr>
          <p:nvPr/>
        </p:nvSpPr>
        <p:spPr bwMode="auto">
          <a:xfrm>
            <a:off x="2495243" y="908512"/>
            <a:ext cx="2339975"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PC</a:t>
            </a:r>
          </a:p>
        </p:txBody>
      </p:sp>
      <p:sp>
        <p:nvSpPr>
          <p:cNvPr id="8" name="Rectangle 154"/>
          <p:cNvSpPr>
            <a:spLocks noChangeArrowheads="1"/>
          </p:cNvSpPr>
          <p:nvPr/>
        </p:nvSpPr>
        <p:spPr bwMode="auto">
          <a:xfrm>
            <a:off x="5736917" y="1268873"/>
            <a:ext cx="3779838" cy="2160588"/>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9" name="Freeform 157"/>
          <p:cNvSpPr>
            <a:spLocks/>
          </p:cNvSpPr>
          <p:nvPr/>
        </p:nvSpPr>
        <p:spPr bwMode="auto">
          <a:xfrm>
            <a:off x="5376555" y="1268873"/>
            <a:ext cx="315912" cy="2160588"/>
          </a:xfrm>
          <a:custGeom>
            <a:avLst/>
            <a:gdLst/>
            <a:ahLst/>
            <a:cxnLst>
              <a:cxn ang="0">
                <a:pos x="170" y="0"/>
              </a:cxn>
              <a:cxn ang="0">
                <a:pos x="170" y="1361"/>
              </a:cxn>
              <a:cxn ang="0">
                <a:pos x="0" y="680"/>
              </a:cxn>
              <a:cxn ang="0">
                <a:pos x="170" y="0"/>
              </a:cxn>
            </a:cxnLst>
            <a:rect l="0" t="0" r="r" b="b"/>
            <a:pathLst>
              <a:path w="170" h="1361">
                <a:moveTo>
                  <a:pt x="170" y="0"/>
                </a:moveTo>
                <a:lnTo>
                  <a:pt x="170" y="1361"/>
                </a:lnTo>
                <a:lnTo>
                  <a:pt x="0" y="680"/>
                </a:lnTo>
                <a:lnTo>
                  <a:pt x="170" y="0"/>
                </a:lnTo>
                <a:close/>
              </a:path>
            </a:pathLst>
          </a:custGeom>
          <a:solidFill>
            <a:srgbClr val="FFFFFF"/>
          </a:solidFill>
          <a:ln w="19050" cap="flat" cmpd="sng">
            <a:solidFill>
              <a:schemeClr val="tx1">
                <a:lumMod val="75000"/>
                <a:lumOff val="25000"/>
              </a:schemeClr>
            </a:solidFill>
            <a:prstDash val="solid"/>
            <a:round/>
            <a:headEnd/>
            <a:tailEn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cxnSp>
        <p:nvCxnSpPr>
          <p:cNvPr id="10" name="AutoShape 194"/>
          <p:cNvCxnSpPr>
            <a:cxnSpLocks noChangeShapeType="1"/>
            <a:endCxn id="5" idx="2"/>
          </p:cNvCxnSpPr>
          <p:nvPr/>
        </p:nvCxnSpPr>
        <p:spPr bwMode="auto">
          <a:xfrm flipV="1">
            <a:off x="4295467" y="1627649"/>
            <a:ext cx="0" cy="720725"/>
          </a:xfrm>
          <a:prstGeom prst="straightConnector1">
            <a:avLst/>
          </a:prstGeom>
          <a:ln>
            <a:solidFill>
              <a:schemeClr val="tx1">
                <a:lumMod val="75000"/>
                <a:lumOff val="25000"/>
              </a:schemeClr>
            </a:solidFill>
            <a:headEnd/>
            <a:tailEnd/>
          </a:ln>
        </p:spPr>
        <p:style>
          <a:lnRef idx="3">
            <a:schemeClr val="dk1"/>
          </a:lnRef>
          <a:fillRef idx="0">
            <a:schemeClr val="dk1"/>
          </a:fillRef>
          <a:effectRef idx="2">
            <a:schemeClr val="dk1"/>
          </a:effectRef>
          <a:fontRef idx="minor">
            <a:schemeClr val="tx1"/>
          </a:fontRef>
        </p:style>
      </p:cxnSp>
      <p:sp>
        <p:nvSpPr>
          <p:cNvPr id="11" name="Line 70"/>
          <p:cNvSpPr>
            <a:spLocks noChangeShapeType="1"/>
          </p:cNvSpPr>
          <p:nvPr/>
        </p:nvSpPr>
        <p:spPr bwMode="auto">
          <a:xfrm>
            <a:off x="4295980" y="2348988"/>
            <a:ext cx="1079500" cy="0"/>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12" name="Line 97"/>
          <p:cNvSpPr>
            <a:spLocks noChangeShapeType="1"/>
          </p:cNvSpPr>
          <p:nvPr/>
        </p:nvSpPr>
        <p:spPr bwMode="auto">
          <a:xfrm flipV="1">
            <a:off x="3143838" y="4327527"/>
            <a:ext cx="1619250" cy="1587"/>
          </a:xfrm>
          <a:prstGeom prst="line">
            <a:avLst/>
          </a:prstGeom>
          <a:noFill/>
          <a:ln w="38100">
            <a:solidFill>
              <a:schemeClr val="tx1">
                <a:lumMod val="75000"/>
                <a:lumOff val="25000"/>
              </a:schemeClr>
            </a:solidFill>
            <a:round/>
            <a:headEnd type="none" w="med" len="med"/>
            <a:tailEnd type="triangle" w="med" len="me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cxnSp>
        <p:nvCxnSpPr>
          <p:cNvPr id="14" name="AutoShape 164"/>
          <p:cNvCxnSpPr>
            <a:cxnSpLocks noChangeShapeType="1"/>
          </p:cNvCxnSpPr>
          <p:nvPr/>
        </p:nvCxnSpPr>
        <p:spPr bwMode="auto">
          <a:xfrm rot="5400000">
            <a:off x="5340060" y="3195747"/>
            <a:ext cx="901700" cy="1368000"/>
          </a:xfrm>
          <a:prstGeom prst="bentConnector2">
            <a:avLst/>
          </a:prstGeom>
          <a:ln>
            <a:solidFill>
              <a:schemeClr val="tx1">
                <a:lumMod val="75000"/>
                <a:lumOff val="25000"/>
              </a:schemeClr>
            </a:solidFill>
            <a:headEnd/>
            <a:tailEnd type="triangle" w="med" len="med"/>
          </a:ln>
        </p:spPr>
        <p:style>
          <a:lnRef idx="3">
            <a:schemeClr val="dk1"/>
          </a:lnRef>
          <a:fillRef idx="0">
            <a:schemeClr val="dk1"/>
          </a:fillRef>
          <a:effectRef idx="2">
            <a:schemeClr val="dk1"/>
          </a:effectRef>
          <a:fontRef idx="minor">
            <a:schemeClr val="tx1"/>
          </a:fontRef>
        </p:style>
      </p:cxnSp>
      <p:cxnSp>
        <p:nvCxnSpPr>
          <p:cNvPr id="15" name="AutoShape 192"/>
          <p:cNvCxnSpPr>
            <a:cxnSpLocks noChangeShapeType="1"/>
          </p:cNvCxnSpPr>
          <p:nvPr/>
        </p:nvCxnSpPr>
        <p:spPr bwMode="auto">
          <a:xfrm>
            <a:off x="3143838" y="1627188"/>
            <a:ext cx="0" cy="2700338"/>
          </a:xfrm>
          <a:prstGeom prst="straightConnector1">
            <a:avLst/>
          </a:prstGeom>
          <a:ln>
            <a:solidFill>
              <a:schemeClr val="tx1">
                <a:lumMod val="75000"/>
                <a:lumOff val="25000"/>
              </a:schemeClr>
            </a:solidFill>
            <a:headEnd/>
            <a:tailEnd/>
          </a:ln>
        </p:spPr>
        <p:style>
          <a:lnRef idx="3">
            <a:schemeClr val="dk1"/>
          </a:lnRef>
          <a:fillRef idx="0">
            <a:schemeClr val="dk1"/>
          </a:fillRef>
          <a:effectRef idx="2">
            <a:schemeClr val="dk1"/>
          </a:effectRef>
          <a:fontRef idx="minor">
            <a:schemeClr val="tx1"/>
          </a:fontRef>
        </p:style>
      </p:cxnSp>
      <p:sp>
        <p:nvSpPr>
          <p:cNvPr id="17" name="Rectangle 195"/>
          <p:cNvSpPr>
            <a:spLocks noChangeArrowheads="1"/>
          </p:cNvSpPr>
          <p:nvPr/>
        </p:nvSpPr>
        <p:spPr bwMode="auto">
          <a:xfrm>
            <a:off x="5735177" y="2168987"/>
            <a:ext cx="1439862"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grpSp>
        <p:nvGrpSpPr>
          <p:cNvPr id="32" name="グループ化 31"/>
          <p:cNvGrpSpPr/>
          <p:nvPr/>
        </p:nvGrpSpPr>
        <p:grpSpPr>
          <a:xfrm>
            <a:off x="4745985" y="4149009"/>
            <a:ext cx="360362" cy="360363"/>
            <a:chOff x="2861981" y="4689014"/>
            <a:chExt cx="360362" cy="360363"/>
          </a:xfrm>
        </p:grpSpPr>
        <p:sp>
          <p:nvSpPr>
            <p:cNvPr id="29" name="Oval 93"/>
            <p:cNvSpPr>
              <a:spLocks noChangeArrowheads="1"/>
            </p:cNvSpPr>
            <p:nvPr/>
          </p:nvSpPr>
          <p:spPr bwMode="auto">
            <a:xfrm>
              <a:off x="2861981" y="4689014"/>
              <a:ext cx="360362" cy="360363"/>
            </a:xfrm>
            <a:prstGeom prst="ellipse">
              <a:avLst/>
            </a:prstGeom>
            <a:solidFill>
              <a:srgbClr val="FFFFFF"/>
            </a:solidFill>
            <a:ln w="19050">
              <a:solidFill>
                <a:schemeClr val="tx1">
                  <a:lumMod val="75000"/>
                  <a:lumOff val="25000"/>
                </a:schemeClr>
              </a:solidFill>
              <a:round/>
              <a:headEnd/>
              <a:tailEnd/>
            </a:ln>
            <a:effectLst/>
          </p:spPr>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30" name="Line 120"/>
            <p:cNvSpPr>
              <a:spLocks noChangeShapeType="1"/>
            </p:cNvSpPr>
            <p:nvPr/>
          </p:nvSpPr>
          <p:spPr bwMode="auto">
            <a:xfrm>
              <a:off x="2950881" y="4827127"/>
              <a:ext cx="179387" cy="0"/>
            </a:xfrm>
            <a:prstGeom prst="line">
              <a:avLst/>
            </a:prstGeom>
            <a:noFill/>
            <a:ln w="19050">
              <a:solidFill>
                <a:schemeClr val="tx1">
                  <a:lumMod val="75000"/>
                  <a:lumOff val="25000"/>
                </a:schemeClr>
              </a:solidFill>
              <a:round/>
              <a:headEnd/>
              <a:tailEn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31" name="Line 121"/>
            <p:cNvSpPr>
              <a:spLocks noChangeShapeType="1"/>
            </p:cNvSpPr>
            <p:nvPr/>
          </p:nvSpPr>
          <p:spPr bwMode="auto">
            <a:xfrm>
              <a:off x="2950881" y="4917614"/>
              <a:ext cx="179387" cy="0"/>
            </a:xfrm>
            <a:prstGeom prst="line">
              <a:avLst/>
            </a:prstGeom>
            <a:noFill/>
            <a:ln w="19050">
              <a:solidFill>
                <a:schemeClr val="tx1">
                  <a:lumMod val="75000"/>
                  <a:lumOff val="25000"/>
                </a:schemeClr>
              </a:solidFill>
              <a:round/>
              <a:headEnd/>
              <a:tailEn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grpSp>
      <p:sp>
        <p:nvSpPr>
          <p:cNvPr id="33" name="Rectangle 154"/>
          <p:cNvSpPr>
            <a:spLocks noChangeArrowheads="1"/>
          </p:cNvSpPr>
          <p:nvPr/>
        </p:nvSpPr>
        <p:spPr bwMode="auto">
          <a:xfrm>
            <a:off x="5735996" y="1268976"/>
            <a:ext cx="1440016" cy="2160588"/>
          </a:xfrm>
          <a:prstGeom prst="rect">
            <a:avLst/>
          </a:prstGeom>
          <a:noFill/>
          <a:ln w="6350">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34" name="Rectangle 195"/>
          <p:cNvSpPr>
            <a:spLocks noChangeArrowheads="1"/>
          </p:cNvSpPr>
          <p:nvPr/>
        </p:nvSpPr>
        <p:spPr bwMode="auto">
          <a:xfrm>
            <a:off x="7176012" y="2168987"/>
            <a:ext cx="2340026" cy="36036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35" name="Line 70"/>
          <p:cNvSpPr>
            <a:spLocks noChangeShapeType="1"/>
          </p:cNvSpPr>
          <p:nvPr/>
        </p:nvSpPr>
        <p:spPr bwMode="auto">
          <a:xfrm flipH="1">
            <a:off x="8256025" y="3428897"/>
            <a:ext cx="921" cy="1530121"/>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38" name="Line 70"/>
          <p:cNvSpPr>
            <a:spLocks noChangeShapeType="1"/>
          </p:cNvSpPr>
          <p:nvPr/>
        </p:nvSpPr>
        <p:spPr bwMode="auto">
          <a:xfrm>
            <a:off x="4926908" y="4508910"/>
            <a:ext cx="0" cy="450005"/>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lt"/>
              <a:ea typeface="MeiryoKe_PGothic" pitchFamily="50" charset="-128"/>
            </a:endParaRPr>
          </a:p>
        </p:txBody>
      </p:sp>
      <p:sp>
        <p:nvSpPr>
          <p:cNvPr id="39" name="Rectangle 132"/>
          <p:cNvSpPr>
            <a:spLocks noChangeArrowheads="1"/>
          </p:cNvSpPr>
          <p:nvPr/>
        </p:nvSpPr>
        <p:spPr bwMode="auto">
          <a:xfrm>
            <a:off x="7176933" y="2168884"/>
            <a:ext cx="2340026" cy="35877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taken PC</a:t>
            </a:r>
          </a:p>
        </p:txBody>
      </p:sp>
      <p:sp>
        <p:nvSpPr>
          <p:cNvPr id="40" name="Rectangle 133"/>
          <p:cNvSpPr>
            <a:spLocks noChangeArrowheads="1"/>
          </p:cNvSpPr>
          <p:nvPr/>
        </p:nvSpPr>
        <p:spPr bwMode="auto">
          <a:xfrm>
            <a:off x="5737122" y="2168884"/>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tag</a:t>
            </a:r>
          </a:p>
        </p:txBody>
      </p:sp>
      <p:sp>
        <p:nvSpPr>
          <p:cNvPr id="41" name="Rectangle 133"/>
          <p:cNvSpPr>
            <a:spLocks noChangeArrowheads="1"/>
          </p:cNvSpPr>
          <p:nvPr/>
        </p:nvSpPr>
        <p:spPr bwMode="auto">
          <a:xfrm>
            <a:off x="4116899" y="4958915"/>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hit or miss</a:t>
            </a:r>
          </a:p>
        </p:txBody>
      </p:sp>
      <p:sp>
        <p:nvSpPr>
          <p:cNvPr id="42" name="Rectangle 133"/>
          <p:cNvSpPr>
            <a:spLocks noChangeArrowheads="1"/>
          </p:cNvSpPr>
          <p:nvPr/>
        </p:nvSpPr>
        <p:spPr bwMode="auto">
          <a:xfrm>
            <a:off x="7536016" y="4959018"/>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taken PC</a:t>
            </a:r>
          </a:p>
        </p:txBody>
      </p:sp>
      <p:sp>
        <p:nvSpPr>
          <p:cNvPr id="43" name="Rectangle 133"/>
          <p:cNvSpPr>
            <a:spLocks noChangeArrowheads="1"/>
          </p:cNvSpPr>
          <p:nvPr/>
        </p:nvSpPr>
        <p:spPr bwMode="auto">
          <a:xfrm>
            <a:off x="6816929" y="908870"/>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BTB</a:t>
            </a:r>
          </a:p>
        </p:txBody>
      </p:sp>
    </p:spTree>
    <p:extLst>
      <p:ext uri="{BB962C8B-B14F-4D97-AF65-F5344CB8AC3E}">
        <p14:creationId xmlns:p14="http://schemas.microsoft.com/office/powerpoint/2010/main" val="32641683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BTB </a:t>
            </a:r>
            <a:r>
              <a:rPr kumimoji="1" lang="ja-JP" altLang="en-US" dirty="0"/>
              <a:t>による予測（分岐命令の場合）</a:t>
            </a:r>
          </a:p>
        </p:txBody>
      </p:sp>
      <p:sp>
        <p:nvSpPr>
          <p:cNvPr id="3" name="テキスト プレースホルダー 2"/>
          <p:cNvSpPr>
            <a:spLocks noGrp="1"/>
          </p:cNvSpPr>
          <p:nvPr>
            <p:ph type="body" sz="quarter" idx="10"/>
          </p:nvPr>
        </p:nvSpPr>
        <p:spPr>
          <a:xfrm>
            <a:off x="1685951" y="5679026"/>
            <a:ext cx="8280092" cy="359697"/>
          </a:xfrm>
        </p:spPr>
        <p:txBody>
          <a:bodyPr/>
          <a:lstStyle/>
          <a:p>
            <a:r>
              <a:rPr kumimoji="1" lang="en-US" altLang="ja-JP" dirty="0"/>
              <a:t>0x4008 </a:t>
            </a:r>
            <a:r>
              <a:rPr kumimoji="1" lang="ja-JP" altLang="en-US" dirty="0"/>
              <a:t>にある </a:t>
            </a:r>
            <a:r>
              <a:rPr kumimoji="1" lang="en-US" altLang="ja-JP" dirty="0" err="1"/>
              <a:t>bne</a:t>
            </a:r>
            <a:r>
              <a:rPr kumimoji="1" lang="en-US" altLang="ja-JP" dirty="0"/>
              <a:t> </a:t>
            </a:r>
            <a:r>
              <a:rPr kumimoji="1" lang="ja-JP" altLang="en-US" dirty="0"/>
              <a:t>をフェッチした場合，</a:t>
            </a:r>
            <a:endParaRPr kumimoji="1" lang="en-US" altLang="ja-JP" dirty="0"/>
          </a:p>
          <a:p>
            <a:pPr marL="817200" lvl="1" indent="-457200">
              <a:buFont typeface="+mj-lt"/>
              <a:buAutoNum type="arabicPeriod"/>
            </a:pPr>
            <a:r>
              <a:rPr kumimoji="1" lang="en-US" altLang="ja-JP" dirty="0"/>
              <a:t>0x4008 </a:t>
            </a:r>
            <a:r>
              <a:rPr kumimoji="1" lang="ja-JP" altLang="en-US" dirty="0"/>
              <a:t>の下位の </a:t>
            </a:r>
            <a:r>
              <a:rPr kumimoji="1" lang="en-US" altLang="ja-JP" dirty="0"/>
              <a:t>8 </a:t>
            </a:r>
            <a:r>
              <a:rPr kumimoji="1" lang="ja-JP" altLang="en-US" dirty="0"/>
              <a:t>を取り出し，</a:t>
            </a:r>
            <a:r>
              <a:rPr kumimoji="1" lang="en-US" altLang="ja-JP" dirty="0"/>
              <a:t>BTB </a:t>
            </a:r>
            <a:r>
              <a:rPr kumimoji="1" lang="ja-JP" altLang="en-US" dirty="0"/>
              <a:t>の８番エントリにアクセス</a:t>
            </a:r>
            <a:endParaRPr kumimoji="1" lang="en-US" altLang="ja-JP" dirty="0"/>
          </a:p>
          <a:p>
            <a:pPr marL="817200" lvl="1" indent="-457200">
              <a:buFont typeface="+mj-lt"/>
              <a:buAutoNum type="arabicPeriod"/>
            </a:pPr>
            <a:r>
              <a:rPr kumimoji="1" lang="ja-JP" altLang="en-US" dirty="0"/>
              <a:t>得られた </a:t>
            </a:r>
            <a:r>
              <a:rPr kumimoji="1" lang="en-US" altLang="ja-JP" dirty="0"/>
              <a:t>tag </a:t>
            </a:r>
            <a:r>
              <a:rPr kumimoji="1" lang="ja-JP" altLang="en-US" dirty="0"/>
              <a:t>と </a:t>
            </a:r>
            <a:r>
              <a:rPr kumimoji="1" lang="en-US" altLang="ja-JP" dirty="0"/>
              <a:t>PC </a:t>
            </a:r>
            <a:r>
              <a:rPr kumimoji="1" lang="ja-JP" altLang="en-US" dirty="0"/>
              <a:t>の上位の </a:t>
            </a:r>
            <a:r>
              <a:rPr kumimoji="1" lang="en-US" altLang="ja-JP" dirty="0"/>
              <a:t>0x400 </a:t>
            </a:r>
            <a:r>
              <a:rPr kumimoji="1" lang="ja-JP" altLang="en-US" dirty="0"/>
              <a:t>が一致したのでヒット</a:t>
            </a:r>
            <a:endParaRPr kumimoji="1" lang="en-US" altLang="ja-JP" dirty="0"/>
          </a:p>
          <a:p>
            <a:pPr marL="817200" lvl="1" indent="-457200">
              <a:buFont typeface="+mj-lt"/>
              <a:buAutoNum type="arabicPeriod"/>
            </a:pPr>
            <a:r>
              <a:rPr kumimoji="1" lang="en-US" altLang="ja-JP" dirty="0"/>
              <a:t>0x4008 </a:t>
            </a:r>
            <a:r>
              <a:rPr kumimoji="1" lang="ja-JP" altLang="en-US" dirty="0"/>
              <a:t>は分岐命令で，そのターゲットは </a:t>
            </a:r>
            <a:r>
              <a:rPr kumimoji="1" lang="en-US" altLang="ja-JP" dirty="0"/>
              <a:t>0x4180 </a:t>
            </a:r>
            <a:r>
              <a:rPr kumimoji="1" lang="ja-JP" altLang="en-US" dirty="0"/>
              <a:t>と予測</a:t>
            </a:r>
          </a:p>
        </p:txBody>
      </p:sp>
      <p:sp>
        <p:nvSpPr>
          <p:cNvPr id="5" name="Rectangle 13"/>
          <p:cNvSpPr>
            <a:spLocks noChangeArrowheads="1"/>
          </p:cNvSpPr>
          <p:nvPr/>
        </p:nvSpPr>
        <p:spPr bwMode="auto">
          <a:xfrm>
            <a:off x="4835834" y="1358977"/>
            <a:ext cx="720725"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3">
                    <a:lumMod val="75000"/>
                  </a:schemeClr>
                </a:solidFill>
                <a:latin typeface="Segoe UI" panose="020B0502040204020203" pitchFamily="34" charset="0"/>
                <a:ea typeface="MeiryoKe_PGothic" pitchFamily="50" charset="-128"/>
              </a:rPr>
              <a:t>8</a:t>
            </a:r>
            <a:endParaRPr lang="ja-JP" altLang="en-US" b="1" dirty="0">
              <a:solidFill>
                <a:schemeClr val="accent3">
                  <a:lumMod val="75000"/>
                </a:schemeClr>
              </a:solidFill>
              <a:latin typeface="Segoe UI" panose="020B0502040204020203" pitchFamily="34" charset="0"/>
              <a:ea typeface="MeiryoKe_PGothic" pitchFamily="50" charset="-128"/>
            </a:endParaRPr>
          </a:p>
        </p:txBody>
      </p:sp>
      <p:sp>
        <p:nvSpPr>
          <p:cNvPr id="6" name="Rectangle 89"/>
          <p:cNvSpPr>
            <a:spLocks noChangeArrowheads="1"/>
          </p:cNvSpPr>
          <p:nvPr/>
        </p:nvSpPr>
        <p:spPr bwMode="auto">
          <a:xfrm>
            <a:off x="3395971" y="1358977"/>
            <a:ext cx="1439863"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Segoe UI" panose="020B0502040204020203" pitchFamily="34" charset="0"/>
                <a:ea typeface="MeiryoKe_PGothic" pitchFamily="50" charset="-128"/>
              </a:rPr>
              <a:t>400</a:t>
            </a:r>
            <a:endParaRPr lang="ja-JP" altLang="en-US" b="1" dirty="0">
              <a:solidFill>
                <a:schemeClr val="accent5"/>
              </a:solidFill>
              <a:latin typeface="Segoe UI" panose="020B0502040204020203" pitchFamily="34" charset="0"/>
              <a:ea typeface="MeiryoKe_PGothic" pitchFamily="50" charset="-128"/>
            </a:endParaRPr>
          </a:p>
        </p:txBody>
      </p:sp>
      <p:sp>
        <p:nvSpPr>
          <p:cNvPr id="7" name="Rectangle 128"/>
          <p:cNvSpPr>
            <a:spLocks noChangeArrowheads="1"/>
          </p:cNvSpPr>
          <p:nvPr/>
        </p:nvSpPr>
        <p:spPr bwMode="auto">
          <a:xfrm>
            <a:off x="3395971" y="1000203"/>
            <a:ext cx="2339975"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PC</a:t>
            </a:r>
          </a:p>
        </p:txBody>
      </p:sp>
      <p:sp>
        <p:nvSpPr>
          <p:cNvPr id="8" name="Rectangle 154"/>
          <p:cNvSpPr>
            <a:spLocks noChangeArrowheads="1"/>
          </p:cNvSpPr>
          <p:nvPr/>
        </p:nvSpPr>
        <p:spPr bwMode="auto">
          <a:xfrm>
            <a:off x="6637645" y="1360564"/>
            <a:ext cx="3328398"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cxnSp>
        <p:nvCxnSpPr>
          <p:cNvPr id="10" name="AutoShape 194"/>
          <p:cNvCxnSpPr>
            <a:cxnSpLocks noChangeShapeType="1"/>
            <a:endCxn id="5" idx="2"/>
          </p:cNvCxnSpPr>
          <p:nvPr/>
        </p:nvCxnSpPr>
        <p:spPr bwMode="auto">
          <a:xfrm flipV="1">
            <a:off x="5196195" y="1719340"/>
            <a:ext cx="0" cy="720725"/>
          </a:xfrm>
          <a:prstGeom prst="straightConnector1">
            <a:avLst/>
          </a:prstGeom>
          <a:ln>
            <a:solidFill>
              <a:schemeClr val="tx1">
                <a:lumMod val="75000"/>
                <a:lumOff val="25000"/>
              </a:schemeClr>
            </a:solidFill>
            <a:headEnd/>
            <a:tailEnd/>
          </a:ln>
        </p:spPr>
        <p:style>
          <a:lnRef idx="3">
            <a:schemeClr val="dk1"/>
          </a:lnRef>
          <a:fillRef idx="0">
            <a:schemeClr val="dk1"/>
          </a:fillRef>
          <a:effectRef idx="2">
            <a:schemeClr val="dk1"/>
          </a:effectRef>
          <a:fontRef idx="minor">
            <a:schemeClr val="tx1"/>
          </a:fontRef>
        </p:style>
      </p:cxnSp>
      <p:sp>
        <p:nvSpPr>
          <p:cNvPr id="11" name="Line 70"/>
          <p:cNvSpPr>
            <a:spLocks noChangeShapeType="1"/>
          </p:cNvSpPr>
          <p:nvPr/>
        </p:nvSpPr>
        <p:spPr bwMode="auto">
          <a:xfrm flipV="1">
            <a:off x="5196708" y="2438989"/>
            <a:ext cx="989294" cy="1690"/>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12" name="Line 97"/>
          <p:cNvSpPr>
            <a:spLocks noChangeShapeType="1"/>
          </p:cNvSpPr>
          <p:nvPr/>
        </p:nvSpPr>
        <p:spPr bwMode="auto">
          <a:xfrm flipV="1">
            <a:off x="4044566" y="4419218"/>
            <a:ext cx="1619250" cy="1587"/>
          </a:xfrm>
          <a:prstGeom prst="line">
            <a:avLst/>
          </a:prstGeom>
          <a:noFill/>
          <a:ln w="38100">
            <a:solidFill>
              <a:schemeClr val="tx1">
                <a:lumMod val="75000"/>
                <a:lumOff val="25000"/>
              </a:schemeClr>
            </a:solidFill>
            <a:round/>
            <a:headEnd type="none" w="med" len="med"/>
            <a:tailEnd type="triangle" w="med" len="me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cxnSp>
        <p:nvCxnSpPr>
          <p:cNvPr id="14" name="AutoShape 164"/>
          <p:cNvCxnSpPr>
            <a:cxnSpLocks noChangeShapeType="1"/>
          </p:cNvCxnSpPr>
          <p:nvPr/>
        </p:nvCxnSpPr>
        <p:spPr bwMode="auto">
          <a:xfrm rot="5400000">
            <a:off x="6455999" y="3511572"/>
            <a:ext cx="468000" cy="1368000"/>
          </a:xfrm>
          <a:prstGeom prst="bentConnector2">
            <a:avLst/>
          </a:prstGeom>
          <a:ln>
            <a:solidFill>
              <a:schemeClr val="tx1">
                <a:lumMod val="75000"/>
                <a:lumOff val="25000"/>
              </a:schemeClr>
            </a:solidFill>
            <a:headEnd/>
            <a:tailEnd type="triangle" w="med" len="med"/>
          </a:ln>
        </p:spPr>
        <p:style>
          <a:lnRef idx="3">
            <a:schemeClr val="dk1"/>
          </a:lnRef>
          <a:fillRef idx="0">
            <a:schemeClr val="dk1"/>
          </a:fillRef>
          <a:effectRef idx="2">
            <a:schemeClr val="dk1"/>
          </a:effectRef>
          <a:fontRef idx="minor">
            <a:schemeClr val="tx1"/>
          </a:fontRef>
        </p:style>
      </p:cxnSp>
      <p:cxnSp>
        <p:nvCxnSpPr>
          <p:cNvPr id="15" name="AutoShape 192"/>
          <p:cNvCxnSpPr>
            <a:cxnSpLocks noChangeShapeType="1"/>
          </p:cNvCxnSpPr>
          <p:nvPr/>
        </p:nvCxnSpPr>
        <p:spPr bwMode="auto">
          <a:xfrm>
            <a:off x="4044566" y="1718879"/>
            <a:ext cx="0" cy="2700338"/>
          </a:xfrm>
          <a:prstGeom prst="straightConnector1">
            <a:avLst/>
          </a:prstGeom>
          <a:ln>
            <a:solidFill>
              <a:schemeClr val="tx1">
                <a:lumMod val="75000"/>
                <a:lumOff val="25000"/>
              </a:schemeClr>
            </a:solidFill>
            <a:headEnd/>
            <a:tailEnd/>
          </a:ln>
        </p:spPr>
        <p:style>
          <a:lnRef idx="3">
            <a:schemeClr val="dk1"/>
          </a:lnRef>
          <a:fillRef idx="0">
            <a:schemeClr val="dk1"/>
          </a:fillRef>
          <a:effectRef idx="2">
            <a:schemeClr val="dk1"/>
          </a:effectRef>
          <a:fontRef idx="minor">
            <a:schemeClr val="tx1"/>
          </a:fontRef>
        </p:style>
      </p:cxnSp>
      <p:sp>
        <p:nvSpPr>
          <p:cNvPr id="17" name="Rectangle 195"/>
          <p:cNvSpPr>
            <a:spLocks noChangeArrowheads="1"/>
          </p:cNvSpPr>
          <p:nvPr/>
        </p:nvSpPr>
        <p:spPr bwMode="auto">
          <a:xfrm>
            <a:off x="6636006" y="2438631"/>
            <a:ext cx="1439862"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Segoe UI" panose="020B0502040204020203" pitchFamily="34" charset="0"/>
                <a:ea typeface="MeiryoKe_PGothic" pitchFamily="50" charset="-128"/>
              </a:rPr>
              <a:t>400</a:t>
            </a:r>
            <a:endParaRPr lang="ja-JP" altLang="en-US" b="1" dirty="0">
              <a:solidFill>
                <a:schemeClr val="accent5"/>
              </a:solidFill>
              <a:latin typeface="Segoe UI" panose="020B0502040204020203" pitchFamily="34" charset="0"/>
              <a:ea typeface="MeiryoKe_PGothic" pitchFamily="50" charset="-128"/>
            </a:endParaRPr>
          </a:p>
        </p:txBody>
      </p:sp>
      <p:grpSp>
        <p:nvGrpSpPr>
          <p:cNvPr id="32" name="グループ化 31"/>
          <p:cNvGrpSpPr/>
          <p:nvPr/>
        </p:nvGrpSpPr>
        <p:grpSpPr>
          <a:xfrm>
            <a:off x="5646713" y="4240700"/>
            <a:ext cx="360362" cy="360363"/>
            <a:chOff x="2861981" y="4689014"/>
            <a:chExt cx="360362" cy="360363"/>
          </a:xfrm>
        </p:grpSpPr>
        <p:sp>
          <p:nvSpPr>
            <p:cNvPr id="29" name="Oval 93"/>
            <p:cNvSpPr>
              <a:spLocks noChangeArrowheads="1"/>
            </p:cNvSpPr>
            <p:nvPr/>
          </p:nvSpPr>
          <p:spPr bwMode="auto">
            <a:xfrm>
              <a:off x="2861981" y="4689014"/>
              <a:ext cx="360362" cy="360363"/>
            </a:xfrm>
            <a:prstGeom prst="ellipse">
              <a:avLst/>
            </a:prstGeom>
            <a:solidFill>
              <a:srgbClr val="FFFFFF"/>
            </a:solidFill>
            <a:ln w="19050">
              <a:solidFill>
                <a:schemeClr val="tx1">
                  <a:lumMod val="75000"/>
                  <a:lumOff val="25000"/>
                </a:schemeClr>
              </a:solidFill>
              <a:round/>
              <a:headEnd/>
              <a:tailEnd/>
            </a:ln>
            <a:effectLst/>
          </p:spPr>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30" name="Line 120"/>
            <p:cNvSpPr>
              <a:spLocks noChangeShapeType="1"/>
            </p:cNvSpPr>
            <p:nvPr/>
          </p:nvSpPr>
          <p:spPr bwMode="auto">
            <a:xfrm>
              <a:off x="2950881" y="4827127"/>
              <a:ext cx="179387" cy="0"/>
            </a:xfrm>
            <a:prstGeom prst="line">
              <a:avLst/>
            </a:prstGeom>
            <a:noFill/>
            <a:ln w="19050">
              <a:solidFill>
                <a:schemeClr val="tx1">
                  <a:lumMod val="75000"/>
                  <a:lumOff val="25000"/>
                </a:schemeClr>
              </a:solidFill>
              <a:round/>
              <a:headEnd/>
              <a:tailEn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31" name="Line 121"/>
            <p:cNvSpPr>
              <a:spLocks noChangeShapeType="1"/>
            </p:cNvSpPr>
            <p:nvPr/>
          </p:nvSpPr>
          <p:spPr bwMode="auto">
            <a:xfrm>
              <a:off x="2950881" y="4917614"/>
              <a:ext cx="179387" cy="0"/>
            </a:xfrm>
            <a:prstGeom prst="line">
              <a:avLst/>
            </a:prstGeom>
            <a:noFill/>
            <a:ln w="19050">
              <a:solidFill>
                <a:schemeClr val="tx1">
                  <a:lumMod val="75000"/>
                  <a:lumOff val="25000"/>
                </a:schemeClr>
              </a:solidFill>
              <a:round/>
              <a:headEnd/>
              <a:tailEn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grpSp>
      <p:sp>
        <p:nvSpPr>
          <p:cNvPr id="33" name="Rectangle 154"/>
          <p:cNvSpPr>
            <a:spLocks noChangeArrowheads="1"/>
          </p:cNvSpPr>
          <p:nvPr/>
        </p:nvSpPr>
        <p:spPr bwMode="auto">
          <a:xfrm>
            <a:off x="6636724" y="1360667"/>
            <a:ext cx="1440016" cy="2608339"/>
          </a:xfrm>
          <a:prstGeom prst="rect">
            <a:avLst/>
          </a:prstGeom>
          <a:noFill/>
          <a:ln w="6350">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34" name="Rectangle 195"/>
          <p:cNvSpPr>
            <a:spLocks noChangeArrowheads="1"/>
          </p:cNvSpPr>
          <p:nvPr/>
        </p:nvSpPr>
        <p:spPr bwMode="auto">
          <a:xfrm>
            <a:off x="8076023" y="2438631"/>
            <a:ext cx="1889303" cy="36036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2"/>
                </a:solidFill>
                <a:latin typeface="Segoe UI" panose="020B0502040204020203" pitchFamily="34" charset="0"/>
                <a:ea typeface="MeiryoKe_PGothic" pitchFamily="50" charset="-128"/>
              </a:rPr>
              <a:t>4180</a:t>
            </a:r>
            <a:endParaRPr lang="ja-JP" altLang="en-US" b="1" dirty="0">
              <a:solidFill>
                <a:schemeClr val="accent2"/>
              </a:solidFill>
              <a:latin typeface="Segoe UI" panose="020B0502040204020203" pitchFamily="34" charset="0"/>
              <a:ea typeface="MeiryoKe_PGothic" pitchFamily="50" charset="-128"/>
            </a:endParaRPr>
          </a:p>
        </p:txBody>
      </p:sp>
      <p:sp>
        <p:nvSpPr>
          <p:cNvPr id="35" name="Line 70"/>
          <p:cNvSpPr>
            <a:spLocks noChangeShapeType="1"/>
          </p:cNvSpPr>
          <p:nvPr/>
        </p:nvSpPr>
        <p:spPr bwMode="auto">
          <a:xfrm flipH="1">
            <a:off x="8886031" y="3969006"/>
            <a:ext cx="0" cy="1080116"/>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38" name="Line 70"/>
          <p:cNvSpPr>
            <a:spLocks noChangeShapeType="1"/>
          </p:cNvSpPr>
          <p:nvPr/>
        </p:nvSpPr>
        <p:spPr bwMode="auto">
          <a:xfrm>
            <a:off x="5827636" y="4600601"/>
            <a:ext cx="0" cy="450005"/>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41" name="Rectangle 133"/>
          <p:cNvSpPr>
            <a:spLocks noChangeArrowheads="1"/>
          </p:cNvSpPr>
          <p:nvPr/>
        </p:nvSpPr>
        <p:spPr bwMode="auto">
          <a:xfrm>
            <a:off x="4475982" y="4599014"/>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BTB hit!</a:t>
            </a:r>
          </a:p>
        </p:txBody>
      </p:sp>
      <p:sp>
        <p:nvSpPr>
          <p:cNvPr id="42" name="Rectangle 133"/>
          <p:cNvSpPr>
            <a:spLocks noChangeArrowheads="1"/>
          </p:cNvSpPr>
          <p:nvPr/>
        </p:nvSpPr>
        <p:spPr bwMode="auto">
          <a:xfrm>
            <a:off x="8166023" y="5049019"/>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accent2"/>
                </a:solidFill>
                <a:latin typeface="Segoe UI" panose="020B0502040204020203" pitchFamily="34" charset="0"/>
                <a:ea typeface="MeiryoKe_PGothic" pitchFamily="50" charset="-128"/>
              </a:rPr>
              <a:t>4180</a:t>
            </a:r>
          </a:p>
        </p:txBody>
      </p:sp>
      <p:sp>
        <p:nvSpPr>
          <p:cNvPr id="36" name="正方形/長方形 35"/>
          <p:cNvSpPr/>
          <p:nvPr/>
        </p:nvSpPr>
        <p:spPr bwMode="auto">
          <a:xfrm>
            <a:off x="1534268" y="2438990"/>
            <a:ext cx="1260014" cy="1710019"/>
          </a:xfrm>
          <a:prstGeom prst="rect">
            <a:avLst/>
          </a:prstGeom>
          <a:solidFill>
            <a:schemeClr val="bg1"/>
          </a:solidFill>
          <a:ln w="1270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b="1" dirty="0">
                <a:solidFill>
                  <a:schemeClr val="accent5"/>
                </a:solidFill>
                <a:latin typeface="Arial Narrow" panose="020B0606020202030204" pitchFamily="34" charset="0"/>
              </a:rPr>
              <a:t>0x400</a:t>
            </a:r>
            <a:r>
              <a:rPr lang="en-US" altLang="ja-JP" b="1" dirty="0">
                <a:solidFill>
                  <a:schemeClr val="accent3">
                    <a:lumMod val="75000"/>
                  </a:schemeClr>
                </a:solidFill>
                <a:latin typeface="Arial Narrow" panose="020B0606020202030204" pitchFamily="34" charset="0"/>
              </a:rPr>
              <a:t>8</a:t>
            </a:r>
            <a:r>
              <a:rPr lang="en-US" altLang="ja-JP" dirty="0">
                <a:solidFill>
                  <a:schemeClr val="tx1">
                    <a:lumMod val="75000"/>
                    <a:lumOff val="25000"/>
                  </a:schemeClr>
                </a:solidFill>
                <a:latin typeface="Arial Narrow" panose="020B0606020202030204" pitchFamily="34" charset="0"/>
              </a:rPr>
              <a:t>  </a:t>
            </a:r>
            <a:r>
              <a:rPr lang="en-US" altLang="ja-JP" dirty="0" err="1">
                <a:solidFill>
                  <a:schemeClr val="tx1">
                    <a:lumMod val="75000"/>
                    <a:lumOff val="25000"/>
                  </a:schemeClr>
                </a:solidFill>
                <a:latin typeface="Arial Narrow" panose="020B0606020202030204" pitchFamily="34" charset="0"/>
              </a:rPr>
              <a:t>bne</a:t>
            </a:r>
            <a:r>
              <a:rPr lang="en-US" altLang="ja-JP" dirty="0">
                <a:solidFill>
                  <a:schemeClr val="tx1">
                    <a:lumMod val="75000"/>
                    <a:lumOff val="25000"/>
                  </a:schemeClr>
                </a:solidFill>
                <a:latin typeface="Arial Narrow" panose="020B0606020202030204" pitchFamily="34" charset="0"/>
              </a:rPr>
              <a:t> x1,x2,</a:t>
            </a:r>
            <a:r>
              <a:rPr lang="en-US" altLang="ja-JP" b="1" dirty="0">
                <a:solidFill>
                  <a:schemeClr val="accent2"/>
                </a:solidFill>
                <a:latin typeface="Arial Narrow" panose="020B0606020202030204" pitchFamily="34" charset="0"/>
              </a:rPr>
              <a:t>0x4180</a:t>
            </a:r>
          </a:p>
          <a:p>
            <a:pPr>
              <a:lnSpc>
                <a:spcPct val="80000"/>
              </a:lnSpc>
            </a:pPr>
            <a:r>
              <a:rPr lang="en-US" altLang="ja-JP" dirty="0">
                <a:solidFill>
                  <a:schemeClr val="tx1">
                    <a:lumMod val="75000"/>
                    <a:lumOff val="25000"/>
                  </a:schemeClr>
                </a:solidFill>
                <a:latin typeface="Arial Narrow" panose="020B0606020202030204" pitchFamily="34" charset="0"/>
              </a:rPr>
              <a:t>0x400c  add ...</a:t>
            </a:r>
          </a:p>
          <a:p>
            <a:pPr>
              <a:lnSpc>
                <a:spcPct val="80000"/>
              </a:lnSpc>
            </a:pPr>
            <a:r>
              <a:rPr lang="en-US" altLang="ja-JP" dirty="0">
                <a:solidFill>
                  <a:schemeClr val="tx1">
                    <a:lumMod val="75000"/>
                    <a:lumOff val="25000"/>
                  </a:schemeClr>
                </a:solidFill>
                <a:latin typeface="Arial Narrow" panose="020B0606020202030204" pitchFamily="34" charset="0"/>
              </a:rPr>
              <a:t> ...         ...</a:t>
            </a:r>
          </a:p>
          <a:p>
            <a:pPr>
              <a:lnSpc>
                <a:spcPct val="80000"/>
              </a:lnSpc>
            </a:pPr>
            <a:r>
              <a:rPr lang="en-US" altLang="ja-JP" dirty="0">
                <a:solidFill>
                  <a:schemeClr val="accent2"/>
                </a:solidFill>
                <a:latin typeface="Arial Narrow" panose="020B0606020202030204" pitchFamily="34" charset="0"/>
              </a:rPr>
              <a:t>0x4180</a:t>
            </a:r>
            <a:r>
              <a:rPr lang="en-US" altLang="ja-JP" dirty="0">
                <a:solidFill>
                  <a:schemeClr val="tx1">
                    <a:lumMod val="75000"/>
                    <a:lumOff val="25000"/>
                  </a:schemeClr>
                </a:solidFill>
                <a:latin typeface="Arial Narrow" panose="020B0606020202030204" pitchFamily="34" charset="0"/>
              </a:rPr>
              <a:t>  sub ...</a:t>
            </a:r>
            <a:endParaRPr lang="ja-JP" altLang="en-US" dirty="0">
              <a:solidFill>
                <a:schemeClr val="tx1">
                  <a:lumMod val="75000"/>
                  <a:lumOff val="25000"/>
                </a:schemeClr>
              </a:solidFill>
              <a:latin typeface="Arial Narrow" panose="020B0606020202030204" pitchFamily="34" charset="0"/>
            </a:endParaRPr>
          </a:p>
        </p:txBody>
      </p:sp>
      <p:sp>
        <p:nvSpPr>
          <p:cNvPr id="45" name="正方形/長方形 44"/>
          <p:cNvSpPr/>
          <p:nvPr/>
        </p:nvSpPr>
        <p:spPr bwMode="auto">
          <a:xfrm>
            <a:off x="6636007" y="1358977"/>
            <a:ext cx="3330037"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47" name="正方形/長方形 46"/>
          <p:cNvSpPr/>
          <p:nvPr/>
        </p:nvSpPr>
        <p:spPr bwMode="auto">
          <a:xfrm>
            <a:off x="6636007" y="1718981"/>
            <a:ext cx="3330037"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48" name="正方形/長方形 47"/>
          <p:cNvSpPr/>
          <p:nvPr/>
        </p:nvSpPr>
        <p:spPr bwMode="auto">
          <a:xfrm>
            <a:off x="6636007" y="2078985"/>
            <a:ext cx="3330037"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50" name="正方形/長方形 49"/>
          <p:cNvSpPr/>
          <p:nvPr/>
        </p:nvSpPr>
        <p:spPr bwMode="auto">
          <a:xfrm>
            <a:off x="6276003" y="135897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51" name="正方形/長方形 50"/>
          <p:cNvSpPr/>
          <p:nvPr/>
        </p:nvSpPr>
        <p:spPr bwMode="auto">
          <a:xfrm>
            <a:off x="6276002" y="171898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52" name="正方形/長方形 51"/>
          <p:cNvSpPr/>
          <p:nvPr/>
        </p:nvSpPr>
        <p:spPr bwMode="auto">
          <a:xfrm>
            <a:off x="6276002"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3" name="正方形/長方形 52"/>
          <p:cNvSpPr/>
          <p:nvPr/>
        </p:nvSpPr>
        <p:spPr bwMode="auto">
          <a:xfrm>
            <a:off x="7176012"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4" name="正方形/長方形 53"/>
          <p:cNvSpPr/>
          <p:nvPr/>
        </p:nvSpPr>
        <p:spPr bwMode="auto">
          <a:xfrm>
            <a:off x="8886031"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5" name="正方形/長方形 54"/>
          <p:cNvSpPr/>
          <p:nvPr/>
        </p:nvSpPr>
        <p:spPr bwMode="auto">
          <a:xfrm>
            <a:off x="6276002" y="243898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b="1" dirty="0">
                <a:solidFill>
                  <a:schemeClr val="accent3">
                    <a:lumMod val="75000"/>
                  </a:schemeClr>
                </a:solidFill>
                <a:latin typeface="Arial Narrow" panose="020B0606020202030204" pitchFamily="34" charset="0"/>
              </a:rPr>
              <a:t>8</a:t>
            </a:r>
            <a:endParaRPr lang="ja-JP" altLang="en-US" sz="2000" b="1" dirty="0">
              <a:solidFill>
                <a:schemeClr val="accent3">
                  <a:lumMod val="75000"/>
                </a:schemeClr>
              </a:solidFill>
              <a:latin typeface="Arial Narrow" panose="020B0606020202030204" pitchFamily="34" charset="0"/>
            </a:endParaRPr>
          </a:p>
        </p:txBody>
      </p:sp>
      <p:sp>
        <p:nvSpPr>
          <p:cNvPr id="56" name="正方形/長方形 55"/>
          <p:cNvSpPr/>
          <p:nvPr/>
        </p:nvSpPr>
        <p:spPr bwMode="auto">
          <a:xfrm>
            <a:off x="6276002"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7" name="正方形/長方形 56"/>
          <p:cNvSpPr/>
          <p:nvPr/>
        </p:nvSpPr>
        <p:spPr bwMode="auto">
          <a:xfrm>
            <a:off x="7176012"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8" name="正方形/長方形 57"/>
          <p:cNvSpPr/>
          <p:nvPr/>
        </p:nvSpPr>
        <p:spPr bwMode="auto">
          <a:xfrm>
            <a:off x="8886031"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9" name="Rectangle 195"/>
          <p:cNvSpPr>
            <a:spLocks noChangeArrowheads="1"/>
          </p:cNvSpPr>
          <p:nvPr/>
        </p:nvSpPr>
        <p:spPr bwMode="auto">
          <a:xfrm>
            <a:off x="6636006" y="3158639"/>
            <a:ext cx="1439862" cy="360363"/>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dirty="0">
                <a:solidFill>
                  <a:schemeClr val="tx1">
                    <a:lumMod val="75000"/>
                    <a:lumOff val="25000"/>
                  </a:schemeClr>
                </a:solidFill>
                <a:latin typeface="Segoe UI" panose="020B0502040204020203" pitchFamily="34" charset="0"/>
                <a:ea typeface="MeiryoKe_PGothic" pitchFamily="50" charset="-128"/>
              </a:rPr>
              <a:t>f88</a:t>
            </a:r>
            <a:endParaRPr lang="ja-JP" altLang="en-US" dirty="0">
              <a:solidFill>
                <a:schemeClr val="tx1">
                  <a:lumMod val="75000"/>
                  <a:lumOff val="25000"/>
                </a:schemeClr>
              </a:solidFill>
              <a:latin typeface="Segoe UI" panose="020B0502040204020203" pitchFamily="34" charset="0"/>
              <a:ea typeface="MeiryoKe_PGothic" pitchFamily="50" charset="-128"/>
            </a:endParaRPr>
          </a:p>
        </p:txBody>
      </p:sp>
      <p:sp>
        <p:nvSpPr>
          <p:cNvPr id="60" name="Rectangle 195"/>
          <p:cNvSpPr>
            <a:spLocks noChangeArrowheads="1"/>
          </p:cNvSpPr>
          <p:nvPr/>
        </p:nvSpPr>
        <p:spPr bwMode="auto">
          <a:xfrm>
            <a:off x="8076023" y="3158639"/>
            <a:ext cx="1889303" cy="360363"/>
          </a:xfrm>
          <a:prstGeom prst="rect">
            <a:avLst/>
          </a:prstGeom>
          <a:noFill/>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dirty="0">
                <a:solidFill>
                  <a:schemeClr val="tx1">
                    <a:lumMod val="75000"/>
                    <a:lumOff val="25000"/>
                  </a:schemeClr>
                </a:solidFill>
                <a:latin typeface="Segoe UI" panose="020B0502040204020203" pitchFamily="34" charset="0"/>
                <a:ea typeface="MeiryoKe_PGothic" pitchFamily="50" charset="-128"/>
              </a:rPr>
              <a:t>ff80</a:t>
            </a:r>
            <a:endParaRPr lang="ja-JP" altLang="en-US" dirty="0">
              <a:solidFill>
                <a:schemeClr val="tx1">
                  <a:lumMod val="75000"/>
                  <a:lumOff val="25000"/>
                </a:schemeClr>
              </a:solidFill>
              <a:latin typeface="Segoe UI" panose="020B0502040204020203" pitchFamily="34" charset="0"/>
              <a:ea typeface="MeiryoKe_PGothic" pitchFamily="50" charset="-128"/>
            </a:endParaRPr>
          </a:p>
        </p:txBody>
      </p:sp>
      <p:sp>
        <p:nvSpPr>
          <p:cNvPr id="61" name="正方形/長方形 60"/>
          <p:cNvSpPr/>
          <p:nvPr/>
        </p:nvSpPr>
        <p:spPr bwMode="auto">
          <a:xfrm>
            <a:off x="6276002" y="31589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b="1" dirty="0">
                <a:solidFill>
                  <a:schemeClr val="accent3">
                    <a:lumMod val="75000"/>
                  </a:schemeClr>
                </a:solidFill>
                <a:latin typeface="Arial Narrow" panose="020B0606020202030204" pitchFamily="34" charset="0"/>
              </a:rPr>
              <a:t>C</a:t>
            </a:r>
            <a:endParaRPr lang="ja-JP" altLang="en-US" sz="2000" b="1" dirty="0">
              <a:solidFill>
                <a:schemeClr val="accent3">
                  <a:lumMod val="75000"/>
                </a:schemeClr>
              </a:solidFill>
              <a:latin typeface="Arial Narrow" panose="020B0606020202030204" pitchFamily="34" charset="0"/>
            </a:endParaRPr>
          </a:p>
        </p:txBody>
      </p:sp>
      <p:sp>
        <p:nvSpPr>
          <p:cNvPr id="62" name="正方形/長方形 61"/>
          <p:cNvSpPr/>
          <p:nvPr/>
        </p:nvSpPr>
        <p:spPr bwMode="auto">
          <a:xfrm>
            <a:off x="6276002" y="35190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3" name="正方形/長方形 62"/>
          <p:cNvSpPr/>
          <p:nvPr/>
        </p:nvSpPr>
        <p:spPr bwMode="auto">
          <a:xfrm>
            <a:off x="7176012" y="35190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4" name="正方形/長方形 63"/>
          <p:cNvSpPr/>
          <p:nvPr/>
        </p:nvSpPr>
        <p:spPr bwMode="auto">
          <a:xfrm>
            <a:off x="8886031" y="35190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5" name="Rectangle 132"/>
          <p:cNvSpPr>
            <a:spLocks noChangeArrowheads="1"/>
          </p:cNvSpPr>
          <p:nvPr/>
        </p:nvSpPr>
        <p:spPr bwMode="auto">
          <a:xfrm>
            <a:off x="8076023" y="998974"/>
            <a:ext cx="1890021" cy="35877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taken PC</a:t>
            </a:r>
          </a:p>
        </p:txBody>
      </p:sp>
      <p:sp>
        <p:nvSpPr>
          <p:cNvPr id="66" name="Rectangle 133"/>
          <p:cNvSpPr>
            <a:spLocks noChangeArrowheads="1"/>
          </p:cNvSpPr>
          <p:nvPr/>
        </p:nvSpPr>
        <p:spPr bwMode="auto">
          <a:xfrm>
            <a:off x="6636211" y="998974"/>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lt"/>
                <a:ea typeface="MeiryoKe_PGothic" pitchFamily="50" charset="-128"/>
              </a:rPr>
              <a:t>tag</a:t>
            </a:r>
          </a:p>
        </p:txBody>
      </p:sp>
    </p:spTree>
    <p:extLst>
      <p:ext uri="{BB962C8B-B14F-4D97-AF65-F5344CB8AC3E}">
        <p14:creationId xmlns:p14="http://schemas.microsoft.com/office/powerpoint/2010/main" val="2673801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BTB </a:t>
            </a:r>
            <a:r>
              <a:rPr kumimoji="1" lang="ja-JP" altLang="en-US" dirty="0"/>
              <a:t>による予測（分岐以外の場合）</a:t>
            </a:r>
          </a:p>
        </p:txBody>
      </p:sp>
      <p:sp>
        <p:nvSpPr>
          <p:cNvPr id="3" name="テキスト プレースホルダー 2"/>
          <p:cNvSpPr>
            <a:spLocks noGrp="1"/>
          </p:cNvSpPr>
          <p:nvPr>
            <p:ph type="body" sz="quarter" idx="10"/>
          </p:nvPr>
        </p:nvSpPr>
        <p:spPr>
          <a:xfrm>
            <a:off x="1685951" y="5679026"/>
            <a:ext cx="8280092" cy="359697"/>
          </a:xfrm>
        </p:spPr>
        <p:txBody>
          <a:bodyPr/>
          <a:lstStyle/>
          <a:p>
            <a:r>
              <a:rPr kumimoji="1" lang="en-US" altLang="ja-JP" dirty="0"/>
              <a:t>0x400c </a:t>
            </a:r>
            <a:r>
              <a:rPr kumimoji="1" lang="ja-JP" altLang="en-US" dirty="0"/>
              <a:t>にある </a:t>
            </a:r>
            <a:r>
              <a:rPr kumimoji="1" lang="en-US" altLang="ja-JP" dirty="0"/>
              <a:t>add </a:t>
            </a:r>
            <a:r>
              <a:rPr kumimoji="1" lang="ja-JP" altLang="en-US" dirty="0"/>
              <a:t>をフェッチした場合，</a:t>
            </a:r>
            <a:endParaRPr kumimoji="1" lang="en-US" altLang="ja-JP" dirty="0"/>
          </a:p>
          <a:p>
            <a:pPr marL="817200" lvl="1" indent="-457200">
              <a:buFont typeface="+mj-lt"/>
              <a:buAutoNum type="arabicPeriod"/>
            </a:pPr>
            <a:r>
              <a:rPr kumimoji="1" lang="en-US" altLang="ja-JP" dirty="0"/>
              <a:t>0x400c </a:t>
            </a:r>
            <a:r>
              <a:rPr kumimoji="1" lang="ja-JP" altLang="en-US" dirty="0"/>
              <a:t>の下位の </a:t>
            </a:r>
            <a:r>
              <a:rPr kumimoji="1" lang="en-US" altLang="ja-JP" dirty="0"/>
              <a:t>c </a:t>
            </a:r>
            <a:r>
              <a:rPr kumimoji="1" lang="ja-JP" altLang="en-US" dirty="0"/>
              <a:t>を取り出し，</a:t>
            </a:r>
            <a:r>
              <a:rPr kumimoji="1" lang="en-US" altLang="ja-JP" dirty="0"/>
              <a:t>BTB </a:t>
            </a:r>
            <a:r>
              <a:rPr kumimoji="1" lang="ja-JP" altLang="en-US" dirty="0"/>
              <a:t>の </a:t>
            </a:r>
            <a:r>
              <a:rPr kumimoji="1" lang="en-US" altLang="ja-JP" dirty="0"/>
              <a:t>c </a:t>
            </a:r>
            <a:r>
              <a:rPr kumimoji="1" lang="ja-JP" altLang="en-US" dirty="0"/>
              <a:t>番エントリにアクセス</a:t>
            </a:r>
            <a:endParaRPr kumimoji="1" lang="en-US" altLang="ja-JP" dirty="0"/>
          </a:p>
          <a:p>
            <a:pPr marL="817200" lvl="1" indent="-457200">
              <a:buFont typeface="+mj-lt"/>
              <a:buAutoNum type="arabicPeriod"/>
            </a:pPr>
            <a:r>
              <a:rPr kumimoji="1" lang="ja-JP" altLang="en-US" dirty="0"/>
              <a:t>得られた </a:t>
            </a:r>
            <a:r>
              <a:rPr kumimoji="1" lang="en-US" altLang="ja-JP" dirty="0"/>
              <a:t>tag </a:t>
            </a:r>
            <a:r>
              <a:rPr kumimoji="1" lang="ja-JP" altLang="en-US" dirty="0"/>
              <a:t>と </a:t>
            </a:r>
            <a:r>
              <a:rPr kumimoji="1" lang="en-US" altLang="ja-JP" dirty="0"/>
              <a:t>PC </a:t>
            </a:r>
            <a:r>
              <a:rPr kumimoji="1" lang="ja-JP" altLang="en-US" dirty="0"/>
              <a:t>の上位が不一致なのでミス</a:t>
            </a:r>
            <a:endParaRPr kumimoji="1" lang="en-US" altLang="ja-JP" dirty="0"/>
          </a:p>
          <a:p>
            <a:pPr marL="817200" lvl="1" indent="-457200">
              <a:buFont typeface="+mj-lt"/>
              <a:buAutoNum type="arabicPeriod"/>
            </a:pPr>
            <a:r>
              <a:rPr kumimoji="1" lang="en-US" altLang="ja-JP" dirty="0"/>
              <a:t>0x400c </a:t>
            </a:r>
            <a:r>
              <a:rPr kumimoji="1" lang="ja-JP" altLang="en-US" dirty="0"/>
              <a:t>は分岐命令ではないと予測</a:t>
            </a:r>
          </a:p>
        </p:txBody>
      </p:sp>
      <p:sp>
        <p:nvSpPr>
          <p:cNvPr id="5" name="Rectangle 13"/>
          <p:cNvSpPr>
            <a:spLocks noChangeArrowheads="1"/>
          </p:cNvSpPr>
          <p:nvPr/>
        </p:nvSpPr>
        <p:spPr bwMode="auto">
          <a:xfrm>
            <a:off x="4835834" y="1358977"/>
            <a:ext cx="720725"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3">
                    <a:lumMod val="75000"/>
                  </a:schemeClr>
                </a:solidFill>
                <a:latin typeface="Segoe UI" panose="020B0502040204020203" pitchFamily="34" charset="0"/>
                <a:ea typeface="MeiryoKe_PGothic" pitchFamily="50" charset="-128"/>
              </a:rPr>
              <a:t>C</a:t>
            </a:r>
            <a:endParaRPr lang="ja-JP" altLang="en-US" b="1" dirty="0">
              <a:solidFill>
                <a:schemeClr val="accent3">
                  <a:lumMod val="75000"/>
                </a:schemeClr>
              </a:solidFill>
              <a:latin typeface="Segoe UI" panose="020B0502040204020203" pitchFamily="34" charset="0"/>
              <a:ea typeface="MeiryoKe_PGothic" pitchFamily="50" charset="-128"/>
            </a:endParaRPr>
          </a:p>
        </p:txBody>
      </p:sp>
      <p:sp>
        <p:nvSpPr>
          <p:cNvPr id="6" name="Rectangle 89"/>
          <p:cNvSpPr>
            <a:spLocks noChangeArrowheads="1"/>
          </p:cNvSpPr>
          <p:nvPr/>
        </p:nvSpPr>
        <p:spPr bwMode="auto">
          <a:xfrm>
            <a:off x="3395971" y="1358977"/>
            <a:ext cx="1439863"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Segoe UI" panose="020B0502040204020203" pitchFamily="34" charset="0"/>
                <a:ea typeface="MeiryoKe_PGothic" pitchFamily="50" charset="-128"/>
              </a:rPr>
              <a:t>400</a:t>
            </a:r>
            <a:endParaRPr lang="ja-JP" altLang="en-US" b="1" dirty="0">
              <a:solidFill>
                <a:schemeClr val="accent5"/>
              </a:solidFill>
              <a:latin typeface="Segoe UI" panose="020B0502040204020203" pitchFamily="34" charset="0"/>
              <a:ea typeface="MeiryoKe_PGothic" pitchFamily="50" charset="-128"/>
            </a:endParaRPr>
          </a:p>
        </p:txBody>
      </p:sp>
      <p:sp>
        <p:nvSpPr>
          <p:cNvPr id="7" name="Rectangle 128"/>
          <p:cNvSpPr>
            <a:spLocks noChangeArrowheads="1"/>
          </p:cNvSpPr>
          <p:nvPr/>
        </p:nvSpPr>
        <p:spPr bwMode="auto">
          <a:xfrm>
            <a:off x="3395971" y="1000203"/>
            <a:ext cx="2339975"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Segoe UI" panose="020B0502040204020203" pitchFamily="34" charset="0"/>
                <a:ea typeface="MeiryoKe_PGothic" pitchFamily="50" charset="-128"/>
              </a:rPr>
              <a:t>PC</a:t>
            </a:r>
          </a:p>
        </p:txBody>
      </p:sp>
      <p:sp>
        <p:nvSpPr>
          <p:cNvPr id="8" name="Rectangle 154"/>
          <p:cNvSpPr>
            <a:spLocks noChangeArrowheads="1"/>
          </p:cNvSpPr>
          <p:nvPr/>
        </p:nvSpPr>
        <p:spPr bwMode="auto">
          <a:xfrm>
            <a:off x="6637645" y="1360564"/>
            <a:ext cx="3328398"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cxnSp>
        <p:nvCxnSpPr>
          <p:cNvPr id="10" name="AutoShape 194"/>
          <p:cNvCxnSpPr>
            <a:cxnSpLocks noChangeShapeType="1"/>
            <a:endCxn id="5" idx="2"/>
          </p:cNvCxnSpPr>
          <p:nvPr/>
        </p:nvCxnSpPr>
        <p:spPr bwMode="auto">
          <a:xfrm flipV="1">
            <a:off x="5196195" y="1719340"/>
            <a:ext cx="0" cy="720725"/>
          </a:xfrm>
          <a:prstGeom prst="straightConnector1">
            <a:avLst/>
          </a:prstGeom>
          <a:ln>
            <a:solidFill>
              <a:schemeClr val="tx1">
                <a:lumMod val="75000"/>
                <a:lumOff val="25000"/>
              </a:schemeClr>
            </a:solidFill>
            <a:headEnd/>
            <a:tailEnd/>
          </a:ln>
        </p:spPr>
        <p:style>
          <a:lnRef idx="3">
            <a:schemeClr val="dk1"/>
          </a:lnRef>
          <a:fillRef idx="0">
            <a:schemeClr val="dk1"/>
          </a:fillRef>
          <a:effectRef idx="2">
            <a:schemeClr val="dk1"/>
          </a:effectRef>
          <a:fontRef idx="minor">
            <a:schemeClr val="tx1"/>
          </a:fontRef>
        </p:style>
      </p:cxnSp>
      <p:sp>
        <p:nvSpPr>
          <p:cNvPr id="11" name="Line 70"/>
          <p:cNvSpPr>
            <a:spLocks noChangeShapeType="1"/>
          </p:cNvSpPr>
          <p:nvPr/>
        </p:nvSpPr>
        <p:spPr bwMode="auto">
          <a:xfrm flipV="1">
            <a:off x="5196708" y="2438989"/>
            <a:ext cx="989294" cy="1690"/>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12" name="Line 97"/>
          <p:cNvSpPr>
            <a:spLocks noChangeShapeType="1"/>
          </p:cNvSpPr>
          <p:nvPr/>
        </p:nvSpPr>
        <p:spPr bwMode="auto">
          <a:xfrm flipV="1">
            <a:off x="4044566" y="4419218"/>
            <a:ext cx="1619250" cy="1587"/>
          </a:xfrm>
          <a:prstGeom prst="line">
            <a:avLst/>
          </a:prstGeom>
          <a:noFill/>
          <a:ln w="38100">
            <a:solidFill>
              <a:schemeClr val="tx1">
                <a:lumMod val="75000"/>
                <a:lumOff val="25000"/>
              </a:schemeClr>
            </a:solidFill>
            <a:round/>
            <a:headEnd type="none" w="med" len="med"/>
            <a:tailEnd type="triangle" w="med" len="me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cxnSp>
        <p:nvCxnSpPr>
          <p:cNvPr id="14" name="AutoShape 164"/>
          <p:cNvCxnSpPr>
            <a:cxnSpLocks noChangeShapeType="1"/>
          </p:cNvCxnSpPr>
          <p:nvPr/>
        </p:nvCxnSpPr>
        <p:spPr bwMode="auto">
          <a:xfrm rot="5400000">
            <a:off x="6455999" y="3511572"/>
            <a:ext cx="468000" cy="1368000"/>
          </a:xfrm>
          <a:prstGeom prst="bentConnector2">
            <a:avLst/>
          </a:prstGeom>
          <a:ln>
            <a:solidFill>
              <a:schemeClr val="tx1">
                <a:lumMod val="75000"/>
                <a:lumOff val="25000"/>
              </a:schemeClr>
            </a:solidFill>
            <a:headEnd/>
            <a:tailEnd type="triangle" w="med" len="med"/>
          </a:ln>
        </p:spPr>
        <p:style>
          <a:lnRef idx="3">
            <a:schemeClr val="dk1"/>
          </a:lnRef>
          <a:fillRef idx="0">
            <a:schemeClr val="dk1"/>
          </a:fillRef>
          <a:effectRef idx="2">
            <a:schemeClr val="dk1"/>
          </a:effectRef>
          <a:fontRef idx="minor">
            <a:schemeClr val="tx1"/>
          </a:fontRef>
        </p:style>
      </p:cxnSp>
      <p:cxnSp>
        <p:nvCxnSpPr>
          <p:cNvPr id="15" name="AutoShape 192"/>
          <p:cNvCxnSpPr>
            <a:cxnSpLocks noChangeShapeType="1"/>
          </p:cNvCxnSpPr>
          <p:nvPr/>
        </p:nvCxnSpPr>
        <p:spPr bwMode="auto">
          <a:xfrm>
            <a:off x="4044566" y="1718879"/>
            <a:ext cx="0" cy="2700338"/>
          </a:xfrm>
          <a:prstGeom prst="straightConnector1">
            <a:avLst/>
          </a:prstGeom>
          <a:ln>
            <a:solidFill>
              <a:schemeClr val="tx1">
                <a:lumMod val="75000"/>
                <a:lumOff val="25000"/>
              </a:schemeClr>
            </a:solidFill>
            <a:headEnd/>
            <a:tailEnd/>
          </a:ln>
        </p:spPr>
        <p:style>
          <a:lnRef idx="3">
            <a:schemeClr val="dk1"/>
          </a:lnRef>
          <a:fillRef idx="0">
            <a:schemeClr val="dk1"/>
          </a:fillRef>
          <a:effectRef idx="2">
            <a:schemeClr val="dk1"/>
          </a:effectRef>
          <a:fontRef idx="minor">
            <a:schemeClr val="tx1"/>
          </a:fontRef>
        </p:style>
      </p:cxnSp>
      <p:sp>
        <p:nvSpPr>
          <p:cNvPr id="17" name="Rectangle 195"/>
          <p:cNvSpPr>
            <a:spLocks noChangeArrowheads="1"/>
          </p:cNvSpPr>
          <p:nvPr/>
        </p:nvSpPr>
        <p:spPr bwMode="auto">
          <a:xfrm>
            <a:off x="6636006" y="2438631"/>
            <a:ext cx="1439862" cy="360363"/>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dirty="0">
                <a:solidFill>
                  <a:schemeClr val="tx1">
                    <a:lumMod val="75000"/>
                    <a:lumOff val="25000"/>
                  </a:schemeClr>
                </a:solidFill>
                <a:latin typeface="Segoe UI" panose="020B0502040204020203" pitchFamily="34" charset="0"/>
                <a:ea typeface="MeiryoKe_PGothic" pitchFamily="50" charset="-128"/>
              </a:rPr>
              <a:t>400</a:t>
            </a:r>
            <a:endParaRPr lang="ja-JP" altLang="en-US" dirty="0">
              <a:solidFill>
                <a:schemeClr val="tx1">
                  <a:lumMod val="75000"/>
                  <a:lumOff val="25000"/>
                </a:schemeClr>
              </a:solidFill>
              <a:latin typeface="Segoe UI" panose="020B0502040204020203" pitchFamily="34" charset="0"/>
              <a:ea typeface="MeiryoKe_PGothic" pitchFamily="50" charset="-128"/>
            </a:endParaRPr>
          </a:p>
        </p:txBody>
      </p:sp>
      <p:grpSp>
        <p:nvGrpSpPr>
          <p:cNvPr id="32" name="グループ化 31"/>
          <p:cNvGrpSpPr/>
          <p:nvPr/>
        </p:nvGrpSpPr>
        <p:grpSpPr>
          <a:xfrm>
            <a:off x="5646713" y="4240700"/>
            <a:ext cx="360362" cy="360363"/>
            <a:chOff x="2861981" y="4689014"/>
            <a:chExt cx="360362" cy="360363"/>
          </a:xfrm>
        </p:grpSpPr>
        <p:sp>
          <p:nvSpPr>
            <p:cNvPr id="29" name="Oval 93"/>
            <p:cNvSpPr>
              <a:spLocks noChangeArrowheads="1"/>
            </p:cNvSpPr>
            <p:nvPr/>
          </p:nvSpPr>
          <p:spPr bwMode="auto">
            <a:xfrm>
              <a:off x="2861981" y="4689014"/>
              <a:ext cx="360362" cy="360363"/>
            </a:xfrm>
            <a:prstGeom prst="ellipse">
              <a:avLst/>
            </a:prstGeom>
            <a:solidFill>
              <a:srgbClr val="FFFFFF"/>
            </a:solidFill>
            <a:ln w="19050">
              <a:solidFill>
                <a:schemeClr val="tx1">
                  <a:lumMod val="75000"/>
                  <a:lumOff val="25000"/>
                </a:schemeClr>
              </a:solidFill>
              <a:round/>
              <a:headEnd/>
              <a:tailEnd/>
            </a:ln>
            <a:effectLst/>
          </p:spPr>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30" name="Line 120"/>
            <p:cNvSpPr>
              <a:spLocks noChangeShapeType="1"/>
            </p:cNvSpPr>
            <p:nvPr/>
          </p:nvSpPr>
          <p:spPr bwMode="auto">
            <a:xfrm>
              <a:off x="2950881" y="4827127"/>
              <a:ext cx="179387" cy="0"/>
            </a:xfrm>
            <a:prstGeom prst="line">
              <a:avLst/>
            </a:prstGeom>
            <a:noFill/>
            <a:ln w="19050">
              <a:solidFill>
                <a:schemeClr val="tx1">
                  <a:lumMod val="75000"/>
                  <a:lumOff val="25000"/>
                </a:schemeClr>
              </a:solidFill>
              <a:round/>
              <a:headEnd/>
              <a:tailEn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31" name="Line 121"/>
            <p:cNvSpPr>
              <a:spLocks noChangeShapeType="1"/>
            </p:cNvSpPr>
            <p:nvPr/>
          </p:nvSpPr>
          <p:spPr bwMode="auto">
            <a:xfrm>
              <a:off x="2950881" y="4917614"/>
              <a:ext cx="179387" cy="0"/>
            </a:xfrm>
            <a:prstGeom prst="line">
              <a:avLst/>
            </a:prstGeom>
            <a:noFill/>
            <a:ln w="19050">
              <a:solidFill>
                <a:schemeClr val="tx1">
                  <a:lumMod val="75000"/>
                  <a:lumOff val="25000"/>
                </a:schemeClr>
              </a:solidFill>
              <a:round/>
              <a:headEnd/>
              <a:tailEnd/>
            </a:ln>
            <a:effectLst/>
          </p:spPr>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grpSp>
      <p:sp>
        <p:nvSpPr>
          <p:cNvPr id="33" name="Rectangle 154"/>
          <p:cNvSpPr>
            <a:spLocks noChangeArrowheads="1"/>
          </p:cNvSpPr>
          <p:nvPr/>
        </p:nvSpPr>
        <p:spPr bwMode="auto">
          <a:xfrm>
            <a:off x="6636724" y="1360667"/>
            <a:ext cx="1440016" cy="2608339"/>
          </a:xfrm>
          <a:prstGeom prst="rect">
            <a:avLst/>
          </a:prstGeom>
          <a:noFill/>
          <a:ln w="6350">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34" name="Rectangle 195"/>
          <p:cNvSpPr>
            <a:spLocks noChangeArrowheads="1"/>
          </p:cNvSpPr>
          <p:nvPr/>
        </p:nvSpPr>
        <p:spPr bwMode="auto">
          <a:xfrm>
            <a:off x="8076023" y="2438631"/>
            <a:ext cx="1889303" cy="360363"/>
          </a:xfrm>
          <a:prstGeom prst="rect">
            <a:avLst/>
          </a:prstGeom>
          <a:noFill/>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dirty="0">
                <a:solidFill>
                  <a:schemeClr val="tx1">
                    <a:lumMod val="75000"/>
                    <a:lumOff val="25000"/>
                  </a:schemeClr>
                </a:solidFill>
                <a:latin typeface="Segoe UI" panose="020B0502040204020203" pitchFamily="34" charset="0"/>
                <a:ea typeface="MeiryoKe_PGothic" pitchFamily="50" charset="-128"/>
              </a:rPr>
              <a:t>4180</a:t>
            </a:r>
            <a:endParaRPr lang="ja-JP" altLang="en-US" dirty="0">
              <a:solidFill>
                <a:schemeClr val="tx1">
                  <a:lumMod val="75000"/>
                  <a:lumOff val="25000"/>
                </a:schemeClr>
              </a:solidFill>
              <a:latin typeface="Segoe UI" panose="020B0502040204020203" pitchFamily="34" charset="0"/>
              <a:ea typeface="MeiryoKe_PGothic" pitchFamily="50" charset="-128"/>
            </a:endParaRPr>
          </a:p>
        </p:txBody>
      </p:sp>
      <p:sp>
        <p:nvSpPr>
          <p:cNvPr id="35" name="Line 70"/>
          <p:cNvSpPr>
            <a:spLocks noChangeShapeType="1"/>
          </p:cNvSpPr>
          <p:nvPr/>
        </p:nvSpPr>
        <p:spPr bwMode="auto">
          <a:xfrm flipH="1">
            <a:off x="8886031" y="3969006"/>
            <a:ext cx="0" cy="1080116"/>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38" name="Line 70"/>
          <p:cNvSpPr>
            <a:spLocks noChangeShapeType="1"/>
          </p:cNvSpPr>
          <p:nvPr/>
        </p:nvSpPr>
        <p:spPr bwMode="auto">
          <a:xfrm>
            <a:off x="5827636" y="4600601"/>
            <a:ext cx="0" cy="450005"/>
          </a:xfrm>
          <a:prstGeom prst="line">
            <a:avLst/>
          </a:prstGeom>
          <a:ln>
            <a:solidFill>
              <a:schemeClr val="tx1">
                <a:lumMod val="75000"/>
                <a:lumOff val="25000"/>
              </a:schemeClr>
            </a:solidFill>
            <a:headEnd type="none" w="med" len="med"/>
            <a:tailEnd type="triangle" w="med" len="med"/>
          </a:ln>
        </p:spPr>
        <p:style>
          <a:lnRef idx="3">
            <a:schemeClr val="dk1"/>
          </a:lnRef>
          <a:fillRef idx="0">
            <a:schemeClr val="dk1"/>
          </a:fillRef>
          <a:effectRef idx="2">
            <a:schemeClr val="dk1"/>
          </a:effectRef>
          <a:fontRef idx="minor">
            <a:schemeClr val="tx1"/>
          </a:fontRef>
        </p:style>
        <p:txBody>
          <a:bodyP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Segoe UI" panose="020B0502040204020203" pitchFamily="34" charset="0"/>
              <a:ea typeface="MeiryoKe_PGothic" pitchFamily="50" charset="-128"/>
            </a:endParaRPr>
          </a:p>
        </p:txBody>
      </p:sp>
      <p:sp>
        <p:nvSpPr>
          <p:cNvPr id="41" name="Rectangle 133"/>
          <p:cNvSpPr>
            <a:spLocks noChangeArrowheads="1"/>
          </p:cNvSpPr>
          <p:nvPr/>
        </p:nvSpPr>
        <p:spPr bwMode="auto">
          <a:xfrm>
            <a:off x="4385981" y="4599014"/>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Segoe UI" panose="020B0502040204020203" pitchFamily="34" charset="0"/>
                <a:ea typeface="MeiryoKe_PGothic" pitchFamily="50" charset="-128"/>
              </a:rPr>
              <a:t>BTB miss</a:t>
            </a:r>
          </a:p>
        </p:txBody>
      </p:sp>
      <p:sp>
        <p:nvSpPr>
          <p:cNvPr id="42" name="Rectangle 133"/>
          <p:cNvSpPr>
            <a:spLocks noChangeArrowheads="1"/>
          </p:cNvSpPr>
          <p:nvPr/>
        </p:nvSpPr>
        <p:spPr bwMode="auto">
          <a:xfrm>
            <a:off x="8166023" y="5049019"/>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accent2"/>
                </a:solidFill>
                <a:latin typeface="Segoe UI" panose="020B0502040204020203" pitchFamily="34" charset="0"/>
                <a:ea typeface="MeiryoKe_PGothic" pitchFamily="50" charset="-128"/>
              </a:rPr>
              <a:t>ff80</a:t>
            </a:r>
          </a:p>
        </p:txBody>
      </p:sp>
      <p:sp>
        <p:nvSpPr>
          <p:cNvPr id="36" name="正方形/長方形 35"/>
          <p:cNvSpPr/>
          <p:nvPr/>
        </p:nvSpPr>
        <p:spPr bwMode="auto">
          <a:xfrm>
            <a:off x="1534268" y="2438990"/>
            <a:ext cx="2491709" cy="1080012"/>
          </a:xfrm>
          <a:prstGeom prst="rect">
            <a:avLst/>
          </a:prstGeom>
          <a:solidFill>
            <a:schemeClr val="bg1"/>
          </a:solidFill>
          <a:ln w="1270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dirty="0">
                <a:solidFill>
                  <a:schemeClr val="tx1">
                    <a:lumMod val="75000"/>
                    <a:lumOff val="25000"/>
                  </a:schemeClr>
                </a:solidFill>
                <a:latin typeface="Arial Narrow" panose="020B0606020202030204" pitchFamily="34" charset="0"/>
              </a:rPr>
              <a:t>0x4008  </a:t>
            </a:r>
            <a:r>
              <a:rPr lang="en-US" altLang="ja-JP" dirty="0" err="1">
                <a:solidFill>
                  <a:schemeClr val="tx1">
                    <a:lumMod val="75000"/>
                    <a:lumOff val="25000"/>
                  </a:schemeClr>
                </a:solidFill>
                <a:latin typeface="Arial Narrow" panose="020B0606020202030204" pitchFamily="34" charset="0"/>
              </a:rPr>
              <a:t>bne</a:t>
            </a:r>
            <a:r>
              <a:rPr lang="en-US" altLang="ja-JP" dirty="0">
                <a:solidFill>
                  <a:schemeClr val="tx1">
                    <a:lumMod val="75000"/>
                    <a:lumOff val="25000"/>
                  </a:schemeClr>
                </a:solidFill>
                <a:latin typeface="Arial Narrow" panose="020B0606020202030204" pitchFamily="34" charset="0"/>
              </a:rPr>
              <a:t> x1,x2,0x4180</a:t>
            </a:r>
          </a:p>
          <a:p>
            <a:pPr>
              <a:lnSpc>
                <a:spcPct val="80000"/>
              </a:lnSpc>
            </a:pPr>
            <a:r>
              <a:rPr lang="en-US" altLang="ja-JP" b="1" dirty="0">
                <a:solidFill>
                  <a:schemeClr val="accent5"/>
                </a:solidFill>
                <a:latin typeface="Arial Narrow" panose="020B0606020202030204" pitchFamily="34" charset="0"/>
              </a:rPr>
              <a:t>0x400</a:t>
            </a:r>
            <a:r>
              <a:rPr lang="en-US" altLang="ja-JP" b="1" dirty="0">
                <a:solidFill>
                  <a:schemeClr val="accent3">
                    <a:lumMod val="75000"/>
                  </a:schemeClr>
                </a:solidFill>
                <a:latin typeface="Arial Narrow" panose="020B0606020202030204" pitchFamily="34" charset="0"/>
              </a:rPr>
              <a:t>c</a:t>
            </a:r>
            <a:r>
              <a:rPr lang="en-US" altLang="ja-JP" dirty="0">
                <a:solidFill>
                  <a:schemeClr val="tx1">
                    <a:lumMod val="75000"/>
                    <a:lumOff val="25000"/>
                  </a:schemeClr>
                </a:solidFill>
                <a:latin typeface="Arial Narrow" panose="020B0606020202030204" pitchFamily="34" charset="0"/>
              </a:rPr>
              <a:t>  add ...</a:t>
            </a:r>
          </a:p>
          <a:p>
            <a:pPr>
              <a:lnSpc>
                <a:spcPct val="80000"/>
              </a:lnSpc>
            </a:pPr>
            <a:r>
              <a:rPr lang="en-US" altLang="ja-JP" dirty="0">
                <a:solidFill>
                  <a:schemeClr val="tx1">
                    <a:lumMod val="75000"/>
                    <a:lumOff val="25000"/>
                  </a:schemeClr>
                </a:solidFill>
                <a:latin typeface="Arial Narrow" panose="020B0606020202030204" pitchFamily="34" charset="0"/>
              </a:rPr>
              <a:t> ...         ...</a:t>
            </a:r>
          </a:p>
          <a:p>
            <a:pPr>
              <a:lnSpc>
                <a:spcPct val="80000"/>
              </a:lnSpc>
            </a:pPr>
            <a:r>
              <a:rPr lang="en-US" altLang="ja-JP" dirty="0">
                <a:solidFill>
                  <a:schemeClr val="tx1">
                    <a:lumMod val="75000"/>
                    <a:lumOff val="25000"/>
                  </a:schemeClr>
                </a:solidFill>
                <a:latin typeface="Arial Narrow" panose="020B0606020202030204" pitchFamily="34" charset="0"/>
              </a:rPr>
              <a:t>0x4180  sub ...</a:t>
            </a:r>
            <a:endParaRPr lang="ja-JP" altLang="en-US" dirty="0">
              <a:solidFill>
                <a:schemeClr val="tx1">
                  <a:lumMod val="75000"/>
                  <a:lumOff val="25000"/>
                </a:schemeClr>
              </a:solidFill>
              <a:latin typeface="Arial Narrow" panose="020B0606020202030204" pitchFamily="34" charset="0"/>
            </a:endParaRPr>
          </a:p>
        </p:txBody>
      </p:sp>
      <p:sp>
        <p:nvSpPr>
          <p:cNvPr id="45" name="正方形/長方形 44"/>
          <p:cNvSpPr/>
          <p:nvPr/>
        </p:nvSpPr>
        <p:spPr bwMode="auto">
          <a:xfrm>
            <a:off x="6636007" y="1358977"/>
            <a:ext cx="3330037"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47" name="正方形/長方形 46"/>
          <p:cNvSpPr/>
          <p:nvPr/>
        </p:nvSpPr>
        <p:spPr bwMode="auto">
          <a:xfrm>
            <a:off x="6636007" y="1718981"/>
            <a:ext cx="3330037"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48" name="正方形/長方形 47"/>
          <p:cNvSpPr/>
          <p:nvPr/>
        </p:nvSpPr>
        <p:spPr bwMode="auto">
          <a:xfrm>
            <a:off x="6636007" y="2078985"/>
            <a:ext cx="3330037"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50" name="正方形/長方形 49"/>
          <p:cNvSpPr/>
          <p:nvPr/>
        </p:nvSpPr>
        <p:spPr bwMode="auto">
          <a:xfrm>
            <a:off x="6276003" y="135897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51" name="正方形/長方形 50"/>
          <p:cNvSpPr/>
          <p:nvPr/>
        </p:nvSpPr>
        <p:spPr bwMode="auto">
          <a:xfrm>
            <a:off x="6276002" y="171898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52" name="正方形/長方形 51"/>
          <p:cNvSpPr/>
          <p:nvPr/>
        </p:nvSpPr>
        <p:spPr bwMode="auto">
          <a:xfrm>
            <a:off x="6276002"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3" name="正方形/長方形 52"/>
          <p:cNvSpPr/>
          <p:nvPr/>
        </p:nvSpPr>
        <p:spPr bwMode="auto">
          <a:xfrm>
            <a:off x="7176012"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4" name="正方形/長方形 53"/>
          <p:cNvSpPr/>
          <p:nvPr/>
        </p:nvSpPr>
        <p:spPr bwMode="auto">
          <a:xfrm>
            <a:off x="8886031"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5" name="正方形/長方形 54"/>
          <p:cNvSpPr/>
          <p:nvPr/>
        </p:nvSpPr>
        <p:spPr bwMode="auto">
          <a:xfrm>
            <a:off x="6276002" y="243898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b="1" dirty="0">
                <a:solidFill>
                  <a:schemeClr val="accent3">
                    <a:lumMod val="75000"/>
                  </a:schemeClr>
                </a:solidFill>
                <a:latin typeface="Arial Narrow" panose="020B0606020202030204" pitchFamily="34" charset="0"/>
              </a:rPr>
              <a:t>8</a:t>
            </a:r>
            <a:endParaRPr lang="ja-JP" altLang="en-US" sz="2000" b="1" dirty="0">
              <a:solidFill>
                <a:schemeClr val="accent3">
                  <a:lumMod val="75000"/>
                </a:schemeClr>
              </a:solidFill>
              <a:latin typeface="Arial Narrow" panose="020B0606020202030204" pitchFamily="34" charset="0"/>
            </a:endParaRPr>
          </a:p>
        </p:txBody>
      </p:sp>
      <p:sp>
        <p:nvSpPr>
          <p:cNvPr id="56" name="正方形/長方形 55"/>
          <p:cNvSpPr/>
          <p:nvPr/>
        </p:nvSpPr>
        <p:spPr bwMode="auto">
          <a:xfrm>
            <a:off x="6276002"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7" name="正方形/長方形 56"/>
          <p:cNvSpPr/>
          <p:nvPr/>
        </p:nvSpPr>
        <p:spPr bwMode="auto">
          <a:xfrm>
            <a:off x="7176012"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8" name="正方形/長方形 57"/>
          <p:cNvSpPr/>
          <p:nvPr/>
        </p:nvSpPr>
        <p:spPr bwMode="auto">
          <a:xfrm>
            <a:off x="8886031"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59" name="Rectangle 195"/>
          <p:cNvSpPr>
            <a:spLocks noChangeArrowheads="1"/>
          </p:cNvSpPr>
          <p:nvPr/>
        </p:nvSpPr>
        <p:spPr bwMode="auto">
          <a:xfrm>
            <a:off x="6636006" y="3158639"/>
            <a:ext cx="1439862"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dirty="0">
                <a:solidFill>
                  <a:schemeClr val="tx1">
                    <a:lumMod val="75000"/>
                    <a:lumOff val="25000"/>
                  </a:schemeClr>
                </a:solidFill>
                <a:latin typeface="Segoe UI" panose="020B0502040204020203" pitchFamily="34" charset="0"/>
                <a:ea typeface="MeiryoKe_PGothic" pitchFamily="50" charset="-128"/>
              </a:rPr>
              <a:t>f88</a:t>
            </a:r>
            <a:endParaRPr lang="ja-JP" altLang="en-US" dirty="0">
              <a:solidFill>
                <a:schemeClr val="tx1">
                  <a:lumMod val="75000"/>
                  <a:lumOff val="25000"/>
                </a:schemeClr>
              </a:solidFill>
              <a:latin typeface="Segoe UI" panose="020B0502040204020203" pitchFamily="34" charset="0"/>
              <a:ea typeface="MeiryoKe_PGothic" pitchFamily="50" charset="-128"/>
            </a:endParaRPr>
          </a:p>
        </p:txBody>
      </p:sp>
      <p:sp>
        <p:nvSpPr>
          <p:cNvPr id="60" name="Rectangle 195"/>
          <p:cNvSpPr>
            <a:spLocks noChangeArrowheads="1"/>
          </p:cNvSpPr>
          <p:nvPr/>
        </p:nvSpPr>
        <p:spPr bwMode="auto">
          <a:xfrm>
            <a:off x="8076023" y="3158639"/>
            <a:ext cx="1889303" cy="360363"/>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dirty="0">
                <a:solidFill>
                  <a:schemeClr val="tx1">
                    <a:lumMod val="75000"/>
                    <a:lumOff val="25000"/>
                  </a:schemeClr>
                </a:solidFill>
                <a:latin typeface="Segoe UI" panose="020B0502040204020203" pitchFamily="34" charset="0"/>
                <a:ea typeface="MeiryoKe_PGothic" pitchFamily="50" charset="-128"/>
              </a:rPr>
              <a:t>ff80</a:t>
            </a:r>
            <a:endParaRPr lang="ja-JP" altLang="en-US" dirty="0">
              <a:solidFill>
                <a:schemeClr val="tx1">
                  <a:lumMod val="75000"/>
                  <a:lumOff val="25000"/>
                </a:schemeClr>
              </a:solidFill>
              <a:latin typeface="Segoe UI" panose="020B0502040204020203" pitchFamily="34" charset="0"/>
              <a:ea typeface="MeiryoKe_PGothic" pitchFamily="50" charset="-128"/>
            </a:endParaRPr>
          </a:p>
        </p:txBody>
      </p:sp>
      <p:sp>
        <p:nvSpPr>
          <p:cNvPr id="61" name="正方形/長方形 60"/>
          <p:cNvSpPr/>
          <p:nvPr/>
        </p:nvSpPr>
        <p:spPr bwMode="auto">
          <a:xfrm>
            <a:off x="6276002" y="31589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b="1" dirty="0">
                <a:solidFill>
                  <a:schemeClr val="accent3">
                    <a:lumMod val="75000"/>
                  </a:schemeClr>
                </a:solidFill>
                <a:latin typeface="Arial Narrow" panose="020B0606020202030204" pitchFamily="34" charset="0"/>
              </a:rPr>
              <a:t>C</a:t>
            </a:r>
            <a:endParaRPr lang="ja-JP" altLang="en-US" sz="2000" b="1" dirty="0">
              <a:solidFill>
                <a:schemeClr val="accent3">
                  <a:lumMod val="75000"/>
                </a:schemeClr>
              </a:solidFill>
              <a:latin typeface="Arial Narrow" panose="020B0606020202030204" pitchFamily="34" charset="0"/>
            </a:endParaRPr>
          </a:p>
        </p:txBody>
      </p:sp>
      <p:sp>
        <p:nvSpPr>
          <p:cNvPr id="62" name="正方形/長方形 61"/>
          <p:cNvSpPr/>
          <p:nvPr/>
        </p:nvSpPr>
        <p:spPr bwMode="auto">
          <a:xfrm>
            <a:off x="6276002" y="35190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3" name="正方形/長方形 62"/>
          <p:cNvSpPr/>
          <p:nvPr/>
        </p:nvSpPr>
        <p:spPr bwMode="auto">
          <a:xfrm>
            <a:off x="7176012" y="35190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4" name="正方形/長方形 63"/>
          <p:cNvSpPr/>
          <p:nvPr/>
        </p:nvSpPr>
        <p:spPr bwMode="auto">
          <a:xfrm>
            <a:off x="8886031" y="35190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5" name="Rectangle 132"/>
          <p:cNvSpPr>
            <a:spLocks noChangeArrowheads="1"/>
          </p:cNvSpPr>
          <p:nvPr/>
        </p:nvSpPr>
        <p:spPr bwMode="auto">
          <a:xfrm>
            <a:off x="8076023" y="998974"/>
            <a:ext cx="1890021" cy="35877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Segoe UI" panose="020B0502040204020203" pitchFamily="34" charset="0"/>
                <a:ea typeface="MeiryoKe_PGothic" pitchFamily="50" charset="-128"/>
              </a:rPr>
              <a:t>taken PC</a:t>
            </a:r>
          </a:p>
        </p:txBody>
      </p:sp>
      <p:sp>
        <p:nvSpPr>
          <p:cNvPr id="66" name="Rectangle 133"/>
          <p:cNvSpPr>
            <a:spLocks noChangeArrowheads="1"/>
          </p:cNvSpPr>
          <p:nvPr/>
        </p:nvSpPr>
        <p:spPr bwMode="auto">
          <a:xfrm>
            <a:off x="6636211" y="998974"/>
            <a:ext cx="1439862"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Segoe UI" panose="020B0502040204020203" pitchFamily="34" charset="0"/>
                <a:ea typeface="MeiryoKe_PGothic" pitchFamily="50" charset="-128"/>
              </a:rPr>
              <a:t>tag</a:t>
            </a:r>
          </a:p>
        </p:txBody>
      </p:sp>
    </p:spTree>
    <p:extLst>
      <p:ext uri="{BB962C8B-B14F-4D97-AF65-F5344CB8AC3E}">
        <p14:creationId xmlns:p14="http://schemas.microsoft.com/office/powerpoint/2010/main" val="4276480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（古典的な）</a:t>
            </a:r>
            <a:r>
              <a:rPr lang="en-US" altLang="ja-JP" dirty="0"/>
              <a:t>BTB </a:t>
            </a:r>
            <a:r>
              <a:rPr lang="ja-JP" altLang="en-US" dirty="0"/>
              <a:t>の特徴</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高速にアクセスする必要がある</a:t>
            </a:r>
            <a:endParaRPr lang="en-US" altLang="ja-JP" dirty="0"/>
          </a:p>
          <a:p>
            <a:pPr lvl="1"/>
            <a:r>
              <a:rPr lang="ja-JP" altLang="en-US" dirty="0"/>
              <a:t>１サイクル以内に処理が完結する必要がある</a:t>
            </a:r>
            <a:endParaRPr lang="en-US" altLang="ja-JP" dirty="0"/>
          </a:p>
          <a:p>
            <a:pPr lvl="1"/>
            <a:r>
              <a:rPr lang="ja-JP" altLang="en-US" dirty="0"/>
              <a:t>そうしないと，毎サイクル命令フェッチができない</a:t>
            </a:r>
            <a:endParaRPr lang="en-US" altLang="ja-JP" dirty="0"/>
          </a:p>
          <a:p>
            <a:pPr marL="457200" indent="-457200">
              <a:buFont typeface="+mj-lt"/>
              <a:buAutoNum type="arabicPeriod"/>
            </a:pPr>
            <a:r>
              <a:rPr lang="ja-JP" altLang="en-US" dirty="0"/>
              <a:t>エントリ数は比較的小さい</a:t>
            </a:r>
            <a:endParaRPr lang="en-US" altLang="ja-JP" dirty="0"/>
          </a:p>
          <a:p>
            <a:pPr lvl="1"/>
            <a:r>
              <a:rPr lang="ja-JP" altLang="en-US" dirty="0"/>
              <a:t>最大でも数</a:t>
            </a:r>
            <a:r>
              <a:rPr lang="en-US" altLang="ja-JP" dirty="0"/>
              <a:t>K</a:t>
            </a:r>
            <a:r>
              <a:rPr lang="ja-JP" altLang="en-US" dirty="0"/>
              <a:t>エントリ程度</a:t>
            </a:r>
            <a:endParaRPr lang="en-US" altLang="ja-JP" dirty="0"/>
          </a:p>
          <a:p>
            <a:pPr lvl="1"/>
            <a:r>
              <a:rPr lang="ja-JP" altLang="en-US" dirty="0"/>
              <a:t>色々と方法が発明され，最近はそうでもなくなってきた（後述）</a:t>
            </a:r>
            <a:endParaRPr lang="en-US" altLang="ja-JP" dirty="0"/>
          </a:p>
          <a:p>
            <a:pPr marL="457200" indent="-457200">
              <a:buFont typeface="+mj-lt"/>
              <a:buAutoNum type="arabicPeriod"/>
            </a:pPr>
            <a:r>
              <a:rPr kumimoji="1" lang="ja-JP" altLang="en-US" dirty="0"/>
              <a:t>ハッシュ表としては，かなり単純な構造を持つ</a:t>
            </a:r>
            <a:endParaRPr kumimoji="1" lang="en-US" altLang="ja-JP" dirty="0"/>
          </a:p>
          <a:p>
            <a:pPr lvl="1"/>
            <a:r>
              <a:rPr kumimoji="1" lang="ja-JP" altLang="en-US" dirty="0"/>
              <a:t>ハッシュ関数は，アドレスの一部を切り出してそのまま使う</a:t>
            </a:r>
            <a:endParaRPr kumimoji="1" lang="en-US" altLang="ja-JP" dirty="0"/>
          </a:p>
          <a:p>
            <a:pPr lvl="1"/>
            <a:r>
              <a:rPr kumimoji="1" lang="ja-JP" altLang="en-US" dirty="0"/>
              <a:t>表の各エントリは固定長（古いものは上書きされる）</a:t>
            </a:r>
            <a:endParaRPr kumimoji="1" lang="en-US" altLang="ja-JP" dirty="0"/>
          </a:p>
        </p:txBody>
      </p:sp>
    </p:spTree>
    <p:extLst>
      <p:ext uri="{BB962C8B-B14F-4D97-AF65-F5344CB8AC3E}">
        <p14:creationId xmlns:p14="http://schemas.microsoft.com/office/powerpoint/2010/main" val="338799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BTB </a:t>
            </a:r>
            <a:r>
              <a:rPr kumimoji="1" lang="ja-JP" altLang="en-US" dirty="0"/>
              <a:t>の</a:t>
            </a:r>
            <a:r>
              <a:rPr lang="ja-JP" altLang="en-US" dirty="0"/>
              <a:t>構成</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階層化された </a:t>
            </a:r>
            <a:r>
              <a:rPr kumimoji="1" lang="en-US" altLang="ja-JP" dirty="0"/>
              <a:t>BTB </a:t>
            </a:r>
            <a:r>
              <a:rPr kumimoji="1" lang="ja-JP" altLang="en-US" dirty="0"/>
              <a:t>を持つ場合もある</a:t>
            </a:r>
            <a:endParaRPr kumimoji="1" lang="en-US" altLang="ja-JP" dirty="0"/>
          </a:p>
          <a:p>
            <a:pPr lvl="1"/>
            <a:r>
              <a:rPr kumimoji="1" lang="en-US" altLang="ja-JP" dirty="0"/>
              <a:t>AMD Zen</a:t>
            </a:r>
            <a:r>
              <a:rPr kumimoji="1" lang="ja-JP" altLang="en-US" dirty="0"/>
              <a:t>：</a:t>
            </a:r>
            <a:r>
              <a:rPr kumimoji="1" lang="en-US" altLang="ja-JP" dirty="0"/>
              <a:t>16</a:t>
            </a:r>
            <a:r>
              <a:rPr kumimoji="1" lang="ja-JP" altLang="en-US" dirty="0"/>
              <a:t>エントリ</a:t>
            </a:r>
            <a:r>
              <a:rPr kumimoji="1" lang="en-US" altLang="ja-JP" dirty="0"/>
              <a:t>L0+512</a:t>
            </a:r>
            <a:r>
              <a:rPr kumimoji="1" lang="ja-JP" altLang="en-US" dirty="0"/>
              <a:t>エントリ</a:t>
            </a:r>
            <a:r>
              <a:rPr kumimoji="1" lang="en-US" altLang="ja-JP" dirty="0"/>
              <a:t>L1+7168</a:t>
            </a:r>
            <a:r>
              <a:rPr kumimoji="1" lang="ja-JP" altLang="en-US" dirty="0"/>
              <a:t>エントリ</a:t>
            </a:r>
            <a:r>
              <a:rPr kumimoji="1" lang="en-US" altLang="ja-JP" dirty="0"/>
              <a:t> BTB</a:t>
            </a:r>
          </a:p>
          <a:p>
            <a:pPr lvl="1"/>
            <a:r>
              <a:rPr lang="en-US" altLang="ja-JP" dirty="0"/>
              <a:t>ARM Cortex A72</a:t>
            </a:r>
            <a:r>
              <a:rPr lang="ja-JP" altLang="en-US" dirty="0"/>
              <a:t>：</a:t>
            </a:r>
            <a:r>
              <a:rPr lang="en-US" altLang="ja-JP" dirty="0"/>
              <a:t>64</a:t>
            </a:r>
            <a:r>
              <a:rPr lang="ja-JP" altLang="en-US" dirty="0"/>
              <a:t>エントリ</a:t>
            </a:r>
            <a:r>
              <a:rPr lang="en-US" altLang="ja-JP" dirty="0"/>
              <a:t>L1 + 2K</a:t>
            </a:r>
            <a:r>
              <a:rPr lang="ja-JP" altLang="en-US" dirty="0"/>
              <a:t>エントリ</a:t>
            </a:r>
            <a:r>
              <a:rPr lang="en-US" altLang="ja-JP" dirty="0"/>
              <a:t>L2 BTB</a:t>
            </a:r>
          </a:p>
          <a:p>
            <a:r>
              <a:rPr kumimoji="1" lang="en-US" altLang="ja-JP" dirty="0"/>
              <a:t>L2 BTB </a:t>
            </a:r>
            <a:r>
              <a:rPr kumimoji="1" lang="ja-JP" altLang="en-US" dirty="0"/>
              <a:t>アクセスには数サイクルかかる</a:t>
            </a:r>
            <a:endParaRPr kumimoji="1" lang="en-US" altLang="ja-JP" dirty="0"/>
          </a:p>
          <a:p>
            <a:pPr lvl="1"/>
            <a:r>
              <a:rPr kumimoji="1" lang="en-US" altLang="ja-JP" dirty="0"/>
              <a:t>L2 BTB </a:t>
            </a:r>
            <a:r>
              <a:rPr kumimoji="1" lang="ja-JP" altLang="en-US" dirty="0"/>
              <a:t>により分岐が判明した場合，予測ミスからの回復が行われる</a:t>
            </a:r>
          </a:p>
        </p:txBody>
      </p:sp>
    </p:spTree>
    <p:extLst>
      <p:ext uri="{BB962C8B-B14F-4D97-AF65-F5344CB8AC3E}">
        <p14:creationId xmlns:p14="http://schemas.microsoft.com/office/powerpoint/2010/main" val="2590591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967EE0-5E11-C597-2BBF-B882619EC0AC}"/>
              </a:ext>
            </a:extLst>
          </p:cNvPr>
          <p:cNvSpPr>
            <a:spLocks noGrp="1"/>
          </p:cNvSpPr>
          <p:nvPr>
            <p:ph type="title"/>
          </p:nvPr>
        </p:nvSpPr>
        <p:spPr/>
        <p:txBody>
          <a:bodyPr/>
          <a:lstStyle/>
          <a:p>
            <a:r>
              <a:rPr kumimoji="1" lang="ja-JP" altLang="en-US" dirty="0"/>
              <a:t>最近の </a:t>
            </a:r>
            <a:r>
              <a:rPr kumimoji="1" lang="en-US" altLang="ja-JP" dirty="0"/>
              <a:t>BTB </a:t>
            </a:r>
            <a:endParaRPr kumimoji="1" lang="ja-JP" altLang="en-US" dirty="0"/>
          </a:p>
        </p:txBody>
      </p:sp>
      <p:sp>
        <p:nvSpPr>
          <p:cNvPr id="3" name="テキスト プレースホルダー 2">
            <a:extLst>
              <a:ext uri="{FF2B5EF4-FFF2-40B4-BE49-F238E27FC236}">
                <a16:creationId xmlns:a16="http://schemas.microsoft.com/office/drawing/2014/main" id="{38E5A8B9-875E-B3E7-AF37-DC489C071404}"/>
              </a:ext>
            </a:extLst>
          </p:cNvPr>
          <p:cNvSpPr>
            <a:spLocks noGrp="1"/>
          </p:cNvSpPr>
          <p:nvPr>
            <p:ph type="body" sz="quarter" idx="10"/>
          </p:nvPr>
        </p:nvSpPr>
        <p:spPr>
          <a:xfrm>
            <a:off x="1055944" y="1088974"/>
            <a:ext cx="10080112" cy="5219751"/>
          </a:xfrm>
        </p:spPr>
        <p:txBody>
          <a:bodyPr/>
          <a:lstStyle/>
          <a:p>
            <a:r>
              <a:rPr kumimoji="1" lang="ja-JP" altLang="en-US" dirty="0"/>
              <a:t>非常に大型化している</a:t>
            </a:r>
            <a:endParaRPr lang="en-US" altLang="ja-JP" dirty="0"/>
          </a:p>
          <a:p>
            <a:pPr lvl="1"/>
            <a:r>
              <a:rPr kumimoji="1" lang="en-US" altLang="ja-JP" dirty="0"/>
              <a:t>Zen4</a:t>
            </a:r>
            <a:r>
              <a:rPr kumimoji="1" lang="ja-JP" altLang="en-US" dirty="0"/>
              <a:t>：</a:t>
            </a:r>
            <a:r>
              <a:rPr kumimoji="1" lang="en-US" altLang="ja-JP" dirty="0"/>
              <a:t>1.5K </a:t>
            </a:r>
            <a:r>
              <a:rPr kumimoji="1" lang="ja-JP" altLang="en-US" dirty="0"/>
              <a:t>エントリ </a:t>
            </a:r>
            <a:r>
              <a:rPr kumimoji="1" lang="en-US" altLang="ja-JP" dirty="0"/>
              <a:t>L1 + 7K</a:t>
            </a:r>
            <a:r>
              <a:rPr kumimoji="1" lang="ja-JP" altLang="en-US" dirty="0"/>
              <a:t>エントリ </a:t>
            </a:r>
            <a:r>
              <a:rPr kumimoji="1" lang="en-US" altLang="ja-JP" dirty="0"/>
              <a:t>L2</a:t>
            </a:r>
          </a:p>
          <a:p>
            <a:r>
              <a:rPr kumimoji="1" lang="ja-JP" altLang="en-US" dirty="0"/>
              <a:t>推定される要因：</a:t>
            </a:r>
            <a:endParaRPr kumimoji="1" lang="en-US" altLang="ja-JP" dirty="0"/>
          </a:p>
          <a:p>
            <a:pPr lvl="1"/>
            <a:r>
              <a:rPr kumimoji="1" lang="ja-JP" altLang="en-US" dirty="0"/>
              <a:t>デカップルド・フロントエンド（</a:t>
            </a:r>
            <a:r>
              <a:rPr kumimoji="1" lang="en-US" altLang="ja-JP" dirty="0"/>
              <a:t>decoupled frontend</a:t>
            </a:r>
            <a:r>
              <a:rPr kumimoji="1" lang="ja-JP" altLang="en-US" dirty="0"/>
              <a:t>）</a:t>
            </a:r>
            <a:endParaRPr kumimoji="1" lang="en-US" altLang="ja-JP" dirty="0"/>
          </a:p>
          <a:p>
            <a:pPr lvl="2"/>
            <a:r>
              <a:rPr lang="ja-JP" altLang="en-US" dirty="0"/>
              <a:t>分岐予測器が命令キャッシュアクセスから分離されている構成</a:t>
            </a:r>
            <a:endParaRPr lang="en-US" altLang="ja-JP" dirty="0"/>
          </a:p>
          <a:p>
            <a:pPr lvl="3"/>
            <a:r>
              <a:rPr kumimoji="1" lang="ja-JP" altLang="en-US" dirty="0"/>
              <a:t>分岐予測器がフェッチよりも先に走ることでプリフェッチする</a:t>
            </a:r>
            <a:endParaRPr kumimoji="1" lang="en-US" altLang="ja-JP" dirty="0"/>
          </a:p>
          <a:p>
            <a:pPr lvl="2"/>
            <a:r>
              <a:rPr kumimoji="1" lang="ja-JP" altLang="en-US" dirty="0"/>
              <a:t>分岐予測精度や </a:t>
            </a:r>
            <a:r>
              <a:rPr kumimoji="1" lang="en-US" altLang="ja-JP" dirty="0"/>
              <a:t>BTB </a:t>
            </a:r>
            <a:r>
              <a:rPr kumimoji="1" lang="ja-JP" altLang="en-US" dirty="0"/>
              <a:t>ヒット率が重要なため，大型化</a:t>
            </a:r>
            <a:endParaRPr kumimoji="1" lang="en-US" altLang="ja-JP" dirty="0"/>
          </a:p>
          <a:p>
            <a:pPr lvl="1"/>
            <a:r>
              <a:rPr kumimoji="1" lang="ja-JP" altLang="en-US" dirty="0"/>
              <a:t>アヘッド・パイプライン（</a:t>
            </a:r>
            <a:r>
              <a:rPr kumimoji="1" lang="en-US" altLang="ja-JP" dirty="0"/>
              <a:t>ahead pipelining</a:t>
            </a:r>
            <a:r>
              <a:rPr kumimoji="1" lang="ja-JP" altLang="en-US" dirty="0"/>
              <a:t>）</a:t>
            </a:r>
            <a:endParaRPr kumimoji="1" lang="en-US" altLang="ja-JP" dirty="0"/>
          </a:p>
          <a:p>
            <a:pPr lvl="2"/>
            <a:r>
              <a:rPr kumimoji="1" lang="ja-JP" altLang="en-US" dirty="0"/>
              <a:t>１サイクル前の </a:t>
            </a:r>
            <a:r>
              <a:rPr kumimoji="1" lang="en-US" altLang="ja-JP" dirty="0"/>
              <a:t>PC </a:t>
            </a:r>
            <a:r>
              <a:rPr kumimoji="1" lang="ja-JP" altLang="en-US" dirty="0"/>
              <a:t>で </a:t>
            </a:r>
            <a:r>
              <a:rPr kumimoji="1" lang="en-US" altLang="ja-JP" dirty="0"/>
              <a:t>BTB </a:t>
            </a:r>
            <a:r>
              <a:rPr kumimoji="1" lang="ja-JP" altLang="en-US" dirty="0"/>
              <a:t>を引き，</a:t>
            </a:r>
            <a:r>
              <a:rPr lang="ja-JP" altLang="en-US" dirty="0"/>
              <a:t>タグ比較はそのサイクルの </a:t>
            </a:r>
            <a:r>
              <a:rPr lang="en-US" altLang="ja-JP" dirty="0"/>
              <a:t>PC </a:t>
            </a:r>
            <a:r>
              <a:rPr lang="ja-JP" altLang="en-US" dirty="0"/>
              <a:t>で行う</a:t>
            </a:r>
            <a:endParaRPr lang="en-US" altLang="ja-JP" dirty="0"/>
          </a:p>
          <a:p>
            <a:pPr lvl="2"/>
            <a:r>
              <a:rPr lang="ja-JP" altLang="en-US" dirty="0"/>
              <a:t>パイプライン化されるため，１サイクル内で処理が完結する必要がない</a:t>
            </a:r>
            <a:endParaRPr lang="en-US" altLang="ja-JP" dirty="0"/>
          </a:p>
          <a:p>
            <a:r>
              <a:rPr lang="ja-JP" altLang="en-US" dirty="0"/>
              <a:t>デカップルド・フロントエンドやアヘッド・パイプラインは次回以降で述べる</a:t>
            </a:r>
            <a:endParaRPr kumimoji="1" lang="ja-JP" altLang="en-US" dirty="0"/>
          </a:p>
        </p:txBody>
      </p:sp>
    </p:spTree>
    <p:extLst>
      <p:ext uri="{BB962C8B-B14F-4D97-AF65-F5344CB8AC3E}">
        <p14:creationId xmlns:p14="http://schemas.microsoft.com/office/powerpoint/2010/main" val="1656349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分岐かどうか</a:t>
            </a:r>
            <a:r>
              <a:rPr kumimoji="1" lang="en-US" altLang="ja-JP" dirty="0"/>
              <a:t>&amp;</a:t>
            </a:r>
            <a:r>
              <a:rPr kumimoji="1" lang="ja-JP" altLang="en-US" dirty="0"/>
              <a:t>分岐先ターゲット予測のまとめ</a:t>
            </a:r>
          </a:p>
        </p:txBody>
      </p:sp>
      <p:sp>
        <p:nvSpPr>
          <p:cNvPr id="3" name="テキスト プレースホルダー 2"/>
          <p:cNvSpPr>
            <a:spLocks noGrp="1"/>
          </p:cNvSpPr>
          <p:nvPr>
            <p:ph type="body" sz="quarter" idx="10"/>
          </p:nvPr>
        </p:nvSpPr>
        <p:spPr>
          <a:xfrm>
            <a:off x="1055944" y="1088974"/>
            <a:ext cx="9450105" cy="5219751"/>
          </a:xfrm>
        </p:spPr>
        <p:txBody>
          <a:bodyPr/>
          <a:lstStyle/>
          <a:p>
            <a:r>
              <a:rPr kumimoji="1" lang="ja-JP" altLang="en-US" dirty="0"/>
              <a:t>分岐かどうか </a:t>
            </a:r>
            <a:r>
              <a:rPr kumimoji="1" lang="en-US" altLang="ja-JP" dirty="0"/>
              <a:t>&amp; </a:t>
            </a:r>
            <a:r>
              <a:rPr kumimoji="1" lang="ja-JP" altLang="en-US" dirty="0"/>
              <a:t>分岐先ターゲットを予測する必要がある</a:t>
            </a:r>
            <a:endParaRPr kumimoji="1" lang="en-US" altLang="ja-JP" dirty="0"/>
          </a:p>
          <a:p>
            <a:pPr lvl="1"/>
            <a:r>
              <a:rPr kumimoji="1" lang="ja-JP" altLang="en-US" dirty="0"/>
              <a:t>命令をデコードするまでは，それらがわからない</a:t>
            </a:r>
            <a:endParaRPr kumimoji="1" lang="en-US" altLang="ja-JP" dirty="0"/>
          </a:p>
          <a:p>
            <a:r>
              <a:rPr kumimoji="1" lang="en-US" altLang="ja-JP" dirty="0"/>
              <a:t>BTB </a:t>
            </a:r>
            <a:r>
              <a:rPr kumimoji="1" lang="ja-JP" altLang="en-US" dirty="0"/>
              <a:t>を使った予測</a:t>
            </a:r>
            <a:endParaRPr kumimoji="1" lang="en-US" altLang="ja-JP" dirty="0"/>
          </a:p>
          <a:p>
            <a:pPr lvl="1"/>
            <a:r>
              <a:rPr lang="en-US" altLang="ja-JP" dirty="0"/>
              <a:t>BTB</a:t>
            </a:r>
            <a:r>
              <a:rPr lang="ja-JP" altLang="en-US" dirty="0"/>
              <a:t>：機能的にはハッシュ表</a:t>
            </a:r>
            <a:endParaRPr lang="en-US" altLang="ja-JP" dirty="0"/>
          </a:p>
          <a:p>
            <a:pPr lvl="2"/>
            <a:r>
              <a:rPr lang="ja-JP" altLang="en-US" dirty="0"/>
              <a:t>入力：予測対象の </a:t>
            </a:r>
            <a:r>
              <a:rPr lang="en-US" altLang="ja-JP" dirty="0"/>
              <a:t>PC </a:t>
            </a:r>
          </a:p>
          <a:p>
            <a:pPr lvl="2"/>
            <a:r>
              <a:rPr lang="ja-JP" altLang="en-US" dirty="0"/>
              <a:t>中身：分岐先ターゲット</a:t>
            </a:r>
            <a:endParaRPr lang="en-US" altLang="ja-JP" dirty="0"/>
          </a:p>
          <a:p>
            <a:pPr lvl="1"/>
            <a:r>
              <a:rPr lang="ja-JP" altLang="en-US" dirty="0"/>
              <a:t>フェッチ時は，まず </a:t>
            </a:r>
            <a:r>
              <a:rPr lang="en-US" altLang="ja-JP" dirty="0"/>
              <a:t>BTB </a:t>
            </a:r>
            <a:r>
              <a:rPr lang="ja-JP" altLang="en-US" dirty="0"/>
              <a:t>にアクセスして分岐かどうかとターゲットを予測</a:t>
            </a:r>
          </a:p>
        </p:txBody>
      </p:sp>
    </p:spTree>
    <p:extLst>
      <p:ext uri="{BB962C8B-B14F-4D97-AF65-F5344CB8AC3E}">
        <p14:creationId xmlns:p14="http://schemas.microsoft.com/office/powerpoint/2010/main" val="31113681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分岐方向予測</a:t>
            </a:r>
          </a:p>
        </p:txBody>
      </p:sp>
      <p:sp>
        <p:nvSpPr>
          <p:cNvPr id="3" name="テキスト プレースホルダー 2"/>
          <p:cNvSpPr>
            <a:spLocks noGrp="1"/>
          </p:cNvSpPr>
          <p:nvPr>
            <p:ph type="body" sz="quarter" idx="10"/>
          </p:nvPr>
        </p:nvSpPr>
        <p:spPr/>
        <p:txBody>
          <a:bodyPr/>
          <a:lstStyle/>
          <a:p>
            <a:r>
              <a:rPr kumimoji="1" lang="ja-JP" altLang="en-US" dirty="0"/>
              <a:t>以降，「分岐予測」と言った場合は「分岐方向予測」の意味に</a:t>
            </a:r>
            <a:endParaRPr kumimoji="1" lang="en-US" altLang="ja-JP" dirty="0"/>
          </a:p>
          <a:p>
            <a:r>
              <a:rPr kumimoji="1" lang="ja-JP" altLang="en-US" dirty="0"/>
              <a:t>以下の</a:t>
            </a:r>
            <a:r>
              <a:rPr kumimoji="1" lang="en-US" altLang="ja-JP" dirty="0"/>
              <a:t>2</a:t>
            </a:r>
            <a:r>
              <a:rPr kumimoji="1" lang="ja-JP" altLang="en-US" dirty="0" err="1"/>
              <a:t>つに</a:t>
            </a:r>
            <a:r>
              <a:rPr kumimoji="1" lang="ja-JP" altLang="en-US" dirty="0"/>
              <a:t>大きく分けられる</a:t>
            </a:r>
            <a:endParaRPr lang="en-US" altLang="ja-JP" dirty="0"/>
          </a:p>
          <a:p>
            <a:pPr marL="817200" lvl="1" indent="-457200">
              <a:buFont typeface="+mj-lt"/>
              <a:buAutoNum type="arabicPeriod"/>
            </a:pPr>
            <a:r>
              <a:rPr kumimoji="1" lang="ja-JP" altLang="en-US" dirty="0"/>
              <a:t>静的分岐予測</a:t>
            </a:r>
            <a:endParaRPr kumimoji="1" lang="en-US" altLang="ja-JP" dirty="0"/>
          </a:p>
          <a:p>
            <a:pPr marL="817200" lvl="1" indent="-457200">
              <a:buFont typeface="+mj-lt"/>
              <a:buAutoNum type="arabicPeriod"/>
            </a:pPr>
            <a:r>
              <a:rPr kumimoji="1" lang="ja-JP" altLang="en-US" dirty="0"/>
              <a:t>動的分岐予測</a:t>
            </a:r>
            <a:endParaRPr kumimoji="1" lang="en-US" altLang="ja-JP" dirty="0"/>
          </a:p>
        </p:txBody>
      </p:sp>
    </p:spTree>
    <p:extLst>
      <p:ext uri="{BB962C8B-B14F-4D97-AF65-F5344CB8AC3E}">
        <p14:creationId xmlns:p14="http://schemas.microsoft.com/office/powerpoint/2010/main" val="9725631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静的分岐と動的分岐</a:t>
            </a:r>
          </a:p>
        </p:txBody>
      </p:sp>
      <p:sp>
        <p:nvSpPr>
          <p:cNvPr id="3" name="テキスト プレースホルダー 2"/>
          <p:cNvSpPr>
            <a:spLocks noGrp="1"/>
          </p:cNvSpPr>
          <p:nvPr>
            <p:ph type="body" sz="quarter" idx="10"/>
          </p:nvPr>
        </p:nvSpPr>
        <p:spPr>
          <a:xfrm>
            <a:off x="2135956" y="2888995"/>
            <a:ext cx="8280092" cy="3419731"/>
          </a:xfrm>
        </p:spPr>
        <p:txBody>
          <a:bodyPr/>
          <a:lstStyle/>
          <a:p>
            <a:r>
              <a:rPr kumimoji="1" lang="ja-JP" altLang="en-US" dirty="0"/>
              <a:t>静的分岐：</a:t>
            </a:r>
            <a:endParaRPr kumimoji="1" lang="en-US" altLang="ja-JP" dirty="0"/>
          </a:p>
          <a:p>
            <a:pPr lvl="1"/>
            <a:r>
              <a:rPr kumimoji="1" lang="ja-JP" altLang="en-US" dirty="0"/>
              <a:t>プログラム内に書かれている分岐命令のこと</a:t>
            </a:r>
            <a:endParaRPr kumimoji="1" lang="en-US" altLang="ja-JP" dirty="0"/>
          </a:p>
          <a:p>
            <a:pPr lvl="1"/>
            <a:r>
              <a:rPr kumimoji="1" lang="ja-JP" altLang="en-US" dirty="0"/>
              <a:t>上のコードでは，１つの静的分岐（</a:t>
            </a:r>
            <a:r>
              <a:rPr kumimoji="1" lang="en-US" altLang="ja-JP" dirty="0"/>
              <a:t>i3</a:t>
            </a:r>
            <a:r>
              <a:rPr kumimoji="1" lang="ja-JP" altLang="en-US" dirty="0"/>
              <a:t>）がある</a:t>
            </a:r>
            <a:endParaRPr kumimoji="1" lang="en-US" altLang="ja-JP" dirty="0"/>
          </a:p>
          <a:p>
            <a:r>
              <a:rPr kumimoji="1" lang="ja-JP" altLang="en-US" dirty="0"/>
              <a:t>動的分岐：</a:t>
            </a:r>
            <a:endParaRPr kumimoji="1" lang="en-US" altLang="ja-JP" dirty="0"/>
          </a:p>
          <a:p>
            <a:pPr lvl="1"/>
            <a:r>
              <a:rPr kumimoji="1" lang="ja-JP" altLang="en-US" dirty="0"/>
              <a:t>実行中に現れる分岐命令のこと</a:t>
            </a:r>
            <a:endParaRPr kumimoji="1" lang="en-US" altLang="ja-JP" dirty="0"/>
          </a:p>
          <a:p>
            <a:pPr lvl="1"/>
            <a:r>
              <a:rPr kumimoji="1" lang="ja-JP" altLang="en-US" dirty="0"/>
              <a:t>上のコードが実行された場合，</a:t>
            </a:r>
            <a:r>
              <a:rPr kumimoji="1" lang="en-US" altLang="ja-JP" dirty="0"/>
              <a:t>i3 </a:t>
            </a:r>
            <a:r>
              <a:rPr kumimoji="1" lang="ja-JP" altLang="en-US" dirty="0"/>
              <a:t>は </a:t>
            </a:r>
            <a:r>
              <a:rPr kumimoji="1" lang="en-US" altLang="ja-JP" dirty="0"/>
              <a:t>10 </a:t>
            </a:r>
            <a:r>
              <a:rPr kumimoji="1" lang="ja-JP" altLang="en-US" dirty="0"/>
              <a:t>回実行される</a:t>
            </a:r>
            <a:endParaRPr kumimoji="1" lang="en-US" altLang="ja-JP" dirty="0"/>
          </a:p>
          <a:p>
            <a:pPr lvl="1"/>
            <a:r>
              <a:rPr lang="en-US" altLang="ja-JP" dirty="0"/>
              <a:t>= </a:t>
            </a:r>
            <a:r>
              <a:rPr kumimoji="1" lang="en-US" altLang="ja-JP" dirty="0"/>
              <a:t>10</a:t>
            </a:r>
            <a:r>
              <a:rPr kumimoji="1" lang="ja-JP" altLang="en-US" dirty="0"/>
              <a:t>個の動的分岐がある</a:t>
            </a:r>
            <a:endParaRPr kumimoji="1" lang="en-US" altLang="ja-JP" dirty="0"/>
          </a:p>
          <a:p>
            <a:r>
              <a:rPr kumimoji="1" lang="ja-JP" altLang="en-US" dirty="0"/>
              <a:t>同様に，静的命令や動的命令という場合もある</a:t>
            </a:r>
          </a:p>
        </p:txBody>
      </p:sp>
      <p:sp>
        <p:nvSpPr>
          <p:cNvPr id="4" name="正方形/長方形 3"/>
          <p:cNvSpPr/>
          <p:nvPr/>
        </p:nvSpPr>
        <p:spPr bwMode="auto">
          <a:xfrm>
            <a:off x="2585961" y="1178975"/>
            <a:ext cx="5220058" cy="1440016"/>
          </a:xfrm>
          <a:prstGeom prst="rect">
            <a:avLst/>
          </a:prstGeom>
          <a:solidFill>
            <a:schemeClr val="bg1"/>
          </a:solidFill>
          <a:ln w="1270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000" dirty="0">
                <a:solidFill>
                  <a:schemeClr val="accent3">
                    <a:lumMod val="75000"/>
                  </a:schemeClr>
                </a:solidFill>
                <a:latin typeface="Consolas" panose="020B0609020204030204" pitchFamily="49" charset="0"/>
              </a:rPr>
              <a:t>// 10</a:t>
            </a:r>
            <a:r>
              <a:rPr lang="ja-JP" altLang="en-US" sz="2000" dirty="0">
                <a:solidFill>
                  <a:schemeClr val="accent3">
                    <a:lumMod val="75000"/>
                  </a:schemeClr>
                </a:solidFill>
                <a:latin typeface="Consolas" panose="020B0609020204030204" pitchFamily="49" charset="0"/>
              </a:rPr>
              <a:t>回まわるループ</a:t>
            </a:r>
            <a:endParaRPr lang="en-US" altLang="ja-JP" sz="2000" dirty="0">
              <a:solidFill>
                <a:schemeClr val="accent3">
                  <a:lumMod val="75000"/>
                </a:schemeClr>
              </a:solidFill>
              <a:latin typeface="Consolas" panose="020B0609020204030204" pitchFamily="49" charset="0"/>
            </a:endParaRPr>
          </a:p>
          <a:p>
            <a:pPr>
              <a:lnSpc>
                <a:spcPct val="80000"/>
              </a:lnSpc>
            </a:pPr>
            <a:r>
              <a:rPr lang="en-US" altLang="ja-JP" sz="2000" dirty="0">
                <a:solidFill>
                  <a:schemeClr val="accent1"/>
                </a:solidFill>
                <a:latin typeface="Consolas" panose="020B0609020204030204" pitchFamily="49" charset="0"/>
              </a:rPr>
              <a:t>i1:     </a:t>
            </a:r>
            <a:r>
              <a:rPr lang="en-US" altLang="ja-JP" sz="2000" dirty="0">
                <a:solidFill>
                  <a:schemeClr val="tx1">
                    <a:lumMod val="75000"/>
                    <a:lumOff val="25000"/>
                  </a:schemeClr>
                </a:solidFill>
                <a:latin typeface="Consolas" panose="020B0609020204030204" pitchFamily="49" charset="0"/>
              </a:rPr>
              <a:t>li  x1 </a:t>
            </a:r>
            <a:r>
              <a:rPr lang="ja-JP" altLang="en-US" sz="2000" dirty="0">
                <a:solidFill>
                  <a:schemeClr val="tx1">
                    <a:lumMod val="75000"/>
                    <a:lumOff val="25000"/>
                  </a:schemeClr>
                </a:solidFill>
                <a:latin typeface="Consolas" panose="020B0609020204030204" pitchFamily="49" charset="0"/>
              </a:rPr>
              <a:t>←</a:t>
            </a:r>
            <a:r>
              <a:rPr lang="en-US" altLang="ja-JP" sz="2000" dirty="0">
                <a:solidFill>
                  <a:schemeClr val="tx1">
                    <a:lumMod val="75000"/>
                    <a:lumOff val="25000"/>
                  </a:schemeClr>
                </a:solidFill>
                <a:latin typeface="Consolas" panose="020B0609020204030204" pitchFamily="49" charset="0"/>
              </a:rPr>
              <a:t> 0        </a:t>
            </a:r>
            <a:r>
              <a:rPr lang="en-US" altLang="ja-JP" sz="2000" dirty="0">
                <a:solidFill>
                  <a:schemeClr val="accent3">
                    <a:lumMod val="75000"/>
                  </a:schemeClr>
                </a:solidFill>
                <a:latin typeface="Consolas" panose="020B0609020204030204" pitchFamily="49" charset="0"/>
              </a:rPr>
              <a:t>// x1 </a:t>
            </a:r>
            <a:r>
              <a:rPr lang="ja-JP" altLang="en-US" sz="2000" dirty="0">
                <a:solidFill>
                  <a:schemeClr val="accent3">
                    <a:lumMod val="75000"/>
                  </a:schemeClr>
                </a:solidFill>
                <a:latin typeface="Consolas" panose="020B0609020204030204" pitchFamily="49" charset="0"/>
              </a:rPr>
              <a:t>を </a:t>
            </a:r>
            <a:r>
              <a:rPr lang="en-US" altLang="ja-JP" sz="2000" dirty="0">
                <a:solidFill>
                  <a:schemeClr val="accent3">
                    <a:lumMod val="75000"/>
                  </a:schemeClr>
                </a:solidFill>
                <a:latin typeface="Consolas" panose="020B0609020204030204" pitchFamily="49" charset="0"/>
              </a:rPr>
              <a:t>0 </a:t>
            </a:r>
            <a:r>
              <a:rPr lang="ja-JP" altLang="en-US" sz="2000" dirty="0">
                <a:solidFill>
                  <a:schemeClr val="accent3">
                    <a:lumMod val="75000"/>
                  </a:schemeClr>
                </a:solidFill>
                <a:latin typeface="Consolas" panose="020B0609020204030204" pitchFamily="49" charset="0"/>
              </a:rPr>
              <a:t>に初期化</a:t>
            </a:r>
            <a:endParaRPr lang="en-US" altLang="ja-JP" sz="2000" dirty="0">
              <a:solidFill>
                <a:schemeClr val="accent3">
                  <a:lumMod val="75000"/>
                </a:schemeClr>
              </a:solidFill>
              <a:latin typeface="Consolas" panose="020B0609020204030204" pitchFamily="49" charset="0"/>
            </a:endParaRPr>
          </a:p>
          <a:p>
            <a:pPr>
              <a:lnSpc>
                <a:spcPct val="80000"/>
              </a:lnSpc>
            </a:pPr>
            <a:r>
              <a:rPr lang="en-US" altLang="ja-JP" sz="2000" dirty="0">
                <a:solidFill>
                  <a:schemeClr val="accent1"/>
                </a:solidFill>
                <a:latin typeface="Consolas" panose="020B0609020204030204" pitchFamily="49" charset="0"/>
              </a:rPr>
              <a:t>    </a:t>
            </a:r>
            <a:r>
              <a:rPr lang="en-US" altLang="ja-JP" sz="2000" dirty="0">
                <a:solidFill>
                  <a:schemeClr val="tx1">
                    <a:lumMod val="75000"/>
                    <a:lumOff val="25000"/>
                  </a:schemeClr>
                </a:solidFill>
                <a:latin typeface="Consolas" panose="020B0609020204030204" pitchFamily="49" charset="0"/>
              </a:rPr>
              <a:t>L:</a:t>
            </a:r>
          </a:p>
          <a:p>
            <a:pPr>
              <a:lnSpc>
                <a:spcPct val="80000"/>
              </a:lnSpc>
            </a:pPr>
            <a:r>
              <a:rPr lang="en-US" altLang="ja-JP" sz="2000" dirty="0">
                <a:solidFill>
                  <a:schemeClr val="accent1"/>
                </a:solidFill>
                <a:latin typeface="Consolas" panose="020B0609020204030204" pitchFamily="49" charset="0"/>
              </a:rPr>
              <a:t>i2:     </a:t>
            </a:r>
            <a:r>
              <a:rPr lang="en-US" altLang="ja-JP" sz="2000" dirty="0">
                <a:solidFill>
                  <a:schemeClr val="tx1">
                    <a:lumMod val="75000"/>
                    <a:lumOff val="25000"/>
                  </a:schemeClr>
                </a:solidFill>
                <a:latin typeface="Consolas" panose="020B0609020204030204" pitchFamily="49" charset="0"/>
              </a:rPr>
              <a:t>add x1 </a:t>
            </a:r>
            <a:r>
              <a:rPr lang="ja-JP" altLang="en-US" sz="2000" dirty="0">
                <a:solidFill>
                  <a:schemeClr val="tx1">
                    <a:lumMod val="75000"/>
                    <a:lumOff val="25000"/>
                  </a:schemeClr>
                </a:solidFill>
                <a:latin typeface="Consolas" panose="020B0609020204030204" pitchFamily="49" charset="0"/>
              </a:rPr>
              <a:t>←</a:t>
            </a:r>
            <a:r>
              <a:rPr lang="en-US" altLang="ja-JP" sz="2000" dirty="0">
                <a:solidFill>
                  <a:schemeClr val="tx1">
                    <a:lumMod val="75000"/>
                    <a:lumOff val="25000"/>
                  </a:schemeClr>
                </a:solidFill>
                <a:latin typeface="Consolas" panose="020B0609020204030204" pitchFamily="49" charset="0"/>
              </a:rPr>
              <a:t> x1 + 1   </a:t>
            </a:r>
            <a:r>
              <a:rPr lang="en-US" altLang="ja-JP" sz="2000" dirty="0">
                <a:solidFill>
                  <a:schemeClr val="accent3">
                    <a:lumMod val="75000"/>
                  </a:schemeClr>
                </a:solidFill>
                <a:latin typeface="Consolas" panose="020B0609020204030204" pitchFamily="49" charset="0"/>
              </a:rPr>
              <a:t>// x1 </a:t>
            </a:r>
            <a:r>
              <a:rPr lang="ja-JP" altLang="en-US" sz="2000" dirty="0">
                <a:solidFill>
                  <a:schemeClr val="accent3">
                    <a:lumMod val="75000"/>
                  </a:schemeClr>
                </a:solidFill>
                <a:latin typeface="Consolas" panose="020B0609020204030204" pitchFamily="49" charset="0"/>
              </a:rPr>
              <a:t>をインクリメント</a:t>
            </a:r>
            <a:r>
              <a:rPr lang="en-US" altLang="ja-JP" sz="2000" dirty="0">
                <a:solidFill>
                  <a:schemeClr val="accent3">
                    <a:lumMod val="75000"/>
                  </a:schemeClr>
                </a:solidFill>
                <a:latin typeface="Consolas" panose="020B0609020204030204" pitchFamily="49" charset="0"/>
              </a:rPr>
              <a:t> </a:t>
            </a:r>
          </a:p>
          <a:p>
            <a:pPr>
              <a:lnSpc>
                <a:spcPct val="80000"/>
              </a:lnSpc>
            </a:pPr>
            <a:r>
              <a:rPr lang="en-US" altLang="ja-JP" sz="2000" dirty="0">
                <a:solidFill>
                  <a:schemeClr val="accent1"/>
                </a:solidFill>
                <a:latin typeface="Consolas" panose="020B0609020204030204" pitchFamily="49" charset="0"/>
              </a:rPr>
              <a:t>i3:</a:t>
            </a:r>
            <a:r>
              <a:rPr lang="en-US" altLang="ja-JP" sz="2000" dirty="0">
                <a:solidFill>
                  <a:schemeClr val="tx1">
                    <a:lumMod val="75000"/>
                    <a:lumOff val="25000"/>
                  </a:schemeClr>
                </a:solidFill>
                <a:latin typeface="Consolas" panose="020B0609020204030204" pitchFamily="49" charset="0"/>
              </a:rPr>
              <a:t>     </a:t>
            </a:r>
            <a:r>
              <a:rPr lang="en-US" altLang="ja-JP" sz="2000" dirty="0" err="1">
                <a:solidFill>
                  <a:schemeClr val="tx1">
                    <a:lumMod val="75000"/>
                    <a:lumOff val="25000"/>
                  </a:schemeClr>
                </a:solidFill>
                <a:latin typeface="Consolas" panose="020B0609020204030204" pitchFamily="49" charset="0"/>
              </a:rPr>
              <a:t>bne</a:t>
            </a:r>
            <a:r>
              <a:rPr lang="en-US" altLang="ja-JP" sz="2000" dirty="0">
                <a:solidFill>
                  <a:schemeClr val="tx1">
                    <a:lumMod val="75000"/>
                    <a:lumOff val="25000"/>
                  </a:schemeClr>
                </a:solidFill>
                <a:latin typeface="Consolas" panose="020B0609020204030204" pitchFamily="49" charset="0"/>
              </a:rPr>
              <a:t> x1 != 10, L   </a:t>
            </a:r>
            <a:r>
              <a:rPr lang="en-US" altLang="ja-JP" sz="2000" dirty="0">
                <a:solidFill>
                  <a:schemeClr val="accent3">
                    <a:lumMod val="75000"/>
                  </a:schemeClr>
                </a:solidFill>
                <a:latin typeface="Consolas" panose="020B0609020204030204" pitchFamily="49" charset="0"/>
              </a:rPr>
              <a:t>// x1 </a:t>
            </a:r>
            <a:r>
              <a:rPr lang="ja-JP" altLang="en-US" sz="2000" dirty="0">
                <a:solidFill>
                  <a:schemeClr val="accent3">
                    <a:lumMod val="75000"/>
                  </a:schemeClr>
                </a:solidFill>
                <a:latin typeface="Consolas" panose="020B0609020204030204" pitchFamily="49" charset="0"/>
              </a:rPr>
              <a:t>が </a:t>
            </a:r>
            <a:r>
              <a:rPr lang="en-US" altLang="ja-JP" sz="2000" dirty="0">
                <a:solidFill>
                  <a:schemeClr val="accent3">
                    <a:lumMod val="75000"/>
                  </a:schemeClr>
                </a:solidFill>
                <a:latin typeface="Consolas" panose="020B0609020204030204" pitchFamily="49" charset="0"/>
              </a:rPr>
              <a:t>10 </a:t>
            </a:r>
            <a:r>
              <a:rPr lang="ja-JP" altLang="en-US" sz="2000" dirty="0">
                <a:solidFill>
                  <a:schemeClr val="accent3">
                    <a:lumMod val="75000"/>
                  </a:schemeClr>
                </a:solidFill>
                <a:latin typeface="Consolas" panose="020B0609020204030204" pitchFamily="49" charset="0"/>
              </a:rPr>
              <a:t>でなければ </a:t>
            </a:r>
            <a:r>
              <a:rPr lang="en-US" altLang="ja-JP" sz="2000" dirty="0">
                <a:solidFill>
                  <a:schemeClr val="accent3">
                    <a:lumMod val="75000"/>
                  </a:schemeClr>
                </a:solidFill>
                <a:latin typeface="Consolas" panose="020B0609020204030204" pitchFamily="49" charset="0"/>
              </a:rPr>
              <a:t>L </a:t>
            </a:r>
            <a:r>
              <a:rPr lang="ja-JP" altLang="en-US" sz="2000" dirty="0">
                <a:solidFill>
                  <a:schemeClr val="accent3">
                    <a:lumMod val="75000"/>
                  </a:schemeClr>
                </a:solidFill>
                <a:latin typeface="Consolas" panose="020B0609020204030204" pitchFamily="49" charset="0"/>
              </a:rPr>
              <a:t>に飛ぶ</a:t>
            </a:r>
            <a:endParaRPr lang="en-US" altLang="ja-JP" sz="2000" dirty="0">
              <a:solidFill>
                <a:schemeClr val="accent3">
                  <a:lumMod val="75000"/>
                </a:schemeClr>
              </a:solidFill>
              <a:latin typeface="Consolas" panose="020B0609020204030204" pitchFamily="49" charset="0"/>
            </a:endParaRPr>
          </a:p>
        </p:txBody>
      </p:sp>
    </p:spTree>
    <p:extLst>
      <p:ext uri="{BB962C8B-B14F-4D97-AF65-F5344CB8AC3E}">
        <p14:creationId xmlns:p14="http://schemas.microsoft.com/office/powerpoint/2010/main" val="27929385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分岐方向予測</a:t>
            </a:r>
          </a:p>
        </p:txBody>
      </p:sp>
      <p:sp>
        <p:nvSpPr>
          <p:cNvPr id="3" name="テキスト プレースホルダー 2"/>
          <p:cNvSpPr>
            <a:spLocks noGrp="1"/>
          </p:cNvSpPr>
          <p:nvPr>
            <p:ph type="body" sz="quarter" idx="10"/>
          </p:nvPr>
        </p:nvSpPr>
        <p:spPr/>
        <p:txBody>
          <a:bodyPr/>
          <a:lstStyle/>
          <a:p>
            <a:r>
              <a:rPr lang="ja-JP" altLang="en-US" dirty="0"/>
              <a:t>以下の</a:t>
            </a:r>
            <a:r>
              <a:rPr lang="en-US" altLang="ja-JP" dirty="0"/>
              <a:t>2</a:t>
            </a:r>
            <a:r>
              <a:rPr lang="ja-JP" altLang="en-US" dirty="0"/>
              <a:t>つに大きく分けられる</a:t>
            </a:r>
            <a:br>
              <a:rPr lang="en-US" altLang="ja-JP" dirty="0"/>
            </a:br>
            <a:endParaRPr lang="en-US" altLang="ja-JP" dirty="0"/>
          </a:p>
          <a:p>
            <a:pPr marL="817200" lvl="1" indent="-457200">
              <a:buFont typeface="+mj-lt"/>
              <a:buAutoNum type="arabicPeriod"/>
            </a:pPr>
            <a:r>
              <a:rPr kumimoji="1" lang="ja-JP" altLang="en-US" dirty="0"/>
              <a:t>静的分岐予測</a:t>
            </a:r>
            <a:endParaRPr kumimoji="1" lang="en-US" altLang="ja-JP" dirty="0"/>
          </a:p>
          <a:p>
            <a:pPr lvl="2"/>
            <a:r>
              <a:rPr kumimoji="1" lang="ja-JP" altLang="en-US" dirty="0"/>
              <a:t>静的分岐に対する予測</a:t>
            </a:r>
            <a:endParaRPr kumimoji="1" lang="en-US" altLang="ja-JP" dirty="0"/>
          </a:p>
          <a:p>
            <a:pPr lvl="2"/>
            <a:r>
              <a:rPr kumimoji="1" lang="ja-JP" altLang="en-US" dirty="0"/>
              <a:t>プログラム開始時に予測結果は決まっており，</a:t>
            </a:r>
            <a:br>
              <a:rPr kumimoji="1" lang="en-US" altLang="ja-JP" dirty="0"/>
            </a:br>
            <a:r>
              <a:rPr kumimoji="1" lang="ja-JP" altLang="en-US" dirty="0"/>
              <a:t>実行中に予測結果は変化しない</a:t>
            </a:r>
            <a:br>
              <a:rPr kumimoji="1" lang="en-US" altLang="ja-JP" dirty="0"/>
            </a:br>
            <a:endParaRPr kumimoji="1" lang="en-US" altLang="ja-JP" dirty="0"/>
          </a:p>
          <a:p>
            <a:pPr marL="817200" lvl="1" indent="-457200">
              <a:buFont typeface="+mj-lt"/>
              <a:buAutoNum type="arabicPeriod"/>
            </a:pPr>
            <a:r>
              <a:rPr kumimoji="1" lang="ja-JP" altLang="en-US" dirty="0"/>
              <a:t>動的分岐予測</a:t>
            </a:r>
            <a:endParaRPr kumimoji="1" lang="en-US" altLang="ja-JP" dirty="0"/>
          </a:p>
          <a:p>
            <a:pPr lvl="2"/>
            <a:r>
              <a:rPr kumimoji="1" lang="ja-JP" altLang="en-US" dirty="0"/>
              <a:t>動的分岐に対する予測</a:t>
            </a:r>
            <a:endParaRPr kumimoji="1" lang="en-US" altLang="ja-JP" dirty="0"/>
          </a:p>
          <a:p>
            <a:pPr lvl="2"/>
            <a:r>
              <a:rPr lang="ja-JP" altLang="en-US" dirty="0"/>
              <a:t>プログラムの実行中に予測結果が変化する</a:t>
            </a:r>
            <a:endParaRPr kumimoji="1" lang="ja-JP" altLang="en-US" dirty="0"/>
          </a:p>
        </p:txBody>
      </p:sp>
    </p:spTree>
    <p:extLst>
      <p:ext uri="{BB962C8B-B14F-4D97-AF65-F5344CB8AC3E}">
        <p14:creationId xmlns:p14="http://schemas.microsoft.com/office/powerpoint/2010/main" val="4230060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分岐方向予測</a:t>
            </a:r>
          </a:p>
        </p:txBody>
      </p:sp>
      <p:sp>
        <p:nvSpPr>
          <p:cNvPr id="3" name="テキスト プレースホルダー 2"/>
          <p:cNvSpPr>
            <a:spLocks noGrp="1"/>
          </p:cNvSpPr>
          <p:nvPr>
            <p:ph type="body" sz="quarter" idx="10"/>
          </p:nvPr>
        </p:nvSpPr>
        <p:spPr/>
        <p:txBody>
          <a:bodyPr/>
          <a:lstStyle/>
          <a:p>
            <a:r>
              <a:rPr lang="ja-JP" altLang="en-US" dirty="0"/>
              <a:t>分岐予測</a:t>
            </a:r>
            <a:br>
              <a:rPr lang="en-US" altLang="ja-JP" dirty="0"/>
            </a:br>
            <a:endParaRPr lang="en-US" altLang="ja-JP" dirty="0"/>
          </a:p>
          <a:p>
            <a:pPr marL="817200" lvl="1" indent="-457200">
              <a:buFont typeface="+mj-lt"/>
              <a:buAutoNum type="arabicPeriod"/>
            </a:pPr>
            <a:r>
              <a:rPr kumimoji="1" lang="ja-JP" altLang="en-US" b="1" dirty="0"/>
              <a:t>静的分岐予測</a:t>
            </a:r>
            <a:endParaRPr kumimoji="1" lang="en-US" altLang="ja-JP" b="1" dirty="0"/>
          </a:p>
          <a:p>
            <a:pPr marL="1177200" lvl="2" indent="-457200">
              <a:buFont typeface="+mj-lt"/>
              <a:buAutoNum type="arabicPeriod"/>
            </a:pPr>
            <a:r>
              <a:rPr kumimoji="1" lang="ja-JP" altLang="en-US" dirty="0"/>
              <a:t>常に不成立と予測</a:t>
            </a:r>
            <a:endParaRPr kumimoji="1" lang="en-US" altLang="ja-JP" dirty="0"/>
          </a:p>
          <a:p>
            <a:pPr marL="1177200" lvl="2" indent="-457200">
              <a:buFont typeface="+mj-lt"/>
              <a:buAutoNum type="arabicPeriod"/>
            </a:pPr>
            <a:r>
              <a:rPr lang="ja-JP" altLang="en-US" dirty="0"/>
              <a:t>前方分岐を不成立</a:t>
            </a:r>
            <a:r>
              <a:rPr lang="en-US" altLang="ja-JP" dirty="0"/>
              <a:t>/</a:t>
            </a:r>
            <a:r>
              <a:rPr lang="ja-JP" altLang="en-US" dirty="0"/>
              <a:t>後方分岐を成立と予測</a:t>
            </a:r>
            <a:endParaRPr lang="en-US" altLang="ja-JP" dirty="0"/>
          </a:p>
          <a:p>
            <a:pPr marL="1177200" lvl="2" indent="-457200">
              <a:buFont typeface="+mj-lt"/>
              <a:buAutoNum type="arabicPeriod"/>
            </a:pPr>
            <a:r>
              <a:rPr kumimoji="1" lang="ja-JP" altLang="en-US" dirty="0"/>
              <a:t>プロファイルによる予測</a:t>
            </a:r>
            <a:br>
              <a:rPr kumimoji="1" lang="en-US" altLang="ja-JP" dirty="0"/>
            </a:br>
            <a:endParaRPr kumimoji="1" lang="en-US" altLang="ja-JP" dirty="0"/>
          </a:p>
          <a:p>
            <a:pPr marL="817200" lvl="1" indent="-457200">
              <a:buFont typeface="+mj-lt"/>
              <a:buAutoNum type="arabicPeriod"/>
            </a:pPr>
            <a:r>
              <a:rPr kumimoji="1" lang="ja-JP" altLang="en-US" dirty="0"/>
              <a:t>動的分岐予測</a:t>
            </a:r>
            <a:endParaRPr kumimoji="1" lang="en-US" altLang="ja-JP" dirty="0"/>
          </a:p>
        </p:txBody>
      </p:sp>
    </p:spTree>
    <p:extLst>
      <p:ext uri="{BB962C8B-B14F-4D97-AF65-F5344CB8AC3E}">
        <p14:creationId xmlns:p14="http://schemas.microsoft.com/office/powerpoint/2010/main" val="34388200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常に不成立と予測</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今の </a:t>
            </a:r>
            <a:r>
              <a:rPr kumimoji="1" lang="en-US" altLang="ja-JP" dirty="0"/>
              <a:t>PC </a:t>
            </a:r>
            <a:r>
              <a:rPr kumimoji="1" lang="ja-JP" altLang="en-US" dirty="0"/>
              <a:t>に対し，次の </a:t>
            </a:r>
            <a:r>
              <a:rPr kumimoji="1" lang="en-US" altLang="ja-JP" dirty="0"/>
              <a:t>PC </a:t>
            </a:r>
            <a:r>
              <a:rPr kumimoji="1" lang="ja-JP" altLang="en-US" dirty="0"/>
              <a:t>を常に読む</a:t>
            </a:r>
            <a:endParaRPr kumimoji="1" lang="en-US" altLang="ja-JP" dirty="0"/>
          </a:p>
          <a:p>
            <a:r>
              <a:rPr kumimoji="1" lang="ja-JP" altLang="en-US" dirty="0"/>
              <a:t>あまり精度は良くない</a:t>
            </a:r>
            <a:endParaRPr kumimoji="1" lang="en-US" altLang="ja-JP" dirty="0"/>
          </a:p>
          <a:p>
            <a:pPr lvl="1"/>
            <a:r>
              <a:rPr kumimoji="1" lang="ja-JP" altLang="en-US" dirty="0"/>
              <a:t>統計的に，大体 </a:t>
            </a:r>
            <a:r>
              <a:rPr kumimoji="1" lang="en-US" altLang="ja-JP" dirty="0"/>
              <a:t>70% </a:t>
            </a:r>
            <a:r>
              <a:rPr kumimoji="1" lang="ja-JP" altLang="en-US" dirty="0" err="1"/>
              <a:t>ぐらいの</a:t>
            </a:r>
            <a:r>
              <a:rPr kumimoji="1" lang="ja-JP" altLang="en-US" dirty="0"/>
              <a:t>分岐命令は成立する</a:t>
            </a:r>
            <a:endParaRPr kumimoji="1" lang="en-US" altLang="ja-JP" dirty="0"/>
          </a:p>
          <a:p>
            <a:pPr lvl="1"/>
            <a:r>
              <a:rPr kumimoji="1" lang="ja-JP" altLang="en-US" dirty="0"/>
              <a:t>したがって，予測ヒット率は </a:t>
            </a:r>
            <a:r>
              <a:rPr kumimoji="1" lang="en-US" altLang="ja-JP" dirty="0"/>
              <a:t>30% </a:t>
            </a:r>
            <a:r>
              <a:rPr kumimoji="1" lang="ja-JP" altLang="en-US" dirty="0" err="1"/>
              <a:t>ぐらい</a:t>
            </a:r>
            <a:endParaRPr kumimoji="1" lang="en-US" altLang="ja-JP" dirty="0"/>
          </a:p>
          <a:p>
            <a:r>
              <a:rPr lang="ja-JP" altLang="en-US" dirty="0"/>
              <a:t>最も単純で，予測のために特に追加のハードを必要としない</a:t>
            </a:r>
            <a:endParaRPr lang="en-US" altLang="ja-JP" dirty="0"/>
          </a:p>
          <a:p>
            <a:pPr lvl="1"/>
            <a:r>
              <a:rPr lang="ja-JP" altLang="en-US" dirty="0"/>
              <a:t>古い </a:t>
            </a:r>
            <a:r>
              <a:rPr lang="en-US" altLang="ja-JP" dirty="0"/>
              <a:t>CPU </a:t>
            </a:r>
            <a:r>
              <a:rPr lang="ja-JP" altLang="en-US" dirty="0"/>
              <a:t>では実際にこれを搭載していたものも結構ある</a:t>
            </a:r>
            <a:endParaRPr kumimoji="1" lang="ja-JP" altLang="en-US" dirty="0"/>
          </a:p>
        </p:txBody>
      </p:sp>
    </p:spTree>
    <p:extLst>
      <p:ext uri="{BB962C8B-B14F-4D97-AF65-F5344CB8AC3E}">
        <p14:creationId xmlns:p14="http://schemas.microsoft.com/office/powerpoint/2010/main" val="2267091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前方分岐を不成立</a:t>
            </a:r>
            <a:r>
              <a:rPr lang="en-US" altLang="ja-JP" dirty="0"/>
              <a:t>/</a:t>
            </a:r>
            <a:r>
              <a:rPr lang="ja-JP" altLang="en-US" dirty="0"/>
              <a:t>後方分岐を成立と予測</a:t>
            </a:r>
            <a:endParaRPr kumimoji="1" lang="ja-JP" altLang="en-US" dirty="0"/>
          </a:p>
        </p:txBody>
      </p:sp>
      <p:sp>
        <p:nvSpPr>
          <p:cNvPr id="3" name="テキスト プレースホルダー 2"/>
          <p:cNvSpPr>
            <a:spLocks noGrp="1"/>
          </p:cNvSpPr>
          <p:nvPr>
            <p:ph type="body" sz="quarter" idx="10"/>
          </p:nvPr>
        </p:nvSpPr>
        <p:spPr>
          <a:xfrm>
            <a:off x="2135956" y="2708993"/>
            <a:ext cx="8280092" cy="3599733"/>
          </a:xfrm>
        </p:spPr>
        <p:txBody>
          <a:bodyPr/>
          <a:lstStyle/>
          <a:p>
            <a:r>
              <a:rPr kumimoji="1" lang="ja-JP" altLang="en-US" dirty="0"/>
              <a:t>統計的に，後方分岐は成立することが多い</a:t>
            </a:r>
            <a:endParaRPr kumimoji="1" lang="en-US" altLang="ja-JP" dirty="0"/>
          </a:p>
          <a:p>
            <a:pPr lvl="1"/>
            <a:r>
              <a:rPr kumimoji="1" lang="ja-JP" altLang="en-US" dirty="0"/>
              <a:t>ループを構成することが多く，繰り返し実行される</a:t>
            </a:r>
            <a:endParaRPr kumimoji="1" lang="en-US" altLang="ja-JP" dirty="0"/>
          </a:p>
          <a:p>
            <a:pPr lvl="1"/>
            <a:r>
              <a:rPr kumimoji="1" lang="ja-JP" altLang="en-US" dirty="0"/>
              <a:t>典型的には </a:t>
            </a:r>
            <a:r>
              <a:rPr kumimoji="1" lang="en-US" altLang="ja-JP" dirty="0"/>
              <a:t>80% </a:t>
            </a:r>
            <a:r>
              <a:rPr kumimoji="1" lang="ja-JP" altLang="en-US" dirty="0"/>
              <a:t>以上が成立</a:t>
            </a:r>
            <a:endParaRPr kumimoji="1" lang="en-US" altLang="ja-JP" dirty="0"/>
          </a:p>
          <a:p>
            <a:r>
              <a:rPr lang="ja-JP" altLang="en-US" dirty="0"/>
              <a:t>前方分岐を不成立</a:t>
            </a:r>
            <a:r>
              <a:rPr lang="en-US" altLang="ja-JP" dirty="0"/>
              <a:t>/</a:t>
            </a:r>
            <a:r>
              <a:rPr lang="ja-JP" altLang="en-US" dirty="0"/>
              <a:t>後方分岐を成立</a:t>
            </a:r>
            <a:endParaRPr lang="en-US" altLang="ja-JP" dirty="0"/>
          </a:p>
          <a:p>
            <a:pPr lvl="1"/>
            <a:r>
              <a:rPr kumimoji="1" lang="ja-JP" altLang="en-US" dirty="0"/>
              <a:t>前方分岐はコストを重視して，常に不成立と予測</a:t>
            </a:r>
            <a:endParaRPr kumimoji="1" lang="en-US" altLang="ja-JP" dirty="0"/>
          </a:p>
          <a:p>
            <a:pPr lvl="1"/>
            <a:r>
              <a:rPr kumimoji="1" lang="ja-JP" altLang="en-US" dirty="0"/>
              <a:t>後方分岐は常に成立と予測</a:t>
            </a:r>
            <a:endParaRPr kumimoji="1" lang="en-US" altLang="ja-JP" dirty="0"/>
          </a:p>
        </p:txBody>
      </p:sp>
      <p:sp>
        <p:nvSpPr>
          <p:cNvPr id="4" name="正方形/長方形 3"/>
          <p:cNvSpPr/>
          <p:nvPr/>
        </p:nvSpPr>
        <p:spPr>
          <a:xfrm>
            <a:off x="3305969" y="1358978"/>
            <a:ext cx="7254106" cy="1214179"/>
          </a:xfrm>
          <a:prstGeom prst="rect">
            <a:avLst/>
          </a:prstGeom>
        </p:spPr>
        <p:txBody>
          <a:bodyPr wrap="square">
            <a:spAutoFit/>
          </a:bodyPr>
          <a:lstStyle/>
          <a:p>
            <a:pPr>
              <a:lnSpc>
                <a:spcPct val="80000"/>
              </a:lnSpc>
            </a:pPr>
            <a:r>
              <a:rPr lang="en-US" altLang="ja-JP" dirty="0">
                <a:solidFill>
                  <a:schemeClr val="accent3">
                    <a:lumMod val="75000"/>
                  </a:schemeClr>
                </a:solidFill>
                <a:latin typeface="Consolas" panose="020B0609020204030204" pitchFamily="49" charset="0"/>
              </a:rPr>
              <a:t>// 10</a:t>
            </a:r>
            <a:r>
              <a:rPr lang="ja-JP" altLang="en-US" dirty="0">
                <a:solidFill>
                  <a:schemeClr val="accent3">
                    <a:lumMod val="75000"/>
                  </a:schemeClr>
                </a:solidFill>
                <a:latin typeface="Consolas" panose="020B0609020204030204" pitchFamily="49" charset="0"/>
              </a:rPr>
              <a:t>回まわるループ</a:t>
            </a:r>
            <a:endParaRPr lang="en-US" altLang="ja-JP" dirty="0">
              <a:solidFill>
                <a:schemeClr val="accent3">
                  <a:lumMod val="75000"/>
                </a:schemeClr>
              </a:solidFill>
              <a:latin typeface="Consolas" panose="020B0609020204030204" pitchFamily="49" charset="0"/>
            </a:endParaRPr>
          </a:p>
          <a:p>
            <a:pPr>
              <a:lnSpc>
                <a:spcPct val="80000"/>
              </a:lnSpc>
            </a:pPr>
            <a:r>
              <a:rPr lang="en-US" altLang="ja-JP" dirty="0">
                <a:solidFill>
                  <a:schemeClr val="accent1"/>
                </a:solidFill>
                <a:latin typeface="Consolas" panose="020B0609020204030204" pitchFamily="49" charset="0"/>
              </a:rPr>
              <a:t>i1:     </a:t>
            </a:r>
            <a:r>
              <a:rPr lang="en-US" altLang="ja-JP" dirty="0">
                <a:solidFill>
                  <a:schemeClr val="tx1">
                    <a:lumMod val="75000"/>
                    <a:lumOff val="25000"/>
                  </a:schemeClr>
                </a:solidFill>
                <a:latin typeface="Consolas" panose="020B0609020204030204" pitchFamily="49" charset="0"/>
              </a:rPr>
              <a:t>li  x1 </a:t>
            </a:r>
            <a:r>
              <a:rPr lang="ja-JP" altLang="en-US" dirty="0">
                <a:solidFill>
                  <a:schemeClr val="tx1">
                    <a:lumMod val="75000"/>
                    <a:lumOff val="25000"/>
                  </a:schemeClr>
                </a:solidFill>
                <a:latin typeface="Consolas" panose="020B0609020204030204" pitchFamily="49" charset="0"/>
              </a:rPr>
              <a:t>←</a:t>
            </a:r>
            <a:r>
              <a:rPr lang="en-US" altLang="ja-JP" dirty="0">
                <a:solidFill>
                  <a:schemeClr val="tx1">
                    <a:lumMod val="75000"/>
                    <a:lumOff val="25000"/>
                  </a:schemeClr>
                </a:solidFill>
                <a:latin typeface="Consolas" panose="020B0609020204030204" pitchFamily="49" charset="0"/>
              </a:rPr>
              <a:t> 0        </a:t>
            </a:r>
            <a:r>
              <a:rPr lang="en-US" altLang="ja-JP" dirty="0">
                <a:solidFill>
                  <a:schemeClr val="accent3">
                    <a:lumMod val="75000"/>
                  </a:schemeClr>
                </a:solidFill>
                <a:latin typeface="Consolas" panose="020B0609020204030204" pitchFamily="49" charset="0"/>
              </a:rPr>
              <a:t>// x1 </a:t>
            </a:r>
            <a:r>
              <a:rPr lang="ja-JP" altLang="en-US" dirty="0">
                <a:solidFill>
                  <a:schemeClr val="accent3">
                    <a:lumMod val="75000"/>
                  </a:schemeClr>
                </a:solidFill>
                <a:latin typeface="Consolas" panose="020B0609020204030204" pitchFamily="49" charset="0"/>
              </a:rPr>
              <a:t>を </a:t>
            </a:r>
            <a:r>
              <a:rPr lang="en-US" altLang="ja-JP" dirty="0">
                <a:solidFill>
                  <a:schemeClr val="accent3">
                    <a:lumMod val="75000"/>
                  </a:schemeClr>
                </a:solidFill>
                <a:latin typeface="Consolas" panose="020B0609020204030204" pitchFamily="49" charset="0"/>
              </a:rPr>
              <a:t>0 </a:t>
            </a:r>
            <a:r>
              <a:rPr lang="ja-JP" altLang="en-US" dirty="0">
                <a:solidFill>
                  <a:schemeClr val="accent3">
                    <a:lumMod val="75000"/>
                  </a:schemeClr>
                </a:solidFill>
                <a:latin typeface="Consolas" panose="020B0609020204030204" pitchFamily="49" charset="0"/>
              </a:rPr>
              <a:t>に初期化</a:t>
            </a:r>
            <a:endParaRPr lang="en-US" altLang="ja-JP" dirty="0">
              <a:solidFill>
                <a:schemeClr val="accent3">
                  <a:lumMod val="75000"/>
                </a:schemeClr>
              </a:solidFill>
              <a:latin typeface="Consolas" panose="020B0609020204030204" pitchFamily="49" charset="0"/>
            </a:endParaRPr>
          </a:p>
          <a:p>
            <a:pPr>
              <a:lnSpc>
                <a:spcPct val="80000"/>
              </a:lnSpc>
            </a:pPr>
            <a:r>
              <a:rPr lang="en-US" altLang="ja-JP" dirty="0">
                <a:solidFill>
                  <a:schemeClr val="accent1"/>
                </a:solidFill>
                <a:latin typeface="Consolas" panose="020B0609020204030204" pitchFamily="49" charset="0"/>
              </a:rPr>
              <a:t>    </a:t>
            </a:r>
            <a:r>
              <a:rPr lang="en-US" altLang="ja-JP" dirty="0">
                <a:solidFill>
                  <a:schemeClr val="tx1">
                    <a:lumMod val="75000"/>
                    <a:lumOff val="25000"/>
                  </a:schemeClr>
                </a:solidFill>
                <a:latin typeface="Consolas" panose="020B0609020204030204" pitchFamily="49" charset="0"/>
              </a:rPr>
              <a:t>L:</a:t>
            </a:r>
          </a:p>
          <a:p>
            <a:pPr>
              <a:lnSpc>
                <a:spcPct val="80000"/>
              </a:lnSpc>
            </a:pPr>
            <a:r>
              <a:rPr lang="en-US" altLang="ja-JP" dirty="0">
                <a:solidFill>
                  <a:schemeClr val="accent1"/>
                </a:solidFill>
                <a:latin typeface="Consolas" panose="020B0609020204030204" pitchFamily="49" charset="0"/>
              </a:rPr>
              <a:t>i2:     </a:t>
            </a:r>
            <a:r>
              <a:rPr lang="en-US" altLang="ja-JP" dirty="0">
                <a:solidFill>
                  <a:schemeClr val="tx1">
                    <a:lumMod val="75000"/>
                    <a:lumOff val="25000"/>
                  </a:schemeClr>
                </a:solidFill>
                <a:latin typeface="Consolas" panose="020B0609020204030204" pitchFamily="49" charset="0"/>
              </a:rPr>
              <a:t>add x1 </a:t>
            </a:r>
            <a:r>
              <a:rPr lang="ja-JP" altLang="en-US" dirty="0">
                <a:solidFill>
                  <a:schemeClr val="tx1">
                    <a:lumMod val="75000"/>
                    <a:lumOff val="25000"/>
                  </a:schemeClr>
                </a:solidFill>
                <a:latin typeface="Consolas" panose="020B0609020204030204" pitchFamily="49" charset="0"/>
              </a:rPr>
              <a:t>←</a:t>
            </a:r>
            <a:r>
              <a:rPr lang="en-US" altLang="ja-JP" dirty="0">
                <a:solidFill>
                  <a:schemeClr val="tx1">
                    <a:lumMod val="75000"/>
                    <a:lumOff val="25000"/>
                  </a:schemeClr>
                </a:solidFill>
                <a:latin typeface="Consolas" panose="020B0609020204030204" pitchFamily="49" charset="0"/>
              </a:rPr>
              <a:t> x1 + 1   </a:t>
            </a:r>
            <a:r>
              <a:rPr lang="en-US" altLang="ja-JP" dirty="0">
                <a:solidFill>
                  <a:schemeClr val="accent3">
                    <a:lumMod val="75000"/>
                  </a:schemeClr>
                </a:solidFill>
                <a:latin typeface="Consolas" panose="020B0609020204030204" pitchFamily="49" charset="0"/>
              </a:rPr>
              <a:t>// x1 </a:t>
            </a:r>
            <a:r>
              <a:rPr lang="ja-JP" altLang="en-US" dirty="0">
                <a:solidFill>
                  <a:schemeClr val="accent3">
                    <a:lumMod val="75000"/>
                  </a:schemeClr>
                </a:solidFill>
                <a:latin typeface="Consolas" panose="020B0609020204030204" pitchFamily="49" charset="0"/>
              </a:rPr>
              <a:t>をインクリメント</a:t>
            </a:r>
            <a:r>
              <a:rPr lang="en-US" altLang="ja-JP" dirty="0">
                <a:solidFill>
                  <a:schemeClr val="accent3">
                    <a:lumMod val="75000"/>
                  </a:schemeClr>
                </a:solidFill>
                <a:latin typeface="Consolas" panose="020B0609020204030204" pitchFamily="49" charset="0"/>
              </a:rPr>
              <a:t> </a:t>
            </a:r>
          </a:p>
          <a:p>
            <a:pPr>
              <a:lnSpc>
                <a:spcPct val="80000"/>
              </a:lnSpc>
            </a:pPr>
            <a:r>
              <a:rPr lang="en-US" altLang="ja-JP" dirty="0">
                <a:solidFill>
                  <a:schemeClr val="accent1"/>
                </a:solidFill>
                <a:latin typeface="Consolas" panose="020B0609020204030204" pitchFamily="49" charset="0"/>
              </a:rPr>
              <a:t>i3:</a:t>
            </a:r>
            <a:r>
              <a:rPr lang="en-US" altLang="ja-JP" dirty="0">
                <a:solidFill>
                  <a:schemeClr val="tx1">
                    <a:lumMod val="75000"/>
                    <a:lumOff val="25000"/>
                  </a:schemeClr>
                </a:solidFill>
                <a:latin typeface="Consolas" panose="020B0609020204030204" pitchFamily="49" charset="0"/>
              </a:rPr>
              <a:t>     </a:t>
            </a:r>
            <a:r>
              <a:rPr lang="en-US" altLang="ja-JP" dirty="0" err="1">
                <a:solidFill>
                  <a:schemeClr val="tx1">
                    <a:lumMod val="75000"/>
                    <a:lumOff val="25000"/>
                  </a:schemeClr>
                </a:solidFill>
                <a:latin typeface="Consolas" panose="020B0609020204030204" pitchFamily="49" charset="0"/>
              </a:rPr>
              <a:t>bne</a:t>
            </a:r>
            <a:r>
              <a:rPr lang="en-US" altLang="ja-JP" dirty="0">
                <a:solidFill>
                  <a:schemeClr val="tx1">
                    <a:lumMod val="75000"/>
                    <a:lumOff val="25000"/>
                  </a:schemeClr>
                </a:solidFill>
                <a:latin typeface="Consolas" panose="020B0609020204030204" pitchFamily="49" charset="0"/>
              </a:rPr>
              <a:t> x1 != 10, L   </a:t>
            </a:r>
            <a:r>
              <a:rPr lang="en-US" altLang="ja-JP" dirty="0">
                <a:solidFill>
                  <a:schemeClr val="accent3">
                    <a:lumMod val="75000"/>
                  </a:schemeClr>
                </a:solidFill>
                <a:latin typeface="Consolas" panose="020B0609020204030204" pitchFamily="49" charset="0"/>
              </a:rPr>
              <a:t>// x1 </a:t>
            </a:r>
            <a:r>
              <a:rPr lang="ja-JP" altLang="en-US" dirty="0">
                <a:solidFill>
                  <a:schemeClr val="accent3">
                    <a:lumMod val="75000"/>
                  </a:schemeClr>
                </a:solidFill>
                <a:latin typeface="Consolas" panose="020B0609020204030204" pitchFamily="49" charset="0"/>
              </a:rPr>
              <a:t>が </a:t>
            </a:r>
            <a:r>
              <a:rPr lang="en-US" altLang="ja-JP" dirty="0">
                <a:solidFill>
                  <a:schemeClr val="accent3">
                    <a:lumMod val="75000"/>
                  </a:schemeClr>
                </a:solidFill>
                <a:latin typeface="Consolas" panose="020B0609020204030204" pitchFamily="49" charset="0"/>
              </a:rPr>
              <a:t>10 </a:t>
            </a:r>
            <a:r>
              <a:rPr lang="ja-JP" altLang="en-US" dirty="0">
                <a:solidFill>
                  <a:schemeClr val="accent3">
                    <a:lumMod val="75000"/>
                  </a:schemeClr>
                </a:solidFill>
                <a:latin typeface="Consolas" panose="020B0609020204030204" pitchFamily="49" charset="0"/>
              </a:rPr>
              <a:t>でなければ </a:t>
            </a:r>
            <a:r>
              <a:rPr lang="en-US" altLang="ja-JP" dirty="0">
                <a:solidFill>
                  <a:schemeClr val="accent3">
                    <a:lumMod val="75000"/>
                  </a:schemeClr>
                </a:solidFill>
                <a:latin typeface="Consolas" panose="020B0609020204030204" pitchFamily="49" charset="0"/>
              </a:rPr>
              <a:t>L </a:t>
            </a:r>
            <a:r>
              <a:rPr lang="ja-JP" altLang="en-US" dirty="0">
                <a:solidFill>
                  <a:schemeClr val="accent3">
                    <a:lumMod val="75000"/>
                  </a:schemeClr>
                </a:solidFill>
                <a:latin typeface="Consolas" panose="020B0609020204030204" pitchFamily="49" charset="0"/>
              </a:rPr>
              <a:t>に飛ぶ</a:t>
            </a:r>
            <a:endParaRPr lang="en-US" altLang="ja-JP" dirty="0">
              <a:solidFill>
                <a:schemeClr val="accent3">
                  <a:lumMod val="75000"/>
                </a:schemeClr>
              </a:solidFill>
              <a:latin typeface="Consolas" panose="020B0609020204030204" pitchFamily="49" charset="0"/>
            </a:endParaRPr>
          </a:p>
        </p:txBody>
      </p:sp>
      <p:sp>
        <p:nvSpPr>
          <p:cNvPr id="8" name="円弧 7"/>
          <p:cNvSpPr/>
          <p:nvPr/>
        </p:nvSpPr>
        <p:spPr bwMode="auto">
          <a:xfrm>
            <a:off x="2945966" y="1898984"/>
            <a:ext cx="630007" cy="450005"/>
          </a:xfrm>
          <a:prstGeom prst="arc">
            <a:avLst>
              <a:gd name="adj1" fmla="val 5389243"/>
              <a:gd name="adj2" fmla="val 16517527"/>
            </a:avLst>
          </a:prstGeom>
          <a:noFill/>
          <a:ln w="25400" cap="flat" cmpd="sng" algn="ctr">
            <a:solidFill>
              <a:schemeClr val="accent5"/>
            </a:solidFill>
            <a:prstDash val="solid"/>
            <a:round/>
            <a:headEnd type="none" w="med" len="med"/>
            <a:tailEnd type="triangl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9" name="正方形/長方形 8"/>
          <p:cNvSpPr/>
          <p:nvPr/>
        </p:nvSpPr>
        <p:spPr>
          <a:xfrm>
            <a:off x="1829979" y="1718981"/>
            <a:ext cx="1170013" cy="327782"/>
          </a:xfrm>
          <a:prstGeom prst="rect">
            <a:avLst/>
          </a:prstGeom>
        </p:spPr>
        <p:txBody>
          <a:bodyPr wrap="square">
            <a:spAutoFit/>
          </a:bodyPr>
          <a:lstStyle/>
          <a:p>
            <a:pPr>
              <a:lnSpc>
                <a:spcPct val="80000"/>
              </a:lnSpc>
            </a:pPr>
            <a:r>
              <a:rPr lang="ja-JP" altLang="en-US" dirty="0">
                <a:solidFill>
                  <a:schemeClr val="accent5"/>
                </a:solidFill>
                <a:latin typeface="Consolas" panose="020B0609020204030204" pitchFamily="49" charset="0"/>
              </a:rPr>
              <a:t>後方分岐</a:t>
            </a:r>
            <a:endParaRPr lang="en-US" altLang="ja-JP" dirty="0">
              <a:solidFill>
                <a:schemeClr val="accent5"/>
              </a:solidFill>
              <a:latin typeface="Consolas" panose="020B0609020204030204" pitchFamily="49" charset="0"/>
            </a:endParaRPr>
          </a:p>
        </p:txBody>
      </p:sp>
    </p:spTree>
    <p:extLst>
      <p:ext uri="{BB962C8B-B14F-4D97-AF65-F5344CB8AC3E}">
        <p14:creationId xmlns:p14="http://schemas.microsoft.com/office/powerpoint/2010/main" val="3826777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3. </a:t>
            </a:r>
            <a:r>
              <a:rPr lang="ja-JP" altLang="en-US" dirty="0"/>
              <a:t>プロファイルによる予測</a:t>
            </a:r>
          </a:p>
        </p:txBody>
      </p:sp>
      <p:sp>
        <p:nvSpPr>
          <p:cNvPr id="3" name="テキスト プレースホルダー 2"/>
          <p:cNvSpPr>
            <a:spLocks noGrp="1"/>
          </p:cNvSpPr>
          <p:nvPr>
            <p:ph type="body" sz="quarter" idx="10"/>
          </p:nvPr>
        </p:nvSpPr>
        <p:spPr/>
        <p:txBody>
          <a:bodyPr/>
          <a:lstStyle/>
          <a:p>
            <a:r>
              <a:rPr kumimoji="1" lang="ja-JP" altLang="en-US" dirty="0"/>
              <a:t>予測方法</a:t>
            </a:r>
            <a:endParaRPr kumimoji="1" lang="en-US" altLang="ja-JP" dirty="0"/>
          </a:p>
          <a:p>
            <a:pPr marL="817200" lvl="1" indent="-457200">
              <a:buFont typeface="+mj-lt"/>
              <a:buAutoNum type="arabicPeriod"/>
            </a:pPr>
            <a:r>
              <a:rPr kumimoji="1" lang="ja-JP" altLang="en-US" dirty="0"/>
              <a:t>分岐方向のプロファイルをとる</a:t>
            </a:r>
            <a:endParaRPr kumimoji="1" lang="en-US" altLang="ja-JP" dirty="0"/>
          </a:p>
          <a:p>
            <a:pPr lvl="2"/>
            <a:r>
              <a:rPr kumimoji="1" lang="ja-JP" altLang="en-US" dirty="0"/>
              <a:t>事前にプログラムを実行して，静的分岐の方向の統計をとる</a:t>
            </a:r>
            <a:endParaRPr kumimoji="1" lang="en-US" altLang="ja-JP" dirty="0"/>
          </a:p>
          <a:p>
            <a:pPr lvl="2"/>
            <a:r>
              <a:rPr kumimoji="1" lang="ja-JP" altLang="en-US" dirty="0"/>
              <a:t>「このアドレスの分岐命令は，大概成立 </a:t>
            </a:r>
            <a:r>
              <a:rPr kumimoji="1" lang="en-US" altLang="ja-JP" dirty="0"/>
              <a:t>or </a:t>
            </a:r>
            <a:r>
              <a:rPr kumimoji="1" lang="ja-JP" altLang="en-US" dirty="0"/>
              <a:t>不成立」</a:t>
            </a:r>
            <a:endParaRPr kumimoji="1" lang="en-US" altLang="ja-JP" dirty="0"/>
          </a:p>
          <a:p>
            <a:pPr lvl="2"/>
            <a:endParaRPr kumimoji="1" lang="en-US" altLang="ja-JP" dirty="0"/>
          </a:p>
          <a:p>
            <a:pPr marL="817200" lvl="1" indent="-457200">
              <a:buFont typeface="+mj-lt"/>
              <a:buAutoNum type="arabicPeriod"/>
            </a:pPr>
            <a:r>
              <a:rPr kumimoji="1" lang="ja-JP" altLang="en-US" dirty="0"/>
              <a:t>プロファイル結果に基づき，命令にヒントを埋め込む</a:t>
            </a:r>
            <a:endParaRPr kumimoji="1" lang="en-US" altLang="ja-JP" dirty="0"/>
          </a:p>
          <a:p>
            <a:pPr lvl="2"/>
            <a:r>
              <a:rPr kumimoji="1" lang="ja-JP" altLang="en-US" dirty="0"/>
              <a:t>成立 </a:t>
            </a:r>
            <a:r>
              <a:rPr kumimoji="1" lang="en-US" altLang="ja-JP" dirty="0"/>
              <a:t>or </a:t>
            </a:r>
            <a:r>
              <a:rPr kumimoji="1" lang="ja-JP" altLang="en-US" dirty="0"/>
              <a:t>不成立 の傾向を命令コードに埋め込んでおく</a:t>
            </a:r>
            <a:endParaRPr kumimoji="1" lang="en-US" altLang="ja-JP" dirty="0"/>
          </a:p>
          <a:p>
            <a:pPr lvl="2"/>
            <a:r>
              <a:rPr lang="ja-JP" altLang="en-US" dirty="0"/>
              <a:t>コンパイラにより行う</a:t>
            </a:r>
            <a:endParaRPr lang="en-US" altLang="ja-JP" dirty="0"/>
          </a:p>
          <a:p>
            <a:pPr lvl="2"/>
            <a:r>
              <a:rPr kumimoji="1" lang="ja-JP" altLang="en-US" dirty="0"/>
              <a:t>命令セットのレベルで対応が必要</a:t>
            </a:r>
            <a:endParaRPr kumimoji="1" lang="en-US" altLang="ja-JP" dirty="0"/>
          </a:p>
          <a:p>
            <a:pPr lvl="2"/>
            <a:endParaRPr kumimoji="1" lang="en-US" altLang="ja-JP" dirty="0"/>
          </a:p>
          <a:p>
            <a:pPr marL="817200" lvl="1" indent="-457200">
              <a:buFont typeface="+mj-lt"/>
              <a:buAutoNum type="arabicPeriod"/>
            </a:pPr>
            <a:r>
              <a:rPr kumimoji="1" lang="en-US" altLang="ja-JP" dirty="0"/>
              <a:t>CPU </a:t>
            </a:r>
            <a:r>
              <a:rPr kumimoji="1" lang="ja-JP" altLang="en-US" dirty="0"/>
              <a:t>は命令内に埋め込まれたヒントに基づき予測</a:t>
            </a:r>
            <a:endParaRPr kumimoji="1" lang="en-US" altLang="ja-JP" dirty="0"/>
          </a:p>
        </p:txBody>
      </p:sp>
    </p:spTree>
    <p:extLst>
      <p:ext uri="{BB962C8B-B14F-4D97-AF65-F5344CB8AC3E}">
        <p14:creationId xmlns:p14="http://schemas.microsoft.com/office/powerpoint/2010/main" val="1738659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3. </a:t>
            </a:r>
            <a:r>
              <a:rPr lang="ja-JP" altLang="en-US" dirty="0"/>
              <a:t>プロファイルによる予測</a:t>
            </a:r>
          </a:p>
        </p:txBody>
      </p:sp>
      <p:sp>
        <p:nvSpPr>
          <p:cNvPr id="3" name="テキスト プレースホルダー 2"/>
          <p:cNvSpPr>
            <a:spLocks noGrp="1"/>
          </p:cNvSpPr>
          <p:nvPr>
            <p:ph type="body" sz="quarter" idx="10"/>
          </p:nvPr>
        </p:nvSpPr>
        <p:spPr/>
        <p:txBody>
          <a:bodyPr/>
          <a:lstStyle/>
          <a:p>
            <a:r>
              <a:rPr kumimoji="1" lang="ja-JP" altLang="en-US" dirty="0" err="1"/>
              <a:t>そこそこ</a:t>
            </a:r>
            <a:r>
              <a:rPr kumimoji="1" lang="ja-JP" altLang="en-US" dirty="0"/>
              <a:t>の精度が出る</a:t>
            </a:r>
            <a:endParaRPr kumimoji="1" lang="en-US" altLang="ja-JP" dirty="0"/>
          </a:p>
          <a:p>
            <a:pPr lvl="1"/>
            <a:r>
              <a:rPr kumimoji="1" lang="ja-JP" altLang="en-US" dirty="0"/>
              <a:t>静的分岐命令１つ１つの傾向が反映できる</a:t>
            </a:r>
            <a:endParaRPr kumimoji="1" lang="en-US" altLang="ja-JP" dirty="0"/>
          </a:p>
          <a:p>
            <a:pPr lvl="2"/>
            <a:r>
              <a:rPr kumimoji="1" lang="ja-JP" altLang="en-US" dirty="0"/>
              <a:t>後方分岐だけど不成立が多い</a:t>
            </a:r>
            <a:r>
              <a:rPr kumimoji="1" lang="en-US" altLang="ja-JP" dirty="0"/>
              <a:t>… </a:t>
            </a:r>
            <a:r>
              <a:rPr kumimoji="1" lang="ja-JP" altLang="en-US" dirty="0"/>
              <a:t>とかに対応できる</a:t>
            </a:r>
            <a:endParaRPr kumimoji="1" lang="en-US" altLang="ja-JP" dirty="0"/>
          </a:p>
          <a:p>
            <a:pPr lvl="1"/>
            <a:r>
              <a:rPr kumimoji="1" lang="ja-JP" altLang="en-US" dirty="0"/>
              <a:t>予測精度はだいたい </a:t>
            </a:r>
            <a:r>
              <a:rPr kumimoji="1" lang="en-US" altLang="ja-JP" dirty="0"/>
              <a:t>80% </a:t>
            </a:r>
            <a:r>
              <a:rPr kumimoji="1" lang="ja-JP" altLang="en-US" dirty="0"/>
              <a:t>から </a:t>
            </a:r>
            <a:r>
              <a:rPr kumimoji="1" lang="en-US" altLang="ja-JP" dirty="0"/>
              <a:t>90% </a:t>
            </a:r>
            <a:r>
              <a:rPr kumimoji="1" lang="ja-JP" altLang="en-US" dirty="0" err="1"/>
              <a:t>ぐらい</a:t>
            </a:r>
            <a:endParaRPr kumimoji="1" lang="en-US" altLang="ja-JP" dirty="0"/>
          </a:p>
        </p:txBody>
      </p:sp>
    </p:spTree>
    <p:extLst>
      <p:ext uri="{BB962C8B-B14F-4D97-AF65-F5344CB8AC3E}">
        <p14:creationId xmlns:p14="http://schemas.microsoft.com/office/powerpoint/2010/main" val="2366442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静的分岐予測の欠点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分岐方向が毎回変わるようなものには本質的に対応できない</a:t>
            </a:r>
            <a:endParaRPr kumimoji="1" lang="en-US" altLang="ja-JP" dirty="0"/>
          </a:p>
          <a:p>
            <a:pPr lvl="1"/>
            <a:r>
              <a:rPr kumimoji="1" lang="ja-JP" altLang="en-US" dirty="0"/>
              <a:t>例：同じ静的分岐で成立と不成立が交互に起きる</a:t>
            </a:r>
            <a:endParaRPr kumimoji="1" lang="en-US" altLang="ja-JP" dirty="0"/>
          </a:p>
          <a:p>
            <a:pPr marL="457200" indent="-457200">
              <a:buFont typeface="+mj-lt"/>
              <a:buAutoNum type="arabicPeriod"/>
            </a:pPr>
            <a:r>
              <a:rPr kumimoji="1" lang="ja-JP" altLang="en-US" dirty="0"/>
              <a:t>プロファイル時と挙動が異なる場合に対応出来ない</a:t>
            </a:r>
            <a:endParaRPr kumimoji="1" lang="en-US" altLang="ja-JP" dirty="0"/>
          </a:p>
          <a:p>
            <a:pPr lvl="1"/>
            <a:r>
              <a:rPr kumimoji="1" lang="ja-JP" altLang="en-US" dirty="0"/>
              <a:t>オプションや入力に応じてプログラムの挙動が大きく場合など</a:t>
            </a:r>
            <a:endParaRPr kumimoji="1" lang="en-US" altLang="ja-JP" dirty="0"/>
          </a:p>
          <a:p>
            <a:pPr marL="457200" indent="-457200">
              <a:buFont typeface="+mj-lt"/>
              <a:buAutoNum type="arabicPeriod"/>
            </a:pPr>
            <a:r>
              <a:rPr kumimoji="1" lang="ja-JP" altLang="en-US" dirty="0">
                <a:solidFill>
                  <a:schemeClr val="accent5"/>
                </a:solidFill>
              </a:rPr>
              <a:t>意外とハードウェア・コストが安くない</a:t>
            </a:r>
            <a:endParaRPr kumimoji="1" lang="en-US" altLang="ja-JP" dirty="0">
              <a:solidFill>
                <a:schemeClr val="accent5"/>
              </a:solidFill>
            </a:endParaRPr>
          </a:p>
          <a:p>
            <a:pPr lvl="1"/>
            <a:r>
              <a:rPr kumimoji="1" lang="ja-JP" altLang="en-US" dirty="0"/>
              <a:t>方向そのものの予測にはハードは必要がない</a:t>
            </a:r>
            <a:endParaRPr kumimoji="1" lang="en-US" altLang="ja-JP" dirty="0"/>
          </a:p>
          <a:p>
            <a:pPr lvl="1"/>
            <a:r>
              <a:rPr kumimoji="1" lang="ja-JP" altLang="en-US" dirty="0"/>
              <a:t>成立すると予測する場合，</a:t>
            </a:r>
            <a:r>
              <a:rPr kumimoji="1" lang="en-US" altLang="ja-JP" dirty="0"/>
              <a:t>BTB </a:t>
            </a:r>
            <a:r>
              <a:rPr kumimoji="1" lang="ja-JP" altLang="en-US" dirty="0"/>
              <a:t>が別途いる</a:t>
            </a:r>
            <a:endParaRPr kumimoji="1" lang="en-US" altLang="ja-JP" dirty="0"/>
          </a:p>
          <a:p>
            <a:pPr lvl="2"/>
            <a:r>
              <a:rPr kumimoji="1" lang="ja-JP" altLang="en-US" dirty="0"/>
              <a:t>分岐かどうか </a:t>
            </a:r>
            <a:r>
              <a:rPr kumimoji="1" lang="en-US" altLang="ja-JP" dirty="0"/>
              <a:t>&amp; </a:t>
            </a:r>
            <a:r>
              <a:rPr kumimoji="1" lang="ja-JP" altLang="en-US" dirty="0"/>
              <a:t>先ターゲット予測は必要</a:t>
            </a:r>
            <a:endParaRPr kumimoji="1" lang="en-US" altLang="ja-JP" dirty="0"/>
          </a:p>
          <a:p>
            <a:pPr lvl="1"/>
            <a:r>
              <a:rPr kumimoji="1" lang="ja-JP" altLang="en-US" dirty="0"/>
              <a:t>「後方分岐かどうか」の予測や，</a:t>
            </a:r>
            <a:br>
              <a:rPr kumimoji="1" lang="en-US" altLang="ja-JP" dirty="0"/>
            </a:br>
            <a:r>
              <a:rPr kumimoji="1" lang="ja-JP" altLang="en-US" dirty="0"/>
              <a:t>「成立</a:t>
            </a:r>
            <a:r>
              <a:rPr kumimoji="1" lang="en-US" altLang="ja-JP" dirty="0"/>
              <a:t>/</a:t>
            </a:r>
            <a:r>
              <a:rPr kumimoji="1" lang="ja-JP" altLang="en-US" dirty="0"/>
              <a:t>不成立のヒント」の予測を行う必要がある</a:t>
            </a:r>
          </a:p>
        </p:txBody>
      </p:sp>
    </p:spTree>
    <p:extLst>
      <p:ext uri="{BB962C8B-B14F-4D97-AF65-F5344CB8AC3E}">
        <p14:creationId xmlns:p14="http://schemas.microsoft.com/office/powerpoint/2010/main" val="4204784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4475982" y="2888994"/>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5916142" y="2888994"/>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7356302" y="2888994"/>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8796462" y="2888994"/>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4437822" y="2024451"/>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5877982" y="2024451"/>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7320029" y="2043035"/>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8760189" y="2043035"/>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「後方分岐かどうか」「成立</a:t>
            </a:r>
            <a:r>
              <a:rPr lang="en-US" altLang="ja-JP" dirty="0"/>
              <a:t>/</a:t>
            </a:r>
            <a:r>
              <a:rPr lang="ja-JP" altLang="en-US" dirty="0"/>
              <a:t>不成立のヒント」の予測</a:t>
            </a:r>
            <a:endParaRPr kumimoji="1" lang="ja-JP" altLang="en-US" dirty="0"/>
          </a:p>
        </p:txBody>
      </p:sp>
      <p:sp>
        <p:nvSpPr>
          <p:cNvPr id="58" name="コンテンツ プレースホルダー 57"/>
          <p:cNvSpPr>
            <a:spLocks noGrp="1"/>
          </p:cNvSpPr>
          <p:nvPr>
            <p:ph idx="4294967295"/>
          </p:nvPr>
        </p:nvSpPr>
        <p:spPr>
          <a:xfrm>
            <a:off x="1955955" y="5139020"/>
            <a:ext cx="8550095" cy="469151"/>
          </a:xfrm>
          <a:prstGeom prst="rect">
            <a:avLst/>
          </a:prstGeom>
        </p:spPr>
        <p:txBody>
          <a:bodyPr/>
          <a:lstStyle/>
          <a:p>
            <a:r>
              <a:rPr lang="ja-JP" altLang="en-US" dirty="0"/>
              <a:t>フェッチされた命令は，デコードするまでは以下がわからない</a:t>
            </a:r>
            <a:endParaRPr lang="en-US" altLang="ja-JP" dirty="0"/>
          </a:p>
          <a:p>
            <a:pPr marL="817200" lvl="1" indent="-457200">
              <a:buFont typeface="+mj-lt"/>
              <a:buAutoNum type="arabicPeriod"/>
            </a:pPr>
            <a:r>
              <a:rPr lang="ja-JP" altLang="en-US" dirty="0"/>
              <a:t>分岐命令かどうか？</a:t>
            </a:r>
            <a:endParaRPr lang="en-US" altLang="ja-JP" dirty="0"/>
          </a:p>
          <a:p>
            <a:pPr marL="817200" lvl="1" indent="-457200">
              <a:buFont typeface="+mj-lt"/>
              <a:buAutoNum type="arabicPeriod"/>
            </a:pPr>
            <a:r>
              <a:rPr lang="ja-JP" altLang="en-US" dirty="0"/>
              <a:t>分岐ターゲットはどこか？</a:t>
            </a:r>
            <a:endParaRPr lang="en-US" altLang="ja-JP" dirty="0"/>
          </a:p>
          <a:p>
            <a:r>
              <a:rPr lang="ja-JP" altLang="en-US" dirty="0"/>
              <a:t>同様に，</a:t>
            </a:r>
            <a:endParaRPr lang="en-US" altLang="ja-JP" dirty="0"/>
          </a:p>
          <a:p>
            <a:pPr lvl="1"/>
            <a:r>
              <a:rPr lang="ja-JP" altLang="en-US" dirty="0"/>
              <a:t>「後方分岐かどうか」「成立</a:t>
            </a:r>
            <a:r>
              <a:rPr lang="en-US" altLang="ja-JP" dirty="0"/>
              <a:t>/</a:t>
            </a:r>
            <a:r>
              <a:rPr lang="ja-JP" altLang="en-US" dirty="0"/>
              <a:t>不成立のヒント」もわからない</a:t>
            </a:r>
            <a:endParaRPr lang="en-US" altLang="ja-JP" dirty="0"/>
          </a:p>
        </p:txBody>
      </p:sp>
      <p:cxnSp>
        <p:nvCxnSpPr>
          <p:cNvPr id="67" name="直線矢印コネクタ 66"/>
          <p:cNvCxnSpPr/>
          <p:nvPr/>
        </p:nvCxnSpPr>
        <p:spPr bwMode="auto">
          <a:xfrm>
            <a:off x="4475982" y="3699003"/>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6366003" y="270899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96" name="正方形/長方形 95"/>
          <p:cNvSpPr/>
          <p:nvPr/>
        </p:nvSpPr>
        <p:spPr bwMode="auto">
          <a:xfrm>
            <a:off x="3125967" y="2168987"/>
            <a:ext cx="1350015" cy="1710019"/>
          </a:xfrm>
          <a:prstGeom prst="rect">
            <a:avLst/>
          </a:prstGeom>
          <a:solidFill>
            <a:schemeClr val="bg1"/>
          </a:solidFill>
          <a:ln w="12700">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dirty="0">
                <a:solidFill>
                  <a:schemeClr val="tx1">
                    <a:lumMod val="75000"/>
                    <a:lumOff val="25000"/>
                  </a:schemeClr>
                </a:solidFill>
                <a:latin typeface="Arial Narrow" panose="020B0606020202030204" pitchFamily="34" charset="0"/>
              </a:rPr>
              <a:t>  </a:t>
            </a:r>
            <a:r>
              <a:rPr lang="en-US" altLang="ja-JP" dirty="0" err="1">
                <a:solidFill>
                  <a:schemeClr val="accent5"/>
                </a:solidFill>
                <a:latin typeface="Arial Narrow" panose="020B0606020202030204" pitchFamily="34" charset="0"/>
              </a:rPr>
              <a:t>bne</a:t>
            </a:r>
            <a:r>
              <a:rPr lang="en-US" altLang="ja-JP" dirty="0">
                <a:solidFill>
                  <a:schemeClr val="accent5"/>
                </a:solidFill>
                <a:latin typeface="Arial Narrow" panose="020B0606020202030204" pitchFamily="34" charset="0"/>
              </a:rPr>
              <a:t> </a:t>
            </a:r>
            <a:r>
              <a:rPr lang="en-US" altLang="ja-JP" dirty="0">
                <a:solidFill>
                  <a:schemeClr val="tx1">
                    <a:lumMod val="75000"/>
                    <a:lumOff val="25000"/>
                  </a:schemeClr>
                </a:solidFill>
                <a:latin typeface="Arial Narrow" panose="020B0606020202030204" pitchFamily="34" charset="0"/>
              </a:rPr>
              <a:t>+ </a:t>
            </a:r>
            <a:r>
              <a:rPr lang="en-US" altLang="ja-JP" b="1" dirty="0">
                <a:solidFill>
                  <a:schemeClr val="accent5"/>
                </a:solidFill>
                <a:latin typeface="Arial Narrow" panose="020B0606020202030204" pitchFamily="34" charset="0"/>
              </a:rPr>
              <a:t>hint</a:t>
            </a:r>
          </a:p>
          <a:p>
            <a:pPr>
              <a:lnSpc>
                <a:spcPct val="80000"/>
              </a:lnSpc>
            </a:pPr>
            <a:r>
              <a:rPr lang="en-US" altLang="ja-JP" dirty="0">
                <a:solidFill>
                  <a:schemeClr val="tx1">
                    <a:lumMod val="75000"/>
                    <a:lumOff val="25000"/>
                  </a:schemeClr>
                </a:solidFill>
                <a:latin typeface="Arial Narrow" panose="020B0606020202030204" pitchFamily="34" charset="0"/>
              </a:rPr>
              <a:t>  add ...</a:t>
            </a:r>
          </a:p>
          <a:p>
            <a:pPr>
              <a:lnSpc>
                <a:spcPct val="80000"/>
              </a:lnSpc>
            </a:pPr>
            <a:r>
              <a:rPr lang="en-US" altLang="ja-JP" dirty="0">
                <a:solidFill>
                  <a:schemeClr val="tx1">
                    <a:lumMod val="75000"/>
                    <a:lumOff val="25000"/>
                  </a:schemeClr>
                </a:solidFill>
                <a:latin typeface="Arial Narrow" panose="020B0606020202030204" pitchFamily="34" charset="0"/>
              </a:rPr>
              <a:t>  ...</a:t>
            </a:r>
          </a:p>
          <a:p>
            <a:pPr>
              <a:lnSpc>
                <a:spcPct val="80000"/>
              </a:lnSpc>
            </a:pPr>
            <a:r>
              <a:rPr lang="en-US" altLang="ja-JP" b="1" dirty="0">
                <a:solidFill>
                  <a:schemeClr val="accent5"/>
                </a:solidFill>
                <a:latin typeface="Arial Narrow" panose="020B0606020202030204" pitchFamily="34" charset="0"/>
              </a:rPr>
              <a:t>L</a:t>
            </a:r>
            <a:r>
              <a:rPr lang="en-US" altLang="ja-JP" dirty="0">
                <a:solidFill>
                  <a:schemeClr val="tx1">
                    <a:lumMod val="75000"/>
                    <a:lumOff val="25000"/>
                  </a:schemeClr>
                </a:solidFill>
                <a:latin typeface="Arial Narrow" panose="020B0606020202030204" pitchFamily="34" charset="0"/>
              </a:rPr>
              <a:t>:</a:t>
            </a:r>
          </a:p>
          <a:p>
            <a:pPr>
              <a:lnSpc>
                <a:spcPct val="80000"/>
              </a:lnSpc>
            </a:pPr>
            <a:r>
              <a:rPr lang="en-US" altLang="ja-JP" dirty="0">
                <a:solidFill>
                  <a:schemeClr val="tx1">
                    <a:lumMod val="75000"/>
                    <a:lumOff val="25000"/>
                  </a:schemeClr>
                </a:solidFill>
                <a:latin typeface="Arial Narrow" panose="020B0606020202030204" pitchFamily="34" charset="0"/>
              </a:rPr>
              <a:t>  sub ...</a:t>
            </a:r>
            <a:endParaRPr lang="ja-JP" altLang="en-US" dirty="0">
              <a:solidFill>
                <a:schemeClr val="tx1">
                  <a:lumMod val="75000"/>
                  <a:lumOff val="25000"/>
                </a:schemeClr>
              </a:solidFill>
              <a:latin typeface="Arial Narrow" panose="020B0606020202030204" pitchFamily="34" charset="0"/>
            </a:endParaRPr>
          </a:p>
        </p:txBody>
      </p:sp>
      <p:sp>
        <p:nvSpPr>
          <p:cNvPr id="97" name="正方形/長方形 96"/>
          <p:cNvSpPr/>
          <p:nvPr/>
        </p:nvSpPr>
        <p:spPr bwMode="auto">
          <a:xfrm>
            <a:off x="3395971" y="171898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24" name="角丸四角形 23"/>
          <p:cNvSpPr/>
          <p:nvPr/>
        </p:nvSpPr>
        <p:spPr bwMode="auto">
          <a:xfrm>
            <a:off x="4925987" y="270899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a:t>
            </a:r>
          </a:p>
        </p:txBody>
      </p:sp>
      <p:sp>
        <p:nvSpPr>
          <p:cNvPr id="27" name="角丸四角形 26"/>
          <p:cNvSpPr/>
          <p:nvPr/>
        </p:nvSpPr>
        <p:spPr bwMode="auto">
          <a:xfrm>
            <a:off x="7806019" y="270899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29" name="角丸四角形 28"/>
          <p:cNvSpPr/>
          <p:nvPr/>
        </p:nvSpPr>
        <p:spPr bwMode="auto">
          <a:xfrm>
            <a:off x="9246035" y="270899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28" name="角丸四角形吹き出し 27"/>
          <p:cNvSpPr/>
          <p:nvPr/>
        </p:nvSpPr>
        <p:spPr bwMode="auto">
          <a:xfrm>
            <a:off x="5105989" y="1358977"/>
            <a:ext cx="2880032" cy="630008"/>
          </a:xfrm>
          <a:prstGeom prst="wedgeRoundRectCallout">
            <a:avLst>
              <a:gd name="adj1" fmla="val -50527"/>
              <a:gd name="adj2" fmla="val 100108"/>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いやその，ここではまだ</a:t>
            </a:r>
            <a:endParaRPr lang="en-US" altLang="ja-JP" sz="1600" dirty="0">
              <a:solidFill>
                <a:schemeClr val="tx1">
                  <a:lumMod val="65000"/>
                  <a:lumOff val="35000"/>
                </a:schemeClr>
              </a:solidFill>
              <a:latin typeface="Arial Narrow" panose="020B0606020202030204" pitchFamily="34" charset="0"/>
            </a:endParaRPr>
          </a:p>
          <a:p>
            <a:r>
              <a:rPr lang="ja-JP" altLang="en-US" sz="1600" dirty="0">
                <a:solidFill>
                  <a:schemeClr val="tx1">
                    <a:lumMod val="65000"/>
                    <a:lumOff val="35000"/>
                  </a:schemeClr>
                </a:solidFill>
                <a:latin typeface="Arial Narrow" panose="020B0606020202030204" pitchFamily="34" charset="0"/>
              </a:rPr>
              <a:t>中身</a:t>
            </a:r>
            <a:r>
              <a:rPr lang="ja-JP" altLang="en-US" sz="1600" dirty="0" err="1">
                <a:solidFill>
                  <a:schemeClr val="tx1">
                    <a:lumMod val="65000"/>
                    <a:lumOff val="35000"/>
                  </a:schemeClr>
                </a:solidFill>
                <a:latin typeface="Arial Narrow" panose="020B0606020202030204" pitchFamily="34" charset="0"/>
              </a:rPr>
              <a:t>わ</a:t>
            </a:r>
            <a:r>
              <a:rPr lang="ja-JP" altLang="en-US" sz="1600" dirty="0">
                <a:solidFill>
                  <a:schemeClr val="tx1">
                    <a:lumMod val="65000"/>
                    <a:lumOff val="35000"/>
                  </a:schemeClr>
                </a:solidFill>
                <a:latin typeface="Arial Narrow" panose="020B0606020202030204" pitchFamily="34" charset="0"/>
              </a:rPr>
              <a:t>からないんすけど･･･</a:t>
            </a:r>
            <a:endParaRPr lang="en-US" altLang="ja-JP" sz="1600" dirty="0">
              <a:solidFill>
                <a:schemeClr val="tx1">
                  <a:lumMod val="65000"/>
                  <a:lumOff val="35000"/>
                </a:schemeClr>
              </a:solidFill>
              <a:latin typeface="Arial Narrow" panose="020B0606020202030204" pitchFamily="34" charset="0"/>
            </a:endParaRPr>
          </a:p>
        </p:txBody>
      </p:sp>
      <p:sp>
        <p:nvSpPr>
          <p:cNvPr id="30" name="正方形/長方形 29"/>
          <p:cNvSpPr/>
          <p:nvPr/>
        </p:nvSpPr>
        <p:spPr>
          <a:xfrm>
            <a:off x="1595950" y="1718982"/>
            <a:ext cx="1620018" cy="1384995"/>
          </a:xfrm>
          <a:prstGeom prst="rect">
            <a:avLst/>
          </a:prstGeom>
        </p:spPr>
        <p:txBody>
          <a:bodyPr wrap="square">
            <a:spAutoFit/>
          </a:bodyPr>
          <a:lstStyle/>
          <a:p>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75000"/>
                    <a:lumOff val="2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31" name="角丸四角形吹き出し 30"/>
          <p:cNvSpPr/>
          <p:nvPr/>
        </p:nvSpPr>
        <p:spPr bwMode="auto">
          <a:xfrm>
            <a:off x="2675962" y="998974"/>
            <a:ext cx="2340026"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85000"/>
                    <a:lumOff val="15000"/>
                  </a:schemeClr>
                </a:solidFill>
                <a:latin typeface="Arial Narrow" panose="020B0606020202030204" pitchFamily="34" charset="0"/>
              </a:rPr>
              <a:t>ヒントをうめておいたので</a:t>
            </a:r>
            <a:endParaRPr lang="en-US" altLang="ja-JP" sz="1400" dirty="0">
              <a:solidFill>
                <a:schemeClr val="tx1">
                  <a:lumMod val="85000"/>
                  <a:lumOff val="15000"/>
                </a:schemeClr>
              </a:solidFill>
              <a:latin typeface="Arial Narrow" panose="020B0606020202030204" pitchFamily="34" charset="0"/>
            </a:endParaRPr>
          </a:p>
          <a:p>
            <a:r>
              <a:rPr lang="ja-JP" altLang="en-US" sz="1400" dirty="0">
                <a:solidFill>
                  <a:schemeClr val="tx1">
                    <a:lumMod val="85000"/>
                    <a:lumOff val="15000"/>
                  </a:schemeClr>
                </a:solidFill>
                <a:latin typeface="Arial Narrow" panose="020B0606020202030204" pitchFamily="34" charset="0"/>
              </a:rPr>
              <a:t>これでヨシ！</a:t>
            </a:r>
          </a:p>
        </p:txBody>
      </p:sp>
    </p:spTree>
    <p:extLst>
      <p:ext uri="{BB962C8B-B14F-4D97-AF65-F5344CB8AC3E}">
        <p14:creationId xmlns:p14="http://schemas.microsoft.com/office/powerpoint/2010/main" val="3349661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別途ハードウェアが必要</a:t>
            </a:r>
          </a:p>
        </p:txBody>
      </p:sp>
      <p:sp>
        <p:nvSpPr>
          <p:cNvPr id="3" name="テキスト プレースホルダー 2"/>
          <p:cNvSpPr>
            <a:spLocks noGrp="1"/>
          </p:cNvSpPr>
          <p:nvPr>
            <p:ph type="body" sz="quarter" idx="10"/>
          </p:nvPr>
        </p:nvSpPr>
        <p:spPr/>
        <p:txBody>
          <a:bodyPr/>
          <a:lstStyle/>
          <a:p>
            <a:r>
              <a:rPr lang="ja-JP" altLang="en-US" dirty="0"/>
              <a:t>「後方分岐かどうか」「成立</a:t>
            </a:r>
            <a:r>
              <a:rPr lang="en-US" altLang="ja-JP" dirty="0"/>
              <a:t>/</a:t>
            </a:r>
            <a:r>
              <a:rPr lang="ja-JP" altLang="en-US" dirty="0"/>
              <a:t>不成立のヒント」もわからない</a:t>
            </a:r>
            <a:endParaRPr lang="en-US" altLang="ja-JP" dirty="0"/>
          </a:p>
          <a:p>
            <a:pPr lvl="1"/>
            <a:r>
              <a:rPr lang="ja-JP" altLang="en-US" dirty="0"/>
              <a:t>方向そのものを直接は予測しない</a:t>
            </a:r>
            <a:endParaRPr lang="en-US" altLang="ja-JP" dirty="0"/>
          </a:p>
          <a:p>
            <a:pPr lvl="1"/>
            <a:r>
              <a:rPr lang="ja-JP" altLang="en-US" dirty="0"/>
              <a:t>しかし，かわりに「後方分岐かどうか」等を予測する必要がある</a:t>
            </a:r>
            <a:endParaRPr lang="en-US" altLang="ja-JP" dirty="0"/>
          </a:p>
          <a:p>
            <a:r>
              <a:rPr lang="ja-JP" altLang="en-US" dirty="0"/>
              <a:t>別途それらを表に学習する？</a:t>
            </a:r>
            <a:endParaRPr lang="en-US" altLang="ja-JP" dirty="0"/>
          </a:p>
          <a:p>
            <a:pPr lvl="1"/>
            <a:r>
              <a:rPr lang="ja-JP" altLang="en-US" dirty="0"/>
              <a:t>後述の動的分岐予測とあまりかわらない機構が必要</a:t>
            </a:r>
            <a:endParaRPr kumimoji="1" lang="ja-JP" altLang="en-US" dirty="0"/>
          </a:p>
        </p:txBody>
      </p:sp>
    </p:spTree>
    <p:extLst>
      <p:ext uri="{BB962C8B-B14F-4D97-AF65-F5344CB8AC3E}">
        <p14:creationId xmlns:p14="http://schemas.microsoft.com/office/powerpoint/2010/main" val="3401244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静的分岐予測のまとめ</a:t>
            </a:r>
          </a:p>
        </p:txBody>
      </p:sp>
      <p:sp>
        <p:nvSpPr>
          <p:cNvPr id="3" name="テキスト プレースホルダー 2"/>
          <p:cNvSpPr>
            <a:spLocks noGrp="1"/>
          </p:cNvSpPr>
          <p:nvPr>
            <p:ph type="body" sz="quarter" idx="10"/>
          </p:nvPr>
        </p:nvSpPr>
        <p:spPr/>
        <p:txBody>
          <a:bodyPr/>
          <a:lstStyle/>
          <a:p>
            <a:r>
              <a:rPr lang="ja-JP" altLang="en-US" dirty="0"/>
              <a:t>静的な命令に対してあらかじめ予測</a:t>
            </a:r>
            <a:endParaRPr lang="en-US" altLang="ja-JP" dirty="0"/>
          </a:p>
          <a:p>
            <a:r>
              <a:rPr lang="ja-JP" altLang="en-US" dirty="0"/>
              <a:t>基本的に，今の </a:t>
            </a:r>
            <a:r>
              <a:rPr lang="en-US" altLang="ja-JP" dirty="0"/>
              <a:t>CPU </a:t>
            </a:r>
            <a:r>
              <a:rPr lang="ja-JP" altLang="en-US" dirty="0"/>
              <a:t>では使われていない</a:t>
            </a:r>
            <a:endParaRPr lang="en-US" altLang="ja-JP" dirty="0"/>
          </a:p>
          <a:p>
            <a:pPr lvl="1"/>
            <a:r>
              <a:rPr lang="ja-JP" altLang="en-US" dirty="0"/>
              <a:t>予測精度の上限に限界がある</a:t>
            </a:r>
            <a:endParaRPr lang="en-US" altLang="ja-JP" dirty="0"/>
          </a:p>
          <a:p>
            <a:pPr lvl="1"/>
            <a:r>
              <a:rPr kumimoji="1" lang="ja-JP" altLang="en-US" dirty="0"/>
              <a:t>意外とハードウェア・コストが安くない</a:t>
            </a:r>
            <a:endParaRPr kumimoji="1" lang="en-US" altLang="ja-JP" dirty="0"/>
          </a:p>
        </p:txBody>
      </p:sp>
    </p:spTree>
    <p:extLst>
      <p:ext uri="{BB962C8B-B14F-4D97-AF65-F5344CB8AC3E}">
        <p14:creationId xmlns:p14="http://schemas.microsoft.com/office/powerpoint/2010/main" val="13880900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分岐方向予測</a:t>
            </a:r>
          </a:p>
        </p:txBody>
      </p:sp>
      <p:sp>
        <p:nvSpPr>
          <p:cNvPr id="3" name="テキスト プレースホルダー 2"/>
          <p:cNvSpPr>
            <a:spLocks noGrp="1"/>
          </p:cNvSpPr>
          <p:nvPr>
            <p:ph type="body" sz="quarter" idx="10"/>
          </p:nvPr>
        </p:nvSpPr>
        <p:spPr/>
        <p:txBody>
          <a:bodyPr/>
          <a:lstStyle/>
          <a:p>
            <a:r>
              <a:rPr lang="ja-JP" altLang="en-US" dirty="0"/>
              <a:t>以下の</a:t>
            </a:r>
            <a:r>
              <a:rPr lang="en-US" altLang="ja-JP" dirty="0"/>
              <a:t>2</a:t>
            </a:r>
            <a:r>
              <a:rPr lang="ja-JP" altLang="en-US" dirty="0"/>
              <a:t>つに大きく分けられる</a:t>
            </a:r>
            <a:br>
              <a:rPr lang="en-US" altLang="ja-JP" dirty="0"/>
            </a:br>
            <a:endParaRPr lang="en-US" altLang="ja-JP" dirty="0"/>
          </a:p>
          <a:p>
            <a:pPr marL="817200" lvl="1" indent="-457200">
              <a:buFont typeface="+mj-lt"/>
              <a:buAutoNum type="arabicPeriod"/>
            </a:pPr>
            <a:r>
              <a:rPr kumimoji="1" lang="ja-JP" altLang="en-US" dirty="0"/>
              <a:t>静的分岐予測</a:t>
            </a:r>
            <a:endParaRPr kumimoji="1" lang="en-US" altLang="ja-JP" dirty="0"/>
          </a:p>
          <a:p>
            <a:pPr lvl="2"/>
            <a:r>
              <a:rPr kumimoji="1" lang="ja-JP" altLang="en-US" dirty="0"/>
              <a:t>静的分岐に対する予測</a:t>
            </a:r>
            <a:endParaRPr kumimoji="1" lang="en-US" altLang="ja-JP" dirty="0"/>
          </a:p>
          <a:p>
            <a:pPr lvl="2"/>
            <a:r>
              <a:rPr kumimoji="1" lang="ja-JP" altLang="en-US" dirty="0"/>
              <a:t>プログラム開始時に予測結果は決まっており，</a:t>
            </a:r>
            <a:br>
              <a:rPr kumimoji="1" lang="en-US" altLang="ja-JP" dirty="0"/>
            </a:br>
            <a:r>
              <a:rPr kumimoji="1" lang="ja-JP" altLang="en-US" dirty="0"/>
              <a:t>実行中に予測結果は変化しない</a:t>
            </a:r>
            <a:br>
              <a:rPr kumimoji="1" lang="en-US" altLang="ja-JP" dirty="0"/>
            </a:br>
            <a:endParaRPr kumimoji="1" lang="en-US" altLang="ja-JP" dirty="0"/>
          </a:p>
          <a:p>
            <a:pPr marL="817200" lvl="1" indent="-457200">
              <a:buFont typeface="+mj-lt"/>
              <a:buAutoNum type="arabicPeriod"/>
            </a:pPr>
            <a:r>
              <a:rPr kumimoji="1" lang="ja-JP" altLang="en-US" b="1" dirty="0"/>
              <a:t>動的分岐予測</a:t>
            </a:r>
            <a:endParaRPr kumimoji="1" lang="en-US" altLang="ja-JP" b="1" dirty="0"/>
          </a:p>
          <a:p>
            <a:pPr lvl="2"/>
            <a:r>
              <a:rPr kumimoji="1" lang="ja-JP" altLang="en-US" dirty="0"/>
              <a:t>動的分岐に対する予測</a:t>
            </a:r>
            <a:endParaRPr kumimoji="1" lang="en-US" altLang="ja-JP" dirty="0"/>
          </a:p>
          <a:p>
            <a:pPr lvl="2"/>
            <a:r>
              <a:rPr lang="ja-JP" altLang="en-US" dirty="0"/>
              <a:t>プログラムの実行中に予測結果が変化する</a:t>
            </a:r>
            <a:endParaRPr kumimoji="1" lang="ja-JP" altLang="en-US" dirty="0"/>
          </a:p>
        </p:txBody>
      </p:sp>
    </p:spTree>
    <p:extLst>
      <p:ext uri="{BB962C8B-B14F-4D97-AF65-F5344CB8AC3E}">
        <p14:creationId xmlns:p14="http://schemas.microsoft.com/office/powerpoint/2010/main" val="30943995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動的分岐予測</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さまざまな予測手法を紹介</a:t>
            </a:r>
            <a:endParaRPr lang="en-US" altLang="ja-JP" dirty="0"/>
          </a:p>
          <a:p>
            <a:pPr marL="817200" lvl="1" indent="-457200">
              <a:buFont typeface="+mj-lt"/>
              <a:buAutoNum type="arabicPeriod"/>
            </a:pPr>
            <a:r>
              <a:rPr lang="en-US" altLang="ja-JP" dirty="0"/>
              <a:t>n </a:t>
            </a:r>
            <a:r>
              <a:rPr lang="ja-JP" altLang="en-US" dirty="0"/>
              <a:t>ビット・カウンタ</a:t>
            </a:r>
            <a:endParaRPr lang="en-US" altLang="ja-JP" dirty="0"/>
          </a:p>
          <a:p>
            <a:pPr marL="1177200" lvl="2" indent="-457200">
              <a:buFont typeface="+mj-lt"/>
              <a:buAutoNum type="arabicPeriod"/>
            </a:pPr>
            <a:r>
              <a:rPr lang="en-US" altLang="ja-JP" dirty="0"/>
              <a:t>1</a:t>
            </a:r>
            <a:r>
              <a:rPr lang="ja-JP" altLang="en-US" dirty="0"/>
              <a:t>ビット・カウンタ予測器</a:t>
            </a:r>
            <a:endParaRPr lang="en-US" altLang="ja-JP" dirty="0"/>
          </a:p>
          <a:p>
            <a:pPr marL="1177200" lvl="2" indent="-457200">
              <a:buFont typeface="+mj-lt"/>
              <a:buAutoNum type="arabicPeriod"/>
            </a:pPr>
            <a:r>
              <a:rPr lang="en-US" altLang="ja-JP" dirty="0"/>
              <a:t>2</a:t>
            </a:r>
            <a:r>
              <a:rPr lang="ja-JP" altLang="en-US" dirty="0"/>
              <a:t>ビット・カウンタ予測器</a:t>
            </a:r>
            <a:endParaRPr lang="en-US" altLang="ja-JP" dirty="0"/>
          </a:p>
          <a:p>
            <a:pPr marL="817200" lvl="1" indent="-457200">
              <a:buFont typeface="+mj-lt"/>
              <a:buAutoNum type="arabicPeriod"/>
            </a:pPr>
            <a:r>
              <a:rPr lang="ja-JP" altLang="en-US" dirty="0"/>
              <a:t>履歴を用いたもの</a:t>
            </a:r>
            <a:endParaRPr lang="en-US" altLang="ja-JP" dirty="0"/>
          </a:p>
          <a:p>
            <a:pPr marL="1177200" lvl="2" indent="-457200">
              <a:buFont typeface="+mj-lt"/>
              <a:buAutoNum type="arabicPeriod"/>
            </a:pPr>
            <a:r>
              <a:rPr lang="ja-JP" altLang="en-US" dirty="0"/>
              <a:t>ローカル履歴予測器</a:t>
            </a:r>
            <a:endParaRPr lang="en-US" altLang="ja-JP" dirty="0"/>
          </a:p>
          <a:p>
            <a:pPr marL="1177200" lvl="2" indent="-457200">
              <a:buFont typeface="+mj-lt"/>
              <a:buAutoNum type="arabicPeriod"/>
            </a:pPr>
            <a:r>
              <a:rPr lang="ja-JP" altLang="en-US" dirty="0"/>
              <a:t>グローバル履歴予測器</a:t>
            </a:r>
            <a:endParaRPr lang="en-US" altLang="ja-JP" dirty="0"/>
          </a:p>
          <a:p>
            <a:pPr marL="1177200" lvl="2" indent="-457200">
              <a:buFont typeface="+mj-lt"/>
              <a:buAutoNum type="arabicPeriod"/>
            </a:pPr>
            <a:r>
              <a:rPr lang="ja-JP" altLang="en-US" dirty="0"/>
              <a:t>より高度な予測器</a:t>
            </a:r>
            <a:endParaRPr lang="en-US" altLang="ja-JP" dirty="0"/>
          </a:p>
          <a:p>
            <a:r>
              <a:rPr kumimoji="1" lang="ja-JP" altLang="en-US" dirty="0"/>
              <a:t>下に行くほど先進的</a:t>
            </a:r>
            <a:endParaRPr kumimoji="1" lang="en-US" altLang="ja-JP" dirty="0"/>
          </a:p>
          <a:p>
            <a:pPr lvl="1"/>
            <a:r>
              <a:rPr kumimoji="1" lang="ja-JP" altLang="en-US" dirty="0"/>
              <a:t>それぞれ上にあるものを下敷きとしているので，順に説明</a:t>
            </a:r>
          </a:p>
        </p:txBody>
      </p:sp>
    </p:spTree>
    <p:extLst>
      <p:ext uri="{BB962C8B-B14F-4D97-AF65-F5344CB8AC3E}">
        <p14:creationId xmlns:p14="http://schemas.microsoft.com/office/powerpoint/2010/main" val="8930150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a:t>
            </a:r>
            <a:r>
              <a:rPr lang="ja-JP" altLang="en-US" dirty="0"/>
              <a:t>ビット・カウンタ予測器</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225957" y="5139020"/>
                <a:ext cx="8280092" cy="719701"/>
              </a:xfrm>
            </p:spPr>
            <p:txBody>
              <a:bodyPr/>
              <a:lstStyle/>
              <a:p>
                <a:r>
                  <a:rPr kumimoji="1" lang="ja-JP" altLang="en-US" dirty="0"/>
                  <a:t>構成：</a:t>
                </a:r>
                <a:endParaRPr kumimoji="1" lang="en-US" altLang="ja-JP" dirty="0"/>
              </a:p>
              <a:p>
                <a:pPr lvl="1"/>
                <a:r>
                  <a:rPr lang="en-US" altLang="ja-JP" dirty="0"/>
                  <a:t>PC </a:t>
                </a:r>
                <a:r>
                  <a:rPr lang="ja-JP" altLang="en-US" dirty="0"/>
                  <a:t>の下位 </a:t>
                </a:r>
                <a:r>
                  <a:rPr lang="en-US" altLang="ja-JP" dirty="0"/>
                  <a:t>n </a:t>
                </a:r>
                <a:r>
                  <a:rPr lang="ja-JP" altLang="en-US" dirty="0"/>
                  <a:t>ビットをインデクスとしてアクセス</a:t>
                </a:r>
                <a:endParaRPr lang="en-US" altLang="ja-JP" dirty="0"/>
              </a:p>
              <a:p>
                <a:pPr lvl="2"/>
                <a:r>
                  <a:rPr lang="ja-JP" altLang="en-US" dirty="0"/>
                  <a:t>エントリ数は </a:t>
                </a:r>
                <a14:m>
                  <m:oMath xmlns:m="http://schemas.openxmlformats.org/officeDocument/2006/math">
                    <m:sSup>
                      <m:sSupPr>
                        <m:ctrlPr>
                          <a:rPr lang="en-US" altLang="ja-JP" i="1" dirty="0">
                            <a:solidFill>
                              <a:schemeClr val="accent5"/>
                            </a:solidFill>
                            <a:latin typeface="Cambria Math" panose="02040503050406030204" pitchFamily="18" charset="0"/>
                          </a:rPr>
                        </m:ctrlPr>
                      </m:sSupPr>
                      <m:e>
                        <m:r>
                          <a:rPr lang="en-US" altLang="ja-JP" i="1" dirty="0">
                            <a:solidFill>
                              <a:schemeClr val="accent5"/>
                            </a:solidFill>
                            <a:latin typeface="Cambria Math" panose="02040503050406030204" pitchFamily="18" charset="0"/>
                          </a:rPr>
                          <m:t>2</m:t>
                        </m:r>
                      </m:e>
                      <m:sup>
                        <m:r>
                          <a:rPr lang="en-US" altLang="ja-JP" i="1" dirty="0">
                            <a:solidFill>
                              <a:schemeClr val="accent5"/>
                            </a:solidFill>
                            <a:latin typeface="Cambria Math" panose="02040503050406030204" pitchFamily="18" charset="0"/>
                          </a:rPr>
                          <m:t>𝑛</m:t>
                        </m:r>
                      </m:sup>
                    </m:sSup>
                  </m:oMath>
                </a14:m>
                <a:r>
                  <a:rPr lang="en-US" altLang="ja-JP" dirty="0">
                    <a:solidFill>
                      <a:schemeClr val="accent5"/>
                    </a:solidFill>
                    <a:latin typeface="Arial Narrow" panose="020B0606020202030204" pitchFamily="34" charset="0"/>
                  </a:rPr>
                  <a:t>-1 </a:t>
                </a:r>
                <a:r>
                  <a:rPr lang="ja-JP" altLang="en-US" dirty="0">
                    <a:latin typeface="Arial Narrow" panose="020B0606020202030204" pitchFamily="34" charset="0"/>
                  </a:rPr>
                  <a:t>エントリ</a:t>
                </a:r>
                <a:endParaRPr lang="en-US" altLang="ja-JP" dirty="0"/>
              </a:p>
              <a:p>
                <a:pPr lvl="1"/>
                <a:r>
                  <a:rPr kumimoji="1" lang="ja-JP" altLang="en-US" dirty="0"/>
                  <a:t>各エントリは１ビットの</a:t>
                </a:r>
                <a:r>
                  <a:rPr kumimoji="1" lang="ja-JP" altLang="en-US" dirty="0">
                    <a:solidFill>
                      <a:schemeClr val="accent5"/>
                    </a:solidFill>
                  </a:rPr>
                  <a:t>飽和型カウンタ</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225957" y="5139020"/>
                <a:ext cx="8280092" cy="719701"/>
              </a:xfrm>
              <a:blipFill>
                <a:blip r:embed="rId2"/>
                <a:stretch>
                  <a:fillRect l="-663" t="-67797" b="-81356"/>
                </a:stretch>
              </a:blipFill>
            </p:spPr>
            <p:txBody>
              <a:bodyPr/>
              <a:lstStyle/>
              <a:p>
                <a:r>
                  <a:rPr lang="ja-JP" altLang="en-US">
                    <a:noFill/>
                  </a:rPr>
                  <a:t> </a:t>
                </a:r>
              </a:p>
            </p:txBody>
          </p:sp>
        </mc:Fallback>
      </mc:AlternateContent>
      <p:sp>
        <p:nvSpPr>
          <p:cNvPr id="5" name="Rectangle 89"/>
          <p:cNvSpPr>
            <a:spLocks noChangeArrowheads="1"/>
          </p:cNvSpPr>
          <p:nvPr/>
        </p:nvSpPr>
        <p:spPr bwMode="auto">
          <a:xfrm>
            <a:off x="3215969" y="1628980"/>
            <a:ext cx="1439863"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5"/>
              </a:solidFill>
              <a:latin typeface="MeiryoKe_PGothic" pitchFamily="50" charset="-128"/>
              <a:ea typeface="MeiryoKe_PGothic" pitchFamily="50" charset="-128"/>
            </a:endParaRPr>
          </a:p>
        </p:txBody>
      </p:sp>
      <p:sp>
        <p:nvSpPr>
          <p:cNvPr id="6" name="Rectangle 128"/>
          <p:cNvSpPr>
            <a:spLocks noChangeArrowheads="1"/>
          </p:cNvSpPr>
          <p:nvPr/>
        </p:nvSpPr>
        <p:spPr bwMode="auto">
          <a:xfrm>
            <a:off x="3215969" y="1270206"/>
            <a:ext cx="2339975"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eiryoKe_PGothic" pitchFamily="50" charset="-128"/>
                <a:ea typeface="MeiryoKe_PGothic" pitchFamily="50" charset="-128"/>
              </a:rPr>
              <a:t>PC</a:t>
            </a:r>
          </a:p>
        </p:txBody>
      </p:sp>
      <p:sp>
        <p:nvSpPr>
          <p:cNvPr id="4" name="Rectangle 13"/>
          <p:cNvSpPr>
            <a:spLocks noChangeArrowheads="1"/>
          </p:cNvSpPr>
          <p:nvPr/>
        </p:nvSpPr>
        <p:spPr bwMode="auto">
          <a:xfrm>
            <a:off x="4655832" y="1628980"/>
            <a:ext cx="720725"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8" name="Freeform 10"/>
          <p:cNvSpPr>
            <a:spLocks/>
          </p:cNvSpPr>
          <p:nvPr/>
        </p:nvSpPr>
        <p:spPr bwMode="auto">
          <a:xfrm rot="16200000" flipV="1">
            <a:off x="5375992" y="1718981"/>
            <a:ext cx="990010" cy="171001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9" name="Rectangle 154"/>
          <p:cNvSpPr>
            <a:spLocks noChangeArrowheads="1"/>
          </p:cNvSpPr>
          <p:nvPr/>
        </p:nvSpPr>
        <p:spPr bwMode="auto">
          <a:xfrm>
            <a:off x="6817648" y="1630567"/>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10" name="Rectangle 195"/>
          <p:cNvSpPr>
            <a:spLocks noChangeArrowheads="1"/>
          </p:cNvSpPr>
          <p:nvPr/>
        </p:nvSpPr>
        <p:spPr bwMode="auto">
          <a:xfrm>
            <a:off x="6816008" y="2888995"/>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a:t>
            </a:r>
            <a:endParaRPr lang="ja-JP" altLang="en-US" b="1" dirty="0">
              <a:solidFill>
                <a:schemeClr val="accent5"/>
              </a:solidFill>
              <a:latin typeface="MeiryoKe_PGothic" pitchFamily="50" charset="-128"/>
              <a:ea typeface="MeiryoKe_PGothic" pitchFamily="50" charset="-128"/>
            </a:endParaRPr>
          </a:p>
        </p:txBody>
      </p:sp>
      <p:sp>
        <p:nvSpPr>
          <p:cNvPr id="13" name="正方形/長方形 12"/>
          <p:cNvSpPr/>
          <p:nvPr/>
        </p:nvSpPr>
        <p:spPr bwMode="auto">
          <a:xfrm>
            <a:off x="6816009" y="1628980"/>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6816009" y="1988984"/>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6" name="正方形/長方形 15"/>
          <p:cNvSpPr/>
          <p:nvPr/>
        </p:nvSpPr>
        <p:spPr bwMode="auto">
          <a:xfrm>
            <a:off x="6456005"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7" name="正方形/長方形 16"/>
          <p:cNvSpPr/>
          <p:nvPr/>
        </p:nvSpPr>
        <p:spPr bwMode="auto">
          <a:xfrm>
            <a:off x="6456004" y="198898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8" name="正方形/長方形 17"/>
          <p:cNvSpPr/>
          <p:nvPr/>
        </p:nvSpPr>
        <p:spPr bwMode="auto">
          <a:xfrm>
            <a:off x="6456004"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23" name="正方形/長方形 22"/>
          <p:cNvSpPr/>
          <p:nvPr/>
        </p:nvSpPr>
        <p:spPr bwMode="auto">
          <a:xfrm>
            <a:off x="6996010" y="3338999"/>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28" name="正方形/長方形 27"/>
              <p:cNvSpPr/>
              <p:nvPr/>
            </p:nvSpPr>
            <p:spPr bwMode="auto">
              <a:xfrm>
                <a:off x="6366003" y="38790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 xmlns:m="http://schemas.openxmlformats.org/officeDocument/2006/math">
                    <m:sSup>
                      <m:sSupPr>
                        <m:ctrlPr>
                          <a:rPr lang="en-US" altLang="ja-JP" i="1" dirty="0">
                            <a:solidFill>
                              <a:schemeClr val="accent5"/>
                            </a:solidFill>
                            <a:latin typeface="Cambria Math" panose="02040503050406030204" pitchFamily="18" charset="0"/>
                          </a:rPr>
                        </m:ctrlPr>
                      </m:sSupPr>
                      <m:e>
                        <m:r>
                          <a:rPr lang="en-US" altLang="ja-JP" i="1" dirty="0">
                            <a:solidFill>
                              <a:schemeClr val="accent5"/>
                            </a:solidFill>
                            <a:latin typeface="Cambria Math" panose="02040503050406030204" pitchFamily="18" charset="0"/>
                          </a:rPr>
                          <m:t>2</m:t>
                        </m:r>
                      </m:e>
                      <m:sup>
                        <m:r>
                          <a:rPr lang="en-US" altLang="ja-JP" i="1" dirty="0">
                            <a:solidFill>
                              <a:schemeClr val="accent5"/>
                            </a:solidFill>
                            <a:latin typeface="Cambria Math" panose="02040503050406030204" pitchFamily="18" charset="0"/>
                          </a:rPr>
                          <m:t>𝑛</m:t>
                        </m:r>
                      </m:sup>
                    </m:sSup>
                  </m:oMath>
                </a14:m>
                <a:r>
                  <a:rPr lang="en-US" altLang="ja-JP" dirty="0">
                    <a:solidFill>
                      <a:schemeClr val="accent5"/>
                    </a:solidFill>
                    <a:latin typeface="Arial Narrow" panose="020B0606020202030204" pitchFamily="34" charset="0"/>
                  </a:rPr>
                  <a:t>-1</a:t>
                </a:r>
                <a:endParaRPr lang="ja-JP" altLang="en-US" dirty="0">
                  <a:solidFill>
                    <a:schemeClr val="accent5"/>
                  </a:solidFill>
                  <a:latin typeface="Arial Narrow" panose="020B0606020202030204" pitchFamily="34" charset="0"/>
                </a:endParaRPr>
              </a:p>
            </p:txBody>
          </p:sp>
        </mc:Choice>
        <mc:Fallback>
          <p:sp>
            <p:nvSpPr>
              <p:cNvPr id="28" name="正方形/長方形 27"/>
              <p:cNvSpPr>
                <a:spLocks noRot="1" noChangeAspect="1" noMove="1" noResize="1" noEditPoints="1" noAdjustHandles="1" noChangeArrowheads="1" noChangeShapeType="1" noTextEdit="1"/>
              </p:cNvSpPr>
              <p:nvPr/>
            </p:nvSpPr>
            <p:spPr bwMode="auto">
              <a:xfrm>
                <a:off x="6366003" y="3879005"/>
                <a:ext cx="360004" cy="360004"/>
              </a:xfrm>
              <a:prstGeom prst="rect">
                <a:avLst/>
              </a:prstGeom>
              <a:blipFill>
                <a:blip r:embed="rId3"/>
                <a:stretch>
                  <a:fillRect l="-28814" t="-15254" r="-49153" b="-22034"/>
                </a:stretch>
              </a:blipFill>
              <a:ln w="6350">
                <a:noFill/>
                <a:headEnd/>
                <a:tailEnd type="none" w="sm" len="med"/>
              </a:ln>
            </p:spPr>
            <p:txBody>
              <a:bodyPr/>
              <a:lstStyle/>
              <a:p>
                <a:r>
                  <a:rPr lang="ja-JP" altLang="en-US">
                    <a:noFill/>
                  </a:rPr>
                  <a:t> </a:t>
                </a:r>
              </a:p>
            </p:txBody>
          </p:sp>
        </mc:Fallback>
      </mc:AlternateContent>
      <p:sp>
        <p:nvSpPr>
          <p:cNvPr id="32" name="Rectangle 133"/>
          <p:cNvSpPr>
            <a:spLocks noChangeArrowheads="1"/>
          </p:cNvSpPr>
          <p:nvPr/>
        </p:nvSpPr>
        <p:spPr bwMode="auto">
          <a:xfrm>
            <a:off x="6816009" y="1268977"/>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eiryoKe_PGothic" pitchFamily="50" charset="-128"/>
                <a:ea typeface="MeiryoKe_PGothic" pitchFamily="50" charset="-128"/>
              </a:rPr>
              <a:t>PHT</a:t>
            </a:r>
            <a:r>
              <a:rPr lang="ja-JP" altLang="en-US" dirty="0">
                <a:solidFill>
                  <a:schemeClr val="tx1">
                    <a:lumMod val="75000"/>
                    <a:lumOff val="25000"/>
                  </a:schemeClr>
                </a:solidFill>
                <a:latin typeface="MeiryoKe_PGothic" pitchFamily="50" charset="-128"/>
                <a:ea typeface="MeiryoKe_PGothic" pitchFamily="50" charset="-128"/>
              </a:rPr>
              <a:t>（</a:t>
            </a:r>
            <a:r>
              <a:rPr lang="en-US" altLang="ja-JP" dirty="0">
                <a:solidFill>
                  <a:schemeClr val="tx1">
                    <a:lumMod val="75000"/>
                    <a:lumOff val="25000"/>
                  </a:schemeClr>
                </a:solidFill>
                <a:latin typeface="MeiryoKe_PGothic" pitchFamily="50" charset="-128"/>
                <a:ea typeface="MeiryoKe_PGothic" pitchFamily="50" charset="-128"/>
              </a:rPr>
              <a:t>Pattern History Table</a:t>
            </a:r>
            <a:r>
              <a:rPr lang="ja-JP" altLang="en-US" dirty="0">
                <a:solidFill>
                  <a:schemeClr val="tx1">
                    <a:lumMod val="75000"/>
                    <a:lumOff val="25000"/>
                  </a:schemeClr>
                </a:solidFill>
                <a:latin typeface="MeiryoKe_PGothic" pitchFamily="50" charset="-128"/>
                <a:ea typeface="MeiryoKe_PGothic" pitchFamily="50" charset="-128"/>
              </a:rPr>
              <a:t>）</a:t>
            </a:r>
            <a:endParaRPr lang="en-US" altLang="ja-JP" dirty="0">
              <a:solidFill>
                <a:schemeClr val="tx1">
                  <a:lumMod val="75000"/>
                  <a:lumOff val="25000"/>
                </a:schemeClr>
              </a:solidFill>
              <a:latin typeface="MeiryoKe_PGothic" pitchFamily="50" charset="-128"/>
              <a:ea typeface="MeiryoKe_PGothic" pitchFamily="50" charset="-128"/>
            </a:endParaRPr>
          </a:p>
        </p:txBody>
      </p:sp>
      <p:cxnSp>
        <p:nvCxnSpPr>
          <p:cNvPr id="34" name="直線コネクタ 33"/>
          <p:cNvCxnSpPr/>
          <p:nvPr/>
        </p:nvCxnSpPr>
        <p:spPr bwMode="auto">
          <a:xfrm>
            <a:off x="4655984" y="2078985"/>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35" name="正方形/長方形 34"/>
          <p:cNvSpPr/>
          <p:nvPr/>
        </p:nvSpPr>
        <p:spPr bwMode="auto">
          <a:xfrm>
            <a:off x="3665973" y="243898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PC </a:t>
            </a:r>
            <a:r>
              <a:rPr lang="ja-JP" altLang="en-US" sz="2000" dirty="0">
                <a:solidFill>
                  <a:schemeClr val="tx1">
                    <a:lumMod val="75000"/>
                    <a:lumOff val="25000"/>
                  </a:schemeClr>
                </a:solidFill>
                <a:latin typeface="Arial Narrow" panose="020B0606020202030204" pitchFamily="34" charset="0"/>
              </a:rPr>
              <a:t>の下位 </a:t>
            </a:r>
            <a:r>
              <a:rPr lang="en-US" altLang="ja-JP" sz="2000" dirty="0">
                <a:solidFill>
                  <a:schemeClr val="tx1">
                    <a:lumMod val="75000"/>
                    <a:lumOff val="25000"/>
                  </a:schemeClr>
                </a:solidFill>
                <a:latin typeface="Arial Narrow" panose="020B0606020202030204" pitchFamily="34" charset="0"/>
              </a:rPr>
              <a:t>n </a:t>
            </a:r>
            <a:r>
              <a:rPr lang="ja-JP" altLang="en-US" sz="2000" dirty="0">
                <a:solidFill>
                  <a:schemeClr val="tx1">
                    <a:lumMod val="75000"/>
                    <a:lumOff val="25000"/>
                  </a:schemeClr>
                </a:solidFill>
                <a:latin typeface="Arial Narrow" panose="020B0606020202030204" pitchFamily="34" charset="0"/>
              </a:rPr>
              <a:t>ビット</a:t>
            </a:r>
          </a:p>
        </p:txBody>
      </p:sp>
      <p:sp>
        <p:nvSpPr>
          <p:cNvPr id="36" name="正方形/長方形 35"/>
          <p:cNvSpPr/>
          <p:nvPr/>
        </p:nvSpPr>
        <p:spPr bwMode="auto">
          <a:xfrm>
            <a:off x="6816009" y="3879005"/>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7" name="正方形/長方形 36"/>
          <p:cNvSpPr/>
          <p:nvPr/>
        </p:nvSpPr>
        <p:spPr bwMode="auto">
          <a:xfrm>
            <a:off x="6996010"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38" name="直線矢印コネクタ 37"/>
          <p:cNvCxnSpPr/>
          <p:nvPr/>
        </p:nvCxnSpPr>
        <p:spPr bwMode="auto">
          <a:xfrm>
            <a:off x="7176012" y="4239010"/>
            <a:ext cx="0" cy="450005"/>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41" name="Rectangle 133"/>
          <p:cNvSpPr>
            <a:spLocks noChangeArrowheads="1"/>
          </p:cNvSpPr>
          <p:nvPr/>
        </p:nvSpPr>
        <p:spPr bwMode="auto">
          <a:xfrm>
            <a:off x="7356014" y="4329011"/>
            <a:ext cx="2340026" cy="630007"/>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eiryoKe_PGothic" pitchFamily="50" charset="-128"/>
                <a:ea typeface="MeiryoKe_PGothic" pitchFamily="50" charset="-128"/>
              </a:rPr>
              <a:t>予測結果</a:t>
            </a:r>
            <a:endParaRPr lang="en-US" altLang="ja-JP" dirty="0">
              <a:solidFill>
                <a:schemeClr val="tx1">
                  <a:lumMod val="75000"/>
                  <a:lumOff val="25000"/>
                </a:schemeClr>
              </a:solidFill>
              <a:latin typeface="MeiryoKe_PGothic" pitchFamily="50" charset="-128"/>
              <a:ea typeface="MeiryoKe_PGothic" pitchFamily="50" charset="-128"/>
            </a:endParaRPr>
          </a:p>
          <a:p>
            <a:pPr eaLnBrk="0" hangingPunct="0"/>
            <a:r>
              <a:rPr lang="en-US" altLang="ja-JP" dirty="0">
                <a:solidFill>
                  <a:schemeClr val="tx1">
                    <a:lumMod val="75000"/>
                    <a:lumOff val="25000"/>
                  </a:schemeClr>
                </a:solidFill>
                <a:latin typeface="MeiryoKe_PGothic" pitchFamily="50" charset="-128"/>
                <a:ea typeface="MeiryoKe_PGothic" pitchFamily="50" charset="-128"/>
              </a:rPr>
              <a:t>1: taken, 0: untaken</a:t>
            </a:r>
          </a:p>
        </p:txBody>
      </p:sp>
    </p:spTree>
    <p:extLst>
      <p:ext uri="{BB962C8B-B14F-4D97-AF65-F5344CB8AC3E}">
        <p14:creationId xmlns:p14="http://schemas.microsoft.com/office/powerpoint/2010/main" val="1747919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１ビットの飽和型カウンタの状態遷移図</a:t>
            </a:r>
            <a:r>
              <a:rPr lang="ja-JP" altLang="en-US" dirty="0">
                <a:solidFill>
                  <a:schemeClr val="accent5"/>
                </a:solidFill>
              </a:rPr>
              <a:t>ウンタ</a:t>
            </a:r>
            <a:endParaRPr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6" y="4419012"/>
                <a:ext cx="8280092" cy="1439709"/>
              </a:xfrm>
            </p:spPr>
            <p:txBody>
              <a:bodyPr/>
              <a:lstStyle/>
              <a:p>
                <a:r>
                  <a:rPr kumimoji="1" lang="ja-JP" altLang="en-US" dirty="0"/>
                  <a:t>学習：</a:t>
                </a:r>
                <a:endParaRPr kumimoji="1" lang="en-US" altLang="ja-JP" dirty="0"/>
              </a:p>
              <a:p>
                <a:pPr lvl="1"/>
                <a:r>
                  <a:rPr lang="ja-JP" altLang="en-US" dirty="0"/>
                  <a:t>分岐が成立したら </a:t>
                </a:r>
                <a14:m>
                  <m:oMath xmlns:m="http://schemas.openxmlformats.org/officeDocument/2006/math">
                    <m:r>
                      <a:rPr lang="en-US" altLang="ja-JP" i="1" dirty="0">
                        <a:latin typeface="Cambria Math" panose="02040503050406030204" pitchFamily="18" charset="0"/>
                      </a:rPr>
                      <m:t>+1</m:t>
                    </m:r>
                  </m:oMath>
                </a14:m>
                <a:r>
                  <a:rPr lang="ja-JP" altLang="en-US" dirty="0" err="1"/>
                  <a:t>，</a:t>
                </a:r>
                <a:r>
                  <a:rPr lang="ja-JP" altLang="en-US" dirty="0"/>
                  <a:t>不成立なら </a:t>
                </a:r>
                <a14:m>
                  <m:oMath xmlns:m="http://schemas.openxmlformats.org/officeDocument/2006/math">
                    <m:r>
                      <a:rPr lang="en-US" altLang="ja-JP" i="1" dirty="0">
                        <a:latin typeface="Cambria Math" panose="02040503050406030204" pitchFamily="18" charset="0"/>
                      </a:rPr>
                      <m:t>−1</m:t>
                    </m:r>
                  </m:oMath>
                </a14:m>
                <a:endParaRPr kumimoji="1" lang="en-US" altLang="ja-JP" dirty="0"/>
              </a:p>
              <a:p>
                <a:pPr lvl="1"/>
                <a14:m>
                  <m:oMath xmlns:m="http://schemas.openxmlformats.org/officeDocument/2006/math">
                    <m:r>
                      <a:rPr kumimoji="1" lang="en-US" altLang="ja-JP" i="1" dirty="0" smtClean="0">
                        <a:latin typeface="Cambria Math" panose="02040503050406030204" pitchFamily="18" charset="0"/>
                      </a:rPr>
                      <m:t>1</m:t>
                    </m:r>
                  </m:oMath>
                </a14:m>
                <a:r>
                  <a:rPr kumimoji="1" lang="en-US" altLang="ja-JP" dirty="0"/>
                  <a:t> </a:t>
                </a:r>
                <a:r>
                  <a:rPr kumimoji="1" lang="ja-JP" altLang="en-US" dirty="0"/>
                  <a:t>を超えたら</a:t>
                </a:r>
                <a14:m>
                  <m:oMath xmlns:m="http://schemas.openxmlformats.org/officeDocument/2006/math">
                    <m:r>
                      <a:rPr kumimoji="1" lang="en-US" altLang="ja-JP" i="1" dirty="0" smtClean="0">
                        <a:latin typeface="Cambria Math" panose="02040503050406030204" pitchFamily="18" charset="0"/>
                      </a:rPr>
                      <m:t>1</m:t>
                    </m:r>
                  </m:oMath>
                </a14:m>
                <a:r>
                  <a:rPr kumimoji="1" lang="ja-JP" altLang="en-US" dirty="0" err="1"/>
                  <a:t>，</a:t>
                </a:r>
                <a14:m>
                  <m:oMath xmlns:m="http://schemas.openxmlformats.org/officeDocument/2006/math">
                    <m:r>
                      <a:rPr kumimoji="1" lang="en-US" altLang="ja-JP" i="1" dirty="0" smtClean="0">
                        <a:latin typeface="Cambria Math" panose="02040503050406030204" pitchFamily="18" charset="0"/>
                      </a:rPr>
                      <m:t>0</m:t>
                    </m:r>
                  </m:oMath>
                </a14:m>
                <a:r>
                  <a:rPr kumimoji="1" lang="ja-JP" altLang="en-US" dirty="0"/>
                  <a:t>を下回ったら</a:t>
                </a:r>
                <a14:m>
                  <m:oMath xmlns:m="http://schemas.openxmlformats.org/officeDocument/2006/math">
                    <m:r>
                      <a:rPr kumimoji="1" lang="en-US" altLang="ja-JP" i="1" dirty="0" smtClean="0">
                        <a:latin typeface="Cambria Math" panose="02040503050406030204" pitchFamily="18" charset="0"/>
                      </a:rPr>
                      <m:t>0</m:t>
                    </m:r>
                  </m:oMath>
                </a14:m>
                <a:endParaRPr kumimoji="1" lang="en-US" altLang="ja-JP" dirty="0"/>
              </a:p>
              <a:p>
                <a:r>
                  <a:rPr kumimoji="1" lang="ja-JP" altLang="en-US" dirty="0"/>
                  <a:t>予測：</a:t>
                </a:r>
                <a:endParaRPr kumimoji="1" lang="en-US" altLang="ja-JP" dirty="0"/>
              </a:p>
              <a:p>
                <a:pPr lvl="1"/>
                <a:r>
                  <a:rPr kumimoji="1" lang="ja-JP" altLang="en-US" dirty="0"/>
                  <a:t>１なら成立，０なら不成立</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6" y="4419012"/>
                <a:ext cx="8280092" cy="1439709"/>
              </a:xfrm>
              <a:blipFill>
                <a:blip r:embed="rId2"/>
                <a:stretch>
                  <a:fillRect l="-662" t="-34746" b="-41525"/>
                </a:stretch>
              </a:blipFill>
            </p:spPr>
            <p:txBody>
              <a:bodyPr/>
              <a:lstStyle/>
              <a:p>
                <a:r>
                  <a:rPr lang="ja-JP" altLang="en-US">
                    <a:noFill/>
                  </a:rPr>
                  <a:t> </a:t>
                </a:r>
              </a:p>
            </p:txBody>
          </p:sp>
        </mc:Fallback>
      </mc:AlternateContent>
      <p:sp>
        <p:nvSpPr>
          <p:cNvPr id="4" name="円/楕円 3"/>
          <p:cNvSpPr/>
          <p:nvPr/>
        </p:nvSpPr>
        <p:spPr bwMode="auto">
          <a:xfrm>
            <a:off x="4025977" y="2708992"/>
            <a:ext cx="1260014" cy="720008"/>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成立と予測</a:t>
            </a:r>
          </a:p>
        </p:txBody>
      </p:sp>
      <p:sp>
        <p:nvSpPr>
          <p:cNvPr id="5" name="円/楕円 4"/>
          <p:cNvSpPr/>
          <p:nvPr/>
        </p:nvSpPr>
        <p:spPr bwMode="auto">
          <a:xfrm>
            <a:off x="6186001" y="2708992"/>
            <a:ext cx="1260014" cy="720008"/>
          </a:xfrm>
          <a:prstGeom prst="ellipse">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不成立と予測</a:t>
            </a:r>
          </a:p>
        </p:txBody>
      </p:sp>
      <p:sp>
        <p:nvSpPr>
          <p:cNvPr id="6" name="円弧 5"/>
          <p:cNvSpPr/>
          <p:nvPr/>
        </p:nvSpPr>
        <p:spPr bwMode="auto">
          <a:xfrm>
            <a:off x="5195991" y="2528990"/>
            <a:ext cx="990011" cy="360004"/>
          </a:xfrm>
          <a:prstGeom prst="arc">
            <a:avLst>
              <a:gd name="adj1" fmla="val 11339656"/>
              <a:gd name="adj2" fmla="val 21204558"/>
            </a:avLst>
          </a:prstGeom>
          <a:ln>
            <a:headEnd type="none" w="med" len="med"/>
            <a:tailEnd type="triangle" w="lg" len="lg"/>
          </a:ln>
        </p:spPr>
        <p:style>
          <a:lnRef idx="2">
            <a:schemeClr val="accent6"/>
          </a:lnRef>
          <a:fillRef idx="0">
            <a:schemeClr val="accent6"/>
          </a:fillRef>
          <a:effectRef idx="1">
            <a:schemeClr val="accent6"/>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7" name="円弧 6"/>
          <p:cNvSpPr/>
          <p:nvPr/>
        </p:nvSpPr>
        <p:spPr bwMode="auto">
          <a:xfrm flipH="1" flipV="1">
            <a:off x="5195991" y="3158997"/>
            <a:ext cx="990011" cy="540006"/>
          </a:xfrm>
          <a:prstGeom prst="arc">
            <a:avLst>
              <a:gd name="adj1" fmla="val 11339656"/>
              <a:gd name="adj2" fmla="val 21204558"/>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8" name="正方形/長方形 7"/>
          <p:cNvSpPr/>
          <p:nvPr/>
        </p:nvSpPr>
        <p:spPr bwMode="auto">
          <a:xfrm>
            <a:off x="5465993"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2000" dirty="0">
                <a:solidFill>
                  <a:schemeClr val="tx1">
                    <a:lumMod val="75000"/>
                    <a:lumOff val="25000"/>
                  </a:schemeClr>
                </a:solidFill>
                <a:latin typeface="Arial Narrow" panose="020B0606020202030204" pitchFamily="34" charset="0"/>
              </a:rPr>
              <a:t>不成立 </a:t>
            </a: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9" name="正方形/長方形 8"/>
          <p:cNvSpPr/>
          <p:nvPr/>
        </p:nvSpPr>
        <p:spPr bwMode="auto">
          <a:xfrm>
            <a:off x="5465993" y="38790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2000" dirty="0">
                <a:solidFill>
                  <a:schemeClr val="tx1">
                    <a:lumMod val="75000"/>
                    <a:lumOff val="25000"/>
                  </a:schemeClr>
                </a:solidFill>
                <a:latin typeface="Arial Narrow" panose="020B0606020202030204" pitchFamily="34" charset="0"/>
              </a:rPr>
              <a:t>成立</a:t>
            </a: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0" name="正方形/長方形 9"/>
          <p:cNvSpPr/>
          <p:nvPr/>
        </p:nvSpPr>
        <p:spPr bwMode="auto">
          <a:xfrm>
            <a:off x="4475982"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800" b="1" dirty="0">
                <a:solidFill>
                  <a:schemeClr val="accent5"/>
                </a:solidFill>
                <a:latin typeface="Arial Narrow" panose="020B0606020202030204" pitchFamily="34" charset="0"/>
              </a:rPr>
              <a:t>1</a:t>
            </a:r>
            <a:endParaRPr lang="ja-JP" altLang="en-US" sz="2800" b="1" dirty="0">
              <a:solidFill>
                <a:schemeClr val="accent5"/>
              </a:solidFill>
              <a:latin typeface="Arial Narrow" panose="020B0606020202030204" pitchFamily="34" charset="0"/>
            </a:endParaRPr>
          </a:p>
        </p:txBody>
      </p:sp>
      <p:sp>
        <p:nvSpPr>
          <p:cNvPr id="11" name="正方形/長方形 10"/>
          <p:cNvSpPr/>
          <p:nvPr/>
        </p:nvSpPr>
        <p:spPr bwMode="auto">
          <a:xfrm>
            <a:off x="6636006"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800" b="1" dirty="0">
                <a:solidFill>
                  <a:schemeClr val="accent6"/>
                </a:solidFill>
                <a:latin typeface="Arial Narrow" panose="020B0606020202030204" pitchFamily="34" charset="0"/>
              </a:rPr>
              <a:t>0</a:t>
            </a:r>
            <a:endParaRPr lang="ja-JP" altLang="en-US" sz="2800" b="1" dirty="0">
              <a:solidFill>
                <a:schemeClr val="accent6"/>
              </a:solidFill>
              <a:latin typeface="Arial Narrow" panose="020B0606020202030204" pitchFamily="34" charset="0"/>
            </a:endParaRPr>
          </a:p>
        </p:txBody>
      </p:sp>
      <p:sp>
        <p:nvSpPr>
          <p:cNvPr id="12" name="円弧 11"/>
          <p:cNvSpPr/>
          <p:nvPr/>
        </p:nvSpPr>
        <p:spPr bwMode="auto">
          <a:xfrm flipH="1" flipV="1">
            <a:off x="3035967" y="2708992"/>
            <a:ext cx="990011" cy="720008"/>
          </a:xfrm>
          <a:prstGeom prst="arc">
            <a:avLst>
              <a:gd name="adj1" fmla="val 12455468"/>
              <a:gd name="adj2" fmla="val 9356523"/>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13" name="円弧 12"/>
          <p:cNvSpPr/>
          <p:nvPr/>
        </p:nvSpPr>
        <p:spPr bwMode="auto">
          <a:xfrm>
            <a:off x="7536017" y="2708992"/>
            <a:ext cx="990011" cy="720008"/>
          </a:xfrm>
          <a:prstGeom prst="arc">
            <a:avLst>
              <a:gd name="adj1" fmla="val 12455468"/>
              <a:gd name="adj2" fmla="val 9356523"/>
            </a:avLst>
          </a:prstGeom>
          <a:ln>
            <a:headEnd type="none" w="med" len="med"/>
            <a:tailEnd type="triangle" w="lg" len="lg"/>
          </a:ln>
        </p:spPr>
        <p:style>
          <a:lnRef idx="2">
            <a:schemeClr val="accent6"/>
          </a:lnRef>
          <a:fillRef idx="0">
            <a:schemeClr val="accent6"/>
          </a:fillRef>
          <a:effectRef idx="1">
            <a:schemeClr val="accent6"/>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14" name="正方形/長方形 13"/>
          <p:cNvSpPr/>
          <p:nvPr/>
        </p:nvSpPr>
        <p:spPr bwMode="auto">
          <a:xfrm>
            <a:off x="9066033" y="288899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2000" dirty="0">
                <a:solidFill>
                  <a:schemeClr val="tx1">
                    <a:lumMod val="75000"/>
                    <a:lumOff val="25000"/>
                  </a:schemeClr>
                </a:solidFill>
                <a:latin typeface="Arial Narrow" panose="020B0606020202030204" pitchFamily="34" charset="0"/>
              </a:rPr>
              <a:t>不成立 </a:t>
            </a: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2315958" y="288899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2000" dirty="0">
                <a:solidFill>
                  <a:schemeClr val="tx1">
                    <a:lumMod val="75000"/>
                    <a:lumOff val="25000"/>
                  </a:schemeClr>
                </a:solidFill>
                <a:latin typeface="Arial Narrow" panose="020B0606020202030204" pitchFamily="34" charset="0"/>
              </a:rPr>
              <a:t>成立</a:t>
            </a: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Tree>
    <p:extLst>
      <p:ext uri="{BB962C8B-B14F-4D97-AF65-F5344CB8AC3E}">
        <p14:creationId xmlns:p14="http://schemas.microsoft.com/office/powerpoint/2010/main" val="4459207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a:t>
            </a:r>
            <a:r>
              <a:rPr lang="ja-JP" altLang="en-US" dirty="0"/>
              <a:t>ビット・カウンタ予測器の意味</a:t>
            </a:r>
          </a:p>
        </p:txBody>
      </p:sp>
      <p:sp>
        <p:nvSpPr>
          <p:cNvPr id="3" name="テキスト プレースホルダー 2"/>
          <p:cNvSpPr>
            <a:spLocks noGrp="1"/>
          </p:cNvSpPr>
          <p:nvPr>
            <p:ph type="body" sz="quarter" idx="10"/>
          </p:nvPr>
        </p:nvSpPr>
        <p:spPr/>
        <p:txBody>
          <a:bodyPr/>
          <a:lstStyle/>
          <a:p>
            <a:r>
              <a:rPr kumimoji="1" lang="ja-JP" altLang="en-US" dirty="0"/>
              <a:t>動作：</a:t>
            </a:r>
            <a:r>
              <a:rPr lang="ja-JP" altLang="en-US" dirty="0"/>
              <a:t>静的分岐 の </a:t>
            </a:r>
            <a:r>
              <a:rPr kumimoji="1" lang="en-US" altLang="ja-JP" dirty="0"/>
              <a:t>PC </a:t>
            </a:r>
            <a:r>
              <a:rPr kumimoji="1" lang="ja-JP" altLang="en-US" dirty="0"/>
              <a:t>ごとに，前回の動的分岐の結果を再現</a:t>
            </a:r>
            <a:endParaRPr kumimoji="1" lang="en-US" altLang="ja-JP" dirty="0"/>
          </a:p>
          <a:p>
            <a:pPr lvl="1"/>
            <a:r>
              <a:rPr lang="ja-JP" altLang="en-US" dirty="0"/>
              <a:t>分岐が成立 　→ カウンタが１に → 次回は成立と予測</a:t>
            </a:r>
            <a:endParaRPr lang="en-US" altLang="ja-JP" dirty="0"/>
          </a:p>
          <a:p>
            <a:pPr lvl="1"/>
            <a:r>
              <a:rPr lang="ja-JP" altLang="en-US" dirty="0"/>
              <a:t>分岐が不成立 → カウンタが０に → 次回は不成立と予測</a:t>
            </a:r>
            <a:endParaRPr lang="en-US" altLang="ja-JP" dirty="0"/>
          </a:p>
        </p:txBody>
      </p:sp>
    </p:spTree>
    <p:extLst>
      <p:ext uri="{BB962C8B-B14F-4D97-AF65-F5344CB8AC3E}">
        <p14:creationId xmlns:p14="http://schemas.microsoft.com/office/powerpoint/2010/main" val="1175176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a:t>
            </a:r>
            <a:r>
              <a:rPr lang="ja-JP" altLang="en-US" dirty="0"/>
              <a:t>ビット・カウンタ予測器の利点</a:t>
            </a:r>
          </a:p>
        </p:txBody>
      </p:sp>
      <p:sp>
        <p:nvSpPr>
          <p:cNvPr id="3" name="テキスト プレースホルダー 2"/>
          <p:cNvSpPr>
            <a:spLocks noGrp="1"/>
          </p:cNvSpPr>
          <p:nvPr>
            <p:ph type="body" sz="quarter" idx="10"/>
          </p:nvPr>
        </p:nvSpPr>
        <p:spPr/>
        <p:txBody>
          <a:bodyPr/>
          <a:lstStyle/>
          <a:p>
            <a:r>
              <a:rPr lang="ja-JP" altLang="en-US" dirty="0"/>
              <a:t>静的な分岐命令の分岐方向に偏りがある場合に有効に働く</a:t>
            </a:r>
            <a:endParaRPr lang="en-US" altLang="ja-JP" dirty="0"/>
          </a:p>
          <a:p>
            <a:pPr lvl="1"/>
            <a:r>
              <a:rPr lang="ja-JP" altLang="en-US" dirty="0"/>
              <a:t>例：ソースコード～行目の </a:t>
            </a:r>
            <a:r>
              <a:rPr lang="en-US" altLang="ja-JP" dirty="0"/>
              <a:t>if </a:t>
            </a:r>
            <a:r>
              <a:rPr lang="ja-JP" altLang="en-US" dirty="0"/>
              <a:t>は大体こっちに行く</a:t>
            </a:r>
            <a:endParaRPr lang="en-US" altLang="ja-JP" dirty="0"/>
          </a:p>
          <a:p>
            <a:r>
              <a:rPr lang="ja-JP" altLang="en-US" dirty="0"/>
              <a:t>静的分岐予測では対応不能な場合にも対応出来る</a:t>
            </a:r>
            <a:endParaRPr lang="en-US" altLang="ja-JP" dirty="0"/>
          </a:p>
          <a:p>
            <a:pPr lvl="1"/>
            <a:r>
              <a:rPr lang="ja-JP" altLang="en-US" dirty="0"/>
              <a:t>偏りはあっても，コンパイル時には決定できない場合</a:t>
            </a:r>
            <a:endParaRPr lang="en-US" altLang="ja-JP" dirty="0"/>
          </a:p>
          <a:p>
            <a:pPr lvl="1"/>
            <a:r>
              <a:rPr lang="ja-JP" altLang="en-US" dirty="0"/>
              <a:t>例：コマンドライン・オプションによる分岐</a:t>
            </a:r>
            <a:endParaRPr lang="en-US" altLang="ja-JP" dirty="0"/>
          </a:p>
          <a:p>
            <a:pPr lvl="2"/>
            <a:r>
              <a:rPr lang="en-US" altLang="ja-JP" dirty="0"/>
              <a:t>-</a:t>
            </a:r>
            <a:r>
              <a:rPr lang="en-US" altLang="ja-JP" dirty="0" err="1"/>
              <a:t>hoge</a:t>
            </a:r>
            <a:r>
              <a:rPr lang="en-US" altLang="ja-JP" dirty="0"/>
              <a:t> </a:t>
            </a:r>
            <a:r>
              <a:rPr lang="ja-JP" altLang="en-US" dirty="0"/>
              <a:t>の時はこの分岐は常に不成立</a:t>
            </a:r>
            <a:endParaRPr lang="en-US" altLang="ja-JP" dirty="0"/>
          </a:p>
          <a:p>
            <a:pPr lvl="2"/>
            <a:r>
              <a:rPr lang="en-US" altLang="ja-JP" dirty="0"/>
              <a:t>-</a:t>
            </a:r>
            <a:r>
              <a:rPr lang="en-US" altLang="ja-JP" dirty="0" err="1"/>
              <a:t>fuga</a:t>
            </a:r>
            <a:r>
              <a:rPr lang="en-US" altLang="ja-JP" dirty="0"/>
              <a:t> </a:t>
            </a:r>
            <a:r>
              <a:rPr lang="ja-JP" altLang="en-US" dirty="0"/>
              <a:t>の時は常に成立</a:t>
            </a:r>
          </a:p>
        </p:txBody>
      </p:sp>
    </p:spTree>
    <p:extLst>
      <p:ext uri="{BB962C8B-B14F-4D97-AF65-F5344CB8AC3E}">
        <p14:creationId xmlns:p14="http://schemas.microsoft.com/office/powerpoint/2010/main" val="3344825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エントリの競合</a:t>
            </a:r>
          </a:p>
        </p:txBody>
      </p:sp>
      <p:sp>
        <p:nvSpPr>
          <p:cNvPr id="3" name="テキスト プレースホルダー 2"/>
          <p:cNvSpPr>
            <a:spLocks noGrp="1"/>
          </p:cNvSpPr>
          <p:nvPr>
            <p:ph type="body" sz="quarter" idx="10"/>
          </p:nvPr>
        </p:nvSpPr>
        <p:spPr>
          <a:xfrm>
            <a:off x="1865954" y="5229021"/>
            <a:ext cx="8550095" cy="1079705"/>
          </a:xfrm>
        </p:spPr>
        <p:txBody>
          <a:bodyPr/>
          <a:lstStyle/>
          <a:p>
            <a:r>
              <a:rPr kumimoji="1" lang="ja-JP" altLang="en-US" dirty="0"/>
              <a:t>エントリの競合</a:t>
            </a:r>
            <a:endParaRPr kumimoji="1" lang="en-US" altLang="ja-JP" dirty="0"/>
          </a:p>
          <a:p>
            <a:pPr lvl="1"/>
            <a:r>
              <a:rPr kumimoji="1" lang="ja-JP" altLang="en-US" dirty="0"/>
              <a:t>下位ビットがかぶると，異なるアドレスの分岐が</a:t>
            </a:r>
            <a:br>
              <a:rPr kumimoji="1" lang="en-US" altLang="ja-JP" dirty="0"/>
            </a:br>
            <a:r>
              <a:rPr kumimoji="1" lang="ja-JP" altLang="en-US" dirty="0"/>
              <a:t>同じエントリを使ってしまう</a:t>
            </a:r>
            <a:endParaRPr kumimoji="1" lang="en-US" altLang="ja-JP" dirty="0"/>
          </a:p>
          <a:p>
            <a:pPr lvl="1"/>
            <a:r>
              <a:rPr kumimoji="1" lang="ja-JP" altLang="en-US" dirty="0"/>
              <a:t>偏りが逆方向だと，予測精度を落とす</a:t>
            </a:r>
            <a:endParaRPr kumimoji="1" lang="en-US" altLang="ja-JP" dirty="0"/>
          </a:p>
          <a:p>
            <a:pPr lvl="1"/>
            <a:r>
              <a:rPr kumimoji="1" lang="ja-JP" altLang="en-US" dirty="0"/>
              <a:t>エントリ数を増やす事で解消可能</a:t>
            </a:r>
          </a:p>
        </p:txBody>
      </p:sp>
      <p:sp>
        <p:nvSpPr>
          <p:cNvPr id="4" name="Rectangle 89"/>
          <p:cNvSpPr>
            <a:spLocks noChangeArrowheads="1"/>
          </p:cNvSpPr>
          <p:nvPr/>
        </p:nvSpPr>
        <p:spPr bwMode="auto">
          <a:xfrm>
            <a:off x="3215969" y="1628980"/>
            <a:ext cx="1439863"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b="1" dirty="0">
                <a:solidFill>
                  <a:schemeClr val="accent6"/>
                </a:solidFill>
                <a:latin typeface="MeiryoKe_PGothic" pitchFamily="50" charset="-128"/>
                <a:ea typeface="MeiryoKe_PGothic" pitchFamily="50" charset="-128"/>
              </a:rPr>
              <a:t>0x4000</a:t>
            </a:r>
            <a:endParaRPr lang="ja-JP" altLang="en-US" b="1" dirty="0">
              <a:solidFill>
                <a:schemeClr val="accent6"/>
              </a:solidFill>
              <a:latin typeface="MeiryoKe_PGothic" pitchFamily="50" charset="-128"/>
              <a:ea typeface="MeiryoKe_PGothic" pitchFamily="50" charset="-128"/>
            </a:endParaRPr>
          </a:p>
        </p:txBody>
      </p:sp>
      <p:sp>
        <p:nvSpPr>
          <p:cNvPr id="5" name="Rectangle 128"/>
          <p:cNvSpPr>
            <a:spLocks noChangeArrowheads="1"/>
          </p:cNvSpPr>
          <p:nvPr/>
        </p:nvSpPr>
        <p:spPr bwMode="auto">
          <a:xfrm>
            <a:off x="3215969" y="1270206"/>
            <a:ext cx="2339975"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eiryoKe_PGothic" pitchFamily="50" charset="-128"/>
                <a:ea typeface="MeiryoKe_PGothic" pitchFamily="50" charset="-128"/>
              </a:rPr>
              <a:t>PC</a:t>
            </a:r>
          </a:p>
        </p:txBody>
      </p:sp>
      <p:sp>
        <p:nvSpPr>
          <p:cNvPr id="6" name="Rectangle 13"/>
          <p:cNvSpPr>
            <a:spLocks noChangeArrowheads="1"/>
          </p:cNvSpPr>
          <p:nvPr/>
        </p:nvSpPr>
        <p:spPr bwMode="auto">
          <a:xfrm>
            <a:off x="4655832" y="1628980"/>
            <a:ext cx="720725"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0800</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7" name="Freeform 10"/>
          <p:cNvSpPr>
            <a:spLocks/>
          </p:cNvSpPr>
          <p:nvPr/>
        </p:nvSpPr>
        <p:spPr bwMode="auto">
          <a:xfrm rot="16200000" flipV="1">
            <a:off x="5375992" y="1718981"/>
            <a:ext cx="990010" cy="171001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8" name="Rectangle 154"/>
          <p:cNvSpPr>
            <a:spLocks noChangeArrowheads="1"/>
          </p:cNvSpPr>
          <p:nvPr/>
        </p:nvSpPr>
        <p:spPr bwMode="auto">
          <a:xfrm>
            <a:off x="6817648" y="1630567"/>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9" name="Rectangle 195"/>
          <p:cNvSpPr>
            <a:spLocks noChangeArrowheads="1"/>
          </p:cNvSpPr>
          <p:nvPr/>
        </p:nvSpPr>
        <p:spPr bwMode="auto">
          <a:xfrm>
            <a:off x="6816008" y="2888995"/>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a:t>
            </a:r>
            <a:endParaRPr lang="ja-JP" altLang="en-US" b="1" dirty="0">
              <a:solidFill>
                <a:schemeClr val="accent5"/>
              </a:solidFill>
              <a:latin typeface="MeiryoKe_PGothic" pitchFamily="50" charset="-128"/>
              <a:ea typeface="MeiryoKe_PGothic" pitchFamily="50" charset="-128"/>
            </a:endParaRPr>
          </a:p>
        </p:txBody>
      </p:sp>
      <p:sp>
        <p:nvSpPr>
          <p:cNvPr id="10" name="正方形/長方形 9"/>
          <p:cNvSpPr/>
          <p:nvPr/>
        </p:nvSpPr>
        <p:spPr bwMode="auto">
          <a:xfrm>
            <a:off x="6816009" y="1628980"/>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p:cNvSpPr/>
          <p:nvPr/>
        </p:nvSpPr>
        <p:spPr bwMode="auto">
          <a:xfrm>
            <a:off x="6816009" y="1988984"/>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2" name="正方形/長方形 11"/>
          <p:cNvSpPr/>
          <p:nvPr/>
        </p:nvSpPr>
        <p:spPr bwMode="auto">
          <a:xfrm>
            <a:off x="6456005"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3" name="正方形/長方形 12"/>
          <p:cNvSpPr/>
          <p:nvPr/>
        </p:nvSpPr>
        <p:spPr bwMode="auto">
          <a:xfrm>
            <a:off x="6456004" y="198898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6456004"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6996010" y="3338999"/>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16" name="正方形/長方形 15"/>
              <p:cNvSpPr/>
              <p:nvPr/>
            </p:nvSpPr>
            <p:spPr bwMode="auto">
              <a:xfrm>
                <a:off x="6366003" y="38790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 xmlns:m="http://schemas.openxmlformats.org/officeDocument/2006/math">
                    <m:sSup>
                      <m:sSupPr>
                        <m:ctrlPr>
                          <a:rPr lang="en-US" altLang="ja-JP" i="1" dirty="0">
                            <a:solidFill>
                              <a:schemeClr val="accent5"/>
                            </a:solidFill>
                            <a:latin typeface="Cambria Math" panose="02040503050406030204" pitchFamily="18" charset="0"/>
                          </a:rPr>
                        </m:ctrlPr>
                      </m:sSupPr>
                      <m:e>
                        <m:r>
                          <a:rPr lang="en-US" altLang="ja-JP" i="1" dirty="0">
                            <a:solidFill>
                              <a:schemeClr val="accent5"/>
                            </a:solidFill>
                            <a:latin typeface="Cambria Math" panose="02040503050406030204" pitchFamily="18" charset="0"/>
                          </a:rPr>
                          <m:t>2</m:t>
                        </m:r>
                      </m:e>
                      <m:sup>
                        <m:r>
                          <a:rPr lang="en-US" altLang="ja-JP" i="1" dirty="0">
                            <a:solidFill>
                              <a:schemeClr val="accent5"/>
                            </a:solidFill>
                            <a:latin typeface="Cambria Math" panose="02040503050406030204" pitchFamily="18" charset="0"/>
                          </a:rPr>
                          <m:t>𝑛</m:t>
                        </m:r>
                      </m:sup>
                    </m:sSup>
                  </m:oMath>
                </a14:m>
                <a:r>
                  <a:rPr lang="en-US" altLang="ja-JP" dirty="0">
                    <a:solidFill>
                      <a:schemeClr val="accent5"/>
                    </a:solidFill>
                    <a:latin typeface="Arial Narrow" panose="020B0606020202030204" pitchFamily="34" charset="0"/>
                  </a:rPr>
                  <a:t>-1</a:t>
                </a:r>
                <a:endParaRPr lang="ja-JP" altLang="en-US" dirty="0">
                  <a:solidFill>
                    <a:schemeClr val="accent5"/>
                  </a:solidFill>
                  <a:latin typeface="Arial Narrow" panose="020B0606020202030204" pitchFamily="34" charset="0"/>
                </a:endParaRPr>
              </a:p>
            </p:txBody>
          </p:sp>
        </mc:Choice>
        <mc:Fallback>
          <p:sp>
            <p:nvSpPr>
              <p:cNvPr id="16" name="正方形/長方形 15"/>
              <p:cNvSpPr>
                <a:spLocks noRot="1" noChangeAspect="1" noMove="1" noResize="1" noEditPoints="1" noAdjustHandles="1" noChangeArrowheads="1" noChangeShapeType="1" noTextEdit="1"/>
              </p:cNvSpPr>
              <p:nvPr/>
            </p:nvSpPr>
            <p:spPr bwMode="auto">
              <a:xfrm>
                <a:off x="6366003" y="3879005"/>
                <a:ext cx="360004" cy="360004"/>
              </a:xfrm>
              <a:prstGeom prst="rect">
                <a:avLst/>
              </a:prstGeom>
              <a:blipFill>
                <a:blip r:embed="rId2"/>
                <a:stretch>
                  <a:fillRect l="-28814" t="-15254" r="-49153" b="-22034"/>
                </a:stretch>
              </a:blipFill>
              <a:ln w="6350">
                <a:noFill/>
                <a:headEnd/>
                <a:tailEnd type="none" w="sm" len="med"/>
              </a:ln>
            </p:spPr>
            <p:txBody>
              <a:bodyPr/>
              <a:lstStyle/>
              <a:p>
                <a:r>
                  <a:rPr lang="ja-JP" altLang="en-US">
                    <a:noFill/>
                  </a:rPr>
                  <a:t> </a:t>
                </a:r>
              </a:p>
            </p:txBody>
          </p:sp>
        </mc:Fallback>
      </mc:AlternateContent>
      <p:sp>
        <p:nvSpPr>
          <p:cNvPr id="17" name="Rectangle 133"/>
          <p:cNvSpPr>
            <a:spLocks noChangeArrowheads="1"/>
          </p:cNvSpPr>
          <p:nvPr/>
        </p:nvSpPr>
        <p:spPr bwMode="auto">
          <a:xfrm>
            <a:off x="6816009" y="1268977"/>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eiryoKe_PGothic" pitchFamily="50" charset="-128"/>
                <a:ea typeface="MeiryoKe_PGothic" pitchFamily="50" charset="-128"/>
              </a:rPr>
              <a:t>PHT</a:t>
            </a:r>
            <a:r>
              <a:rPr lang="ja-JP" altLang="en-US" dirty="0">
                <a:solidFill>
                  <a:schemeClr val="tx1">
                    <a:lumMod val="75000"/>
                    <a:lumOff val="25000"/>
                  </a:schemeClr>
                </a:solidFill>
                <a:latin typeface="MeiryoKe_PGothic" pitchFamily="50" charset="-128"/>
                <a:ea typeface="MeiryoKe_PGothic" pitchFamily="50" charset="-128"/>
              </a:rPr>
              <a:t>（</a:t>
            </a:r>
            <a:r>
              <a:rPr lang="en-US" altLang="ja-JP" dirty="0">
                <a:solidFill>
                  <a:schemeClr val="tx1">
                    <a:lumMod val="75000"/>
                    <a:lumOff val="25000"/>
                  </a:schemeClr>
                </a:solidFill>
                <a:latin typeface="MeiryoKe_PGothic" pitchFamily="50" charset="-128"/>
                <a:ea typeface="MeiryoKe_PGothic" pitchFamily="50" charset="-128"/>
              </a:rPr>
              <a:t>Pattern History Table</a:t>
            </a:r>
            <a:r>
              <a:rPr lang="ja-JP" altLang="en-US" dirty="0">
                <a:solidFill>
                  <a:schemeClr val="tx1">
                    <a:lumMod val="75000"/>
                    <a:lumOff val="25000"/>
                  </a:schemeClr>
                </a:solidFill>
                <a:latin typeface="MeiryoKe_PGothic" pitchFamily="50" charset="-128"/>
                <a:ea typeface="MeiryoKe_PGothic" pitchFamily="50" charset="-128"/>
              </a:rPr>
              <a:t>）</a:t>
            </a:r>
            <a:endParaRPr lang="en-US" altLang="ja-JP" dirty="0">
              <a:solidFill>
                <a:schemeClr val="tx1">
                  <a:lumMod val="75000"/>
                  <a:lumOff val="25000"/>
                </a:schemeClr>
              </a:solidFill>
              <a:latin typeface="MeiryoKe_PGothic" pitchFamily="50" charset="-128"/>
              <a:ea typeface="MeiryoKe_PGothic" pitchFamily="50" charset="-128"/>
            </a:endParaRPr>
          </a:p>
        </p:txBody>
      </p:sp>
      <p:cxnSp>
        <p:nvCxnSpPr>
          <p:cNvPr id="18" name="直線コネクタ 17"/>
          <p:cNvCxnSpPr/>
          <p:nvPr/>
        </p:nvCxnSpPr>
        <p:spPr bwMode="auto">
          <a:xfrm>
            <a:off x="4655984" y="2078985"/>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3575972" y="297899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PC </a:t>
            </a:r>
            <a:r>
              <a:rPr lang="ja-JP" altLang="en-US" sz="2000" dirty="0">
                <a:solidFill>
                  <a:schemeClr val="tx1">
                    <a:lumMod val="75000"/>
                    <a:lumOff val="25000"/>
                  </a:schemeClr>
                </a:solidFill>
                <a:latin typeface="Arial Narrow" panose="020B0606020202030204" pitchFamily="34" charset="0"/>
              </a:rPr>
              <a:t>の下位 </a:t>
            </a:r>
            <a:r>
              <a:rPr lang="en-US" altLang="ja-JP" sz="2000" dirty="0">
                <a:solidFill>
                  <a:schemeClr val="tx1">
                    <a:lumMod val="75000"/>
                    <a:lumOff val="25000"/>
                  </a:schemeClr>
                </a:solidFill>
                <a:latin typeface="Arial Narrow" panose="020B0606020202030204" pitchFamily="34" charset="0"/>
              </a:rPr>
              <a:t>n </a:t>
            </a:r>
            <a:r>
              <a:rPr lang="ja-JP" altLang="en-US" sz="2000" dirty="0">
                <a:solidFill>
                  <a:schemeClr val="tx1">
                    <a:lumMod val="75000"/>
                    <a:lumOff val="25000"/>
                  </a:schemeClr>
                </a:solidFill>
                <a:latin typeface="Arial Narrow" panose="020B0606020202030204" pitchFamily="34" charset="0"/>
              </a:rPr>
              <a:t>ビット</a:t>
            </a:r>
          </a:p>
        </p:txBody>
      </p:sp>
      <p:sp>
        <p:nvSpPr>
          <p:cNvPr id="20" name="正方形/長方形 19"/>
          <p:cNvSpPr/>
          <p:nvPr/>
        </p:nvSpPr>
        <p:spPr bwMode="auto">
          <a:xfrm>
            <a:off x="6816009" y="3879005"/>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1" name="正方形/長方形 20"/>
          <p:cNvSpPr/>
          <p:nvPr/>
        </p:nvSpPr>
        <p:spPr bwMode="auto">
          <a:xfrm>
            <a:off x="6996010"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22" name="直線矢印コネクタ 21"/>
          <p:cNvCxnSpPr/>
          <p:nvPr/>
        </p:nvCxnSpPr>
        <p:spPr bwMode="auto">
          <a:xfrm>
            <a:off x="7176012" y="4239010"/>
            <a:ext cx="0" cy="450005"/>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3" name="Rectangle 133"/>
          <p:cNvSpPr>
            <a:spLocks noChangeArrowheads="1"/>
          </p:cNvSpPr>
          <p:nvPr/>
        </p:nvSpPr>
        <p:spPr bwMode="auto">
          <a:xfrm>
            <a:off x="7356014" y="4329011"/>
            <a:ext cx="2340026" cy="630007"/>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eiryoKe_PGothic" pitchFamily="50" charset="-128"/>
                <a:ea typeface="MeiryoKe_PGothic" pitchFamily="50" charset="-128"/>
              </a:rPr>
              <a:t>予測結果</a:t>
            </a:r>
            <a:endParaRPr lang="en-US" altLang="ja-JP" dirty="0">
              <a:solidFill>
                <a:schemeClr val="tx1">
                  <a:lumMod val="75000"/>
                  <a:lumOff val="25000"/>
                </a:schemeClr>
              </a:solidFill>
              <a:latin typeface="MeiryoKe_PGothic" pitchFamily="50" charset="-128"/>
              <a:ea typeface="MeiryoKe_PGothic" pitchFamily="50" charset="-128"/>
            </a:endParaRPr>
          </a:p>
          <a:p>
            <a:pPr eaLnBrk="0" hangingPunct="0"/>
            <a:r>
              <a:rPr lang="en-US" altLang="ja-JP" dirty="0">
                <a:solidFill>
                  <a:schemeClr val="tx1">
                    <a:lumMod val="75000"/>
                    <a:lumOff val="25000"/>
                  </a:schemeClr>
                </a:solidFill>
                <a:latin typeface="MeiryoKe_PGothic" pitchFamily="50" charset="-128"/>
                <a:ea typeface="MeiryoKe_PGothic" pitchFamily="50" charset="-128"/>
              </a:rPr>
              <a:t>1: taken, 0: untaken</a:t>
            </a:r>
          </a:p>
        </p:txBody>
      </p:sp>
      <p:sp>
        <p:nvSpPr>
          <p:cNvPr id="24" name="Rectangle 89"/>
          <p:cNvSpPr>
            <a:spLocks noChangeArrowheads="1"/>
          </p:cNvSpPr>
          <p:nvPr/>
        </p:nvSpPr>
        <p:spPr bwMode="auto">
          <a:xfrm>
            <a:off x="3216122" y="4149008"/>
            <a:ext cx="1439863"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b="1" dirty="0">
                <a:solidFill>
                  <a:schemeClr val="accent6"/>
                </a:solidFill>
                <a:latin typeface="MeiryoKe_PGothic" pitchFamily="50" charset="-128"/>
                <a:ea typeface="MeiryoKe_PGothic" pitchFamily="50" charset="-128"/>
              </a:rPr>
              <a:t>0x8000</a:t>
            </a:r>
            <a:endParaRPr lang="ja-JP" altLang="en-US" b="1" dirty="0">
              <a:solidFill>
                <a:schemeClr val="accent6"/>
              </a:solidFill>
              <a:latin typeface="MeiryoKe_PGothic" pitchFamily="50" charset="-128"/>
              <a:ea typeface="MeiryoKe_PGothic" pitchFamily="50" charset="-128"/>
            </a:endParaRPr>
          </a:p>
        </p:txBody>
      </p:sp>
      <p:sp>
        <p:nvSpPr>
          <p:cNvPr id="25" name="Rectangle 13"/>
          <p:cNvSpPr>
            <a:spLocks noChangeArrowheads="1"/>
          </p:cNvSpPr>
          <p:nvPr/>
        </p:nvSpPr>
        <p:spPr bwMode="auto">
          <a:xfrm>
            <a:off x="4655985" y="4149008"/>
            <a:ext cx="720725"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0800</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26" name="Freeform 10"/>
          <p:cNvSpPr>
            <a:spLocks/>
          </p:cNvSpPr>
          <p:nvPr/>
        </p:nvSpPr>
        <p:spPr bwMode="auto">
          <a:xfrm rot="16200000" flipH="1" flipV="1">
            <a:off x="5420992" y="2753993"/>
            <a:ext cx="900010" cy="171001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27" name="直線コネクタ 26"/>
          <p:cNvCxnSpPr/>
          <p:nvPr/>
        </p:nvCxnSpPr>
        <p:spPr bwMode="auto">
          <a:xfrm>
            <a:off x="4655984" y="4059007"/>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28" name="Rectangle 128"/>
          <p:cNvSpPr>
            <a:spLocks noChangeArrowheads="1"/>
          </p:cNvSpPr>
          <p:nvPr/>
        </p:nvSpPr>
        <p:spPr bwMode="auto">
          <a:xfrm>
            <a:off x="3215969" y="3789005"/>
            <a:ext cx="2339975"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eiryoKe_PGothic" pitchFamily="50" charset="-128"/>
                <a:ea typeface="MeiryoKe_PGothic" pitchFamily="50" charset="-128"/>
              </a:rPr>
              <a:t>PC</a:t>
            </a:r>
          </a:p>
        </p:txBody>
      </p:sp>
    </p:spTree>
    <p:extLst>
      <p:ext uri="{BB962C8B-B14F-4D97-AF65-F5344CB8AC3E}">
        <p14:creationId xmlns:p14="http://schemas.microsoft.com/office/powerpoint/2010/main" val="3513459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分岐方向予測</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静的分岐予測</a:t>
            </a:r>
            <a:endParaRPr kumimoji="1" lang="en-US" altLang="ja-JP" dirty="0"/>
          </a:p>
          <a:p>
            <a:pPr marL="457200" indent="-457200">
              <a:buFont typeface="+mj-lt"/>
              <a:buAutoNum type="arabicPeriod"/>
            </a:pPr>
            <a:r>
              <a:rPr kumimoji="1" lang="ja-JP" altLang="en-US" dirty="0"/>
              <a:t>動的分岐予測</a:t>
            </a:r>
            <a:endParaRPr kumimoji="1" lang="en-US" altLang="ja-JP" dirty="0"/>
          </a:p>
          <a:p>
            <a:pPr marL="817200" lvl="1" indent="-457200">
              <a:buFont typeface="+mj-lt"/>
              <a:buAutoNum type="arabicPeriod"/>
            </a:pPr>
            <a:r>
              <a:rPr lang="en-US" altLang="ja-JP" dirty="0"/>
              <a:t>n </a:t>
            </a:r>
            <a:r>
              <a:rPr lang="ja-JP" altLang="en-US" dirty="0"/>
              <a:t>ビット・カウンタ</a:t>
            </a:r>
            <a:endParaRPr kumimoji="1" lang="en-US" altLang="ja-JP" dirty="0"/>
          </a:p>
          <a:p>
            <a:pPr marL="1177200" lvl="2" indent="-457200">
              <a:buFont typeface="+mj-lt"/>
              <a:buAutoNum type="arabicPeriod"/>
            </a:pPr>
            <a:r>
              <a:rPr lang="en-US" altLang="ja-JP" dirty="0"/>
              <a:t>1</a:t>
            </a:r>
            <a:r>
              <a:rPr lang="ja-JP" altLang="en-US" dirty="0"/>
              <a:t>ビット・カウンタ予測器</a:t>
            </a:r>
            <a:endParaRPr lang="en-US" altLang="ja-JP" dirty="0"/>
          </a:p>
          <a:p>
            <a:pPr marL="1177200" lvl="2" indent="-457200">
              <a:buFont typeface="+mj-lt"/>
              <a:buAutoNum type="arabicPeriod"/>
            </a:pPr>
            <a:r>
              <a:rPr kumimoji="1" lang="en-US" altLang="ja-JP" dirty="0">
                <a:solidFill>
                  <a:schemeClr val="accent5"/>
                </a:solidFill>
              </a:rPr>
              <a:t>2</a:t>
            </a:r>
            <a:r>
              <a:rPr kumimoji="1" lang="ja-JP" altLang="en-US" dirty="0">
                <a:solidFill>
                  <a:schemeClr val="accent5"/>
                </a:solidFill>
              </a:rPr>
              <a:t>ビット・カウンタ</a:t>
            </a:r>
            <a:r>
              <a:rPr lang="ja-JP" altLang="en-US" dirty="0">
                <a:solidFill>
                  <a:schemeClr val="accent5"/>
                </a:solidFill>
              </a:rPr>
              <a:t>予測器</a:t>
            </a:r>
            <a:endParaRPr lang="en-US" altLang="ja-JP" dirty="0">
              <a:solidFill>
                <a:schemeClr val="accent5"/>
              </a:solidFill>
            </a:endParaRPr>
          </a:p>
          <a:p>
            <a:pPr marL="817200" lvl="1" indent="-457200">
              <a:buFont typeface="+mj-lt"/>
              <a:buAutoNum type="arabicPeriod"/>
            </a:pPr>
            <a:r>
              <a:rPr kumimoji="1" lang="ja-JP" altLang="en-US" dirty="0"/>
              <a:t>履歴を用いたもの</a:t>
            </a:r>
            <a:endParaRPr kumimoji="1" lang="en-US" altLang="ja-JP" dirty="0"/>
          </a:p>
          <a:p>
            <a:pPr marL="1177200" lvl="2" indent="-457200">
              <a:buFont typeface="+mj-lt"/>
              <a:buAutoNum type="arabicPeriod"/>
            </a:pPr>
            <a:r>
              <a:rPr kumimoji="1" lang="ja-JP" altLang="en-US" dirty="0"/>
              <a:t>ローカル履歴予測</a:t>
            </a:r>
            <a:r>
              <a:rPr lang="ja-JP" altLang="en-US" dirty="0"/>
              <a:t>器</a:t>
            </a:r>
            <a:endParaRPr kumimoji="1" lang="en-US" altLang="ja-JP" dirty="0"/>
          </a:p>
          <a:p>
            <a:pPr marL="1177200" lvl="2" indent="-457200">
              <a:buFont typeface="+mj-lt"/>
              <a:buAutoNum type="arabicPeriod"/>
            </a:pPr>
            <a:r>
              <a:rPr kumimoji="1" lang="ja-JP" altLang="en-US" dirty="0"/>
              <a:t>グローバル履歴</a:t>
            </a:r>
            <a:r>
              <a:rPr lang="ja-JP" altLang="en-US" dirty="0"/>
              <a:t>予測器</a:t>
            </a:r>
            <a:endParaRPr kumimoji="1" lang="en-US" altLang="ja-JP" dirty="0"/>
          </a:p>
          <a:p>
            <a:pPr marL="1177200" lvl="2" indent="-457200">
              <a:buFont typeface="+mj-lt"/>
              <a:buAutoNum type="arabicPeriod"/>
            </a:pPr>
            <a:r>
              <a:rPr lang="ja-JP" altLang="en-US" dirty="0"/>
              <a:t>より高度な予測器</a:t>
            </a:r>
            <a:endParaRPr kumimoji="1" lang="en-US" altLang="ja-JP" dirty="0"/>
          </a:p>
        </p:txBody>
      </p:sp>
    </p:spTree>
    <p:extLst>
      <p:ext uri="{BB962C8B-B14F-4D97-AF65-F5344CB8AC3E}">
        <p14:creationId xmlns:p14="http://schemas.microsoft.com/office/powerpoint/2010/main" val="602127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a:t>
            </a:r>
            <a:r>
              <a:rPr lang="ja-JP" altLang="en-US" dirty="0"/>
              <a:t>ビット・カウンタ予測器の問題点：無駄な遷移</a:t>
            </a:r>
          </a:p>
        </p:txBody>
      </p:sp>
      <p:sp>
        <p:nvSpPr>
          <p:cNvPr id="3" name="テキスト プレースホルダー 2"/>
          <p:cNvSpPr>
            <a:spLocks noGrp="1"/>
          </p:cNvSpPr>
          <p:nvPr>
            <p:ph type="body" sz="quarter" idx="10"/>
          </p:nvPr>
        </p:nvSpPr>
        <p:spPr/>
        <p:txBody>
          <a:bodyPr/>
          <a:lstStyle/>
          <a:p>
            <a:r>
              <a:rPr kumimoji="1" lang="ja-JP" altLang="en-US" dirty="0"/>
              <a:t>偏りがある場合に，無駄な状態遷移を起こす</a:t>
            </a:r>
            <a:endParaRPr kumimoji="1" lang="en-US" altLang="ja-JP" dirty="0"/>
          </a:p>
          <a:p>
            <a:pPr lvl="1"/>
            <a:r>
              <a:rPr kumimoji="1" lang="ja-JP" altLang="en-US" dirty="0"/>
              <a:t>たまに偏りと逆の方向に行った時に，戻ってくる時も必ず外す</a:t>
            </a:r>
            <a:endParaRPr kumimoji="1" lang="en-US" altLang="ja-JP" dirty="0"/>
          </a:p>
          <a:p>
            <a:pPr lvl="1"/>
            <a:r>
              <a:rPr kumimoji="1" lang="ja-JP" altLang="en-US" dirty="0"/>
              <a:t>静的分岐予測で正しく偏りが拾えている場合，これは起きない</a:t>
            </a:r>
            <a:endParaRPr kumimoji="1" lang="en-US" altLang="ja-JP" dirty="0"/>
          </a:p>
          <a:p>
            <a:r>
              <a:rPr kumimoji="1" lang="ja-JP" altLang="en-US" dirty="0"/>
              <a:t>例：　成立：</a:t>
            </a:r>
            <a:r>
              <a:rPr kumimoji="1" lang="en-US" altLang="ja-JP" dirty="0"/>
              <a:t>T</a:t>
            </a:r>
            <a:r>
              <a:rPr kumimoji="1" lang="ja-JP" altLang="en-US" dirty="0" err="1"/>
              <a:t>，</a:t>
            </a:r>
            <a:r>
              <a:rPr kumimoji="1" lang="ja-JP" altLang="en-US" dirty="0"/>
              <a:t>不成立：</a:t>
            </a:r>
            <a:r>
              <a:rPr kumimoji="1" lang="en-US" altLang="ja-JP" dirty="0"/>
              <a:t>F </a:t>
            </a:r>
            <a:r>
              <a:rPr kumimoji="1" lang="ja-JP" altLang="en-US" dirty="0"/>
              <a:t>とした場合，</a:t>
            </a:r>
            <a:endParaRPr kumimoji="1" lang="en-US" altLang="ja-JP" dirty="0"/>
          </a:p>
          <a:p>
            <a:pPr lvl="1"/>
            <a:r>
              <a:rPr kumimoji="1" lang="ja-JP" altLang="en-US" dirty="0">
                <a:latin typeface="Consolas" panose="020B0609020204030204" pitchFamily="49" charset="0"/>
              </a:rPr>
              <a:t>カウンタ　：</a:t>
            </a:r>
            <a:r>
              <a:rPr kumimoji="1" lang="en-US" altLang="ja-JP" dirty="0">
                <a:latin typeface="Consolas" panose="020B0609020204030204" pitchFamily="49" charset="0"/>
              </a:rPr>
              <a:t>1 1 1 </a:t>
            </a:r>
            <a:r>
              <a:rPr kumimoji="1" lang="en-US" altLang="ja-JP" b="1" dirty="0">
                <a:solidFill>
                  <a:schemeClr val="accent5"/>
                </a:solidFill>
                <a:latin typeface="Consolas" panose="020B0609020204030204" pitchFamily="49" charset="0"/>
              </a:rPr>
              <a:t>1 0</a:t>
            </a:r>
            <a:r>
              <a:rPr kumimoji="1" lang="en-US" altLang="ja-JP" dirty="0">
                <a:solidFill>
                  <a:schemeClr val="accent5"/>
                </a:solidFill>
                <a:latin typeface="Consolas" panose="020B0609020204030204" pitchFamily="49" charset="0"/>
              </a:rPr>
              <a:t> </a:t>
            </a:r>
            <a:r>
              <a:rPr kumimoji="1" lang="en-US" altLang="ja-JP" dirty="0">
                <a:latin typeface="Consolas" panose="020B0609020204030204" pitchFamily="49" charset="0"/>
              </a:rPr>
              <a:t>1 1 1 1 </a:t>
            </a:r>
            <a:r>
              <a:rPr kumimoji="1" lang="en-US" altLang="ja-JP" b="1" dirty="0">
                <a:solidFill>
                  <a:schemeClr val="accent5"/>
                </a:solidFill>
                <a:latin typeface="Consolas" panose="020B0609020204030204" pitchFamily="49" charset="0"/>
              </a:rPr>
              <a:t>1 0</a:t>
            </a:r>
            <a:r>
              <a:rPr kumimoji="1" lang="en-US" altLang="ja-JP" dirty="0">
                <a:solidFill>
                  <a:schemeClr val="accent5"/>
                </a:solidFill>
                <a:latin typeface="Consolas" panose="020B0609020204030204" pitchFamily="49" charset="0"/>
              </a:rPr>
              <a:t> </a:t>
            </a:r>
            <a:r>
              <a:rPr kumimoji="1" lang="en-US" altLang="ja-JP" dirty="0">
                <a:latin typeface="Consolas" panose="020B0609020204030204" pitchFamily="49" charset="0"/>
              </a:rPr>
              <a:t>1 1 1 1</a:t>
            </a:r>
          </a:p>
          <a:p>
            <a:pPr lvl="1"/>
            <a:r>
              <a:rPr kumimoji="1" lang="ja-JP" altLang="en-US" dirty="0">
                <a:latin typeface="Consolas" panose="020B0609020204030204" pitchFamily="49" charset="0"/>
              </a:rPr>
              <a:t>予測　　　</a:t>
            </a:r>
            <a:r>
              <a:rPr lang="ja-JP" altLang="en-US" dirty="0">
                <a:latin typeface="Consolas" panose="020B0609020204030204" pitchFamily="49" charset="0"/>
              </a:rPr>
              <a:t>：</a:t>
            </a:r>
            <a:r>
              <a:rPr lang="en-US" altLang="ja-JP" dirty="0">
                <a:latin typeface="Consolas" panose="020B0609020204030204" pitchFamily="49" charset="0"/>
              </a:rPr>
              <a:t>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b="1" dirty="0" err="1">
                <a:solidFill>
                  <a:schemeClr val="accent5"/>
                </a:solidFill>
                <a:latin typeface="Consolas" panose="020B0609020204030204" pitchFamily="49" charset="0"/>
              </a:rPr>
              <a:t>T</a:t>
            </a:r>
            <a:r>
              <a:rPr lang="en-US" altLang="ja-JP" b="1" dirty="0">
                <a:solidFill>
                  <a:schemeClr val="accent5"/>
                </a:solidFill>
                <a:latin typeface="Consolas" panose="020B0609020204030204" pitchFamily="49" charset="0"/>
              </a:rPr>
              <a:t> F</a:t>
            </a:r>
            <a:r>
              <a:rPr lang="en-US" altLang="ja-JP" dirty="0">
                <a:solidFill>
                  <a:schemeClr val="accent5"/>
                </a:solidFill>
                <a:latin typeface="Consolas" panose="020B0609020204030204" pitchFamily="49" charset="0"/>
              </a:rPr>
              <a:t> </a:t>
            </a:r>
            <a:r>
              <a:rPr lang="en-US" altLang="ja-JP" dirty="0">
                <a:latin typeface="Consolas" panose="020B0609020204030204" pitchFamily="49" charset="0"/>
              </a:rPr>
              <a:t>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b="1" dirty="0" err="1">
                <a:solidFill>
                  <a:schemeClr val="accent5"/>
                </a:solidFill>
                <a:latin typeface="Consolas" panose="020B0609020204030204" pitchFamily="49" charset="0"/>
              </a:rPr>
              <a:t>T</a:t>
            </a:r>
            <a:r>
              <a:rPr lang="en-US" altLang="ja-JP" b="1" dirty="0">
                <a:solidFill>
                  <a:schemeClr val="accent5"/>
                </a:solidFill>
                <a:latin typeface="Consolas" panose="020B0609020204030204" pitchFamily="49" charset="0"/>
              </a:rPr>
              <a:t> F</a:t>
            </a:r>
            <a:r>
              <a:rPr lang="en-US" altLang="ja-JP" dirty="0">
                <a:solidFill>
                  <a:schemeClr val="accent5"/>
                </a:solidFill>
                <a:latin typeface="Consolas" panose="020B0609020204030204" pitchFamily="49" charset="0"/>
              </a:rPr>
              <a:t> </a:t>
            </a:r>
            <a:r>
              <a:rPr lang="en-US" altLang="ja-JP" dirty="0">
                <a:latin typeface="Consolas" panose="020B0609020204030204" pitchFamily="49" charset="0"/>
              </a:rPr>
              <a:t>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endParaRPr lang="en-US" altLang="ja-JP" dirty="0">
              <a:latin typeface="Consolas" panose="020B0609020204030204" pitchFamily="49" charset="0"/>
            </a:endParaRPr>
          </a:p>
          <a:p>
            <a:pPr lvl="1"/>
            <a:r>
              <a:rPr lang="ja-JP" altLang="en-US" dirty="0">
                <a:latin typeface="Consolas" panose="020B0609020204030204" pitchFamily="49" charset="0"/>
              </a:rPr>
              <a:t>実際の方向：</a:t>
            </a:r>
            <a:r>
              <a:rPr lang="en-US" altLang="ja-JP" dirty="0">
                <a:latin typeface="Consolas" panose="020B0609020204030204" pitchFamily="49" charset="0"/>
              </a:rPr>
              <a:t>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b="1" dirty="0">
                <a:solidFill>
                  <a:schemeClr val="accent6"/>
                </a:solidFill>
                <a:latin typeface="Consolas" panose="020B0609020204030204" pitchFamily="49" charset="0"/>
              </a:rPr>
              <a:t>F</a:t>
            </a:r>
            <a:r>
              <a:rPr lang="en-US" altLang="ja-JP" dirty="0">
                <a:solidFill>
                  <a:schemeClr val="accent5"/>
                </a:solidFill>
                <a:latin typeface="Consolas" panose="020B0609020204030204" pitchFamily="49" charset="0"/>
              </a:rPr>
              <a:t> </a:t>
            </a:r>
            <a:r>
              <a:rPr lang="en-US" altLang="ja-JP" dirty="0">
                <a:latin typeface="Consolas" panose="020B0609020204030204" pitchFamily="49" charset="0"/>
              </a:rPr>
              <a:t>T</a:t>
            </a:r>
            <a:r>
              <a:rPr lang="en-US" altLang="ja-JP" dirty="0">
                <a:solidFill>
                  <a:schemeClr val="accent5"/>
                </a:solidFill>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b="1" dirty="0">
                <a:solidFill>
                  <a:schemeClr val="accent6"/>
                </a:solidFill>
                <a:latin typeface="Consolas" panose="020B0609020204030204" pitchFamily="49" charset="0"/>
              </a:rPr>
              <a:t>F</a:t>
            </a:r>
            <a:r>
              <a:rPr lang="en-US" altLang="ja-JP" dirty="0">
                <a:solidFill>
                  <a:schemeClr val="accent5"/>
                </a:solidFill>
                <a:latin typeface="Consolas" panose="020B0609020204030204" pitchFamily="49" charset="0"/>
              </a:rPr>
              <a:t> </a:t>
            </a:r>
            <a:r>
              <a:rPr lang="en-US" altLang="ja-JP" dirty="0">
                <a:latin typeface="Consolas" panose="020B0609020204030204" pitchFamily="49" charset="0"/>
              </a:rPr>
              <a:t>T</a:t>
            </a:r>
            <a:r>
              <a:rPr lang="en-US" altLang="ja-JP" dirty="0">
                <a:solidFill>
                  <a:schemeClr val="accent5"/>
                </a:solidFill>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endParaRPr lang="en-US" altLang="ja-JP" dirty="0">
              <a:latin typeface="Consolas" panose="020B0609020204030204" pitchFamily="49" charset="0"/>
            </a:endParaRPr>
          </a:p>
          <a:p>
            <a:pPr lvl="1"/>
            <a:r>
              <a:rPr lang="ja-JP" altLang="en-US" dirty="0"/>
              <a:t>（不成立は２回だが，予測は４回はずしている</a:t>
            </a:r>
            <a:endParaRPr kumimoji="1" lang="ja-JP" altLang="en-US" dirty="0">
              <a:latin typeface="Consolas" panose="020B0609020204030204" pitchFamily="49" charset="0"/>
            </a:endParaRPr>
          </a:p>
        </p:txBody>
      </p:sp>
    </p:spTree>
    <p:extLst>
      <p:ext uri="{BB962C8B-B14F-4D97-AF65-F5344CB8AC3E}">
        <p14:creationId xmlns:p14="http://schemas.microsoft.com/office/powerpoint/2010/main" val="9915808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２ビット・カウンタ予測器</a:t>
            </a:r>
          </a:p>
        </p:txBody>
      </p:sp>
      <p:sp>
        <p:nvSpPr>
          <p:cNvPr id="3" name="テキスト プレースホルダー 2"/>
          <p:cNvSpPr>
            <a:spLocks noGrp="1"/>
          </p:cNvSpPr>
          <p:nvPr>
            <p:ph type="body" sz="quarter" idx="10"/>
          </p:nvPr>
        </p:nvSpPr>
        <p:spPr>
          <a:xfrm>
            <a:off x="1865954" y="1088975"/>
            <a:ext cx="8550095" cy="5219751"/>
          </a:xfrm>
        </p:spPr>
        <p:txBody>
          <a:bodyPr/>
          <a:lstStyle/>
          <a:p>
            <a:r>
              <a:rPr lang="en-US" altLang="ja-JP" dirty="0"/>
              <a:t>1</a:t>
            </a:r>
            <a:r>
              <a:rPr lang="ja-JP" altLang="en-US" dirty="0"/>
              <a:t>ビット・カウンタ予測器のカウンタを２ビットにする</a:t>
            </a:r>
            <a:endParaRPr lang="en-US" altLang="ja-JP" dirty="0"/>
          </a:p>
          <a:p>
            <a:pPr lvl="1"/>
            <a:r>
              <a:rPr kumimoji="1" lang="ja-JP" altLang="en-US" dirty="0"/>
              <a:t>１回反対方向に行っても，次回も元の方向を予測することができる</a:t>
            </a:r>
          </a:p>
        </p:txBody>
      </p:sp>
    </p:spTree>
    <p:extLst>
      <p:ext uri="{BB962C8B-B14F-4D97-AF65-F5344CB8AC3E}">
        <p14:creationId xmlns:p14="http://schemas.microsoft.com/office/powerpoint/2010/main" val="27697073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２ビットの飽和型カウンタの状態遷移図</a:t>
            </a:r>
            <a:r>
              <a:rPr lang="ja-JP" altLang="en-US" dirty="0">
                <a:solidFill>
                  <a:schemeClr val="accent5"/>
                </a:solidFill>
              </a:rPr>
              <a:t>ウンタ</a:t>
            </a:r>
            <a:endParaRPr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6" y="4689015"/>
                <a:ext cx="8280092" cy="1439709"/>
              </a:xfrm>
            </p:spPr>
            <p:txBody>
              <a:bodyPr/>
              <a:lstStyle/>
              <a:p>
                <a:r>
                  <a:rPr kumimoji="1" lang="ja-JP" altLang="en-US" dirty="0"/>
                  <a:t>学習：</a:t>
                </a:r>
                <a:endParaRPr kumimoji="1" lang="en-US" altLang="ja-JP" dirty="0"/>
              </a:p>
              <a:p>
                <a:pPr lvl="1"/>
                <a:r>
                  <a:rPr lang="ja-JP" altLang="en-US" dirty="0"/>
                  <a:t>分岐が成立したら </a:t>
                </a:r>
                <a14:m>
                  <m:oMath xmlns:m="http://schemas.openxmlformats.org/officeDocument/2006/math">
                    <m:r>
                      <a:rPr lang="en-US" altLang="ja-JP" i="1" dirty="0">
                        <a:latin typeface="Cambria Math" panose="02040503050406030204" pitchFamily="18" charset="0"/>
                      </a:rPr>
                      <m:t>+1</m:t>
                    </m:r>
                  </m:oMath>
                </a14:m>
                <a:r>
                  <a:rPr lang="ja-JP" altLang="en-US" dirty="0" err="1"/>
                  <a:t>，</a:t>
                </a:r>
                <a:r>
                  <a:rPr lang="ja-JP" altLang="en-US" dirty="0"/>
                  <a:t>不成立なら </a:t>
                </a:r>
                <a14:m>
                  <m:oMath xmlns:m="http://schemas.openxmlformats.org/officeDocument/2006/math">
                    <m:r>
                      <a:rPr lang="en-US" altLang="ja-JP" i="1" dirty="0">
                        <a:latin typeface="Cambria Math" panose="02040503050406030204" pitchFamily="18" charset="0"/>
                      </a:rPr>
                      <m:t>−1</m:t>
                    </m:r>
                  </m:oMath>
                </a14:m>
                <a:endParaRPr kumimoji="1" lang="en-US" altLang="ja-JP" dirty="0"/>
              </a:p>
              <a:p>
                <a:pPr lvl="1"/>
                <a:r>
                  <a:rPr kumimoji="1" lang="en-US" altLang="ja-JP" dirty="0"/>
                  <a:t>11(2</a:t>
                </a:r>
                <a:r>
                  <a:rPr kumimoji="1" lang="ja-JP" altLang="en-US" dirty="0"/>
                  <a:t>進</a:t>
                </a:r>
                <a:r>
                  <a:rPr kumimoji="1" lang="en-US" altLang="ja-JP" dirty="0"/>
                  <a:t>)</a:t>
                </a:r>
                <a:r>
                  <a:rPr kumimoji="1" lang="ja-JP" altLang="en-US" dirty="0"/>
                  <a:t>を超えたら</a:t>
                </a:r>
                <a:r>
                  <a:rPr kumimoji="1" lang="en-US" altLang="ja-JP" dirty="0"/>
                  <a:t>11</a:t>
                </a:r>
                <a:r>
                  <a:rPr kumimoji="1" lang="ja-JP" altLang="en-US" dirty="0"/>
                  <a:t>，</a:t>
                </a:r>
                <a14:m>
                  <m:oMath xmlns:m="http://schemas.openxmlformats.org/officeDocument/2006/math">
                    <m:r>
                      <a:rPr kumimoji="1" lang="en-US" altLang="ja-JP" i="1" dirty="0" smtClean="0">
                        <a:latin typeface="Cambria Math" panose="02040503050406030204" pitchFamily="18" charset="0"/>
                      </a:rPr>
                      <m:t>0</m:t>
                    </m:r>
                  </m:oMath>
                </a14:m>
                <a:r>
                  <a:rPr kumimoji="1" lang="ja-JP" altLang="en-US" dirty="0"/>
                  <a:t> を下回ったら </a:t>
                </a:r>
                <a14:m>
                  <m:oMath xmlns:m="http://schemas.openxmlformats.org/officeDocument/2006/math">
                    <m:r>
                      <a:rPr kumimoji="1" lang="en-US" altLang="ja-JP" i="1" dirty="0" smtClean="0">
                        <a:latin typeface="Cambria Math" panose="02040503050406030204" pitchFamily="18" charset="0"/>
                      </a:rPr>
                      <m:t>0</m:t>
                    </m:r>
                  </m:oMath>
                </a14:m>
                <a:endParaRPr kumimoji="1" lang="en-US" altLang="ja-JP" dirty="0"/>
              </a:p>
              <a:p>
                <a:r>
                  <a:rPr kumimoji="1" lang="ja-JP" altLang="en-US" dirty="0"/>
                  <a:t>予測：</a:t>
                </a:r>
                <a:endParaRPr kumimoji="1" lang="en-US" altLang="ja-JP" dirty="0"/>
              </a:p>
              <a:p>
                <a:pPr lvl="1"/>
                <a:r>
                  <a:rPr kumimoji="1" lang="ja-JP" altLang="en-US" dirty="0"/>
                  <a:t>１なら成立，０なら不成立</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6" y="4689015"/>
                <a:ext cx="8280092" cy="1439709"/>
              </a:xfrm>
              <a:blipFill>
                <a:blip r:embed="rId2"/>
                <a:stretch>
                  <a:fillRect l="-662" t="-34746" b="-41949"/>
                </a:stretch>
              </a:blipFill>
            </p:spPr>
            <p:txBody>
              <a:bodyPr/>
              <a:lstStyle/>
              <a:p>
                <a:r>
                  <a:rPr lang="ja-JP" altLang="en-US">
                    <a:noFill/>
                  </a:rPr>
                  <a:t> </a:t>
                </a:r>
              </a:p>
            </p:txBody>
          </p:sp>
        </mc:Fallback>
      </mc:AlternateContent>
      <p:sp>
        <p:nvSpPr>
          <p:cNvPr id="4" name="円/楕円 3"/>
          <p:cNvSpPr/>
          <p:nvPr/>
        </p:nvSpPr>
        <p:spPr bwMode="auto">
          <a:xfrm>
            <a:off x="4205979" y="2708992"/>
            <a:ext cx="1260014" cy="720008"/>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成立と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弱く予測</a:t>
            </a:r>
          </a:p>
        </p:txBody>
      </p:sp>
      <p:sp>
        <p:nvSpPr>
          <p:cNvPr id="6" name="円弧 5"/>
          <p:cNvSpPr/>
          <p:nvPr/>
        </p:nvSpPr>
        <p:spPr bwMode="auto">
          <a:xfrm>
            <a:off x="5195991" y="2528990"/>
            <a:ext cx="990011" cy="360004"/>
          </a:xfrm>
          <a:prstGeom prst="arc">
            <a:avLst>
              <a:gd name="adj1" fmla="val 11339656"/>
              <a:gd name="adj2" fmla="val 21204558"/>
            </a:avLst>
          </a:prstGeom>
          <a:ln>
            <a:headEnd type="none" w="med" len="med"/>
            <a:tailEnd type="triangle" w="lg" len="lg"/>
          </a:ln>
        </p:spPr>
        <p:style>
          <a:lnRef idx="2">
            <a:schemeClr val="accent6"/>
          </a:lnRef>
          <a:fillRef idx="0">
            <a:schemeClr val="accent6"/>
          </a:fillRef>
          <a:effectRef idx="1">
            <a:schemeClr val="accent6"/>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7" name="円弧 6"/>
          <p:cNvSpPr/>
          <p:nvPr/>
        </p:nvSpPr>
        <p:spPr bwMode="auto">
          <a:xfrm flipH="1" flipV="1">
            <a:off x="5195991" y="3158997"/>
            <a:ext cx="990011" cy="540006"/>
          </a:xfrm>
          <a:prstGeom prst="arc">
            <a:avLst>
              <a:gd name="adj1" fmla="val 11339656"/>
              <a:gd name="adj2" fmla="val 21204558"/>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8" name="正方形/長方形 7"/>
          <p:cNvSpPr/>
          <p:nvPr/>
        </p:nvSpPr>
        <p:spPr bwMode="auto">
          <a:xfrm>
            <a:off x="5555994"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1600" dirty="0">
                <a:solidFill>
                  <a:schemeClr val="tx1">
                    <a:lumMod val="75000"/>
                    <a:lumOff val="25000"/>
                  </a:schemeClr>
                </a:solidFill>
                <a:latin typeface="Arial Narrow" panose="020B0606020202030204" pitchFamily="34" charset="0"/>
              </a:rPr>
              <a:t>不成立 </a:t>
            </a:r>
            <a:r>
              <a:rPr lang="en-US" altLang="ja-JP" sz="1600" dirty="0">
                <a:solidFill>
                  <a:schemeClr val="tx1">
                    <a:lumMod val="75000"/>
                    <a:lumOff val="25000"/>
                  </a:schemeClr>
                </a:solidFill>
                <a:latin typeface="Arial Narrow" panose="020B0606020202030204" pitchFamily="34" charset="0"/>
              </a:rPr>
              <a:t>(-1)</a:t>
            </a:r>
            <a:endParaRPr lang="ja-JP" altLang="en-US" sz="1600" dirty="0">
              <a:solidFill>
                <a:schemeClr val="tx1">
                  <a:lumMod val="75000"/>
                  <a:lumOff val="25000"/>
                </a:schemeClr>
              </a:solidFill>
              <a:latin typeface="Arial Narrow" panose="020B0606020202030204" pitchFamily="34" charset="0"/>
            </a:endParaRPr>
          </a:p>
        </p:txBody>
      </p:sp>
      <p:sp>
        <p:nvSpPr>
          <p:cNvPr id="9" name="正方形/長方形 8"/>
          <p:cNvSpPr/>
          <p:nvPr/>
        </p:nvSpPr>
        <p:spPr bwMode="auto">
          <a:xfrm>
            <a:off x="5465993" y="38790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1600" dirty="0">
                <a:solidFill>
                  <a:schemeClr val="tx1">
                    <a:lumMod val="75000"/>
                    <a:lumOff val="25000"/>
                  </a:schemeClr>
                </a:solidFill>
                <a:latin typeface="Arial Narrow" panose="020B0606020202030204" pitchFamily="34" charset="0"/>
              </a:rPr>
              <a:t>成立</a:t>
            </a:r>
            <a:r>
              <a:rPr lang="en-US" altLang="ja-JP" sz="1600" dirty="0">
                <a:solidFill>
                  <a:schemeClr val="tx1">
                    <a:lumMod val="75000"/>
                    <a:lumOff val="25000"/>
                  </a:schemeClr>
                </a:solidFill>
                <a:latin typeface="Arial Narrow" panose="020B0606020202030204" pitchFamily="34" charset="0"/>
              </a:rPr>
              <a:t>(+1)</a:t>
            </a:r>
            <a:endParaRPr lang="ja-JP" altLang="en-US" sz="1600" dirty="0">
              <a:solidFill>
                <a:schemeClr val="tx1">
                  <a:lumMod val="75000"/>
                  <a:lumOff val="25000"/>
                </a:schemeClr>
              </a:solidFill>
              <a:latin typeface="Arial Narrow" panose="020B0606020202030204" pitchFamily="34" charset="0"/>
            </a:endParaRPr>
          </a:p>
        </p:txBody>
      </p:sp>
      <p:sp>
        <p:nvSpPr>
          <p:cNvPr id="10" name="正方形/長方形 9"/>
          <p:cNvSpPr/>
          <p:nvPr/>
        </p:nvSpPr>
        <p:spPr bwMode="auto">
          <a:xfrm>
            <a:off x="4655984"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800" b="1" dirty="0">
                <a:solidFill>
                  <a:schemeClr val="accent5"/>
                </a:solidFill>
                <a:latin typeface="Arial Narrow" panose="020B0606020202030204" pitchFamily="34" charset="0"/>
              </a:rPr>
              <a:t>10</a:t>
            </a:r>
            <a:endParaRPr lang="ja-JP" altLang="en-US" sz="2800" b="1" dirty="0">
              <a:solidFill>
                <a:schemeClr val="accent5"/>
              </a:solidFill>
              <a:latin typeface="Arial Narrow" panose="020B0606020202030204" pitchFamily="34" charset="0"/>
            </a:endParaRPr>
          </a:p>
        </p:txBody>
      </p:sp>
      <p:sp>
        <p:nvSpPr>
          <p:cNvPr id="11" name="正方形/長方形 10"/>
          <p:cNvSpPr/>
          <p:nvPr/>
        </p:nvSpPr>
        <p:spPr bwMode="auto">
          <a:xfrm>
            <a:off x="6366003"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800" b="1" dirty="0">
                <a:solidFill>
                  <a:schemeClr val="accent6"/>
                </a:solidFill>
                <a:latin typeface="Arial Narrow" panose="020B0606020202030204" pitchFamily="34" charset="0"/>
              </a:rPr>
              <a:t>01</a:t>
            </a:r>
            <a:endParaRPr lang="ja-JP" altLang="en-US" sz="2800" b="1" dirty="0">
              <a:solidFill>
                <a:schemeClr val="accent6"/>
              </a:solidFill>
              <a:latin typeface="Arial Narrow" panose="020B0606020202030204" pitchFamily="34" charset="0"/>
            </a:endParaRPr>
          </a:p>
        </p:txBody>
      </p:sp>
      <p:sp>
        <p:nvSpPr>
          <p:cNvPr id="13" name="円弧 12"/>
          <p:cNvSpPr/>
          <p:nvPr/>
        </p:nvSpPr>
        <p:spPr bwMode="auto">
          <a:xfrm>
            <a:off x="8796031" y="2708992"/>
            <a:ext cx="990011" cy="720008"/>
          </a:xfrm>
          <a:prstGeom prst="arc">
            <a:avLst>
              <a:gd name="adj1" fmla="val 12455468"/>
              <a:gd name="adj2" fmla="val 9356523"/>
            </a:avLst>
          </a:prstGeom>
          <a:ln>
            <a:headEnd type="none" w="med" len="med"/>
            <a:tailEnd type="triangle" w="lg" len="lg"/>
          </a:ln>
        </p:spPr>
        <p:style>
          <a:lnRef idx="2">
            <a:schemeClr val="accent6"/>
          </a:lnRef>
          <a:fillRef idx="0">
            <a:schemeClr val="accent6"/>
          </a:fillRef>
          <a:effectRef idx="1">
            <a:schemeClr val="accent6"/>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16" name="円/楕円 15"/>
          <p:cNvSpPr/>
          <p:nvPr/>
        </p:nvSpPr>
        <p:spPr bwMode="auto">
          <a:xfrm>
            <a:off x="2765963" y="2708992"/>
            <a:ext cx="1260014" cy="720008"/>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成立と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強く予測</a:t>
            </a:r>
          </a:p>
        </p:txBody>
      </p:sp>
      <p:sp>
        <p:nvSpPr>
          <p:cNvPr id="18" name="円弧 17"/>
          <p:cNvSpPr/>
          <p:nvPr/>
        </p:nvSpPr>
        <p:spPr bwMode="auto">
          <a:xfrm flipH="1" flipV="1">
            <a:off x="1775953" y="2708992"/>
            <a:ext cx="990011" cy="720008"/>
          </a:xfrm>
          <a:prstGeom prst="arc">
            <a:avLst>
              <a:gd name="adj1" fmla="val 12455468"/>
              <a:gd name="adj2" fmla="val 9356523"/>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19" name="正方形/長方形 18"/>
          <p:cNvSpPr/>
          <p:nvPr/>
        </p:nvSpPr>
        <p:spPr bwMode="auto">
          <a:xfrm>
            <a:off x="3215968"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800" b="1" dirty="0">
                <a:solidFill>
                  <a:schemeClr val="accent5"/>
                </a:solidFill>
                <a:latin typeface="Arial Narrow" panose="020B0606020202030204" pitchFamily="34" charset="0"/>
              </a:rPr>
              <a:t>11</a:t>
            </a:r>
            <a:endParaRPr lang="ja-JP" altLang="en-US" sz="2800" b="1" dirty="0">
              <a:solidFill>
                <a:schemeClr val="accent5"/>
              </a:solidFill>
              <a:latin typeface="Arial Narrow" panose="020B0606020202030204" pitchFamily="34" charset="0"/>
            </a:endParaRPr>
          </a:p>
        </p:txBody>
      </p:sp>
      <p:sp>
        <p:nvSpPr>
          <p:cNvPr id="20" name="円/楕円 19"/>
          <p:cNvSpPr/>
          <p:nvPr/>
        </p:nvSpPr>
        <p:spPr bwMode="auto">
          <a:xfrm>
            <a:off x="7446015" y="2708992"/>
            <a:ext cx="1260014" cy="720008"/>
          </a:xfrm>
          <a:prstGeom prst="ellipse">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不成立と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強く予測</a:t>
            </a:r>
          </a:p>
        </p:txBody>
      </p:sp>
      <p:sp>
        <p:nvSpPr>
          <p:cNvPr id="21" name="円弧 20"/>
          <p:cNvSpPr/>
          <p:nvPr/>
        </p:nvSpPr>
        <p:spPr bwMode="auto">
          <a:xfrm>
            <a:off x="6816009" y="2528990"/>
            <a:ext cx="990011" cy="360004"/>
          </a:xfrm>
          <a:prstGeom prst="arc">
            <a:avLst>
              <a:gd name="adj1" fmla="val 11339656"/>
              <a:gd name="adj2" fmla="val 21204558"/>
            </a:avLst>
          </a:prstGeom>
          <a:ln>
            <a:headEnd type="none" w="med" len="med"/>
            <a:tailEnd type="triangle" w="lg" len="lg"/>
          </a:ln>
        </p:spPr>
        <p:style>
          <a:lnRef idx="2">
            <a:schemeClr val="accent6"/>
          </a:lnRef>
          <a:fillRef idx="0">
            <a:schemeClr val="accent6"/>
          </a:fillRef>
          <a:effectRef idx="1">
            <a:schemeClr val="accent6"/>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22" name="円弧 21"/>
          <p:cNvSpPr/>
          <p:nvPr/>
        </p:nvSpPr>
        <p:spPr bwMode="auto">
          <a:xfrm flipH="1" flipV="1">
            <a:off x="6816009" y="3158997"/>
            <a:ext cx="990011" cy="540006"/>
          </a:xfrm>
          <a:prstGeom prst="arc">
            <a:avLst>
              <a:gd name="adj1" fmla="val 11339656"/>
              <a:gd name="adj2" fmla="val 21204558"/>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23" name="正方形/長方形 22"/>
          <p:cNvSpPr/>
          <p:nvPr/>
        </p:nvSpPr>
        <p:spPr bwMode="auto">
          <a:xfrm>
            <a:off x="7086011"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1600" dirty="0">
                <a:solidFill>
                  <a:schemeClr val="tx1">
                    <a:lumMod val="75000"/>
                    <a:lumOff val="25000"/>
                  </a:schemeClr>
                </a:solidFill>
                <a:latin typeface="Arial Narrow" panose="020B0606020202030204" pitchFamily="34" charset="0"/>
              </a:rPr>
              <a:t>不成立 </a:t>
            </a:r>
            <a:r>
              <a:rPr lang="en-US" altLang="ja-JP" sz="1600" dirty="0">
                <a:solidFill>
                  <a:schemeClr val="tx1">
                    <a:lumMod val="75000"/>
                    <a:lumOff val="25000"/>
                  </a:schemeClr>
                </a:solidFill>
                <a:latin typeface="Arial Narrow" panose="020B0606020202030204" pitchFamily="34" charset="0"/>
              </a:rPr>
              <a:t>(-1)</a:t>
            </a:r>
            <a:endParaRPr lang="ja-JP" altLang="en-US" sz="1600" dirty="0">
              <a:solidFill>
                <a:schemeClr val="tx1">
                  <a:lumMod val="75000"/>
                  <a:lumOff val="25000"/>
                </a:schemeClr>
              </a:solidFill>
              <a:latin typeface="Arial Narrow" panose="020B0606020202030204" pitchFamily="34" charset="0"/>
            </a:endParaRPr>
          </a:p>
        </p:txBody>
      </p:sp>
      <p:sp>
        <p:nvSpPr>
          <p:cNvPr id="24" name="正方形/長方形 23"/>
          <p:cNvSpPr/>
          <p:nvPr/>
        </p:nvSpPr>
        <p:spPr bwMode="auto">
          <a:xfrm>
            <a:off x="7086011" y="38790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1600" dirty="0">
                <a:solidFill>
                  <a:schemeClr val="tx1">
                    <a:lumMod val="75000"/>
                    <a:lumOff val="25000"/>
                  </a:schemeClr>
                </a:solidFill>
                <a:latin typeface="Arial Narrow" panose="020B0606020202030204" pitchFamily="34" charset="0"/>
              </a:rPr>
              <a:t>成立</a:t>
            </a:r>
            <a:r>
              <a:rPr lang="en-US" altLang="ja-JP" sz="1600" dirty="0">
                <a:solidFill>
                  <a:schemeClr val="tx1">
                    <a:lumMod val="75000"/>
                    <a:lumOff val="25000"/>
                  </a:schemeClr>
                </a:solidFill>
                <a:latin typeface="Arial Narrow" panose="020B0606020202030204" pitchFamily="34" charset="0"/>
              </a:rPr>
              <a:t>(+1)</a:t>
            </a:r>
            <a:endParaRPr lang="ja-JP" altLang="en-US" sz="1600" dirty="0">
              <a:solidFill>
                <a:schemeClr val="tx1">
                  <a:lumMod val="75000"/>
                  <a:lumOff val="25000"/>
                </a:schemeClr>
              </a:solidFill>
              <a:latin typeface="Arial Narrow" panose="020B0606020202030204" pitchFamily="34" charset="0"/>
            </a:endParaRPr>
          </a:p>
        </p:txBody>
      </p:sp>
      <p:sp>
        <p:nvSpPr>
          <p:cNvPr id="25" name="正方形/長方形 24"/>
          <p:cNvSpPr/>
          <p:nvPr/>
        </p:nvSpPr>
        <p:spPr bwMode="auto">
          <a:xfrm>
            <a:off x="7896020"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800" b="1" dirty="0">
                <a:solidFill>
                  <a:schemeClr val="accent6"/>
                </a:solidFill>
                <a:latin typeface="Arial Narrow" panose="020B0606020202030204" pitchFamily="34" charset="0"/>
              </a:rPr>
              <a:t>00</a:t>
            </a:r>
            <a:endParaRPr lang="ja-JP" altLang="en-US" sz="2800" b="1" dirty="0">
              <a:solidFill>
                <a:schemeClr val="accent6"/>
              </a:solidFill>
              <a:latin typeface="Arial Narrow" panose="020B0606020202030204" pitchFamily="34" charset="0"/>
            </a:endParaRPr>
          </a:p>
        </p:txBody>
      </p:sp>
      <p:sp>
        <p:nvSpPr>
          <p:cNvPr id="26" name="円弧 25"/>
          <p:cNvSpPr/>
          <p:nvPr/>
        </p:nvSpPr>
        <p:spPr bwMode="auto">
          <a:xfrm flipH="1" flipV="1">
            <a:off x="3665974" y="3158997"/>
            <a:ext cx="990011" cy="540006"/>
          </a:xfrm>
          <a:prstGeom prst="arc">
            <a:avLst>
              <a:gd name="adj1" fmla="val 11339656"/>
              <a:gd name="adj2" fmla="val 21204558"/>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27" name="正方形/長方形 26"/>
          <p:cNvSpPr/>
          <p:nvPr/>
        </p:nvSpPr>
        <p:spPr bwMode="auto">
          <a:xfrm>
            <a:off x="4025977" y="38790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1600" dirty="0">
                <a:solidFill>
                  <a:schemeClr val="tx1">
                    <a:lumMod val="75000"/>
                    <a:lumOff val="25000"/>
                  </a:schemeClr>
                </a:solidFill>
                <a:latin typeface="Arial Narrow" panose="020B0606020202030204" pitchFamily="34" charset="0"/>
              </a:rPr>
              <a:t>成立</a:t>
            </a:r>
            <a:r>
              <a:rPr lang="en-US" altLang="ja-JP" sz="1600" dirty="0">
                <a:solidFill>
                  <a:schemeClr val="tx1">
                    <a:lumMod val="75000"/>
                    <a:lumOff val="25000"/>
                  </a:schemeClr>
                </a:solidFill>
                <a:latin typeface="Arial Narrow" panose="020B0606020202030204" pitchFamily="34" charset="0"/>
              </a:rPr>
              <a:t>(+1)</a:t>
            </a:r>
            <a:endParaRPr lang="ja-JP" altLang="en-US" sz="1600" dirty="0">
              <a:solidFill>
                <a:schemeClr val="tx1">
                  <a:lumMod val="75000"/>
                  <a:lumOff val="25000"/>
                </a:schemeClr>
              </a:solidFill>
              <a:latin typeface="Arial Narrow" panose="020B0606020202030204" pitchFamily="34" charset="0"/>
            </a:endParaRPr>
          </a:p>
        </p:txBody>
      </p:sp>
      <p:sp>
        <p:nvSpPr>
          <p:cNvPr id="28" name="円/楕円 27"/>
          <p:cNvSpPr/>
          <p:nvPr/>
        </p:nvSpPr>
        <p:spPr bwMode="auto">
          <a:xfrm>
            <a:off x="5915998" y="2708992"/>
            <a:ext cx="1260014" cy="720008"/>
          </a:xfrm>
          <a:prstGeom prst="ellipse">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不成立と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弱く予測</a:t>
            </a:r>
          </a:p>
        </p:txBody>
      </p:sp>
      <p:sp>
        <p:nvSpPr>
          <p:cNvPr id="29" name="円弧 28"/>
          <p:cNvSpPr/>
          <p:nvPr/>
        </p:nvSpPr>
        <p:spPr bwMode="auto">
          <a:xfrm>
            <a:off x="3665974" y="2528990"/>
            <a:ext cx="990011" cy="360004"/>
          </a:xfrm>
          <a:prstGeom prst="arc">
            <a:avLst>
              <a:gd name="adj1" fmla="val 11339656"/>
              <a:gd name="adj2" fmla="val 21204558"/>
            </a:avLst>
          </a:prstGeom>
          <a:ln>
            <a:headEnd type="none" w="med" len="med"/>
            <a:tailEnd type="triangle" w="lg" len="lg"/>
          </a:ln>
        </p:spPr>
        <p:style>
          <a:lnRef idx="2">
            <a:schemeClr val="accent6"/>
          </a:lnRef>
          <a:fillRef idx="0">
            <a:schemeClr val="accent6"/>
          </a:fillRef>
          <a:effectRef idx="1">
            <a:schemeClr val="accent6"/>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30" name="正方形/長方形 29"/>
          <p:cNvSpPr/>
          <p:nvPr/>
        </p:nvSpPr>
        <p:spPr bwMode="auto">
          <a:xfrm>
            <a:off x="4025977" y="207898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1600" dirty="0">
                <a:solidFill>
                  <a:schemeClr val="tx1">
                    <a:lumMod val="75000"/>
                    <a:lumOff val="25000"/>
                  </a:schemeClr>
                </a:solidFill>
                <a:latin typeface="Arial Narrow" panose="020B0606020202030204" pitchFamily="34" charset="0"/>
              </a:rPr>
              <a:t>不成立 </a:t>
            </a:r>
            <a:r>
              <a:rPr lang="en-US" altLang="ja-JP" sz="1600" dirty="0">
                <a:solidFill>
                  <a:schemeClr val="tx1">
                    <a:lumMod val="75000"/>
                    <a:lumOff val="25000"/>
                  </a:schemeClr>
                </a:solidFill>
                <a:latin typeface="Arial Narrow" panose="020B0606020202030204" pitchFamily="34" charset="0"/>
              </a:rPr>
              <a:t>(-1)</a:t>
            </a:r>
            <a:endParaRPr lang="ja-JP" altLang="en-US" sz="1600" dirty="0">
              <a:solidFill>
                <a:schemeClr val="tx1">
                  <a:lumMod val="75000"/>
                  <a:lumOff val="25000"/>
                </a:schemeClr>
              </a:solidFill>
              <a:latin typeface="Arial Narrow" panose="020B0606020202030204" pitchFamily="34" charset="0"/>
            </a:endParaRPr>
          </a:p>
        </p:txBody>
      </p:sp>
      <p:sp>
        <p:nvSpPr>
          <p:cNvPr id="31" name="正方形/長方形 30"/>
          <p:cNvSpPr/>
          <p:nvPr/>
        </p:nvSpPr>
        <p:spPr bwMode="auto">
          <a:xfrm>
            <a:off x="2135956" y="3609002"/>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1600" dirty="0">
                <a:solidFill>
                  <a:schemeClr val="tx1">
                    <a:lumMod val="75000"/>
                    <a:lumOff val="25000"/>
                  </a:schemeClr>
                </a:solidFill>
                <a:latin typeface="Arial Narrow" panose="020B0606020202030204" pitchFamily="34" charset="0"/>
              </a:rPr>
              <a:t>成立</a:t>
            </a:r>
            <a:r>
              <a:rPr lang="en-US" altLang="ja-JP" sz="1600" dirty="0">
                <a:solidFill>
                  <a:schemeClr val="tx1">
                    <a:lumMod val="75000"/>
                    <a:lumOff val="25000"/>
                  </a:schemeClr>
                </a:solidFill>
                <a:latin typeface="Arial Narrow" panose="020B0606020202030204" pitchFamily="34" charset="0"/>
              </a:rPr>
              <a:t>(+1)</a:t>
            </a:r>
            <a:endParaRPr lang="ja-JP" altLang="en-US" sz="1600" dirty="0">
              <a:solidFill>
                <a:schemeClr val="tx1">
                  <a:lumMod val="75000"/>
                  <a:lumOff val="25000"/>
                </a:schemeClr>
              </a:solidFill>
              <a:latin typeface="Arial Narrow" panose="020B0606020202030204" pitchFamily="34" charset="0"/>
            </a:endParaRPr>
          </a:p>
        </p:txBody>
      </p:sp>
      <p:sp>
        <p:nvSpPr>
          <p:cNvPr id="32" name="正方形/長方形 31"/>
          <p:cNvSpPr/>
          <p:nvPr/>
        </p:nvSpPr>
        <p:spPr bwMode="auto">
          <a:xfrm>
            <a:off x="9066033" y="225898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ja-JP" altLang="en-US" sz="1600" dirty="0">
                <a:solidFill>
                  <a:schemeClr val="tx1">
                    <a:lumMod val="75000"/>
                    <a:lumOff val="25000"/>
                  </a:schemeClr>
                </a:solidFill>
                <a:latin typeface="Arial Narrow" panose="020B0606020202030204" pitchFamily="34" charset="0"/>
              </a:rPr>
              <a:t>不成立 </a:t>
            </a:r>
            <a:r>
              <a:rPr lang="en-US" altLang="ja-JP" sz="1600" dirty="0">
                <a:solidFill>
                  <a:schemeClr val="tx1">
                    <a:lumMod val="75000"/>
                    <a:lumOff val="25000"/>
                  </a:schemeClr>
                </a:solidFill>
                <a:latin typeface="Arial Narrow" panose="020B0606020202030204" pitchFamily="34" charset="0"/>
              </a:rPr>
              <a:t>(-1)</a:t>
            </a:r>
            <a:endParaRPr lang="ja-JP" altLang="en-US" sz="1600" dirty="0">
              <a:solidFill>
                <a:schemeClr val="tx1">
                  <a:lumMod val="75000"/>
                  <a:lumOff val="25000"/>
                </a:schemeClr>
              </a:solidFill>
              <a:latin typeface="Arial Narrow" panose="020B0606020202030204" pitchFamily="34" charset="0"/>
            </a:endParaRPr>
          </a:p>
        </p:txBody>
      </p:sp>
    </p:spTree>
    <p:extLst>
      <p:ext uri="{BB962C8B-B14F-4D97-AF65-F5344CB8AC3E}">
        <p14:creationId xmlns:p14="http://schemas.microsoft.com/office/powerpoint/2010/main" val="1927477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２ビット・カウンタ予測器の動作</a:t>
            </a:r>
          </a:p>
        </p:txBody>
      </p:sp>
      <p:sp>
        <p:nvSpPr>
          <p:cNvPr id="3" name="テキスト プレースホルダー 2"/>
          <p:cNvSpPr>
            <a:spLocks noGrp="1"/>
          </p:cNvSpPr>
          <p:nvPr>
            <p:ph type="body" sz="quarter" idx="10"/>
          </p:nvPr>
        </p:nvSpPr>
        <p:spPr>
          <a:xfrm>
            <a:off x="1865954" y="1088975"/>
            <a:ext cx="8550095" cy="5219751"/>
          </a:xfrm>
        </p:spPr>
        <p:txBody>
          <a:bodyPr/>
          <a:lstStyle/>
          <a:p>
            <a:r>
              <a:rPr lang="ja-JP" altLang="en-US" dirty="0"/>
              <a:t>カウンタが </a:t>
            </a:r>
            <a:r>
              <a:rPr lang="en-US" altLang="ja-JP" dirty="0"/>
              <a:t>2 </a:t>
            </a:r>
            <a:r>
              <a:rPr lang="ja-JP" altLang="en-US" dirty="0"/>
              <a:t>以上なら成立と予測，そうでなければ不成立と予測</a:t>
            </a:r>
            <a:endParaRPr lang="en-US" altLang="ja-JP" dirty="0"/>
          </a:p>
          <a:p>
            <a:r>
              <a:rPr lang="ja-JP" altLang="en-US" dirty="0"/>
              <a:t>例：　成立：</a:t>
            </a:r>
            <a:r>
              <a:rPr lang="en-US" altLang="ja-JP" dirty="0"/>
              <a:t>T</a:t>
            </a:r>
            <a:r>
              <a:rPr lang="ja-JP" altLang="en-US" dirty="0" err="1"/>
              <a:t>，</a:t>
            </a:r>
            <a:r>
              <a:rPr lang="ja-JP" altLang="en-US" dirty="0"/>
              <a:t>不成立：</a:t>
            </a:r>
            <a:r>
              <a:rPr lang="en-US" altLang="ja-JP" dirty="0"/>
              <a:t>F </a:t>
            </a:r>
            <a:r>
              <a:rPr lang="ja-JP" altLang="en-US" dirty="0"/>
              <a:t>とした場合，</a:t>
            </a:r>
            <a:endParaRPr lang="en-US" altLang="ja-JP" dirty="0"/>
          </a:p>
          <a:p>
            <a:pPr lvl="1"/>
            <a:r>
              <a:rPr lang="ja-JP" altLang="en-US" dirty="0">
                <a:latin typeface="Consolas" panose="020B0609020204030204" pitchFamily="49" charset="0"/>
              </a:rPr>
              <a:t>カウンタ</a:t>
            </a:r>
            <a:r>
              <a:rPr lang="en-US" altLang="ja-JP" dirty="0">
                <a:latin typeface="Consolas" panose="020B0609020204030204" pitchFamily="49" charset="0"/>
              </a:rPr>
              <a:t>	</a:t>
            </a:r>
            <a:r>
              <a:rPr lang="ja-JP" altLang="en-US" dirty="0">
                <a:latin typeface="Consolas" panose="020B0609020204030204" pitchFamily="49" charset="0"/>
              </a:rPr>
              <a:t>：</a:t>
            </a:r>
            <a:r>
              <a:rPr lang="en-US" altLang="ja-JP" dirty="0">
                <a:latin typeface="Consolas" panose="020B0609020204030204" pitchFamily="49" charset="0"/>
              </a:rPr>
              <a:t>11 11 11 </a:t>
            </a:r>
            <a:r>
              <a:rPr lang="en-US" altLang="ja-JP" dirty="0">
                <a:solidFill>
                  <a:schemeClr val="accent5"/>
                </a:solidFill>
                <a:latin typeface="Consolas" panose="020B0609020204030204" pitchFamily="49" charset="0"/>
              </a:rPr>
              <a:t>10</a:t>
            </a:r>
            <a:r>
              <a:rPr lang="en-US" altLang="ja-JP" dirty="0">
                <a:latin typeface="Consolas" panose="020B0609020204030204" pitchFamily="49" charset="0"/>
              </a:rPr>
              <a:t> 11 11 11</a:t>
            </a:r>
          </a:p>
          <a:p>
            <a:pPr marL="360000" lvl="1" indent="0">
              <a:buNone/>
            </a:pPr>
            <a:r>
              <a:rPr lang="ja-JP" altLang="en-US" dirty="0">
                <a:latin typeface="Consolas" panose="020B0609020204030204" pitchFamily="49" charset="0"/>
              </a:rPr>
              <a:t>　（</a:t>
            </a:r>
            <a:r>
              <a:rPr lang="en-US" altLang="ja-JP" dirty="0">
                <a:latin typeface="Consolas" panose="020B0609020204030204" pitchFamily="49" charset="0"/>
              </a:rPr>
              <a:t>10</a:t>
            </a:r>
            <a:r>
              <a:rPr lang="ja-JP" altLang="en-US" dirty="0">
                <a:latin typeface="Consolas" panose="020B0609020204030204" pitchFamily="49" charset="0"/>
              </a:rPr>
              <a:t>進表記</a:t>
            </a:r>
            <a:r>
              <a:rPr lang="en-US" altLang="ja-JP" dirty="0">
                <a:latin typeface="Consolas" panose="020B0609020204030204" pitchFamily="49" charset="0"/>
              </a:rPr>
              <a:t>	</a:t>
            </a:r>
            <a:r>
              <a:rPr lang="ja-JP" altLang="en-US" dirty="0">
                <a:latin typeface="Consolas" panose="020B0609020204030204" pitchFamily="49" charset="0"/>
              </a:rPr>
              <a:t>：</a:t>
            </a:r>
            <a:r>
              <a:rPr lang="en-US" altLang="ja-JP" dirty="0">
                <a:latin typeface="Consolas" panose="020B0609020204030204" pitchFamily="49" charset="0"/>
              </a:rPr>
              <a:t>3  3  3  </a:t>
            </a:r>
            <a:r>
              <a:rPr lang="en-US" altLang="ja-JP" dirty="0">
                <a:solidFill>
                  <a:schemeClr val="accent5"/>
                </a:solidFill>
                <a:latin typeface="Consolas" panose="020B0609020204030204" pitchFamily="49" charset="0"/>
              </a:rPr>
              <a:t>2</a:t>
            </a:r>
            <a:r>
              <a:rPr lang="en-US" altLang="ja-JP" dirty="0">
                <a:latin typeface="Consolas" panose="020B0609020204030204" pitchFamily="49" charset="0"/>
              </a:rPr>
              <a:t>  3  3  3</a:t>
            </a:r>
          </a:p>
          <a:p>
            <a:pPr lvl="1"/>
            <a:r>
              <a:rPr lang="ja-JP" altLang="en-US" dirty="0">
                <a:latin typeface="Consolas" panose="020B0609020204030204" pitchFamily="49" charset="0"/>
              </a:rPr>
              <a:t>予測　　</a:t>
            </a:r>
            <a:r>
              <a:rPr lang="en-US" altLang="ja-JP" dirty="0">
                <a:latin typeface="Consolas" panose="020B0609020204030204" pitchFamily="49" charset="0"/>
              </a:rPr>
              <a:t>	</a:t>
            </a:r>
            <a:r>
              <a:rPr lang="ja-JP" altLang="en-US" dirty="0">
                <a:latin typeface="Consolas" panose="020B0609020204030204" pitchFamily="49" charset="0"/>
              </a:rPr>
              <a:t>：</a:t>
            </a:r>
            <a:r>
              <a:rPr lang="en-US" altLang="ja-JP" dirty="0">
                <a:latin typeface="Consolas" panose="020B0609020204030204" pitchFamily="49" charset="0"/>
              </a:rPr>
              <a:t>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solidFill>
                  <a:schemeClr val="accent5"/>
                </a:solidFill>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endParaRPr lang="en-US" altLang="ja-JP" dirty="0">
              <a:latin typeface="Consolas" panose="020B0609020204030204" pitchFamily="49" charset="0"/>
            </a:endParaRPr>
          </a:p>
          <a:p>
            <a:pPr lvl="1"/>
            <a:r>
              <a:rPr lang="ja-JP" altLang="en-US" dirty="0">
                <a:latin typeface="Consolas" panose="020B0609020204030204" pitchFamily="49" charset="0"/>
              </a:rPr>
              <a:t>実際の方向</a:t>
            </a:r>
            <a:r>
              <a:rPr lang="en-US" altLang="ja-JP" dirty="0">
                <a:latin typeface="Consolas" panose="020B0609020204030204" pitchFamily="49" charset="0"/>
              </a:rPr>
              <a:t>	</a:t>
            </a:r>
            <a:r>
              <a:rPr lang="ja-JP" altLang="en-US" dirty="0">
                <a:latin typeface="Consolas" panose="020B0609020204030204" pitchFamily="49" charset="0"/>
              </a:rPr>
              <a:t>：</a:t>
            </a:r>
            <a:r>
              <a:rPr lang="en-US" altLang="ja-JP" dirty="0">
                <a:latin typeface="Consolas" panose="020B0609020204030204" pitchFamily="49" charset="0"/>
              </a:rPr>
              <a:t>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b="1" dirty="0">
                <a:solidFill>
                  <a:schemeClr val="accent2"/>
                </a:solidFill>
                <a:latin typeface="Consolas" panose="020B0609020204030204" pitchFamily="49" charset="0"/>
              </a:rPr>
              <a:t>F</a:t>
            </a:r>
            <a:r>
              <a:rPr lang="en-US" altLang="ja-JP" dirty="0">
                <a:solidFill>
                  <a:schemeClr val="accent5"/>
                </a:solidFill>
                <a:latin typeface="Consolas" panose="020B0609020204030204" pitchFamily="49" charset="0"/>
              </a:rPr>
              <a:t>  </a:t>
            </a:r>
            <a:r>
              <a:rPr lang="en-US" altLang="ja-JP" dirty="0">
                <a:latin typeface="Consolas" panose="020B0609020204030204" pitchFamily="49" charset="0"/>
              </a:rPr>
              <a:t>T</a:t>
            </a:r>
            <a:r>
              <a:rPr lang="en-US" altLang="ja-JP" dirty="0">
                <a:solidFill>
                  <a:schemeClr val="accent5"/>
                </a:solidFill>
                <a:latin typeface="Consolas" panose="020B0609020204030204" pitchFamily="49" charset="0"/>
              </a:rPr>
              <a:t>  </a:t>
            </a:r>
            <a:r>
              <a:rPr lang="en-US" altLang="ja-JP" dirty="0" err="1">
                <a:latin typeface="Consolas" panose="020B0609020204030204" pitchFamily="49" charset="0"/>
              </a:rPr>
              <a:t>T</a:t>
            </a:r>
            <a:r>
              <a:rPr lang="en-US" altLang="ja-JP" dirty="0">
                <a:latin typeface="Consolas" panose="020B0609020204030204" pitchFamily="49" charset="0"/>
              </a:rPr>
              <a:t>  </a:t>
            </a:r>
            <a:r>
              <a:rPr lang="en-US" altLang="ja-JP" dirty="0" err="1">
                <a:latin typeface="Consolas" panose="020B0609020204030204" pitchFamily="49" charset="0"/>
              </a:rPr>
              <a:t>T</a:t>
            </a:r>
            <a:endParaRPr lang="en-US" altLang="ja-JP" dirty="0">
              <a:latin typeface="Consolas" panose="020B0609020204030204" pitchFamily="49" charset="0"/>
            </a:endParaRPr>
          </a:p>
          <a:p>
            <a:pPr lvl="1"/>
            <a:endParaRPr lang="en-US" altLang="ja-JP" dirty="0"/>
          </a:p>
          <a:p>
            <a:pPr lvl="1"/>
            <a:r>
              <a:rPr lang="ja-JP" altLang="en-US" dirty="0"/>
              <a:t>不成立は１回であり，予測ミスも１回</a:t>
            </a:r>
            <a:endParaRPr lang="ja-JP" altLang="en-US" dirty="0">
              <a:latin typeface="Consolas" panose="020B0609020204030204" pitchFamily="49" charset="0"/>
            </a:endParaRPr>
          </a:p>
          <a:p>
            <a:pPr lvl="1"/>
            <a:endParaRPr kumimoji="1" lang="ja-JP" altLang="en-US" dirty="0"/>
          </a:p>
        </p:txBody>
      </p:sp>
    </p:spTree>
    <p:extLst>
      <p:ext uri="{BB962C8B-B14F-4D97-AF65-F5344CB8AC3E}">
        <p14:creationId xmlns:p14="http://schemas.microsoft.com/office/powerpoint/2010/main" val="341451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予測精度とカウンタの幅</a:t>
            </a:r>
          </a:p>
        </p:txBody>
      </p:sp>
      <p:sp>
        <p:nvSpPr>
          <p:cNvPr id="3" name="テキスト プレースホルダー 2"/>
          <p:cNvSpPr>
            <a:spLocks noGrp="1"/>
          </p:cNvSpPr>
          <p:nvPr>
            <p:ph type="body" sz="quarter" idx="10"/>
          </p:nvPr>
        </p:nvSpPr>
        <p:spPr>
          <a:xfrm>
            <a:off x="1775952" y="1088974"/>
            <a:ext cx="9450105" cy="5219751"/>
          </a:xfrm>
        </p:spPr>
        <p:txBody>
          <a:bodyPr/>
          <a:lstStyle/>
          <a:p>
            <a:r>
              <a:rPr kumimoji="1" lang="ja-JP" altLang="en-US" dirty="0"/>
              <a:t>一般に，１ビット・カウンタ予測器より性能が高いと言われる</a:t>
            </a:r>
            <a:endParaRPr kumimoji="1" lang="en-US" altLang="ja-JP" dirty="0"/>
          </a:p>
          <a:p>
            <a:pPr lvl="1"/>
            <a:r>
              <a:rPr kumimoji="1" lang="ja-JP" altLang="en-US" dirty="0"/>
              <a:t>実際に </a:t>
            </a:r>
            <a:r>
              <a:rPr kumimoji="1" lang="en-US" altLang="ja-JP" dirty="0"/>
              <a:t>Intel Pentium</a:t>
            </a:r>
            <a:r>
              <a:rPr kumimoji="1" lang="ja-JP" altLang="en-US" dirty="0" err="1"/>
              <a:t>，</a:t>
            </a:r>
            <a:r>
              <a:rPr kumimoji="1" lang="en-US" altLang="ja-JP" dirty="0"/>
              <a:t>MIPS R10000 </a:t>
            </a:r>
            <a:r>
              <a:rPr kumimoji="1" lang="ja-JP" altLang="en-US" dirty="0"/>
              <a:t>などの </a:t>
            </a:r>
            <a:r>
              <a:rPr kumimoji="1" lang="en-US" altLang="ja-JP" dirty="0"/>
              <a:t>CPU </a:t>
            </a:r>
            <a:r>
              <a:rPr kumimoji="1" lang="ja-JP" altLang="en-US" dirty="0"/>
              <a:t>に搭載</a:t>
            </a:r>
            <a:endParaRPr kumimoji="1" lang="en-US" altLang="ja-JP" dirty="0"/>
          </a:p>
          <a:p>
            <a:r>
              <a:rPr kumimoji="1" lang="ja-JP" altLang="en-US" dirty="0"/>
              <a:t>カウンタのビット数を３ビット以上にすることはあまりない</a:t>
            </a:r>
            <a:endParaRPr kumimoji="1" lang="en-US" altLang="ja-JP" dirty="0"/>
          </a:p>
          <a:p>
            <a:pPr lvl="1"/>
            <a:r>
              <a:rPr kumimoji="1" lang="ja-JP" altLang="en-US" dirty="0"/>
              <a:t>特に性能が向上しないことが知られている</a:t>
            </a:r>
            <a:endParaRPr kumimoji="1" lang="en-US" altLang="ja-JP" dirty="0"/>
          </a:p>
          <a:p>
            <a:pPr lvl="1"/>
            <a:r>
              <a:rPr kumimoji="1" lang="ja-JP" altLang="en-US" dirty="0"/>
              <a:t>場合によっては，精度が落ちる</a:t>
            </a:r>
            <a:endParaRPr kumimoji="1" lang="en-US" altLang="ja-JP" dirty="0"/>
          </a:p>
          <a:p>
            <a:pPr lvl="2"/>
            <a:r>
              <a:rPr kumimoji="1" lang="ja-JP" altLang="en-US" dirty="0"/>
              <a:t>分岐の傾向が変わった時に，学習結果の反映が遅れると言われている</a:t>
            </a:r>
            <a:endParaRPr kumimoji="1" lang="en-US" altLang="ja-JP" dirty="0"/>
          </a:p>
          <a:p>
            <a:pPr lvl="1"/>
            <a:r>
              <a:rPr lang="en-US" altLang="ja-JP" dirty="0"/>
              <a:t>TAGE </a:t>
            </a:r>
            <a:r>
              <a:rPr lang="ja-JP" altLang="en-US" dirty="0"/>
              <a:t>やパーセプトロン系の予測ではまた話が異なる（次回以降）</a:t>
            </a:r>
            <a:endParaRPr lang="en-US" altLang="ja-JP" dirty="0"/>
          </a:p>
          <a:p>
            <a:pPr lvl="2"/>
            <a:r>
              <a:rPr kumimoji="1" lang="ja-JP" altLang="en-US" dirty="0"/>
              <a:t>バイアスを取りたい場合がある</a:t>
            </a:r>
            <a:endParaRPr kumimoji="1" lang="en-US" altLang="ja-JP" dirty="0"/>
          </a:p>
        </p:txBody>
      </p:sp>
    </p:spTree>
    <p:extLst>
      <p:ext uri="{BB962C8B-B14F-4D97-AF65-F5344CB8AC3E}">
        <p14:creationId xmlns:p14="http://schemas.microsoft.com/office/powerpoint/2010/main" val="2213603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まとめ</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分岐予測</a:t>
            </a:r>
            <a:endParaRPr kumimoji="1" lang="en-US" altLang="ja-JP" dirty="0"/>
          </a:p>
          <a:p>
            <a:pPr marL="817200" lvl="1" indent="-457200">
              <a:buFont typeface="+mj-lt"/>
              <a:buAutoNum type="arabicPeriod"/>
            </a:pPr>
            <a:r>
              <a:rPr kumimoji="1" lang="ja-JP" altLang="en-US" dirty="0"/>
              <a:t>分岐命令かどうか予測</a:t>
            </a:r>
            <a:endParaRPr kumimoji="1" lang="en-US" altLang="ja-JP" dirty="0"/>
          </a:p>
          <a:p>
            <a:pPr marL="817200" lvl="1" indent="-457200">
              <a:buFont typeface="+mj-lt"/>
              <a:buAutoNum type="arabicPeriod"/>
            </a:pPr>
            <a:r>
              <a:rPr kumimoji="1" lang="ja-JP" altLang="en-US" dirty="0"/>
              <a:t>分岐先ターゲット予測</a:t>
            </a:r>
            <a:endParaRPr kumimoji="1" lang="en-US" altLang="ja-JP" dirty="0"/>
          </a:p>
          <a:p>
            <a:pPr marL="817200" lvl="1" indent="-457200">
              <a:buFont typeface="+mj-lt"/>
              <a:buAutoNum type="arabicPeriod"/>
            </a:pPr>
            <a:r>
              <a:rPr kumimoji="1" lang="ja-JP" altLang="en-US" dirty="0"/>
              <a:t>分岐方向予測</a:t>
            </a:r>
            <a:endParaRPr kumimoji="1" lang="en-US" altLang="ja-JP" dirty="0"/>
          </a:p>
          <a:p>
            <a:pPr marL="1177200" lvl="2" indent="-457200">
              <a:buFont typeface="+mj-lt"/>
              <a:buAutoNum type="arabicPeriod"/>
            </a:pPr>
            <a:r>
              <a:rPr kumimoji="1" lang="ja-JP" altLang="en-US" dirty="0"/>
              <a:t>静的分岐予測</a:t>
            </a:r>
            <a:endParaRPr kumimoji="1" lang="en-US" altLang="ja-JP" dirty="0"/>
          </a:p>
          <a:p>
            <a:pPr marL="1177200" lvl="2" indent="-457200">
              <a:buFont typeface="+mj-lt"/>
              <a:buAutoNum type="arabicPeriod"/>
            </a:pPr>
            <a:r>
              <a:rPr lang="ja-JP" altLang="en-US" dirty="0"/>
              <a:t>動的分岐予測</a:t>
            </a:r>
            <a:endParaRPr lang="en-US" altLang="ja-JP" dirty="0"/>
          </a:p>
          <a:p>
            <a:r>
              <a:rPr lang="ja-JP" altLang="en-US" dirty="0"/>
              <a:t>高度な予測器の話題は来週以降に説明</a:t>
            </a:r>
            <a:endParaRPr kumimoji="1" lang="en-US" altLang="ja-JP" dirty="0"/>
          </a:p>
        </p:txBody>
      </p:sp>
    </p:spTree>
    <p:extLst>
      <p:ext uri="{BB962C8B-B14F-4D97-AF65-F5344CB8AC3E}">
        <p14:creationId xmlns:p14="http://schemas.microsoft.com/office/powerpoint/2010/main" val="1803925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の出席の締め切りは来週の講義開始までに設定してあります</a:t>
            </a:r>
            <a:endParaRPr lang="en-US" altLang="ja-JP" dirty="0">
              <a:solidFill>
                <a:schemeClr val="accent5"/>
              </a:solidFill>
            </a:endParaRPr>
          </a:p>
          <a:p>
            <a:pPr lvl="1"/>
            <a:r>
              <a:rPr lang="ja-JP" altLang="en-US" dirty="0"/>
              <a:t>仕様上「遅刻」表示になりますが，特に減点等しません</a:t>
            </a:r>
            <a:endParaRPr lang="en-US" altLang="ja-JP" dirty="0"/>
          </a:p>
          <a:p>
            <a:pPr lvl="1"/>
            <a:r>
              <a:rPr lang="ja-JP" altLang="en-US" dirty="0"/>
              <a:t>来週の講義開始までは感想や質問などを受け付けます</a:t>
            </a:r>
          </a:p>
        </p:txBody>
      </p:sp>
    </p:spTree>
    <p:extLst>
      <p:ext uri="{BB962C8B-B14F-4D97-AF65-F5344CB8AC3E}">
        <p14:creationId xmlns:p14="http://schemas.microsoft.com/office/powerpoint/2010/main" val="322547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92FC6-C481-4334-E992-204B439ABF09}"/>
              </a:ext>
            </a:extLst>
          </p:cNvPr>
          <p:cNvSpPr>
            <a:spLocks noGrp="1"/>
          </p:cNvSpPr>
          <p:nvPr>
            <p:ph type="title"/>
          </p:nvPr>
        </p:nvSpPr>
        <p:spPr/>
        <p:txBody>
          <a:bodyPr/>
          <a:lstStyle/>
          <a:p>
            <a:r>
              <a:rPr lang="ja-JP" altLang="en-US" dirty="0"/>
              <a:t>出席</a:t>
            </a:r>
            <a:endParaRPr kumimoji="1" lang="ja-JP" altLang="en-US" dirty="0"/>
          </a:p>
        </p:txBody>
      </p:sp>
      <p:sp>
        <p:nvSpPr>
          <p:cNvPr id="3" name="テキスト プレースホルダー 2">
            <a:extLst>
              <a:ext uri="{FF2B5EF4-FFF2-40B4-BE49-F238E27FC236}">
                <a16:creationId xmlns:a16="http://schemas.microsoft.com/office/drawing/2014/main" id="{BA87AF6B-357A-C55C-6782-832EA49BA99E}"/>
              </a:ext>
            </a:extLst>
          </p:cNvPr>
          <p:cNvSpPr>
            <a:spLocks noGrp="1"/>
          </p:cNvSpPr>
          <p:nvPr>
            <p:ph type="body" sz="quarter" idx="10"/>
          </p:nvPr>
        </p:nvSpPr>
        <p:spPr>
          <a:xfrm>
            <a:off x="1775952" y="1088974"/>
            <a:ext cx="9180102" cy="5219751"/>
          </a:xfrm>
        </p:spPr>
        <p:txBody>
          <a:bodyPr/>
          <a:lstStyle/>
          <a:p>
            <a:r>
              <a:rPr lang="ja-JP" altLang="en-US" dirty="0">
                <a:solidFill>
                  <a:schemeClr val="accent6"/>
                </a:solidFill>
              </a:rPr>
              <a:t>以下のスプレッドシートの自分の席のところに学籍番号を書いてください</a:t>
            </a:r>
            <a:endParaRPr kumimoji="1" lang="en-US" altLang="ja-JP" dirty="0">
              <a:hlinkClick r:id="" action="ppaction://noaction"/>
            </a:endParaRPr>
          </a:p>
          <a:p>
            <a:pPr lvl="1"/>
            <a:r>
              <a:rPr lang="en-US" altLang="ja-JP" dirty="0">
                <a:hlinkClick r:id="rId2"/>
              </a:rPr>
              <a:t>https://docs.google.com/spreadsheets/d/1Sufjhmcvn4_wInaJ3sAv3Qf47gH4Q1Ku_dlsfGvo3B4/edit?usp=drive_link</a:t>
            </a:r>
            <a:endParaRPr lang="en-US" altLang="ja-JP" dirty="0"/>
          </a:p>
          <a:p>
            <a:pPr lvl="1"/>
            <a:r>
              <a:rPr lang="ja-JP" altLang="en-US" dirty="0"/>
              <a:t>学生側から見た場合の配置で（画面上が教団側），席の対応する行と列のところに書いてください</a:t>
            </a:r>
            <a:endParaRPr lang="en-US" altLang="ja-JP" dirty="0"/>
          </a:p>
          <a:p>
            <a:endParaRPr kumimoji="1" lang="ja-JP" altLang="en-US" dirty="0"/>
          </a:p>
        </p:txBody>
      </p:sp>
    </p:spTree>
    <p:extLst>
      <p:ext uri="{BB962C8B-B14F-4D97-AF65-F5344CB8AC3E}">
        <p14:creationId xmlns:p14="http://schemas.microsoft.com/office/powerpoint/2010/main" val="3642383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45BA461-EB4B-6344-0363-EBCE1294355D}"/>
              </a:ext>
            </a:extLst>
          </p:cNvPr>
          <p:cNvSpPr>
            <a:spLocks noGrp="1"/>
          </p:cNvSpPr>
          <p:nvPr>
            <p:ph type="ctrTitle"/>
          </p:nvPr>
        </p:nvSpPr>
        <p:spPr>
          <a:xfrm>
            <a:off x="2225957" y="2078985"/>
            <a:ext cx="7920088" cy="540006"/>
          </a:xfrm>
        </p:spPr>
        <p:txBody>
          <a:bodyPr/>
          <a:lstStyle/>
          <a:p>
            <a:r>
              <a:rPr lang="ja-JP" altLang="en-US" dirty="0"/>
              <a:t>質問や感想</a:t>
            </a:r>
            <a:endParaRPr lang="en-US" dirty="0"/>
          </a:p>
        </p:txBody>
      </p:sp>
      <p:sp>
        <p:nvSpPr>
          <p:cNvPr id="5" name="字幕 4">
            <a:extLst>
              <a:ext uri="{FF2B5EF4-FFF2-40B4-BE49-F238E27FC236}">
                <a16:creationId xmlns:a16="http://schemas.microsoft.com/office/drawing/2014/main" id="{ED090A9F-2FB3-DADA-E31B-D2E1712125A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117258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lang="ja-JP" altLang="en-US" dirty="0"/>
              <a:t>昔から</a:t>
            </a:r>
            <a:r>
              <a:rPr lang="en-US" altLang="ja-JP" dirty="0"/>
              <a:t>Multi Threading</a:t>
            </a:r>
            <a:r>
              <a:rPr lang="ja-JP" altLang="en-US" dirty="0"/>
              <a:t>（特に</a:t>
            </a:r>
            <a:r>
              <a:rPr lang="en-US" altLang="ja-JP" dirty="0"/>
              <a:t>Hardware</a:t>
            </a:r>
            <a:r>
              <a:rPr lang="ja-JP" altLang="en-US" dirty="0"/>
              <a:t>の方で）ってよく聞きますが、イマイチどんなものなのかがよくわかりませんでした。色々調べてみた結果、昨今の</a:t>
            </a:r>
            <a:r>
              <a:rPr lang="en-US" altLang="ja-JP" dirty="0"/>
              <a:t>CPU</a:t>
            </a:r>
            <a:r>
              <a:rPr lang="ja-JP" altLang="en-US" dirty="0"/>
              <a:t>は同時</a:t>
            </a:r>
            <a:r>
              <a:rPr lang="en-US" altLang="ja-JP" dirty="0"/>
              <a:t>MT</a:t>
            </a:r>
            <a:r>
              <a:rPr lang="ja-JP" altLang="en-US" dirty="0"/>
              <a:t>が主流らしく、パイプラインの実行ユニット（</a:t>
            </a:r>
            <a:r>
              <a:rPr lang="en-US" altLang="ja-JP" dirty="0"/>
              <a:t>ALU</a:t>
            </a:r>
            <a:r>
              <a:rPr lang="ja-JP" altLang="en-US" dirty="0"/>
              <a:t>や</a:t>
            </a:r>
            <a:r>
              <a:rPr lang="en-US" altLang="ja-JP" dirty="0"/>
              <a:t>FPU</a:t>
            </a:r>
            <a:r>
              <a:rPr lang="ja-JP" altLang="en-US" dirty="0"/>
              <a:t>）の空き状況を見て、動かせる命令をスレッドの垣根を越えて超並列で実行させるとなっているらしいです。これでレイテンシーが高まるため、低遅延を求めるゲーマー界隈であえてこういう機能を止めるっぽいですね。</a:t>
            </a:r>
          </a:p>
          <a:p>
            <a:endParaRPr kumimoji="1" lang="ja-JP" altLang="en-US" dirty="0"/>
          </a:p>
        </p:txBody>
      </p:sp>
    </p:spTree>
    <p:extLst>
      <p:ext uri="{BB962C8B-B14F-4D97-AF65-F5344CB8AC3E}">
        <p14:creationId xmlns:p14="http://schemas.microsoft.com/office/powerpoint/2010/main" val="16884627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81A8C-E7F3-878B-E5BB-A6362FE073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8C22F-021B-99DA-858B-21F418480C6B}"/>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16C41AE9-66B7-EBED-F83F-BE7028189606}"/>
              </a:ext>
            </a:extLst>
          </p:cNvPr>
          <p:cNvSpPr>
            <a:spLocks noGrp="1"/>
          </p:cNvSpPr>
          <p:nvPr>
            <p:ph type="body" sz="quarter" idx="10"/>
          </p:nvPr>
        </p:nvSpPr>
        <p:spPr/>
        <p:txBody>
          <a:bodyPr/>
          <a:lstStyle/>
          <a:p>
            <a:r>
              <a:rPr lang="ja-JP" altLang="en-US" dirty="0"/>
              <a:t>自分もフォワーディング機構を持ったプロセッサを作ったことがあるのですが，性能が全然出ないどころかむしろ悪化してしまった記憶があるので，アーキテクチャやハードウェアのことをよく考えた設計をする必要があって難しい分野だなと思った記憶があります．</a:t>
            </a:r>
          </a:p>
          <a:p>
            <a:endParaRPr kumimoji="1" lang="ja-JP" altLang="en-US" dirty="0"/>
          </a:p>
        </p:txBody>
      </p:sp>
    </p:spTree>
    <p:extLst>
      <p:ext uri="{BB962C8B-B14F-4D97-AF65-F5344CB8AC3E}">
        <p14:creationId xmlns:p14="http://schemas.microsoft.com/office/powerpoint/2010/main" val="8185004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9A2E-5231-D832-9576-0F38ABAF51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B27D9C-A59B-4533-090A-42CAE6BE01F0}"/>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72C244D1-6CE5-52FB-A1FF-C177DE5C89D4}"/>
              </a:ext>
            </a:extLst>
          </p:cNvPr>
          <p:cNvSpPr>
            <a:spLocks noGrp="1"/>
          </p:cNvSpPr>
          <p:nvPr>
            <p:ph type="body" sz="quarter" idx="10"/>
          </p:nvPr>
        </p:nvSpPr>
        <p:spPr/>
        <p:txBody>
          <a:bodyPr/>
          <a:lstStyle/>
          <a:p>
            <a:r>
              <a:rPr lang="en-US" altLang="ja-JP" dirty="0"/>
              <a:t>multi thread</a:t>
            </a:r>
            <a:r>
              <a:rPr lang="ja-JP" altLang="en-US" dirty="0"/>
              <a:t>でも遅延スロットなどの設計が施されているのか気になりました</a:t>
            </a:r>
            <a:endParaRPr kumimoji="1" lang="ja-JP" altLang="en-US" dirty="0"/>
          </a:p>
        </p:txBody>
      </p:sp>
    </p:spTree>
    <p:extLst>
      <p:ext uri="{BB962C8B-B14F-4D97-AF65-F5344CB8AC3E}">
        <p14:creationId xmlns:p14="http://schemas.microsoft.com/office/powerpoint/2010/main" val="121602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E5531-2B2B-0E45-1149-ABDBEEE1D1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DF05C5-414D-7E55-AB58-F38BAE803CC4}"/>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B7EEB431-150E-74D5-B559-F97876A727F8}"/>
              </a:ext>
            </a:extLst>
          </p:cNvPr>
          <p:cNvSpPr>
            <a:spLocks noGrp="1"/>
          </p:cNvSpPr>
          <p:nvPr>
            <p:ph type="body" sz="quarter" idx="10"/>
          </p:nvPr>
        </p:nvSpPr>
        <p:spPr/>
        <p:txBody>
          <a:bodyPr/>
          <a:lstStyle/>
          <a:p>
            <a:r>
              <a:rPr lang="ja-JP" altLang="en-US" dirty="0"/>
              <a:t>制御ハザードの分岐予測について、一か八かで計算してみて間違ってたら戻るという行動は人間っぽくて面白いなと思った。</a:t>
            </a:r>
          </a:p>
          <a:p>
            <a:endParaRPr kumimoji="1" lang="ja-JP" altLang="en-US" dirty="0"/>
          </a:p>
        </p:txBody>
      </p:sp>
    </p:spTree>
    <p:extLst>
      <p:ext uri="{BB962C8B-B14F-4D97-AF65-F5344CB8AC3E}">
        <p14:creationId xmlns:p14="http://schemas.microsoft.com/office/powerpoint/2010/main" val="6753365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1BE3-2C78-4F84-CB51-9C8CD0CCD3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D53957-90A8-E195-55F9-1BCA03FA0D2F}"/>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4D4870D3-7FA0-60C3-0472-495804EAE62E}"/>
              </a:ext>
            </a:extLst>
          </p:cNvPr>
          <p:cNvSpPr>
            <a:spLocks noGrp="1"/>
          </p:cNvSpPr>
          <p:nvPr>
            <p:ph type="body" sz="quarter" idx="10"/>
          </p:nvPr>
        </p:nvSpPr>
        <p:spPr/>
        <p:txBody>
          <a:bodyPr/>
          <a:lstStyle/>
          <a:p>
            <a:r>
              <a:rPr lang="ja-JP" altLang="en-US" dirty="0"/>
              <a:t>マイクロコードについては学部の講義で学習しなかったので非常に面白かった。比較的新しい</a:t>
            </a:r>
            <a:r>
              <a:rPr lang="en-US" altLang="ja-JP" dirty="0"/>
              <a:t>RISC</a:t>
            </a:r>
            <a:r>
              <a:rPr lang="ja-JP" altLang="en-US" dirty="0"/>
              <a:t>ですらマイクロコードを用いているなら、もっと単純な命令しか使用しない命令セットを作れば良いのにと思った。</a:t>
            </a:r>
            <a:endParaRPr kumimoji="1" lang="ja-JP" altLang="en-US" dirty="0"/>
          </a:p>
        </p:txBody>
      </p:sp>
    </p:spTree>
    <p:extLst>
      <p:ext uri="{BB962C8B-B14F-4D97-AF65-F5344CB8AC3E}">
        <p14:creationId xmlns:p14="http://schemas.microsoft.com/office/powerpoint/2010/main" val="978765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6CA88-C675-0FBD-CD6E-843DE47D57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DE859F-627E-8577-FE55-D97B0EEEC6EC}"/>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23727F8B-1696-80BB-C421-9DEF8AB52AFD}"/>
              </a:ext>
            </a:extLst>
          </p:cNvPr>
          <p:cNvSpPr>
            <a:spLocks noGrp="1"/>
          </p:cNvSpPr>
          <p:nvPr>
            <p:ph type="body" sz="quarter" idx="10"/>
          </p:nvPr>
        </p:nvSpPr>
        <p:spPr/>
        <p:txBody>
          <a:bodyPr/>
          <a:lstStyle/>
          <a:p>
            <a:r>
              <a:rPr lang="ja-JP" altLang="en-US" dirty="0"/>
              <a:t>投機実行で、ミスが判明した時のリカバリはどのように行われるのか気になりました。たとえば、メモリへのストアが投機実行によって行われて、後からそれが違うとなった時、元のデータにリカバーするためにストア命令によるメモリの書き潰しが起きないよう工夫する必要があるのか気になりました。</a:t>
            </a:r>
          </a:p>
          <a:p>
            <a:endParaRPr kumimoji="1" lang="ja-JP" altLang="en-US" dirty="0"/>
          </a:p>
        </p:txBody>
      </p:sp>
    </p:spTree>
    <p:extLst>
      <p:ext uri="{BB962C8B-B14F-4D97-AF65-F5344CB8AC3E}">
        <p14:creationId xmlns:p14="http://schemas.microsoft.com/office/powerpoint/2010/main" val="36998855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C3FAE-C9C3-59CD-CC15-699FD0BA76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EED11E-0D3D-B4A9-750D-F2F1E85323D0}"/>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C850C73B-0B45-7C19-86B5-83E345FCABC0}"/>
              </a:ext>
            </a:extLst>
          </p:cNvPr>
          <p:cNvSpPr>
            <a:spLocks noGrp="1"/>
          </p:cNvSpPr>
          <p:nvPr>
            <p:ph type="body" sz="quarter" idx="10"/>
          </p:nvPr>
        </p:nvSpPr>
        <p:spPr/>
        <p:txBody>
          <a:bodyPr/>
          <a:lstStyle/>
          <a:p>
            <a:r>
              <a:rPr lang="ja-JP" altLang="en-US" dirty="0"/>
              <a:t>しょぼんはしょぼんのアクションとかいう神ゲーのおかげで知名度がギリギリ保たれているきがします</a:t>
            </a:r>
            <a:endParaRPr kumimoji="1" lang="ja-JP" altLang="en-US" dirty="0"/>
          </a:p>
        </p:txBody>
      </p:sp>
    </p:spTree>
    <p:extLst>
      <p:ext uri="{BB962C8B-B14F-4D97-AF65-F5344CB8AC3E}">
        <p14:creationId xmlns:p14="http://schemas.microsoft.com/office/powerpoint/2010/main" val="19417365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DA5D2-F689-2488-938A-BBBEB9EE98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010B8B-AE02-F4FB-4558-CB280CBD5923}"/>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3D080D2F-487A-741D-77F6-6F2D5304A248}"/>
              </a:ext>
            </a:extLst>
          </p:cNvPr>
          <p:cNvSpPr>
            <a:spLocks noGrp="1"/>
          </p:cNvSpPr>
          <p:nvPr>
            <p:ph type="body" sz="quarter" idx="10"/>
          </p:nvPr>
        </p:nvSpPr>
        <p:spPr/>
        <p:txBody>
          <a:bodyPr/>
          <a:lstStyle/>
          <a:p>
            <a:r>
              <a:rPr lang="en-US" altLang="ja-JP" dirty="0"/>
              <a:t>x86</a:t>
            </a:r>
            <a:r>
              <a:rPr lang="ja-JP" altLang="en-US" dirty="0"/>
              <a:t>とか</a:t>
            </a:r>
            <a:r>
              <a:rPr lang="en-US" altLang="ja-JP" dirty="0"/>
              <a:t>arm</a:t>
            </a:r>
            <a:r>
              <a:rPr lang="ja-JP" altLang="en-US" dirty="0"/>
              <a:t>では構造ハザードを命令をマイクロ命令することで修正するのは結構力技のように感じいずれ命令セットの大規模な改修が迫られるような気がするのですが以外とそのままでも問題ないのかが気になりました。</a:t>
            </a:r>
            <a:endParaRPr kumimoji="1" lang="ja-JP" altLang="en-US" dirty="0"/>
          </a:p>
        </p:txBody>
      </p:sp>
    </p:spTree>
    <p:extLst>
      <p:ext uri="{BB962C8B-B14F-4D97-AF65-F5344CB8AC3E}">
        <p14:creationId xmlns:p14="http://schemas.microsoft.com/office/powerpoint/2010/main" val="290444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6D8FC-B0EB-D32B-EB1C-6576511C01B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74AB4C-DE77-D39F-9DBE-E5C20B882504}"/>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CB843894-C6A9-28F4-670C-0E82E60CE24A}"/>
              </a:ext>
            </a:extLst>
          </p:cNvPr>
          <p:cNvSpPr>
            <a:spLocks noGrp="1"/>
          </p:cNvSpPr>
          <p:nvPr>
            <p:ph type="body" sz="quarter" idx="10"/>
          </p:nvPr>
        </p:nvSpPr>
        <p:spPr/>
        <p:txBody>
          <a:bodyPr/>
          <a:lstStyle/>
          <a:p>
            <a:r>
              <a:rPr lang="ja-JP" altLang="en-US" dirty="0"/>
              <a:t>遅延スロットはもう少し評価されても良い気がする。欠点</a:t>
            </a:r>
            <a:r>
              <a:rPr lang="en-US" altLang="ja-JP" dirty="0"/>
              <a:t>1</a:t>
            </a:r>
            <a:r>
              <a:rPr lang="ja-JP" altLang="en-US" dirty="0"/>
              <a:t>は毎度仕様を変えればよくて、欠点</a:t>
            </a:r>
            <a:r>
              <a:rPr lang="en-US" altLang="ja-JP" dirty="0"/>
              <a:t>2</a:t>
            </a:r>
            <a:r>
              <a:rPr lang="ja-JP" altLang="en-US" dirty="0"/>
              <a:t>は一度に扱える命令数が増えればいい？</a:t>
            </a:r>
            <a:endParaRPr kumimoji="1" lang="ja-JP" altLang="en-US" dirty="0"/>
          </a:p>
        </p:txBody>
      </p:sp>
    </p:spTree>
    <p:extLst>
      <p:ext uri="{BB962C8B-B14F-4D97-AF65-F5344CB8AC3E}">
        <p14:creationId xmlns:p14="http://schemas.microsoft.com/office/powerpoint/2010/main" val="26994689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3CEE4-C63B-D404-D797-5029445A9F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2DC337-9AAC-F550-D1A7-A0188FC6AE35}"/>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D8B8675A-86C3-0A33-C398-B0CD4B2723BA}"/>
              </a:ext>
            </a:extLst>
          </p:cNvPr>
          <p:cNvSpPr>
            <a:spLocks noGrp="1"/>
          </p:cNvSpPr>
          <p:nvPr>
            <p:ph type="body" sz="quarter" idx="10"/>
          </p:nvPr>
        </p:nvSpPr>
        <p:spPr/>
        <p:txBody>
          <a:bodyPr/>
          <a:lstStyle/>
          <a:p>
            <a:r>
              <a:rPr lang="en-US" altLang="ja-JP" dirty="0" err="1"/>
              <a:t>futex</a:t>
            </a:r>
            <a:r>
              <a:rPr lang="ja-JP" altLang="en-US" dirty="0"/>
              <a:t>などの</a:t>
            </a:r>
            <a:r>
              <a:rPr lang="en-US" altLang="ja-JP" dirty="0" err="1"/>
              <a:t>systemcall</a:t>
            </a:r>
            <a:r>
              <a:rPr lang="ja-JP" altLang="en-US" dirty="0"/>
              <a:t>の待ちや</a:t>
            </a:r>
            <a:r>
              <a:rPr lang="en-US" altLang="ja-JP" dirty="0"/>
              <a:t>sleep</a:t>
            </a:r>
            <a:r>
              <a:rPr lang="ja-JP" altLang="en-US" dirty="0"/>
              <a:t>などはどう実装されるのでしょうか</a:t>
            </a:r>
            <a:r>
              <a:rPr lang="en-US" altLang="ja-JP" dirty="0"/>
              <a:t>?pipeline</a:t>
            </a:r>
            <a:r>
              <a:rPr lang="ja-JP" altLang="en-US" dirty="0"/>
              <a:t>的には そこは</a:t>
            </a:r>
            <a:r>
              <a:rPr lang="en-US" altLang="ja-JP" dirty="0"/>
              <a:t>bubble</a:t>
            </a:r>
            <a:r>
              <a:rPr lang="ja-JP" altLang="en-US" dirty="0"/>
              <a:t>になっているのでしょうか</a:t>
            </a:r>
          </a:p>
          <a:p>
            <a:endParaRPr kumimoji="1" lang="ja-JP" altLang="en-US" dirty="0"/>
          </a:p>
        </p:txBody>
      </p:sp>
    </p:spTree>
    <p:extLst>
      <p:ext uri="{BB962C8B-B14F-4D97-AF65-F5344CB8AC3E}">
        <p14:creationId xmlns:p14="http://schemas.microsoft.com/office/powerpoint/2010/main" val="3308242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13183-3B13-FA41-1964-B1C3796AA7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C84F7C-BB45-C1D3-619A-BA090C5CB34F}"/>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4625AD83-721E-3625-DA67-330C7AEA66C4}"/>
              </a:ext>
            </a:extLst>
          </p:cNvPr>
          <p:cNvSpPr>
            <a:spLocks noGrp="1"/>
          </p:cNvSpPr>
          <p:nvPr>
            <p:ph type="body" sz="quarter" idx="10"/>
          </p:nvPr>
        </p:nvSpPr>
        <p:spPr/>
        <p:txBody>
          <a:bodyPr/>
          <a:lstStyle/>
          <a:p>
            <a:r>
              <a:rPr lang="ja-JP" altLang="en-US" dirty="0"/>
              <a:t>最後の部分でマルチスレッディングの話が出てきたと思いますが、ちょうど今受講している別の講義</a:t>
            </a:r>
            <a:r>
              <a:rPr lang="en-US" altLang="ja-JP" dirty="0"/>
              <a:t>(</a:t>
            </a:r>
            <a:r>
              <a:rPr lang="ja-JP" altLang="en-US" dirty="0"/>
              <a:t>オペレーティングシステム</a:t>
            </a:r>
            <a:r>
              <a:rPr lang="en-US" altLang="ja-JP" dirty="0"/>
              <a:t>)</a:t>
            </a:r>
            <a:r>
              <a:rPr lang="ja-JP" altLang="en-US" dirty="0"/>
              <a:t>でも何回か前にマルチスレッドが登場していて、ようやく少しずつ他のレイヤとのつながりが見えてきたなぁと感じました</a:t>
            </a:r>
          </a:p>
          <a:p>
            <a:r>
              <a:rPr lang="ja-JP" altLang="en-US" dirty="0"/>
              <a:t>ただ、あちらは今日のスレッディングの内容をブラックボックス化して、</a:t>
            </a:r>
            <a:r>
              <a:rPr lang="en-US" altLang="ja-JP" dirty="0" err="1"/>
              <a:t>linux</a:t>
            </a:r>
            <a:r>
              <a:rPr lang="ja-JP" altLang="en-US" dirty="0"/>
              <a:t>にはこういうスレッド化用モジュールが搭載されているんだよ、といった形で扱っていたので中でどうなっているかの説明はなかったですが</a:t>
            </a:r>
            <a:r>
              <a:rPr lang="en-US" altLang="ja-JP" dirty="0"/>
              <a:t>…</a:t>
            </a:r>
          </a:p>
          <a:p>
            <a:endParaRPr kumimoji="1" lang="ja-JP" altLang="en-US" dirty="0"/>
          </a:p>
        </p:txBody>
      </p:sp>
    </p:spTree>
    <p:extLst>
      <p:ext uri="{BB962C8B-B14F-4D97-AF65-F5344CB8AC3E}">
        <p14:creationId xmlns:p14="http://schemas.microsoft.com/office/powerpoint/2010/main" val="2013678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D5282-05B8-B27C-04F3-4344D3049C4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B6DFA5-B7B4-2D59-272B-82C1430CC92D}"/>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A80034A4-A024-0A13-0299-A7056C433EC1}"/>
              </a:ext>
            </a:extLst>
          </p:cNvPr>
          <p:cNvSpPr>
            <a:spLocks noGrp="1"/>
          </p:cNvSpPr>
          <p:nvPr>
            <p:ph type="body" sz="quarter" idx="10"/>
          </p:nvPr>
        </p:nvSpPr>
        <p:spPr/>
        <p:txBody>
          <a:bodyPr/>
          <a:lstStyle/>
          <a:p>
            <a:r>
              <a:rPr lang="ja-JP" altLang="en-US" dirty="0"/>
              <a:t>創造の輪講でハーザードなどに関する研究について聞くことが多いが、今回の講義でなぜ発生するのか、どこが問題なのかを</a:t>
            </a:r>
            <a:r>
              <a:rPr lang="en-US" altLang="ja-JP" dirty="0"/>
              <a:t>50%</a:t>
            </a:r>
            <a:r>
              <a:rPr lang="ja-JP" altLang="en-US" dirty="0"/>
              <a:t>ぐらいは理解できた気がする。</a:t>
            </a:r>
          </a:p>
          <a:p>
            <a:endParaRPr kumimoji="1" lang="ja-JP" altLang="en-US" dirty="0"/>
          </a:p>
        </p:txBody>
      </p:sp>
    </p:spTree>
    <p:extLst>
      <p:ext uri="{BB962C8B-B14F-4D97-AF65-F5344CB8AC3E}">
        <p14:creationId xmlns:p14="http://schemas.microsoft.com/office/powerpoint/2010/main" val="3614491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F0298-67F3-B8E6-87F5-70FAA5E495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EA3A3D-AEEB-2032-3785-B0CE7290CFC9}"/>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211D9095-AA8B-B758-BA28-6F2B724655AE}"/>
              </a:ext>
            </a:extLst>
          </p:cNvPr>
          <p:cNvSpPr>
            <a:spLocks noGrp="1"/>
          </p:cNvSpPr>
          <p:nvPr>
            <p:ph type="body" sz="quarter" idx="10"/>
          </p:nvPr>
        </p:nvSpPr>
        <p:spPr/>
        <p:txBody>
          <a:bodyPr/>
          <a:lstStyle/>
          <a:p>
            <a:r>
              <a:rPr lang="en-US" altLang="ja-JP" dirty="0"/>
              <a:t>AMD Bulldozer</a:t>
            </a:r>
            <a:r>
              <a:rPr lang="ja-JP" altLang="en-US" dirty="0"/>
              <a:t>の写真において、</a:t>
            </a:r>
            <a:r>
              <a:rPr lang="en-US" altLang="ja-JP" dirty="0"/>
              <a:t>L1</a:t>
            </a:r>
            <a:r>
              <a:rPr lang="ja-JP" altLang="en-US" dirty="0"/>
              <a:t>キャッシュの配置はコアに対して対称的なのに対して、下段のキャッシュはそうとは限らないことが気になりました。タイミング計算をどう整えているのでしょうか。</a:t>
            </a:r>
          </a:p>
          <a:p>
            <a:r>
              <a:rPr lang="ja-JP" altLang="en-US" dirty="0"/>
              <a:t>恐らくこの後にスーパースカラプロセッサについての解説があると思うのですが、実際の研究の時間軸はどうなっていたか気になります。</a:t>
            </a:r>
            <a:endParaRPr kumimoji="1" lang="ja-JP" altLang="en-US" dirty="0"/>
          </a:p>
        </p:txBody>
      </p:sp>
    </p:spTree>
    <p:extLst>
      <p:ext uri="{BB962C8B-B14F-4D97-AF65-F5344CB8AC3E}">
        <p14:creationId xmlns:p14="http://schemas.microsoft.com/office/powerpoint/2010/main" val="3626273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0EC8C-8BAD-D568-5BEB-CDBA6CFDCA2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432FD5-C76A-2C81-6E5F-73B0440F7EC5}"/>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7EAF4A0C-AF89-605C-0F21-7291724BE840}"/>
              </a:ext>
            </a:extLst>
          </p:cNvPr>
          <p:cNvSpPr>
            <a:spLocks noGrp="1"/>
          </p:cNvSpPr>
          <p:nvPr>
            <p:ph type="body" sz="quarter" idx="10"/>
          </p:nvPr>
        </p:nvSpPr>
        <p:spPr/>
        <p:txBody>
          <a:bodyPr/>
          <a:lstStyle/>
          <a:p>
            <a:pPr lvl="1"/>
            <a:r>
              <a:rPr lang="ja-JP" altLang="en-US" dirty="0"/>
              <a:t>制御ハザードの分岐予測による投機実行を行うのは、前回の結果と同じ分岐のほうに賭ける、といったシンプルな分岐予測であっても</a:t>
            </a:r>
          </a:p>
          <a:p>
            <a:pPr lvl="1"/>
            <a:endParaRPr lang="ja-JP" altLang="en-US" dirty="0"/>
          </a:p>
          <a:p>
            <a:pPr lvl="1"/>
            <a:r>
              <a:rPr lang="en-US" altLang="ja-JP" dirty="0"/>
              <a:t>for (int </a:t>
            </a:r>
            <a:r>
              <a:rPr lang="en-US" altLang="ja-JP" dirty="0" err="1"/>
              <a:t>i</a:t>
            </a:r>
            <a:r>
              <a:rPr lang="en-US" altLang="ja-JP" dirty="0"/>
              <a:t> = 0; </a:t>
            </a:r>
            <a:r>
              <a:rPr lang="en-US" altLang="ja-JP" dirty="0" err="1"/>
              <a:t>i</a:t>
            </a:r>
            <a:r>
              <a:rPr lang="en-US" altLang="ja-JP" dirty="0"/>
              <a:t>&lt;100; </a:t>
            </a:r>
            <a:r>
              <a:rPr lang="en-US" altLang="ja-JP" dirty="0" err="1"/>
              <a:t>i</a:t>
            </a:r>
            <a:r>
              <a:rPr lang="en-US" altLang="ja-JP" dirty="0"/>
              <a:t>++) </a:t>
            </a:r>
            <a:r>
              <a:rPr lang="ja-JP" altLang="en-US" dirty="0"/>
              <a:t>｛</a:t>
            </a:r>
          </a:p>
          <a:p>
            <a:pPr lvl="1"/>
            <a:r>
              <a:rPr lang="ja-JP" altLang="en-US" dirty="0"/>
              <a:t>　</a:t>
            </a:r>
            <a:r>
              <a:rPr lang="en-US" altLang="ja-JP" dirty="0"/>
              <a:t>// </a:t>
            </a:r>
            <a:r>
              <a:rPr lang="ja-JP" altLang="en-US" dirty="0"/>
              <a:t>主な処理</a:t>
            </a:r>
          </a:p>
          <a:p>
            <a:pPr lvl="1"/>
            <a:r>
              <a:rPr lang="en-US" altLang="ja-JP" dirty="0"/>
              <a:t>}</a:t>
            </a:r>
          </a:p>
          <a:p>
            <a:pPr lvl="1"/>
            <a:endParaRPr lang="en-US" altLang="ja-JP" dirty="0"/>
          </a:p>
          <a:p>
            <a:pPr lvl="1"/>
            <a:r>
              <a:rPr lang="ja-JP" altLang="en-US" dirty="0"/>
              <a:t>といったコードではループから最初のループと最後のループ以外で分岐方向をあてられて</a:t>
            </a:r>
            <a:r>
              <a:rPr lang="en-US" altLang="ja-JP" dirty="0"/>
              <a:t>98%</a:t>
            </a:r>
            <a:r>
              <a:rPr lang="ja-JP" altLang="en-US" dirty="0"/>
              <a:t>の精度で予測に成功するかと思うと、とても有効なことを実感しました。</a:t>
            </a:r>
            <a:endParaRPr kumimoji="1" lang="ja-JP" altLang="en-US" dirty="0"/>
          </a:p>
        </p:txBody>
      </p:sp>
    </p:spTree>
    <p:extLst>
      <p:ext uri="{BB962C8B-B14F-4D97-AF65-F5344CB8AC3E}">
        <p14:creationId xmlns:p14="http://schemas.microsoft.com/office/powerpoint/2010/main" val="291987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36F5-1129-4FF0-97A8-3877295585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A3D24D-C0C5-3890-47E5-EF2B6D160AC0}"/>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A1DEAF6E-D863-DC1E-97E0-48D4D1051628}"/>
              </a:ext>
            </a:extLst>
          </p:cNvPr>
          <p:cNvSpPr>
            <a:spLocks noGrp="1"/>
          </p:cNvSpPr>
          <p:nvPr>
            <p:ph type="body" sz="quarter" idx="10"/>
          </p:nvPr>
        </p:nvSpPr>
        <p:spPr/>
        <p:txBody>
          <a:bodyPr/>
          <a:lstStyle/>
          <a:p>
            <a:r>
              <a:rPr lang="ja-JP" altLang="en-US" dirty="0"/>
              <a:t>フォワーディングの導入はバブルを消せる一方でクロック周波数を下げうるというトレードオフの関係にあると思います。総合的な性能で見たとき、一般的にはフォワーディングを導入したほうが有利なのでしょうか？</a:t>
            </a:r>
          </a:p>
          <a:p>
            <a:endParaRPr kumimoji="1" lang="ja-JP" altLang="en-US" dirty="0"/>
          </a:p>
        </p:txBody>
      </p:sp>
    </p:spTree>
    <p:extLst>
      <p:ext uri="{BB962C8B-B14F-4D97-AF65-F5344CB8AC3E}">
        <p14:creationId xmlns:p14="http://schemas.microsoft.com/office/powerpoint/2010/main" val="30962004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35AB-8EDE-A398-E585-1BA1AFF352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736F72-7C1D-C965-30A6-E6C9151ECBE3}"/>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F1041625-3BD1-6955-8F41-B85757EC28F4}"/>
              </a:ext>
            </a:extLst>
          </p:cNvPr>
          <p:cNvSpPr>
            <a:spLocks noGrp="1"/>
          </p:cNvSpPr>
          <p:nvPr>
            <p:ph type="body" sz="quarter" idx="10"/>
          </p:nvPr>
        </p:nvSpPr>
        <p:spPr/>
        <p:txBody>
          <a:bodyPr/>
          <a:lstStyle/>
          <a:p>
            <a:r>
              <a:rPr lang="ja-JP" altLang="en-US" dirty="0"/>
              <a:t>分岐予測について、大規模なプロセッサでは大量の命令を取り消す可能性があるとのことでしたが、大規模な場合、両方の命令を並列で行ってみるとかいう方法はないんでしょうか。ただ、分岐予測がそれなりに当たることを考えたら性能が悪化しそうだなとなんとなく思っています。</a:t>
            </a:r>
          </a:p>
          <a:p>
            <a:endParaRPr kumimoji="1" lang="ja-JP" altLang="en-US" dirty="0"/>
          </a:p>
        </p:txBody>
      </p:sp>
    </p:spTree>
    <p:extLst>
      <p:ext uri="{BB962C8B-B14F-4D97-AF65-F5344CB8AC3E}">
        <p14:creationId xmlns:p14="http://schemas.microsoft.com/office/powerpoint/2010/main" val="211533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189DF-1CCF-4C07-A673-84B9AC8D66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24446D-64CA-64C9-945D-4832AEF065CB}"/>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5E4985B5-303E-D528-6749-C48F3F32A328}"/>
              </a:ext>
            </a:extLst>
          </p:cNvPr>
          <p:cNvSpPr>
            <a:spLocks noGrp="1"/>
          </p:cNvSpPr>
          <p:nvPr>
            <p:ph type="body" sz="quarter" idx="10"/>
          </p:nvPr>
        </p:nvSpPr>
        <p:spPr/>
        <p:txBody>
          <a:bodyPr/>
          <a:lstStyle/>
          <a:p>
            <a:r>
              <a:rPr lang="ja-JP" altLang="en-US" dirty="0"/>
              <a:t>イラストや具体例が多くて非常に分かりやすかったです。命令パイプラインにとって条件分岐があると制御しにくい</a:t>
            </a:r>
            <a:r>
              <a:rPr lang="en-US" altLang="ja-JP" dirty="0"/>
              <a:t>, </a:t>
            </a:r>
            <a:r>
              <a:rPr lang="ja-JP" altLang="en-US" dirty="0"/>
              <a:t>という話だったと思います。これに関して</a:t>
            </a:r>
            <a:r>
              <a:rPr lang="en-US" altLang="ja-JP" dirty="0"/>
              <a:t>, </a:t>
            </a:r>
            <a:r>
              <a:rPr lang="ja-JP" altLang="en-US" dirty="0"/>
              <a:t>例えばプログラミングにおいて</a:t>
            </a:r>
            <a:r>
              <a:rPr lang="en-US" altLang="ja-JP" dirty="0"/>
              <a:t>early return</a:t>
            </a:r>
            <a:r>
              <a:rPr lang="ja-JP" altLang="en-US" dirty="0"/>
              <a:t>をするとネストが深くなりにくいから命令パイプラインにとって優しい</a:t>
            </a:r>
            <a:r>
              <a:rPr lang="en-US" altLang="ja-JP" dirty="0"/>
              <a:t>, </a:t>
            </a:r>
            <a:r>
              <a:rPr lang="ja-JP" altLang="en-US" dirty="0"/>
              <a:t>ということがあったりしますか？あるいはその程度の差はコンパイラに吸収されてしまうのでしょうか。</a:t>
            </a:r>
          </a:p>
          <a:p>
            <a:endParaRPr kumimoji="1" lang="ja-JP" altLang="en-US" dirty="0"/>
          </a:p>
        </p:txBody>
      </p:sp>
    </p:spTree>
    <p:extLst>
      <p:ext uri="{BB962C8B-B14F-4D97-AF65-F5344CB8AC3E}">
        <p14:creationId xmlns:p14="http://schemas.microsoft.com/office/powerpoint/2010/main" val="19427675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6FC30-8B82-DA2A-0BAB-3C470E20E1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7EDCCE-C296-1B44-24A7-8245D2016B29}"/>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77A21D25-43B8-0DA3-C76A-9530839331EF}"/>
              </a:ext>
            </a:extLst>
          </p:cNvPr>
          <p:cNvSpPr>
            <a:spLocks noGrp="1"/>
          </p:cNvSpPr>
          <p:nvPr>
            <p:ph type="body" sz="quarter" idx="10"/>
          </p:nvPr>
        </p:nvSpPr>
        <p:spPr/>
        <p:txBody>
          <a:bodyPr/>
          <a:lstStyle/>
          <a:p>
            <a:pPr lvl="1"/>
            <a:r>
              <a:rPr lang="ja-JP" altLang="en-US" dirty="0"/>
              <a:t>　┌─────┐</a:t>
            </a:r>
          </a:p>
          <a:p>
            <a:pPr lvl="1"/>
            <a:r>
              <a:rPr lang="ja-JP" altLang="en-US" dirty="0"/>
              <a:t>　│   </a:t>
            </a:r>
            <a:r>
              <a:rPr lang="en-US" altLang="ja-JP" dirty="0"/>
              <a:t>NOP  │</a:t>
            </a:r>
          </a:p>
          <a:p>
            <a:pPr lvl="1"/>
            <a:r>
              <a:rPr lang="ja-JP" altLang="en-US" dirty="0"/>
              <a:t>　└─────┘</a:t>
            </a:r>
          </a:p>
          <a:p>
            <a:pPr lvl="1"/>
            <a:r>
              <a:rPr lang="ja-JP" altLang="en-US" dirty="0"/>
              <a:t>　ヽ</a:t>
            </a:r>
            <a:r>
              <a:rPr lang="en-US" altLang="ja-JP" dirty="0"/>
              <a:t>(´</a:t>
            </a:r>
            <a:r>
              <a:rPr lang="ja-JP" altLang="en-US" dirty="0"/>
              <a:t>･</a:t>
            </a:r>
            <a:r>
              <a:rPr lang="en-US" altLang="ja-JP" dirty="0"/>
              <a:t>ω</a:t>
            </a:r>
            <a:r>
              <a:rPr lang="ja-JP" altLang="en-US" dirty="0"/>
              <a:t>･</a:t>
            </a:r>
            <a:r>
              <a:rPr lang="en-US" altLang="ja-JP" dirty="0"/>
              <a:t>)</a:t>
            </a:r>
            <a:r>
              <a:rPr lang="ja-JP" altLang="en-US" dirty="0"/>
              <a:t>ﾉ ＜うるせぇ、</a:t>
            </a:r>
            <a:r>
              <a:rPr lang="en-US" altLang="ja-JP" dirty="0"/>
              <a:t>NOP</a:t>
            </a:r>
            <a:r>
              <a:rPr lang="ja-JP" altLang="en-US" dirty="0"/>
              <a:t>命令ぶつけんぞ</a:t>
            </a:r>
          </a:p>
          <a:p>
            <a:pPr lvl="1"/>
            <a:r>
              <a:rPr lang="ja-JP" altLang="en-US" dirty="0"/>
              <a:t>　　 </a:t>
            </a:r>
            <a:r>
              <a:rPr lang="en-US" altLang="ja-JP" dirty="0"/>
              <a:t>|</a:t>
            </a:r>
            <a:r>
              <a:rPr lang="ja-JP" altLang="en-US" dirty="0"/>
              <a:t>　 </a:t>
            </a:r>
            <a:r>
              <a:rPr lang="en-US" altLang="ja-JP" dirty="0"/>
              <a:t>/</a:t>
            </a:r>
          </a:p>
          <a:p>
            <a:pPr lvl="1"/>
            <a:r>
              <a:rPr lang="ja-JP" altLang="en-US" dirty="0"/>
              <a:t>　　 </a:t>
            </a:r>
            <a:r>
              <a:rPr lang="en-US" altLang="ja-JP" dirty="0"/>
              <a:t>UU</a:t>
            </a:r>
          </a:p>
          <a:p>
            <a:pPr lvl="1"/>
            <a:endParaRPr kumimoji="1" lang="ja-JP" altLang="en-US" dirty="0"/>
          </a:p>
        </p:txBody>
      </p:sp>
    </p:spTree>
    <p:extLst>
      <p:ext uri="{BB962C8B-B14F-4D97-AF65-F5344CB8AC3E}">
        <p14:creationId xmlns:p14="http://schemas.microsoft.com/office/powerpoint/2010/main" val="2231518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D695F-929F-077B-12C9-09955C6023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53242E-7120-80C6-8D9E-BBEC9B8B3F24}"/>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5B7FBC61-FB53-06CF-27AE-454E55D8B07F}"/>
              </a:ext>
            </a:extLst>
          </p:cNvPr>
          <p:cNvSpPr>
            <a:spLocks noGrp="1"/>
          </p:cNvSpPr>
          <p:nvPr>
            <p:ph type="body" sz="quarter" idx="10"/>
          </p:nvPr>
        </p:nvSpPr>
        <p:spPr/>
        <p:txBody>
          <a:bodyPr/>
          <a:lstStyle/>
          <a:p>
            <a:r>
              <a:rPr lang="ja-JP" altLang="en-US" dirty="0"/>
              <a:t>分岐予測ペナルティが最新のスマｰトフォン用</a:t>
            </a:r>
            <a:r>
              <a:rPr lang="en-US" altLang="ja-JP" dirty="0"/>
              <a:t>CPU</a:t>
            </a:r>
            <a:r>
              <a:rPr lang="ja-JP" altLang="en-US" dirty="0"/>
              <a:t>では数百命令までになるようなケースがあるというのは意外だったのと同時に、今後もこの数値が上がっていく可能性があるのか気になった。</a:t>
            </a:r>
            <a:endParaRPr kumimoji="1" lang="ja-JP" altLang="en-US" dirty="0"/>
          </a:p>
        </p:txBody>
      </p:sp>
    </p:spTree>
    <p:extLst>
      <p:ext uri="{BB962C8B-B14F-4D97-AF65-F5344CB8AC3E}">
        <p14:creationId xmlns:p14="http://schemas.microsoft.com/office/powerpoint/2010/main" val="42825712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690CE-D810-3BCD-2AD6-20E581E9DF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E93F50-FD51-54D1-948E-859F0BF37FC7}"/>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CC5E53CD-4D0D-54D4-8FC1-1005784F4879}"/>
              </a:ext>
            </a:extLst>
          </p:cNvPr>
          <p:cNvSpPr>
            <a:spLocks noGrp="1"/>
          </p:cNvSpPr>
          <p:nvPr>
            <p:ph type="body" sz="quarter" idx="10"/>
          </p:nvPr>
        </p:nvSpPr>
        <p:spPr/>
        <p:txBody>
          <a:bodyPr/>
          <a:lstStyle/>
          <a:p>
            <a:r>
              <a:rPr lang="ja-JP" altLang="en-US" dirty="0"/>
              <a:t>バンク競合によるパイプラインのストールとかも構造ハザードの一種なんですかね</a:t>
            </a:r>
            <a:r>
              <a:rPr lang="en-US" altLang="ja-JP" dirty="0"/>
              <a:t>?</a:t>
            </a:r>
          </a:p>
          <a:p>
            <a:r>
              <a:rPr lang="ja-JP" altLang="en-US" dirty="0"/>
              <a:t>あと、例にあった </a:t>
            </a:r>
            <a:r>
              <a:rPr lang="en-US" altLang="ja-JP" dirty="0" err="1"/>
              <a:t>ld_inc</a:t>
            </a:r>
            <a:r>
              <a:rPr lang="en-US" altLang="ja-JP" dirty="0"/>
              <a:t> </a:t>
            </a:r>
            <a:r>
              <a:rPr lang="ja-JP" altLang="en-US" dirty="0"/>
              <a:t>っていうのはかなり気味が悪い命令というかパイプライン構造に逆らって処理されるような命令で色々と副作用がありそうな印象を持ちました。</a:t>
            </a:r>
            <a:endParaRPr kumimoji="1" lang="ja-JP" altLang="en-US" dirty="0"/>
          </a:p>
        </p:txBody>
      </p:sp>
    </p:spTree>
    <p:extLst>
      <p:ext uri="{BB962C8B-B14F-4D97-AF65-F5344CB8AC3E}">
        <p14:creationId xmlns:p14="http://schemas.microsoft.com/office/powerpoint/2010/main" val="144381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1E9D2-2F30-E456-BC1D-1B0C0A488B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A661AD-19B9-9271-D804-445C233CD58F}"/>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CEA29DE4-B0F5-850F-B11D-5AAD055A0B08}"/>
              </a:ext>
            </a:extLst>
          </p:cNvPr>
          <p:cNvSpPr>
            <a:spLocks noGrp="1"/>
          </p:cNvSpPr>
          <p:nvPr>
            <p:ph type="body" sz="quarter" idx="10"/>
          </p:nvPr>
        </p:nvSpPr>
        <p:spPr/>
        <p:txBody>
          <a:bodyPr/>
          <a:lstStyle/>
          <a:p>
            <a:r>
              <a:rPr lang="ja-JP" altLang="en-US" dirty="0"/>
              <a:t>あと、例にあった </a:t>
            </a:r>
            <a:r>
              <a:rPr lang="en-US" altLang="ja-JP" dirty="0" err="1"/>
              <a:t>ld_inc</a:t>
            </a:r>
            <a:r>
              <a:rPr lang="en-US" altLang="ja-JP" dirty="0"/>
              <a:t> </a:t>
            </a:r>
            <a:r>
              <a:rPr lang="ja-JP" altLang="en-US" dirty="0"/>
              <a:t>っていうのはかなり気味が悪い命令というかパイプライン構造に逆らって処理されるような命令で色々と副作用がありそうな印象を持ちました。</a:t>
            </a:r>
            <a:endParaRPr kumimoji="1" lang="ja-JP" altLang="en-US" dirty="0"/>
          </a:p>
        </p:txBody>
      </p:sp>
    </p:spTree>
    <p:extLst>
      <p:ext uri="{BB962C8B-B14F-4D97-AF65-F5344CB8AC3E}">
        <p14:creationId xmlns:p14="http://schemas.microsoft.com/office/powerpoint/2010/main" val="6796628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B93E6-C663-2324-7F69-428611EFB7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5079CE-1687-9E9D-BAF8-B1A0672CBFDA}"/>
              </a:ext>
            </a:extLst>
          </p:cNvPr>
          <p:cNvSpPr>
            <a:spLocks noGrp="1"/>
          </p:cNvSpPr>
          <p:nvPr>
            <p:ph type="title"/>
          </p:nvPr>
        </p:nvSpPr>
        <p:spPr/>
        <p:txBody>
          <a:bodyPr/>
          <a:lstStyle/>
          <a:p>
            <a:r>
              <a:rPr kumimoji="1" lang="ja-JP" altLang="en-US" dirty="0"/>
              <a:t>質問とか回答など</a:t>
            </a:r>
          </a:p>
        </p:txBody>
      </p:sp>
      <p:sp>
        <p:nvSpPr>
          <p:cNvPr id="3" name="テキスト プレースホルダー 2">
            <a:extLst>
              <a:ext uri="{FF2B5EF4-FFF2-40B4-BE49-F238E27FC236}">
                <a16:creationId xmlns:a16="http://schemas.microsoft.com/office/drawing/2014/main" id="{C7726517-E16B-010E-F024-5921DCD5FBAD}"/>
              </a:ext>
            </a:extLst>
          </p:cNvPr>
          <p:cNvSpPr>
            <a:spLocks noGrp="1"/>
          </p:cNvSpPr>
          <p:nvPr>
            <p:ph type="body" sz="quarter" idx="10"/>
          </p:nvPr>
        </p:nvSpPr>
        <p:spPr/>
        <p:txBody>
          <a:bodyPr/>
          <a:lstStyle/>
          <a:p>
            <a:r>
              <a:rPr lang="ja-JP" altLang="en-US" dirty="0"/>
              <a:t>マイクロコードへの分解は、</a:t>
            </a:r>
            <a:r>
              <a:rPr lang="en-US" altLang="ja-JP" dirty="0"/>
              <a:t>x86</a:t>
            </a:r>
            <a:r>
              <a:rPr lang="ja-JP" altLang="en-US" dirty="0"/>
              <a:t>などの普及によって仕方なく生まれた技術なのか、歴史上どのような</a:t>
            </a:r>
            <a:r>
              <a:rPr lang="en-US" altLang="ja-JP" dirty="0"/>
              <a:t>ISA</a:t>
            </a:r>
            <a:r>
              <a:rPr lang="ja-JP" altLang="en-US" dirty="0"/>
              <a:t>が普及していたとしても登場していたであろう技術なのか気になりました。</a:t>
            </a:r>
            <a:endParaRPr kumimoji="1" lang="ja-JP" altLang="en-US" dirty="0"/>
          </a:p>
        </p:txBody>
      </p:sp>
    </p:spTree>
    <p:extLst>
      <p:ext uri="{BB962C8B-B14F-4D97-AF65-F5344CB8AC3E}">
        <p14:creationId xmlns:p14="http://schemas.microsoft.com/office/powerpoint/2010/main" val="959834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aco-shioya-04</Template>
  <TotalTime>68313</TotalTime>
  <Words>6537</Words>
  <Application>Microsoft Office PowerPoint</Application>
  <PresentationFormat>ワイド画面</PresentationFormat>
  <Paragraphs>1037</Paragraphs>
  <Slides>104</Slides>
  <Notes>11</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104</vt:i4>
      </vt:variant>
    </vt:vector>
  </HeadingPairs>
  <TitlesOfParts>
    <vt:vector size="117" baseType="lpstr">
      <vt:lpstr>HG丸ｺﾞｼｯｸM-PRO</vt:lpstr>
      <vt:lpstr>MeiryoKe_PGothic</vt:lpstr>
      <vt:lpstr>ＭＳ Ｐゴシック</vt:lpstr>
      <vt:lpstr>メイリオ</vt:lpstr>
      <vt:lpstr>Arial Narrow</vt:lpstr>
      <vt:lpstr>Calibri</vt:lpstr>
      <vt:lpstr>Cambria Math</vt:lpstr>
      <vt:lpstr>Consolas</vt:lpstr>
      <vt:lpstr>Courier New</vt:lpstr>
      <vt:lpstr>Segoe UI</vt:lpstr>
      <vt:lpstr>Verdana</vt:lpstr>
      <vt:lpstr>Wingdings</vt:lpstr>
      <vt:lpstr>cerulean</vt:lpstr>
      <vt:lpstr>先進計算機構成論 05</vt:lpstr>
      <vt:lpstr>前回の内容</vt:lpstr>
      <vt:lpstr>今日の内容</vt:lpstr>
      <vt:lpstr>命令パイプラインと性能</vt:lpstr>
      <vt:lpstr>パイプライン化によるスループット向上</vt:lpstr>
      <vt:lpstr>パイプライン化の意味</vt:lpstr>
      <vt:lpstr>パイプライン化によるクロック周期の短縮 クロックの立ち上がりごとに，１命令が処理</vt:lpstr>
      <vt:lpstr>ステージ内の信号の伝播を考える</vt:lpstr>
      <vt:lpstr>２段にパイプライン化した場合</vt:lpstr>
      <vt:lpstr>4段にパイプライン化した場合</vt:lpstr>
      <vt:lpstr>パイプライン化の限界</vt:lpstr>
      <vt:lpstr>回路的な理由</vt:lpstr>
      <vt:lpstr>D-FF の回路</vt:lpstr>
      <vt:lpstr>D-FF の動作 ① クロック信号が Low にあるとき</vt:lpstr>
      <vt:lpstr>D-FF の動作 ② クロック信号の立ち上がり</vt:lpstr>
      <vt:lpstr>D-FF の動作 ③ クロック信号が High</vt:lpstr>
      <vt:lpstr>D-FF の動作 ④ クロック信号の立ち下がり</vt:lpstr>
      <vt:lpstr>D-FF の遅延</vt:lpstr>
      <vt:lpstr>理由２：消費電力と熱</vt:lpstr>
      <vt:lpstr>パイプライン化の限界</vt:lpstr>
      <vt:lpstr>アーキテクチャ的な理由による実効性能の限界</vt:lpstr>
      <vt:lpstr>バックエッジ：逆方向（右から左）にいく信号</vt:lpstr>
      <vt:lpstr>問題となるバックエッジ</vt:lpstr>
      <vt:lpstr>演算器のフォワーディング</vt:lpstr>
      <vt:lpstr>演算器のパイプライン化</vt:lpstr>
      <vt:lpstr>演算器をパイプライン化した場合の問題</vt:lpstr>
      <vt:lpstr>問題となるバックエッジ</vt:lpstr>
      <vt:lpstr>ロードによるデータ・メモリの読み出し</vt:lpstr>
      <vt:lpstr>問題となるバックエッジ</vt:lpstr>
      <vt:lpstr>分岐予測</vt:lpstr>
      <vt:lpstr>分岐予測ペナルティ</vt:lpstr>
      <vt:lpstr>分岐予測ペナルティの大きさ</vt:lpstr>
      <vt:lpstr>パイプライン化の限界のまとめ</vt:lpstr>
      <vt:lpstr>実際の CPU のパイプライン段数</vt:lpstr>
      <vt:lpstr>Sony/IBM/東芝 Cell (SPE) Cell Broadband Engine Architecture and its first implementation—A performance view より</vt:lpstr>
      <vt:lpstr>AMD JAGUAR "JAGUAR” AMD’s Next Generation Low Power x86 Core より</vt:lpstr>
      <vt:lpstr>ARM Cortex-A15  Exploring the Design of the Cortex-A15 Processor ARM’s next generation mobile applications processor より</vt:lpstr>
      <vt:lpstr>IBM POWER9 IBM POWER9 processor core より</vt:lpstr>
      <vt:lpstr>分岐予測の基本</vt:lpstr>
      <vt:lpstr>用語の定義（１）</vt:lpstr>
      <vt:lpstr>用語の定義（２）</vt:lpstr>
      <vt:lpstr>用語の定義（３）</vt:lpstr>
      <vt:lpstr>分岐予測</vt:lpstr>
      <vt:lpstr>１．分岐かどうか予測の必要性</vt:lpstr>
      <vt:lpstr>２．分岐先ターゲットの予測の必要性</vt:lpstr>
      <vt:lpstr>BTB（Branch Target Buffer）による予測</vt:lpstr>
      <vt:lpstr>BTB（Branch Target Buffer）による予測</vt:lpstr>
      <vt:lpstr>BTB による予測（分岐命令の場合）</vt:lpstr>
      <vt:lpstr>BTB による予測（分岐以外の場合）</vt:lpstr>
      <vt:lpstr>（古典的な）BTB の特徴</vt:lpstr>
      <vt:lpstr>BTB の構成</vt:lpstr>
      <vt:lpstr>最近の BTB </vt:lpstr>
      <vt:lpstr>分岐かどうか&amp;分岐先ターゲット予測のまとめ</vt:lpstr>
      <vt:lpstr>分岐方向予測</vt:lpstr>
      <vt:lpstr>静的分岐と動的分岐</vt:lpstr>
      <vt:lpstr>分岐方向予測</vt:lpstr>
      <vt:lpstr>分岐方向予測</vt:lpstr>
      <vt:lpstr>1. 常に不成立と予測</vt:lpstr>
      <vt:lpstr>2. 前方分岐を不成立/後方分岐を成立と予測</vt:lpstr>
      <vt:lpstr>3. プロファイルによる予測</vt:lpstr>
      <vt:lpstr>3. プロファイルによる予測</vt:lpstr>
      <vt:lpstr>静的分岐予測の欠点</vt:lpstr>
      <vt:lpstr>「後方分岐かどうか」「成立/不成立のヒント」の予測</vt:lpstr>
      <vt:lpstr>別途ハードウェアが必要</vt:lpstr>
      <vt:lpstr>静的分岐予測のまとめ</vt:lpstr>
      <vt:lpstr>分岐方向予測</vt:lpstr>
      <vt:lpstr>動的分岐予測</vt:lpstr>
      <vt:lpstr>1ビット・カウンタ予測器</vt:lpstr>
      <vt:lpstr>１ビットの飽和型カウンタの状態遷移図ウンタ</vt:lpstr>
      <vt:lpstr>1ビット・カウンタ予測器の意味</vt:lpstr>
      <vt:lpstr>1ビット・カウンタ予測器の利点</vt:lpstr>
      <vt:lpstr>エントリの競合</vt:lpstr>
      <vt:lpstr>分岐方向予測</vt:lpstr>
      <vt:lpstr>1ビット・カウンタ予測器の問題点：無駄な遷移</vt:lpstr>
      <vt:lpstr>２ビット・カウンタ予測器</vt:lpstr>
      <vt:lpstr>２ビットの飽和型カウンタの状態遷移図ウンタ</vt:lpstr>
      <vt:lpstr>２ビット・カウンタ予測器の動作</vt:lpstr>
      <vt:lpstr>予測精度とカウンタの幅</vt:lpstr>
      <vt:lpstr>まとめ</vt:lpstr>
      <vt:lpstr>出欠と感想</vt:lpstr>
      <vt:lpstr>出席</vt:lpstr>
      <vt:lpstr>質問や感想</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12389</cp:revision>
  <cp:lastPrinted>2014-12-10T13:40:48Z</cp:lastPrinted>
  <dcterms:created xsi:type="dcterms:W3CDTF">2014-11-17T10:53:59Z</dcterms:created>
  <dcterms:modified xsi:type="dcterms:W3CDTF">2026-06-08T05:52:08Z</dcterms:modified>
</cp:coreProperties>
</file>